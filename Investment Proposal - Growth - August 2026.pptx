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embeddings/oleObject1.bin" ContentType="application/vnd.openxmlformats-officedocument.oleObject"/>
  <Override PartName="/ppt/embeddings/oleObject2.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9399" r:id="rId39"/>
    <p:sldId id="2147379400" r:id="rId44"/>
    <p:sldId id="2147378133" r:id="rId15"/>
    <p:sldId id="263" r:id="rId16"/>
    <p:sldId id="2147378134" r:id="rId17"/>
    <p:sldId id="2147378135" r:id="rId19"/>
    <p:sldId id="2147379393" r:id="rId20"/>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9" Type="http://schemas.openxmlformats.org/officeDocument/2006/relationships/slide" Target="slides/slide32.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4" Type="http://schemas.openxmlformats.org/officeDocument/2006/relationships/slide" Target="slides/slide33.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dPt>
            <c:idx val="5"/>
            <c:spPr>
              <a:solidFill>
                <a:srgbClr val="FFA400"/>
              </a:solidFill>
            </c:spPr>
          </c:dPt>
          <c:dPt>
            <c:idx val="6"/>
            <c:spPr>
              <a:solidFill>
                <a:srgbClr val="4B5F80"/>
              </a:solidFill>
            </c:spPr>
          </c:dPt>
          <c:cat>
            <c:strRef>
              <c:f>Sheet1!$A$2:$A$8</c:f>
              <c:strCache>
                <c:ptCount val="7"/>
                <c:pt idx="0">
                  <c:v>Equities  34%</c:v>
                </c:pt>
                <c:pt idx="1">
                  <c:v>Commodities  27%</c:v>
                </c:pt>
                <c:pt idx="2">
                  <c:v>Private Assets  17%</c:v>
                </c:pt>
                <c:pt idx="3">
                  <c:v>Fixed Income  16%</c:v>
                </c:pt>
                <c:pt idx="4">
                  <c:v>Structured Products  5%</c:v>
                </c:pt>
                <c:pt idx="5">
                  <c:v>Other  1%</c:v>
                </c:pt>
                <c:pt idx="6">
                  <c:v>Cash  0.4%</c:v>
                </c:pt>
              </c:strCache>
            </c:strRef>
          </c:cat>
          <c:val>
            <c:numRef>
              <c:f>Sheet1!$B$2:$B$8</c:f>
              <c:numCache>
                <c:formatCode>General</c:formatCode>
                <c:ptCount val="7"/>
                <c:pt idx="0">
                  <c:v>0.33968324000000005</c:v>
                </c:pt>
                <c:pt idx="1">
                  <c:v>0.27351444999999996</c:v>
                </c:pt>
                <c:pt idx="2">
                  <c:v>0.16559767999999997</c:v>
                </c:pt>
                <c:pt idx="3">
                  <c:v>0.15577871</c:v>
                </c:pt>
                <c:pt idx="4">
                  <c:v>0.054549560000000004</c:v>
                </c:pt>
                <c:pt idx="5">
                  <c:v>0.00732644</c:v>
                </c:pt>
                <c:pt idx="6">
                  <c:v>0.00354992</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dPt>
            <c:idx val="4"/>
            <c:spPr>
              <a:solidFill>
                <a:srgbClr val="3BAF90"/>
              </a:solidFill>
            </c:spPr>
          </c:dPt>
          <c:dPt>
            <c:idx val="5"/>
            <c:spPr>
              <a:solidFill>
                <a:srgbClr val="4B5F80"/>
              </a:solidFill>
            </c:spPr>
          </c:dPt>
          <c:dPt>
            <c:idx val="6"/>
            <c:spPr>
              <a:solidFill>
                <a:srgbClr val="AC5D85"/>
              </a:solidFill>
            </c:spPr>
          </c:dPt>
          <c:cat>
            <c:strRef>
              <c:f>Sheet1!$A$2:$A$8</c:f>
              <c:strCache>
                <c:ptCount val="7"/>
                <c:pt idx="0">
                  <c:v>USD  41%</c:v>
                </c:pt>
                <c:pt idx="1">
                  <c:v>CHF  30%</c:v>
                </c:pt>
                <c:pt idx="2">
                  <c:v>EUR  23%</c:v>
                </c:pt>
                <c:pt idx="3">
                  <c:v>GBP  4%</c:v>
                </c:pt>
                <c:pt idx="4">
                  <c:v>XAG  1%</c:v>
                </c:pt>
                <c:pt idx="5">
                  <c:v>XPT  1%</c:v>
                </c:pt>
                <c:pt idx="6">
                  <c:v>SEK  1%</c:v>
                </c:pt>
              </c:strCache>
            </c:strRef>
          </c:cat>
          <c:val>
            <c:numRef>
              <c:f>Sheet1!$B$2:$B$8</c:f>
              <c:numCache>
                <c:formatCode>General</c:formatCode>
                <c:ptCount val="7"/>
                <c:pt idx="0">
                  <c:v>0.40919222</c:v>
                </c:pt>
                <c:pt idx="1">
                  <c:v>0.29650487</c:v>
                </c:pt>
                <c:pt idx="2">
                  <c:v>0.22569295</c:v>
                </c:pt>
                <c:pt idx="3">
                  <c:v>0.03760149</c:v>
                </c:pt>
                <c:pt idx="4">
                  <c:v>0.01108255</c:v>
                </c:pt>
                <c:pt idx="5">
                  <c:v>0.01047123</c:v>
                </c:pt>
                <c:pt idx="6">
                  <c:v>0.0094544</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Global</c:v>
                </c:pt>
                <c:pt idx="1">
                  <c:v>Europe DM</c:v>
                </c:pt>
                <c:pt idx="2">
                  <c:v>US</c:v>
                </c:pt>
                <c:pt idx="3">
                  <c:v>MEA EM</c:v>
                </c:pt>
              </c:strCache>
            </c:strRef>
          </c:cat>
          <c:val>
            <c:numRef>
              <c:f>Sheet1!$B$2:$B$5</c:f>
              <c:numCache>
                <c:formatCode>General</c:formatCode>
                <c:ptCount val="4"/>
                <c:pt idx="0">
                  <c:v>0.57137451</c:v>
                </c:pt>
                <c:pt idx="1">
                  <c:v>0.29624404</c:v>
                </c:pt>
                <c:pt idx="2">
                  <c:v>0.12500275</c:v>
                </c:pt>
                <c:pt idx="3">
                  <c:v>0.0073787</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c:f>
              <c:strCache>
                <c:ptCount val="1"/>
                <c:pt idx="0">
                  <c:v>Not available</c:v>
                </c:pt>
              </c:strCache>
            </c:strRef>
          </c:cat>
          <c:val>
            <c:numRef>
              <c:f>Sheet1!$B$2:$B$2</c:f>
              <c:numCache>
                <c:formatCode>General</c:formatCode>
                <c:ptCount val="1"/>
                <c:pt idx="0">
                  <c:v>1.0</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56%</c:v>
                </c:pt>
                <c:pt idx="1">
                  <c:v>Fund  25%</c:v>
                </c:pt>
                <c:pt idx="2">
                  <c:v>Structured / AMC  19%</c:v>
                </c:pt>
              </c:strCache>
            </c:strRef>
          </c:cat>
          <c:val>
            <c:numRef>
              <c:f>Sheet1!$B$2:$B$4</c:f>
              <c:numCache>
                <c:formatCode>General</c:formatCode>
                <c:ptCount val="3"/>
                <c:pt idx="0">
                  <c:v>0.56169737</c:v>
                </c:pt>
                <c:pt idx="1">
                  <c:v>0.24936807000000002</c:v>
                </c:pt>
                <c:pt idx="2">
                  <c:v>0.18893456</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Direct line  6%</c:v>
                </c:pt>
              </c:strCache>
            </c:strRef>
          </c:cat>
          <c:val>
            <c:numRef>
              <c:f>Sheet1!$B$2:$B$3</c:f>
              <c:numCache>
                <c:formatCode>General</c:formatCode>
                <c:ptCount val="2"/>
                <c:pt idx="0">
                  <c:v>0.94268981</c:v>
                </c:pt>
                <c:pt idx="1">
                  <c:v>0.05731019</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7858-40CB-B006-9C099370F2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7858-40CB-B006-9C099370F2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7858-40CB-B006-9C099370F25F}"/>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7858-40CB-B006-9C099370F25F}"/>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7858-40CB-B006-9C099370F25F}"/>
              </c:ext>
            </c:extLst>
          </c:dPt>
          <c:cat>
            <c:strRef>
              <c:f>Sheet1!$A$2:$A$6</c:f>
              <c:strCache>
                <c:ptCount val="5"/>
                <c:pt idx="0">
                  <c:v>Global / thematic   45.2%</c:v>
                </c:pt>
                <c:pt idx="1">
                  <c:v>Eurozone   25.5%</c:v>
                </c:pt>
                <c:pt idx="2">
                  <c:v>Switzerland   18.9%</c:v>
                </c:pt>
                <c:pt idx="3">
                  <c:v>UK   5.5%</c:v>
                </c:pt>
                <c:pt idx="4">
                  <c:v>US   4.8%</c:v>
                </c:pt>
              </c:strCache>
            </c:strRef>
          </c:cat>
          <c:val>
            <c:numRef>
              <c:f>Sheet1!$B$2:$B$6</c:f>
              <c:numCache>
                <c:formatCode>General</c:formatCode>
                <c:ptCount val="5"/>
                <c:pt idx="0">
                  <c:v>0.45222276</c:v>
                </c:pt>
                <c:pt idx="1">
                  <c:v>0.25505699</c:v>
                </c:pt>
                <c:pt idx="2">
                  <c:v>0.18921519</c:v>
                </c:pt>
                <c:pt idx="3">
                  <c:v>0.05507696</c:v>
                </c:pt>
                <c:pt idx="4">
                  <c:v>0.0484281</c:v>
                </c:pt>
              </c:numCache>
            </c:numRef>
          </c:val>
          <c:extLst>
            <c:ext xmlns:c16="http://schemas.microsoft.com/office/drawing/2014/chart" uri="{C3380CC4-5D6E-409C-BE32-E72D297353CC}">
              <c16:uniqueId val="{0000000A-7858-40CB-B006-9C099370F25F}"/>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EBB8-42C2-89E7-A36B30CA2114}"/>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EBB8-42C2-89E7-A36B30CA2114}"/>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EBB8-42C2-89E7-A36B30CA2114}"/>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EBB8-42C2-89E7-A36B30CA2114}"/>
              </c:ext>
            </c:extLst>
          </c:dPt>
          <c:dPt>
            <c:idx val="4"/>
            <c:bubble3D val="0"/>
            <c:spPr>
              <a:solidFill>
                <a:srgbClr val="9BA3B4"/>
              </a:solidFill>
              <a:ln w="9525" cap="flat">
                <a:noFill/>
                <a:prstDash val="solid"/>
                <a:round/>
              </a:ln>
              <a:effectLst/>
            </c:spPr>
            <c:extLst>
              <c:ext xmlns:c16="http://schemas.microsoft.com/office/drawing/2014/chart" uri="{C3380CC4-5D6E-409C-BE32-E72D297353CC}">
                <c16:uniqueId val="{00000009-EBB8-42C2-89E7-A36B30CA2114}"/>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A-EBB8-42C2-89E7-A36B30CA2114}"/>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B36-45C4-B629-418875BB24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B36-45C4-B629-418875BB24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B36-45C4-B629-418875BB245F}"/>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6-BB36-45C4-B629-418875BB245F}"/>
            </c:ext>
          </c:extLst>
        </c:ser>
        <c:dLbls>
          <c:showLegendKey val="0"/>
          <c:showVal val="0"/>
          <c:showCatName val="0"/>
          <c:showSerName val="0"/>
          <c:showPercent val="0"/>
          <c:showBubbleSize val="0"/>
          <c:showLeaderLines val="0"/>
        </c:dLbls>
        <c:firstSliceAng val="0"/>
        <c:holeSize val="70"/>
      </c:doughnutChart>
      <c:spPr>
        <a:solidFill>
          <a:schemeClr val="bg1"/>
        </a:solid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dPt>
            <c:idx val="1"/>
            <c:spPr>
              <a:solidFill>
                <a:srgbClr val="4B5F80"/>
              </a:solidFill>
            </c:spPr>
          </c:dPt>
          <c:cat>
            <c:strRef>
              <c:f>Sheet1!$A$2:$A$3</c:f>
              <c:strCache>
                <c:ptCount val="2"/>
                <c:pt idx="0">
                  <c:v>Direct line  86%</c:v>
                </c:pt>
                <c:pt idx="1">
                  <c:v>Fund  14%</c:v>
                </c:pt>
              </c:strCache>
            </c:strRef>
          </c:cat>
          <c:val>
            <c:numRef>
              <c:f>Sheet1!$B$2:$B$3</c:f>
              <c:numCache>
                <c:formatCode>General</c:formatCode>
                <c:ptCount val="2"/>
                <c:pt idx="0">
                  <c:v>0.85866115</c:v>
                </c:pt>
                <c:pt idx="1">
                  <c:v>0.14133885</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dPt>
            <c:idx val="3"/>
            <c:spPr>
              <a:solidFill>
                <a:srgbClr val="FFA400"/>
              </a:solidFill>
            </c:spPr>
          </c:dPt>
          <c:dPt>
            <c:idx val="4"/>
            <c:spPr>
              <a:solidFill>
                <a:srgbClr val="202945"/>
              </a:solidFill>
            </c:spPr>
          </c:dPt>
          <c:cat>
            <c:strRef>
              <c:f>Sheet1!$A$2:$A$6</c:f>
              <c:strCache>
                <c:ptCount val="5"/>
                <c:pt idx="0">
                  <c:v>Daily-liquid fund  41%</c:v>
                </c:pt>
                <c:pt idx="1">
                  <c:v>Physical assets  21%</c:v>
                </c:pt>
                <c:pt idx="2">
                  <c:v>Listed  19%</c:v>
                </c:pt>
                <c:pt idx="3">
                  <c:v>Illiquid (lock-up)  17%</c:v>
                </c:pt>
                <c:pt idx="4">
                  <c:v>Cash &amp; metal accounts  3%</c:v>
                </c:pt>
              </c:strCache>
            </c:strRef>
          </c:cat>
          <c:val>
            <c:numRef>
              <c:f>Sheet1!$B$2:$B$6</c:f>
              <c:numCache>
                <c:formatCode>General</c:formatCode>
                <c:ptCount val="5"/>
                <c:pt idx="0">
                  <c:v>0.40504682000000003</c:v>
                </c:pt>
                <c:pt idx="1">
                  <c:v>0.21330245</c:v>
                </c:pt>
                <c:pt idx="2">
                  <c:v>0.19094935</c:v>
                </c:pt>
                <c:pt idx="3">
                  <c:v>0.16559767999999997</c:v>
                </c:pt>
                <c:pt idx="4">
                  <c:v>0.0251037</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Growth EUR 21.1m</a:t>
            </a:r>
            <a:endParaRPr lang="en-GB" sz="1600" b="1" dirty="0"/>
          </a:p>
          <a:p>
            <a:r>
              <a:t/>
            </a:r>
            <a:endParaRPr lang="en-GB" sz="1400" b="1" dirty="0"/>
          </a:p>
          <a:p>
            <a:r>
              <a:rPr lang="en-CH" sz="1100" dirty="0"/>
              <a:t>Prepared for [Client Name]</a:t>
            </a:r>
            <a:endParaRPr lang="en-US" sz="1100" dirty="0"/>
          </a:p>
          <a:p>
            <a:r>
              <a:t/>
            </a:r>
            <a:endParaRPr lang="en-US" sz="1100" dirty="0"/>
          </a:p>
          <a:p>
            <a:r>
              <a:rPr lang="en-CH" sz="1100" dirty="0"/>
              <a:t>Your Relationship Manager: [Name]</a:t>
            </a:r>
            <a:endParaRPr lang="en-US" sz="1100" dirty="0"/>
          </a:p>
          <a:p>
            <a:r>
              <a:t/>
            </a:r>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investment conclusions: August 2026</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+32%</a:t>
            </a:r>
          </a:p>
          <a:p>
            <a:pPr algn="ctr"/>
            <a:r>
              <a:rPr lang="en-US" sz="1200" noProof="0" dirty="0">
                <a:solidFill>
                  <a:srgbClr val="202945"/>
                </a:solidFill>
                <a:latin typeface="Nunito Sans"/>
              </a:rPr>
              <a:t>2026e EPS growth, US</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+18%</a:t>
            </a:r>
          </a:p>
          <a:p>
            <a:pPr algn="ctr"/>
            <a:r>
              <a:rPr lang="en-US" sz="1200" noProof="0" dirty="0">
                <a:solidFill>
                  <a:srgbClr val="202945"/>
                </a:solidFill>
                <a:latin typeface="Nunito Sans"/>
              </a:rPr>
              <a:t>2026e EPS growth, Europe</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20x</a:t>
            </a:r>
          </a:p>
          <a:p>
            <a:pPr algn="ctr"/>
            <a:r>
              <a:rPr lang="en-US" sz="1200" noProof="0" dirty="0">
                <a:solidFill>
                  <a:srgbClr val="202945"/>
                </a:solidFill>
                <a:latin typeface="Nunito Sans"/>
              </a:rPr>
              <a:t>S&amp;P 500 forward P/E</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91</a:t>
            </a:r>
            <a:endParaRPr lang="en-US" sz="2400" noProof="0" dirty="0"/>
          </a:p>
          <a:p>
            <a:pPr algn="ctr"/>
            <a:r>
              <a:rPr lang="en-US" sz="1200" noProof="0" dirty="0">
                <a:solidFill>
                  <a:srgbClr val="202945"/>
                </a:solidFill>
                <a:latin typeface="Nunito Sans"/>
              </a:rPr>
              <a:t>US market-factor score</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Tactical asset allocation</a:t>
            </a:r>
          </a:p>
        </p:txBody>
      </p:sp>
      <p:sp>
        <p:nvSpPr>
          <p:cNvPr id="9" name="TextBox"/>
          <p:cNvSpPr txBox="1"/>
          <p:nvPr/>
        </p:nvSpPr>
        <p:spPr>
          <a:xfrm>
            <a:off x="666000" y="4100000"/>
            <a:ext cx="249752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House view</a:t>
            </a:r>
          </a:p>
          <a:p>
            <a:pPr algn="l">
              <a:spcAft>
                <a:spcPts val="600"/>
              </a:spcAft>
            </a:pPr>
            <a:r>
              <a:rPr lang="en-US" sz="1100" b="0" noProof="0" dirty="0">
                <a:solidFill>
                  <a:srgbClr val="202945"/>
                </a:solidFill>
                <a:latin typeface="Nunito Sans"/>
              </a:rPr>
              <a:t>Cash</a:t>
            </a:r>
          </a:p>
          <a:p>
            <a:pPr algn="l">
              <a:spcAft>
                <a:spcPts val="600"/>
              </a:spcAft>
            </a:pPr>
            <a:r>
              <a:rPr lang="en-US" sz="1100" b="0" noProof="0" dirty="0">
                <a:solidFill>
                  <a:srgbClr val="202945"/>
                </a:solidFill>
                <a:latin typeface="Nunito Sans"/>
              </a:rPr>
              <a:t>Equities</a:t>
            </a:r>
          </a:p>
          <a:p>
            <a:pPr algn="l">
              <a:spcAft>
                <a:spcPts val="600"/>
              </a:spcAft>
            </a:pPr>
            <a:r>
              <a:rPr lang="en-US" sz="1100" b="0" noProof="0" dirty="0">
                <a:solidFill>
                  <a:srgbClr val="202945"/>
                </a:solidFill>
                <a:latin typeface="Nunito Sans"/>
              </a:rPr>
              <a:t>Fixed income</a:t>
            </a:r>
          </a:p>
          <a:p>
            <a:pPr algn="l">
              <a:spcAft>
                <a:spcPts val="600"/>
              </a:spcAft>
            </a:pPr>
            <a:r>
              <a:rPr lang="en-US" sz="1100" b="0" noProof="0" dirty="0">
                <a:solidFill>
                  <a:srgbClr val="202945"/>
                </a:solidFill>
                <a:latin typeface="Nunito Sans"/>
              </a:rPr>
              <a:t>Government bonds</a:t>
            </a:r>
          </a:p>
          <a:p>
            <a:pPr algn="l">
              <a:spcAft>
                <a:spcPts val="600"/>
              </a:spcAft>
            </a:pPr>
            <a:r>
              <a:rPr lang="en-US" sz="1100" b="0" noProof="0" dirty="0">
                <a:solidFill>
                  <a:srgbClr val="202945"/>
                </a:solidFill>
                <a:latin typeface="Nunito Sans"/>
              </a:rPr>
              <a:t>Corporate IG and high yield</a:t>
            </a:r>
          </a:p>
          <a:p>
            <a:pPr algn="l">
              <a:spcAft>
                <a:spcPts val="600"/>
              </a:spcAft>
            </a:pPr>
            <a:r>
              <a:rPr lang="en-US" sz="1100" b="0" noProof="0" dirty="0">
                <a:solidFill>
                  <a:srgbClr val="202945"/>
                </a:solidFill>
                <a:latin typeface="Nunito Sans"/>
              </a:rPr>
              <a:t>EM debt</a:t>
            </a:r>
          </a:p>
          <a:p>
            <a:pPr algn="l">
              <a:spcAft>
                <a:spcPts val="600"/>
              </a:spcAft>
            </a:pPr>
            <a:r>
              <a:rPr lang="en-US" sz="1100" b="0" noProof="0" dirty="0">
                <a:solidFill>
                  <a:srgbClr val="202945"/>
                </a:solidFill>
                <a:latin typeface="Nunito Sans"/>
              </a:rPr>
              <a:t>Alternatives, hedge funds</a:t>
            </a:r>
          </a:p>
          <a:p>
            <a:pPr algn="l">
              <a:spcAft>
                <a:spcPts val="600"/>
              </a:spcAft>
            </a:pPr>
            <a:r>
              <a:rPr lang="en-US" sz="1100" b="0" noProof="0" dirty="0">
                <a:solidFill>
                  <a:srgbClr val="202945"/>
                </a:solidFill>
                <a:latin typeface="Nunito Sans"/>
              </a:rPr>
              <a:t>Gold and commodities</a:t>
            </a:r>
          </a:p>
          <a:p>
            <a:pPr algn="l">
              <a:spcAft>
                <a:spcPts val="600"/>
              </a:spcAft>
            </a:pPr>
            <a:r>
              <a:rPr lang="en-US" sz="1100" b="0" noProof="0" dirty="0">
                <a:solidFill>
                  <a:srgbClr val="202945"/>
                </a:solidFill>
                <a:latin typeface="Nunito Sans"/>
              </a:rPr>
              <a:t>EUR, CHF, GBP, EM FX vs USD</a:t>
            </a:r>
          </a:p>
        </p:txBody>
      </p:sp>
      <p:sp>
        <p:nvSpPr>
          <p:cNvPr id="10" name="TextBox"/>
          <p:cNvSpPr txBox="1"/>
          <p:nvPr/>
        </p:nvSpPr>
        <p:spPr>
          <a:xfrm>
            <a:off x="3197520" y="4100000"/>
            <a:ext cx="976884"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Stance</a:t>
            </a:r>
            <a:endParaRPr lang="en-US" sz="1100" noProof="0" dirty="0"/>
          </a:p>
          <a:p>
            <a:pPr algn="r">
              <a:spcAft>
                <a:spcPts val="600"/>
              </a:spcAft>
            </a:pPr>
            <a:r>
              <a:rPr lang="en-US" sz="1100" b="0" noProof="0" dirty="0">
                <a:solidFill>
                  <a:srgbClr val="202945"/>
                </a:solidFill>
                <a:latin typeface="Nunito Sans"/>
              </a:rPr>
              <a:t>Overweight</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Underweight</a:t>
            </a:r>
          </a:p>
          <a:p>
            <a:pPr algn="r">
              <a:spcAft>
                <a:spcPts val="600"/>
              </a:spcAft>
            </a:pPr>
            <a:r>
              <a:rPr lang="en-US" sz="1100" b="0" noProof="0" dirty="0">
                <a:solidFill>
                  <a:srgbClr val="202945"/>
                </a:solidFill>
                <a:latin typeface="Nunito Sans"/>
              </a:rPr>
              <a:t>Underweight</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Overweight</a:t>
            </a:r>
          </a:p>
          <a:p>
            <a:pPr algn="r">
              <a:spcAft>
                <a:spcPts val="600"/>
              </a:spcAft>
            </a:pPr>
            <a:r>
              <a:rPr lang="en-US" sz="1100" b="0" noProof="0" dirty="0">
                <a:solidFill>
                  <a:srgbClr val="202945"/>
                </a:solidFill>
                <a:latin typeface="Nunito Sans"/>
              </a:rPr>
              <a:t>Neutral</a:t>
            </a:r>
          </a:p>
        </p:txBody>
      </p:sp>
      <p:sp>
        <p:nvSpPr>
          <p:cNvPr id="11" name="TextBox"/>
          <p:cNvSpPr txBox="1"/>
          <p:nvPr/>
        </p:nvSpPr>
        <p:spPr>
          <a:xfrm>
            <a:off x="4234404" y="4100000"/>
            <a:ext cx="831596"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Change</a:t>
            </a:r>
            <a:endParaRPr lang="en-US" sz="1100" noProof="0" dirty="0"/>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Upgraded</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No changes to the five pillars</a:t>
            </a:r>
            <a:endParaRPr lang="en-US" sz="1200" noProof="0" dirty="0"/>
          </a:p>
          <a:p>
            <a:pPr algn="l"/>
            <a:r>
              <a:rPr lang="en-US" sz="1100" b="0" noProof="0" dirty="0">
                <a:solidFill>
                  <a:srgbClr val="202945"/>
                </a:solidFill>
                <a:latin typeface="Nunito Sans"/>
              </a:rPr>
              <a:t>Liquidity and valuations stay neutral, market factors and earnings growth positive, the macro cycle moderately positive — none of the five moved.</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Earnings are carrying valuations</a:t>
            </a:r>
            <a:endParaRPr lang="en-US" sz="1200" noProof="0" dirty="0"/>
          </a:p>
          <a:p>
            <a:pPr algn="l"/>
            <a:r>
              <a:rPr lang="en-US" sz="1100" b="0" noProof="0" dirty="0">
                <a:solidFill>
                  <a:srgbClr val="202945"/>
                </a:solidFill>
                <a:latin typeface="Nunito Sans"/>
              </a:rPr>
              <a:t>Consensus expects 2026 EPS growth of 32% in the US, 18% in Europe and 19% in Japan, with estimates rising faster than share prices.</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The dollar overweight is gone</a:t>
            </a:r>
            <a:endParaRPr lang="en-US" sz="1200" noProof="0" dirty="0"/>
          </a:p>
          <a:p>
            <a:pPr algn="l"/>
            <a:r>
              <a:rPr lang="en-US" sz="1100" b="0" noProof="0" dirty="0">
                <a:solidFill>
                  <a:srgbClr val="202945"/>
                </a:solidFill>
                <a:latin typeface="Nunito Sans"/>
              </a:rPr>
              <a:t>The USD overweight is cut to neutral: all currencies are now neutral against the dollar as Fed hike expectations and the safety bid faded.</a:t>
            </a:r>
          </a:p>
        </p:txBody>
      </p:sp>
      <p:sp>
        <p:nvSpPr>
          <p:cNvPr id="16"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No changes to our five allocation pillars this month; the one move is in FX, where EUR, CHF, GBP and EM currencies shift from underweight to neutral against the US dollar.</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is driving our view: four forces</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Middle East escalation and energy</a:t>
            </a:r>
            <a:endParaRPr lang="en-US" sz="1200" noProof="0" dirty="0">
              <a:solidFill>
                <a:schemeClr val="tx2"/>
              </a:solidFill>
            </a:endParaRPr>
          </a:p>
          <a:p>
            <a:pPr algn="l">
              <a:spcAft>
                <a:spcPts val="800"/>
              </a:spcAft>
            </a:pPr>
            <a:r>
              <a:rPr lang="en-US" sz="1100" b="0" noProof="0" dirty="0">
                <a:solidFill>
                  <a:srgbClr val="202945"/>
                </a:solidFill>
                <a:latin typeface="Nunito Sans"/>
              </a:rPr>
              <a:t>The latest escalation is pushing energy prices higher, dampening global growth on top of weaker macro data in the US and China. We expect it settled and energy prices moderating towards the end of Q3.</a:t>
            </a:r>
          </a:p>
          <a:p>
            <a:pPr>
              <a:spcAft>
                <a:spcPts val="800"/>
              </a:spcAft>
            </a:pPr>
            <a:r>
              <a:rPr lang="en-US" sz="1200" b="0" noProof="0" dirty="0">
                <a:solidFill>
                  <a:schemeClr val="tx2"/>
                </a:solidFill>
                <a:latin typeface="Nunito Sans ExtraBold"/>
              </a:rPr>
              <a:t>Strait of Hormuz to reopen</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Central banks pulling apart</a:t>
            </a:r>
          </a:p>
          <a:p>
            <a:pPr algn="l">
              <a:spcAft>
                <a:spcPts val="800"/>
              </a:spcAft>
            </a:pPr>
            <a:r>
              <a:rPr lang="en-US" sz="1100" b="0" noProof="0" dirty="0">
                <a:solidFill>
                  <a:srgbClr val="202945"/>
                </a:solidFill>
                <a:latin typeface="Nunito Sans"/>
              </a:rPr>
              <a:t>Latest CPI prints mostly confirmed the first energy surge's price spikes are over and pipeline pressure has abated, but the new escalation is interrupting that trend and lifting inflation expectations.</a:t>
            </a:r>
          </a:p>
          <a:p>
            <a:pPr>
              <a:spcAft>
                <a:spcPts val="800"/>
              </a:spcAft>
            </a:pPr>
            <a:r>
              <a:rPr lang="en-US" sz="1200" b="0" noProof="0" dirty="0">
                <a:solidFill>
                  <a:schemeClr val="tx2"/>
                </a:solidFill>
                <a:latin typeface="Nunito Sans ExtraBold"/>
              </a:rPr>
              <a:t>ECB and BoJ to hike in H2</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Earnings still doing the work</a:t>
            </a:r>
          </a:p>
          <a:p>
            <a:pPr algn="l">
              <a:spcAft>
                <a:spcPts val="800"/>
              </a:spcAft>
            </a:pPr>
            <a:r>
              <a:rPr lang="en-US" sz="1100" b="0" noProof="0" dirty="0">
                <a:solidFill>
                  <a:srgbClr val="202945"/>
                </a:solidFill>
                <a:latin typeface="Nunito Sans"/>
              </a:rPr>
              <a:t>AI investment continues to support earnings growth, participation is broadening across sectors and regions, margins remain near record highs and management confidence is resilient.</a:t>
            </a:r>
          </a:p>
          <a:p>
            <a:pPr>
              <a:spcAft>
                <a:spcPts val="800"/>
              </a:spcAft>
            </a:pPr>
            <a:r>
              <a:rPr lang="en-US" sz="1200" b="0" noProof="0" dirty="0">
                <a:solidFill>
                  <a:schemeClr val="tx2"/>
                </a:solidFill>
                <a:latin typeface="Nunito Sans ExtraBold"/>
              </a:rPr>
              <a:t>Key risk: higher real yields</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Fiscal support against trade friction</a:t>
            </a:r>
          </a:p>
          <a:p>
            <a:pPr algn="l">
              <a:spcAft>
                <a:spcPts val="800"/>
              </a:spcAft>
            </a:pPr>
            <a:r>
              <a:rPr lang="en-US" sz="1100" b="0" noProof="0" dirty="0">
                <a:solidFill>
                  <a:srgbClr val="202945"/>
                </a:solidFill>
                <a:latin typeface="Nunito Sans"/>
              </a:rPr>
              <a:t>Fiscal policy stays expansive in the US, China and Europe, with extra stimulus to cushion the energy shock. Tariffs and the Middle East crisis still hamper trade, though the impacts are fading.</a:t>
            </a:r>
          </a:p>
          <a:p>
            <a:pPr>
              <a:spcAft>
                <a:spcPts val="800"/>
              </a:spcAft>
            </a:pPr>
            <a:r>
              <a:rPr lang="en-US" sz="1200" b="0" noProof="0" dirty="0">
                <a:solidFill>
                  <a:schemeClr val="tx2"/>
                </a:solidFill>
                <a:latin typeface="Nunito Sans ExtraBold"/>
              </a:rPr>
              <a:t>UMCA talks the next test</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we expect the Fed, the SNB and the Bank of England to hold key rates stable in H2, while the ECB and the Bank of Japan each conduct at least one hike.</a:t>
            </a:r>
          </a:p>
        </p:txBody>
      </p:sp>
      <p:sp>
        <p:nvSpPr>
          <p:cNvPr id="9"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 renewed Middle East escalation and higher energy prices are the swing factor; central banks split between holding and hiking, while earnings growth and expansive fiscal policy keep the trend positive.</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2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2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Growth - 83%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Long term (7 to 12 years)</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EUR</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Growth</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Growth priority, distributions opportunistic</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6023467" y="376198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p>
              <a:r>
                <a:rPr lang="en-US" sz="1100" noProof="0" dirty="0" b="0">
                  <a:solidFill>
                    <a:srgbClr val="3AB7C8"/>
                  </a:solidFill>
                </a:rPr>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23577" y="2871594"/>
              <a:ext cx="340000" cy="340000"/>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200" b="1" noProof="0" dirty="0">
                  <a:solidFill>
                    <a:srgbClr val="FFA400"/>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912287" y="3187851"/>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p>
              <a:r>
                <a:rPr lang="en-US" sz="1100" noProof="0" dirty="0" b="0">
                  <a:solidFill>
                    <a:srgbClr val="3AB7C8"/>
                  </a:solidFill>
                </a:rPr>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1 of 4. Weights as at 2 September 2026.</a:t>
            </a:r>
          </a:p>
        </p:txBody>
      </p:sp>
      <p:graphicFrame>
        <p:nvGraphicFramePr>
          <p:cNvPr id="4" name="Table 3"/>
          <p:cNvGraphicFramePr>
            <a:graphicFrameLocks noGrp="1"/>
          </p:cNvGraphicFramePr>
          <p:nvPr/>
        </p:nvGraphicFramePr>
        <p:xfrm>
          <a:off x="665163" y="2140000"/>
          <a:ext cx="9398001" cy="492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Cash</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r"/>
                      <a:r>
                        <a:rPr sz="1050" b="1">
                          <a:solidFill>
                            <a:srgbClr val="FFFFFF"/>
                          </a:solidFill>
                          <a:latin typeface="Nunito Sans ExtraBold"/>
                        </a:rPr>
                        <a:t>0.4%</a:t>
                      </a:r>
                    </a:p>
                  </a:txBody>
                  <a:tcPr marL="45720" marR="45720" marT="9144" marB="9144" anchor="ctr">
                    <a:solidFill>
                      <a:srgbClr val="FFC545"/>
                    </a:solidFill>
                  </a:tcPr>
                </a:tc>
              </a:tr>
              <a:tr h="205000">
                <a:tc rowSpan="7">
                  <a:txBody>
                    <a:bodyPr wrap="square"/>
                    <a:lstStyle/>
                    <a:p>
                      <a:pPr algn="l"/>
                      <a:r>
                        <a:rPr sz="950" b="1">
                          <a:solidFill>
                            <a:srgbClr val="202945"/>
                          </a:solidFill>
                          <a:latin typeface="Calibri"/>
                        </a:rPr>
                        <a:t>Cash</a:t>
                      </a:r>
                    </a:p>
                  </a:txBody>
                  <a:tcPr marL="45720" marR="45720" marT="9144" marB="9144" anchor="ctr">
                    <a:noFill/>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CHF</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USD</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EUR</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INCOME TO BE RECEIVED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SEK</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CAD</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15.6%</a:t>
                      </a:r>
                    </a:p>
                  </a:txBody>
                  <a:tcPr marL="45720" marR="45720" marT="9144" marB="9144" anchor="ctr">
                    <a:solidFill>
                      <a:srgbClr val="4B5F80"/>
                    </a:solidFill>
                  </a:tcPr>
                </a:tc>
              </a:tr>
              <a:tr h="205000">
                <a:tc rowSpan="2">
                  <a:txBody>
                    <a:bodyPr wrap="square"/>
                    <a:lstStyle/>
                    <a:p>
                      <a:pPr algn="l"/>
                      <a:r>
                        <a:rPr sz="950" b="1">
                          <a:solidFill>
                            <a:srgbClr val="202945"/>
                          </a:solidFill>
                          <a:latin typeface="Calibri"/>
                        </a:rPr>
                        <a:t>Govies 1-10 (local)</a:t>
                      </a:r>
                    </a:p>
                  </a:txBody>
                  <a:tcPr marL="45720" marR="45720" marT="9144" marB="9144" anchor="ctr">
                    <a:noFill/>
                  </a:tcPr>
                </a:tc>
                <a:tc>
                  <a:txBody>
                    <a:bodyPr wrap="square"/>
                    <a:lstStyle/>
                    <a:p>
                      <a:pPr algn="l"/>
                      <a:r>
                        <a:rPr sz="950" b="0">
                          <a:solidFill>
                            <a:srgbClr val="202945"/>
                          </a:solidFill>
                          <a:latin typeface="Calibri"/>
                        </a:rPr>
                        <a:t>US30303MAC64</a:t>
                      </a:r>
                    </a:p>
                  </a:txBody>
                  <a:tcPr marL="45720" marR="45720" marT="9144" marB="9144" anchor="ctr">
                    <a:noFill/>
                  </a:tcPr>
                </a:tc>
                <a:tc>
                  <a:txBody>
                    <a:bodyPr wrap="square"/>
                    <a:lstStyle/>
                    <a:p>
                      <a:pPr algn="l"/>
                      <a:r>
                        <a:rPr sz="950" b="0">
                          <a:solidFill>
                            <a:srgbClr val="202945"/>
                          </a:solidFill>
                          <a:latin typeface="Calibri"/>
                        </a:rPr>
                        <a:t>4.6% META PLATFORMS NOV32  15.11.2032</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US023135CR56</a:t>
                      </a:r>
                    </a:p>
                  </a:txBody>
                  <a:tcPr marL="45720" marR="45720" marT="9144" marB="9144" anchor="ctr">
                    <a:noFill/>
                  </a:tcPr>
                </a:tc>
                <a:tc>
                  <a:txBody>
                    <a:bodyPr wrap="square"/>
                    <a:lstStyle/>
                    <a:p>
                      <a:pPr algn="l"/>
                      <a:r>
                        <a:rPr sz="950" b="0">
                          <a:solidFill>
                            <a:srgbClr val="202945"/>
                          </a:solidFill>
                          <a:latin typeface="Calibri"/>
                        </a:rPr>
                        <a:t>4.7% AMAZON DEC32  01.12.2032</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8">
                  <a:txBody>
                    <a:bodyPr wrap="square"/>
                    <a:lstStyle/>
                    <a:p>
                      <a:pPr algn="l"/>
                      <a:r>
                        <a:rPr sz="950" b="1">
                          <a:solidFill>
                            <a:srgbClr val="202945"/>
                          </a:solidFill>
                          <a:latin typeface="Calibri"/>
                        </a:rPr>
                        <a:t>High Yield (local or global hdg)</a:t>
                      </a:r>
                    </a:p>
                  </a:txBody>
                  <a:tcPr marL="45720" marR="45720" marT="9144" marB="9144" anchor="ctr">
                    <a:noFill/>
                  </a:tcPr>
                </a:tc>
                <a:tc>
                  <a:txBody>
                    <a:bodyPr wrap="square"/>
                    <a:lstStyle/>
                    <a:p>
                      <a:pPr algn="l"/>
                      <a:r>
                        <a:rPr sz="950" b="0">
                          <a:solidFill>
                            <a:srgbClr val="202945"/>
                          </a:solidFill>
                          <a:latin typeface="Calibri"/>
                        </a:rPr>
                        <a:t>CH0414256021</a:t>
                      </a:r>
                    </a:p>
                  </a:txBody>
                  <a:tcPr marL="45720" marR="45720" marT="9144" marB="9144" anchor="ctr">
                    <a:noFill/>
                  </a:tcPr>
                </a:tc>
                <a:tc>
                  <a:txBody>
                    <a:bodyPr wrap="square"/>
                    <a:lstStyle/>
                    <a:p>
                      <a:pPr algn="l"/>
                      <a:r>
                        <a:rPr sz="950" b="0">
                          <a:solidFill>
                            <a:srgbClr val="202945"/>
                          </a:solidFill>
                          <a:latin typeface="Calibri"/>
                        </a:rPr>
                        <a:t>SYZ EM BONDS CERTIFICATE</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LU0840158819</a:t>
                      </a:r>
                    </a:p>
                  </a:txBody>
                  <a:tcPr marL="45720" marR="45720" marT="9144" marB="9144" anchor="ctr">
                    <a:noFill/>
                  </a:tcPr>
                </a:tc>
                <a:tc>
                  <a:txBody>
                    <a:bodyPr wrap="square"/>
                    <a:lstStyle/>
                    <a:p>
                      <a:pPr algn="l"/>
                      <a:r>
                        <a:rPr sz="950" b="0">
                          <a:solidFill>
                            <a:srgbClr val="202945"/>
                          </a:solidFill>
                          <a:latin typeface="Calibri"/>
                        </a:rPr>
                        <a:t>STORM II BOND RC EUR</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2.53% Fid. 17.08.2026 - 19.10.2026 QATAR NATIONAL BANK - DOHA No. 263303</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CH0103254758</a:t>
                      </a:r>
                    </a:p>
                  </a:txBody>
                  <a:tcPr marL="45720" marR="45720" marT="9144" marB="9144" anchor="ctr">
                    <a:noFill/>
                  </a:tcPr>
                </a:tc>
                <a:tc>
                  <a:txBody>
                    <a:bodyPr wrap="square"/>
                    <a:lstStyle/>
                    <a:p>
                      <a:pPr algn="l"/>
                      <a:r>
                        <a:rPr sz="950" b="0">
                          <a:solidFill>
                            <a:srgbClr val="202945"/>
                          </a:solidFill>
                          <a:latin typeface="Calibri"/>
                        </a:rPr>
                        <a:t>SYZ AM(CH) 1 LIQUID MGT D</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US88167AAP66</a:t>
                      </a:r>
                    </a:p>
                  </a:txBody>
                  <a:tcPr marL="45720" marR="45720" marT="9144" marB="9144" anchor="ctr">
                    <a:noFill/>
                  </a:tcPr>
                </a:tc>
                <a:tc>
                  <a:txBody>
                    <a:bodyPr wrap="square"/>
                    <a:lstStyle/>
                    <a:p>
                      <a:pPr algn="l"/>
                      <a:r>
                        <a:rPr sz="950" b="0">
                          <a:solidFill>
                            <a:srgbClr val="202945"/>
                          </a:solidFill>
                          <a:latin typeface="Calibri"/>
                        </a:rPr>
                        <a:t>4 3/4 TEVA PHARMA MAY27  09.05.2027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3.35% Fid. On Call 48 Hrs Natixis, Paris On Call No. 96289</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1.75% Fid. On Call 48 Hrs Société Générale, Paris On Call No. 20843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IE00BD5CTX77</a:t>
                      </a:r>
                    </a:p>
                  </a:txBody>
                  <a:tcPr marL="45720" marR="45720" marT="9144" marB="9144" anchor="ctr">
                    <a:noFill/>
                  </a:tcPr>
                </a:tc>
                <a:tc>
                  <a:txBody>
                    <a:bodyPr wrap="square"/>
                    <a:lstStyle/>
                    <a:p>
                      <a:pPr algn="l"/>
                      <a:r>
                        <a:rPr sz="950" b="0">
                          <a:solidFill>
                            <a:srgbClr val="202945"/>
                          </a:solidFill>
                          <a:latin typeface="Calibri"/>
                        </a:rPr>
                        <a:t>BNY MELLON S/D H/Y H HDG</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rowSpan="4">
                  <a:txBody>
                    <a:bodyPr wrap="square"/>
                    <a:lstStyle/>
                    <a:p>
                      <a:pPr algn="l"/>
                      <a:r>
                        <a:rPr sz="950" b="1">
                          <a:solidFill>
                            <a:srgbClr val="202945"/>
                          </a:solidFill>
                          <a:latin typeface="Calibri"/>
                        </a:rPr>
                        <a:t>Corporate IG (local)</a:t>
                      </a:r>
                    </a:p>
                  </a:txBody>
                  <a:tcPr marL="45720" marR="45720" marT="9144" marB="9144" anchor="ctr">
                    <a:noFill/>
                  </a:tcPr>
                </a:tc>
                <a:tc>
                  <a:txBody>
                    <a:bodyPr wrap="square"/>
                    <a:lstStyle/>
                    <a:p>
                      <a:pPr algn="l"/>
                      <a:r>
                        <a:rPr sz="950" b="0">
                          <a:solidFill>
                            <a:srgbClr val="202945"/>
                          </a:solidFill>
                          <a:latin typeface="Calibri"/>
                        </a:rPr>
                        <a:t>XS2983840518</a:t>
                      </a:r>
                    </a:p>
                  </a:txBody>
                  <a:tcPr marL="45720" marR="45720" marT="9144" marB="9144" anchor="ctr">
                    <a:noFill/>
                  </a:tcPr>
                </a:tc>
                <a:tc>
                  <a:txBody>
                    <a:bodyPr wrap="square"/>
                    <a:lstStyle/>
                    <a:p>
                      <a:pPr algn="l"/>
                      <a:r>
                        <a:rPr sz="950" b="0">
                          <a:solidFill>
                            <a:srgbClr val="202945"/>
                          </a:solidFill>
                          <a:latin typeface="Calibri"/>
                        </a:rPr>
                        <a:t>3.5% GOLDMAN SACHS JAN33  23.01.2033</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XS3222746375</a:t>
                      </a:r>
                    </a:p>
                  </a:txBody>
                  <a:tcPr marL="45720" marR="45720" marT="9144" marB="9144" anchor="ctr">
                    <a:noFill/>
                  </a:tcPr>
                </a:tc>
                <a:tc>
                  <a:txBody>
                    <a:bodyPr wrap="square"/>
                    <a:lstStyle/>
                    <a:p>
                      <a:pPr algn="l"/>
                      <a:r>
                        <a:rPr sz="950" b="0">
                          <a:solidFill>
                            <a:srgbClr val="202945"/>
                          </a:solidFill>
                          <a:latin typeface="Calibri"/>
                        </a:rPr>
                        <a:t>3.5% VONOVIA NOV32  12.11.2032</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US718172DY22</a:t>
                      </a:r>
                    </a:p>
                  </a:txBody>
                  <a:tcPr marL="45720" marR="45720" marT="9144" marB="9144" anchor="ctr">
                    <a:noFill/>
                  </a:tcPr>
                </a:tc>
                <a:tc>
                  <a:txBody>
                    <a:bodyPr wrap="square"/>
                    <a:lstStyle/>
                    <a:p>
                      <a:pPr algn="l"/>
                      <a:r>
                        <a:rPr sz="950" b="0">
                          <a:solidFill>
                            <a:srgbClr val="202945"/>
                          </a:solidFill>
                          <a:latin typeface="Calibri"/>
                        </a:rPr>
                        <a:t>4% PHILIP MORRIS OCT30  29.10.2030</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US38141GZM94</a:t>
                      </a:r>
                    </a:p>
                  </a:txBody>
                  <a:tcPr marL="45720" marR="45720" marT="9144" marB="9144" anchor="ctr">
                    <a:noFill/>
                  </a:tcPr>
                </a:tc>
                <a:tc>
                  <a:txBody>
                    <a:bodyPr wrap="square"/>
                    <a:lstStyle/>
                    <a:p>
                      <a:pPr algn="l"/>
                      <a:r>
                        <a:rPr sz="950" b="0">
                          <a:solidFill>
                            <a:srgbClr val="202945"/>
                          </a:solidFill>
                          <a:latin typeface="Calibri"/>
                        </a:rPr>
                        <a:t>3.102% GOLDMAN FLR FEB33  24.02.2033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bl>
          </a:graphicData>
        </a:graphic>
      </p:graphicFrame>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2 of 4. Weights as at 2 September 2026.</a:t>
            </a:r>
          </a:p>
        </p:txBody>
      </p:sp>
      <p:graphicFrame>
        <p:nvGraphicFramePr>
          <p:cNvPr id="4" name="Table 3"/>
          <p:cNvGraphicFramePr>
            <a:graphicFrameLocks noGrp="1"/>
          </p:cNvGraphicFramePr>
          <p:nvPr/>
        </p:nvGraphicFramePr>
        <p:xfrm>
          <a:off x="665163" y="2140000"/>
          <a:ext cx="9398001" cy="328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15.6%</a:t>
                      </a:r>
                    </a:p>
                  </a:txBody>
                  <a:tcPr marL="45720" marR="45720" marT="9144" marB="9144" anchor="ctr">
                    <a:solidFill>
                      <a:srgbClr val="4B5F80"/>
                    </a:solidFill>
                  </a:tcPr>
                </a:tc>
              </a:tr>
              <a:tr h="205000">
                <a:tc>
                  <a:txBody>
                    <a:bodyPr wrap="square"/>
                    <a:lstStyle/>
                    <a:p>
                      <a:pPr algn="l"/>
                      <a:r>
                        <a:rPr sz="950" b="1">
                          <a:solidFill>
                            <a:srgbClr val="202945"/>
                          </a:solidFill>
                          <a:latin typeface="Calibri"/>
                        </a:rPr>
                        <a:t>EM Debt</a:t>
                      </a:r>
                    </a:p>
                  </a:txBody>
                  <a:tcPr marL="45720" marR="45720" marT="9144" marB="9144" anchor="ctr">
                    <a:noFill/>
                  </a:tcPr>
                </a:tc>
                <a:tc>
                  <a:txBody>
                    <a:bodyPr wrap="square"/>
                    <a:lstStyle/>
                    <a:p>
                      <a:pPr algn="l"/>
                      <a:r>
                        <a:rPr sz="950" b="0">
                          <a:solidFill>
                            <a:srgbClr val="202945"/>
                          </a:solidFill>
                          <a:latin typeface="Calibri"/>
                        </a:rPr>
                        <a:t>XS2647371843</a:t>
                      </a:r>
                    </a:p>
                  </a:txBody>
                  <a:tcPr marL="45720" marR="45720" marT="9144" marB="9144" anchor="ctr">
                    <a:noFill/>
                  </a:tcPr>
                </a:tc>
                <a:tc>
                  <a:txBody>
                    <a:bodyPr wrap="square"/>
                    <a:lstStyle/>
                    <a:p>
                      <a:pPr algn="l"/>
                      <a:r>
                        <a:rPr sz="950" b="0">
                          <a:solidFill>
                            <a:srgbClr val="202945"/>
                          </a:solidFill>
                          <a:latin typeface="Calibri"/>
                        </a:rPr>
                        <a:t>4.75% PKN ORLEN JUL30  13.07.2030</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34.0%</a:t>
                      </a:r>
                    </a:p>
                  </a:txBody>
                  <a:tcPr marL="45720" marR="45720" marT="9144" marB="9144" anchor="ctr">
                    <a:solidFill>
                      <a:srgbClr val="79D6FF"/>
                    </a:solidFill>
                  </a:tcPr>
                </a:tc>
              </a:tr>
              <a:tr h="205000">
                <a:tc>
                  <a:txBody>
                    <a:bodyPr wrap="square"/>
                    <a:lstStyle/>
                    <a:p>
                      <a:pPr algn="l"/>
                      <a:r>
                        <a:rPr sz="950" b="1">
                          <a:solidFill>
                            <a:srgbClr val="202945"/>
                          </a:solidFill>
                          <a:latin typeface="Calibri"/>
                        </a:rPr>
                        <a:t>US</a:t>
                      </a:r>
                    </a:p>
                  </a:txBody>
                  <a:tcPr marL="45720" marR="45720" marT="9144" marB="9144" anchor="ctr">
                    <a:noFill/>
                  </a:tcPr>
                </a:tc>
                <a:tc>
                  <a:txBody>
                    <a:bodyPr wrap="square"/>
                    <a:lstStyle/>
                    <a:p>
                      <a:pPr algn="l"/>
                      <a:r>
                        <a:rPr sz="950" b="0">
                          <a:solidFill>
                            <a:srgbClr val="202945"/>
                          </a:solidFill>
                          <a:latin typeface="Calibri"/>
                        </a:rPr>
                        <a:t>US0846707026</a:t>
                      </a:r>
                    </a:p>
                  </a:txBody>
                  <a:tcPr marL="45720" marR="45720" marT="9144" marB="9144" anchor="ctr">
                    <a:noFill/>
                  </a:tcPr>
                </a:tc>
                <a:tc>
                  <a:txBody>
                    <a:bodyPr wrap="square"/>
                    <a:lstStyle/>
                    <a:p>
                      <a:pPr algn="l"/>
                      <a:r>
                        <a:rPr sz="950" b="0">
                          <a:solidFill>
                            <a:srgbClr val="202945"/>
                          </a:solidFill>
                          <a:latin typeface="Calibri"/>
                        </a:rPr>
                        <a:t>BERKSHIRE HATHAWAY B</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r h="205000">
                <a:tc rowSpan="6">
                  <a:txBody>
                    <a:bodyPr wrap="square"/>
                    <a:lstStyle/>
                    <a:p>
                      <a:pPr algn="l"/>
                      <a:r>
                        <a:rPr sz="950" b="1">
                          <a:solidFill>
                            <a:srgbClr val="202945"/>
                          </a:solidFill>
                          <a:latin typeface="Calibri"/>
                        </a:rPr>
                        <a:t>Eurozone</a:t>
                      </a:r>
                    </a:p>
                  </a:txBody>
                  <a:tcPr marL="45720" marR="45720" marT="9144" marB="9144" anchor="ctr">
                    <a:noFill/>
                  </a:tcPr>
                </a:tc>
                <a:tc>
                  <a:txBody>
                    <a:bodyPr wrap="square"/>
                    <a:lstStyle/>
                    <a:p>
                      <a:pPr algn="l"/>
                      <a:r>
                        <a:rPr sz="950" b="0">
                          <a:solidFill>
                            <a:srgbClr val="202945"/>
                          </a:solidFill>
                          <a:latin typeface="Calibri"/>
                        </a:rPr>
                        <a:t>DE0008404005</a:t>
                      </a:r>
                    </a:p>
                  </a:txBody>
                  <a:tcPr marL="45720" marR="45720" marT="9144" marB="9144" anchor="ctr">
                    <a:noFill/>
                  </a:tcPr>
                </a:tc>
                <a:tc>
                  <a:txBody>
                    <a:bodyPr wrap="square"/>
                    <a:lstStyle/>
                    <a:p>
                      <a:pPr algn="l"/>
                      <a:r>
                        <a:rPr sz="950" b="0">
                          <a:solidFill>
                            <a:srgbClr val="202945"/>
                          </a:solidFill>
                          <a:latin typeface="Calibri"/>
                        </a:rPr>
                        <a:t>ALLIANZ (NOM)</a:t>
                      </a:r>
                    </a:p>
                  </a:txBody>
                  <a:tcPr marL="45720" marR="45720" marT="9144" marB="9144" anchor="ctr">
                    <a:noFill/>
                  </a:tcPr>
                </a:tc>
                <a:tc>
                  <a:txBody>
                    <a:bodyPr wrap="square"/>
                    <a:lstStyle/>
                    <a:p>
                      <a:pPr algn="r"/>
                      <a:r>
                        <a:rPr sz="950" b="0">
                          <a:solidFill>
                            <a:srgbClr val="202945"/>
                          </a:solidFill>
                          <a:latin typeface="Calibri"/>
                        </a:rPr>
                        <a:t>3.0%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XS3315944077</a:t>
                      </a:r>
                    </a:p>
                  </a:txBody>
                  <a:tcPr marL="45720" marR="45720" marT="9144" marB="9144" anchor="ctr">
                    <a:noFill/>
                  </a:tcPr>
                </a:tc>
                <a:tc>
                  <a:txBody>
                    <a:bodyPr wrap="square"/>
                    <a:lstStyle/>
                    <a:p>
                      <a:pPr algn="l"/>
                      <a:r>
                        <a:rPr sz="950" b="0">
                          <a:solidFill>
                            <a:srgbClr val="202945"/>
                          </a:solidFill>
                          <a:latin typeface="Calibri"/>
                        </a:rPr>
                        <a:t>SG CHINA NEXT WINNERS  01.06.2099</a:t>
                      </a:r>
                    </a:p>
                  </a:txBody>
                  <a:tcPr marL="45720" marR="45720" marT="9144" marB="9144" anchor="ctr">
                    <a:noFill/>
                  </a:tcPr>
                </a:tc>
                <a:tc>
                  <a:txBody>
                    <a:bodyPr wrap="square"/>
                    <a:lstStyle/>
                    <a:p>
                      <a:pPr algn="r"/>
                      <a:r>
                        <a:rPr sz="950" b="0">
                          <a:solidFill>
                            <a:srgbClr val="202945"/>
                          </a:solidFill>
                          <a:latin typeface="Calibri"/>
                        </a:rPr>
                        <a:t>1.9%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NL0000235190</a:t>
                      </a:r>
                    </a:p>
                  </a:txBody>
                  <a:tcPr marL="45720" marR="45720" marT="9144" marB="9144" anchor="ctr">
                    <a:noFill/>
                  </a:tcPr>
                </a:tc>
                <a:tc>
                  <a:txBody>
                    <a:bodyPr wrap="square"/>
                    <a:lstStyle/>
                    <a:p>
                      <a:pPr algn="l"/>
                      <a:r>
                        <a:rPr sz="950" b="0">
                          <a:solidFill>
                            <a:srgbClr val="202945"/>
                          </a:solidFill>
                          <a:latin typeface="Calibri"/>
                        </a:rPr>
                        <a:t>AIRBUS</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IT0003856405</a:t>
                      </a:r>
                    </a:p>
                  </a:txBody>
                  <a:tcPr marL="45720" marR="45720" marT="9144" marB="9144" anchor="ctr">
                    <a:noFill/>
                  </a:tcPr>
                </a:tc>
                <a:tc>
                  <a:txBody>
                    <a:bodyPr wrap="square"/>
                    <a:lstStyle/>
                    <a:p>
                      <a:pPr algn="l"/>
                      <a:r>
                        <a:rPr sz="950" b="0">
                          <a:solidFill>
                            <a:srgbClr val="202945"/>
                          </a:solidFill>
                          <a:latin typeface="Calibri"/>
                        </a:rPr>
                        <a:t>LEONARDO (RAGGR)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FR0014004L86</a:t>
                      </a:r>
                    </a:p>
                  </a:txBody>
                  <a:tcPr marL="45720" marR="45720" marT="9144" marB="9144" anchor="ctr">
                    <a:noFill/>
                  </a:tcPr>
                </a:tc>
                <a:tc>
                  <a:txBody>
                    <a:bodyPr wrap="square"/>
                    <a:lstStyle/>
                    <a:p>
                      <a:pPr algn="l"/>
                      <a:r>
                        <a:rPr sz="950" b="0">
                          <a:solidFill>
                            <a:srgbClr val="202945"/>
                          </a:solidFill>
                          <a:latin typeface="Calibri"/>
                        </a:rPr>
                        <a:t>DASSAULT AVIATION SA</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DE0008402215</a:t>
                      </a:r>
                    </a:p>
                  </a:txBody>
                  <a:tcPr marL="45720" marR="45720" marT="9144" marB="9144" anchor="ctr">
                    <a:noFill/>
                  </a:tcPr>
                </a:tc>
                <a:tc>
                  <a:txBody>
                    <a:bodyPr wrap="square"/>
                    <a:lstStyle/>
                    <a:p>
                      <a:pPr algn="l"/>
                      <a:r>
                        <a:rPr sz="950" b="0">
                          <a:solidFill>
                            <a:srgbClr val="202945"/>
                          </a:solidFill>
                          <a:latin typeface="Calibri"/>
                        </a:rPr>
                        <a:t>HANNOVER RUECK (NOM)</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rowSpan="2">
                  <a:txBody>
                    <a:bodyPr wrap="square"/>
                    <a:lstStyle/>
                    <a:p>
                      <a:pPr algn="l"/>
                      <a:r>
                        <a:rPr sz="950" b="1">
                          <a:solidFill>
                            <a:srgbClr val="202945"/>
                          </a:solidFill>
                          <a:latin typeface="Calibri"/>
                        </a:rPr>
                        <a:t>UK</a:t>
                      </a:r>
                    </a:p>
                  </a:txBody>
                  <a:tcPr marL="45720" marR="45720" marT="9144" marB="9144" anchor="ctr">
                    <a:noFill/>
                  </a:tcPr>
                </a:tc>
                <a:tc>
                  <a:txBody>
                    <a:bodyPr wrap="square"/>
                    <a:lstStyle/>
                    <a:p>
                      <a:pPr algn="l"/>
                      <a:r>
                        <a:rPr sz="950" b="0">
                          <a:solidFill>
                            <a:srgbClr val="202945"/>
                          </a:solidFill>
                          <a:latin typeface="Calibri"/>
                        </a:rPr>
                        <a:t>GB0002634946</a:t>
                      </a:r>
                    </a:p>
                  </a:txBody>
                  <a:tcPr marL="45720" marR="45720" marT="9144" marB="9144" anchor="ctr">
                    <a:noFill/>
                  </a:tcPr>
                </a:tc>
                <a:tc>
                  <a:txBody>
                    <a:bodyPr wrap="square"/>
                    <a:lstStyle/>
                    <a:p>
                      <a:pPr algn="l"/>
                      <a:r>
                        <a:rPr sz="950" b="0">
                          <a:solidFill>
                            <a:srgbClr val="202945"/>
                          </a:solidFill>
                          <a:latin typeface="Calibri"/>
                        </a:rPr>
                        <a:t>BAE SYSTEMS</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GB0008706128</a:t>
                      </a:r>
                    </a:p>
                  </a:txBody>
                  <a:tcPr marL="45720" marR="45720" marT="9144" marB="9144" anchor="ctr">
                    <a:noFill/>
                  </a:tcPr>
                </a:tc>
                <a:tc>
                  <a:txBody>
                    <a:bodyPr wrap="square"/>
                    <a:lstStyle/>
                    <a:p>
                      <a:pPr algn="l"/>
                      <a:r>
                        <a:rPr sz="950" b="0">
                          <a:solidFill>
                            <a:srgbClr val="202945"/>
                          </a:solidFill>
                          <a:latin typeface="Calibri"/>
                        </a:rPr>
                        <a:t>LLOYDS BANKING GROUP</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3">
                  <a:txBody>
                    <a:bodyPr wrap="square"/>
                    <a:lstStyle/>
                    <a:p>
                      <a:pPr algn="l"/>
                      <a:r>
                        <a:rPr sz="950" b="1">
                          <a:solidFill>
                            <a:srgbClr val="202945"/>
                          </a:solidFill>
                          <a:latin typeface="Calibri"/>
                        </a:rPr>
                        <a:t>Switzerland</a:t>
                      </a:r>
                    </a:p>
                  </a:txBody>
                  <a:tcPr marL="45720" marR="45720" marT="9144" marB="9144" anchor="ctr">
                    <a:noFill/>
                  </a:tcPr>
                </a:tc>
                <a:tc>
                  <a:txBody>
                    <a:bodyPr wrap="square"/>
                    <a:lstStyle/>
                    <a:p>
                      <a:pPr algn="l"/>
                      <a:r>
                        <a:rPr sz="950" b="0">
                          <a:solidFill>
                            <a:srgbClr val="202945"/>
                          </a:solidFill>
                          <a:latin typeface="Calibri"/>
                        </a:rPr>
                        <a:t>CH0017043958</a:t>
                      </a:r>
                    </a:p>
                  </a:txBody>
                  <a:tcPr marL="45720" marR="45720" marT="9144" marB="9144" anchor="ctr">
                    <a:noFill/>
                  </a:tcPr>
                </a:tc>
                <a:tc>
                  <a:txBody>
                    <a:bodyPr wrap="square"/>
                    <a:lstStyle/>
                    <a:p>
                      <a:pPr algn="l"/>
                      <a:r>
                        <a:rPr sz="950" b="0">
                          <a:solidFill>
                            <a:srgbClr val="202945"/>
                          </a:solidFill>
                          <a:latin typeface="Calibri"/>
                        </a:rPr>
                        <a:t>UBS(CH) EQ-SWISS INC CHFP</a:t>
                      </a:r>
                    </a:p>
                  </a:txBody>
                  <a:tcPr marL="45720" marR="45720" marT="9144" marB="9144" anchor="ctr">
                    <a:noFill/>
                  </a:tcPr>
                </a:tc>
                <a:tc>
                  <a:txBody>
                    <a:bodyPr wrap="square"/>
                    <a:lstStyle/>
                    <a:p>
                      <a:pPr algn="r"/>
                      <a:r>
                        <a:rPr sz="950" b="0">
                          <a:solidFill>
                            <a:srgbClr val="202945"/>
                          </a:solidFill>
                          <a:latin typeface="Calibri"/>
                        </a:rPr>
                        <a:t>2.8%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CH0011075394</a:t>
                      </a:r>
                    </a:p>
                  </a:txBody>
                  <a:tcPr marL="45720" marR="45720" marT="9144" marB="9144" anchor="ctr">
                    <a:noFill/>
                  </a:tcPr>
                </a:tc>
                <a:tc>
                  <a:txBody>
                    <a:bodyPr wrap="square"/>
                    <a:lstStyle/>
                    <a:p>
                      <a:pPr algn="l"/>
                      <a:r>
                        <a:rPr sz="950" b="0">
                          <a:solidFill>
                            <a:srgbClr val="202945"/>
                          </a:solidFill>
                          <a:latin typeface="Calibri"/>
                        </a:rPr>
                        <a:t>ZURICH INSURANCE GRP(NOM)</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CH0008742519</a:t>
                      </a:r>
                    </a:p>
                  </a:txBody>
                  <a:tcPr marL="45720" marR="45720" marT="9144" marB="9144" anchor="ctr">
                    <a:noFill/>
                  </a:tcPr>
                </a:tc>
                <a:tc>
                  <a:txBody>
                    <a:bodyPr wrap="square"/>
                    <a:lstStyle/>
                    <a:p>
                      <a:pPr algn="l"/>
                      <a:r>
                        <a:rPr sz="950" b="0">
                          <a:solidFill>
                            <a:srgbClr val="202945"/>
                          </a:solidFill>
                          <a:latin typeface="Calibri"/>
                        </a:rPr>
                        <a:t>SWISSCOM (NOM)</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bl>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21.1M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68</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20.1%</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83.4%</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400" b="0" noProof="0" dirty="0">
                <a:solidFill>
                  <a:srgbClr val="202945"/>
                </a:solidFill>
                <a:latin typeface="Nunito Sans"/>
              </a:rPr>
              <a:t>Running yield</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8"/>
          <p:cNvSpPr txBox="1"/>
          <p:nvPr/>
        </p:nvSpPr>
        <p:spPr>
          <a:xfrm>
            <a:off x="9900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Allocation by
asset class</a:t>
            </a:r>
          </a:p>
        </p:txBody>
      </p:sp>
      <p:sp>
        <p:nvSpPr>
          <p:cNvPr id="17" name="TextBox 16"/>
          <p:cNvSpPr txBox="1"/>
          <p:nvPr/>
        </p:nvSpPr>
        <p:spPr>
          <a:xfrm>
            <a:off x="59436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&amp; sector exposure</a:t>
            </a:r>
          </a:p>
        </p:txBody>
      </p:sp>
      <p:sp>
        <p:nvSpPr>
          <p:cNvPr id="3" name="Text Placeholder 2"/>
          <p:cNvSpPr>
            <a:spLocks noGrp="1"/>
          </p:cNvSpPr>
          <p:nvPr>
            <p:ph type="body" sz="quarter" idx="14"/>
          </p:nvPr>
        </p:nvSpPr>
        <p:spPr>
          <a:xfrm>
            <a:off x="665163" y="1652014"/>
            <a:ext cx="9398001" cy="251511"/>
          </a:xfrm>
        </p:spPr>
        <p:txBody>
          <a:bodyPr/>
          <a:lstStyle/>
          <a:p>
            <a:r>
              <a:rPr lang="en-US" sz="1400" noProof="0" dirty="0"/>
              <a:t>Regional and sector breakdown (look-through where available).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Geographic exposure</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Sector exposure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Duration coverage: 11 of 15 fixed-income line(s) report a modified duration; portfolio duration reflects only those.</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graphicFrame>
        <p:nvGraphicFramePr>
          <p:cNvPr id="15" name="Table 14"/>
          <p:cNvGraphicFramePr>
            <a:graphicFrameLocks noGrp="1"/>
          </p:cNvGraphicFramePr>
          <p:nvPr/>
        </p:nvGraphicFramePr>
        <p:xfrm>
          <a:off x="666000" y="4860000"/>
          <a:ext cx="9396000" cy="1879200"/>
        </p:xfrm>
        <a:graphic>
          <a:graphicData uri="http://schemas.openxmlformats.org/drawingml/2006/table">
            <a:tbl>
              <a:tblPr firstRow="1" bandRow="1">
                <a:tableStyleId>{5C22544A-7EE6-4342-B048-85BDC9FD1C3A}</a:tableStyleId>
              </a:tblPr>
              <a:tblGrid>
                <a:gridCol w="4322160"/>
                <a:gridCol w="1691280"/>
                <a:gridCol w="1315440"/>
                <a:gridCol w="2067120"/>
              </a:tblGrid>
              <a:tr h="313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313200">
                <a:tc>
                  <a:txBody>
                    <a:bodyPr wrap="square"/>
                    <a:lstStyle/>
                    <a:p>
                      <a:pPr algn="l"/>
                      <a:r>
                        <a:rPr sz="900" b="0">
                          <a:solidFill>
                            <a:srgbClr val="202945"/>
                          </a:solidFill>
                        </a:rPr>
                        <a:t>SYZ EM BONDS CERTIFICATE</a:t>
                      </a:r>
                    </a:p>
                  </a:txBody>
                  <a:tcPr marL="45720" marR="45720" anchor="ctr">
                    <a:noFill/>
                  </a:tcPr>
                </a:tc>
                <a:tc>
                  <a:txBody>
                    <a:bodyPr wrap="square"/>
                    <a:lstStyle/>
                    <a:p>
                      <a:pPr algn="l"/>
                      <a:r>
                        <a:rPr sz="900" b="0">
                          <a:solidFill>
                            <a:srgbClr val="202945"/>
                          </a:solidFill>
                        </a:rPr>
                        <a:t>USD 719k</a:t>
                      </a:r>
                    </a:p>
                  </a:txBody>
                  <a:tcPr marL="45720" marR="45720" anchor="ctr">
                    <a:noFill/>
                  </a:tcPr>
                </a:tc>
                <a:tc>
                  <a:txBody>
                    <a:bodyPr wrap="square"/>
                    <a:lstStyle/>
                    <a:p>
                      <a:pPr algn="r"/>
                      <a:r>
                        <a:rPr sz="900" b="0">
                          <a:solidFill>
                            <a:srgbClr val="202945"/>
                          </a:solidFill>
                        </a:rPr>
                        <a:t>2.9%</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STORM II BOND RC EUR</a:t>
                      </a:r>
                    </a:p>
                  </a:txBody>
                  <a:tcPr marL="45720" marR="45720" anchor="ctr">
                    <a:noFill/>
                  </a:tcPr>
                </a:tc>
                <a:tc>
                  <a:txBody>
                    <a:bodyPr wrap="square"/>
                    <a:lstStyle/>
                    <a:p>
                      <a:pPr algn="l"/>
                      <a:r>
                        <a:rPr sz="900" b="0">
                          <a:solidFill>
                            <a:srgbClr val="202945"/>
                          </a:solidFill>
                        </a:rPr>
                        <a:t>EUR 466k</a:t>
                      </a:r>
                    </a:p>
                  </a:txBody>
                  <a:tcPr marL="45720" marR="45720" anchor="ctr">
                    <a:noFill/>
                  </a:tcPr>
                </a:tc>
                <a:tc>
                  <a:txBody>
                    <a:bodyPr wrap="square"/>
                    <a:lstStyle/>
                    <a:p>
                      <a:pPr algn="r"/>
                      <a:r>
                        <a:rPr sz="900" b="0">
                          <a:solidFill>
                            <a:srgbClr val="202945"/>
                          </a:solidFill>
                        </a:rPr>
                        <a:t>2.2%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2.53% Fid. 17.08.2026 - 19.10.2026 QATAR NATIONAL BANK - DOHA No. 263303</a:t>
                      </a:r>
                    </a:p>
                  </a:txBody>
                  <a:tcPr marL="45720" marR="45720" anchor="ctr">
                    <a:noFill/>
                  </a:tcPr>
                </a:tc>
                <a:tc>
                  <a:txBody>
                    <a:bodyPr wrap="square"/>
                    <a:lstStyle/>
                    <a:p>
                      <a:pPr algn="l"/>
                      <a:r>
                        <a:rPr sz="900" b="0">
                          <a:solidFill>
                            <a:srgbClr val="202945"/>
                          </a:solidFill>
                        </a:rPr>
                        <a:t>EUR 320k</a:t>
                      </a:r>
                    </a:p>
                  </a:txBody>
                  <a:tcPr marL="45720" marR="45720" anchor="ctr">
                    <a:noFill/>
                  </a:tcPr>
                </a:tc>
                <a:tc>
                  <a:txBody>
                    <a:bodyPr wrap="square"/>
                    <a:lstStyle/>
                    <a:p>
                      <a:pPr algn="r"/>
                      <a:r>
                        <a:rPr sz="900" b="0">
                          <a:solidFill>
                            <a:srgbClr val="202945"/>
                          </a:solidFill>
                        </a:rPr>
                        <a:t>1.5%</a:t>
                      </a:r>
                    </a:p>
                  </a:txBody>
                  <a:tcPr marL="45720" marR="45720" anchor="ctr">
                    <a:noFill/>
                  </a:tcPr>
                </a:tc>
                <a:tc>
                  <a:txBody>
                    <a:bodyPr wrap="square"/>
                    <a:lstStyle/>
                    <a:p>
                      <a:pPr algn="r"/>
                      <a:r>
                        <a:rPr sz="900" b="0">
                          <a:solidFill>
                            <a:srgbClr val="202945"/>
                          </a:solidFill>
                        </a:rPr>
                        <a:t>2.53%</a:t>
                      </a:r>
                    </a:p>
                  </a:txBody>
                  <a:tcPr marL="45720" marR="45720" anchor="ctr">
                    <a:noFill/>
                  </a:tcPr>
                </a:tc>
              </a:tr>
              <a:tr h="313200">
                <a:tc>
                  <a:txBody>
                    <a:bodyPr wrap="square"/>
                    <a:lstStyle/>
                    <a:p>
                      <a:pPr algn="l"/>
                      <a:r>
                        <a:rPr sz="900" b="0">
                          <a:solidFill>
                            <a:srgbClr val="202945"/>
                          </a:solidFill>
                        </a:rPr>
                        <a:t>SYZ AM(CH) 1 LIQUID MGT D</a:t>
                      </a:r>
                    </a:p>
                  </a:txBody>
                  <a:tcPr marL="45720" marR="45720" anchor="ctr">
                    <a:noFill/>
                  </a:tcPr>
                </a:tc>
                <a:tc>
                  <a:txBody>
                    <a:bodyPr wrap="square"/>
                    <a:lstStyle/>
                    <a:p>
                      <a:pPr algn="l"/>
                      <a:r>
                        <a:rPr sz="900" b="0">
                          <a:solidFill>
                            <a:srgbClr val="202945"/>
                          </a:solidFill>
                        </a:rPr>
                        <a:t>USD 303k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3.5% GOLDMAN SACHS JAN33  23.01.2033</a:t>
                      </a:r>
                    </a:p>
                  </a:txBody>
                  <a:tcPr marL="45720" marR="45720" anchor="ctr">
                    <a:noFill/>
                  </a:tcPr>
                </a:tc>
                <a:tc>
                  <a:txBody>
                    <a:bodyPr wrap="square"/>
                    <a:lstStyle/>
                    <a:p>
                      <a:pPr algn="l"/>
                      <a:r>
                        <a:rPr sz="900" b="0">
                          <a:solidFill>
                            <a:srgbClr val="202945"/>
                          </a:solidFill>
                        </a:rPr>
                        <a:t>EUR 199k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4.03%</a:t>
                      </a:r>
                    </a:p>
                  </a:txBody>
                  <a:tcPr marL="45720" marR="45720" anchor="ctr">
                    <a:noFill/>
                  </a:tcPr>
                </a:tc>
              </a:tr>
            </a:tbl>
          </a:graphicData>
        </a:graphic>
      </p:graphicFrame>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graphicFrame>
        <p:nvGraphicFramePr>
          <p:cNvPr id="32" name="Table 31"/>
          <p:cNvGraphicFramePr>
            <a:graphicFrameLocks noGrp="1"/>
          </p:cNvGraphicFramePr>
          <p:nvPr/>
        </p:nvGraphicFramePr>
        <p:xfrm>
          <a:off x="666000" y="4860000"/>
          <a:ext cx="9359810" cy="1667280"/>
        </p:xfrm>
        <a:graphic>
          <a:graphicData uri="http://schemas.openxmlformats.org/drawingml/2006/table">
            <a:tbl>
              <a:tblPr firstRow="1" bandRow="1">
                <a:tableStyleId>{5C22544A-7EE6-4342-B048-85BDC9FD1C3A}</a:tableStyleId>
              </a:tblPr>
              <a:tblGrid>
                <a:gridCol w="4867102"/>
                <a:gridCol w="2246354"/>
                <a:gridCol w="2246354"/>
              </a:tblGrid>
              <a:tr h="27788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277880">
                <a:tc>
                  <a:txBody>
                    <a:bodyPr wrap="square"/>
                    <a:lstStyle/>
                    <a:p>
                      <a:pPr algn="l"/>
                      <a:r>
                        <a:rPr sz="900" b="0">
                          <a:solidFill>
                            <a:srgbClr val="202945"/>
                          </a:solidFill>
                        </a:rPr>
                        <a:t>ALLIANZ (NOM)</a:t>
                      </a:r>
                    </a:p>
                  </a:txBody>
                  <a:tcPr marL="45720" marR="45720" anchor="ctr">
                    <a:noFill/>
                  </a:tcPr>
                </a:tc>
                <a:tc>
                  <a:txBody>
                    <a:bodyPr wrap="square"/>
                    <a:lstStyle/>
                    <a:p>
                      <a:pPr algn="l"/>
                      <a:r>
                        <a:rPr sz="900" b="0">
                          <a:solidFill>
                            <a:srgbClr val="202945"/>
                          </a:solidFill>
                        </a:rPr>
                        <a:t>EUR 635k</a:t>
                      </a:r>
                    </a:p>
                  </a:txBody>
                  <a:tcPr marL="45720" marR="45720" anchor="ctr">
                    <a:noFill/>
                  </a:tcPr>
                </a:tc>
                <a:tc>
                  <a:txBody>
                    <a:bodyPr wrap="square"/>
                    <a:lstStyle/>
                    <a:p>
                      <a:pPr algn="r"/>
                      <a:r>
                        <a:rPr sz="900" b="0">
                          <a:solidFill>
                            <a:srgbClr val="202945"/>
                          </a:solidFill>
                        </a:rPr>
                        <a:t>3.0%</a:t>
                      </a:r>
                    </a:p>
                  </a:txBody>
                  <a:tcPr marL="45720" marR="45720" anchor="ctr">
                    <a:noFill/>
                  </a:tcPr>
                </a:tc>
              </a:tr>
              <a:tr h="277880">
                <a:tc>
                  <a:txBody>
                    <a:bodyPr wrap="square"/>
                    <a:lstStyle/>
                    <a:p>
                      <a:pPr algn="l"/>
                      <a:r>
                        <a:rPr sz="900" b="0">
                          <a:solidFill>
                            <a:srgbClr val="202945"/>
                          </a:solidFill>
                        </a:rPr>
                        <a:t>UBS(CH) EQ-SWISS INC CHFP</a:t>
                      </a:r>
                    </a:p>
                  </a:txBody>
                  <a:tcPr marL="45720" marR="45720" anchor="ctr">
                    <a:noFill/>
                  </a:tcPr>
                </a:tc>
                <a:tc>
                  <a:txBody>
                    <a:bodyPr wrap="square"/>
                    <a:lstStyle/>
                    <a:p>
                      <a:pPr algn="l"/>
                      <a:r>
                        <a:rPr sz="900" b="0">
                          <a:solidFill>
                            <a:srgbClr val="202945"/>
                          </a:solidFill>
                        </a:rPr>
                        <a:t>CHF 551k</a:t>
                      </a:r>
                    </a:p>
                  </a:txBody>
                  <a:tcPr marL="45720" marR="45720" anchor="ctr">
                    <a:noFill/>
                  </a:tcPr>
                </a:tc>
                <a:tc>
                  <a:txBody>
                    <a:bodyPr wrap="square"/>
                    <a:lstStyle/>
                    <a:p>
                      <a:pPr algn="r"/>
                      <a:r>
                        <a:rPr sz="900" b="0">
                          <a:solidFill>
                            <a:srgbClr val="202945"/>
                          </a:solidFill>
                        </a:rPr>
                        <a:t>2.8%</a:t>
                      </a:r>
                    </a:p>
                  </a:txBody>
                  <a:tcPr marL="45720" marR="45720" anchor="ctr">
                    <a:noFill/>
                  </a:tcPr>
                </a:tc>
              </a:tr>
              <a:tr h="277880">
                <a:tc>
                  <a:txBody>
                    <a:bodyPr wrap="square"/>
                    <a:lstStyle/>
                    <a:p>
                      <a:pPr algn="l"/>
                      <a:r>
                        <a:rPr sz="900" b="0">
                          <a:solidFill>
                            <a:srgbClr val="202945"/>
                          </a:solidFill>
                        </a:rPr>
                        <a:t>VANECK VECTORS DEF A ETF</a:t>
                      </a:r>
                    </a:p>
                  </a:txBody>
                  <a:tcPr marL="45720" marR="45720" anchor="ctr">
                    <a:noFill/>
                  </a:tcPr>
                </a:tc>
                <a:tc>
                  <a:txBody>
                    <a:bodyPr wrap="square"/>
                    <a:lstStyle/>
                    <a:p>
                      <a:pPr algn="l"/>
                      <a:r>
                        <a:rPr sz="900" b="0">
                          <a:solidFill>
                            <a:srgbClr val="202945"/>
                          </a:solidFill>
                        </a:rPr>
                        <a:t>EUR 502k</a:t>
                      </a:r>
                    </a:p>
                  </a:txBody>
                  <a:tcPr marL="45720" marR="45720" anchor="ctr">
                    <a:noFill/>
                  </a:tcPr>
                </a:tc>
                <a:tc>
                  <a:txBody>
                    <a:bodyPr wrap="square"/>
                    <a:lstStyle/>
                    <a:p>
                      <a:pPr algn="r"/>
                      <a:r>
                        <a:rPr sz="900" b="0">
                          <a:solidFill>
                            <a:srgbClr val="202945"/>
                          </a:solidFill>
                        </a:rPr>
                        <a:t>2.4%</a:t>
                      </a:r>
                    </a:p>
                  </a:txBody>
                  <a:tcPr marL="45720" marR="45720" anchor="ctr">
                    <a:noFill/>
                  </a:tcPr>
                </a:tc>
              </a:tr>
              <a:tr h="277880">
                <a:tc>
                  <a:txBody>
                    <a:bodyPr wrap="square"/>
                    <a:lstStyle/>
                    <a:p>
                      <a:pPr algn="l"/>
                      <a:r>
                        <a:rPr sz="900" b="0">
                          <a:solidFill>
                            <a:srgbClr val="202945"/>
                          </a:solidFill>
                        </a:rPr>
                        <a:t>BRGF WORLD MINING(REG)A2</a:t>
                      </a:r>
                    </a:p>
                  </a:txBody>
                  <a:tcPr marL="45720" marR="45720" anchor="ctr">
                    <a:noFill/>
                  </a:tcPr>
                </a:tc>
                <a:tc>
                  <a:txBody>
                    <a:bodyPr wrap="square"/>
                    <a:lstStyle/>
                    <a:p>
                      <a:pPr algn="l"/>
                      <a:r>
                        <a:rPr sz="900" b="0">
                          <a:solidFill>
                            <a:srgbClr val="202945"/>
                          </a:solidFill>
                        </a:rPr>
                        <a:t>USD 558k</a:t>
                      </a:r>
                    </a:p>
                  </a:txBody>
                  <a:tcPr marL="45720" marR="45720" anchor="ctr">
                    <a:noFill/>
                  </a:tcPr>
                </a:tc>
                <a:tc>
                  <a:txBody>
                    <a:bodyPr wrap="square"/>
                    <a:lstStyle/>
                    <a:p>
                      <a:pPr algn="r"/>
                      <a:r>
                        <a:rPr sz="900" b="0">
                          <a:solidFill>
                            <a:srgbClr val="202945"/>
                          </a:solidFill>
                        </a:rPr>
                        <a:t>2.3%</a:t>
                      </a:r>
                    </a:p>
                  </a:txBody>
                  <a:tcPr marL="45720" marR="45720" anchor="ctr">
                    <a:noFill/>
                  </a:tcPr>
                </a:tc>
              </a:tr>
              <a:tr h="277880">
                <a:tc>
                  <a:txBody>
                    <a:bodyPr wrap="square"/>
                    <a:lstStyle/>
                    <a:p>
                      <a:pPr algn="l"/>
                      <a:r>
                        <a:rPr sz="900" b="0">
                          <a:solidFill>
                            <a:srgbClr val="202945"/>
                          </a:solidFill>
                        </a:rPr>
                        <a:t>GOLDMAN EU HIGH DIV P CAP</a:t>
                      </a:r>
                    </a:p>
                  </a:txBody>
                  <a:tcPr marL="45720" marR="45720" anchor="ctr">
                    <a:noFill/>
                  </a:tcPr>
                </a:tc>
                <a:tc>
                  <a:txBody>
                    <a:bodyPr wrap="square"/>
                    <a:lstStyle/>
                    <a:p>
                      <a:pPr algn="l"/>
                      <a:r>
                        <a:rPr sz="900" b="0">
                          <a:solidFill>
                            <a:srgbClr val="202945"/>
                          </a:solidFill>
                        </a:rPr>
                        <a:t>EUR 435k</a:t>
                      </a:r>
                    </a:p>
                  </a:txBody>
                  <a:tcPr marL="45720" marR="45720" anchor="ctr">
                    <a:noFill/>
                  </a:tcPr>
                </a:tc>
                <a:tc>
                  <a:txBody>
                    <a:bodyPr wrap="square"/>
                    <a:lstStyle/>
                    <a:p>
                      <a:pPr algn="r"/>
                      <a:r>
                        <a:rPr sz="900" b="0">
                          <a:solidFill>
                            <a:srgbClr val="202945"/>
                          </a:solidFill>
                        </a:rPr>
                        <a:t>2.1%</a:t>
                      </a:r>
                    </a:p>
                  </a:txBody>
                  <a:tcPr marL="45720" marR="45720" anchor="ctr">
                    <a:noFill/>
                  </a:tcPr>
                </a:tc>
              </a:tr>
            </a:tbl>
          </a:graphicData>
        </a:graphic>
      </p:graphicFrame>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Equity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399" dirty="0">
                <a:solidFill>
                  <a:srgbClr val="3C445D"/>
                </a:solidFill>
                <a:latin typeface="Nunito" pitchFamily="34" charset="0"/>
                <a:ea typeface="Nunito" pitchFamily="34" charset="-122"/>
                <a:cs typeface="Nunito" pitchFamily="34" charset="-120"/>
              </a:rPr>
              <a:t>Equity sleeve: 24 lines, EUR 7.2m, 34.0% of the portfolio.</a:t>
            </a:r>
            <a:endParaRPr lang="en-US" sz="1399" dirty="0"/>
          </a:p>
        </p:txBody>
      </p:sp>
      <p:sp>
        <p:nvSpPr>
          <p:cNvPr id="4" name="Shape 2"/>
          <p:cNvSpPr/>
          <p:nvPr/>
        </p:nvSpPr>
        <p:spPr>
          <a:xfrm>
            <a:off x="671062" y="2147937"/>
            <a:ext cx="9350385" cy="4707183"/>
          </a:xfrm>
          <a:prstGeom prst="roundRect">
            <a:avLst>
              <a:gd name="adj" fmla="val 777"/>
            </a:avLst>
          </a:prstGeom>
          <a:noFill/>
          <a:ln w="12700">
            <a:solidFill>
              <a:srgbClr val="FAFAFB"/>
            </a:solidFill>
            <a:prstDash val="solid"/>
          </a:ln>
          <a:effectLst>
            <a:outerShdw blurRad="50800" dist="50800" dir="5400000" algn="ctr" rotWithShape="0">
              <a:schemeClr val="bg1">
                <a:alpha val="0"/>
              </a:schemeClr>
            </a:outerShdw>
          </a:effectLst>
        </p:spPr>
        <p:txBody>
          <a:bodyPr/>
          <a:lstStyle/>
          <a:p>
            <a:endParaRPr lang="en-CH"/>
          </a:p>
        </p:txBody>
      </p:sp>
      <p:sp>
        <p:nvSpPr>
          <p:cNvPr id="5" name="Text 3"/>
          <p:cNvSpPr/>
          <p:nvPr/>
        </p:nvSpPr>
        <p:spPr>
          <a:xfrm>
            <a:off x="77388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898557430"/>
              </p:ext>
            </p:extLst>
          </p:nvPr>
        </p:nvGraphicFramePr>
        <p:xfrm>
          <a:off x="1276598" y="2787749"/>
          <a:ext cx="1919434" cy="1919434"/>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100239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117605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Global / thematic   45.2%</a:t>
            </a:r>
            <a:endParaRPr lang="en-US" sz="1200" dirty="0"/>
          </a:p>
        </p:txBody>
      </p:sp>
      <p:sp>
        <p:nvSpPr>
          <p:cNvPr id="9" name="Shape 6"/>
          <p:cNvSpPr/>
          <p:nvPr/>
        </p:nvSpPr>
        <p:spPr>
          <a:xfrm>
            <a:off x="100239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117605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Eurozone   25.5%</a:t>
            </a:r>
            <a:endParaRPr lang="en-US" sz="1200" dirty="0"/>
          </a:p>
        </p:txBody>
      </p:sp>
      <p:sp>
        <p:nvSpPr>
          <p:cNvPr id="11" name="Shape 8"/>
          <p:cNvSpPr/>
          <p:nvPr/>
        </p:nvSpPr>
        <p:spPr>
          <a:xfrm>
            <a:off x="100239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117605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Switzerland   18.9%</a:t>
            </a:r>
            <a:endParaRPr lang="en-US" sz="1200" dirty="0"/>
          </a:p>
        </p:txBody>
      </p:sp>
      <p:sp>
        <p:nvSpPr>
          <p:cNvPr id="13" name="Shape 10"/>
          <p:cNvSpPr/>
          <p:nvPr/>
        </p:nvSpPr>
        <p:spPr>
          <a:xfrm>
            <a:off x="100239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117605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UK   5.5%</a:t>
            </a:r>
            <a:endParaRPr lang="en-US" sz="1200" dirty="0"/>
          </a:p>
        </p:txBody>
      </p:sp>
      <p:sp>
        <p:nvSpPr>
          <p:cNvPr id="15" name="Shape 12"/>
          <p:cNvSpPr/>
          <p:nvPr/>
        </p:nvSpPr>
        <p:spPr>
          <a:xfrm>
            <a:off x="1002393" y="6242729"/>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117605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US   4.8%</a:t>
            </a:r>
            <a:endParaRPr lang="en-US" sz="1200" dirty="0"/>
          </a:p>
        </p:txBody>
      </p:sp>
      <p:sp>
        <p:nvSpPr>
          <p:cNvPr id="17" name="Text 14"/>
          <p:cNvSpPr/>
          <p:nvPr/>
        </p:nvSpPr>
        <p:spPr>
          <a:xfrm>
            <a:off x="388382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sector</a:t>
            </a:r>
          </a:p>
        </p:txBody>
      </p:sp>
      <p:graphicFrame>
        <p:nvGraphicFramePr>
          <p:cNvPr id="18" name="Chart 1"/>
          <p:cNvGraphicFramePr/>
          <p:nvPr>
            <p:extLst>
              <p:ext uri="{D42A27DB-BD31-4B8C-83A1-F6EECF244321}">
                <p14:modId xmlns:p14="http://schemas.microsoft.com/office/powerpoint/2010/main" val="375775482"/>
              </p:ext>
            </p:extLst>
          </p:nvPr>
        </p:nvGraphicFramePr>
        <p:xfrm>
          <a:off x="4386538" y="2787749"/>
          <a:ext cx="1919434" cy="1919434"/>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5"/>
          <p:cNvSpPr/>
          <p:nvPr/>
        </p:nvSpPr>
        <p:spPr>
          <a:xfrm>
            <a:off x="411233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20" name="Text 16"/>
          <p:cNvSpPr/>
          <p:nvPr/>
        </p:nvSpPr>
        <p:spPr>
          <a:xfrm>
            <a:off x="428599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1" name="Shape 17"/>
          <p:cNvSpPr/>
          <p:nvPr/>
        </p:nvSpPr>
        <p:spPr>
          <a:xfrm>
            <a:off x="411233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22" name="Text 18"/>
          <p:cNvSpPr/>
          <p:nvPr/>
        </p:nvSpPr>
        <p:spPr>
          <a:xfrm>
            <a:off x="428599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3" name="Shape 19"/>
          <p:cNvSpPr/>
          <p:nvPr/>
        </p:nvSpPr>
        <p:spPr>
          <a:xfrm>
            <a:off x="411233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24" name="Text 20"/>
          <p:cNvSpPr/>
          <p:nvPr/>
        </p:nvSpPr>
        <p:spPr>
          <a:xfrm>
            <a:off x="428599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5" name="Shape 21"/>
          <p:cNvSpPr/>
          <p:nvPr/>
        </p:nvSpPr>
        <p:spPr>
          <a:xfrm>
            <a:off x="411233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26" name="Text 22"/>
          <p:cNvSpPr/>
          <p:nvPr/>
        </p:nvSpPr>
        <p:spPr>
          <a:xfrm>
            <a:off x="428599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7" name="Shape 23"/>
          <p:cNvSpPr/>
          <p:nvPr/>
        </p:nvSpPr>
        <p:spPr>
          <a:xfrm>
            <a:off x="4112333" y="6242729"/>
            <a:ext cx="95972" cy="95972"/>
          </a:xfrm>
          <a:prstGeom prst="rect">
            <a:avLst/>
          </a:prstGeom>
          <a:solidFill>
            <a:srgbClr val="9BA3B4"/>
          </a:solidFill>
          <a:ln w="12700">
            <a:solidFill>
              <a:srgbClr val="9BA3B4"/>
            </a:solidFill>
            <a:prstDash val="solid"/>
          </a:ln>
        </p:spPr>
        <p:txBody>
          <a:bodyPr/>
          <a:lstStyle/>
          <a:p>
            <a:endParaRPr lang="en-CH"/>
          </a:p>
        </p:txBody>
      </p:sp>
      <p:sp>
        <p:nvSpPr>
          <p:cNvPr id="28" name="Text 24"/>
          <p:cNvSpPr/>
          <p:nvPr/>
        </p:nvSpPr>
        <p:spPr>
          <a:xfrm>
            <a:off x="428599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9" name="Text 25"/>
          <p:cNvSpPr/>
          <p:nvPr/>
        </p:nvSpPr>
        <p:spPr>
          <a:xfrm>
            <a:off x="699376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market cap</a:t>
            </a:r>
          </a:p>
        </p:txBody>
      </p:sp>
      <p:graphicFrame>
        <p:nvGraphicFramePr>
          <p:cNvPr id="30" name="Chart 2"/>
          <p:cNvGraphicFramePr/>
          <p:nvPr>
            <p:extLst>
              <p:ext uri="{D42A27DB-BD31-4B8C-83A1-F6EECF244321}">
                <p14:modId xmlns:p14="http://schemas.microsoft.com/office/powerpoint/2010/main" val="2822922399"/>
              </p:ext>
            </p:extLst>
          </p:nvPr>
        </p:nvGraphicFramePr>
        <p:xfrm>
          <a:off x="7496478" y="2787749"/>
          <a:ext cx="1919434" cy="1919434"/>
        </p:xfrm>
        <a:graphic>
          <a:graphicData uri="http://schemas.openxmlformats.org/drawingml/2006/chart">
            <c:chart xmlns:c="http://schemas.openxmlformats.org/drawingml/2006/chart" xmlns:r="http://schemas.openxmlformats.org/officeDocument/2006/relationships" r:id="rId5"/>
          </a:graphicData>
        </a:graphic>
      </p:graphicFrame>
      <p:sp>
        <p:nvSpPr>
          <p:cNvPr id="31" name="Shape 26"/>
          <p:cNvSpPr/>
          <p:nvPr/>
        </p:nvSpPr>
        <p:spPr>
          <a:xfrm>
            <a:off x="722227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32" name="Text 27"/>
          <p:cNvSpPr/>
          <p:nvPr/>
        </p:nvSpPr>
        <p:spPr>
          <a:xfrm>
            <a:off x="739593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3" name="Shape 28"/>
          <p:cNvSpPr/>
          <p:nvPr/>
        </p:nvSpPr>
        <p:spPr>
          <a:xfrm>
            <a:off x="722227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34" name="Text 29"/>
          <p:cNvSpPr/>
          <p:nvPr/>
        </p:nvSpPr>
        <p:spPr>
          <a:xfrm>
            <a:off x="739593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5" name="Shape 30"/>
          <p:cNvSpPr/>
          <p:nvPr/>
        </p:nvSpPr>
        <p:spPr>
          <a:xfrm>
            <a:off x="722227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36" name="Text 31"/>
          <p:cNvSpPr/>
          <p:nvPr/>
        </p:nvSpPr>
        <p:spPr>
          <a:xfrm>
            <a:off x="739593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7" name="Text 32"/>
          <p:cNvSpPr/>
          <p:nvPr/>
        </p:nvSpPr>
        <p:spPr>
          <a:xfrm>
            <a:off x="671062" y="6964802"/>
            <a:ext cx="8774555" cy="228504"/>
          </a:xfrm>
          <a:prstGeom prst="rect">
            <a:avLst/>
          </a:prstGeom>
          <a:noFill/>
          <a:ln/>
        </p:spPr>
        <p:txBody>
          <a:bodyPr wrap="square" lIns="0" tIns="0" rIns="0" bIns="0" rtlCol="0" anchor="ctr"/>
          <a:lstStyle/>
          <a:p>
            <a:r>
              <a:rPr lang="en-US" sz="800" dirty="0">
                <a:solidFill>
                  <a:srgbClr val="A8B0BF"/>
                </a:solidFill>
                <a:latin typeface="Nunito" pitchFamily="34" charset="0"/>
                <a:ea typeface="Nunito" pitchFamily="34" charset="-122"/>
                <a:cs typeface="Nunito" pitchFamily="34" charset="-120"/>
              </a:rPr>
              <a:t/>
            </a:r>
            <a:endParaRPr lang="en-US" sz="800" dirty="0"/>
          </a:p>
        </p:txBody>
      </p:sp>
      <p:sp>
        <p:nvSpPr>
          <p:cNvPr id="38" name="Text 33"/>
          <p:cNvSpPr/>
          <p:nvPr/>
        </p:nvSpPr>
        <p:spPr>
          <a:xfrm>
            <a:off x="9601000" y="7129325"/>
            <a:ext cx="420447" cy="201084"/>
          </a:xfrm>
          <a:prstGeom prst="rect">
            <a:avLst/>
          </a:prstGeom>
          <a:noFill/>
          <a:ln/>
        </p:spPr>
        <p:txBody>
          <a:bodyPr wrap="square" lIns="0" tIns="0" rIns="0" bIns="0" rtlCol="0" anchor="ctr"/>
          <a:lstStyle/>
          <a:p>
            <a:pPr algn="r"/>
            <a:r>
              <a:rPr lang="en-US" sz="900" dirty="0">
                <a:solidFill>
                  <a:srgbClr val="A8B0BF"/>
                </a:solidFill>
                <a:latin typeface="Nunito" pitchFamily="34" charset="0"/>
                <a:ea typeface="Nunito" pitchFamily="34" charset="-122"/>
                <a:cs typeface="Nunito" pitchFamily="34" charset="-120"/>
              </a:rPr>
              <a:t/>
            </a:r>
            <a:endParaRPr lang="en-US" sz="900" dirty="0"/>
          </a:p>
        </p:txBody>
      </p:sp>
      <p:sp>
        <p:nvSpPr>
          <p:cNvPr id="39" name="Text 34"/>
          <p:cNvSpPr/>
          <p:nvPr/>
        </p:nvSpPr>
        <p:spPr>
          <a:xfrm rot="5400000">
            <a:off x="8549881" y="3884568"/>
            <a:ext cx="3838868" cy="201084"/>
          </a:xfrm>
          <a:prstGeom prst="rect">
            <a:avLst/>
          </a:prstGeom>
          <a:noFill/>
          <a:ln/>
        </p:spPr>
        <p:txBody>
          <a:bodyPr wrap="square" lIns="0" tIns="0" rIns="0" bIns="0" rtlCol="0" anchor="ctr"/>
          <a:lstStyle/>
          <a:p>
            <a:pPr algn="ctr"/>
            <a:r>
              <a:rPr lang="en-US" sz="600" dirty="0">
                <a:solidFill>
                  <a:srgbClr val="D5D9E0"/>
                </a:solidFill>
                <a:latin typeface="Nunito" pitchFamily="34" charset="0"/>
                <a:ea typeface="Nunito" pitchFamily="34" charset="-122"/>
                <a:cs typeface="Nunito" pitchFamily="34" charset="-120"/>
              </a:rPr>
              <a:t>Please see important information at the end of the document</a:t>
            </a:r>
            <a:endParaRPr lang="en-US" sz="600" dirty="0"/>
          </a:p>
        </p:txBody>
      </p:sp>
      <p:sp>
        <p:nvSpPr>
          <p:cNvPr id="43" name="Oval 42">
            <a:extLst>
              <a:ext uri="{FF2B5EF4-FFF2-40B4-BE49-F238E27FC236}">
                <a16:creationId xmlns:a16="http://schemas.microsoft.com/office/drawing/2014/main" id="{BBB68E68-FD7A-7CDF-9099-7C3E5966482F}"/>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45" name="Graphic 44" descr="Open hand with plant outline">
            <a:extLst>
              <a:ext uri="{FF2B5EF4-FFF2-40B4-BE49-F238E27FC236}">
                <a16:creationId xmlns:a16="http://schemas.microsoft.com/office/drawing/2014/main" id="{591D9520-9B26-CF2D-AECB-A006BB5C65B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04919" y="974519"/>
            <a:ext cx="463178" cy="4631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graphicFrame>
        <p:nvGraphicFramePr>
          <p:cNvPr id="22" name="Table 21"/>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COA KONA III REF3 LP</a:t>
                      </a:r>
                    </a:p>
                  </a:txBody>
                  <a:tcPr marL="45720" marR="45720" anchor="ctr">
                    <a:noFill/>
                  </a:tcPr>
                </a:tc>
                <a:tc>
                  <a:txBody>
                    <a:bodyPr wrap="square"/>
                    <a:lstStyle/>
                    <a:p>
                      <a:pPr algn="l"/>
                      <a:r>
                        <a:rPr sz="900" b="0">
                          <a:solidFill>
                            <a:srgbClr val="202945"/>
                          </a:solidFill>
                        </a:rPr>
                        <a:t>USD 1649k</a:t>
                      </a:r>
                    </a:p>
                  </a:txBody>
                  <a:tcPr marL="45720" marR="45720" anchor="ctr">
                    <a:noFill/>
                  </a:tcPr>
                </a:tc>
                <a:tc>
                  <a:txBody>
                    <a:bodyPr wrap="square"/>
                    <a:lstStyle/>
                    <a:p>
                      <a:pPr algn="r"/>
                      <a:r>
                        <a:rPr sz="900" b="0">
                          <a:solidFill>
                            <a:srgbClr val="202945"/>
                          </a:solidFill>
                        </a:rPr>
                        <a:t>6.7%</a:t>
                      </a:r>
                    </a:p>
                  </a:txBody>
                  <a:tcPr marL="45720" marR="45720" anchor="ctr">
                    <a:noFill/>
                  </a:tcPr>
                </a:tc>
              </a:tr>
              <a:tr h="97200">
                <a:tc>
                  <a:txBody>
                    <a:bodyPr wrap="square"/>
                    <a:lstStyle/>
                    <a:p>
                      <a:pPr algn="l"/>
                      <a:r>
                        <a:rPr sz="900" b="0">
                          <a:solidFill>
                            <a:srgbClr val="202945"/>
                          </a:solidFill>
                        </a:rPr>
                        <a:t>LEFT LANE CP II CLT2</a:t>
                      </a:r>
                    </a:p>
                  </a:txBody>
                  <a:tcPr marL="45720" marR="45720" anchor="ctr">
                    <a:noFill/>
                  </a:tcPr>
                </a:tc>
                <a:tc>
                  <a:txBody>
                    <a:bodyPr wrap="square"/>
                    <a:lstStyle/>
                    <a:p>
                      <a:pPr algn="l"/>
                      <a:r>
                        <a:rPr sz="900" b="0">
                          <a:solidFill>
                            <a:srgbClr val="202945"/>
                          </a:solidFill>
                        </a:rPr>
                        <a:t>USD 1546k</a:t>
                      </a:r>
                    </a:p>
                  </a:txBody>
                  <a:tcPr marL="45720" marR="45720" anchor="ctr">
                    <a:noFill/>
                  </a:tcPr>
                </a:tc>
                <a:tc>
                  <a:txBody>
                    <a:bodyPr wrap="square"/>
                    <a:lstStyle/>
                    <a:p>
                      <a:pPr algn="r"/>
                      <a:r>
                        <a:rPr sz="900" b="0">
                          <a:solidFill>
                            <a:srgbClr val="202945"/>
                          </a:solidFill>
                        </a:rPr>
                        <a:t>6.3%</a:t>
                      </a:r>
                    </a:p>
                  </a:txBody>
                  <a:tcPr marL="45720" marR="45720" anchor="ctr">
                    <a:noFill/>
                  </a:tcPr>
                </a:tc>
              </a:tr>
              <a:tr h="97200">
                <a:tc>
                  <a:txBody>
                    <a:bodyPr wrap="square"/>
                    <a:lstStyle/>
                    <a:p>
                      <a:pPr algn="l"/>
                      <a:r>
                        <a:rPr sz="900" b="0">
                          <a:solidFill>
                            <a:srgbClr val="202945"/>
                          </a:solidFill>
                        </a:rPr>
                        <a:t>ACE BUYOUT III SPC A</a:t>
                      </a:r>
                    </a:p>
                  </a:txBody>
                  <a:tcPr marL="45720" marR="45720" anchor="ctr">
                    <a:noFill/>
                  </a:tcPr>
                </a:tc>
                <a:tc>
                  <a:txBody>
                    <a:bodyPr wrap="square"/>
                    <a:lstStyle/>
                    <a:p>
                      <a:pPr algn="l"/>
                      <a:r>
                        <a:rPr sz="900" b="0">
                          <a:solidFill>
                            <a:srgbClr val="202945"/>
                          </a:solidFill>
                        </a:rPr>
                        <a:t>USD 436k</a:t>
                      </a:r>
                    </a:p>
                  </a:txBody>
                  <a:tcPr marL="45720" marR="45720" anchor="ctr">
                    <a:noFill/>
                  </a:tcPr>
                </a:tc>
                <a:tc>
                  <a:txBody>
                    <a:bodyPr wrap="square"/>
                    <a:lstStyle/>
                    <a:p>
                      <a:pPr algn="r"/>
                      <a:r>
                        <a:rPr sz="900" b="0">
                          <a:solidFill>
                            <a:srgbClr val="202945"/>
                          </a:solidFill>
                        </a:rPr>
                        <a:t>1.8%</a:t>
                      </a:r>
                    </a:p>
                  </a:txBody>
                  <a:tcPr marL="45720" marR="45720" anchor="ctr">
                    <a:noFill/>
                  </a:tcPr>
                </a:tc>
              </a:tr>
              <a:tr h="97200">
                <a:tc>
                  <a:txBody>
                    <a:bodyPr wrap="square"/>
                    <a:lstStyle/>
                    <a:p>
                      <a:pPr algn="l"/>
                      <a:r>
                        <a:rPr sz="900" b="0">
                          <a:solidFill>
                            <a:srgbClr val="202945"/>
                          </a:solidFill>
                        </a:rPr>
                        <a:t>ECHO FUND SCSP</a:t>
                      </a:r>
                    </a:p>
                  </a:txBody>
                  <a:tcPr marL="45720" marR="45720" anchor="ctr">
                    <a:noFill/>
                  </a:tcPr>
                </a:tc>
                <a:tc>
                  <a:txBody>
                    <a:bodyPr wrap="square"/>
                    <a:lstStyle/>
                    <a:p>
                      <a:pPr algn="l"/>
                      <a:r>
                        <a:rPr sz="900" b="0">
                          <a:solidFill>
                            <a:srgbClr val="202945"/>
                          </a:solidFill>
                        </a:rPr>
                        <a:t>EUR 271k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THEMIS FUND REF2 SCSP</a:t>
                      </a:r>
                    </a:p>
                  </a:txBody>
                  <a:tcPr marL="45720" marR="45720" anchor="ctr">
                    <a:noFill/>
                  </a:tcPr>
                </a:tc>
                <a:tc>
                  <a:txBody>
                    <a:bodyPr wrap="square"/>
                    <a:lstStyle/>
                    <a:p>
                      <a:pPr algn="l"/>
                      <a:r>
                        <a:rPr sz="900" b="0">
                          <a:solidFill>
                            <a:srgbClr val="202945"/>
                          </a:solidFill>
                        </a:rPr>
                        <a:t>USD 90k</a:t>
                      </a:r>
                    </a:p>
                  </a:txBody>
                  <a:tcPr marL="45720" marR="45720" anchor="ctr">
                    <a:noFill/>
                  </a:tcPr>
                </a:tc>
                <a:tc>
                  <a:txBody>
                    <a:bodyPr wrap="square"/>
                    <a:lstStyle/>
                    <a:p>
                      <a:pPr algn="r"/>
                      <a:r>
                        <a:rPr sz="900" b="0">
                          <a:solidFill>
                            <a:srgbClr val="202945"/>
                          </a:solidFill>
                        </a:rPr>
                        <a:t>0.4%</a:t>
                      </a:r>
                    </a:p>
                  </a:txBody>
                  <a:tcPr marL="45720" marR="45720" anchor="ctr">
                    <a:noFill/>
                  </a:tcPr>
                </a:tc>
              </a:tr>
            </a:tbl>
          </a:graphicData>
        </a:graphic>
      </p:graphicFrame>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graphicFrame>
        <p:nvGraphicFramePr>
          <p:cNvPr id="20" name="Table 19"/>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GOLD KG 1 999.9 CHF</a:t>
                      </a:r>
                    </a:p>
                  </a:txBody>
                  <a:tcPr marL="45720" marR="45720" anchor="ctr">
                    <a:noFill/>
                  </a:tcPr>
                </a:tc>
                <a:tc>
                  <a:txBody>
                    <a:bodyPr wrap="square"/>
                    <a:lstStyle/>
                    <a:p>
                      <a:pPr algn="l"/>
                      <a:r>
                        <a:rPr sz="900" b="0">
                          <a:solidFill>
                            <a:srgbClr val="202945"/>
                          </a:solidFill>
                        </a:rPr>
                        <a:t>CHF 3984k</a:t>
                      </a:r>
                    </a:p>
                  </a:txBody>
                  <a:tcPr marL="45720" marR="45720" anchor="ctr">
                    <a:noFill/>
                  </a:tcPr>
                </a:tc>
                <a:tc>
                  <a:txBody>
                    <a:bodyPr wrap="square"/>
                    <a:lstStyle/>
                    <a:p>
                      <a:pPr algn="r"/>
                      <a:r>
                        <a:rPr sz="900" b="0">
                          <a:solidFill>
                            <a:srgbClr val="202945"/>
                          </a:solidFill>
                        </a:rPr>
                        <a:t>20.1%</a:t>
                      </a:r>
                    </a:p>
                  </a:txBody>
                  <a:tcPr marL="45720" marR="45720" anchor="ctr">
                    <a:noFill/>
                  </a:tcPr>
                </a:tc>
              </a:tr>
              <a:tr h="97200">
                <a:tc>
                  <a:txBody>
                    <a:bodyPr wrap="square"/>
                    <a:lstStyle/>
                    <a:p>
                      <a:pPr algn="l"/>
                      <a:r>
                        <a:rPr sz="900" b="0">
                          <a:solidFill>
                            <a:srgbClr val="202945"/>
                          </a:solidFill>
                        </a:rPr>
                        <a:t>OR KRUGERRAND(PCE)1OZ USD</a:t>
                      </a:r>
                    </a:p>
                  </a:txBody>
                  <a:tcPr marL="45720" marR="45720" anchor="ctr">
                    <a:noFill/>
                  </a:tcPr>
                </a:tc>
                <a:tc>
                  <a:txBody>
                    <a:bodyPr wrap="square"/>
                    <a:lstStyle/>
                    <a:p>
                      <a:pPr algn="l"/>
                      <a:r>
                        <a:rPr sz="900" b="0">
                          <a:solidFill>
                            <a:srgbClr val="202945"/>
                          </a:solidFill>
                        </a:rPr>
                        <a:t>USD 305k</a:t>
                      </a:r>
                    </a:p>
                  </a:txBody>
                  <a:tcPr marL="45720" marR="45720" anchor="ctr">
                    <a:noFill/>
                  </a:tcPr>
                </a:tc>
                <a:tc>
                  <a:txBody>
                    <a:bodyPr wrap="square"/>
                    <a:lstStyle/>
                    <a:p>
                      <a:pPr algn="r"/>
                      <a:r>
                        <a:rPr sz="900" b="0">
                          <a:solidFill>
                            <a:srgbClr val="202945"/>
                          </a:solidFill>
                        </a:rPr>
                        <a:t>1.2%</a:t>
                      </a:r>
                    </a:p>
                  </a:txBody>
                  <a:tcPr marL="45720" marR="45720" anchor="ctr">
                    <a:noFill/>
                  </a:tcPr>
                </a:tc>
              </a:tr>
              <a:tr h="97200">
                <a:tc>
                  <a:txBody>
                    <a:bodyPr wrap="square"/>
                    <a:lstStyle/>
                    <a:p>
                      <a:pPr algn="l"/>
                      <a:r>
                        <a:rPr sz="900" b="0">
                          <a:solidFill>
                            <a:srgbClr val="202945"/>
                          </a:solidFill>
                        </a:rPr>
                        <a:t>CURRENT ACCOUNT IN XAG</a:t>
                      </a:r>
                    </a:p>
                  </a:txBody>
                  <a:tcPr marL="45720" marR="45720" anchor="ctr">
                    <a:noFill/>
                  </a:tcPr>
                </a:tc>
                <a:tc>
                  <a:txBody>
                    <a:bodyPr wrap="square"/>
                    <a:lstStyle/>
                    <a:p>
                      <a:pPr algn="l"/>
                      <a:r>
                        <a:rPr sz="900" b="0">
                          <a:solidFill>
                            <a:srgbClr val="202945"/>
                          </a:solidFill>
                        </a:rPr>
                        <a:t>EUR 233k</a:t>
                      </a:r>
                    </a:p>
                  </a:txBody>
                  <a:tcPr marL="45720" marR="45720" anchor="ctr">
                    <a:noFill/>
                  </a:tcPr>
                </a:tc>
                <a:tc>
                  <a:txBody>
                    <a:bodyPr wrap="square"/>
                    <a:lstStyle/>
                    <a:p>
                      <a:pPr algn="r"/>
                      <a:r>
                        <a:rPr sz="900" b="0">
                          <a:solidFill>
                            <a:srgbClr val="202945"/>
                          </a:solidFill>
                        </a:rPr>
                        <a:t>1.1%</a:t>
                      </a:r>
                    </a:p>
                  </a:txBody>
                  <a:tcPr marL="45720" marR="45720" anchor="ctr">
                    <a:noFill/>
                  </a:tcPr>
                </a:tc>
              </a:tr>
              <a:tr h="97200">
                <a:tc>
                  <a:txBody>
                    <a:bodyPr wrap="square"/>
                    <a:lstStyle/>
                    <a:p>
                      <a:pPr algn="l"/>
                      <a:r>
                        <a:rPr sz="900" b="0">
                          <a:solidFill>
                            <a:srgbClr val="202945"/>
                          </a:solidFill>
                        </a:rPr>
                        <a:t>CURRENT ACCOUNT IN XPT</a:t>
                      </a:r>
                    </a:p>
                  </a:txBody>
                  <a:tcPr marL="45720" marR="45720" anchor="ctr">
                    <a:noFill/>
                  </a:tcPr>
                </a:tc>
                <a:tc>
                  <a:txBody>
                    <a:bodyPr wrap="square"/>
                    <a:lstStyle/>
                    <a:p>
                      <a:pPr algn="l"/>
                      <a:r>
                        <a:rPr sz="900" b="0">
                          <a:solidFill>
                            <a:srgbClr val="202945"/>
                          </a:solidFill>
                        </a:rPr>
                        <a:t>EUR 221k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SWC(CH)PLATINUM ETF EACHF</a:t>
                      </a:r>
                    </a:p>
                  </a:txBody>
                  <a:tcPr marL="45720" marR="45720" anchor="ctr">
                    <a:noFill/>
                  </a:tcPr>
                </a:tc>
                <a:tc>
                  <a:txBody>
                    <a:bodyPr wrap="square"/>
                    <a:lstStyle/>
                    <a:p>
                      <a:pPr algn="l"/>
                      <a:r>
                        <a:rPr sz="900" b="0">
                          <a:solidFill>
                            <a:srgbClr val="202945"/>
                          </a:solidFill>
                        </a:rPr>
                        <a:t>CHF 207k</a:t>
                      </a:r>
                    </a:p>
                  </a:txBody>
                  <a:tcPr marL="45720" marR="45720" anchor="ctr">
                    <a:noFill/>
                  </a:tcPr>
                </a:tc>
                <a:tc>
                  <a:txBody>
                    <a:bodyPr wrap="square"/>
                    <a:lstStyle/>
                    <a:p>
                      <a:pPr algn="r"/>
                      <a:r>
                        <a:rPr sz="900" b="0">
                          <a:solidFill>
                            <a:srgbClr val="202945"/>
                          </a:solidFill>
                        </a:rPr>
                        <a:t>1.0%</a:t>
                      </a:r>
                    </a:p>
                  </a:txBody>
                  <a:tcPr marL="45720" marR="45720" anchor="ctr">
                    <a:noFill/>
                  </a:tcPr>
                </a:tc>
              </a:tr>
            </a:tbl>
          </a:graphicData>
        </a:graphic>
      </p:graphicFrame>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graphicFrame>
        <p:nvGraphicFramePr>
          <p:cNvPr id="16" name="Table 15"/>
          <p:cNvGraphicFramePr>
            <a:graphicFrameLocks noGrp="1"/>
          </p:cNvGraphicFramePr>
          <p:nvPr/>
        </p:nvGraphicFramePr>
        <p:xfrm>
          <a:off x="666000" y="4860000"/>
          <a:ext cx="9341632" cy="583200"/>
        </p:xfrm>
        <a:graphic>
          <a:graphicData uri="http://schemas.openxmlformats.org/drawingml/2006/table">
            <a:tbl>
              <a:tblPr firstRow="1" bandRow="1">
                <a:tableStyleId>{5C22544A-7EE6-4342-B048-85BDC9FD1C3A}</a:tableStyleId>
              </a:tblPr>
              <a:tblGrid>
                <a:gridCol w="4297151"/>
                <a:gridCol w="1681494"/>
                <a:gridCol w="1307828"/>
                <a:gridCol w="205515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97200">
                <a:tc>
                  <a:txBody>
                    <a:bodyPr wrap="square"/>
                    <a:lstStyle/>
                    <a:p>
                      <a:pPr algn="l"/>
                      <a:r>
                        <a:rPr sz="900" b="0">
                          <a:solidFill>
                            <a:srgbClr val="202945"/>
                          </a:solidFill>
                        </a:rPr>
                        <a:t>CITIBTB11.3%ABBN-GALD-UBS  15.06.2027</a:t>
                      </a:r>
                    </a:p>
                  </a:txBody>
                  <a:tcPr marL="45720" marR="45720" anchor="ctr">
                    <a:noFill/>
                  </a:tcPr>
                </a:tc>
                <a:tc>
                  <a:txBody>
                    <a:bodyPr wrap="square"/>
                    <a:lstStyle/>
                    <a:p>
                      <a:pPr algn="l"/>
                      <a:r>
                        <a:rPr sz="900" b="0">
                          <a:solidFill>
                            <a:srgbClr val="202945"/>
                          </a:solidFill>
                        </a:rPr>
                        <a:t>CHF 228k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5.56%</a:t>
                      </a:r>
                    </a:p>
                  </a:txBody>
                  <a:tcPr marL="45720" marR="45720" anchor="ctr">
                    <a:noFill/>
                  </a:tcPr>
                </a:tc>
              </a:tr>
              <a:tr h="97200">
                <a:tc>
                  <a:txBody>
                    <a:bodyPr wrap="square"/>
                    <a:lstStyle/>
                    <a:p>
                      <a:pPr algn="l"/>
                      <a:r>
                        <a:rPr sz="900" b="0">
                          <a:solidFill>
                            <a:srgbClr val="202945"/>
                          </a:solidFill>
                        </a:rPr>
                        <a:t>TCM 100% CPN 125% LEONAI1  25.08.2028</a:t>
                      </a:r>
                    </a:p>
                  </a:txBody>
                  <a:tcPr marL="45720" marR="45720" anchor="ctr">
                    <a:noFill/>
                  </a:tcPr>
                </a:tc>
                <a:tc>
                  <a:txBody>
                    <a:bodyPr wrap="square"/>
                    <a:lstStyle/>
                    <a:p>
                      <a:pPr algn="l"/>
                      <a:r>
                        <a:rPr sz="900" b="0">
                          <a:solidFill>
                            <a:srgbClr val="202945"/>
                          </a:solidFill>
                        </a:rPr>
                        <a:t>USD 242k</a:t>
                      </a:r>
                    </a:p>
                  </a:txBody>
                  <a:tcPr marL="45720" marR="45720" anchor="ctr">
                    <a:noFill/>
                  </a:tcPr>
                </a:tc>
                <a:tc>
                  <a:txBody>
                    <a:bodyPr wrap="square"/>
                    <a:lstStyle/>
                    <a:p>
                      <a:pPr algn="r"/>
                      <a:r>
                        <a:rPr sz="900" b="0">
                          <a:solidFill>
                            <a:srgbClr val="202945"/>
                          </a:solidFill>
                        </a:rPr>
                        <a:t>1.0%</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BNP CPN 8% ENI-TTE-CVX  10.11.2027</a:t>
                      </a:r>
                    </a:p>
                  </a:txBody>
                  <a:tcPr marL="45720" marR="45720" anchor="ctr">
                    <a:noFill/>
                  </a:tcPr>
                </a:tc>
                <a:tc>
                  <a:txBody>
                    <a:bodyPr wrap="square"/>
                    <a:lstStyle/>
                    <a:p>
                      <a:pPr algn="l"/>
                      <a:r>
                        <a:rPr sz="900" b="0">
                          <a:solidFill>
                            <a:srgbClr val="202945"/>
                          </a:solidFill>
                        </a:rPr>
                        <a:t>USD 212k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RAF 9.45% GOOGL-AMZN-MSFT  24.12.2026</a:t>
                      </a:r>
                    </a:p>
                  </a:txBody>
                  <a:tcPr marL="45720" marR="45720" anchor="ctr">
                    <a:noFill/>
                  </a:tcPr>
                </a:tc>
                <a:tc>
                  <a:txBody>
                    <a:bodyPr wrap="square"/>
                    <a:lstStyle/>
                    <a:p>
                      <a:pPr algn="l"/>
                      <a:r>
                        <a:rPr sz="900" b="0">
                          <a:solidFill>
                            <a:srgbClr val="202945"/>
                          </a:solidFill>
                        </a:rPr>
                        <a:t>USD 202k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7%DCI XAGUSD 57.80 UBS 26  24.09.2026</a:t>
                      </a:r>
                    </a:p>
                  </a:txBody>
                  <a:tcPr marL="45720" marR="45720" anchor="ctr">
                    <a:noFill/>
                  </a:tcPr>
                </a:tc>
                <a:tc>
                  <a:txBody>
                    <a:bodyPr wrap="square"/>
                    <a:lstStyle/>
                    <a:p>
                      <a:pPr algn="l"/>
                      <a:r>
                        <a:rPr sz="900" b="0">
                          <a:solidFill>
                            <a:srgbClr val="202945"/>
                          </a:solidFill>
                        </a:rPr>
                        <a:t>USD 199k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bl>
          </a:graphicData>
        </a:graphic>
      </p:graphicFrame>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16.6% of the portfolio sits in private, hedge-fund and lock-up vehicles with redemption gates and notice periods.</a:t>
            </a:r>
          </a:p>
          <a:p>
            <a:pPr>
              <a:spcAft>
                <a:spcPts val="800"/>
              </a:spcAft>
            </a:pPr>
            <a:r>
              <a:t/>
            </a: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1</a:t>
                      </a:r>
                    </a:p>
                  </a:txBody>
                  <a:tcPr marL="45720" marR="45720" marT="18000" marB="18000" anchor="ctr">
                    <a:noFill/>
                  </a:tcPr>
                </a:tc>
                <a:tc>
                  <a:txBody>
                    <a:bodyPr wrap="square"/>
                    <a:lstStyle/>
                    <a:p>
                      <a:pPr algn="l"/>
                      <a:r>
                        <a:rPr lang="en-US" sz="900" b="0" noProof="0" dirty="0">
                          <a:solidFill>
                            <a:srgbClr val="202945"/>
                          </a:solidFill>
                          <a:latin typeface="Nunito Sans"/>
                        </a:rPr>
                        <a:t>GOLD KG 1 999.9 CHF</a:t>
                      </a:r>
                    </a:p>
                  </a:txBody>
                  <a:tcPr marL="45720" marR="45720" marT="18000" marB="18000" anchor="ctr">
                    <a:noFill/>
                  </a:tcPr>
                </a:tc>
                <a:tc>
                  <a:txBody>
                    <a:bodyPr wrap="square"/>
                    <a:lstStyle/>
                    <a:p>
                      <a:pPr algn="r"/>
                      <a:r>
                        <a:rPr lang="en-US" sz="900" b="0" noProof="0" dirty="0">
                          <a:solidFill>
                            <a:srgbClr val="202945"/>
                          </a:solidFill>
                          <a:latin typeface="Nunito Sans"/>
                        </a:rPr>
                        <a:t>4,230,520</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2</a:t>
                      </a:r>
                    </a:p>
                  </a:txBody>
                  <a:tcPr marL="45720" marR="45720" marT="18000" marB="18000" anchor="ctr">
                    <a:noFill/>
                  </a:tcPr>
                </a:tc>
                <a:tc>
                  <a:txBody>
                    <a:bodyPr wrap="square"/>
                    <a:lstStyle/>
                    <a:p>
                      <a:pPr algn="l"/>
                      <a:r>
                        <a:rPr lang="en-US" sz="900" b="0" noProof="0" dirty="0" err="1">
                          <a:solidFill>
                            <a:srgbClr val="202945"/>
                          </a:solidFill>
                          <a:latin typeface="+mn-lt"/>
                        </a:rPr>
                        <a:t>COA KONA III REF3 LP</a:t>
                      </a:r>
                    </a:p>
                  </a:txBody>
                  <a:tcPr marL="45720" marR="45720" marT="18000" marB="18000" anchor="ctr">
                    <a:noFill/>
                  </a:tcPr>
                </a:tc>
                <a:tc>
                  <a:txBody>
                    <a:bodyPr wrap="square"/>
                    <a:lstStyle/>
                    <a:p>
                      <a:pPr algn="r"/>
                      <a:r>
                        <a:rPr lang="en-US" sz="900" b="0" noProof="0" dirty="0">
                          <a:solidFill>
                            <a:srgbClr val="202945"/>
                          </a:solidFill>
                          <a:latin typeface="Nunito Sans"/>
                        </a:rPr>
                        <a:t>1,421,857</a:t>
                      </a:r>
                    </a:p>
                  </a:txBody>
                  <a:tcPr marL="45720" marR="45720" marT="18000" marB="18000" anchor="ctr">
                    <a:noFill/>
                  </a:tcPr>
                </a:tc>
                <a:tc>
                  <a:txBody>
                    <a:bodyPr wrap="square"/>
                    <a:lstStyle/>
                    <a:p>
                      <a:pPr algn="r"/>
                      <a:r>
                        <a:rPr lang="en-US" sz="900" b="0" noProof="0" dirty="0">
                          <a:solidFill>
                            <a:srgbClr val="202945"/>
                          </a:solidFill>
                          <a:latin typeface="Nunito Sans"/>
                        </a:rPr>
                        <a:t>6.7%</a:t>
                      </a:r>
                    </a:p>
                  </a:txBody>
                  <a:tcPr marL="45720" marR="45720" marT="18000" marB="18000" anchor="ctr">
                    <a:noFill/>
                  </a:tcPr>
                </a:tc>
                <a:tc>
                  <a:txBody>
                    <a:bodyPr wrap="square"/>
                    <a:lstStyle/>
                    <a:p>
                      <a:pPr algn="r"/>
                      <a:r>
                        <a:rPr lang="en-US" sz="900" b="0" noProof="0" dirty="0">
                          <a:solidFill>
                            <a:srgbClr val="202945"/>
                          </a:solidFill>
                          <a:latin typeface="Nunito Sans"/>
                        </a:rPr>
                        <a:t>26.8%</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3</a:t>
                      </a:r>
                    </a:p>
                  </a:txBody>
                  <a:tcPr marL="45720" marR="45720" marT="18000" marB="18000" anchor="ctr">
                    <a:noFill/>
                  </a:tcPr>
                </a:tc>
                <a:tc>
                  <a:txBody>
                    <a:bodyPr wrap="square"/>
                    <a:lstStyle/>
                    <a:p>
                      <a:pPr algn="l"/>
                      <a:r>
                        <a:rPr lang="en-US" sz="900" b="0" noProof="0" dirty="0">
                          <a:solidFill>
                            <a:srgbClr val="202945"/>
                          </a:solidFill>
                          <a:latin typeface="Nunito Sans"/>
                        </a:rPr>
                        <a:t>LEFT LANE CP II CLT2</a:t>
                      </a:r>
                    </a:p>
                  </a:txBody>
                  <a:tcPr marL="45720" marR="45720" marT="18000" marB="18000" anchor="ctr">
                    <a:noFill/>
                  </a:tcPr>
                </a:tc>
                <a:tc>
                  <a:txBody>
                    <a:bodyPr wrap="square"/>
                    <a:lstStyle/>
                    <a:p>
                      <a:pPr algn="r"/>
                      <a:r>
                        <a:rPr lang="en-US" sz="900" b="0" noProof="0" dirty="0">
                          <a:solidFill>
                            <a:srgbClr val="202945"/>
                          </a:solidFill>
                          <a:latin typeface="Nunito Sans"/>
                        </a:rPr>
                        <a:t>1,333,023</a:t>
                      </a:r>
                    </a:p>
                  </a:txBody>
                  <a:tcPr marL="45720" marR="45720" marT="18000" marB="18000" anchor="ctr">
                    <a:noFill/>
                  </a:tcPr>
                </a:tc>
                <a:tc>
                  <a:txBody>
                    <a:bodyPr wrap="square"/>
                    <a:lstStyle/>
                    <a:p>
                      <a:pPr algn="r"/>
                      <a:r>
                        <a:rPr lang="en-US" sz="900" b="0" noProof="0" dirty="0">
                          <a:solidFill>
                            <a:srgbClr val="202945"/>
                          </a:solidFill>
                          <a:latin typeface="Nunito Sans"/>
                        </a:rPr>
                        <a:t>6.3%</a:t>
                      </a:r>
                    </a:p>
                  </a:txBody>
                  <a:tcPr marL="45720" marR="45720" marT="18000" marB="18000" anchor="ctr">
                    <a:noFill/>
                  </a:tcPr>
                </a:tc>
                <a:tc>
                  <a:txBody>
                    <a:bodyPr wrap="square"/>
                    <a:lstStyle/>
                    <a:p>
                      <a:pPr algn="r"/>
                      <a:r>
                        <a:rPr lang="en-US" sz="900" b="0" noProof="0" dirty="0">
                          <a:solidFill>
                            <a:srgbClr val="202945"/>
                          </a:solidFill>
                          <a:latin typeface="Nunito Sans"/>
                        </a:rPr>
                        <a:t>33.2%</a:t>
                      </a:r>
                    </a:p>
                  </a:txBody>
                  <a:tcPr marL="45720" marR="45720" marT="18000" marB="18000" anchor="ctr">
                    <a:noFill/>
                  </a:tcPr>
                </a:tc>
                <a:extLst>
                  <a:ext uri="{0D108BD9-81ED-4DB2-BD59-A6C34878D82A}">
                    <a16:rowId xmlns:a16="http://schemas.microsoft.com/office/drawing/2014/main" val="10003"/>
                  </a:ext>
                </a:extLst>
              </a:tr>
              <a:tr h="288000">
                <a:tc>
                  <a:txBody>
                    <a:bodyPr wrap="square"/>
                    <a:lstStyle/>
                    <a:p>
                      <a:pPr algn="l"/>
                      <a:r>
                        <a:rPr lang="en-US" sz="900" b="0" noProof="0" dirty="0">
                          <a:solidFill>
                            <a:srgbClr val="202945"/>
                          </a:solidFill>
                          <a:latin typeface="Nunito Sans"/>
                        </a:rPr>
                        <a:t>4</a:t>
                      </a:r>
                    </a:p>
                  </a:txBody>
                  <a:tcPr marL="45720" marR="45720" marT="18000" marB="18000" anchor="ctr">
                    <a:noFill/>
                  </a:tcPr>
                </a:tc>
                <a:tc>
                  <a:txBody>
                    <a:bodyPr wrap="square"/>
                    <a:lstStyle/>
                    <a:p>
                      <a:pPr algn="l"/>
                      <a:r>
                        <a:rPr lang="en-US" sz="900" b="0" noProof="0" dirty="0">
                          <a:solidFill>
                            <a:srgbClr val="202945"/>
                          </a:solidFill>
                          <a:latin typeface="Nunito Sans"/>
                        </a:rPr>
                        <a:t>ALLIANZ (NOM)</a:t>
                      </a:r>
                    </a:p>
                  </a:txBody>
                  <a:tcPr marL="45720" marR="45720" marT="18000" marB="18000" anchor="ctr">
                    <a:noFill/>
                  </a:tcPr>
                </a:tc>
                <a:tc>
                  <a:txBody>
                    <a:bodyPr wrap="square"/>
                    <a:lstStyle/>
                    <a:p>
                      <a:pPr algn="r"/>
                      <a:r>
                        <a:rPr lang="en-US" sz="900" b="0" noProof="0" dirty="0">
                          <a:solidFill>
                            <a:srgbClr val="202945"/>
                          </a:solidFill>
                          <a:latin typeface="Nunito Sans"/>
                        </a:rPr>
                        <a:t>634,779</a:t>
                      </a:r>
                    </a:p>
                  </a:txBody>
                  <a:tcPr marL="45720" marR="45720" marT="18000" marB="18000" anchor="ctr">
                    <a:noFill/>
                  </a:tcPr>
                </a:tc>
                <a:tc>
                  <a:txBody>
                    <a:bodyPr wrap="square"/>
                    <a:lstStyle/>
                    <a:p>
                      <a:pPr algn="r"/>
                      <a:r>
                        <a:rPr lang="en-US" sz="900" b="0" noProof="0" dirty="0">
                          <a:solidFill>
                            <a:srgbClr val="202945"/>
                          </a:solidFill>
                          <a:latin typeface="Nunito Sans"/>
                        </a:rPr>
                        <a:t>3.0%</a:t>
                      </a:r>
                    </a:p>
                  </a:txBody>
                  <a:tcPr marL="45720" marR="45720" marT="18000" marB="18000" anchor="ctr">
                    <a:noFill/>
                  </a:tcPr>
                </a:tc>
                <a:tc>
                  <a:txBody>
                    <a:bodyPr wrap="square"/>
                    <a:lstStyle/>
                    <a:p>
                      <a:pPr algn="r"/>
                      <a:r>
                        <a:rPr lang="en-US" sz="900" b="0" noProof="0" dirty="0">
                          <a:solidFill>
                            <a:srgbClr val="202945"/>
                          </a:solidFill>
                          <a:latin typeface="Nunito Sans"/>
                        </a:rPr>
                        <a:t>36.2%</a:t>
                      </a:r>
                    </a:p>
                  </a:txBody>
                  <a:tcPr marL="45720" marR="45720" marT="18000" marB="18000" anchor="ctr">
                    <a:noFill/>
                  </a:tcPr>
                </a:tc>
                <a:extLst>
                  <a:ext uri="{0D108BD9-81ED-4DB2-BD59-A6C34878D82A}">
                    <a16:rowId xmlns:a16="http://schemas.microsoft.com/office/drawing/2014/main" val="10004"/>
                  </a:ext>
                </a:extLst>
              </a:tr>
              <a:tr h="288000">
                <a:tc>
                  <a:txBody>
                    <a:bodyPr wrap="square"/>
                    <a:lstStyle/>
                    <a:p>
                      <a:pPr algn="l"/>
                      <a:r>
                        <a:rPr lang="en-US" sz="900" b="0" noProof="0" dirty="0">
                          <a:solidFill>
                            <a:srgbClr val="202945"/>
                          </a:solidFill>
                          <a:latin typeface="Nunito Sans"/>
                        </a:rPr>
                        <a:t>5</a:t>
                      </a:r>
                    </a:p>
                  </a:txBody>
                  <a:tcPr marL="45720" marR="45720" marT="18000" marB="18000" anchor="ctr">
                    <a:noFill/>
                  </a:tcPr>
                </a:tc>
                <a:tc>
                  <a:txBody>
                    <a:bodyPr wrap="square"/>
                    <a:lstStyle/>
                    <a:p>
                      <a:pPr algn="l"/>
                      <a:r>
                        <a:rPr lang="en-US" sz="900" b="0" noProof="0" dirty="0">
                          <a:solidFill>
                            <a:srgbClr val="202945"/>
                          </a:solidFill>
                          <a:latin typeface="Nunito Sans"/>
                        </a:rPr>
                        <a:t>SYZ EM BONDS CERTIFICATE</a:t>
                      </a:r>
                    </a:p>
                  </a:txBody>
                  <a:tcPr marL="45720" marR="45720" marT="18000" marB="18000" anchor="ctr">
                    <a:noFill/>
                  </a:tcPr>
                </a:tc>
                <a:tc>
                  <a:txBody>
                    <a:bodyPr wrap="square"/>
                    <a:lstStyle/>
                    <a:p>
                      <a:pPr algn="r"/>
                      <a:r>
                        <a:rPr lang="en-US" sz="900" b="0" noProof="0" dirty="0">
                          <a:solidFill>
                            <a:srgbClr val="202945"/>
                          </a:solidFill>
                          <a:latin typeface="Nunito Sans"/>
                        </a:rPr>
                        <a:t>620,051</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39.1%</a:t>
                      </a:r>
                    </a:p>
                  </a:txBody>
                  <a:tcPr marL="45720" marR="45720" marT="18000" marB="18000" anchor="ctr">
                    <a:noFill/>
                  </a:tcPr>
                </a:tc>
                <a:extLst>
                  <a:ext uri="{0D108BD9-81ED-4DB2-BD59-A6C34878D82A}">
                    <a16:rowId xmlns:a16="http://schemas.microsoft.com/office/drawing/2014/main" val="10005"/>
                  </a:ext>
                </a:extLst>
              </a:tr>
              <a:tr h="288000">
                <a:tc>
                  <a:txBody>
                    <a:bodyPr wrap="square"/>
                    <a:lstStyle/>
                    <a:p>
                      <a:pPr algn="l"/>
                      <a:r>
                        <a:rPr lang="en-US" sz="900" b="0" noProof="0" dirty="0">
                          <a:solidFill>
                            <a:srgbClr val="202945"/>
                          </a:solidFill>
                          <a:latin typeface="Nunito Sans"/>
                        </a:rPr>
                        <a:t>6</a:t>
                      </a:r>
                    </a:p>
                  </a:txBody>
                  <a:tcPr marL="45720" marR="45720" marT="18000" marB="18000" anchor="ctr">
                    <a:noFill/>
                  </a:tcPr>
                </a:tc>
                <a:tc>
                  <a:txBody>
                    <a:bodyPr wrap="square"/>
                    <a:lstStyle/>
                    <a:p>
                      <a:pPr algn="l"/>
                      <a:r>
                        <a:rPr lang="en-US" sz="900" b="0" noProof="0" dirty="0">
                          <a:solidFill>
                            <a:srgbClr val="202945"/>
                          </a:solidFill>
                          <a:latin typeface="Nunito Sans"/>
                        </a:rPr>
                        <a:t>UBS(CH) EQ-SWISS INC CHFP</a:t>
                      </a:r>
                    </a:p>
                  </a:txBody>
                  <a:tcPr marL="45720" marR="45720" marT="18000" marB="18000" anchor="ctr">
                    <a:noFill/>
                  </a:tcPr>
                </a:tc>
                <a:tc>
                  <a:txBody>
                    <a:bodyPr wrap="square"/>
                    <a:lstStyle/>
                    <a:p>
                      <a:pPr algn="r"/>
                      <a:r>
                        <a:rPr lang="en-US" sz="900" b="0" noProof="0" dirty="0">
                          <a:solidFill>
                            <a:srgbClr val="202945"/>
                          </a:solidFill>
                          <a:latin typeface="Nunito Sans"/>
                        </a:rPr>
                        <a:t>585,193</a:t>
                      </a:r>
                    </a:p>
                  </a:txBody>
                  <a:tcPr marL="45720" marR="45720" marT="18000" marB="18000" anchor="ctr">
                    <a:noFill/>
                  </a:tcPr>
                </a:tc>
                <a:tc>
                  <a:txBody>
                    <a:bodyPr wrap="square"/>
                    <a:lstStyle/>
                    <a:p>
                      <a:pPr algn="r"/>
                      <a:r>
                        <a:rPr lang="en-US" sz="900" b="0" noProof="0" dirty="0">
                          <a:solidFill>
                            <a:srgbClr val="202945"/>
                          </a:solidFill>
                          <a:latin typeface="Nunito Sans"/>
                        </a:rPr>
                        <a:t>2.8%</a:t>
                      </a:r>
                    </a:p>
                  </a:txBody>
                  <a:tcPr marL="45720" marR="45720" marT="18000" marB="18000" anchor="ctr">
                    <a:noFill/>
                  </a:tcPr>
                </a:tc>
                <a:tc>
                  <a:txBody>
                    <a:bodyPr wrap="square"/>
                    <a:lstStyle/>
                    <a:p>
                      <a:pPr algn="r"/>
                      <a:r>
                        <a:rPr lang="en-US" sz="900" b="0" noProof="0" dirty="0">
                          <a:solidFill>
                            <a:srgbClr val="202945"/>
                          </a:solidFill>
                          <a:latin typeface="Nunito Sans"/>
                        </a:rPr>
                        <a:t>41.9%</a:t>
                      </a:r>
                    </a:p>
                  </a:txBody>
                  <a:tcPr marL="45720" marR="45720" marT="18000" marB="18000" anchor="ctr">
                    <a:noFill/>
                  </a:tcPr>
                </a:tc>
                <a:extLst>
                  <a:ext uri="{0D108BD9-81ED-4DB2-BD59-A6C34878D82A}">
                    <a16:rowId xmlns:a16="http://schemas.microsoft.com/office/drawing/2014/main" val="10006"/>
                  </a:ext>
                </a:extLst>
              </a:tr>
              <a:tr h="288000">
                <a:tc>
                  <a:txBody>
                    <a:bodyPr wrap="square"/>
                    <a:lstStyle/>
                    <a:p>
                      <a:pPr algn="l"/>
                      <a:r>
                        <a:rPr lang="en-US" sz="900" b="0" noProof="0" dirty="0">
                          <a:solidFill>
                            <a:srgbClr val="202945"/>
                          </a:solidFill>
                          <a:latin typeface="Nunito Sans"/>
                        </a:rPr>
                        <a:t>7</a:t>
                      </a:r>
                    </a:p>
                  </a:txBody>
                  <a:tcPr marL="45720" marR="45720" marT="18000" marB="18000" anchor="ctr">
                    <a:noFill/>
                  </a:tcPr>
                </a:tc>
                <a:tc>
                  <a:txBody>
                    <a:bodyPr wrap="square"/>
                    <a:lstStyle/>
                    <a:p>
                      <a:pPr algn="l"/>
                      <a:r>
                        <a:rPr lang="en-US" sz="900" b="0" noProof="0" dirty="0">
                          <a:solidFill>
                            <a:srgbClr val="202945"/>
                          </a:solidFill>
                          <a:latin typeface="Nunito Sans"/>
                        </a:rPr>
                        <a:t>VANECK VECTORS DEF A ETF</a:t>
                      </a:r>
                    </a:p>
                  </a:txBody>
                  <a:tcPr marL="45720" marR="45720" marT="18000" marB="18000" anchor="ctr">
                    <a:noFill/>
                  </a:tcPr>
                </a:tc>
                <a:tc>
                  <a:txBody>
                    <a:bodyPr wrap="square"/>
                    <a:lstStyle/>
                    <a:p>
                      <a:pPr algn="r"/>
                      <a:r>
                        <a:rPr lang="en-US" sz="900" b="0" noProof="0" dirty="0">
                          <a:solidFill>
                            <a:srgbClr val="202945"/>
                          </a:solidFill>
                          <a:latin typeface="Nunito Sans"/>
                        </a:rPr>
                        <a:t>501,721</a:t>
                      </a:r>
                    </a:p>
                  </a:txBody>
                  <a:tcPr marL="45720" marR="45720" marT="18000" marB="18000" anchor="ctr">
                    <a:noFill/>
                  </a:tcPr>
                </a:tc>
                <a:tc>
                  <a:txBody>
                    <a:bodyPr wrap="square"/>
                    <a:lstStyle/>
                    <a:p>
                      <a:pPr algn="r"/>
                      <a:r>
                        <a:rPr lang="en-US" sz="900" b="0" noProof="0" dirty="0">
                          <a:solidFill>
                            <a:srgbClr val="202945"/>
                          </a:solidFill>
                          <a:latin typeface="Nunito Sans"/>
                        </a:rPr>
                        <a:t>2.4%</a:t>
                      </a:r>
                    </a:p>
                  </a:txBody>
                  <a:tcPr marL="45720" marR="45720" marT="18000" marB="18000" anchor="ctr">
                    <a:noFill/>
                  </a:tcPr>
                </a:tc>
                <a:tc>
                  <a:txBody>
                    <a:bodyPr wrap="square"/>
                    <a:lstStyle/>
                    <a:p>
                      <a:pPr algn="r"/>
                      <a:r>
                        <a:rPr lang="en-US" sz="900" b="0" noProof="0" dirty="0">
                          <a:solidFill>
                            <a:srgbClr val="202945"/>
                          </a:solidFill>
                          <a:latin typeface="Nunito Sans"/>
                        </a:rPr>
                        <a:t>44.3%</a:t>
                      </a:r>
                    </a:p>
                  </a:txBody>
                  <a:tcPr marL="45720" marR="45720" marT="18000" marB="18000" anchor="ctr">
                    <a:noFill/>
                  </a:tcPr>
                </a:tc>
                <a:extLst>
                  <a:ext uri="{0D108BD9-81ED-4DB2-BD59-A6C34878D82A}">
                    <a16:rowId xmlns:a16="http://schemas.microsoft.com/office/drawing/2014/main" val="10007"/>
                  </a:ext>
                </a:extLst>
              </a:tr>
              <a:tr h="288000">
                <a:tc>
                  <a:txBody>
                    <a:bodyPr wrap="square"/>
                    <a:lstStyle/>
                    <a:p>
                      <a:pPr algn="l"/>
                      <a:r>
                        <a:rPr lang="en-US" sz="900" b="0" noProof="0" dirty="0">
                          <a:solidFill>
                            <a:srgbClr val="202945"/>
                          </a:solidFill>
                          <a:latin typeface="Nunito Sans"/>
                        </a:rPr>
                        <a:t>8</a:t>
                      </a:r>
                    </a:p>
                  </a:txBody>
                  <a:tcPr marL="45720" marR="45720" marT="18000" marB="18000" anchor="ctr">
                    <a:noFill/>
                  </a:tcPr>
                </a:tc>
                <a:tc>
                  <a:txBody>
                    <a:bodyPr wrap="square"/>
                    <a:lstStyle/>
                    <a:p>
                      <a:pPr algn="l"/>
                      <a:r>
                        <a:rPr lang="en-US" sz="900" b="0" noProof="0" dirty="0">
                          <a:solidFill>
                            <a:srgbClr val="202945"/>
                          </a:solidFill>
                          <a:latin typeface="Nunito Sans"/>
                        </a:rPr>
                        <a:t>BRGF WORLD MINING(REG)A2</a:t>
                      </a:r>
                    </a:p>
                  </a:txBody>
                  <a:tcPr marL="45720" marR="45720" marT="18000" marB="18000" anchor="ctr">
                    <a:noFill/>
                  </a:tcPr>
                </a:tc>
                <a:tc>
                  <a:txBody>
                    <a:bodyPr wrap="square"/>
                    <a:lstStyle/>
                    <a:p>
                      <a:pPr algn="r"/>
                      <a:r>
                        <a:rPr lang="en-US" sz="900" b="0" noProof="0" dirty="0">
                          <a:solidFill>
                            <a:srgbClr val="202945"/>
                          </a:solidFill>
                          <a:latin typeface="Nunito Sans"/>
                        </a:rPr>
                        <a:t>481,140</a:t>
                      </a:r>
                    </a:p>
                  </a:txBody>
                  <a:tcPr marL="45720" marR="45720" marT="18000" marB="18000" anchor="ctr">
                    <a:noFill/>
                  </a:tcPr>
                </a:tc>
                <a:tc>
                  <a:txBody>
                    <a:bodyPr wrap="square"/>
                    <a:lstStyle/>
                    <a:p>
                      <a:pPr algn="r"/>
                      <a:r>
                        <a:rPr lang="en-US" sz="900" b="0" noProof="0" dirty="0">
                          <a:solidFill>
                            <a:srgbClr val="202945"/>
                          </a:solidFill>
                          <a:latin typeface="Nunito Sans"/>
                        </a:rPr>
                        <a:t>2.3%</a:t>
                      </a:r>
                    </a:p>
                  </a:txBody>
                  <a:tcPr marL="45720" marR="45720" marT="18000" marB="18000" anchor="ctr">
                    <a:noFill/>
                  </a:tcPr>
                </a:tc>
                <a:tc>
                  <a:txBody>
                    <a:bodyPr wrap="square"/>
                    <a:lstStyle/>
                    <a:p>
                      <a:pPr algn="r"/>
                      <a:r>
                        <a:rPr lang="en-US" sz="900" b="0" noProof="0" dirty="0">
                          <a:solidFill>
                            <a:srgbClr val="202945"/>
                          </a:solidFill>
                          <a:latin typeface="Nunito Sans"/>
                        </a:rPr>
                        <a:t>46.6%</a:t>
                      </a:r>
                    </a:p>
                  </a:txBody>
                  <a:tcPr marL="45720" marR="45720" marT="18000" marB="18000" anchor="ctr">
                    <a:noFill/>
                  </a:tcPr>
                </a:tc>
                <a:extLst>
                  <a:ext uri="{0D108BD9-81ED-4DB2-BD59-A6C34878D82A}">
                    <a16:rowId xmlns:a16="http://schemas.microsoft.com/office/drawing/2014/main" val="10008"/>
                  </a:ext>
                </a:extLst>
              </a:tr>
              <a:tr h="288000">
                <a:tc>
                  <a:txBody>
                    <a:bodyPr wrap="square"/>
                    <a:lstStyle/>
                    <a:p>
                      <a:pPr algn="l"/>
                      <a:r>
                        <a:rPr lang="en-US" sz="900" b="0" noProof="0" dirty="0">
                          <a:solidFill>
                            <a:srgbClr val="202945"/>
                          </a:solidFill>
                          <a:latin typeface="Nunito Sans"/>
                        </a:rPr>
                        <a:t>9</a:t>
                      </a:r>
                    </a:p>
                  </a:txBody>
                  <a:tcPr marL="45720" marR="45720" marT="18000" marB="18000" anchor="ctr">
                    <a:noFill/>
                  </a:tcPr>
                </a:tc>
                <a:tc>
                  <a:txBody>
                    <a:bodyPr wrap="square"/>
                    <a:lstStyle/>
                    <a:p>
                      <a:pPr algn="l"/>
                      <a:r>
                        <a:rPr lang="en-US" sz="900" b="0" noProof="0" dirty="0">
                          <a:solidFill>
                            <a:srgbClr val="202945"/>
                          </a:solidFill>
                          <a:latin typeface="Nunito Sans"/>
                        </a:rPr>
                        <a:t>STORM II BOND RC EUR</a:t>
                      </a:r>
                    </a:p>
                  </a:txBody>
                  <a:tcPr marL="45720" marR="45720" marT="18000" marB="18000" anchor="ctr">
                    <a:noFill/>
                  </a:tcPr>
                </a:tc>
                <a:tc>
                  <a:txBody>
                    <a:bodyPr wrap="square"/>
                    <a:lstStyle/>
                    <a:p>
                      <a:pPr algn="r"/>
                      <a:r>
                        <a:rPr lang="en-US" sz="900" b="0" noProof="0" dirty="0">
                          <a:solidFill>
                            <a:srgbClr val="202945"/>
                          </a:solidFill>
                          <a:latin typeface="Nunito Sans"/>
                        </a:rPr>
                        <a:t>466,229</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48.8%</a:t>
                      </a:r>
                    </a:p>
                  </a:txBody>
                  <a:tcPr marL="45720" marR="45720" marT="18000" marB="18000" anchor="ctr">
                    <a:noFill/>
                  </a:tcPr>
                </a:tc>
                <a:extLst>
                  <a:ext uri="{0D108BD9-81ED-4DB2-BD59-A6C34878D82A}">
                    <a16:rowId xmlns:a16="http://schemas.microsoft.com/office/drawing/2014/main" val="10009"/>
                  </a:ext>
                </a:extLst>
              </a:tr>
              <a:tr h="288000">
                <a:tc>
                  <a:txBody>
                    <a:bodyPr wrap="square"/>
                    <a:lstStyle/>
                    <a:p>
                      <a:pPr algn="l"/>
                      <a:r>
                        <a:rPr lang="en-US" sz="900" b="0" noProof="0" dirty="0">
                          <a:solidFill>
                            <a:srgbClr val="202945"/>
                          </a:solidFill>
                          <a:latin typeface="Nunito Sans"/>
                        </a:rPr>
                        <a:t>10</a:t>
                      </a:r>
                    </a:p>
                  </a:txBody>
                  <a:tcPr marL="45720" marR="45720" marT="18000" marB="18000" anchor="ctr">
                    <a:noFill/>
                  </a:tcPr>
                </a:tc>
                <a:tc>
                  <a:txBody>
                    <a:bodyPr wrap="square"/>
                    <a:lstStyle/>
                    <a:p>
                      <a:pPr algn="l"/>
                      <a:r>
                        <a:rPr lang="en-US" sz="900" b="0" noProof="0" dirty="0">
                          <a:solidFill>
                            <a:srgbClr val="202945"/>
                          </a:solidFill>
                          <a:latin typeface="Nunito Sans"/>
                        </a:rPr>
                        <a:t>GOLDMAN EU HIGH DIV P CAP</a:t>
                      </a:r>
                    </a:p>
                  </a:txBody>
                  <a:tcPr marL="45720" marR="45720" marT="18000" marB="18000" anchor="ctr">
                    <a:noFill/>
                  </a:tcPr>
                </a:tc>
                <a:tc>
                  <a:txBody>
                    <a:bodyPr wrap="square"/>
                    <a:lstStyle/>
                    <a:p>
                      <a:pPr algn="r"/>
                      <a:r>
                        <a:rPr lang="en-US" sz="900" b="0" noProof="0" dirty="0">
                          <a:solidFill>
                            <a:srgbClr val="202945"/>
                          </a:solidFill>
                          <a:latin typeface="Nunito Sans"/>
                        </a:rPr>
                        <a:t>434,515</a:t>
                      </a:r>
                    </a:p>
                  </a:txBody>
                  <a:tcPr marL="45720" marR="45720" marT="18000" marB="18000" anchor="ctr">
                    <a:noFill/>
                  </a:tcPr>
                </a:tc>
                <a:tc>
                  <a:txBody>
                    <a:bodyPr wrap="square"/>
                    <a:lstStyle/>
                    <a:p>
                      <a:pPr algn="r"/>
                      <a:r>
                        <a:rPr lang="en-US" sz="900" b="0" noProof="0" dirty="0">
                          <a:solidFill>
                            <a:srgbClr val="202945"/>
                          </a:solidFill>
                          <a:latin typeface="Nunito Sans"/>
                        </a:rPr>
                        <a:t>2.1%</a:t>
                      </a:r>
                    </a:p>
                  </a:txBody>
                  <a:tcPr marL="45720" marR="45720" marT="18000" marB="18000" anchor="ctr">
                    <a:noFill/>
                  </a:tcPr>
                </a:tc>
                <a:tc>
                  <a:txBody>
                    <a:bodyPr wrap="square"/>
                    <a:lstStyle/>
                    <a:p>
                      <a:pPr algn="r"/>
                      <a:r>
                        <a:rPr lang="en-US" sz="900" b="0" noProof="0" dirty="0">
                          <a:solidFill>
                            <a:srgbClr val="202945"/>
                          </a:solidFill>
                          <a:latin typeface="Nunito Sans"/>
                        </a:rPr>
                        <a:t>50.8%</a:t>
                      </a:r>
                    </a:p>
                  </a:txBody>
                  <a:tcPr marL="45720" marR="45720" marT="18000" marB="18000" anchor="ctr">
                    <a:no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39.1%</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50.8%</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66.7%</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Fixed Income</a:t>
                      </a:r>
                    </a:p>
                  </a:txBody>
                  <a:tcPr marL="45720" marR="45720" marT="18000" marB="18000" anchor="ctr">
                    <a:noFill/>
                  </a:tcPr>
                </a:tc>
                <a:tc>
                  <a:txBody>
                    <a:bodyPr wrap="square"/>
                    <a:lstStyle/>
                    <a:p>
                      <a:pPr algn="r"/>
                      <a:r>
                        <a:rPr lang="en-US" sz="900" b="0" noProof="0" dirty="0">
                          <a:solidFill>
                            <a:srgbClr val="202945"/>
                          </a:solidFill>
                          <a:latin typeface="Nunito Sans"/>
                        </a:rPr>
                        <a:t>74,826</a:t>
                      </a:r>
                    </a:p>
                  </a:txBody>
                  <a:tcPr marL="45720" marR="45720" marT="18000" marB="18000" anchor="ctr">
                    <a:noFill/>
                  </a:tcPr>
                </a:tc>
                <a:tc>
                  <a:txBody>
                    <a:bodyPr wrap="square"/>
                    <a:lstStyle/>
                    <a:p>
                      <a:pPr algn="r"/>
                      <a:r>
                        <a:rPr lang="en-US" sz="900" b="0" noProof="0" dirty="0">
                          <a:solidFill>
                            <a:srgbClr val="202945"/>
                          </a:solidFill>
                          <a:latin typeface="Nunito Sans"/>
                        </a:rPr>
                        <a:t>64.1%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Structured Products</a:t>
                      </a:r>
                    </a:p>
                  </a:txBody>
                  <a:tcPr marL="45720" marR="45720" marT="18000" marB="18000" anchor="ctr">
                    <a:noFill/>
                  </a:tcPr>
                </a:tc>
                <a:tc>
                  <a:txBody>
                    <a:bodyPr wrap="square"/>
                    <a:lstStyle/>
                    <a:p>
                      <a:pPr algn="r"/>
                      <a:r>
                        <a:rPr lang="en-US" sz="900" b="0" noProof="0" dirty="0">
                          <a:solidFill>
                            <a:srgbClr val="202945"/>
                          </a:solidFill>
                          <a:latin typeface="Nunito Sans"/>
                        </a:rPr>
                        <a:t>41,981</a:t>
                      </a:r>
                    </a:p>
                  </a:txBody>
                  <a:tcPr marL="45720" marR="45720" marT="18000" marB="18000" anchor="ctr">
                    <a:noFill/>
                  </a:tcPr>
                </a:tc>
                <a:tc>
                  <a:txBody>
                    <a:bodyPr wrap="square"/>
                    <a:lstStyle/>
                    <a:p>
                      <a:pPr algn="r"/>
                      <a:r>
                        <a:rPr lang="en-US" sz="900" b="0" noProof="0" dirty="0">
                          <a:solidFill>
                            <a:srgbClr val="202945"/>
                          </a:solidFill>
                          <a:latin typeface="Nunito Sans"/>
                        </a:rPr>
                        <a:t>35.9%</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Cash</a:t>
                      </a:r>
                    </a:p>
                  </a:txBody>
                  <a:tcPr marL="45720" marR="45720" marT="18000" marB="18000" anchor="ctr">
                    <a:noFill/>
                  </a:tcPr>
                </a:tc>
                <a:tc>
                  <a:txBody>
                    <a:bodyPr wrap="square"/>
                    <a:lstStyle/>
                    <a:p>
                      <a:pPr algn="r"/>
                      <a:r>
                        <a:rPr lang="en-US" sz="900" b="0" noProof="0" dirty="0">
                          <a:solidFill>
                            <a:srgbClr val="202945"/>
                          </a:solidFill>
                          <a:latin typeface="Nunito Sans"/>
                        </a:rPr>
                        <a:t>0</a:t>
                      </a:r>
                    </a:p>
                  </a:txBody>
                  <a:tcPr marL="45720" marR="45720" marT="18000" marB="18000" anchor="ctr">
                    <a:noFill/>
                  </a:tcPr>
                </a:tc>
                <a:tc>
                  <a:txBody>
                    <a:bodyPr wrap="square"/>
                    <a:lstStyle/>
                    <a:p>
                      <a:pPr algn="r"/>
                      <a:r>
                        <a:rPr lang="en-US" sz="900" b="0" noProof="0" dirty="0">
                          <a:solidFill>
                            <a:srgbClr val="202945"/>
                          </a:solidFill>
                          <a:latin typeface="Nunito Sans"/>
                        </a:rPr>
                        <a:t>0.0%</a:t>
                      </a:r>
                    </a:p>
                  </a:txBody>
                  <a:tcPr marL="45720" marR="45720" marT="18000" marB="18000" anchor="ctr">
                    <a:no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3.1y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-101,080</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nvGraphicFramePr>
        <p:xfrm>
          <a:off x="5544000" y="2736000"/>
          <a:ext cx="4535999" cy="1440000"/>
        </p:xfrm>
        <a:graphic>
          <a:graphicData uri="http://schemas.openxmlformats.org/drawingml/2006/table">
            <a:tbl>
              <a:tblPr firstRow="1" bandRow="1">
                <a:tableStyleId>{5C22544A-7EE6-4342-B048-85BDC9FD1C3A}</a:tableStyleId>
              </a:tblPr>
              <a:tblGrid>
                <a:gridCol w="1133999"/>
                <a:gridCol w="1133999"/>
                <a:gridCol w="1133999"/>
                <a:gridCol w="1134002"/>
              </a:tblGrid>
              <a:tr h="360000">
                <a:tc>
                  <a:txBody>
                    <a:bodyPr wrap="square"/>
                    <a:lstStyle/>
                    <a:p>
                      <a:pPr algn="l"/>
                      <a:r>
                        <a:rPr sz="900" b="1">
                          <a:solidFill>
                            <a:srgbClr val="202945"/>
                          </a:solidFill>
                        </a:rPr>
                        <a:t>Sub-sleeve</a:t>
                      </a:r>
                    </a:p>
                  </a:txBody>
                  <a:tcPr marL="45720" marR="45720" anchor="ctr">
                    <a:solidFill>
                      <a:srgbClr val="FFC545"/>
                    </a:solidFill>
                  </a:tcPr>
                </a:tc>
                <a:tc>
                  <a:txBody>
                    <a:bodyPr wrap="square"/>
                    <a:lstStyle/>
                    <a:p>
                      <a:pPr algn="l"/>
                      <a:r>
                        <a:rPr sz="900" b="1">
                          <a:solidFill>
                            <a:srgbClr val="202945"/>
                          </a:solidFill>
                        </a:rPr>
                        <a:t>Value</a:t>
                      </a:r>
                    </a:p>
                  </a:txBody>
                  <a:tcPr marL="45720" marR="45720" anchor="ctr">
                    <a:solidFill>
                      <a:srgbClr val="FFC545"/>
                    </a:solidFill>
                  </a:tcPr>
                </a:tc>
                <a:tc>
                  <a:txBody>
                    <a:bodyPr wrap="square"/>
                    <a:lstStyle/>
                    <a:p>
                      <a:pPr algn="l"/>
                      <a:r>
                        <a:rPr sz="900" b="1">
                          <a:solidFill>
                            <a:srgbClr val="202945"/>
                          </a:solidFill>
                        </a:rPr>
                        <a:t>Avg duration</a:t>
                      </a:r>
                    </a:p>
                  </a:txBody>
                  <a:tcPr marL="45720" marR="45720" anchor="ctr">
                    <a:solidFill>
                      <a:srgbClr val="FFC545"/>
                    </a:solidFill>
                  </a:tcPr>
                </a:tc>
                <a:tc>
                  <a:txBody>
                    <a:bodyPr wrap="square"/>
                    <a:lstStyle/>
                    <a:p>
                      <a:pPr algn="l"/>
                      <a:r>
                        <a:rPr sz="900" b="1">
                          <a:solidFill>
                            <a:srgbClr val="202945"/>
                          </a:solidFill>
                        </a:rPr>
                        <a:t>Contribution</a:t>
                      </a:r>
                    </a:p>
                  </a:txBody>
                  <a:tcPr marL="45720" marR="45720" anchor="ctr">
                    <a:solidFill>
                      <a:srgbClr val="FFC545"/>
                    </a:solidFill>
                  </a:tcPr>
                </a:tc>
              </a:tr>
              <a:tr h="360000">
                <a:tc>
                  <a:txBody>
                    <a:bodyPr wrap="square"/>
                    <a:lstStyle/>
                    <a:p>
                      <a:pPr algn="l"/>
                      <a:r>
                        <a:rPr sz="850" b="0">
                          <a:solidFill>
                            <a:srgbClr val="202945"/>
                          </a:solidFill>
                        </a:rPr>
                        <a:t>Quasi-sovereign bond</a:t>
                      </a:r>
                    </a:p>
                  </a:txBody>
                  <a:tcPr marL="45720" marR="45720" anchor="ctr">
                    <a:noFill/>
                  </a:tcPr>
                </a:tc>
                <a:tc>
                  <a:txBody>
                    <a:bodyPr wrap="square"/>
                    <a:lstStyle/>
                    <a:p>
                      <a:pPr algn="r"/>
                      <a:r>
                        <a:rPr sz="850" b="0">
                          <a:solidFill>
                            <a:srgbClr val="202945"/>
                          </a:solidFill>
                        </a:rPr>
                        <a:t>2,341,443</a:t>
                      </a:r>
                    </a:p>
                  </a:txBody>
                  <a:tcPr marL="45720" marR="45720" anchor="ctr">
                    <a:noFill/>
                  </a:tcPr>
                </a:tc>
                <a:tc>
                  <a:txBody>
                    <a:bodyPr wrap="square"/>
                    <a:lstStyle/>
                    <a:p>
                      <a:pPr algn="r"/>
                      <a:r>
                        <a:rPr sz="850" b="0">
                          <a:solidFill>
                            <a:srgbClr val="202945"/>
                          </a:solidFill>
                        </a:rPr>
                        <a:t>2.4</a:t>
                      </a:r>
                    </a:p>
                  </a:txBody>
                  <a:tcPr marL="45720" marR="45720" anchor="ctr">
                    <a:noFill/>
                  </a:tcPr>
                </a:tc>
                <a:tc>
                  <a:txBody>
                    <a:bodyPr wrap="square"/>
                    <a:lstStyle/>
                    <a:p>
                      <a:pPr algn="r"/>
                      <a:r>
                        <a:rPr sz="850" b="0">
                          <a:solidFill>
                            <a:srgbClr val="202945"/>
                          </a:solidFill>
                        </a:rPr>
                        <a:t>1.72</a:t>
                      </a:r>
                    </a:p>
                  </a:txBody>
                  <a:tcPr marL="45720" marR="45720" anchor="ctr">
                    <a:noFill/>
                  </a:tcPr>
                </a:tc>
              </a:tr>
              <a:tr h="360000">
                <a:tc>
                  <a:txBody>
                    <a:bodyPr wrap="square"/>
                    <a:lstStyle/>
                    <a:p>
                      <a:pPr algn="l"/>
                      <a:r>
                        <a:rPr sz="850" b="0">
                          <a:solidFill>
                            <a:srgbClr val="202945"/>
                          </a:solidFill>
                        </a:rPr>
                        <a:t>Structured note / certificate</a:t>
                      </a:r>
                    </a:p>
                  </a:txBody>
                  <a:tcPr marL="45720" marR="45720" anchor="ctr">
                    <a:noFill/>
                  </a:tcPr>
                </a:tc>
                <a:tc>
                  <a:txBody>
                    <a:bodyPr wrap="square"/>
                    <a:lstStyle/>
                    <a:p>
                      <a:pPr algn="r"/>
                      <a:r>
                        <a:rPr sz="850" b="0">
                          <a:solidFill>
                            <a:srgbClr val="202945"/>
                          </a:solidFill>
                        </a:rPr>
                        <a:t>620,051</a:t>
                      </a:r>
                    </a:p>
                  </a:txBody>
                  <a:tcPr marL="45720" marR="45720" anchor="ctr">
                    <a:noFill/>
                  </a:tcPr>
                </a:tc>
                <a:tc>
                  <a:txBody>
                    <a:bodyPr wrap="square"/>
                    <a:lstStyle/>
                    <a:p>
                      <a:pPr algn="r"/>
                      <a:r>
                        <a:rPr sz="850" b="0">
                          <a:solidFill>
                            <a:srgbClr val="202945"/>
                          </a:solidFill>
                        </a:rPr>
                        <a:t>0.0</a:t>
                      </a:r>
                    </a:p>
                  </a:txBody>
                  <a:tcPr marL="45720" marR="45720" anchor="ctr">
                    <a:noFill/>
                  </a:tcPr>
                </a:tc>
                <a:tc>
                  <a:txBody>
                    <a:bodyPr wrap="square"/>
                    <a:lstStyle/>
                    <a:p>
                      <a:pPr algn="r"/>
                      <a:r>
                        <a:rPr sz="850" b="0">
                          <a:solidFill>
                            <a:srgbClr val="202945"/>
                          </a:solidFill>
                        </a:rPr>
                        <a:t>0.00</a:t>
                      </a:r>
                    </a:p>
                  </a:txBody>
                  <a:tcPr marL="45720" marR="45720" anchor="ctr">
                    <a:noFill/>
                  </a:tcPr>
                </a:tc>
              </a:tr>
              <a:tr h="360000">
                <a:tc>
                  <a:txBody>
                    <a:bodyPr wrap="square"/>
                    <a:lstStyle/>
                    <a:p>
                      <a:pPr algn="l"/>
                      <a:r>
                        <a:rPr sz="850" b="0">
                          <a:solidFill>
                            <a:srgbClr val="202945"/>
                          </a:solidFill>
                        </a:rPr>
                        <a:t>Bank bond</a:t>
                      </a:r>
                    </a:p>
                  </a:txBody>
                  <a:tcPr marL="45720" marR="45720" anchor="ctr">
                    <a:noFill/>
                  </a:tcPr>
                </a:tc>
                <a:tc>
                  <a:txBody>
                    <a:bodyPr wrap="square"/>
                    <a:lstStyle/>
                    <a:p>
                      <a:pPr algn="r"/>
                      <a:r>
                        <a:rPr sz="850" b="0">
                          <a:solidFill>
                            <a:srgbClr val="202945"/>
                          </a:solidFill>
                        </a:rPr>
                        <a:t>320,337</a:t>
                      </a:r>
                    </a:p>
                  </a:txBody>
                  <a:tcPr marL="45720" marR="45720" anchor="ctr">
                    <a:noFill/>
                  </a:tcPr>
                </a:tc>
                <a:tc>
                  <a:txBody>
                    <a:bodyPr wrap="square"/>
                    <a:lstStyle/>
                    <a:p>
                      <a:pPr algn="r"/>
                      <a:r>
                        <a:rPr sz="850" b="0">
                          <a:solidFill>
                            <a:srgbClr val="202945"/>
                          </a:solidFill>
                        </a:rPr>
                        <a:t>0.1</a:t>
                      </a:r>
                    </a:p>
                  </a:txBody>
                  <a:tcPr marL="45720" marR="45720" anchor="ctr">
                    <a:noFill/>
                  </a:tcPr>
                </a:tc>
                <a:tc>
                  <a:txBody>
                    <a:bodyPr wrap="square"/>
                    <a:lstStyle/>
                    <a:p>
                      <a:pPr algn="r"/>
                      <a:r>
                        <a:rPr sz="850" b="0">
                          <a:solidFill>
                            <a:srgbClr val="202945"/>
                          </a:solidFill>
                        </a:rPr>
                        <a:t>0.01</a:t>
                      </a:r>
                    </a:p>
                  </a:txBody>
                  <a:tcPr marL="45720" marR="45720" anchor="ctr">
                    <a:noFill/>
                  </a:tcPr>
                </a:tc>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200" noProof="0" dirty="0">
                <a:solidFill>
                  <a:schemeClr val="tx2">
                    <a:lumMod val="95000"/>
                    <a:lumOff val="5000"/>
                  </a:schemeClr>
                </a:solidFill>
              </a:rPr>
              <a:t>Headquartered in Geneva, with several offices in Switzerland, Bank </a:t>
            </a:r>
            <a:r>
              <a:rPr lang="en-US" sz="1200" noProof="0" dirty="0" err="1">
                <a:solidFill>
                  <a:schemeClr val="tx2">
                    <a:lumMod val="95000"/>
                    <a:lumOff val="5000"/>
                  </a:schemeClr>
                </a:solidFill>
              </a:rPr>
              <a:t>Syz</a:t>
            </a:r>
            <a:r>
              <a:rPr lang="en-US" sz="12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3 of 4. Weights as at 2 September 2026.</a:t>
            </a:r>
          </a:p>
        </p:txBody>
      </p:sp>
      <p:graphicFrame>
        <p:nvGraphicFramePr>
          <p:cNvPr id="4" name="Table 3"/>
          <p:cNvGraphicFramePr>
            <a:graphicFrameLocks noGrp="1"/>
          </p:cNvGraphicFramePr>
          <p:nvPr/>
        </p:nvGraphicFramePr>
        <p:xfrm>
          <a:off x="665163" y="2140000"/>
          <a:ext cx="9398001" cy="4305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34.0%</a:t>
                      </a:r>
                    </a:p>
                  </a:txBody>
                  <a:tcPr marL="45720" marR="45720" marT="9144" marB="9144" anchor="ctr">
                    <a:solidFill>
                      <a:srgbClr val="79D6FF"/>
                    </a:solidFill>
                  </a:tcPr>
                </a:tc>
              </a:tr>
              <a:tr h="205000">
                <a:tc rowSpan="12">
                  <a:txBody>
                    <a:bodyPr wrap="square"/>
                    <a:lstStyle/>
                    <a:p>
                      <a:pPr algn="l"/>
                      <a:r>
                        <a:rPr sz="950" b="1">
                          <a:solidFill>
                            <a:srgbClr val="202945"/>
                          </a:solidFill>
                          <a:latin typeface="Calibri"/>
                        </a:rPr>
                        <a:t>Global / thematic</a:t>
                      </a:r>
                    </a:p>
                  </a:txBody>
                  <a:tcPr marL="45720" marR="45720" marT="9144" marB="9144" anchor="ctr">
                    <a:noFill/>
                  </a:tcPr>
                </a:tc>
                <a:tc>
                  <a:txBody>
                    <a:bodyPr wrap="square"/>
                    <a:lstStyle/>
                    <a:p>
                      <a:pPr algn="l"/>
                      <a:r>
                        <a:rPr sz="950" b="0">
                          <a:solidFill>
                            <a:srgbClr val="202945"/>
                          </a:solidFill>
                          <a:latin typeface="Calibri"/>
                        </a:rPr>
                        <a:t>IE000YYE6WK5</a:t>
                      </a:r>
                    </a:p>
                  </a:txBody>
                  <a:tcPr marL="45720" marR="45720" marT="9144" marB="9144" anchor="ctr">
                    <a:noFill/>
                  </a:tcPr>
                </a:tc>
                <a:tc>
                  <a:txBody>
                    <a:bodyPr wrap="square"/>
                    <a:lstStyle/>
                    <a:p>
                      <a:pPr algn="l"/>
                      <a:r>
                        <a:rPr sz="950" b="0">
                          <a:solidFill>
                            <a:srgbClr val="202945"/>
                          </a:solidFill>
                          <a:latin typeface="Calibri"/>
                        </a:rPr>
                        <a:t>VANECK VECTORS DEF A ETF</a:t>
                      </a:r>
                    </a:p>
                  </a:txBody>
                  <a:tcPr marL="45720" marR="45720" marT="9144" marB="9144" anchor="ctr">
                    <a:noFill/>
                  </a:tcPr>
                </a:tc>
                <a:tc>
                  <a:txBody>
                    <a:bodyPr wrap="square"/>
                    <a:lstStyle/>
                    <a:p>
                      <a:pPr algn="r"/>
                      <a:r>
                        <a:rPr sz="950" b="0">
                          <a:solidFill>
                            <a:srgbClr val="202945"/>
                          </a:solidFill>
                          <a:latin typeface="Calibri"/>
                        </a:rPr>
                        <a:t>2.4%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LU0075056555</a:t>
                      </a:r>
                    </a:p>
                  </a:txBody>
                  <a:tcPr marL="45720" marR="45720" marT="9144" marB="9144" anchor="ctr">
                    <a:noFill/>
                  </a:tcPr>
                </a:tc>
                <a:tc>
                  <a:txBody>
                    <a:bodyPr wrap="square"/>
                    <a:lstStyle/>
                    <a:p>
                      <a:pPr algn="l"/>
                      <a:r>
                        <a:rPr sz="950" b="0">
                          <a:solidFill>
                            <a:srgbClr val="202945"/>
                          </a:solidFill>
                          <a:latin typeface="Calibri"/>
                        </a:rPr>
                        <a:t>BRGF WORLD MINING(REG)A2</a:t>
                      </a:r>
                    </a:p>
                  </a:txBody>
                  <a:tcPr marL="45720" marR="45720" marT="9144" marB="9144" anchor="ctr">
                    <a:noFill/>
                  </a:tcPr>
                </a:tc>
                <a:tc>
                  <a:txBody>
                    <a:bodyPr wrap="square"/>
                    <a:lstStyle/>
                    <a:p>
                      <a:pPr algn="r"/>
                      <a:r>
                        <a:rPr sz="950" b="0">
                          <a:solidFill>
                            <a:srgbClr val="202945"/>
                          </a:solidFill>
                          <a:latin typeface="Calibri"/>
                        </a:rPr>
                        <a:t>2.3%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LU0127786431</a:t>
                      </a:r>
                    </a:p>
                  </a:txBody>
                  <a:tcPr marL="45720" marR="45720" marT="9144" marB="9144" anchor="ctr">
                    <a:noFill/>
                  </a:tcPr>
                </a:tc>
                <a:tc>
                  <a:txBody>
                    <a:bodyPr wrap="square"/>
                    <a:lstStyle/>
                    <a:p>
                      <a:pPr algn="l"/>
                      <a:r>
                        <a:rPr sz="950" b="0">
                          <a:solidFill>
                            <a:srgbClr val="202945"/>
                          </a:solidFill>
                          <a:latin typeface="Calibri"/>
                        </a:rPr>
                        <a:t>GOLDMAN EU HIGH DIV P CAP</a:t>
                      </a:r>
                    </a:p>
                  </a:txBody>
                  <a:tcPr marL="45720" marR="45720" marT="9144" marB="9144" anchor="ctr">
                    <a:noFill/>
                  </a:tcPr>
                </a:tc>
                <a:tc>
                  <a:txBody>
                    <a:bodyPr wrap="square"/>
                    <a:lstStyle/>
                    <a:p>
                      <a:pPr algn="r"/>
                      <a:r>
                        <a:rPr sz="950" b="0">
                          <a:solidFill>
                            <a:srgbClr val="202945"/>
                          </a:solidFill>
                          <a:latin typeface="Calibri"/>
                        </a:rPr>
                        <a:t>2.1%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IE00BG0J4C88</a:t>
                      </a:r>
                    </a:p>
                  </a:txBody>
                  <a:tcPr marL="45720" marR="45720" marT="9144" marB="9144" anchor="ctr">
                    <a:noFill/>
                  </a:tcPr>
                </a:tc>
                <a:tc>
                  <a:txBody>
                    <a:bodyPr wrap="square"/>
                    <a:lstStyle/>
                    <a:p>
                      <a:pPr algn="l"/>
                      <a:r>
                        <a:rPr sz="950" b="0">
                          <a:solidFill>
                            <a:srgbClr val="202945"/>
                          </a:solidFill>
                          <a:latin typeface="Calibri"/>
                        </a:rPr>
                        <a:t>ISHS DIGITAL SECURITY ETF</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IE00BDBBPZ26</a:t>
                      </a:r>
                    </a:p>
                  </a:txBody>
                  <a:tcPr marL="45720" marR="45720" marT="9144" marB="9144" anchor="ctr">
                    <a:noFill/>
                  </a:tcPr>
                </a:tc>
                <a:tc>
                  <a:txBody>
                    <a:bodyPr wrap="square"/>
                    <a:lstStyle/>
                    <a:p>
                      <a:pPr algn="l"/>
                      <a:r>
                        <a:rPr sz="950" b="0">
                          <a:solidFill>
                            <a:srgbClr val="202945"/>
                          </a:solidFill>
                          <a:latin typeface="Calibri"/>
                        </a:rPr>
                        <a:t>FTGF CB INF VAL X DIST Q</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IE000KHX9DX6</a:t>
                      </a:r>
                    </a:p>
                  </a:txBody>
                  <a:tcPr marL="45720" marR="45720" marT="9144" marB="9144" anchor="ctr">
                    <a:noFill/>
                  </a:tcPr>
                </a:tc>
                <a:tc>
                  <a:txBody>
                    <a:bodyPr wrap="square"/>
                    <a:lstStyle/>
                    <a:p>
                      <a:pPr algn="l"/>
                      <a:r>
                        <a:rPr sz="950" b="0">
                          <a:solidFill>
                            <a:srgbClr val="202945"/>
                          </a:solidFill>
                          <a:latin typeface="Calibri"/>
                        </a:rPr>
                        <a:t>WISD STRAT M&amp;R EARTHS ETF</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SE0021921269</a:t>
                      </a:r>
                    </a:p>
                  </a:txBody>
                  <a:tcPr marL="45720" marR="45720" marT="9144" marB="9144" anchor="ctr">
                    <a:noFill/>
                  </a:tcPr>
                </a:tc>
                <a:tc>
                  <a:txBody>
                    <a:bodyPr wrap="square"/>
                    <a:lstStyle/>
                    <a:p>
                      <a:pPr algn="l"/>
                      <a:r>
                        <a:rPr sz="950" b="0">
                          <a:solidFill>
                            <a:srgbClr val="202945"/>
                          </a:solidFill>
                          <a:latin typeface="Calibri"/>
                        </a:rPr>
                        <a:t>SAAB AB B</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US92189F1066</a:t>
                      </a:r>
                    </a:p>
                  </a:txBody>
                  <a:tcPr marL="45720" marR="45720" marT="9144" marB="9144" anchor="ctr">
                    <a:noFill/>
                  </a:tcPr>
                </a:tc>
                <a:tc>
                  <a:txBody>
                    <a:bodyPr wrap="square"/>
                    <a:lstStyle/>
                    <a:p>
                      <a:pPr algn="l"/>
                      <a:r>
                        <a:rPr sz="950" b="0">
                          <a:solidFill>
                            <a:srgbClr val="202945"/>
                          </a:solidFill>
                          <a:latin typeface="Calibri"/>
                        </a:rPr>
                        <a:t>VANECK GOLD MINERS ETF</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IE00B3VXGD32</a:t>
                      </a:r>
                    </a:p>
                  </a:txBody>
                  <a:tcPr marL="45720" marR="45720" marT="9144" marB="9144" anchor="ctr">
                    <a:noFill/>
                  </a:tcPr>
                </a:tc>
                <a:tc>
                  <a:txBody>
                    <a:bodyPr wrap="square"/>
                    <a:lstStyle/>
                    <a:p>
                      <a:pPr algn="l"/>
                      <a:r>
                        <a:rPr sz="950" b="0">
                          <a:solidFill>
                            <a:srgbClr val="202945"/>
                          </a:solidFill>
                          <a:latin typeface="Calibri"/>
                        </a:rPr>
                        <a:t>POLAR BIOTECHNOLOGY R EUR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IE00BF20LF40</a:t>
                      </a:r>
                    </a:p>
                  </a:txBody>
                  <a:tcPr marL="45720" marR="45720" marT="9144" marB="9144" anchor="ctr">
                    <a:noFill/>
                  </a:tcPr>
                </a:tc>
                <a:tc>
                  <a:txBody>
                    <a:bodyPr wrap="square"/>
                    <a:lstStyle/>
                    <a:p>
                      <a:pPr algn="l"/>
                      <a:r>
                        <a:rPr sz="950" b="0">
                          <a:solidFill>
                            <a:srgbClr val="202945"/>
                          </a:solidFill>
                          <a:latin typeface="Calibri"/>
                        </a:rPr>
                        <a:t>ISHS VI MSCI EUROP MC ETF</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LU3269411313</a:t>
                      </a:r>
                    </a:p>
                  </a:txBody>
                  <a:tcPr marL="45720" marR="45720" marT="9144" marB="9144" anchor="ctr">
                    <a:noFill/>
                  </a:tcPr>
                </a:tc>
                <a:tc>
                  <a:txBody>
                    <a:bodyPr wrap="square"/>
                    <a:lstStyle/>
                    <a:p>
                      <a:pPr algn="l"/>
                      <a:r>
                        <a:rPr sz="950" b="0">
                          <a:solidFill>
                            <a:srgbClr val="202945"/>
                          </a:solidFill>
                          <a:latin typeface="Calibri"/>
                        </a:rPr>
                        <a:t>DECALIA AEGIS DEFENSE A1</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LU0234576444</a:t>
                      </a:r>
                    </a:p>
                  </a:txBody>
                  <a:tcPr marL="45720" marR="45720" marT="9144" marB="9144" anchor="ctr">
                    <a:noFill/>
                  </a:tcPr>
                </a:tc>
                <a:tc>
                  <a:txBody>
                    <a:bodyPr wrap="square"/>
                    <a:lstStyle/>
                    <a:p>
                      <a:pPr algn="l"/>
                      <a:r>
                        <a:rPr sz="950" b="0">
                          <a:solidFill>
                            <a:srgbClr val="202945"/>
                          </a:solidFill>
                          <a:latin typeface="Calibri"/>
                        </a:rPr>
                        <a:t>G SACHS US SMALL CAP CORE</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50" b="1">
                          <a:solidFill>
                            <a:srgbClr val="FFFFFF"/>
                          </a:solidFill>
                          <a:latin typeface="Nunito Sans ExtraBold"/>
                        </a:rPr>
                        <a:t>Structured Products</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r"/>
                      <a:r>
                        <a:rPr sz="1050" b="1">
                          <a:solidFill>
                            <a:srgbClr val="FFFFFF"/>
                          </a:solidFill>
                          <a:latin typeface="Nunito Sans ExtraBold"/>
                        </a:rPr>
                        <a:t>5.5%</a:t>
                      </a:r>
                    </a:p>
                  </a:txBody>
                  <a:tcPr marL="45720" marR="45720" marT="9144" marB="9144" anchor="ctr">
                    <a:solidFill>
                      <a:srgbClr val="E6A4AD"/>
                    </a:solidFill>
                  </a:tcPr>
                </a:tc>
              </a:tr>
              <a:tr h="205000">
                <a:tc rowSpan="6">
                  <a:txBody>
                    <a:bodyPr wrap="square"/>
                    <a:lstStyle/>
                    <a:p>
                      <a:pPr algn="l"/>
                      <a:r>
                        <a:rPr sz="950" b="1">
                          <a:solidFill>
                            <a:srgbClr val="202945"/>
                          </a:solidFill>
                          <a:latin typeface="Calibri"/>
                        </a:rPr>
                        <a:t>Structured Products</a:t>
                      </a:r>
                    </a:p>
                  </a:txBody>
                  <a:tcPr marL="45720" marR="45720" marT="9144" marB="9144" anchor="ctr">
                    <a:noFill/>
                  </a:tcPr>
                </a:tc>
                <a:tc>
                  <a:txBody>
                    <a:bodyPr wrap="square"/>
                    <a:lstStyle/>
                    <a:p>
                      <a:pPr algn="l"/>
                      <a:r>
                        <a:rPr sz="950" b="0">
                          <a:solidFill>
                            <a:srgbClr val="202945"/>
                          </a:solidFill>
                          <a:latin typeface="Calibri"/>
                        </a:rPr>
                        <a:t>XS3164745351</a:t>
                      </a:r>
                    </a:p>
                  </a:txBody>
                  <a:tcPr marL="45720" marR="45720" marT="9144" marB="9144" anchor="ctr">
                    <a:noFill/>
                  </a:tcPr>
                </a:tc>
                <a:tc>
                  <a:txBody>
                    <a:bodyPr wrap="square"/>
                    <a:lstStyle/>
                    <a:p>
                      <a:pPr algn="l"/>
                      <a:r>
                        <a:rPr sz="950" b="0">
                          <a:solidFill>
                            <a:srgbClr val="202945"/>
                          </a:solidFill>
                          <a:latin typeface="Calibri"/>
                        </a:rPr>
                        <a:t>CITIBTB11.3%ABBN-GALD-UBS  15.06.2027</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CH1476717926</a:t>
                      </a:r>
                    </a:p>
                  </a:txBody>
                  <a:tcPr marL="45720" marR="45720" marT="9144" marB="9144" anchor="ctr">
                    <a:noFill/>
                  </a:tcPr>
                </a:tc>
                <a:tc>
                  <a:txBody>
                    <a:bodyPr wrap="square"/>
                    <a:lstStyle/>
                    <a:p>
                      <a:pPr algn="l"/>
                      <a:r>
                        <a:rPr sz="950" b="0">
                          <a:solidFill>
                            <a:srgbClr val="202945"/>
                          </a:solidFill>
                          <a:latin typeface="Calibri"/>
                        </a:rPr>
                        <a:t>TCM 100% CPN 125% LEONAI1  25.08.2028</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XS3180169339</a:t>
                      </a:r>
                    </a:p>
                  </a:txBody>
                  <a:tcPr marL="45720" marR="45720" marT="9144" marB="9144" anchor="ctr">
                    <a:noFill/>
                  </a:tcPr>
                </a:tc>
                <a:tc>
                  <a:txBody>
                    <a:bodyPr wrap="square"/>
                    <a:lstStyle/>
                    <a:p>
                      <a:pPr algn="l"/>
                      <a:r>
                        <a:rPr sz="950" b="0">
                          <a:solidFill>
                            <a:srgbClr val="202945"/>
                          </a:solidFill>
                          <a:latin typeface="Calibri"/>
                        </a:rPr>
                        <a:t>BNP CPN 8% ENI-TTE-CVX  10.11.2027</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CH1511301322</a:t>
                      </a:r>
                    </a:p>
                  </a:txBody>
                  <a:tcPr marL="45720" marR="45720" marT="9144" marB="9144" anchor="ctr">
                    <a:noFill/>
                  </a:tcPr>
                </a:tc>
                <a:tc>
                  <a:txBody>
                    <a:bodyPr wrap="square"/>
                    <a:lstStyle/>
                    <a:p>
                      <a:pPr algn="l"/>
                      <a:r>
                        <a:rPr sz="950" b="0">
                          <a:solidFill>
                            <a:srgbClr val="202945"/>
                          </a:solidFill>
                          <a:latin typeface="Calibri"/>
                        </a:rPr>
                        <a:t>RAF 9.45% GOOGL-AMZN-MSFT  24.12.2026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CH1600459676</a:t>
                      </a:r>
                    </a:p>
                  </a:txBody>
                  <a:tcPr marL="45720" marR="45720" marT="9144" marB="9144" anchor="ctr">
                    <a:noFill/>
                  </a:tcPr>
                </a:tc>
                <a:tc>
                  <a:txBody>
                    <a:bodyPr wrap="square"/>
                    <a:lstStyle/>
                    <a:p>
                      <a:pPr algn="l"/>
                      <a:r>
                        <a:rPr sz="950" b="0">
                          <a:solidFill>
                            <a:srgbClr val="202945"/>
                          </a:solidFill>
                          <a:latin typeface="Calibri"/>
                        </a:rPr>
                        <a:t>7%DCI XAGUSD 57.80 UBS 26  24.09.2026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CH1384269176</a:t>
                      </a:r>
                    </a:p>
                  </a:txBody>
                  <a:tcPr marL="45720" marR="45720" marT="9144" marB="9144" anchor="ctr">
                    <a:noFill/>
                  </a:tcPr>
                </a:tc>
                <a:tc>
                  <a:txBody>
                    <a:bodyPr wrap="square"/>
                    <a:lstStyle/>
                    <a:p>
                      <a:pPr algn="l"/>
                      <a:r>
                        <a:rPr sz="950" b="0">
                          <a:solidFill>
                            <a:srgbClr val="202945"/>
                          </a:solidFill>
                          <a:latin typeface="Calibri"/>
                        </a:rPr>
                        <a:t>BIL OC 211.5% NESN  13.12.2027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4 of 4. Weights as at 2 September 2026.</a:t>
            </a:r>
          </a:p>
        </p:txBody>
      </p:sp>
      <p:graphicFrame>
        <p:nvGraphicFramePr>
          <p:cNvPr id="4" name="Table 3"/>
          <p:cNvGraphicFramePr>
            <a:graphicFrameLocks noGrp="1"/>
          </p:cNvGraphicFramePr>
          <p:nvPr/>
        </p:nvGraphicFramePr>
        <p:xfrm>
          <a:off x="665163" y="2140000"/>
          <a:ext cx="9398001" cy="4305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Private Assets</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r"/>
                      <a:r>
                        <a:rPr sz="1050" b="1">
                          <a:solidFill>
                            <a:srgbClr val="FFFFFF"/>
                          </a:solidFill>
                          <a:latin typeface="Nunito Sans ExtraBold"/>
                        </a:rPr>
                        <a:t>16.6%</a:t>
                      </a:r>
                    </a:p>
                  </a:txBody>
                  <a:tcPr marL="45720" marR="45720" marT="9144" marB="9144" anchor="ctr">
                    <a:solidFill>
                      <a:srgbClr val="AC5D85"/>
                    </a:solidFill>
                  </a:tcPr>
                </a:tc>
              </a:tr>
              <a:tr h="205000">
                <a:tc rowSpan="7">
                  <a:txBody>
                    <a:bodyPr wrap="square"/>
                    <a:lstStyle/>
                    <a:p>
                      <a:pPr algn="l"/>
                      <a:r>
                        <a:rPr sz="950" b="1">
                          <a:solidFill>
                            <a:srgbClr val="202945"/>
                          </a:solidFill>
                          <a:latin typeface="Calibri"/>
                        </a:rPr>
                        <a:t>Private Assets</a:t>
                      </a:r>
                    </a:p>
                  </a:txBody>
                  <a:tcPr marL="45720" marR="45720" marT="9144" marB="9144" anchor="ctr">
                    <a:noFill/>
                  </a:tcPr>
                </a:tc>
                <a:tc>
                  <a:txBody>
                    <a:bodyPr wrap="square"/>
                    <a:lstStyle/>
                    <a:p>
                      <a:pPr algn="l"/>
                      <a:r>
                        <a:rPr sz="950" b="0">
                          <a:solidFill>
                            <a:srgbClr val="202945"/>
                          </a:solidFill>
                          <a:latin typeface="Calibri"/>
                        </a:rPr>
                        <a:t>XX0009936591</a:t>
                      </a:r>
                    </a:p>
                  </a:txBody>
                  <a:tcPr marL="45720" marR="45720" marT="9144" marB="9144" anchor="ctr">
                    <a:noFill/>
                  </a:tcPr>
                </a:tc>
                <a:tc>
                  <a:txBody>
                    <a:bodyPr wrap="square"/>
                    <a:lstStyle/>
                    <a:p>
                      <a:pPr algn="l"/>
                      <a:r>
                        <a:rPr sz="950" b="0">
                          <a:solidFill>
                            <a:srgbClr val="202945"/>
                          </a:solidFill>
                          <a:latin typeface="Calibri"/>
                        </a:rPr>
                        <a:t>COA KONA III REF3 LP</a:t>
                      </a:r>
                    </a:p>
                  </a:txBody>
                  <a:tcPr marL="45720" marR="45720" marT="9144" marB="9144" anchor="ctr">
                    <a:noFill/>
                  </a:tcPr>
                </a:tc>
                <a:tc>
                  <a:txBody>
                    <a:bodyPr wrap="square"/>
                    <a:lstStyle/>
                    <a:p>
                      <a:pPr algn="r"/>
                      <a:r>
                        <a:rPr sz="950" b="0">
                          <a:solidFill>
                            <a:srgbClr val="202945"/>
                          </a:solidFill>
                          <a:latin typeface="Calibri"/>
                        </a:rPr>
                        <a:t>6.7%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XX9970157841</a:t>
                      </a:r>
                    </a:p>
                  </a:txBody>
                  <a:tcPr marL="45720" marR="45720" marT="9144" marB="9144" anchor="ctr">
                    <a:noFill/>
                  </a:tcPr>
                </a:tc>
                <a:tc>
                  <a:txBody>
                    <a:bodyPr wrap="square"/>
                    <a:lstStyle/>
                    <a:p>
                      <a:pPr algn="l"/>
                      <a:r>
                        <a:rPr sz="950" b="0">
                          <a:solidFill>
                            <a:srgbClr val="202945"/>
                          </a:solidFill>
                          <a:latin typeface="Calibri"/>
                        </a:rPr>
                        <a:t>LEFT LANE CP II CLT2</a:t>
                      </a:r>
                    </a:p>
                  </a:txBody>
                  <a:tcPr marL="45720" marR="45720" marT="9144" marB="9144" anchor="ctr">
                    <a:noFill/>
                  </a:tcPr>
                </a:tc>
                <a:tc>
                  <a:txBody>
                    <a:bodyPr wrap="square"/>
                    <a:lstStyle/>
                    <a:p>
                      <a:pPr algn="r"/>
                      <a:r>
                        <a:rPr sz="950" b="0">
                          <a:solidFill>
                            <a:srgbClr val="202945"/>
                          </a:solidFill>
                          <a:latin typeface="Calibri"/>
                        </a:rPr>
                        <a:t>6.3%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XX0009936523</a:t>
                      </a:r>
                    </a:p>
                  </a:txBody>
                  <a:tcPr marL="45720" marR="45720" marT="9144" marB="9144" anchor="ctr">
                    <a:noFill/>
                  </a:tcPr>
                </a:tc>
                <a:tc>
                  <a:txBody>
                    <a:bodyPr wrap="square"/>
                    <a:lstStyle/>
                    <a:p>
                      <a:pPr algn="l"/>
                      <a:r>
                        <a:rPr sz="950" b="0">
                          <a:solidFill>
                            <a:srgbClr val="202945"/>
                          </a:solidFill>
                          <a:latin typeface="Calibri"/>
                        </a:rPr>
                        <a:t>ACE BUYOUT III SPC A</a:t>
                      </a:r>
                    </a:p>
                  </a:txBody>
                  <a:tcPr marL="45720" marR="45720" marT="9144" marB="9144" anchor="ctr">
                    <a:noFill/>
                  </a:tcPr>
                </a:tc>
                <a:tc>
                  <a:txBody>
                    <a:bodyPr wrap="square"/>
                    <a:lstStyle/>
                    <a:p>
                      <a:pPr algn="r"/>
                      <a:r>
                        <a:rPr sz="950" b="0">
                          <a:solidFill>
                            <a:srgbClr val="202945"/>
                          </a:solidFill>
                          <a:latin typeface="Calibri"/>
                        </a:rPr>
                        <a:t>1.8%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XX0009947993</a:t>
                      </a:r>
                    </a:p>
                  </a:txBody>
                  <a:tcPr marL="45720" marR="45720" marT="9144" marB="9144" anchor="ctr">
                    <a:noFill/>
                  </a:tcPr>
                </a:tc>
                <a:tc>
                  <a:txBody>
                    <a:bodyPr wrap="square"/>
                    <a:lstStyle/>
                    <a:p>
                      <a:pPr algn="l"/>
                      <a:r>
                        <a:rPr sz="950" b="0">
                          <a:solidFill>
                            <a:srgbClr val="202945"/>
                          </a:solidFill>
                          <a:latin typeface="Calibri"/>
                        </a:rPr>
                        <a:t>ECHO FUND SCSP</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XX0009959644</a:t>
                      </a:r>
                    </a:p>
                  </a:txBody>
                  <a:tcPr marL="45720" marR="45720" marT="9144" marB="9144" anchor="ctr">
                    <a:noFill/>
                  </a:tcPr>
                </a:tc>
                <a:tc>
                  <a:txBody>
                    <a:bodyPr wrap="square"/>
                    <a:lstStyle/>
                    <a:p>
                      <a:pPr algn="l"/>
                      <a:r>
                        <a:rPr sz="950" b="0">
                          <a:solidFill>
                            <a:srgbClr val="202945"/>
                          </a:solidFill>
                          <a:latin typeface="Calibri"/>
                        </a:rPr>
                        <a:t>THEMIS FUND REF2 SCSP</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XX0009959643</a:t>
                      </a:r>
                    </a:p>
                  </a:txBody>
                  <a:tcPr marL="45720" marR="45720" marT="9144" marB="9144" anchor="ctr">
                    <a:noFill/>
                  </a:tcPr>
                </a:tc>
                <a:tc>
                  <a:txBody>
                    <a:bodyPr wrap="square"/>
                    <a:lstStyle/>
                    <a:p>
                      <a:pPr algn="l"/>
                      <a:r>
                        <a:rPr sz="950" b="0">
                          <a:solidFill>
                            <a:srgbClr val="202945"/>
                          </a:solidFill>
                          <a:latin typeface="Calibri"/>
                        </a:rPr>
                        <a:t>THEMIS FD REF2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ACE BUYOUT III A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Commodities</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r"/>
                      <a:r>
                        <a:rPr sz="1050" b="1">
                          <a:solidFill>
                            <a:srgbClr val="FFFFFF"/>
                          </a:solidFill>
                          <a:latin typeface="Nunito Sans ExtraBold"/>
                        </a:rPr>
                        <a:t>27.4%</a:t>
                      </a:r>
                    </a:p>
                  </a:txBody>
                  <a:tcPr marL="45720" marR="45720" marT="9144" marB="9144" anchor="ctr">
                    <a:solidFill>
                      <a:srgbClr val="3BAF90"/>
                    </a:solidFill>
                  </a:tcPr>
                </a:tc>
              </a:tr>
              <a:tr h="205000">
                <a:tc rowSpan="8">
                  <a:txBody>
                    <a:bodyPr wrap="square"/>
                    <a:lstStyle/>
                    <a:p>
                      <a:pPr algn="l"/>
                      <a:r>
                        <a:rPr sz="950" b="1">
                          <a:solidFill>
                            <a:srgbClr val="202945"/>
                          </a:solidFill>
                          <a:latin typeface="Calibri"/>
                        </a:rPr>
                        <a:t>Commodities</a:t>
                      </a:r>
                    </a:p>
                  </a:txBody>
                  <a:tcPr marL="45720" marR="45720" marT="9144" marB="9144" anchor="ctr">
                    <a:noFill/>
                  </a:tcPr>
                </a:tc>
                <a:tc>
                  <a:txBody>
                    <a:bodyPr wrap="square"/>
                    <a:lstStyle/>
                    <a:p>
                      <a:pPr algn="l"/>
                      <a:r>
                        <a:rPr sz="950" b="0">
                          <a:solidFill>
                            <a:srgbClr val="202945"/>
                          </a:solidFill>
                          <a:latin typeface="Calibri"/>
                        </a:rPr>
                        <a:t>CH0002811286</a:t>
                      </a:r>
                    </a:p>
                  </a:txBody>
                  <a:tcPr marL="45720" marR="45720" marT="9144" marB="9144" anchor="ctr">
                    <a:noFill/>
                  </a:tcPr>
                </a:tc>
                <a:tc>
                  <a:txBody>
                    <a:bodyPr wrap="square"/>
                    <a:lstStyle/>
                    <a:p>
                      <a:pPr algn="l"/>
                      <a:r>
                        <a:rPr sz="950" b="0">
                          <a:solidFill>
                            <a:srgbClr val="202945"/>
                          </a:solidFill>
                          <a:latin typeface="Calibri"/>
                        </a:rPr>
                        <a:t>GOLD KG 1 999.9 CHF</a:t>
                      </a:r>
                    </a:p>
                  </a:txBody>
                  <a:tcPr marL="45720" marR="45720" marT="9144" marB="9144" anchor="ctr">
                    <a:noFill/>
                  </a:tcPr>
                </a:tc>
                <a:tc>
                  <a:txBody>
                    <a:bodyPr wrap="square"/>
                    <a:lstStyle/>
                    <a:p>
                      <a:pPr algn="r"/>
                      <a:r>
                        <a:rPr sz="950" b="0">
                          <a:solidFill>
                            <a:srgbClr val="202945"/>
                          </a:solidFill>
                          <a:latin typeface="Calibri"/>
                        </a:rPr>
                        <a:t>20.1%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ZAE000003950</a:t>
                      </a:r>
                    </a:p>
                  </a:txBody>
                  <a:tcPr marL="45720" marR="45720" marT="9144" marB="9144" anchor="ctr">
                    <a:noFill/>
                  </a:tcPr>
                </a:tc>
                <a:tc>
                  <a:txBody>
                    <a:bodyPr wrap="square"/>
                    <a:lstStyle/>
                    <a:p>
                      <a:pPr algn="l"/>
                      <a:r>
                        <a:rPr sz="950" b="0">
                          <a:solidFill>
                            <a:srgbClr val="202945"/>
                          </a:solidFill>
                          <a:latin typeface="Calibri"/>
                        </a:rPr>
                        <a:t>OR KRUGERRAND(PCE)1OZ USD</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XAG</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XPT</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CH0183136057</a:t>
                      </a:r>
                    </a:p>
                  </a:txBody>
                  <a:tcPr marL="45720" marR="45720" marT="9144" marB="9144" anchor="ctr">
                    <a:noFill/>
                  </a:tcPr>
                </a:tc>
                <a:tc>
                  <a:txBody>
                    <a:bodyPr wrap="square"/>
                    <a:lstStyle/>
                    <a:p>
                      <a:pPr algn="l"/>
                      <a:r>
                        <a:rPr sz="950" b="0">
                          <a:solidFill>
                            <a:srgbClr val="202945"/>
                          </a:solidFill>
                          <a:latin typeface="Calibri"/>
                        </a:rPr>
                        <a:t>SWC(CH)PLATINUM ETF EACHF</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GB00B15KXQ89</a:t>
                      </a:r>
                    </a:p>
                  </a:txBody>
                  <a:tcPr marL="45720" marR="45720" marT="9144" marB="9144" anchor="ctr">
                    <a:noFill/>
                  </a:tcPr>
                </a:tc>
                <a:tc>
                  <a:txBody>
                    <a:bodyPr wrap="square"/>
                    <a:lstStyle/>
                    <a:p>
                      <a:pPr algn="l"/>
                      <a:r>
                        <a:rPr sz="950" b="0">
                          <a:solidFill>
                            <a:srgbClr val="202945"/>
                          </a:solidFill>
                          <a:latin typeface="Calibri"/>
                        </a:rPr>
                        <a:t>WISDOMT.ETC-COPPER COM ID</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GB00B15KXN58</a:t>
                      </a:r>
                    </a:p>
                  </a:txBody>
                  <a:tcPr marL="45720" marR="45720" marT="9144" marB="9144" anchor="ctr">
                    <a:noFill/>
                  </a:tcPr>
                </a:tc>
                <a:tc>
                  <a:txBody>
                    <a:bodyPr wrap="square"/>
                    <a:lstStyle/>
                    <a:p>
                      <a:pPr algn="l"/>
                      <a:r>
                        <a:rPr sz="950" b="0">
                          <a:solidFill>
                            <a:srgbClr val="202945"/>
                          </a:solidFill>
                          <a:latin typeface="Calibri"/>
                        </a:rPr>
                        <a:t>WISDOMTREE-ETC-ALUMIN PER</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GB00B15KYH63</a:t>
                      </a:r>
                    </a:p>
                  </a:txBody>
                  <a:tcPr marL="45720" marR="45720" marT="9144" marB="9144" anchor="ctr">
                    <a:noFill/>
                  </a:tcPr>
                </a:tc>
                <a:tc>
                  <a:txBody>
                    <a:bodyPr wrap="square"/>
                    <a:lstStyle/>
                    <a:p>
                      <a:pPr algn="l"/>
                      <a:r>
                        <a:rPr sz="950" b="0">
                          <a:solidFill>
                            <a:srgbClr val="202945"/>
                          </a:solidFill>
                          <a:latin typeface="Calibri"/>
                        </a:rPr>
                        <a:t>WISDOMTREE-ETC-AIGCI(LDN)</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a:txBody>
                    <a:bodyPr wrap="square"/>
                    <a:lstStyle/>
                    <a:p>
                      <a:pPr algn="l"/>
                      <a:r>
                        <a:rPr sz="1050" b="1">
                          <a:solidFill>
                            <a:srgbClr val="FFFFFF"/>
                          </a:solidFill>
                          <a:latin typeface="Nunito Sans ExtraBold"/>
                        </a:rPr>
                        <a:t>Other</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r"/>
                      <a:r>
                        <a:rPr sz="1050" b="1">
                          <a:solidFill>
                            <a:srgbClr val="FFFFFF"/>
                          </a:solidFill>
                          <a:latin typeface="Nunito Sans ExtraBold"/>
                        </a:rPr>
                        <a:t>0.7%</a:t>
                      </a:r>
                    </a:p>
                  </a:txBody>
                  <a:tcPr marL="45720" marR="45720" marT="9144" marB="9144" anchor="ctr">
                    <a:solidFill>
                      <a:srgbClr val="FFA400"/>
                    </a:solidFill>
                  </a:tcPr>
                </a:tc>
              </a:tr>
              <a:tr h="205000">
                <a:tc>
                  <a:txBody>
                    <a:bodyPr wrap="square"/>
                    <a:lstStyle/>
                    <a:p>
                      <a:pPr algn="l"/>
                      <a:r>
                        <a:rPr sz="950" b="1">
                          <a:solidFill>
                            <a:srgbClr val="202945"/>
                          </a:solidFill>
                          <a:latin typeface="Calibri"/>
                        </a:rPr>
                        <a:t>Other</a:t>
                      </a:r>
                    </a:p>
                  </a:txBody>
                  <a:tcPr marL="45720" marR="45720" marT="9144" marB="9144" anchor="ctr">
                    <a:noFill/>
                  </a:tcPr>
                </a:tc>
                <a:tc>
                  <a:txBody>
                    <a:bodyPr wrap="square"/>
                    <a:lstStyle/>
                    <a:p>
                      <a:pPr algn="l"/>
                      <a:r>
                        <a:rPr sz="950" b="0">
                          <a:solidFill>
                            <a:srgbClr val="202945"/>
                          </a:solidFill>
                          <a:latin typeface="Calibri"/>
                        </a:rPr>
                        <a:t>US46438F1012</a:t>
                      </a:r>
                    </a:p>
                  </a:txBody>
                  <a:tcPr marL="45720" marR="45720" marT="9144" marB="9144" anchor="ctr">
                    <a:noFill/>
                  </a:tcPr>
                </a:tc>
                <a:tc>
                  <a:txBody>
                    <a:bodyPr wrap="square"/>
                    <a:lstStyle/>
                    <a:p>
                      <a:pPr algn="l"/>
                      <a:r>
                        <a:rPr sz="950" b="0">
                          <a:solidFill>
                            <a:srgbClr val="202945"/>
                          </a:solidFill>
                          <a:latin typeface="Calibri"/>
                        </a:rPr>
                        <a:t>ISHARES BITCOIN ETF</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00" b="1">
                          <a:solidFill>
                            <a:srgbClr val="FFFFFF"/>
                          </a:solidFill>
                          <a:latin typeface="Nunito Sans ExtraBold"/>
                        </a:rPr>
                        <a:t>Total</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r"/>
                      <a:r>
                        <a:rPr sz="1000" b="1">
                          <a:solidFill>
                            <a:srgbClr val="FFFFFF"/>
                          </a:solidFill>
                          <a:latin typeface="Nunito Sans ExtraBold"/>
                        </a:rPr>
                        <a:t>100.0%</a:t>
                      </a:r>
                    </a:p>
                  </a:txBody>
                  <a:tcPr marL="45720" marR="45720" marT="9144" marB="9144" anchor="ctr">
                    <a:solidFill>
                      <a:srgbClr val="202945"/>
                    </a:solidFill>
                  </a:tcP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