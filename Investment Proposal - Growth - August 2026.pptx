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8136" r:id="rId21"/>
    <p:sldId id="2147379401" r:id="rId38"/>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8" Type="http://schemas.openxmlformats.org/officeDocument/2006/relationships/slide" Target="slides/slide35.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17%</c:v>
                </c:pt>
                <c:pt idx="3">
                  <c:v>Fixed Income  16%</c:v>
                </c:pt>
                <c:pt idx="4">
                  <c:v>Structured Products  5%</c:v>
                </c:pt>
                <c:pt idx="5">
                  <c:v>Other  1%</c:v>
                </c:pt>
                <c:pt idx="6">
                  <c:v>Cash  0.4%</c:v>
                </c:pt>
              </c:strCache>
            </c:strRef>
          </c:cat>
          <c:val>
            <c:numRef>
              <c:f>Sheet1!$B$2:$B$8</c:f>
              <c:numCache>
                <c:formatCode>General</c:formatCode>
                <c:ptCount val="7"/>
                <c:pt idx="0">
                  <c:v>0.33968324000000005</c:v>
                </c:pt>
                <c:pt idx="1">
                  <c:v>0.27351444999999996</c:v>
                </c:pt>
                <c:pt idx="2">
                  <c:v>0.16559767999999997</c:v>
                </c:pt>
                <c:pt idx="3">
                  <c:v>0.15577871</c:v>
                </c:pt>
                <c:pt idx="4">
                  <c:v>0.054549560000000004</c:v>
                </c:pt>
                <c:pt idx="5">
                  <c:v>0.00732644</c:v>
                </c:pt>
                <c:pt idx="6">
                  <c:v>0.00354992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 / thematic</c:v>
                </c:pt>
                <c:pt idx="1">
                  <c:v>Eurozone</c:v>
                </c:pt>
                <c:pt idx="2">
                  <c:v>Switzerland</c:v>
                </c:pt>
                <c:pt idx="3">
                  <c:v>UK</c:v>
                </c:pt>
                <c:pt idx="4">
                  <c:v>US</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dPt>
            <c:idx val="2"/>
            <c:spPr>
              <a:solidFill>
                <a:srgbClr val="AC5D85"/>
              </a:solidFill>
            </c:spPr>
          </c:dPt>
          <c:cat>
            <c:strRef>
              <c:f>Sheet1!$A$2:$A$4</c:f>
              <c:strCache>
                <c:ptCount val="3"/>
                <c:pt idx="0">
                  <c:v>Fund  51%</c:v>
                </c:pt>
                <c:pt idx="1">
                  <c:v>Direct line  44%</c:v>
                </c:pt>
                <c:pt idx="2">
                  <c:v>Structured / AMC  6%</c:v>
                </c:pt>
              </c:strCache>
            </c:strRef>
          </c:cat>
          <c:val>
            <c:numRef>
              <c:f>Sheet1!$B$2:$B$4</c:f>
              <c:numCache>
                <c:formatCode>General</c:formatCode>
                <c:ptCount val="3"/>
                <c:pt idx="0">
                  <c:v>0.50623703</c:v>
                </c:pt>
                <c:pt idx="1">
                  <c:v>0.43645277</c:v>
                </c:pt>
                <c:pt idx="2">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0.85866115</c:v>
                </c:pt>
                <c:pt idx="1">
                  <c:v>0.14133885</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cat>
            <c:strRef>
              <c:f>Sheet1!$A$2:$A$5</c:f>
              <c:strCache>
                <c:ptCount val="4"/>
                <c:pt idx="0">
                  <c:v>Liquid assets  60%</c:v>
                </c:pt>
                <c:pt idx="1">
                  <c:v>Physical assets  21%</c:v>
                </c:pt>
                <c:pt idx="2">
                  <c:v>Illiquid (lock-up)  17%</c:v>
                </c:pt>
                <c:pt idx="3">
                  <c:v>Cash &amp; metal accounts  3%</c:v>
                </c:pt>
              </c:strCache>
            </c:strRef>
          </c:cat>
          <c:val>
            <c:numRef>
              <c:f>Sheet1!$B$2:$B$5</c:f>
              <c:numCache>
                <c:formatCode>General</c:formatCode>
                <c:ptCount val="4"/>
                <c:pt idx="0">
                  <c:v>0.59599617</c:v>
                </c:pt>
                <c:pt idx="1">
                  <c:v>0.21330245</c:v>
                </c:pt>
                <c:pt idx="2">
                  <c:v>0.16559767999999997</c:v>
                </c:pt>
                <c:pt idx="3">
                  <c:v>0.0251037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5 September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0.4%</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5 September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exposure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Whole portfolio</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Equity sleeve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Regional breakdown of the whole portfolio and, separately, of the equity sleeve — 24 lines, EUR 7.2m, 34.0% of the portfolio.</a:t>
            </a: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221k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59.6% in listed securities and daily-liquid funds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5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5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27.4%</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equity: fund-by-fund review</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992820" y="987662"/>
            <a:ext cx="487376" cy="487376"/>
          </a:xfrm>
          <a:prstGeom prst="rect">
            <a:avLst/>
          </a:prstGeom>
        </p:spPr>
      </p:pic>
      <p:sp>
        <p:nvSpPr>
          <p:cNvPr id="22"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Manager-reported metrics for the four private-market funds held in the portfolio, as at Q1 2026 — ECHO as at Q1 2025, the latest reporting available.</a:t>
            </a:r>
          </a:p>
        </p:txBody>
      </p:sp>
      <p:graphicFrame>
        <p:nvGraphicFramePr>
          <p:cNvPr id="23" name="Table 22"/>
          <p:cNvGraphicFramePr>
            <a:graphicFrameLocks noGrp="1"/>
          </p:cNvGraphicFramePr>
          <p:nvPr/>
        </p:nvGraphicFramePr>
        <p:xfrm>
          <a:off x="665163" y="2232000"/>
          <a:ext cx="9399600" cy="1710000"/>
        </p:xfrm>
        <a:graphic>
          <a:graphicData uri="http://schemas.openxmlformats.org/drawingml/2006/table">
            <a:tbl>
              <a:tblPr firstRow="1" bandRow="1">
                <a:tableStyleId>{5C22544A-7EE6-4342-B048-85BDC9FD1C3A}</a:tableStyleId>
              </a:tblPr>
              <a:tblGrid>
                <a:gridCol w="1440000"/>
                <a:gridCol w="540000"/>
                <a:gridCol w="468000"/>
                <a:gridCol w="360000"/>
                <a:gridCol w="648000"/>
                <a:gridCol w="1332000"/>
                <a:gridCol w="468000"/>
                <a:gridCol w="540000"/>
                <a:gridCol w="1440000"/>
                <a:gridCol w="2163600"/>
              </a:tblGrid>
              <a:tr h="342000">
                <a:tc>
                  <a:txBody>
                    <a:bodyPr wrap="square"/>
                    <a:lstStyle/>
                    <a:p>
                      <a:pPr algn="l"/>
                      <a:r>
                        <a:rPr sz="900" b="1">
                          <a:solidFill>
                            <a:srgbClr val="202945"/>
                          </a:solidFill>
                        </a:rPr>
                        <a:t>Fund</a:t>
                      </a:r>
                    </a:p>
                  </a:txBody>
                  <a:tcPr marL="45720" marR="45720" anchor="ctr">
                    <a:solidFill>
                      <a:srgbClr val="FFC545"/>
                    </a:solidFill>
                  </a:tcPr>
                </a:tc>
                <a:tc>
                  <a:txBody>
                    <a:bodyPr wrap="square"/>
                    <a:lstStyle/>
                    <a:p>
                      <a:pPr algn="l"/>
                      <a:r>
                        <a:rPr sz="900" b="1">
                          <a:solidFill>
                            <a:srgbClr val="202945"/>
                          </a:solidFill>
                        </a:rPr>
                        <a:t>Vintage</a:t>
                      </a:r>
                    </a:p>
                  </a:txBody>
                  <a:tcPr marL="45720" marR="45720" anchor="ctr">
                    <a:solidFill>
                      <a:srgbClr val="FFC545"/>
                    </a:solidFill>
                  </a:tcPr>
                </a:tc>
                <a:tc>
                  <a:txBody>
                    <a:bodyPr wrap="square"/>
                    <a:lstStyle/>
                    <a:p>
                      <a:pPr algn="l"/>
                      <a:r>
                        <a:rPr sz="900" b="1">
                          <a:solidFill>
                            <a:srgbClr val="202945"/>
                          </a:solidFill>
                        </a:rPr>
                        <a:t>Term</a:t>
                      </a:r>
                    </a:p>
                  </a:txBody>
                  <a:tcPr marL="45720" marR="45720" anchor="ctr">
                    <a:solidFill>
                      <a:srgbClr val="FFC545"/>
                    </a:solidFill>
                  </a:tcPr>
                </a:tc>
                <a:tc>
                  <a:txBody>
                    <a:bodyPr wrap="square"/>
                    <a:lstStyle/>
                    <a:p>
                      <a:pPr algn="l"/>
                      <a:r>
                        <a:rPr sz="900" b="1">
                          <a:solidFill>
                            <a:srgbClr val="202945"/>
                          </a:solidFill>
                        </a:rPr>
                        <a:t>Ccy</a:t>
                      </a:r>
                    </a:p>
                  </a:txBody>
                  <a:tcPr marL="45720" marR="45720" anchor="ctr">
                    <a:solidFill>
                      <a:srgbClr val="FFC545"/>
                    </a:solidFill>
                  </a:tcPr>
                </a:tc>
                <a:tc>
                  <a:txBody>
                    <a:bodyPr wrap="square"/>
                    <a:lstStyle/>
                    <a:p>
                      <a:pPr algn="l"/>
                      <a:r>
                        <a:rPr sz="900" b="1">
                          <a:solidFill>
                            <a:srgbClr val="202945"/>
                          </a:solidFill>
                        </a:rPr>
                        <a:t>As of</a:t>
                      </a:r>
                    </a:p>
                  </a:txBody>
                  <a:tcPr marL="45720" marR="45720" anchor="ctr">
                    <a:solidFill>
                      <a:srgbClr val="FFC545"/>
                    </a:solidFill>
                  </a:tcPr>
                </a:tc>
                <a:tc>
                  <a:txBody>
                    <a:bodyPr wrap="square"/>
                    <a:lstStyle/>
                    <a:p>
                      <a:pPr algn="l"/>
                      <a:r>
                        <a:rPr sz="900" b="1">
                          <a:solidFill>
                            <a:srgbClr val="202945"/>
                          </a:solidFill>
                        </a:rPr>
                        <a:t>TVPI / MOIC</a:t>
                      </a:r>
                    </a:p>
                  </a:txBody>
                  <a:tcPr marL="45720" marR="45720" anchor="ctr">
                    <a:solidFill>
                      <a:srgbClr val="FFC545"/>
                    </a:solidFill>
                  </a:tcPr>
                </a:tc>
                <a:tc>
                  <a:txBody>
                    <a:bodyPr wrap="square"/>
                    <a:lstStyle/>
                    <a:p>
                      <a:pPr algn="l"/>
                      <a:r>
                        <a:rPr sz="900" b="1">
                          <a:solidFill>
                            <a:srgbClr val="202945"/>
                          </a:solidFill>
                        </a:rPr>
                        <a:t>DPI</a:t>
                      </a:r>
                    </a:p>
                  </a:txBody>
                  <a:tcPr marL="45720" marR="45720" anchor="ctr">
                    <a:solidFill>
                      <a:srgbClr val="FFC545"/>
                    </a:solidFill>
                  </a:tcPr>
                </a:tc>
                <a:tc>
                  <a:txBody>
                    <a:bodyPr wrap="square"/>
                    <a:lstStyle/>
                    <a:p>
                      <a:pPr algn="l"/>
                      <a:r>
                        <a:rPr sz="900" b="1">
                          <a:solidFill>
                            <a:srgbClr val="202945"/>
                          </a:solidFill>
                        </a:rPr>
                        <a:t>Called</a:t>
                      </a:r>
                    </a:p>
                  </a:txBody>
                  <a:tcPr marL="45720" marR="45720" anchor="ctr">
                    <a:solidFill>
                      <a:srgbClr val="FFC545"/>
                    </a:solidFill>
                  </a:tcPr>
                </a:tc>
                <a:tc>
                  <a:txBody>
                    <a:bodyPr wrap="square"/>
                    <a:lstStyle/>
                    <a:p>
                      <a:pPr algn="l"/>
                      <a:r>
                        <a:rPr sz="900" b="1">
                          <a:solidFill>
                            <a:srgbClr val="202945"/>
                          </a:solidFill>
                        </a:rPr>
                        <a:t>Expected calls (4Q)</a:t>
                      </a:r>
                    </a:p>
                  </a:txBody>
                  <a:tcPr marL="45720" marR="45720" anchor="ctr">
                    <a:solidFill>
                      <a:srgbClr val="FFC545"/>
                    </a:solidFill>
                  </a:tcPr>
                </a:tc>
                <a:tc>
                  <a:txBody>
                    <a:bodyPr wrap="square"/>
                    <a:lstStyle/>
                    <a:p>
                      <a:pPr algn="l"/>
                      <a:r>
                        <a:rPr sz="900" b="1">
                          <a:solidFill>
                            <a:srgbClr val="202945"/>
                          </a:solidFill>
                        </a:rPr>
                        <a:t>Expected distrib. (4Q)</a:t>
                      </a:r>
                    </a:p>
                  </a:txBody>
                  <a:tcPr marL="45720" marR="45720" anchor="ctr">
                    <a:solidFill>
                      <a:srgbClr val="FFC545"/>
                    </a:solidFill>
                  </a:tcPr>
                </a:tc>
              </a:tr>
              <a:tr h="342000">
                <a:tc>
                  <a:txBody>
                    <a:bodyPr wrap="square"/>
                    <a:lstStyle/>
                    <a:p>
                      <a:pPr algn="l"/>
                      <a:r>
                        <a:rPr sz="900" b="1">
                          <a:solidFill>
                            <a:srgbClr val="202945"/>
                          </a:solidFill>
                        </a:rPr>
                        <a:t>Themis I</a:t>
                      </a:r>
                    </a:p>
                  </a:txBody>
                  <a:tcPr marL="45720" marR="45720" anchor="ctr">
                    <a:noFill/>
                  </a:tcPr>
                </a:tc>
                <a:tc>
                  <a:txBody>
                    <a:bodyPr wrap="square"/>
                    <a:lstStyle/>
                    <a:p>
                      <a:pPr algn="l"/>
                      <a:r>
                        <a:rPr sz="900" b="0">
                          <a:solidFill>
                            <a:srgbClr val="202945"/>
                          </a:solidFill>
                        </a:rPr>
                        <a:t>2020</a:t>
                      </a:r>
                    </a:p>
                  </a:txBody>
                  <a:tcPr marL="45720" marR="45720" anchor="ctr">
                    <a:noFill/>
                  </a:tcPr>
                </a:tc>
                <a:tc>
                  <a:txBody>
                    <a:bodyPr wrap="square"/>
                    <a:lstStyle/>
                    <a:p>
                      <a:pPr algn="l"/>
                      <a:r>
                        <a:rPr sz="900" b="0">
                          <a:solidFill>
                            <a:srgbClr val="202945"/>
                          </a:solidFill>
                        </a:rPr>
                        <a:t>2028</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0.98x Net TVPI</a:t>
                      </a:r>
                    </a:p>
                  </a:txBody>
                  <a:tcPr marL="45720" marR="45720" anchor="ctr">
                    <a:noFill/>
                  </a:tcPr>
                </a:tc>
                <a:tc>
                  <a:txBody>
                    <a:bodyPr wrap="square"/>
                    <a:lstStyle/>
                    <a:p>
                      <a:pPr algn="l"/>
                      <a:r>
                        <a:rPr sz="900" b="0">
                          <a:solidFill>
                            <a:srgbClr val="202945"/>
                          </a:solidFill>
                        </a:rPr>
                        <a:t>0.33x</a:t>
                      </a:r>
                    </a:p>
                  </a:txBody>
                  <a:tcPr marL="45720" marR="45720" anchor="ctr">
                    <a:noFill/>
                  </a:tcPr>
                </a:tc>
                <a:tc>
                  <a:txBody>
                    <a:bodyPr wrap="square"/>
                    <a:lstStyle/>
                    <a:p>
                      <a:pPr algn="l"/>
                      <a:r>
                        <a:rPr sz="900" b="0">
                          <a:solidFill>
                            <a:srgbClr val="202945"/>
                          </a:solidFill>
                        </a:rPr>
                        <a:t>70%</a:t>
                      </a:r>
                    </a:p>
                  </a:txBody>
                  <a:tcPr marL="45720" marR="45720" anchor="ctr">
                    <a:noFill/>
                  </a:tcPr>
                </a:tc>
                <a:tc>
                  <a:txBody>
                    <a:bodyPr wrap="square"/>
                    <a:lstStyle/>
                    <a:p>
                      <a:pPr algn="l"/>
                      <a:r>
                        <a:rPr sz="900" b="0">
                          <a:solidFill>
                            <a:srgbClr val="202945"/>
                          </a:solidFill>
                        </a:rPr>
                        <a:t>10-20%</a:t>
                      </a:r>
                    </a:p>
                  </a:txBody>
                  <a:tcPr marL="45720" marR="45720" anchor="ctr">
                    <a:noFill/>
                  </a:tcPr>
                </a:tc>
                <a:tc>
                  <a:txBody>
                    <a:bodyPr wrap="square"/>
                    <a:lstStyle/>
                    <a:p>
                      <a:pPr algn="l"/>
                      <a:r>
                        <a:rPr sz="900" b="0">
                          <a:solidFill>
                            <a:srgbClr val="202945"/>
                          </a:solidFill>
                        </a:rPr>
                        <a:t>10-20%</a:t>
                      </a:r>
                    </a:p>
                  </a:txBody>
                  <a:tcPr marL="45720" marR="45720" anchor="ctr">
                    <a:noFill/>
                  </a:tcPr>
                </a:tc>
              </a:tr>
              <a:tr h="342000">
                <a:tc>
                  <a:txBody>
                    <a:bodyPr wrap="square"/>
                    <a:lstStyle/>
                    <a:p>
                      <a:pPr algn="l"/>
                      <a:r>
                        <a:rPr sz="900" b="1">
                          <a:solidFill>
                            <a:srgbClr val="202945"/>
                          </a:solidFill>
                        </a:rPr>
                        <a:t>Left Lane CP II LP 2</a:t>
                      </a:r>
                    </a:p>
                  </a:txBody>
                  <a:tcPr marL="45720" marR="45720" anchor="ctr">
                    <a:noFill/>
                  </a:tcPr>
                </a:tc>
                <a:tc>
                  <a:txBody>
                    <a:bodyPr wrap="square"/>
                    <a:lstStyle/>
                    <a:p>
                      <a:pPr algn="l"/>
                      <a:r>
                        <a:rPr sz="900" b="0">
                          <a:solidFill>
                            <a:srgbClr val="202945"/>
                          </a:solidFill>
                        </a:rPr>
                        <a:t>2021</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1.60x Net MOIC</a:t>
                      </a:r>
                    </a:p>
                  </a:txBody>
                  <a:tcPr marL="45720" marR="45720" anchor="ctr">
                    <a:noFill/>
                  </a:tcPr>
                </a:tc>
                <a:tc>
                  <a:txBody>
                    <a:bodyPr wrap="square"/>
                    <a:lstStyle/>
                    <a:p>
                      <a:pPr algn="l"/>
                      <a:r>
                        <a:rPr sz="900" b="0">
                          <a:solidFill>
                            <a:srgbClr val="202945"/>
                          </a:solidFill>
                        </a:rPr>
                        <a:t>0.00x</a:t>
                      </a:r>
                    </a:p>
                  </a:txBody>
                  <a:tcPr marL="45720" marR="45720" anchor="ctr">
                    <a:noFill/>
                  </a:tcPr>
                </a:tc>
                <a:tc>
                  <a:txBody>
                    <a:bodyPr wrap="square"/>
                    <a:lstStyle/>
                    <a:p>
                      <a:pPr algn="l"/>
                      <a:r>
                        <a:rPr sz="900" b="0">
                          <a:solidFill>
                            <a:srgbClr val="202945"/>
                          </a:solidFill>
                        </a:rPr>
                        <a:t>88%</a:t>
                      </a:r>
                    </a:p>
                  </a:txBody>
                  <a:tcPr marL="45720" marR="45720" anchor="ctr">
                    <a:noFill/>
                  </a:tcPr>
                </a:tc>
                <a:tc>
                  <a:txBody>
                    <a:bodyPr wrap="square"/>
                    <a:lstStyle/>
                    <a:p>
                      <a:pPr algn="l"/>
                      <a:r>
                        <a:rPr sz="900" b="0">
                          <a:solidFill>
                            <a:srgbClr val="202945"/>
                          </a:solidFill>
                        </a:rPr>
                        <a:t>3-4% (April 2026)</a:t>
                      </a:r>
                    </a:p>
                  </a:txBody>
                  <a:tcPr marL="45720" marR="45720" anchor="ctr">
                    <a:noFill/>
                  </a:tcPr>
                </a:tc>
                <a:tc>
                  <a:txBody>
                    <a:bodyPr wrap="square"/>
                    <a:lstStyle/>
                    <a:p>
                      <a:pPr algn="l"/>
                      <a:r>
                        <a:rPr sz="900" b="0">
                          <a:solidFill>
                            <a:srgbClr val="202945"/>
                          </a:solidFill>
                        </a:rPr>
                        <a:t>Not indicated</a:t>
                      </a:r>
                    </a:p>
                  </a:txBody>
                  <a:tcPr marL="45720" marR="45720" anchor="ctr">
                    <a:noFill/>
                  </a:tcPr>
                </a:tc>
              </a:tr>
              <a:tr h="342000">
                <a:tc>
                  <a:txBody>
                    <a:bodyPr wrap="square"/>
                    <a:lstStyle/>
                    <a:p>
                      <a:pPr algn="l"/>
                      <a:r>
                        <a:rPr sz="900" b="1">
                          <a:solidFill>
                            <a:srgbClr val="202945"/>
                          </a:solidFill>
                        </a:rPr>
                        <a:t>ACE Buyout III</a:t>
                      </a:r>
                    </a:p>
                  </a:txBody>
                  <a:tcPr marL="45720" marR="45720" anchor="ctr">
                    <a:noFill/>
                  </a:tcPr>
                </a:tc>
                <a:tc>
                  <a:txBody>
                    <a:bodyPr wrap="square"/>
                    <a:lstStyle/>
                    <a:p>
                      <a:pPr algn="l"/>
                      <a:r>
                        <a:rPr sz="900" b="0">
                          <a:solidFill>
                            <a:srgbClr val="202945"/>
                          </a:solidFill>
                        </a:rPr>
                        <a:t>2017</a:t>
                      </a:r>
                    </a:p>
                  </a:txBody>
                  <a:tcPr marL="45720" marR="45720" anchor="ctr">
                    <a:noFill/>
                  </a:tcPr>
                </a:tc>
                <a:tc>
                  <a:txBody>
                    <a:bodyPr wrap="square"/>
                    <a:lstStyle/>
                    <a:p>
                      <a:pPr algn="l"/>
                      <a:r>
                        <a:rPr sz="900" b="0">
                          <a:solidFill>
                            <a:srgbClr val="202945"/>
                          </a:solidFill>
                        </a:rPr>
                        <a:t>2027</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1.9x Gross MOIC</a:t>
                      </a:r>
                    </a:p>
                  </a:txBody>
                  <a:tcPr marL="45720" marR="45720" anchor="ctr">
                    <a:noFill/>
                  </a:tcPr>
                </a:tc>
                <a:tc>
                  <a:txBody>
                    <a:bodyPr wrap="square"/>
                    <a:lstStyle/>
                    <a:p>
                      <a:pPr algn="l"/>
                      <a:r>
                        <a:rPr sz="900" b="0">
                          <a:solidFill>
                            <a:srgbClr val="202945"/>
                          </a:solidFill>
                        </a:rPr>
                        <a:t>0.98x</a:t>
                      </a:r>
                    </a:p>
                  </a:txBody>
                  <a:tcPr marL="45720" marR="45720" anchor="ctr">
                    <a:noFill/>
                  </a:tcPr>
                </a:tc>
                <a:tc>
                  <a:txBody>
                    <a:bodyPr wrap="square"/>
                    <a:lstStyle/>
                    <a:p>
                      <a:pPr algn="l"/>
                      <a:r>
                        <a:rPr sz="900" b="0">
                          <a:solidFill>
                            <a:srgbClr val="202945"/>
                          </a:solidFill>
                        </a:rPr>
                        <a:t>98%</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Expected, size not indicated</a:t>
                      </a:r>
                    </a:p>
                  </a:txBody>
                  <a:tcPr marL="45720" marR="45720" anchor="ctr">
                    <a:noFill/>
                  </a:tcPr>
                </a:tc>
              </a:tr>
              <a:tr h="342000">
                <a:tc>
                  <a:txBody>
                    <a:bodyPr wrap="square"/>
                    <a:lstStyle/>
                    <a:p>
                      <a:pPr algn="l"/>
                      <a:r>
                        <a:rPr sz="900" b="1">
                          <a:solidFill>
                            <a:srgbClr val="202945"/>
                          </a:solidFill>
                        </a:rPr>
                        <a:t>ECHO</a:t>
                      </a:r>
                    </a:p>
                  </a:txBody>
                  <a:tcPr marL="45720" marR="45720" anchor="ctr">
                    <a:noFill/>
                  </a:tcPr>
                </a:tc>
                <a:tc>
                  <a:txBody>
                    <a:bodyPr wrap="square"/>
                    <a:lstStyle/>
                    <a:p>
                      <a:pPr algn="l"/>
                      <a:r>
                        <a:rPr sz="900" b="0">
                          <a:solidFill>
                            <a:srgbClr val="202945"/>
                          </a:solidFill>
                        </a:rPr>
                        <a:t>2019</a:t>
                      </a:r>
                    </a:p>
                  </a:txBody>
                  <a:tcPr marL="45720" marR="45720" anchor="ctr">
                    <a:noFill/>
                  </a:tcPr>
                </a:tc>
                <a:tc>
                  <a:txBody>
                    <a:bodyPr wrap="square"/>
                    <a:lstStyle/>
                    <a:p>
                      <a:pPr algn="l"/>
                      <a:r>
                        <a:rPr sz="900" b="0">
                          <a:solidFill>
                            <a:srgbClr val="202945"/>
                          </a:solidFill>
                        </a:rPr>
                        <a:t>2026</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2025 Q1</a:t>
                      </a:r>
                    </a:p>
                  </a:txBody>
                  <a:tcPr marL="45720" marR="45720" anchor="ctr">
                    <a:noFill/>
                  </a:tcPr>
                </a:tc>
                <a:tc>
                  <a:txBody>
                    <a:bodyPr wrap="square"/>
                    <a:lstStyle/>
                    <a:p>
                      <a:pPr algn="l"/>
                      <a:r>
                        <a:rPr sz="900" b="0">
                          <a:solidFill>
                            <a:srgbClr val="202945"/>
                          </a:solidFill>
                        </a:rPr>
                        <a:t>0.95x Net TVPI</a:t>
                      </a:r>
                    </a:p>
                  </a:txBody>
                  <a:tcPr marL="45720" marR="45720" anchor="ctr">
                    <a:noFill/>
                  </a:tcPr>
                </a:tc>
                <a:tc>
                  <a:txBody>
                    <a:bodyPr wrap="square"/>
                    <a:lstStyle/>
                    <a:p>
                      <a:pPr algn="l"/>
                      <a:r>
                        <a:rPr sz="900" b="0">
                          <a:solidFill>
                            <a:srgbClr val="202945"/>
                          </a:solidFill>
                        </a:rPr>
                        <a:t>0.30x</a:t>
                      </a:r>
                    </a:p>
                  </a:txBody>
                  <a:tcPr marL="45720" marR="45720" anchor="ctr">
                    <a:noFill/>
                  </a:tcPr>
                </a:tc>
                <a:tc>
                  <a:txBody>
                    <a:bodyPr wrap="square"/>
                    <a:lstStyle/>
                    <a:p>
                      <a:pPr algn="l"/>
                      <a:r>
                        <a:rPr sz="900" b="0">
                          <a:solidFill>
                            <a:srgbClr val="202945"/>
                          </a:solidFill>
                        </a:rPr>
                        <a:t>66%</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Full distribution in 2026</a:t>
                      </a:r>
                    </a:p>
                  </a:txBody>
                  <a:tcPr marL="45720" marR="45720" anchor="ctr">
                    <a:noFill/>
                  </a:tcPr>
                </a:tc>
              </a:tr>
            </a:tbl>
          </a:graphicData>
        </a:graphic>
      </p:graphicFrame>
      <p:sp>
        <p:nvSpPr>
          <p:cNvPr id="24" name="PE Card 1"/>
          <p:cNvSpPr txBox="1"/>
          <p:nvPr/>
        </p:nvSpPr>
        <p:spPr>
          <a:xfrm>
            <a:off x="6651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Themis I</a:t>
            </a:r>
          </a:p>
          <a:p>
            <a:pPr>
              <a:spcAft>
                <a:spcPts val="200"/>
              </a:spcAft>
            </a:pPr>
            <a:r>
              <a:rPr sz="800" b="0">
                <a:solidFill>
                  <a:srgbClr val="202945"/>
                </a:solidFill>
              </a:rPr>
              <a:t>- 69.9% of commitments paid in at Q1-26, with a further 5% called in April. Next distribution expected Q3/Q4 2026.</a:t>
            </a:r>
          </a:p>
          <a:p>
            <a:pPr>
              <a:spcAft>
                <a:spcPts val="200"/>
              </a:spcAft>
            </a:pPr>
            <a:r>
              <a:rPr sz="800" b="0">
                <a:solidFill>
                  <a:srgbClr val="202945"/>
                </a:solidFill>
              </a:rPr>
              <a:t>- Diversified across 107 cases, 74 still ongoing — competition, commercial, class action and litigation finance in Europe, the US and Australia.</a:t>
            </a:r>
          </a:p>
          <a:p>
            <a:pPr>
              <a:spcAft>
                <a:spcPts val="200"/>
              </a:spcAft>
            </a:pPr>
            <a:r>
              <a:rPr sz="800" b="0">
                <a:solidFill>
                  <a:srgbClr val="202945"/>
                </a:solidFill>
              </a:rPr>
              <a:t>- 20 wins against 13 losses, ~$19.7m cumulative profit from resolved matters. Still largely in the maturation phase.</a:t>
            </a:r>
          </a:p>
        </p:txBody>
      </p:sp>
      <p:sp>
        <p:nvSpPr>
          <p:cNvPr id="25" name="PE Card 2"/>
          <p:cNvSpPr txBox="1"/>
          <p:nvPr/>
        </p:nvSpPr>
        <p:spPr>
          <a:xfrm>
            <a:off x="54387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Left Lane CP II LP 2</a:t>
            </a:r>
          </a:p>
          <a:p>
            <a:pPr>
              <a:spcAft>
                <a:spcPts val="200"/>
              </a:spcAft>
            </a:pPr>
            <a:r>
              <a:rPr sz="800" b="0">
                <a:solidFill>
                  <a:srgbClr val="202945"/>
                </a:solidFill>
              </a:rPr>
              <a:t>- 29.6% Gross IRR / 2.0x Gross MOIC; 20.8% Net IRR / 1.6x Net MOIC.</a:t>
            </a:r>
          </a:p>
          <a:p>
            <a:pPr>
              <a:spcAft>
                <a:spcPts val="200"/>
              </a:spcAft>
            </a:pPr>
            <a:r>
              <a:rPr sz="800" b="0">
                <a:solidFill>
                  <a:srgbClr val="202945"/>
                </a:solidFill>
              </a:rPr>
              <a:t>- $1.16bn invested across 70 companies, ~$70m dry powder. $27.7m of Q1 follow-ons into 11 existing positions.</a:t>
            </a:r>
          </a:p>
          <a:p>
            <a:pPr>
              <a:spcAft>
                <a:spcPts val="200"/>
              </a:spcAft>
            </a:pPr>
            <a:r>
              <a:rPr sz="800" b="0">
                <a:solidFill>
                  <a:srgbClr val="202945"/>
                </a:solidFill>
              </a:rPr>
              <a:t>- DPI still zero; only 39 of 68 unrealised positions above cost. First exits building — Steno secondary at 2.7x, Composer acquired, Rei Do Pitaco pending.</a:t>
            </a:r>
          </a:p>
        </p:txBody>
      </p:sp>
      <p:sp>
        <p:nvSpPr>
          <p:cNvPr id="26" name="PE Card 3"/>
          <p:cNvSpPr txBox="1"/>
          <p:nvPr/>
        </p:nvSpPr>
        <p:spPr>
          <a:xfrm>
            <a:off x="6651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ACE Buyout III</a:t>
            </a:r>
          </a:p>
          <a:p>
            <a:pPr>
              <a:spcAft>
                <a:spcPts val="200"/>
              </a:spcAft>
            </a:pPr>
            <a:r>
              <a:rPr sz="800" b="0">
                <a:solidFill>
                  <a:srgbClr val="202945"/>
                </a:solidFill>
              </a:rPr>
              <a:t>- 1.9x Gross MOIC on $161.9m invested; $174m distributed against $177m contributed after a 6% distribution in May.</a:t>
            </a:r>
          </a:p>
          <a:p>
            <a:pPr>
              <a:spcAft>
                <a:spcPts val="200"/>
              </a:spcAft>
            </a:pPr>
            <a:r>
              <a:rPr sz="800" b="0">
                <a:solidFill>
                  <a:srgbClr val="202945"/>
                </a:solidFill>
              </a:rPr>
              <a:t>- Wide dispersion: Osaic 5.5x, Clarios 4.9x, GFL 2.7x against GoHealth 0.5x and Vesta 0.3x (in forbearance).</a:t>
            </a:r>
          </a:p>
          <a:p>
            <a:pPr>
              <a:spcAft>
                <a:spcPts val="200"/>
              </a:spcAft>
            </a:pPr>
            <a:r>
              <a:rPr sz="800" b="0">
                <a:solidFill>
                  <a:srgbClr val="202945"/>
                </a:solidFill>
              </a:rPr>
              <a:t>- Osaic continuation vehicle in process, targeting up to 50% liquidity at the 5.5x mark — the near-term catalyst.</a:t>
            </a:r>
          </a:p>
        </p:txBody>
      </p:sp>
      <p:sp>
        <p:nvSpPr>
          <p:cNvPr id="27" name="PE Card 4"/>
          <p:cNvSpPr txBox="1"/>
          <p:nvPr/>
        </p:nvSpPr>
        <p:spPr>
          <a:xfrm>
            <a:off x="54387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ECHO</a:t>
            </a:r>
          </a:p>
          <a:p>
            <a:pPr>
              <a:spcAft>
                <a:spcPts val="200"/>
              </a:spcAft>
            </a:pPr>
            <a:r>
              <a:rPr sz="800" b="0">
                <a:solidFill>
                  <a:srgbClr val="202945"/>
                </a:solidFill>
              </a:rPr>
              <a:t>- Two hotels left in the portfolio, in Vienna and Amsterdam. Both will probably sell below NAV.</a:t>
            </a:r>
          </a:p>
          <a:p>
            <a:pPr>
              <a:spcAft>
                <a:spcPts val="200"/>
              </a:spcAft>
            </a:pPr>
            <a:r>
              <a:rPr sz="800" b="0">
                <a:solidFill>
                  <a:srgbClr val="202945"/>
                </a:solidFill>
              </a:rPr>
              <a:t>- Full distribution expected in 2026; the fund reaches the end of its term this year.</a:t>
            </a:r>
          </a:p>
          <a:p>
            <a:pPr>
              <a:spcAft>
                <a:spcPts val="200"/>
              </a:spcAft>
            </a:pPr>
            <a:r>
              <a:rPr sz="800" b="0">
                <a:solidFill>
                  <a:srgbClr val="202945"/>
                </a:solidFill>
              </a:rPr>
              <a:t>- Awaiting information from the liquidator. Figures are as at Q1 2025, a year older than the other three funds.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