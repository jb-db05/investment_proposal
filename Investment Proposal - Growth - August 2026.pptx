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8135" r:id="rId19"/>
    <p:sldId id="2147378136" r:id="rId21"/>
    <p:sldId id="2147379401" r:id="rId38"/>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9"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8" Type="http://schemas.openxmlformats.org/officeDocument/2006/relationships/slide" Target="slides/slide35.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17%</c:v>
                </c:pt>
                <c:pt idx="3">
                  <c:v>Fixed Income  16%</c:v>
                </c:pt>
                <c:pt idx="4">
                  <c:v>Structured Products  5%</c:v>
                </c:pt>
                <c:pt idx="5">
                  <c:v>Other  1%</c:v>
                </c:pt>
                <c:pt idx="6">
                  <c:v>Cash  0.4%</c:v>
                </c:pt>
              </c:strCache>
            </c:strRef>
          </c:cat>
          <c:val>
            <c:numRef>
              <c:f>Sheet1!$B$2:$B$8</c:f>
              <c:numCache>
                <c:formatCode>General</c:formatCode>
                <c:ptCount val="7"/>
                <c:pt idx="0">
                  <c:v>0.33968324000000005</c:v>
                </c:pt>
                <c:pt idx="1">
                  <c:v>0.27351444999999996</c:v>
                </c:pt>
                <c:pt idx="2">
                  <c:v>0.16559767999999997</c:v>
                </c:pt>
                <c:pt idx="3">
                  <c:v>0.15577871</c:v>
                </c:pt>
                <c:pt idx="4">
                  <c:v>0.054549560000000004</c:v>
                </c:pt>
                <c:pt idx="5">
                  <c:v>0.00732644</c:v>
                </c:pt>
                <c:pt idx="6">
                  <c:v>0.00354992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41%</c:v>
                </c:pt>
                <c:pt idx="1">
                  <c:v>CHF  30%</c:v>
                </c:pt>
                <c:pt idx="2">
                  <c:v>EUR  23%</c:v>
                </c:pt>
                <c:pt idx="3">
                  <c:v>GBP  4%</c:v>
                </c:pt>
                <c:pt idx="4">
                  <c:v>XAG  1%</c:v>
                </c:pt>
                <c:pt idx="5">
                  <c:v>XPT  1%</c:v>
                </c:pt>
                <c:pt idx="6">
                  <c:v>SEK  1%</c:v>
                </c:pt>
              </c:strCache>
            </c:strRef>
          </c:cat>
          <c:val>
            <c:numRef>
              <c:f>Sheet1!$B$2:$B$8</c:f>
              <c:numCache>
                <c:formatCode>General</c:formatCode>
                <c:ptCount val="7"/>
                <c:pt idx="0">
                  <c:v>0.40919222</c:v>
                </c:pt>
                <c:pt idx="1">
                  <c:v>0.29650487</c:v>
                </c:pt>
                <c:pt idx="2">
                  <c:v>0.22569295</c:v>
                </c:pt>
                <c:pt idx="3">
                  <c:v>0.03760149</c:v>
                </c:pt>
                <c:pt idx="4">
                  <c:v>0.01108255</c:v>
                </c:pt>
                <c:pt idx="5">
                  <c:v>0.01047123</c:v>
                </c:pt>
                <c:pt idx="6">
                  <c:v>0.0094544</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0.57137451</c:v>
                </c:pt>
                <c:pt idx="1">
                  <c:v>0.29624404</c:v>
                </c:pt>
                <c:pt idx="2">
                  <c:v>0.12500275</c:v>
                </c:pt>
                <c:pt idx="3">
                  <c:v>0.0073787</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 / thematic</c:v>
                </c:pt>
                <c:pt idx="1">
                  <c:v>Eurozone</c:v>
                </c:pt>
                <c:pt idx="2">
                  <c:v>Switzerland</c:v>
                </c:pt>
                <c:pt idx="3">
                  <c:v>UK</c:v>
                </c:pt>
                <c:pt idx="4">
                  <c:v>US</c:v>
                </c:pt>
              </c:strCache>
            </c:strRef>
          </c:cat>
          <c:val>
            <c:numRef>
              <c:f>Sheet1!$B$2:$B$6</c:f>
              <c:numCache>
                <c:formatCode>General</c:formatCode>
                <c:ptCount val="5"/>
                <c:pt idx="0">
                  <c:v>0.45222276</c:v>
                </c:pt>
                <c:pt idx="1">
                  <c:v>0.25505699</c:v>
                </c:pt>
                <c:pt idx="2">
                  <c:v>0.18921519</c:v>
                </c:pt>
                <c:pt idx="3">
                  <c:v>0.05507696</c:v>
                </c:pt>
                <c:pt idx="4">
                  <c:v>0.0484281</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56%</c:v>
                </c:pt>
                <c:pt idx="1">
                  <c:v>Fund  25%</c:v>
                </c:pt>
                <c:pt idx="2">
                  <c:v>Structured / AMC  19%</c:v>
                </c:pt>
              </c:strCache>
            </c:strRef>
          </c:cat>
          <c:val>
            <c:numRef>
              <c:f>Sheet1!$B$2:$B$4</c:f>
              <c:numCache>
                <c:formatCode>General</c:formatCode>
                <c:ptCount val="3"/>
                <c:pt idx="0">
                  <c:v>0.56169737</c:v>
                </c:pt>
                <c:pt idx="1">
                  <c:v>0.24936807000000002</c:v>
                </c:pt>
                <c:pt idx="2">
                  <c:v>0.18893456</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dPt>
            <c:idx val="2"/>
            <c:spPr>
              <a:solidFill>
                <a:srgbClr val="AC5D85"/>
              </a:solidFill>
            </c:spPr>
          </c:dPt>
          <c:cat>
            <c:strRef>
              <c:f>Sheet1!$A$2:$A$4</c:f>
              <c:strCache>
                <c:ptCount val="3"/>
                <c:pt idx="0">
                  <c:v>Fund  51%</c:v>
                </c:pt>
                <c:pt idx="1">
                  <c:v>Direct line  44%</c:v>
                </c:pt>
                <c:pt idx="2">
                  <c:v>Structured / AMC  6%</c:v>
                </c:pt>
              </c:strCache>
            </c:strRef>
          </c:cat>
          <c:val>
            <c:numRef>
              <c:f>Sheet1!$B$2:$B$4</c:f>
              <c:numCache>
                <c:formatCode>General</c:formatCode>
                <c:ptCount val="3"/>
                <c:pt idx="0">
                  <c:v>0.50623703</c:v>
                </c:pt>
                <c:pt idx="1">
                  <c:v>0.43645277</c:v>
                </c:pt>
                <c:pt idx="2">
                  <c:v>0.05731019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0.85866115</c:v>
                </c:pt>
                <c:pt idx="1">
                  <c:v>0.14133885</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cat>
            <c:strRef>
              <c:f>Sheet1!$A$2:$A$5</c:f>
              <c:strCache>
                <c:ptCount val="4"/>
                <c:pt idx="0">
                  <c:v>Listed &amp; daily-liquid  60%</c:v>
                </c:pt>
                <c:pt idx="1">
                  <c:v>Physical assets  21%</c:v>
                </c:pt>
                <c:pt idx="2">
                  <c:v>Illiquid (lock-up)  17%</c:v>
                </c:pt>
                <c:pt idx="3">
                  <c:v>Cash &amp; metal accounts  3%</c:v>
                </c:pt>
              </c:strCache>
            </c:strRef>
          </c:cat>
          <c:val>
            <c:numRef>
              <c:f>Sheet1!$B$2:$B$5</c:f>
              <c:numCache>
                <c:formatCode>General</c:formatCode>
                <c:ptCount val="4"/>
                <c:pt idx="0">
                  <c:v>0.59599617</c:v>
                </c:pt>
                <c:pt idx="1">
                  <c:v>0.21330245</c:v>
                </c:pt>
                <c:pt idx="2">
                  <c:v>0.16559767999999997</c:v>
                </c:pt>
                <c:pt idx="3">
                  <c:v>0.0251037</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Growth EUR 21.1m</a:t>
            </a:r>
            <a:endParaRPr lang="en-GB" sz="1600" b="1" dirty="0"/>
          </a:p>
          <a:p>
            <a:r>
              <a:t/>
            </a:r>
            <a:endParaRPr lang="en-GB" sz="1400" b="1" dirty="0"/>
          </a:p>
          <a:p>
            <a:r>
              <a:rPr lang="en-CH" sz="1100" dirty="0"/>
              <a:t>Prepared for [Client Name]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investment conclusions: August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+32%</a:t>
            </a:r>
          </a:p>
          <a:p>
            <a:pPr algn="ctr"/>
            <a:r>
              <a:rPr lang="en-US" sz="1200" noProof="0" dirty="0">
                <a:solidFill>
                  <a:srgbClr val="202945"/>
                </a:solidFill>
                <a:latin typeface="Nunito Sans"/>
              </a:rPr>
              <a:t>2026e EPS growth, US</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+18%</a:t>
            </a:r>
          </a:p>
          <a:p>
            <a:pPr algn="ctr"/>
            <a:r>
              <a:rPr lang="en-US" sz="1200" noProof="0" dirty="0">
                <a:solidFill>
                  <a:srgbClr val="202945"/>
                </a:solidFill>
                <a:latin typeface="Nunito Sans"/>
              </a:rPr>
              <a:t>2026e EPS growth, Europe</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20x</a:t>
            </a:r>
          </a:p>
          <a:p>
            <a:pPr algn="ctr"/>
            <a:r>
              <a:rPr lang="en-US" sz="1200" noProof="0" dirty="0">
                <a:solidFill>
                  <a:srgbClr val="202945"/>
                </a:solidFill>
                <a:latin typeface="Nunito Sans"/>
              </a:rPr>
              <a:t>S&amp;P 500 forward P/E</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91</a:t>
            </a:r>
            <a:endParaRPr lang="en-US" sz="2400" noProof="0" dirty="0"/>
          </a:p>
          <a:p>
            <a:pPr algn="ctr"/>
            <a:r>
              <a:rPr lang="en-US" sz="1200" noProof="0" dirty="0">
                <a:solidFill>
                  <a:srgbClr val="202945"/>
                </a:solidFill>
                <a:latin typeface="Nunito Sans"/>
              </a:rPr>
              <a:t>US market-factor score</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Tactical asset allocation</a:t>
            </a:r>
          </a:p>
        </p:txBody>
      </p:sp>
      <p:sp>
        <p:nvSpPr>
          <p:cNvPr id="9" name="TextBox"/>
          <p:cNvSpPr txBox="1"/>
          <p:nvPr/>
        </p:nvSpPr>
        <p:spPr>
          <a:xfrm>
            <a:off x="666000" y="4100000"/>
            <a:ext cx="249752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House view</a:t>
            </a:r>
          </a:p>
          <a:p>
            <a:pPr algn="l">
              <a:spcAft>
                <a:spcPts val="600"/>
              </a:spcAft>
            </a:pPr>
            <a:r>
              <a:rPr lang="en-US" sz="1100" b="0" noProof="0" dirty="0">
                <a:solidFill>
                  <a:srgbClr val="202945"/>
                </a:solidFill>
                <a:latin typeface="Nunito Sans"/>
              </a:rPr>
              <a:t>Cash</a:t>
            </a:r>
          </a:p>
          <a:p>
            <a:pPr algn="l">
              <a:spcAft>
                <a:spcPts val="600"/>
              </a:spcAft>
            </a:pPr>
            <a:r>
              <a:rPr lang="en-US" sz="1100" b="0" noProof="0" dirty="0">
                <a:solidFill>
                  <a:srgbClr val="202945"/>
                </a:solidFill>
                <a:latin typeface="Nunito Sans"/>
              </a:rPr>
              <a:t>Equities</a:t>
            </a:r>
          </a:p>
          <a:p>
            <a:pPr algn="l">
              <a:spcAft>
                <a:spcPts val="600"/>
              </a:spcAft>
            </a:pPr>
            <a:r>
              <a:rPr lang="en-US" sz="1100" b="0" noProof="0" dirty="0">
                <a:solidFill>
                  <a:srgbClr val="202945"/>
                </a:solidFill>
                <a:latin typeface="Nunito Sans"/>
              </a:rPr>
              <a:t>Fixed income</a:t>
            </a:r>
          </a:p>
          <a:p>
            <a:pPr algn="l">
              <a:spcAft>
                <a:spcPts val="600"/>
              </a:spcAft>
            </a:pPr>
            <a:r>
              <a:rPr lang="en-US" sz="1100" b="0" noProof="0" dirty="0">
                <a:solidFill>
                  <a:srgbClr val="202945"/>
                </a:solidFill>
                <a:latin typeface="Nunito Sans"/>
              </a:rPr>
              <a:t>Government bonds</a:t>
            </a:r>
          </a:p>
          <a:p>
            <a:pPr algn="l">
              <a:spcAft>
                <a:spcPts val="600"/>
              </a:spcAft>
            </a:pPr>
            <a:r>
              <a:rPr lang="en-US" sz="1100" b="0" noProof="0" dirty="0">
                <a:solidFill>
                  <a:srgbClr val="202945"/>
                </a:solidFill>
                <a:latin typeface="Nunito Sans"/>
              </a:rPr>
              <a:t>Corporate IG and high yield</a:t>
            </a:r>
          </a:p>
          <a:p>
            <a:pPr algn="l">
              <a:spcAft>
                <a:spcPts val="600"/>
              </a:spcAft>
            </a:pPr>
            <a:r>
              <a:rPr lang="en-US" sz="1100" b="0" noProof="0" dirty="0">
                <a:solidFill>
                  <a:srgbClr val="202945"/>
                </a:solidFill>
                <a:latin typeface="Nunito Sans"/>
              </a:rPr>
              <a:t>EM debt</a:t>
            </a:r>
          </a:p>
          <a:p>
            <a:pPr algn="l">
              <a:spcAft>
                <a:spcPts val="600"/>
              </a:spcAft>
            </a:pPr>
            <a:r>
              <a:rPr lang="en-US" sz="1100" b="0" noProof="0" dirty="0">
                <a:solidFill>
                  <a:srgbClr val="202945"/>
                </a:solidFill>
                <a:latin typeface="Nunito Sans"/>
              </a:rPr>
              <a:t>Alternatives, hedge funds</a:t>
            </a:r>
          </a:p>
          <a:p>
            <a:pPr algn="l">
              <a:spcAft>
                <a:spcPts val="600"/>
              </a:spcAft>
            </a:pPr>
            <a:r>
              <a:rPr lang="en-US" sz="1100" b="0" noProof="0" dirty="0">
                <a:solidFill>
                  <a:srgbClr val="202945"/>
                </a:solidFill>
                <a:latin typeface="Nunito Sans"/>
              </a:rPr>
              <a:t>Gold and commodities</a:t>
            </a:r>
          </a:p>
          <a:p>
            <a:pPr algn="l">
              <a:spcAft>
                <a:spcPts val="600"/>
              </a:spcAft>
            </a:pPr>
            <a:r>
              <a:rPr lang="en-US" sz="1100" b="0" noProof="0" dirty="0">
                <a:solidFill>
                  <a:srgbClr val="202945"/>
                </a:solidFill>
                <a:latin typeface="Nunito Sans"/>
              </a:rPr>
              <a:t>EUR, CHF, GBP, EM FX vs USD</a:t>
            </a:r>
          </a:p>
        </p:txBody>
      </p:sp>
      <p:sp>
        <p:nvSpPr>
          <p:cNvPr id="10" name="TextBox"/>
          <p:cNvSpPr txBox="1"/>
          <p:nvPr/>
        </p:nvSpPr>
        <p:spPr>
          <a:xfrm>
            <a:off x="3197520" y="4100000"/>
            <a:ext cx="976884"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Stance</a:t>
            </a:r>
            <a:endParaRPr lang="en-US" sz="1100" noProof="0" dirty="0"/>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p:txBody>
      </p:sp>
      <p:sp>
        <p:nvSpPr>
          <p:cNvPr id="11" name="TextBox"/>
          <p:cNvSpPr txBox="1"/>
          <p:nvPr/>
        </p:nvSpPr>
        <p:spPr>
          <a:xfrm>
            <a:off x="4234404" y="4100000"/>
            <a:ext cx="831596"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Change</a:t>
            </a:r>
            <a:endParaRPr lang="en-US" sz="1100" noProof="0" dirty="0"/>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Upgraded</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No changes to the five pillars</a:t>
            </a:r>
            <a:endParaRPr lang="en-US" sz="1200" noProof="0" dirty="0"/>
          </a:p>
          <a:p>
            <a:pPr algn="l"/>
            <a:r>
              <a:rPr lang="en-US" sz="1100" b="0" noProof="0" dirty="0">
                <a:solidFill>
                  <a:srgbClr val="202945"/>
                </a:solidFill>
                <a:latin typeface="Nunito Sans"/>
              </a:rPr>
              <a:t>Liquidity and valuations stay neutral, market factors and earnings growth positive, the macro cycle moderately positive — none of the five moved.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Earnings are carrying valuations</a:t>
            </a:r>
            <a:endParaRPr lang="en-US" sz="1200" noProof="0" dirty="0"/>
          </a:p>
          <a:p>
            <a:pPr algn="l"/>
            <a:r>
              <a:rPr lang="en-US" sz="1100" b="0" noProof="0" dirty="0">
                <a:solidFill>
                  <a:srgbClr val="202945"/>
                </a:solidFill>
                <a:latin typeface="Nunito Sans"/>
              </a:rPr>
              <a:t>Consensus expects 2026 EPS growth of 32% in the US, 18% in Europe and 19% in Japan, with estimates rising faster than share prices.</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dollar overweight is gone</a:t>
            </a:r>
            <a:endParaRPr lang="en-US" sz="1200" noProof="0" dirty="0"/>
          </a:p>
          <a:p>
            <a:pPr algn="l"/>
            <a:r>
              <a:rPr lang="en-US" sz="1100" b="0" noProof="0" dirty="0">
                <a:solidFill>
                  <a:srgbClr val="202945"/>
                </a:solidFill>
                <a:latin typeface="Nunito Sans"/>
              </a:rPr>
              <a:t>The USD overweight is cut to neutral: all currencies are now neutral against the dollar as Fed hike expectations and the safety bid faded.</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No changes to our five allocation pillars this month; the one move is in FX, where EUR, CHF, GBP and EM currencies shift from underweight to neutral against the US dollar.</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is driving our view: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 and energy</a:t>
            </a:r>
            <a:endParaRPr lang="en-US" sz="1200" noProof="0" dirty="0">
              <a:solidFill>
                <a:schemeClr val="tx2"/>
              </a:solidFill>
            </a:endParaRPr>
          </a:p>
          <a:p>
            <a:pPr algn="l">
              <a:spcAft>
                <a:spcPts val="800"/>
              </a:spcAft>
            </a:pPr>
            <a:r>
              <a:rPr lang="en-US" sz="1100" b="0" noProof="0" dirty="0">
                <a:solidFill>
                  <a:srgbClr val="202945"/>
                </a:solidFill>
                <a:latin typeface="Nunito Sans"/>
              </a:rPr>
              <a:t>The latest escalation is pushing energy prices higher, dampening global growth on top of weaker macro data in the US and China. We expect it settled and energy prices moderating towards the end of Q3.</a:t>
            </a:r>
          </a:p>
          <a:p>
            <a:pPr>
              <a:spcAft>
                <a:spcPts val="800"/>
              </a:spcAft>
            </a:pPr>
            <a:r>
              <a:rPr lang="en-US" sz="1200" b="0" noProof="0" dirty="0">
                <a:solidFill>
                  <a:schemeClr val="tx2"/>
                </a:solidFill>
                <a:latin typeface="Nunito Sans ExtraBold"/>
              </a:rPr>
              <a:t>Strait of Hormuz to reopen</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Central banks pulling apart</a:t>
            </a:r>
          </a:p>
          <a:p>
            <a:pPr algn="l">
              <a:spcAft>
                <a:spcPts val="800"/>
              </a:spcAft>
            </a:pPr>
            <a:r>
              <a:rPr lang="en-US" sz="1100" b="0" noProof="0" dirty="0">
                <a:solidFill>
                  <a:srgbClr val="202945"/>
                </a:solidFill>
                <a:latin typeface="Nunito Sans"/>
              </a:rPr>
              <a:t>Latest CPI prints mostly confirmed the first energy surge's price spikes are over and pipeline pressure has abated, but the new escalation is interrupting that trend and lifting inflation expectations.</a:t>
            </a:r>
          </a:p>
          <a:p>
            <a:pPr>
              <a:spcAft>
                <a:spcPts val="800"/>
              </a:spcAft>
            </a:pPr>
            <a:r>
              <a:rPr lang="en-US" sz="1200" b="0" noProof="0" dirty="0">
                <a:solidFill>
                  <a:schemeClr val="tx2"/>
                </a:solidFill>
                <a:latin typeface="Nunito Sans ExtraBold"/>
              </a:rPr>
              <a:t>ECB and BoJ to hike in H2</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Earnings still doing the work</a:t>
            </a:r>
          </a:p>
          <a:p>
            <a:pPr algn="l">
              <a:spcAft>
                <a:spcPts val="800"/>
              </a:spcAft>
            </a:pPr>
            <a:r>
              <a:rPr lang="en-US" sz="1100" b="0" noProof="0" dirty="0">
                <a:solidFill>
                  <a:srgbClr val="202945"/>
                </a:solidFill>
                <a:latin typeface="Nunito Sans"/>
              </a:rPr>
              <a:t>AI investment continues to support earnings growth, participation is broadening across sectors and regions, margins remain near record highs and management confidence is resilient.</a:t>
            </a:r>
          </a:p>
          <a:p>
            <a:pPr>
              <a:spcAft>
                <a:spcPts val="800"/>
              </a:spcAft>
            </a:pPr>
            <a:r>
              <a:rPr lang="en-US" sz="1200" b="0" noProof="0" dirty="0">
                <a:solidFill>
                  <a:schemeClr val="tx2"/>
                </a:solidFill>
                <a:latin typeface="Nunito Sans ExtraBold"/>
              </a:rPr>
              <a:t>Key risk: higher real yields</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Fiscal support against trade friction</a:t>
            </a:r>
          </a:p>
          <a:p>
            <a:pPr algn="l">
              <a:spcAft>
                <a:spcPts val="800"/>
              </a:spcAft>
            </a:pPr>
            <a:r>
              <a:rPr lang="en-US" sz="1100" b="0" noProof="0" dirty="0">
                <a:solidFill>
                  <a:srgbClr val="202945"/>
                </a:solidFill>
                <a:latin typeface="Nunito Sans"/>
              </a:rPr>
              <a:t>Fiscal policy stays expansive in the US, China and Europe, with extra stimulus to cushion the energy shock. Tariffs and the Middle East crisis still hamper trade, though the impacts are fading.</a:t>
            </a:r>
          </a:p>
          <a:p>
            <a:pPr>
              <a:spcAft>
                <a:spcPts val="800"/>
              </a:spcAft>
            </a:pPr>
            <a:r>
              <a:rPr lang="en-US" sz="1200" b="0" noProof="0" dirty="0">
                <a:solidFill>
                  <a:schemeClr val="tx2"/>
                </a:solidFill>
                <a:latin typeface="Nunito Sans ExtraBold"/>
              </a:rPr>
              <a:t>UMCA talks the next test</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we expect the Fed, the SNB and the Bank of England to hold key rates stable in H2, while the ECB and the Bank of Japan each conduct at least one hike.</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 renewed Middle East escalation and higher energy prices are the swing factor; central banks split between holding and hiking, while earnings growth and expansive fiscal policy keep the trend positive.</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Growth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Long term (7 to 12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 priority, distributions opportunistic</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23577" y="2871594"/>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200" b="1" noProof="0" dirty="0">
                  <a:solidFill>
                    <a:srgbClr val="FFA400"/>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2287" y="3187851"/>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b="0">
                  <a:solidFill>
                    <a:srgbClr val="3AB7C8"/>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1 of 4. Weights as at 5 September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0.4%</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2 of 4. Weights as at 5 September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3.0%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1.9%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21.1M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83.4%</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exposure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Whole portfolio</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Equity sleeve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Regional breakdown of the whole portfolio and, separately, of the equity sleeve — 24 lines, EUR 7.2m, 34.0% of the portfolio.</a:t>
            </a: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466k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SYZ AM(CH) 1 LIQUID MGT D</a:t>
                      </a:r>
                    </a:p>
                  </a:txBody>
                  <a:tcPr marL="45720" marR="45720" anchor="ctr">
                    <a:noFill/>
                  </a:tcPr>
                </a:tc>
                <a:tc>
                  <a:txBody>
                    <a:bodyPr wrap="square"/>
                    <a:lstStyle/>
                    <a:p>
                      <a:pPr algn="l"/>
                      <a:r>
                        <a:rPr sz="900" b="0">
                          <a:solidFill>
                            <a:srgbClr val="202945"/>
                          </a:solidFill>
                        </a:rPr>
                        <a:t>USD 303k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199k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4.03%</a:t>
                      </a:r>
                    </a:p>
                  </a:txBody>
                  <a:tcPr marL="45720" marR="45720" anchor="ctr">
                    <a:noFill/>
                  </a:tcPr>
                </a:tc>
              </a:tr>
            </a:tbl>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635k</a:t>
                      </a:r>
                    </a:p>
                  </a:txBody>
                  <a:tcPr marL="45720" marR="45720" anchor="ctr">
                    <a:noFill/>
                  </a:tcPr>
                </a:tc>
                <a:tc>
                  <a:txBody>
                    <a:bodyPr wrap="square"/>
                    <a:lstStyle/>
                    <a:p>
                      <a:pPr algn="r"/>
                      <a:r>
                        <a:rPr sz="900" b="0">
                          <a:solidFill>
                            <a:srgbClr val="202945"/>
                          </a:solidFill>
                        </a:rPr>
                        <a:t>3.0%</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551k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502k</a:t>
                      </a:r>
                    </a:p>
                  </a:txBody>
                  <a:tcPr marL="45720" marR="45720" anchor="ctr">
                    <a:noFill/>
                  </a:tcPr>
                </a:tc>
                <a:tc>
                  <a:txBody>
                    <a:bodyPr wrap="square"/>
                    <a:lstStyle/>
                    <a:p>
                      <a:pPr algn="r"/>
                      <a:r>
                        <a:rPr sz="900" b="0">
                          <a:solidFill>
                            <a:srgbClr val="202945"/>
                          </a:solidFill>
                        </a:rPr>
                        <a:t>2.4%</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558k</a:t>
                      </a:r>
                    </a:p>
                  </a:txBody>
                  <a:tcPr marL="45720" marR="45720" anchor="ctr">
                    <a:noFill/>
                  </a:tcPr>
                </a:tc>
                <a:tc>
                  <a:txBody>
                    <a:bodyPr wrap="square"/>
                    <a:lstStyle/>
                    <a:p>
                      <a:pPr algn="r"/>
                      <a:r>
                        <a:rPr sz="900" b="0">
                          <a:solidFill>
                            <a:srgbClr val="202945"/>
                          </a:solidFill>
                        </a:rPr>
                        <a:t>2.3%</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435k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1546k</a:t>
                      </a:r>
                    </a:p>
                  </a:txBody>
                  <a:tcPr marL="45720" marR="45720" anchor="ctr">
                    <a:noFill/>
                  </a:tcPr>
                </a:tc>
                <a:tc>
                  <a:txBody>
                    <a:bodyPr wrap="square"/>
                    <a:lstStyle/>
                    <a:p>
                      <a:pPr algn="r"/>
                      <a:r>
                        <a:rPr sz="900" b="0">
                          <a:solidFill>
                            <a:srgbClr val="202945"/>
                          </a:solidFill>
                        </a:rPr>
                        <a:t>6.3%</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3984k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305k</a:t>
                      </a:r>
                    </a:p>
                  </a:txBody>
                  <a:tcPr marL="45720" marR="45720" anchor="ctr">
                    <a:noFill/>
                  </a:tcPr>
                </a:tc>
                <a:tc>
                  <a:txBody>
                    <a:bodyPr wrap="square"/>
                    <a:lstStyle/>
                    <a:p>
                      <a:pPr algn="r"/>
                      <a:r>
                        <a:rPr sz="900" b="0">
                          <a:solidFill>
                            <a:srgbClr val="202945"/>
                          </a:solidFill>
                        </a:rPr>
                        <a:t>1.2%</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221k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207k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228k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5.56%</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242k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212k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RAF 9.45% GOOGL-AMZN-MSFT  24.12.2026</a:t>
                      </a:r>
                    </a:p>
                  </a:txBody>
                  <a:tcPr marL="45720" marR="45720" anchor="ctr">
                    <a:noFill/>
                  </a:tcPr>
                </a:tc>
                <a:tc>
                  <a:txBody>
                    <a:bodyPr wrap="square"/>
                    <a:lstStyle/>
                    <a:p>
                      <a:pPr algn="l"/>
                      <a:r>
                        <a:rPr sz="900" b="0">
                          <a:solidFill>
                            <a:srgbClr val="202945"/>
                          </a:solidFill>
                        </a:rPr>
                        <a:t>USD 202k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7%DCI XAGUSD 57.80 UBS 26  24.09.2026</a:t>
                      </a:r>
                    </a:p>
                  </a:txBody>
                  <a:tcPr marL="45720" marR="45720" anchor="ctr">
                    <a:noFill/>
                  </a:tcPr>
                </a:tc>
                <a:tc>
                  <a:txBody>
                    <a:bodyPr wrap="square"/>
                    <a:lstStyle/>
                    <a:p>
                      <a:pPr algn="l"/>
                      <a:r>
                        <a:rPr sz="900" b="0">
                          <a:solidFill>
                            <a:srgbClr val="202945"/>
                          </a:solidFill>
                        </a:rPr>
                        <a:t>USD 199k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16.6%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59.6% in listed securities and daily-liquid funds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4,230,520</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1,421,857</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1,333,023</a:t>
                      </a:r>
                    </a:p>
                  </a:txBody>
                  <a:tcPr marL="45720" marR="45720" marT="18000" marB="18000" anchor="ctr">
                    <a:noFill/>
                  </a:tcPr>
                </a:tc>
                <a:tc>
                  <a:txBody>
                    <a:bodyPr wrap="square"/>
                    <a:lstStyle/>
                    <a:p>
                      <a:pPr algn="r"/>
                      <a:r>
                        <a:rPr lang="en-US" sz="900" b="0" noProof="0" dirty="0">
                          <a:solidFill>
                            <a:srgbClr val="202945"/>
                          </a:solidFill>
                          <a:latin typeface="Nunito Sans"/>
                        </a:rPr>
                        <a:t>6.3%</a:t>
                      </a:r>
                    </a:p>
                  </a:txBody>
                  <a:tcPr marL="45720" marR="45720" marT="18000" marB="18000" anchor="ctr">
                    <a:noFill/>
                  </a:tcPr>
                </a:tc>
                <a:tc>
                  <a:txBody>
                    <a:bodyPr wrap="square"/>
                    <a:lstStyle/>
                    <a:p>
                      <a:pPr algn="r"/>
                      <a:r>
                        <a:rPr lang="en-US" sz="900" b="0" noProof="0" dirty="0">
                          <a:solidFill>
                            <a:srgbClr val="202945"/>
                          </a:solidFill>
                          <a:latin typeface="Nunito Sans"/>
                        </a:rPr>
                        <a:t>33.2%</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634,779</a:t>
                      </a:r>
                    </a:p>
                  </a:txBody>
                  <a:tcPr marL="45720" marR="45720" marT="18000" marB="18000" anchor="ctr">
                    <a:noFill/>
                  </a:tcPr>
                </a:tc>
                <a:tc>
                  <a:txBody>
                    <a:bodyPr wrap="square"/>
                    <a:lstStyle/>
                    <a:p>
                      <a:pPr algn="r"/>
                      <a:r>
                        <a:rPr lang="en-US" sz="900" b="0" noProof="0" dirty="0">
                          <a:solidFill>
                            <a:srgbClr val="202945"/>
                          </a:solidFill>
                          <a:latin typeface="Nunito Sans"/>
                        </a:rPr>
                        <a:t>3.0%</a:t>
                      </a:r>
                    </a:p>
                  </a:txBody>
                  <a:tcPr marL="45720" marR="45720" marT="18000" marB="18000" anchor="ctr">
                    <a:noFill/>
                  </a:tcPr>
                </a:tc>
                <a:tc>
                  <a:txBody>
                    <a:bodyPr wrap="square"/>
                    <a:lstStyle/>
                    <a:p>
                      <a:pPr algn="r"/>
                      <a:r>
                        <a:rPr lang="en-US" sz="900" b="0" noProof="0" dirty="0">
                          <a:solidFill>
                            <a:srgbClr val="202945"/>
                          </a:solidFill>
                          <a:latin typeface="Nunito Sans"/>
                        </a:rPr>
                        <a:t>36.2%</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620,051</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39.1%</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585,193</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41.9%</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501,721</a:t>
                      </a:r>
                    </a:p>
                  </a:txBody>
                  <a:tcPr marL="45720" marR="45720" marT="18000" marB="18000" anchor="ctr">
                    <a:noFill/>
                  </a:tcPr>
                </a:tc>
                <a:tc>
                  <a:txBody>
                    <a:bodyPr wrap="square"/>
                    <a:lstStyle/>
                    <a:p>
                      <a:pPr algn="r"/>
                      <a:r>
                        <a:rPr lang="en-US" sz="900" b="0" noProof="0" dirty="0">
                          <a:solidFill>
                            <a:srgbClr val="202945"/>
                          </a:solidFill>
                          <a:latin typeface="Nunito Sans"/>
                        </a:rPr>
                        <a:t>2.4%</a:t>
                      </a:r>
                    </a:p>
                  </a:txBody>
                  <a:tcPr marL="45720" marR="45720" marT="18000" marB="18000" anchor="ctr">
                    <a:noFill/>
                  </a:tcPr>
                </a:tc>
                <a:tc>
                  <a:txBody>
                    <a:bodyPr wrap="square"/>
                    <a:lstStyle/>
                    <a:p>
                      <a:pPr algn="r"/>
                      <a:r>
                        <a:rPr lang="en-US" sz="900" b="0" noProof="0" dirty="0">
                          <a:solidFill>
                            <a:srgbClr val="202945"/>
                          </a:solidFill>
                          <a:latin typeface="Nunito Sans"/>
                        </a:rPr>
                        <a:t>44.3%</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481,140</a:t>
                      </a:r>
                    </a:p>
                  </a:txBody>
                  <a:tcPr marL="45720" marR="45720" marT="18000" marB="18000" anchor="ctr">
                    <a:noFill/>
                  </a:tcPr>
                </a:tc>
                <a:tc>
                  <a:txBody>
                    <a:bodyPr wrap="square"/>
                    <a:lstStyle/>
                    <a:p>
                      <a:pPr algn="r"/>
                      <a:r>
                        <a:rPr lang="en-US" sz="900" b="0" noProof="0" dirty="0">
                          <a:solidFill>
                            <a:srgbClr val="202945"/>
                          </a:solidFill>
                          <a:latin typeface="Nunito Sans"/>
                        </a:rPr>
                        <a:t>2.3%</a:t>
                      </a:r>
                    </a:p>
                  </a:txBody>
                  <a:tcPr marL="45720" marR="45720" marT="18000" marB="18000" anchor="ctr">
                    <a:noFill/>
                  </a:tcPr>
                </a:tc>
                <a:tc>
                  <a:txBody>
                    <a:bodyPr wrap="square"/>
                    <a:lstStyle/>
                    <a:p>
                      <a:pPr algn="r"/>
                      <a:r>
                        <a:rPr lang="en-US" sz="900" b="0" noProof="0" dirty="0">
                          <a:solidFill>
                            <a:srgbClr val="202945"/>
                          </a:solidFill>
                          <a:latin typeface="Nunito Sans"/>
                        </a:rPr>
                        <a:t>46.6%</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466,229</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48.8%</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434,515</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50.8%</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39.1%</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50.8%</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66.7%</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74,826</a:t>
                      </a:r>
                    </a:p>
                  </a:txBody>
                  <a:tcPr marL="45720" marR="45720" marT="18000" marB="18000" anchor="ctr">
                    <a:noFill/>
                  </a:tcPr>
                </a:tc>
                <a:tc>
                  <a:txBody>
                    <a:bodyPr wrap="square"/>
                    <a:lstStyle/>
                    <a:p>
                      <a:pPr algn="r"/>
                      <a:r>
                        <a:rPr lang="en-US" sz="900" b="0" noProof="0" dirty="0">
                          <a:solidFill>
                            <a:srgbClr val="202945"/>
                          </a:solidFill>
                          <a:latin typeface="Nunito Sans"/>
                        </a:rPr>
                        <a:t>64.1%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41,981</a:t>
                      </a:r>
                    </a:p>
                  </a:txBody>
                  <a:tcPr marL="45720" marR="45720" marT="18000" marB="18000" anchor="ctr">
                    <a:noFill/>
                  </a:tcPr>
                </a:tc>
                <a:tc>
                  <a:txBody>
                    <a:bodyPr wrap="square"/>
                    <a:lstStyle/>
                    <a:p>
                      <a:pPr algn="r"/>
                      <a:r>
                        <a:rPr lang="en-US" sz="900" b="0" noProof="0" dirty="0">
                          <a:solidFill>
                            <a:srgbClr val="202945"/>
                          </a:solidFill>
                          <a:latin typeface="Nunito Sans"/>
                        </a:rPr>
                        <a:t>35.9%</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-101,080</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2,341,443</a:t>
                      </a:r>
                    </a:p>
                  </a:txBody>
                  <a:tcPr marL="45720" marR="45720" anchor="ctr">
                    <a:noFill/>
                  </a:tcPr>
                </a:tc>
                <a:tc>
                  <a:txBody>
                    <a:bodyPr wrap="square"/>
                    <a:lstStyle/>
                    <a:p>
                      <a:pPr algn="r"/>
                      <a:r>
                        <a:rPr sz="850" b="0">
                          <a:solidFill>
                            <a:srgbClr val="202945"/>
                          </a:solidFill>
                        </a:rPr>
                        <a:t>2.4</a:t>
                      </a:r>
                    </a:p>
                  </a:txBody>
                  <a:tcPr marL="45720" marR="45720" anchor="ctr">
                    <a:noFill/>
                  </a:tcPr>
                </a:tc>
                <a:tc>
                  <a:txBody>
                    <a:bodyPr wrap="square"/>
                    <a:lstStyle/>
                    <a:p>
                      <a:pPr algn="r"/>
                      <a:r>
                        <a:rPr sz="850" b="0">
                          <a:solidFill>
                            <a:srgbClr val="202945"/>
                          </a:solidFill>
                        </a:rPr>
                        <a:t>1.72</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620,051</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320,337</a:t>
                      </a:r>
                    </a:p>
                  </a:txBody>
                  <a:tcPr marL="45720" marR="45720" anchor="ctr">
                    <a:noFill/>
                  </a:tcPr>
                </a:tc>
                <a:tc>
                  <a:txBody>
                    <a:bodyPr wrap="square"/>
                    <a:lstStyle/>
                    <a:p>
                      <a:pPr algn="r"/>
                      <a:r>
                        <a:rPr sz="850" b="0">
                          <a:solidFill>
                            <a:srgbClr val="202945"/>
                          </a:solidFill>
                        </a:rPr>
                        <a:t>0.1</a:t>
                      </a:r>
                    </a:p>
                  </a:txBody>
                  <a:tcPr marL="45720" marR="45720" anchor="ctr">
                    <a:noFill/>
                  </a:tcPr>
                </a:tc>
                <a:tc>
                  <a:txBody>
                    <a:bodyPr wrap="square"/>
                    <a:lstStyle/>
                    <a:p>
                      <a:pPr algn="r"/>
                      <a:r>
                        <a:rPr sz="850" b="0">
                          <a:solidFill>
                            <a:srgbClr val="202945"/>
                          </a:solidFill>
                        </a:rPr>
                        <a:t>0.01</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3 of 4. Weights as at 5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rowSpan="12">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IE00B3VXGD32</a:t>
                      </a:r>
                    </a:p>
                  </a:txBody>
                  <a:tcPr marL="45720" marR="45720" marT="9144" marB="9144" anchor="ctr">
                    <a:noFill/>
                  </a:tcPr>
                </a:tc>
                <a:tc>
                  <a:txBody>
                    <a:bodyPr wrap="square"/>
                    <a:lstStyle/>
                    <a:p>
                      <a:pPr algn="l"/>
                      <a:r>
                        <a:rPr sz="950" b="0">
                          <a:solidFill>
                            <a:srgbClr val="202945"/>
                          </a:solidFill>
                          <a:latin typeface="Calibri"/>
                        </a:rPr>
                        <a:t>POLAR BIOTECHNOLOGY R EUR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CH1600459676</a:t>
                      </a:r>
                    </a:p>
                  </a:txBody>
                  <a:tcPr marL="45720" marR="45720" marT="9144" marB="9144" anchor="ctr">
                    <a:noFill/>
                  </a:tcPr>
                </a:tc>
                <a:tc>
                  <a:txBody>
                    <a:bodyPr wrap="square"/>
                    <a:lstStyle/>
                    <a:p>
                      <a:pPr algn="l"/>
                      <a:r>
                        <a:rPr sz="950" b="0">
                          <a:solidFill>
                            <a:srgbClr val="202945"/>
                          </a:solidFill>
                          <a:latin typeface="Calibri"/>
                        </a:rPr>
                        <a:t>7%DCI XAGUSD 57.80 UBS 26  24.09.2026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4 of 4. Weights as at 5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16.6%</a:t>
                      </a:r>
                    </a:p>
                  </a:txBody>
                  <a:tcPr marL="45720" marR="45720" marT="9144" marB="9144" anchor="ctr">
                    <a:solidFill>
                      <a:srgbClr val="AC5D85"/>
                    </a:solidFill>
                  </a:tcPr>
                </a:tc>
              </a:tr>
              <a:tr h="205000">
                <a:tc rowSpan="7">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27.4%</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0.7%</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equity: fund-by-fund review</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992820" y="987662"/>
            <a:ext cx="487376" cy="487376"/>
          </a:xfrm>
          <a:prstGeom prst="rect">
            <a:avLst/>
          </a:prstGeom>
        </p:spPr>
      </p:pic>
      <p:sp>
        <p:nvSpPr>
          <p:cNvPr id="22"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Manager-reported metrics for the four private-market funds held in the portfolio, as at Q1 2026 — ECHO as at Q1 2025, the latest reporting available.</a:t>
            </a:r>
          </a:p>
        </p:txBody>
      </p:sp>
      <p:graphicFrame>
        <p:nvGraphicFramePr>
          <p:cNvPr id="23" name="Table 22"/>
          <p:cNvGraphicFramePr>
            <a:graphicFrameLocks noGrp="1"/>
          </p:cNvGraphicFramePr>
          <p:nvPr/>
        </p:nvGraphicFramePr>
        <p:xfrm>
          <a:off x="665163" y="2232000"/>
          <a:ext cx="9399600" cy="1710000"/>
        </p:xfrm>
        <a:graphic>
          <a:graphicData uri="http://schemas.openxmlformats.org/drawingml/2006/table">
            <a:tbl>
              <a:tblPr firstRow="1" bandRow="1">
                <a:tableStyleId>{5C22544A-7EE6-4342-B048-85BDC9FD1C3A}</a:tableStyleId>
              </a:tblPr>
              <a:tblGrid>
                <a:gridCol w="1440000"/>
                <a:gridCol w="540000"/>
                <a:gridCol w="468000"/>
                <a:gridCol w="360000"/>
                <a:gridCol w="648000"/>
                <a:gridCol w="1332000"/>
                <a:gridCol w="468000"/>
                <a:gridCol w="540000"/>
                <a:gridCol w="1440000"/>
                <a:gridCol w="2163600"/>
              </a:tblGrid>
              <a:tr h="342000">
                <a:tc>
                  <a:txBody>
                    <a:bodyPr wrap="square"/>
                    <a:lstStyle/>
                    <a:p>
                      <a:pPr algn="l"/>
                      <a:r>
                        <a:rPr sz="900" b="1">
                          <a:solidFill>
                            <a:srgbClr val="202945"/>
                          </a:solidFill>
                        </a:rPr>
                        <a:t>Fund</a:t>
                      </a:r>
                    </a:p>
                  </a:txBody>
                  <a:tcPr marL="45720" marR="45720" anchor="ctr">
                    <a:solidFill>
                      <a:srgbClr val="FFC545"/>
                    </a:solidFill>
                  </a:tcPr>
                </a:tc>
                <a:tc>
                  <a:txBody>
                    <a:bodyPr wrap="square"/>
                    <a:lstStyle/>
                    <a:p>
                      <a:pPr algn="l"/>
                      <a:r>
                        <a:rPr sz="900" b="1">
                          <a:solidFill>
                            <a:srgbClr val="202945"/>
                          </a:solidFill>
                        </a:rPr>
                        <a:t>Vintage</a:t>
                      </a:r>
                    </a:p>
                  </a:txBody>
                  <a:tcPr marL="45720" marR="45720" anchor="ctr">
                    <a:solidFill>
                      <a:srgbClr val="FFC545"/>
                    </a:solidFill>
                  </a:tcPr>
                </a:tc>
                <a:tc>
                  <a:txBody>
                    <a:bodyPr wrap="square"/>
                    <a:lstStyle/>
                    <a:p>
                      <a:pPr algn="l"/>
                      <a:r>
                        <a:rPr sz="900" b="1">
                          <a:solidFill>
                            <a:srgbClr val="202945"/>
                          </a:solidFill>
                        </a:rPr>
                        <a:t>Term</a:t>
                      </a:r>
                    </a:p>
                  </a:txBody>
                  <a:tcPr marL="45720" marR="45720" anchor="ctr">
                    <a:solidFill>
                      <a:srgbClr val="FFC545"/>
                    </a:solidFill>
                  </a:tcPr>
                </a:tc>
                <a:tc>
                  <a:txBody>
                    <a:bodyPr wrap="square"/>
                    <a:lstStyle/>
                    <a:p>
                      <a:pPr algn="l"/>
                      <a:r>
                        <a:rPr sz="900" b="1">
                          <a:solidFill>
                            <a:srgbClr val="202945"/>
                          </a:solidFill>
                        </a:rPr>
                        <a:t>Ccy</a:t>
                      </a:r>
                    </a:p>
                  </a:txBody>
                  <a:tcPr marL="45720" marR="45720" anchor="ctr">
                    <a:solidFill>
                      <a:srgbClr val="FFC545"/>
                    </a:solidFill>
                  </a:tcPr>
                </a:tc>
                <a:tc>
                  <a:txBody>
                    <a:bodyPr wrap="square"/>
                    <a:lstStyle/>
                    <a:p>
                      <a:pPr algn="l"/>
                      <a:r>
                        <a:rPr sz="900" b="1">
                          <a:solidFill>
                            <a:srgbClr val="202945"/>
                          </a:solidFill>
                        </a:rPr>
                        <a:t>As of</a:t>
                      </a:r>
                    </a:p>
                  </a:txBody>
                  <a:tcPr marL="45720" marR="45720" anchor="ctr">
                    <a:solidFill>
                      <a:srgbClr val="FFC545"/>
                    </a:solidFill>
                  </a:tcPr>
                </a:tc>
                <a:tc>
                  <a:txBody>
                    <a:bodyPr wrap="square"/>
                    <a:lstStyle/>
                    <a:p>
                      <a:pPr algn="l"/>
                      <a:r>
                        <a:rPr sz="900" b="1">
                          <a:solidFill>
                            <a:srgbClr val="202945"/>
                          </a:solidFill>
                        </a:rPr>
                        <a:t>TVPI / MOIC</a:t>
                      </a:r>
                    </a:p>
                  </a:txBody>
                  <a:tcPr marL="45720" marR="45720" anchor="ctr">
                    <a:solidFill>
                      <a:srgbClr val="FFC545"/>
                    </a:solidFill>
                  </a:tcPr>
                </a:tc>
                <a:tc>
                  <a:txBody>
                    <a:bodyPr wrap="square"/>
                    <a:lstStyle/>
                    <a:p>
                      <a:pPr algn="l"/>
                      <a:r>
                        <a:rPr sz="900" b="1">
                          <a:solidFill>
                            <a:srgbClr val="202945"/>
                          </a:solidFill>
                        </a:rPr>
                        <a:t>DPI</a:t>
                      </a:r>
                    </a:p>
                  </a:txBody>
                  <a:tcPr marL="45720" marR="45720" anchor="ctr">
                    <a:solidFill>
                      <a:srgbClr val="FFC545"/>
                    </a:solidFill>
                  </a:tcPr>
                </a:tc>
                <a:tc>
                  <a:txBody>
                    <a:bodyPr wrap="square"/>
                    <a:lstStyle/>
                    <a:p>
                      <a:pPr algn="l"/>
                      <a:r>
                        <a:rPr sz="900" b="1">
                          <a:solidFill>
                            <a:srgbClr val="202945"/>
                          </a:solidFill>
                        </a:rPr>
                        <a:t>Called</a:t>
                      </a:r>
                    </a:p>
                  </a:txBody>
                  <a:tcPr marL="45720" marR="45720" anchor="ctr">
                    <a:solidFill>
                      <a:srgbClr val="FFC545"/>
                    </a:solidFill>
                  </a:tcPr>
                </a:tc>
                <a:tc>
                  <a:txBody>
                    <a:bodyPr wrap="square"/>
                    <a:lstStyle/>
                    <a:p>
                      <a:pPr algn="l"/>
                      <a:r>
                        <a:rPr sz="900" b="1">
                          <a:solidFill>
                            <a:srgbClr val="202945"/>
                          </a:solidFill>
                        </a:rPr>
                        <a:t>Expected calls (4Q)</a:t>
                      </a:r>
                    </a:p>
                  </a:txBody>
                  <a:tcPr marL="45720" marR="45720" anchor="ctr">
                    <a:solidFill>
                      <a:srgbClr val="FFC545"/>
                    </a:solidFill>
                  </a:tcPr>
                </a:tc>
                <a:tc>
                  <a:txBody>
                    <a:bodyPr wrap="square"/>
                    <a:lstStyle/>
                    <a:p>
                      <a:pPr algn="l"/>
                      <a:r>
                        <a:rPr sz="900" b="1">
                          <a:solidFill>
                            <a:srgbClr val="202945"/>
                          </a:solidFill>
                        </a:rPr>
                        <a:t>Expected distrib. (4Q)</a:t>
                      </a:r>
                    </a:p>
                  </a:txBody>
                  <a:tcPr marL="45720" marR="45720" anchor="ctr">
                    <a:solidFill>
                      <a:srgbClr val="FFC545"/>
                    </a:solidFill>
                  </a:tcPr>
                </a:tc>
              </a:tr>
              <a:tr h="342000">
                <a:tc>
                  <a:txBody>
                    <a:bodyPr wrap="square"/>
                    <a:lstStyle/>
                    <a:p>
                      <a:pPr algn="l"/>
                      <a:r>
                        <a:rPr sz="900" b="1">
                          <a:solidFill>
                            <a:srgbClr val="202945"/>
                          </a:solidFill>
                        </a:rPr>
                        <a:t>Themis I</a:t>
                      </a:r>
                    </a:p>
                  </a:txBody>
                  <a:tcPr marL="45720" marR="45720" anchor="ctr">
                    <a:noFill/>
                  </a:tcPr>
                </a:tc>
                <a:tc>
                  <a:txBody>
                    <a:bodyPr wrap="square"/>
                    <a:lstStyle/>
                    <a:p>
                      <a:pPr algn="l"/>
                      <a:r>
                        <a:rPr sz="900" b="0">
                          <a:solidFill>
                            <a:srgbClr val="202945"/>
                          </a:solidFill>
                        </a:rPr>
                        <a:t>2020</a:t>
                      </a:r>
                    </a:p>
                  </a:txBody>
                  <a:tcPr marL="45720" marR="45720" anchor="ctr">
                    <a:noFill/>
                  </a:tcPr>
                </a:tc>
                <a:tc>
                  <a:txBody>
                    <a:bodyPr wrap="square"/>
                    <a:lstStyle/>
                    <a:p>
                      <a:pPr algn="l"/>
                      <a:r>
                        <a:rPr sz="900" b="0">
                          <a:solidFill>
                            <a:srgbClr val="202945"/>
                          </a:solidFill>
                        </a:rPr>
                        <a:t>2028</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0.98x Net TVPI</a:t>
                      </a:r>
                    </a:p>
                  </a:txBody>
                  <a:tcPr marL="45720" marR="45720" anchor="ctr">
                    <a:noFill/>
                  </a:tcPr>
                </a:tc>
                <a:tc>
                  <a:txBody>
                    <a:bodyPr wrap="square"/>
                    <a:lstStyle/>
                    <a:p>
                      <a:pPr algn="l"/>
                      <a:r>
                        <a:rPr sz="900" b="0">
                          <a:solidFill>
                            <a:srgbClr val="202945"/>
                          </a:solidFill>
                        </a:rPr>
                        <a:t>0.33x</a:t>
                      </a:r>
                    </a:p>
                  </a:txBody>
                  <a:tcPr marL="45720" marR="45720" anchor="ctr">
                    <a:noFill/>
                  </a:tcPr>
                </a:tc>
                <a:tc>
                  <a:txBody>
                    <a:bodyPr wrap="square"/>
                    <a:lstStyle/>
                    <a:p>
                      <a:pPr algn="l"/>
                      <a:r>
                        <a:rPr sz="900" b="0">
                          <a:solidFill>
                            <a:srgbClr val="202945"/>
                          </a:solidFill>
                        </a:rPr>
                        <a:t>70%</a:t>
                      </a:r>
                    </a:p>
                  </a:txBody>
                  <a:tcPr marL="45720" marR="45720" anchor="ctr">
                    <a:noFill/>
                  </a:tcPr>
                </a:tc>
                <a:tc>
                  <a:txBody>
                    <a:bodyPr wrap="square"/>
                    <a:lstStyle/>
                    <a:p>
                      <a:pPr algn="l"/>
                      <a:r>
                        <a:rPr sz="900" b="0">
                          <a:solidFill>
                            <a:srgbClr val="202945"/>
                          </a:solidFill>
                        </a:rPr>
                        <a:t>10-20%</a:t>
                      </a:r>
                    </a:p>
                  </a:txBody>
                  <a:tcPr marL="45720" marR="45720" anchor="ctr">
                    <a:noFill/>
                  </a:tcPr>
                </a:tc>
                <a:tc>
                  <a:txBody>
                    <a:bodyPr wrap="square"/>
                    <a:lstStyle/>
                    <a:p>
                      <a:pPr algn="l"/>
                      <a:r>
                        <a:rPr sz="900" b="0">
                          <a:solidFill>
                            <a:srgbClr val="202945"/>
                          </a:solidFill>
                        </a:rPr>
                        <a:t>10-20%</a:t>
                      </a:r>
                    </a:p>
                  </a:txBody>
                  <a:tcPr marL="45720" marR="45720" anchor="ctr">
                    <a:noFill/>
                  </a:tcPr>
                </a:tc>
              </a:tr>
              <a:tr h="342000">
                <a:tc>
                  <a:txBody>
                    <a:bodyPr wrap="square"/>
                    <a:lstStyle/>
                    <a:p>
                      <a:pPr algn="l"/>
                      <a:r>
                        <a:rPr sz="900" b="1">
                          <a:solidFill>
                            <a:srgbClr val="202945"/>
                          </a:solidFill>
                        </a:rPr>
                        <a:t>Left Lane CP II LP 2</a:t>
                      </a:r>
                    </a:p>
                  </a:txBody>
                  <a:tcPr marL="45720" marR="45720" anchor="ctr">
                    <a:noFill/>
                  </a:tcPr>
                </a:tc>
                <a:tc>
                  <a:txBody>
                    <a:bodyPr wrap="square"/>
                    <a:lstStyle/>
                    <a:p>
                      <a:pPr algn="l"/>
                      <a:r>
                        <a:rPr sz="900" b="0">
                          <a:solidFill>
                            <a:srgbClr val="202945"/>
                          </a:solidFill>
                        </a:rPr>
                        <a:t>2021</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1.60x Net MOIC</a:t>
                      </a:r>
                    </a:p>
                  </a:txBody>
                  <a:tcPr marL="45720" marR="45720" anchor="ctr">
                    <a:noFill/>
                  </a:tcPr>
                </a:tc>
                <a:tc>
                  <a:txBody>
                    <a:bodyPr wrap="square"/>
                    <a:lstStyle/>
                    <a:p>
                      <a:pPr algn="l"/>
                      <a:r>
                        <a:rPr sz="900" b="0">
                          <a:solidFill>
                            <a:srgbClr val="202945"/>
                          </a:solidFill>
                        </a:rPr>
                        <a:t>0.00x</a:t>
                      </a:r>
                    </a:p>
                  </a:txBody>
                  <a:tcPr marL="45720" marR="45720" anchor="ctr">
                    <a:noFill/>
                  </a:tcPr>
                </a:tc>
                <a:tc>
                  <a:txBody>
                    <a:bodyPr wrap="square"/>
                    <a:lstStyle/>
                    <a:p>
                      <a:pPr algn="l"/>
                      <a:r>
                        <a:rPr sz="900" b="0">
                          <a:solidFill>
                            <a:srgbClr val="202945"/>
                          </a:solidFill>
                        </a:rPr>
                        <a:t>88%</a:t>
                      </a:r>
                    </a:p>
                  </a:txBody>
                  <a:tcPr marL="45720" marR="45720" anchor="ctr">
                    <a:noFill/>
                  </a:tcPr>
                </a:tc>
                <a:tc>
                  <a:txBody>
                    <a:bodyPr wrap="square"/>
                    <a:lstStyle/>
                    <a:p>
                      <a:pPr algn="l"/>
                      <a:r>
                        <a:rPr sz="900" b="0">
                          <a:solidFill>
                            <a:srgbClr val="202945"/>
                          </a:solidFill>
                        </a:rPr>
                        <a:t>3-4% (April 2026)</a:t>
                      </a:r>
                    </a:p>
                  </a:txBody>
                  <a:tcPr marL="45720" marR="45720" anchor="ctr">
                    <a:noFill/>
                  </a:tcPr>
                </a:tc>
                <a:tc>
                  <a:txBody>
                    <a:bodyPr wrap="square"/>
                    <a:lstStyle/>
                    <a:p>
                      <a:pPr algn="l"/>
                      <a:r>
                        <a:rPr sz="900" b="0">
                          <a:solidFill>
                            <a:srgbClr val="202945"/>
                          </a:solidFill>
                        </a:rPr>
                        <a:t>Not indicated</a:t>
                      </a:r>
                    </a:p>
                  </a:txBody>
                  <a:tcPr marL="45720" marR="45720" anchor="ctr">
                    <a:noFill/>
                  </a:tcPr>
                </a:tc>
              </a:tr>
              <a:tr h="342000">
                <a:tc>
                  <a:txBody>
                    <a:bodyPr wrap="square"/>
                    <a:lstStyle/>
                    <a:p>
                      <a:pPr algn="l"/>
                      <a:r>
                        <a:rPr sz="900" b="1">
                          <a:solidFill>
                            <a:srgbClr val="202945"/>
                          </a:solidFill>
                        </a:rPr>
                        <a:t>ACE Buyout III</a:t>
                      </a:r>
                    </a:p>
                  </a:txBody>
                  <a:tcPr marL="45720" marR="45720" anchor="ctr">
                    <a:noFill/>
                  </a:tcPr>
                </a:tc>
                <a:tc>
                  <a:txBody>
                    <a:bodyPr wrap="square"/>
                    <a:lstStyle/>
                    <a:p>
                      <a:pPr algn="l"/>
                      <a:r>
                        <a:rPr sz="900" b="0">
                          <a:solidFill>
                            <a:srgbClr val="202945"/>
                          </a:solidFill>
                        </a:rPr>
                        <a:t>2017</a:t>
                      </a:r>
                    </a:p>
                  </a:txBody>
                  <a:tcPr marL="45720" marR="45720" anchor="ctr">
                    <a:noFill/>
                  </a:tcPr>
                </a:tc>
                <a:tc>
                  <a:txBody>
                    <a:bodyPr wrap="square"/>
                    <a:lstStyle/>
                    <a:p>
                      <a:pPr algn="l"/>
                      <a:r>
                        <a:rPr sz="900" b="0">
                          <a:solidFill>
                            <a:srgbClr val="202945"/>
                          </a:solidFill>
                        </a:rPr>
                        <a:t>2027</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1.9x Gross MOIC</a:t>
                      </a:r>
                    </a:p>
                  </a:txBody>
                  <a:tcPr marL="45720" marR="45720" anchor="ctr">
                    <a:noFill/>
                  </a:tcPr>
                </a:tc>
                <a:tc>
                  <a:txBody>
                    <a:bodyPr wrap="square"/>
                    <a:lstStyle/>
                    <a:p>
                      <a:pPr algn="l"/>
                      <a:r>
                        <a:rPr sz="900" b="0">
                          <a:solidFill>
                            <a:srgbClr val="202945"/>
                          </a:solidFill>
                        </a:rPr>
                        <a:t>0.98x</a:t>
                      </a:r>
                    </a:p>
                  </a:txBody>
                  <a:tcPr marL="45720" marR="45720" anchor="ctr">
                    <a:noFill/>
                  </a:tcPr>
                </a:tc>
                <a:tc>
                  <a:txBody>
                    <a:bodyPr wrap="square"/>
                    <a:lstStyle/>
                    <a:p>
                      <a:pPr algn="l"/>
                      <a:r>
                        <a:rPr sz="900" b="0">
                          <a:solidFill>
                            <a:srgbClr val="202945"/>
                          </a:solidFill>
                        </a:rPr>
                        <a:t>98%</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Expected, size not indicated</a:t>
                      </a:r>
                    </a:p>
                  </a:txBody>
                  <a:tcPr marL="45720" marR="45720" anchor="ctr">
                    <a:noFill/>
                  </a:tcPr>
                </a:tc>
              </a:tr>
              <a:tr h="342000">
                <a:tc>
                  <a:txBody>
                    <a:bodyPr wrap="square"/>
                    <a:lstStyle/>
                    <a:p>
                      <a:pPr algn="l"/>
                      <a:r>
                        <a:rPr sz="900" b="1">
                          <a:solidFill>
                            <a:srgbClr val="202945"/>
                          </a:solidFill>
                        </a:rPr>
                        <a:t>ECHO</a:t>
                      </a:r>
                    </a:p>
                  </a:txBody>
                  <a:tcPr marL="45720" marR="45720" anchor="ctr">
                    <a:noFill/>
                  </a:tcPr>
                </a:tc>
                <a:tc>
                  <a:txBody>
                    <a:bodyPr wrap="square"/>
                    <a:lstStyle/>
                    <a:p>
                      <a:pPr algn="l"/>
                      <a:r>
                        <a:rPr sz="900" b="0">
                          <a:solidFill>
                            <a:srgbClr val="202945"/>
                          </a:solidFill>
                        </a:rPr>
                        <a:t>2019</a:t>
                      </a:r>
                    </a:p>
                  </a:txBody>
                  <a:tcPr marL="45720" marR="45720" anchor="ctr">
                    <a:noFill/>
                  </a:tcPr>
                </a:tc>
                <a:tc>
                  <a:txBody>
                    <a:bodyPr wrap="square"/>
                    <a:lstStyle/>
                    <a:p>
                      <a:pPr algn="l"/>
                      <a:r>
                        <a:rPr sz="900" b="0">
                          <a:solidFill>
                            <a:srgbClr val="202945"/>
                          </a:solidFill>
                        </a:rPr>
                        <a:t>2026</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2025 Q1</a:t>
                      </a:r>
                    </a:p>
                  </a:txBody>
                  <a:tcPr marL="45720" marR="45720" anchor="ctr">
                    <a:noFill/>
                  </a:tcPr>
                </a:tc>
                <a:tc>
                  <a:txBody>
                    <a:bodyPr wrap="square"/>
                    <a:lstStyle/>
                    <a:p>
                      <a:pPr algn="l"/>
                      <a:r>
                        <a:rPr sz="900" b="0">
                          <a:solidFill>
                            <a:srgbClr val="202945"/>
                          </a:solidFill>
                        </a:rPr>
                        <a:t>0.95x Net TVPI</a:t>
                      </a:r>
                    </a:p>
                  </a:txBody>
                  <a:tcPr marL="45720" marR="45720" anchor="ctr">
                    <a:noFill/>
                  </a:tcPr>
                </a:tc>
                <a:tc>
                  <a:txBody>
                    <a:bodyPr wrap="square"/>
                    <a:lstStyle/>
                    <a:p>
                      <a:pPr algn="l"/>
                      <a:r>
                        <a:rPr sz="900" b="0">
                          <a:solidFill>
                            <a:srgbClr val="202945"/>
                          </a:solidFill>
                        </a:rPr>
                        <a:t>0.30x</a:t>
                      </a:r>
                    </a:p>
                  </a:txBody>
                  <a:tcPr marL="45720" marR="45720" anchor="ctr">
                    <a:noFill/>
                  </a:tcPr>
                </a:tc>
                <a:tc>
                  <a:txBody>
                    <a:bodyPr wrap="square"/>
                    <a:lstStyle/>
                    <a:p>
                      <a:pPr algn="l"/>
                      <a:r>
                        <a:rPr sz="900" b="0">
                          <a:solidFill>
                            <a:srgbClr val="202945"/>
                          </a:solidFill>
                        </a:rPr>
                        <a:t>66%</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Full distribution in 2026</a:t>
                      </a:r>
                    </a:p>
                  </a:txBody>
                  <a:tcPr marL="45720" marR="45720" anchor="ctr">
                    <a:noFill/>
                  </a:tcPr>
                </a:tc>
              </a:tr>
            </a:tbl>
          </a:graphicData>
        </a:graphic>
      </p:graphicFrame>
      <p:sp>
        <p:nvSpPr>
          <p:cNvPr id="24" name="PE Card 1"/>
          <p:cNvSpPr txBox="1"/>
          <p:nvPr/>
        </p:nvSpPr>
        <p:spPr>
          <a:xfrm>
            <a:off x="6651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Themis I</a:t>
            </a:r>
          </a:p>
          <a:p>
            <a:pPr>
              <a:spcAft>
                <a:spcPts val="200"/>
              </a:spcAft>
            </a:pPr>
            <a:r>
              <a:rPr sz="800" b="0">
                <a:solidFill>
                  <a:srgbClr val="202945"/>
                </a:solidFill>
              </a:rPr>
              <a:t>- 69.9% of commitments paid in at Q1-26, with a further 5% called in April. Next distribution expected Q3/Q4 2026.</a:t>
            </a:r>
          </a:p>
          <a:p>
            <a:pPr>
              <a:spcAft>
                <a:spcPts val="200"/>
              </a:spcAft>
            </a:pPr>
            <a:r>
              <a:rPr sz="800" b="0">
                <a:solidFill>
                  <a:srgbClr val="202945"/>
                </a:solidFill>
              </a:rPr>
              <a:t>- Diversified across 107 cases, 74 still ongoing — competition, commercial, class action and litigation finance in Europe, the US and Australia.</a:t>
            </a:r>
          </a:p>
          <a:p>
            <a:pPr>
              <a:spcAft>
                <a:spcPts val="200"/>
              </a:spcAft>
            </a:pPr>
            <a:r>
              <a:rPr sz="800" b="0">
                <a:solidFill>
                  <a:srgbClr val="202945"/>
                </a:solidFill>
              </a:rPr>
              <a:t>- 20 wins against 13 losses, ~$19.7m cumulative profit from resolved matters. Still largely in the maturation phase.</a:t>
            </a:r>
          </a:p>
        </p:txBody>
      </p:sp>
      <p:sp>
        <p:nvSpPr>
          <p:cNvPr id="25" name="PE Card 2"/>
          <p:cNvSpPr txBox="1"/>
          <p:nvPr/>
        </p:nvSpPr>
        <p:spPr>
          <a:xfrm>
            <a:off x="54387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Left Lane CP II LP 2</a:t>
            </a:r>
          </a:p>
          <a:p>
            <a:pPr>
              <a:spcAft>
                <a:spcPts val="200"/>
              </a:spcAft>
            </a:pPr>
            <a:r>
              <a:rPr sz="800" b="0">
                <a:solidFill>
                  <a:srgbClr val="202945"/>
                </a:solidFill>
              </a:rPr>
              <a:t>- 29.6% Gross IRR / 2.0x Gross MOIC; 20.8% Net IRR / 1.6x Net MOIC.</a:t>
            </a:r>
          </a:p>
          <a:p>
            <a:pPr>
              <a:spcAft>
                <a:spcPts val="200"/>
              </a:spcAft>
            </a:pPr>
            <a:r>
              <a:rPr sz="800" b="0">
                <a:solidFill>
                  <a:srgbClr val="202945"/>
                </a:solidFill>
              </a:rPr>
              <a:t>- $1.16bn invested across 70 companies, ~$70m dry powder. $27.7m of Q1 follow-ons into 11 existing positions.</a:t>
            </a:r>
          </a:p>
          <a:p>
            <a:pPr>
              <a:spcAft>
                <a:spcPts val="200"/>
              </a:spcAft>
            </a:pPr>
            <a:r>
              <a:rPr sz="800" b="0">
                <a:solidFill>
                  <a:srgbClr val="202945"/>
                </a:solidFill>
              </a:rPr>
              <a:t>- DPI still zero; only 39 of 68 unrealised positions above cost. First exits building — Steno secondary at 2.7x, Composer acquired, Rei Do Pitaco pending.</a:t>
            </a:r>
          </a:p>
        </p:txBody>
      </p:sp>
      <p:sp>
        <p:nvSpPr>
          <p:cNvPr id="26" name="PE Card 3"/>
          <p:cNvSpPr txBox="1"/>
          <p:nvPr/>
        </p:nvSpPr>
        <p:spPr>
          <a:xfrm>
            <a:off x="6651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ACE Buyout III</a:t>
            </a:r>
          </a:p>
          <a:p>
            <a:pPr>
              <a:spcAft>
                <a:spcPts val="200"/>
              </a:spcAft>
            </a:pPr>
            <a:r>
              <a:rPr sz="800" b="0">
                <a:solidFill>
                  <a:srgbClr val="202945"/>
                </a:solidFill>
              </a:rPr>
              <a:t>- 1.9x Gross MOIC on $161.9m invested; $174m distributed against $177m contributed after a 6% distribution in May.</a:t>
            </a:r>
          </a:p>
          <a:p>
            <a:pPr>
              <a:spcAft>
                <a:spcPts val="200"/>
              </a:spcAft>
            </a:pPr>
            <a:r>
              <a:rPr sz="800" b="0">
                <a:solidFill>
                  <a:srgbClr val="202945"/>
                </a:solidFill>
              </a:rPr>
              <a:t>- Wide dispersion: Osaic 5.5x, Clarios 4.9x, GFL 2.7x against GoHealth 0.5x and Vesta 0.3x (in forbearance).</a:t>
            </a:r>
          </a:p>
          <a:p>
            <a:pPr>
              <a:spcAft>
                <a:spcPts val="200"/>
              </a:spcAft>
            </a:pPr>
            <a:r>
              <a:rPr sz="800" b="0">
                <a:solidFill>
                  <a:srgbClr val="202945"/>
                </a:solidFill>
              </a:rPr>
              <a:t>- Osaic continuation vehicle in process, targeting up to 50% liquidity at the 5.5x mark — the near-term catalyst.</a:t>
            </a:r>
          </a:p>
        </p:txBody>
      </p:sp>
      <p:sp>
        <p:nvSpPr>
          <p:cNvPr id="27" name="PE Card 4"/>
          <p:cNvSpPr txBox="1"/>
          <p:nvPr/>
        </p:nvSpPr>
        <p:spPr>
          <a:xfrm>
            <a:off x="54387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ECHO</a:t>
            </a:r>
          </a:p>
          <a:p>
            <a:pPr>
              <a:spcAft>
                <a:spcPts val="200"/>
              </a:spcAft>
            </a:pPr>
            <a:r>
              <a:rPr sz="800" b="0">
                <a:solidFill>
                  <a:srgbClr val="202945"/>
                </a:solidFill>
              </a:rPr>
              <a:t>- Two hotels left in the portfolio, in Vienna and Amsterdam. Both will probably sell below NAV.</a:t>
            </a:r>
          </a:p>
          <a:p>
            <a:pPr>
              <a:spcAft>
                <a:spcPts val="200"/>
              </a:spcAft>
            </a:pPr>
            <a:r>
              <a:rPr sz="800" b="0">
                <a:solidFill>
                  <a:srgbClr val="202945"/>
                </a:solidFill>
              </a:rPr>
              <a:t>- Full distribution expected in 2026; the fund reaches the end of its term this year.</a:t>
            </a:r>
          </a:p>
          <a:p>
            <a:pPr>
              <a:spcAft>
                <a:spcPts val="200"/>
              </a:spcAft>
            </a:pPr>
            <a:r>
              <a:rPr sz="800" b="0">
                <a:solidFill>
                  <a:srgbClr val="202945"/>
                </a:solidFill>
              </a:rPr>
              <a:t>- Awaiting information from the liquidator. Figures are as at Q1 2025, a year older than the other three funds.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