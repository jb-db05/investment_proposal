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embeddings/oleObject1.bin" ContentType="application/vnd.openxmlformats-officedocument.oleObject"/>
  <Override PartName="/ppt/embeddings/oleObject2.bin" ContentType="application/vnd.openxmlformats-officedocument.oleObject"/>
  <Override PartName="/ppt/handoutMasters/handoutMaster1.xml" ContentType="application/vnd.openxmlformats-officedocument.presentationml.handoutMaster+xml"/>
  <Override PartName="/ppt/media/image11.svg" ContentType="image/svg+xml"/>
  <Override PartName="/ppt/media/image13.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0.svg" ContentType="image/svg+xml"/>
  <Override PartName="/ppt/media/image26.svg" ContentType="image/svg"/>
  <Override PartName="/ppt/media/image27.svg" ContentType="image/svg"/>
  <Override PartName="/ppt/media/image28.svg" ContentType="image/svg"/>
  <Override PartName="/ppt/media/image29.svg" ContentType="image/svg"/>
  <Override PartName="/ppt/media/image30.svg" ContentType="image/svg+xml"/>
  <Override PartName="/ppt/media/image31.svg" ContentType="image/svg"/>
  <Override PartName="/ppt/media/image32.svg" ContentType="image/svg"/>
  <Override PartName="/ppt/media/image33.svg" ContentType="image/svg"/>
  <Override PartName="/ppt/notesMasters/notesMaster1.xml" ContentType="application/vnd.openxmlformats-officedocument.presentationml.notesMaster+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5.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41"/>
  </p:notesMasterIdLst>
  <p:handoutMasterIdLst>
    <p:handoutMasterId r:id="rId42"/>
  </p:handoutMasterIdLst>
  <p:sldIdLst>
    <p:sldId id="2147377584" r:id="rId5"/>
    <p:sldId id="2147377586" r:id="rId6"/>
    <p:sldId id="256" r:id="rId7"/>
    <p:sldId id="2147379389" r:id="rId8"/>
    <p:sldId id="271" r:id="rId9"/>
    <p:sldId id="272" r:id="rId10"/>
    <p:sldId id="2147378131" r:id="rId11"/>
    <p:sldId id="2147379390" r:id="rId12"/>
    <p:sldId id="2147377582" r:id="rId13"/>
    <p:sldId id="2147377583" r:id="rId14"/>
    <p:sldId id="2147379399" r:id="rId39"/>
    <p:sldId id="2147379400" r:id="rId44"/>
    <p:sldId id="2147378133" r:id="rId15"/>
    <p:sldId id="263" r:id="rId16"/>
    <p:sldId id="2147378134" r:id="rId17"/>
    <p:sldId id="2147378135" r:id="rId19"/>
    <p:sldId id="2147378136" r:id="rId21"/>
    <p:sldId id="2147379401" r:id="rId38"/>
    <p:sldId id="2147379394" r:id="rId22"/>
    <p:sldId id="2147379395" r:id="rId23"/>
    <p:sldId id="264" r:id="rId24"/>
    <p:sldId id="265" r:id="rId25"/>
    <p:sldId id="266" r:id="rId26"/>
    <p:sldId id="2147379388" r:id="rId27"/>
    <p:sldId id="2147378129" r:id="rId28"/>
    <p:sldId id="270" r:id="rId29"/>
    <p:sldId id="2147377382" r:id="rId30"/>
    <p:sldId id="2147377387" r:id="rId31"/>
    <p:sldId id="2147379398" r:id="rId32"/>
    <p:sldId id="2461" r:id="rId33"/>
    <p:sldId id="2147377376" r:id="rId34"/>
    <p:sldId id="282" r:id="rId40"/>
  </p:sldIdLst>
  <p:sldSz cx="10691813" cy="7559675"/>
  <p:notesSz cx="6797675" cy="9926638"/>
  <p:custDataLst>
    <p:tags r:id="rId43"/>
  </p:custDataLst>
  <p:defaultTextStyle>
    <a:defPPr>
      <a:defRPr lang="en-US"/>
    </a:defPPr>
    <a:lvl1pPr marL="0" algn="l" defTabSz="457129" rtl="0" eaLnBrk="1" latinLnBrk="0" hangingPunct="1">
      <a:defRPr sz="1800" kern="1200">
        <a:solidFill>
          <a:schemeClr val="tx1"/>
        </a:solidFill>
        <a:latin typeface="+mn-lt"/>
        <a:ea typeface="+mn-ea"/>
        <a:cs typeface="+mn-cs"/>
      </a:defRPr>
    </a:lvl1pPr>
    <a:lvl2pPr marL="457129" algn="l" defTabSz="457129" rtl="0" eaLnBrk="1" latinLnBrk="0" hangingPunct="1">
      <a:defRPr sz="1800" kern="1200">
        <a:solidFill>
          <a:schemeClr val="tx1"/>
        </a:solidFill>
        <a:latin typeface="+mn-lt"/>
        <a:ea typeface="+mn-ea"/>
        <a:cs typeface="+mn-cs"/>
      </a:defRPr>
    </a:lvl2pPr>
    <a:lvl3pPr marL="914261" algn="l" defTabSz="457129" rtl="0" eaLnBrk="1" latinLnBrk="0" hangingPunct="1">
      <a:defRPr sz="1800" kern="1200">
        <a:solidFill>
          <a:schemeClr val="tx1"/>
        </a:solidFill>
        <a:latin typeface="+mn-lt"/>
        <a:ea typeface="+mn-ea"/>
        <a:cs typeface="+mn-cs"/>
      </a:defRPr>
    </a:lvl3pPr>
    <a:lvl4pPr marL="1371389" algn="l" defTabSz="457129" rtl="0" eaLnBrk="1" latinLnBrk="0" hangingPunct="1">
      <a:defRPr sz="1800" kern="1200">
        <a:solidFill>
          <a:schemeClr val="tx1"/>
        </a:solidFill>
        <a:latin typeface="+mn-lt"/>
        <a:ea typeface="+mn-ea"/>
        <a:cs typeface="+mn-cs"/>
      </a:defRPr>
    </a:lvl4pPr>
    <a:lvl5pPr marL="1828519" algn="l" defTabSz="457129" rtl="0" eaLnBrk="1" latinLnBrk="0" hangingPunct="1">
      <a:defRPr sz="1800" kern="1200">
        <a:solidFill>
          <a:schemeClr val="tx1"/>
        </a:solidFill>
        <a:latin typeface="+mn-lt"/>
        <a:ea typeface="+mn-ea"/>
        <a:cs typeface="+mn-cs"/>
      </a:defRPr>
    </a:lvl5pPr>
    <a:lvl6pPr marL="2285649" algn="l" defTabSz="457129" rtl="0" eaLnBrk="1" latinLnBrk="0" hangingPunct="1">
      <a:defRPr sz="1800" kern="1200">
        <a:solidFill>
          <a:schemeClr val="tx1"/>
        </a:solidFill>
        <a:latin typeface="+mn-lt"/>
        <a:ea typeface="+mn-ea"/>
        <a:cs typeface="+mn-cs"/>
      </a:defRPr>
    </a:lvl6pPr>
    <a:lvl7pPr marL="2742778" algn="l" defTabSz="457129" rtl="0" eaLnBrk="1" latinLnBrk="0" hangingPunct="1">
      <a:defRPr sz="1800" kern="1200">
        <a:solidFill>
          <a:schemeClr val="tx1"/>
        </a:solidFill>
        <a:latin typeface="+mn-lt"/>
        <a:ea typeface="+mn-ea"/>
        <a:cs typeface="+mn-cs"/>
      </a:defRPr>
    </a:lvl7pPr>
    <a:lvl8pPr marL="3199907" algn="l" defTabSz="457129" rtl="0" eaLnBrk="1" latinLnBrk="0" hangingPunct="1">
      <a:defRPr sz="1800" kern="1200">
        <a:solidFill>
          <a:schemeClr val="tx1"/>
        </a:solidFill>
        <a:latin typeface="+mn-lt"/>
        <a:ea typeface="+mn-ea"/>
        <a:cs typeface="+mn-cs"/>
      </a:defRPr>
    </a:lvl8pPr>
    <a:lvl9pPr marL="3657037" algn="l" defTabSz="457129"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774" userDrawn="1">
          <p15:clr>
            <a:srgbClr val="A4A3A4"/>
          </p15:clr>
        </p15:guide>
        <p15:guide id="2" orient="horz" pos="240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0294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723"/>
  </p:normalViewPr>
  <p:slideViewPr>
    <p:cSldViewPr snapToGrid="0">
      <p:cViewPr varScale="1">
        <p:scale>
          <a:sx n="110" d="100"/>
          <a:sy n="110" d="100"/>
        </p:scale>
        <p:origin x="1459" y="82"/>
      </p:cViewPr>
      <p:guideLst>
        <p:guide pos="4774"/>
        <p:guide orient="horz" pos="2404"/>
      </p:guideLst>
    </p:cSldViewPr>
  </p:slideViewPr>
  <p:notesTextViewPr>
    <p:cViewPr>
      <p:scale>
        <a:sx n="1" d="1"/>
        <a:sy n="1" d="1"/>
      </p:scale>
      <p:origin x="0" y="0"/>
    </p:cViewPr>
  </p:notesTextViewPr>
  <p:notesViewPr>
    <p:cSldViewPr snapToGrid="0">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9" Type="http://schemas.openxmlformats.org/officeDocument/2006/relationships/slide" Target="slides/slide15.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8" Type="http://schemas.openxmlformats.org/officeDocument/2006/relationships/slide" Target="slides/slide35.xml"/><Relationship Id="rId39" Type="http://schemas.openxmlformats.org/officeDocument/2006/relationships/slide" Target="slides/slide33.xml"/><Relationship Id="rId40" Type="http://schemas.openxmlformats.org/officeDocument/2006/relationships/slide" Target="slides/slide31.xml"/><Relationship Id="rId41" Type="http://schemas.openxmlformats.org/officeDocument/2006/relationships/notesMaster" Target="notesMasters/notesMaster1.xml"/><Relationship Id="rId42" Type="http://schemas.openxmlformats.org/officeDocument/2006/relationships/handoutMaster" Target="handoutMasters/handoutMaster1.xml"/><Relationship Id="rId43" Type="http://schemas.openxmlformats.org/officeDocument/2006/relationships/tags" Target="tags/tag1.xml"/><Relationship Id="rId44" Type="http://schemas.openxmlformats.org/officeDocument/2006/relationships/slide" Target="slides/slide34.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04"/>
          <c:w val="0.56000000000000005"/>
          <c:h val="0.92"/>
        </c:manualLayout>
      </c:layout>
      <c:doughnutChart>
        <c:varyColors val="1"/>
        <c:ser>
          <c:idx val="0"/>
          <c:order val="0"/>
          <c:tx>
            <c:strRef>
              <c:f>Sheet1!$B$1</c:f>
              <c:strCache>
                <c:ptCount val="1"/>
                <c:pt idx="0">
                  <c:v/>
                </c:pt>
              </c:strCache>
            </c:strRef>
          </c:tx>
          <c:dPt>
            <c:idx val="0"/>
            <c:bubble3D val="0"/>
            <c:spPr>
              <a:solidFill>
                <a:srgbClr val="FF6C0E"/>
              </a:solidFill>
            </c:spPr>
            <c:extLst>
              <c:ext xmlns:c16="http://schemas.microsoft.com/office/drawing/2014/chart" uri="{C3380CC4-5D6E-409C-BE32-E72D297353CC}">
                <c16:uniqueId val="{00000001-6DCB-4C5A-9D45-1DB0C87C1D63}"/>
              </c:ext>
            </c:extLst>
          </c:dPt>
          <c:dPt>
            <c:idx val="1"/>
            <c:bubble3D val="0"/>
            <c:spPr>
              <a:solidFill>
                <a:srgbClr val="FFC545"/>
              </a:solidFill>
            </c:spPr>
            <c:extLst>
              <c:ext xmlns:c16="http://schemas.microsoft.com/office/drawing/2014/chart" uri="{C3380CC4-5D6E-409C-BE32-E72D297353CC}">
                <c16:uniqueId val="{00000003-6DCB-4C5A-9D45-1DB0C87C1D63}"/>
              </c:ext>
            </c:extLst>
          </c:dPt>
          <c:dPt>
            <c:idx val="2"/>
            <c:bubble3D val="0"/>
            <c:spPr>
              <a:solidFill>
                <a:srgbClr val="79D6FF"/>
              </a:solidFill>
            </c:spPr>
            <c:extLst>
              <c:ext xmlns:c16="http://schemas.microsoft.com/office/drawing/2014/chart" uri="{C3380CC4-5D6E-409C-BE32-E72D297353CC}">
                <c16:uniqueId val="{00000005-6DCB-4C5A-9D45-1DB0C87C1D63}"/>
              </c:ext>
            </c:extLst>
          </c:dPt>
          <c:dPt>
            <c:idx val="3"/>
            <c:bubble3D val="0"/>
            <c:spPr>
              <a:solidFill>
                <a:srgbClr val="202945"/>
              </a:solidFill>
            </c:spPr>
            <c:extLst>
              <c:ext xmlns:c16="http://schemas.microsoft.com/office/drawing/2014/chart" uri="{C3380CC4-5D6E-409C-BE32-E72D297353CC}">
                <c16:uniqueId val="{00000007-6DCB-4C5A-9D45-1DB0C87C1D63}"/>
              </c:ext>
            </c:extLst>
          </c:dPt>
          <c:dPt>
            <c:idx val="4"/>
            <c:bubble3D val="0"/>
            <c:spPr>
              <a:solidFill>
                <a:srgbClr val="3BAF90"/>
              </a:solidFill>
            </c:spPr>
            <c:extLst>
              <c:ext xmlns:c16="http://schemas.microsoft.com/office/drawing/2014/chart" uri="{C3380CC4-5D6E-409C-BE32-E72D297353CC}">
                <c16:uniqueId val="{00000009-6DCB-4C5A-9D45-1DB0C87C1D63}"/>
              </c:ext>
            </c:extLst>
          </c:dPt>
          <c:dPt>
            <c:idx val="5"/>
            <c:spPr>
              <a:solidFill>
                <a:srgbClr val="FFA400"/>
              </a:solidFill>
            </c:spPr>
          </c:dPt>
          <c:dPt>
            <c:idx val="6"/>
            <c:spPr>
              <a:solidFill>
                <a:srgbClr val="4B5F80"/>
              </a:solidFill>
            </c:spPr>
          </c:dPt>
          <c:cat>
            <c:strRef>
              <c:f>Sheet1!$A$2:$A$8</c:f>
              <c:strCache>
                <c:ptCount val="7"/>
                <c:pt idx="0">
                  <c:v>Equities  34%</c:v>
                </c:pt>
                <c:pt idx="1">
                  <c:v>Commodities  27%</c:v>
                </c:pt>
                <c:pt idx="2">
                  <c:v>Private Assets  17%</c:v>
                </c:pt>
                <c:pt idx="3">
                  <c:v>Fixed Income  16%</c:v>
                </c:pt>
                <c:pt idx="4">
                  <c:v>Structured Products  5%</c:v>
                </c:pt>
                <c:pt idx="5">
                  <c:v>Other  1%</c:v>
                </c:pt>
                <c:pt idx="6">
                  <c:v>Cash  0.4%</c:v>
                </c:pt>
              </c:strCache>
            </c:strRef>
          </c:cat>
          <c:val>
            <c:numRef>
              <c:f>Sheet1!$B$2:$B$8</c:f>
              <c:numCache>
                <c:formatCode>General</c:formatCode>
                <c:ptCount val="7"/>
                <c:pt idx="0">
                  <c:v>0.33968324000000005</c:v>
                </c:pt>
                <c:pt idx="1">
                  <c:v>0.27351444999999996</c:v>
                </c:pt>
                <c:pt idx="2">
                  <c:v>0.16559767999999997</c:v>
                </c:pt>
                <c:pt idx="3">
                  <c:v>0.15577871</c:v>
                </c:pt>
                <c:pt idx="4">
                  <c:v>0.054549560000000004</c:v>
                </c:pt>
                <c:pt idx="5">
                  <c:v>0.00732644</c:v>
                </c:pt>
                <c:pt idx="6">
                  <c:v>0.00354992</c:v>
                </c:pt>
              </c:numCache>
            </c:numRef>
          </c:val>
          <c:extLst>
            <c:ext xmlns:c16="http://schemas.microsoft.com/office/drawing/2014/chart" uri="{C3380CC4-5D6E-409C-BE32-E72D297353CC}">
              <c16:uniqueId val="{0000000A-6DCB-4C5A-9D45-1DB0C87C1D63}"/>
            </c:ext>
          </c:extLst>
        </c:ser>
        <c:dLbls>
          <c:showLegendKey val="0"/>
          <c:showVal val="0"/>
          <c:showCatName val="0"/>
          <c:showSerName val="0"/>
          <c:showPercent val="0"/>
          <c:showBubbleSize val="0"/>
          <c:showLeaderLines val="1"/>
        </c:dLbls>
        <c:firstSliceAng val="0"/>
        <c:holeSize val="70"/>
      </c:doughnutChart>
    </c:plotArea>
    <c:legend>
      <c:legendPos val="r"/>
      <c:overlay val="0"/>
      <c:txPr>
        <a:bodyPr/>
        <a:lstStyle/>
        <a:p>
          <a:pPr>
            <a:defRPr sz="1200"/>
          </a:pPr>
          <a:endParaRPr lang="en-CH"/>
        </a:p>
      </c:txPr>
    </c:legend>
    <c:plotVisOnly val="1"/>
    <c:dispBlanksAs val="gap"/>
    <c:showDLblsOverMax val="0"/>
  </c:chart>
  <c:txPr>
    <a:bodyPr/>
    <a:lstStyle/>
    <a:p>
      <a:pPr>
        <a:defRPr sz="1300">
          <a:solidFill>
            <a:srgbClr val="202945"/>
          </a:solidFill>
          <a:latin typeface="Nunito Sans"/>
        </a:defRPr>
      </a:pPr>
      <a:endParaRPr lang="en-CH"/>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2"/>
          <c:y val="0.04"/>
          <c:w val="0.56000000000000005"/>
          <c:h val="0.92"/>
        </c:manualLayout>
      </c:layout>
      <c:doughnutChart>
        <c:varyColors val="1"/>
        <c:ser>
          <c:idx val="0"/>
          <c:order val="0"/>
          <c:tx>
            <c:strRef>
              <c:f>Sheet1!$B$1</c:f>
              <c:strCache>
                <c:ptCount val="1"/>
                <c:pt idx="0">
                  <c:v/>
                </c:pt>
              </c:strCache>
            </c:strRef>
          </c:tx>
          <c:dPt>
            <c:idx val="0"/>
            <c:bubble3D val="0"/>
            <c:spPr>
              <a:solidFill>
                <a:srgbClr val="FF6C0E"/>
              </a:solidFill>
            </c:spPr>
            <c:extLst>
              <c:ext xmlns:c16="http://schemas.microsoft.com/office/drawing/2014/chart" uri="{C3380CC4-5D6E-409C-BE32-E72D297353CC}">
                <c16:uniqueId val="{00000001-12FC-40BB-BF3C-F2EDC4F748DA}"/>
              </c:ext>
            </c:extLst>
          </c:dPt>
          <c:dPt>
            <c:idx val="1"/>
            <c:bubble3D val="0"/>
            <c:spPr>
              <a:solidFill>
                <a:srgbClr val="FFC545"/>
              </a:solidFill>
            </c:spPr>
            <c:extLst>
              <c:ext xmlns:c16="http://schemas.microsoft.com/office/drawing/2014/chart" uri="{C3380CC4-5D6E-409C-BE32-E72D297353CC}">
                <c16:uniqueId val="{00000003-12FC-40BB-BF3C-F2EDC4F748DA}"/>
              </c:ext>
            </c:extLst>
          </c:dPt>
          <c:dPt>
            <c:idx val="2"/>
            <c:bubble3D val="0"/>
            <c:spPr>
              <a:solidFill>
                <a:srgbClr val="79D6FF"/>
              </a:solidFill>
            </c:spPr>
            <c:extLst>
              <c:ext xmlns:c16="http://schemas.microsoft.com/office/drawing/2014/chart" uri="{C3380CC4-5D6E-409C-BE32-E72D297353CC}">
                <c16:uniqueId val="{00000005-12FC-40BB-BF3C-F2EDC4F748DA}"/>
              </c:ext>
            </c:extLst>
          </c:dPt>
          <c:dPt>
            <c:idx val="3"/>
            <c:bubble3D val="0"/>
            <c:spPr>
              <a:solidFill>
                <a:srgbClr val="202945"/>
              </a:solidFill>
            </c:spPr>
            <c:extLst>
              <c:ext xmlns:c16="http://schemas.microsoft.com/office/drawing/2014/chart" uri="{C3380CC4-5D6E-409C-BE32-E72D297353CC}">
                <c16:uniqueId val="{00000007-12FC-40BB-BF3C-F2EDC4F748DA}"/>
              </c:ext>
            </c:extLst>
          </c:dPt>
          <c:dPt>
            <c:idx val="4"/>
            <c:spPr>
              <a:solidFill>
                <a:srgbClr val="3BAF90"/>
              </a:solidFill>
            </c:spPr>
          </c:dPt>
          <c:dPt>
            <c:idx val="5"/>
            <c:spPr>
              <a:solidFill>
                <a:srgbClr val="4B5F80"/>
              </a:solidFill>
            </c:spPr>
          </c:dPt>
          <c:dPt>
            <c:idx val="6"/>
            <c:spPr>
              <a:solidFill>
                <a:srgbClr val="AC5D85"/>
              </a:solidFill>
            </c:spPr>
          </c:dPt>
          <c:cat>
            <c:strRef>
              <c:f>Sheet1!$A$2:$A$8</c:f>
              <c:strCache>
                <c:ptCount val="7"/>
                <c:pt idx="0">
                  <c:v>USD  41%</c:v>
                </c:pt>
                <c:pt idx="1">
                  <c:v>CHF  30%</c:v>
                </c:pt>
                <c:pt idx="2">
                  <c:v>EUR  23%</c:v>
                </c:pt>
                <c:pt idx="3">
                  <c:v>GBP  4%</c:v>
                </c:pt>
                <c:pt idx="4">
                  <c:v>XAG  1%</c:v>
                </c:pt>
                <c:pt idx="5">
                  <c:v>XPT  1%</c:v>
                </c:pt>
                <c:pt idx="6">
                  <c:v>SEK  1%</c:v>
                </c:pt>
              </c:strCache>
            </c:strRef>
          </c:cat>
          <c:val>
            <c:numRef>
              <c:f>Sheet1!$B$2:$B$8</c:f>
              <c:numCache>
                <c:formatCode>General</c:formatCode>
                <c:ptCount val="7"/>
                <c:pt idx="0">
                  <c:v>0.40919222</c:v>
                </c:pt>
                <c:pt idx="1">
                  <c:v>0.29650487</c:v>
                </c:pt>
                <c:pt idx="2">
                  <c:v>0.22569295</c:v>
                </c:pt>
                <c:pt idx="3">
                  <c:v>0.03760149</c:v>
                </c:pt>
                <c:pt idx="4">
                  <c:v>0.01108255</c:v>
                </c:pt>
                <c:pt idx="5">
                  <c:v>0.01047123</c:v>
                </c:pt>
                <c:pt idx="6">
                  <c:v>0.0094544</c:v>
                </c:pt>
              </c:numCache>
            </c:numRef>
          </c:val>
          <c:extLst>
            <c:ext xmlns:c16="http://schemas.microsoft.com/office/drawing/2014/chart" uri="{C3380CC4-5D6E-409C-BE32-E72D297353CC}">
              <c16:uniqueId val="{00000008-12FC-40BB-BF3C-F2EDC4F748DA}"/>
            </c:ext>
          </c:extLst>
        </c:ser>
        <c:dLbls>
          <c:showLegendKey val="0"/>
          <c:showVal val="0"/>
          <c:showCatName val="0"/>
          <c:showSerName val="0"/>
          <c:showPercent val="0"/>
          <c:showBubbleSize val="0"/>
          <c:showLeaderLines val="1"/>
        </c:dLbls>
        <c:firstSliceAng val="0"/>
        <c:holeSize val="70"/>
      </c:doughnutChart>
    </c:plotArea>
    <c:legend>
      <c:legendPos val="r"/>
      <c:overlay val="0"/>
      <c:txPr>
        <a:bodyPr/>
        <a:lstStyle/>
        <a:p>
          <a:pPr>
            <a:defRPr sz="1200"/>
          </a:pPr>
          <a:endParaRPr lang="en-CH"/>
        </a:p>
      </c:txPr>
    </c:legend>
    <c:plotVisOnly val="1"/>
    <c:dispBlanksAs val="gap"/>
    <c:showDLblsOverMax val="0"/>
  </c:chart>
  <c:txPr>
    <a:bodyPr/>
    <a:lstStyle/>
    <a:p>
      <a:pPr>
        <a:defRPr sz="1300">
          <a:solidFill>
            <a:srgbClr val="202945"/>
          </a:solidFill>
          <a:latin typeface="Nunito Sans"/>
        </a:defRPr>
      </a:pPr>
      <a:endParaRPr lang="en-CH"/>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
                </c:pt>
              </c:strCache>
            </c:strRef>
          </c:tx>
          <c:invertIfNegative val="0"/>
          <c:dPt>
            <c:idx val="0"/>
            <c:invertIfNegative val="0"/>
            <c:bubble3D val="0"/>
            <c:spPr>
              <a:solidFill>
                <a:srgbClr val="FF6C0E"/>
              </a:solidFill>
            </c:spPr>
            <c:extLst>
              <c:ext xmlns:c16="http://schemas.microsoft.com/office/drawing/2014/chart" uri="{C3380CC4-5D6E-409C-BE32-E72D297353CC}">
                <c16:uniqueId val="{00000001-9BC4-41CE-A2D6-DB7B98CABE3A}"/>
              </c:ext>
            </c:extLst>
          </c:dPt>
          <c:dPt>
            <c:idx val="1"/>
            <c:invertIfNegative val="0"/>
            <c:bubble3D val="0"/>
            <c:spPr>
              <a:solidFill>
                <a:srgbClr val="202945"/>
              </a:solidFill>
            </c:spPr>
            <c:extLst>
              <c:ext xmlns:c16="http://schemas.microsoft.com/office/drawing/2014/chart" uri="{C3380CC4-5D6E-409C-BE32-E72D297353CC}">
                <c16:uniqueId val="{00000003-9BC4-41CE-A2D6-DB7B98CABE3A}"/>
              </c:ext>
            </c:extLst>
          </c:dPt>
          <c:dPt>
            <c:idx val="2"/>
            <c:invertIfNegative val="0"/>
            <c:bubble3D val="0"/>
            <c:spPr>
              <a:solidFill>
                <a:srgbClr val="FFC545"/>
              </a:solidFill>
            </c:spPr>
            <c:extLst>
              <c:ext xmlns:c16="http://schemas.microsoft.com/office/drawing/2014/chart" uri="{C3380CC4-5D6E-409C-BE32-E72D297353CC}">
                <c16:uniqueId val="{00000005-9BC4-41CE-A2D6-DB7B98CABE3A}"/>
              </c:ext>
            </c:extLst>
          </c:dPt>
          <c:dPt>
            <c:idx val="3"/>
            <c:invertIfNegative val="0"/>
            <c:bubble3D val="0"/>
            <c:spPr>
              <a:solidFill>
                <a:srgbClr val="79D6FF"/>
              </a:solidFill>
            </c:spPr>
            <c:extLst>
              <c:ext xmlns:c16="http://schemas.microsoft.com/office/drawing/2014/chart" uri="{C3380CC4-5D6E-409C-BE32-E72D297353CC}">
                <c16:uniqueId val="{00000007-9BC4-41CE-A2D6-DB7B98CABE3A}"/>
              </c:ext>
            </c:extLst>
          </c:dPt>
          <c:dPt>
            <c:idx val="4"/>
            <c:invertIfNegative val="0"/>
            <c:bubble3D val="0"/>
            <c:spPr>
              <a:solidFill>
                <a:srgbClr val="3BAF90"/>
              </a:solidFill>
            </c:spPr>
            <c:extLst>
              <c:ext xmlns:c16="http://schemas.microsoft.com/office/drawing/2014/chart" uri="{C3380CC4-5D6E-409C-BE32-E72D297353CC}">
                <c16:uniqueId val="{00000009-9BC4-41CE-A2D6-DB7B98CABE3A}"/>
              </c:ext>
            </c:extLst>
          </c:dPt>
          <c:dLbls>
            <c:numFmt formatCode="0%" sourceLinked="0"/>
            <c:spPr>
              <a:noFill/>
              <a:ln>
                <a:noFill/>
              </a:ln>
              <a:effectLst/>
            </c:spPr>
            <c:txPr>
              <a:bodyPr/>
              <a:lstStyle/>
              <a:p>
                <a:pPr>
                  <a:defRPr sz="900"/>
                </a:pPr>
                <a:endParaRPr lang="en-CH"/>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Global</c:v>
                </c:pt>
                <c:pt idx="1">
                  <c:v>Europe DM</c:v>
                </c:pt>
                <c:pt idx="2">
                  <c:v>US</c:v>
                </c:pt>
                <c:pt idx="3">
                  <c:v>MEA EM</c:v>
                </c:pt>
              </c:strCache>
            </c:strRef>
          </c:cat>
          <c:val>
            <c:numRef>
              <c:f>Sheet1!$B$2:$B$5</c:f>
              <c:numCache>
                <c:formatCode>General</c:formatCode>
                <c:ptCount val="4"/>
                <c:pt idx="0">
                  <c:v>0.57137451</c:v>
                </c:pt>
                <c:pt idx="1">
                  <c:v>0.29624404</c:v>
                </c:pt>
                <c:pt idx="2">
                  <c:v>0.12500275</c:v>
                </c:pt>
                <c:pt idx="3">
                  <c:v>0.0073787</c:v>
                </c:pt>
              </c:numCache>
            </c:numRef>
          </c:val>
          <c:extLst>
            <c:ext xmlns:c16="http://schemas.microsoft.com/office/drawing/2014/chart" uri="{C3380CC4-5D6E-409C-BE32-E72D297353CC}">
              <c16:uniqueId val="{0000000A-9BC4-41CE-A2D6-DB7B98CABE3A}"/>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1200"/>
            </a:pPr>
            <a:endParaRPr lang="en-CH"/>
          </a:p>
        </c:txPr>
        <c:crossAx val="-2113994440"/>
        <c:crosses val="autoZero"/>
        <c:auto val="1"/>
        <c:lblAlgn val="ctr"/>
        <c:lblOffset val="100"/>
        <c:noMultiLvlLbl val="0"/>
      </c:catAx>
      <c:valAx>
        <c:axId val="-2113994440"/>
        <c:scaling>
          <c:orientation val="minMax"/>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300">
          <a:solidFill>
            <a:srgbClr val="202945"/>
          </a:solidFill>
          <a:latin typeface="Nunito Sans"/>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
                </c:pt>
              </c:strCache>
            </c:strRef>
          </c:tx>
          <c:invertIfNegative val="0"/>
          <c:dPt>
            <c:idx val="0"/>
            <c:invertIfNegative val="0"/>
            <c:bubble3D val="0"/>
            <c:spPr>
              <a:solidFill>
                <a:srgbClr val="FF6C0E"/>
              </a:solidFill>
            </c:spPr>
            <c:extLst>
              <c:ext xmlns:c16="http://schemas.microsoft.com/office/drawing/2014/chart" uri="{C3380CC4-5D6E-409C-BE32-E72D297353CC}">
                <c16:uniqueId val="{00000001-8A61-4B6B-AB01-2A584015E766}"/>
              </c:ext>
            </c:extLst>
          </c:dPt>
          <c:dPt>
            <c:idx val="1"/>
            <c:invertIfNegative val="0"/>
            <c:bubble3D val="0"/>
            <c:spPr>
              <a:solidFill>
                <a:srgbClr val="202945"/>
              </a:solidFill>
            </c:spPr>
            <c:extLst>
              <c:ext xmlns:c16="http://schemas.microsoft.com/office/drawing/2014/chart" uri="{C3380CC4-5D6E-409C-BE32-E72D297353CC}">
                <c16:uniqueId val="{00000003-8A61-4B6B-AB01-2A584015E766}"/>
              </c:ext>
            </c:extLst>
          </c:dPt>
          <c:dPt>
            <c:idx val="2"/>
            <c:invertIfNegative val="0"/>
            <c:bubble3D val="0"/>
            <c:spPr>
              <a:solidFill>
                <a:srgbClr val="FFC545"/>
              </a:solidFill>
            </c:spPr>
            <c:extLst>
              <c:ext xmlns:c16="http://schemas.microsoft.com/office/drawing/2014/chart" uri="{C3380CC4-5D6E-409C-BE32-E72D297353CC}">
                <c16:uniqueId val="{00000005-8A61-4B6B-AB01-2A584015E766}"/>
              </c:ext>
            </c:extLst>
          </c:dPt>
          <c:dPt>
            <c:idx val="3"/>
            <c:invertIfNegative val="0"/>
            <c:bubble3D val="0"/>
            <c:spPr>
              <a:solidFill>
                <a:srgbClr val="79D6FF"/>
              </a:solidFill>
            </c:spPr>
            <c:extLst>
              <c:ext xmlns:c16="http://schemas.microsoft.com/office/drawing/2014/chart" uri="{C3380CC4-5D6E-409C-BE32-E72D297353CC}">
                <c16:uniqueId val="{00000007-8A61-4B6B-AB01-2A584015E766}"/>
              </c:ext>
            </c:extLst>
          </c:dPt>
          <c:dPt>
            <c:idx val="4"/>
            <c:invertIfNegative val="0"/>
            <c:bubble3D val="0"/>
            <c:spPr>
              <a:solidFill>
                <a:srgbClr val="3BAF90"/>
              </a:solidFill>
            </c:spPr>
            <c:extLst>
              <c:ext xmlns:c16="http://schemas.microsoft.com/office/drawing/2014/chart" uri="{C3380CC4-5D6E-409C-BE32-E72D297353CC}">
                <c16:uniqueId val="{00000009-8A61-4B6B-AB01-2A584015E766}"/>
              </c:ext>
            </c:extLst>
          </c:dPt>
          <c:dPt>
            <c:idx val="5"/>
            <c:invertIfNegative val="0"/>
            <c:bubble3D val="0"/>
            <c:spPr>
              <a:solidFill>
                <a:srgbClr val="AC5D85"/>
              </a:solidFill>
            </c:spPr>
            <c:extLst>
              <c:ext xmlns:c16="http://schemas.microsoft.com/office/drawing/2014/chart" uri="{C3380CC4-5D6E-409C-BE32-E72D297353CC}">
                <c16:uniqueId val="{0000000B-8A61-4B6B-AB01-2A584015E766}"/>
              </c:ext>
            </c:extLst>
          </c:dPt>
          <c:dPt>
            <c:idx val="6"/>
            <c:invertIfNegative val="0"/>
            <c:bubble3D val="0"/>
            <c:spPr>
              <a:solidFill>
                <a:srgbClr val="FFA400"/>
              </a:solidFill>
            </c:spPr>
            <c:extLst>
              <c:ext xmlns:c16="http://schemas.microsoft.com/office/drawing/2014/chart" uri="{C3380CC4-5D6E-409C-BE32-E72D297353CC}">
                <c16:uniqueId val="{0000000D-8A61-4B6B-AB01-2A584015E766}"/>
              </c:ext>
            </c:extLst>
          </c:dPt>
          <c:dPt>
            <c:idx val="7"/>
            <c:invertIfNegative val="0"/>
            <c:bubble3D val="0"/>
            <c:spPr>
              <a:solidFill>
                <a:srgbClr val="4B5F80"/>
              </a:solidFill>
            </c:spPr>
            <c:extLst>
              <c:ext xmlns:c16="http://schemas.microsoft.com/office/drawing/2014/chart" uri="{C3380CC4-5D6E-409C-BE32-E72D297353CC}">
                <c16:uniqueId val="{0000000F-8A61-4B6B-AB01-2A584015E766}"/>
              </c:ext>
            </c:extLst>
          </c:dPt>
          <c:dLbls>
            <c:numFmt formatCode="0%" sourceLinked="0"/>
            <c:spPr>
              <a:noFill/>
              <a:ln>
                <a:noFill/>
              </a:ln>
              <a:effectLst/>
            </c:spPr>
            <c:txPr>
              <a:bodyPr/>
              <a:lstStyle/>
              <a:p>
                <a:pPr>
                  <a:defRPr sz="900"/>
                </a:pPr>
                <a:endParaRPr lang="en-CH"/>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Global / thematic</c:v>
                </c:pt>
                <c:pt idx="1">
                  <c:v>Eurozone</c:v>
                </c:pt>
                <c:pt idx="2">
                  <c:v>Switzerland</c:v>
                </c:pt>
                <c:pt idx="3">
                  <c:v>UK</c:v>
                </c:pt>
                <c:pt idx="4">
                  <c:v>US</c:v>
                </c:pt>
              </c:strCache>
            </c:strRef>
          </c:cat>
          <c:val>
            <c:numRef>
              <c:f>Sheet1!$B$2:$B$6</c:f>
              <c:numCache>
                <c:formatCode>General</c:formatCode>
                <c:ptCount val="5"/>
                <c:pt idx="0">
                  <c:v>0.45222276</c:v>
                </c:pt>
                <c:pt idx="1">
                  <c:v>0.25505699</c:v>
                </c:pt>
                <c:pt idx="2">
                  <c:v>0.18921519</c:v>
                </c:pt>
                <c:pt idx="3">
                  <c:v>0.05507696</c:v>
                </c:pt>
                <c:pt idx="4">
                  <c:v>0.0484281</c:v>
                </c:pt>
              </c:numCache>
            </c:numRef>
          </c:val>
          <c:extLst>
            <c:ext xmlns:c16="http://schemas.microsoft.com/office/drawing/2014/chart" uri="{C3380CC4-5D6E-409C-BE32-E72D297353CC}">
              <c16:uniqueId val="{00000010-8A61-4B6B-AB01-2A584015E766}"/>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1200"/>
            </a:pPr>
            <a:endParaRPr lang="en-CH"/>
          </a:p>
        </c:txPr>
        <c:crossAx val="-2113994440"/>
        <c:crosses val="autoZero"/>
        <c:auto val="1"/>
        <c:lblAlgn val="ctr"/>
        <c:lblOffset val="100"/>
        <c:noMultiLvlLbl val="0"/>
      </c:catAx>
      <c:valAx>
        <c:axId val="-2113994440"/>
        <c:scaling>
          <c:orientation val="minMax"/>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300">
          <a:solidFill>
            <a:srgbClr val="202945"/>
          </a:solidFill>
          <a:latin typeface="Nunito Sans"/>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04"/>
          <c:w val="0.56000000000000005"/>
          <c:h val="0.92"/>
        </c:manualLayout>
      </c:layout>
      <c:doughnutChart>
        <c:varyColors val="1"/>
        <c:ser>
          <c:idx val="0"/>
          <c:order val="0"/>
          <c:tx>
            <c:strRef>
              <c:f>Sheet1!$B$1</c:f>
              <c:strCache>
                <c:ptCount val="1"/>
                <c:pt idx="0">
                  <c:v/>
                </c:pt>
              </c:strCache>
            </c:strRef>
          </c:tx>
          <c:dPt>
            <c:idx val="0"/>
            <c:bubble3D val="0"/>
            <c:spPr>
              <a:solidFill>
                <a:srgbClr val="FF6C0E"/>
              </a:solidFill>
            </c:spPr>
            <c:extLst>
              <c:ext xmlns:c16="http://schemas.microsoft.com/office/drawing/2014/chart" uri="{C3380CC4-5D6E-409C-BE32-E72D297353CC}">
                <c16:uniqueId val="{00000001-7E78-4776-BAC0-45DF06E8E22D}"/>
              </c:ext>
            </c:extLst>
          </c:dPt>
          <c:dPt>
            <c:idx val="1"/>
            <c:bubble3D val="0"/>
            <c:spPr>
              <a:solidFill>
                <a:srgbClr val="FFC545"/>
              </a:solidFill>
            </c:spPr>
            <c:extLst>
              <c:ext xmlns:c16="http://schemas.microsoft.com/office/drawing/2014/chart" uri="{C3380CC4-5D6E-409C-BE32-E72D297353CC}">
                <c16:uniqueId val="{00000003-7E78-4776-BAC0-45DF06E8E22D}"/>
              </c:ext>
            </c:extLst>
          </c:dPt>
          <c:dPt>
            <c:idx val="2"/>
            <c:bubble3D val="0"/>
            <c:spPr>
              <a:solidFill>
                <a:srgbClr val="79D6FF"/>
              </a:solidFill>
            </c:spPr>
            <c:extLst>
              <c:ext xmlns:c16="http://schemas.microsoft.com/office/drawing/2014/chart" uri="{C3380CC4-5D6E-409C-BE32-E72D297353CC}">
                <c16:uniqueId val="{00000005-7E78-4776-BAC0-45DF06E8E22D}"/>
              </c:ext>
            </c:extLst>
          </c:dPt>
          <c:cat>
            <c:strRef>
              <c:f>Sheet1!$A$2:$A$4</c:f>
              <c:strCache>
                <c:ptCount val="3"/>
                <c:pt idx="0">
                  <c:v>Direct line  56%</c:v>
                </c:pt>
                <c:pt idx="1">
                  <c:v>Fund  25%</c:v>
                </c:pt>
                <c:pt idx="2">
                  <c:v>Structured / AMC  19%</c:v>
                </c:pt>
              </c:strCache>
            </c:strRef>
          </c:cat>
          <c:val>
            <c:numRef>
              <c:f>Sheet1!$B$2:$B$4</c:f>
              <c:numCache>
                <c:formatCode>General</c:formatCode>
                <c:ptCount val="3"/>
                <c:pt idx="0">
                  <c:v>0.56169737</c:v>
                </c:pt>
                <c:pt idx="1">
                  <c:v>0.24936807000000002</c:v>
                </c:pt>
                <c:pt idx="2">
                  <c:v>0.18893456</c:v>
                </c:pt>
              </c:numCache>
            </c:numRef>
          </c:val>
          <c:extLst>
            <c:ext xmlns:c16="http://schemas.microsoft.com/office/drawing/2014/chart" uri="{C3380CC4-5D6E-409C-BE32-E72D297353CC}">
              <c16:uniqueId val="{00000006-7E78-4776-BAC0-45DF06E8E22D}"/>
            </c:ext>
          </c:extLst>
        </c:ser>
        <c:dLbls>
          <c:showLegendKey val="0"/>
          <c:showVal val="0"/>
          <c:showCatName val="0"/>
          <c:showSerName val="0"/>
          <c:showPercent val="0"/>
          <c:showBubbleSize val="0"/>
          <c:showLeaderLines val="1"/>
        </c:dLbls>
        <c:firstSliceAng val="0"/>
        <c:holeSize val="70"/>
      </c:doughnutChart>
    </c:plotArea>
    <c:legend>
      <c:legendPos val="r"/>
      <c:legendEntry>
        <c:idx val="0"/>
        <c:txPr>
          <a:bodyPr/>
          <a:lstStyle/>
          <a:p>
            <a:pPr>
              <a:defRPr sz="1200"/>
            </a:pPr>
            <a:endParaRPr lang="en-CH"/>
          </a:p>
        </c:txPr>
      </c:legendEntry>
      <c:legendEntry>
        <c:idx val="1"/>
        <c:txPr>
          <a:bodyPr/>
          <a:lstStyle/>
          <a:p>
            <a:pPr>
              <a:defRPr sz="1200"/>
            </a:pPr>
            <a:endParaRPr lang="en-CH"/>
          </a:p>
        </c:txPr>
      </c:legendEntry>
      <c:legendEntry>
        <c:idx val="2"/>
        <c:txPr>
          <a:bodyPr/>
          <a:lstStyle/>
          <a:p>
            <a:pPr>
              <a:defRPr sz="1200"/>
            </a:pPr>
            <a:endParaRPr lang="en-CH"/>
          </a:p>
        </c:txPr>
      </c:legendEntry>
      <c:overlay val="0"/>
      <c:txPr>
        <a:bodyPr/>
        <a:lstStyle/>
        <a:p>
          <a:pPr>
            <a:defRPr sz="1200"/>
          </a:pPr>
          <a:endParaRPr lang="en-CH"/>
        </a:p>
      </c:txPr>
    </c:legend>
    <c:plotVisOnly val="1"/>
    <c:dispBlanksAs val="gap"/>
    <c:showDLblsOverMax val="0"/>
  </c:chart>
  <c:txPr>
    <a:bodyPr/>
    <a:lstStyle/>
    <a:p>
      <a:pPr>
        <a:defRPr sz="1300">
          <a:solidFill>
            <a:srgbClr val="202945"/>
          </a:solidFill>
          <a:latin typeface="Nunito Sans"/>
        </a:defRPr>
      </a:pPr>
      <a:endParaRPr lang="en-CH"/>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04"/>
          <c:w val="0.56000000000000005"/>
          <c:h val="0.92"/>
        </c:manualLayout>
      </c:layout>
      <c:doughnutChart>
        <c:varyColors val="1"/>
        <c:ser>
          <c:idx val="0"/>
          <c:order val="0"/>
          <c:tx>
            <c:strRef>
              <c:f>Sheet1!$B$1</c:f>
              <c:strCache>
                <c:ptCount val="1"/>
                <c:pt idx="0">
                  <c:v/>
                </c:pt>
              </c:strCache>
            </c:strRef>
          </c:tx>
          <c:dPt>
            <c:idx val="0"/>
            <c:bubble3D val="0"/>
            <c:spPr>
              <a:solidFill>
                <a:srgbClr val="FF6C0E"/>
              </a:solidFill>
            </c:spPr>
            <c:extLst>
              <c:ext xmlns:c16="http://schemas.microsoft.com/office/drawing/2014/chart" uri="{C3380CC4-5D6E-409C-BE32-E72D297353CC}">
                <c16:uniqueId val="{00000001-4C58-46F0-85EB-19DB55FECB80}"/>
              </c:ext>
            </c:extLst>
          </c:dPt>
          <c:dPt>
            <c:idx val="1"/>
            <c:bubble3D val="0"/>
            <c:spPr>
              <a:solidFill>
                <a:srgbClr val="FFC545"/>
              </a:solidFill>
            </c:spPr>
            <c:extLst>
              <c:ext xmlns:c16="http://schemas.microsoft.com/office/drawing/2014/chart" uri="{C3380CC4-5D6E-409C-BE32-E72D297353CC}">
                <c16:uniqueId val="{00000003-4C58-46F0-85EB-19DB55FECB80}"/>
              </c:ext>
            </c:extLst>
          </c:dPt>
          <c:dPt>
            <c:idx val="2"/>
            <c:spPr>
              <a:solidFill>
                <a:srgbClr val="AC5D85"/>
              </a:solidFill>
            </c:spPr>
          </c:dPt>
          <c:cat>
            <c:strRef>
              <c:f>Sheet1!$A$2:$A$4</c:f>
              <c:strCache>
                <c:ptCount val="3"/>
                <c:pt idx="0">
                  <c:v>Fund  51%</c:v>
                </c:pt>
                <c:pt idx="1">
                  <c:v>Direct line  44%</c:v>
                </c:pt>
                <c:pt idx="2">
                  <c:v>Structured / AMC  6%</c:v>
                </c:pt>
              </c:strCache>
            </c:strRef>
          </c:cat>
          <c:val>
            <c:numRef>
              <c:f>Sheet1!$B$2:$B$4</c:f>
              <c:numCache>
                <c:formatCode>General</c:formatCode>
                <c:ptCount val="3"/>
                <c:pt idx="0">
                  <c:v>0.50623703</c:v>
                </c:pt>
                <c:pt idx="1">
                  <c:v>0.43645277</c:v>
                </c:pt>
                <c:pt idx="2">
                  <c:v>0.05731019</c:v>
                </c:pt>
              </c:numCache>
            </c:numRef>
          </c:val>
          <c:extLst>
            <c:ext xmlns:c16="http://schemas.microsoft.com/office/drawing/2014/chart" uri="{C3380CC4-5D6E-409C-BE32-E72D297353CC}">
              <c16:uniqueId val="{00000004-4C58-46F0-85EB-19DB55FECB80}"/>
            </c:ext>
          </c:extLst>
        </c:ser>
        <c:dLbls>
          <c:showLegendKey val="0"/>
          <c:showVal val="0"/>
          <c:showCatName val="0"/>
          <c:showSerName val="0"/>
          <c:showPercent val="0"/>
          <c:showBubbleSize val="0"/>
          <c:showLeaderLines val="1"/>
        </c:dLbls>
        <c:firstSliceAng val="0"/>
        <c:holeSize val="70"/>
      </c:doughnutChart>
    </c:plotArea>
    <c:legend>
      <c:legendPos val="r"/>
      <c:overlay val="0"/>
      <c:txPr>
        <a:bodyPr/>
        <a:lstStyle/>
        <a:p>
          <a:pPr>
            <a:defRPr sz="1300"/>
          </a:pPr>
          <a:endParaRPr lang="en-CH"/>
        </a:p>
      </c:txPr>
    </c:legend>
    <c:plotVisOnly val="1"/>
    <c:dispBlanksAs val="gap"/>
    <c:showDLblsOverMax val="0"/>
  </c:chart>
  <c:txPr>
    <a:bodyPr/>
    <a:lstStyle/>
    <a:p>
      <a:pPr>
        <a:defRPr sz="1300">
          <a:solidFill>
            <a:srgbClr val="202945"/>
          </a:solidFill>
          <a:latin typeface="Nunito Sans"/>
        </a:defRPr>
      </a:pPr>
      <a:endParaRPr lang="en-CH"/>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2"/>
          <c:y val="0.04"/>
          <c:w val="0.56000000000000005"/>
          <c:h val="0.92"/>
        </c:manualLayout>
      </c:layout>
      <c:doughnutChart>
        <c:varyColors val="1"/>
        <c:dLbls>
          <c:showLegendKey val="0"/>
          <c:showVal val="0"/>
          <c:showCatName val="0"/>
          <c:showSerName val="0"/>
          <c:showPercent val="0"/>
          <c:showBubbleSize val="0"/>
          <c:showLeaderLines val="0"/>
        </c:dLbls>
        <c:firstSliceAng val="0"/>
        <c:holeSize val="70"/>
      </c:doughnutChart>
    </c:plotArea>
    <c:legend>
      <c:legendPos val="r"/>
      <c:overlay val="0"/>
    </c:legend>
    <c:plotVisOnly val="1"/>
    <c:dispBlanksAs val="gap"/>
    <c:showDLblsOverMax val="0"/>
  </c:chart>
  <c:spPr>
    <a:ln>
      <a:noFill/>
    </a:ln>
    <a:effectLst/>
  </c:spPr>
  <c:txPr>
    <a:bodyPr/>
    <a:lstStyle/>
    <a:p>
      <a:pPr>
        <a:defRPr sz="1400">
          <a:solidFill>
            <a:srgbClr val="202945"/>
          </a:solidFill>
          <a:latin typeface="Nunito Sans"/>
        </a:defRPr>
      </a:pPr>
      <a:endParaRPr lang="en-CH"/>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04"/>
          <c:w val="0.56000000000000005"/>
          <c:h val="0.92"/>
        </c:manualLayout>
      </c:layout>
      <c:doughnutChart>
        <c:varyColors val="1"/>
        <c:ser>
          <c:idx val="0"/>
          <c:order val="0"/>
          <c:tx>
            <c:strRef>
              <c:f>Sheet1!$B$1</c:f>
              <c:strCache>
                <c:ptCount val="1"/>
                <c:pt idx="0">
                  <c:v/>
                </c:pt>
              </c:strCache>
            </c:strRef>
          </c:tx>
          <c:dPt>
            <c:idx val="0"/>
            <c:bubble3D val="0"/>
            <c:spPr>
              <a:solidFill>
                <a:srgbClr val="FF6C0E"/>
              </a:solidFill>
            </c:spPr>
            <c:extLst>
              <c:ext xmlns:c16="http://schemas.microsoft.com/office/drawing/2014/chart" uri="{C3380CC4-5D6E-409C-BE32-E72D297353CC}">
                <c16:uniqueId val="{00000001-AED1-461B-9628-3BCC513998CA}"/>
              </c:ext>
            </c:extLst>
          </c:dPt>
          <c:cat>
            <c:strRef>
              <c:f>Sheet1!$A$2:$A$2</c:f>
              <c:strCache>
                <c:ptCount val="1"/>
                <c:pt idx="0">
                  <c:v>Fund  100%</c:v>
                </c:pt>
              </c:strCache>
            </c:strRef>
          </c:cat>
          <c:val>
            <c:numRef>
              <c:f>Sheet1!$B$2:$B$2</c:f>
              <c:numCache>
                <c:formatCode>General</c:formatCode>
                <c:ptCount val="1"/>
                <c:pt idx="0">
                  <c:v>1.0</c:v>
                </c:pt>
              </c:numCache>
            </c:numRef>
          </c:val>
          <c:extLst>
            <c:ext xmlns:c16="http://schemas.microsoft.com/office/drawing/2014/chart" uri="{C3380CC4-5D6E-409C-BE32-E72D297353CC}">
              <c16:uniqueId val="{00000002-AED1-461B-9628-3BCC513998CA}"/>
            </c:ext>
          </c:extLst>
        </c:ser>
        <c:dLbls>
          <c:showLegendKey val="0"/>
          <c:showVal val="0"/>
          <c:showCatName val="0"/>
          <c:showSerName val="0"/>
          <c:showPercent val="0"/>
          <c:showBubbleSize val="0"/>
          <c:showLeaderLines val="1"/>
        </c:dLbls>
        <c:firstSliceAng val="0"/>
        <c:holeSize val="70"/>
      </c:doughnutChart>
    </c:plotArea>
    <c:legend>
      <c:legendPos val="r"/>
      <c:legendEntry>
        <c:idx val="0"/>
        <c:txPr>
          <a:bodyPr/>
          <a:lstStyle/>
          <a:p>
            <a:pPr>
              <a:defRPr sz="1200"/>
            </a:pPr>
            <a:endParaRPr lang="en-CH"/>
          </a:p>
        </c:txPr>
      </c:legendEntry>
      <c:overlay val="0"/>
      <c:txPr>
        <a:bodyPr/>
        <a:lstStyle/>
        <a:p>
          <a:pPr>
            <a:defRPr sz="1200"/>
          </a:pPr>
          <a:endParaRPr lang="en-CH"/>
        </a:p>
      </c:txPr>
    </c:legend>
    <c:plotVisOnly val="1"/>
    <c:dispBlanksAs val="gap"/>
    <c:showDLblsOverMax val="0"/>
  </c:chart>
  <c:txPr>
    <a:bodyPr/>
    <a:lstStyle/>
    <a:p>
      <a:pPr>
        <a:defRPr sz="1300">
          <a:solidFill>
            <a:srgbClr val="202945"/>
          </a:solidFill>
          <a:latin typeface="Nunito Sans"/>
        </a:defRPr>
      </a:pPr>
      <a:endParaRPr lang="en-CH"/>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04"/>
          <c:w val="0.56000000000000005"/>
          <c:h val="0.92"/>
        </c:manualLayout>
      </c:layout>
      <c:doughnutChart>
        <c:varyColors val="1"/>
        <c:ser>
          <c:idx val="0"/>
          <c:order val="0"/>
          <c:tx>
            <c:strRef>
              <c:f>Sheet1!$B$1</c:f>
              <c:strCache>
                <c:ptCount val="1"/>
                <c:pt idx="0">
                  <c:v/>
                </c:pt>
              </c:strCache>
            </c:strRef>
          </c:tx>
          <c:dPt>
            <c:idx val="0"/>
            <c:bubble3D val="0"/>
            <c:spPr>
              <a:solidFill>
                <a:srgbClr val="FF6C0E"/>
              </a:solidFill>
            </c:spPr>
            <c:extLst>
              <c:ext xmlns:c16="http://schemas.microsoft.com/office/drawing/2014/chart" uri="{C3380CC4-5D6E-409C-BE32-E72D297353CC}">
                <c16:uniqueId val="{00000001-AED1-461B-9628-3BCC513998CA}"/>
              </c:ext>
            </c:extLst>
          </c:dPt>
          <c:dPt>
            <c:idx val="1"/>
            <c:spPr>
              <a:solidFill>
                <a:srgbClr val="4B5F80"/>
              </a:solidFill>
            </c:spPr>
          </c:dPt>
          <c:cat>
            <c:strRef>
              <c:f>Sheet1!$A$2:$A$3</c:f>
              <c:strCache>
                <c:ptCount val="2"/>
                <c:pt idx="0">
                  <c:v>Direct line  86%</c:v>
                </c:pt>
                <c:pt idx="1">
                  <c:v>Fund  14%</c:v>
                </c:pt>
              </c:strCache>
            </c:strRef>
          </c:cat>
          <c:val>
            <c:numRef>
              <c:f>Sheet1!$B$2:$B$3</c:f>
              <c:numCache>
                <c:formatCode>General</c:formatCode>
                <c:ptCount val="2"/>
                <c:pt idx="0">
                  <c:v>0.85866115</c:v>
                </c:pt>
                <c:pt idx="1">
                  <c:v>0.14133885</c:v>
                </c:pt>
              </c:numCache>
            </c:numRef>
          </c:val>
          <c:extLst>
            <c:ext xmlns:c16="http://schemas.microsoft.com/office/drawing/2014/chart" uri="{C3380CC4-5D6E-409C-BE32-E72D297353CC}">
              <c16:uniqueId val="{00000002-AED1-461B-9628-3BCC513998CA}"/>
            </c:ext>
          </c:extLst>
        </c:ser>
        <c:dLbls>
          <c:showLegendKey val="0"/>
          <c:showVal val="0"/>
          <c:showCatName val="0"/>
          <c:showSerName val="0"/>
          <c:showPercent val="0"/>
          <c:showBubbleSize val="0"/>
          <c:showLeaderLines val="1"/>
        </c:dLbls>
        <c:firstSliceAng val="0"/>
        <c:holeSize val="70"/>
      </c:doughnutChart>
    </c:plotArea>
    <c:legend>
      <c:legendPos val="r"/>
      <c:legendEntry>
        <c:idx val="0"/>
        <c:txPr>
          <a:bodyPr/>
          <a:lstStyle/>
          <a:p>
            <a:pPr>
              <a:defRPr sz="1200"/>
            </a:pPr>
            <a:endParaRPr lang="en-CH"/>
          </a:p>
        </c:txPr>
      </c:legendEntry>
      <c:overlay val="0"/>
      <c:txPr>
        <a:bodyPr/>
        <a:lstStyle/>
        <a:p>
          <a:pPr>
            <a:defRPr sz="1200"/>
          </a:pPr>
          <a:endParaRPr lang="en-CH"/>
        </a:p>
      </c:txPr>
    </c:legend>
    <c:plotVisOnly val="1"/>
    <c:dispBlanksAs val="gap"/>
    <c:showDLblsOverMax val="0"/>
  </c:chart>
  <c:txPr>
    <a:bodyPr/>
    <a:lstStyle/>
    <a:p>
      <a:pPr>
        <a:defRPr sz="1300">
          <a:solidFill>
            <a:srgbClr val="202945"/>
          </a:solidFill>
          <a:latin typeface="Nunito Sans"/>
        </a:defRPr>
      </a:pPr>
      <a:endParaRPr lang="en-CH"/>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04"/>
          <c:w val="0.56000000000000005"/>
          <c:h val="0.92"/>
        </c:manualLayout>
      </c:layout>
      <c:doughnutChart>
        <c:varyColors val="1"/>
        <c:ser>
          <c:idx val="0"/>
          <c:order val="0"/>
          <c:tx>
            <c:strRef>
              <c:f>Sheet1!$B$1</c:f>
              <c:strCache>
                <c:ptCount val="1"/>
                <c:pt idx="0">
                  <c:v/>
                </c:pt>
              </c:strCache>
            </c:strRef>
          </c:tx>
          <c:dPt>
            <c:idx val="0"/>
            <c:bubble3D val="0"/>
            <c:spPr>
              <a:solidFill>
                <a:srgbClr val="FF6C0E"/>
              </a:solidFill>
            </c:spPr>
            <c:extLst>
              <c:ext xmlns:c16="http://schemas.microsoft.com/office/drawing/2014/chart" uri="{C3380CC4-5D6E-409C-BE32-E72D297353CC}">
                <c16:uniqueId val="{00000001-8EC8-4112-B258-3651A3B751D3}"/>
              </c:ext>
            </c:extLst>
          </c:dPt>
          <c:dPt>
            <c:idx val="1"/>
            <c:bubble3D val="0"/>
            <c:spPr>
              <a:solidFill>
                <a:srgbClr val="FFC545"/>
              </a:solidFill>
            </c:spPr>
            <c:extLst>
              <c:ext xmlns:c16="http://schemas.microsoft.com/office/drawing/2014/chart" uri="{C3380CC4-5D6E-409C-BE32-E72D297353CC}">
                <c16:uniqueId val="{00000003-8EC8-4112-B258-3651A3B751D3}"/>
              </c:ext>
            </c:extLst>
          </c:dPt>
          <c:dPt>
            <c:idx val="2"/>
            <c:bubble3D val="0"/>
            <c:spPr>
              <a:solidFill>
                <a:srgbClr val="79D6FF"/>
              </a:solidFill>
            </c:spPr>
            <c:extLst>
              <c:ext xmlns:c16="http://schemas.microsoft.com/office/drawing/2014/chart" uri="{C3380CC4-5D6E-409C-BE32-E72D297353CC}">
                <c16:uniqueId val="{00000005-8EC8-4112-B258-3651A3B751D3}"/>
              </c:ext>
            </c:extLst>
          </c:dPt>
          <c:dPt>
            <c:idx val="3"/>
            <c:spPr>
              <a:solidFill>
                <a:srgbClr val="FFA400"/>
              </a:solidFill>
            </c:spPr>
          </c:dPt>
          <c:dPt>
            <c:idx val="4"/>
            <c:spPr>
              <a:solidFill>
                <a:srgbClr val="202945"/>
              </a:solidFill>
            </c:spPr>
          </c:dPt>
          <c:cat>
            <c:strRef>
              <c:f>Sheet1!$A$2:$A$6</c:f>
              <c:strCache>
                <c:ptCount val="5"/>
                <c:pt idx="0">
                  <c:v>Listed  34%</c:v>
                </c:pt>
                <c:pt idx="1">
                  <c:v>Daily-liquid fund  26%</c:v>
                </c:pt>
                <c:pt idx="2">
                  <c:v>Physical assets  21%</c:v>
                </c:pt>
                <c:pt idx="3">
                  <c:v>Illiquid (lock-up)  17%</c:v>
                </c:pt>
                <c:pt idx="4">
                  <c:v>Cash &amp; metal accounts  3%</c:v>
                </c:pt>
              </c:strCache>
            </c:strRef>
          </c:cat>
          <c:val>
            <c:numRef>
              <c:f>Sheet1!$B$2:$B$6</c:f>
              <c:numCache>
                <c:formatCode>General</c:formatCode>
                <c:ptCount val="5"/>
                <c:pt idx="0">
                  <c:v>0.33920504</c:v>
                </c:pt>
                <c:pt idx="1">
                  <c:v>0.25679113000000003</c:v>
                </c:pt>
                <c:pt idx="2">
                  <c:v>0.21330245</c:v>
                </c:pt>
                <c:pt idx="3">
                  <c:v>0.16559767999999997</c:v>
                </c:pt>
                <c:pt idx="4">
                  <c:v>0.0251037</c:v>
                </c:pt>
              </c:numCache>
            </c:numRef>
          </c:val>
          <c:extLst>
            <c:ext xmlns:c16="http://schemas.microsoft.com/office/drawing/2014/chart" uri="{C3380CC4-5D6E-409C-BE32-E72D297353CC}">
              <c16:uniqueId val="{00000006-8EC8-4112-B258-3651A3B751D3}"/>
            </c:ext>
          </c:extLst>
        </c:ser>
        <c:dLbls>
          <c:showLegendKey val="0"/>
          <c:showVal val="0"/>
          <c:showCatName val="0"/>
          <c:showSerName val="0"/>
          <c:showPercent val="0"/>
          <c:showBubbleSize val="0"/>
          <c:showLeaderLines val="1"/>
        </c:dLbls>
        <c:firstSliceAng val="0"/>
        <c:holeSize val="70"/>
      </c:doughnutChart>
    </c:plotArea>
    <c:legend>
      <c:legendPos val="r"/>
      <c:legendEntry>
        <c:idx val="0"/>
        <c:txPr>
          <a:bodyPr/>
          <a:lstStyle/>
          <a:p>
            <a:pPr>
              <a:defRPr sz="1200"/>
            </a:pPr>
            <a:endParaRPr lang="en-CH"/>
          </a:p>
        </c:txPr>
      </c:legendEntry>
      <c:legendEntry>
        <c:idx val="1"/>
        <c:txPr>
          <a:bodyPr/>
          <a:lstStyle/>
          <a:p>
            <a:pPr>
              <a:defRPr sz="1200"/>
            </a:pPr>
            <a:endParaRPr lang="en-CH"/>
          </a:p>
        </c:txPr>
      </c:legendEntry>
      <c:legendEntry>
        <c:idx val="2"/>
        <c:txPr>
          <a:bodyPr/>
          <a:lstStyle/>
          <a:p>
            <a:pPr>
              <a:defRPr sz="1200"/>
            </a:pPr>
            <a:endParaRPr lang="en-CH"/>
          </a:p>
        </c:txPr>
      </c:legendEntry>
      <c:overlay val="0"/>
      <c:txPr>
        <a:bodyPr/>
        <a:lstStyle/>
        <a:p>
          <a:pPr>
            <a:defRPr sz="1200"/>
          </a:pPr>
          <a:endParaRPr lang="en-CH"/>
        </a:p>
      </c:txPr>
    </c:legend>
    <c:plotVisOnly val="1"/>
    <c:dispBlanksAs val="gap"/>
    <c:showDLblsOverMax val="0"/>
  </c:chart>
  <c:txPr>
    <a:bodyPr/>
    <a:lstStyle/>
    <a:p>
      <a:pPr>
        <a:defRPr sz="1300">
          <a:solidFill>
            <a:srgbClr val="202945"/>
          </a:solidFill>
          <a:latin typeface="Nunito Sans"/>
        </a:defRPr>
      </a:pPr>
      <a:endParaRPr lang="en-CH"/>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89FB62C-34C7-C950-6EDA-37D4080E2E27}"/>
              </a:ext>
            </a:extLst>
          </p:cNvPr>
          <p:cNvSpPr>
            <a:spLocks noGrp="1"/>
          </p:cNvSpPr>
          <p:nvPr>
            <p:ph type="hdr" sz="quarter"/>
          </p:nvPr>
        </p:nvSpPr>
        <p:spPr>
          <a:xfrm>
            <a:off x="1" y="0"/>
            <a:ext cx="2945659" cy="498056"/>
          </a:xfrm>
          <a:prstGeom prst="rect">
            <a:avLst/>
          </a:prstGeom>
        </p:spPr>
        <p:txBody>
          <a:bodyPr vert="horz" lIns="91440" tIns="45720" rIns="91440" bIns="45720" rtlCol="0"/>
          <a:lstStyle>
            <a:lvl1pPr algn="l">
              <a:defRPr sz="1200"/>
            </a:lvl1pPr>
          </a:lstStyle>
          <a:p>
            <a:endParaRPr lang="fr-CH"/>
          </a:p>
        </p:txBody>
      </p:sp>
      <p:sp>
        <p:nvSpPr>
          <p:cNvPr id="3" name="Date Placeholder 2">
            <a:extLst>
              <a:ext uri="{FF2B5EF4-FFF2-40B4-BE49-F238E27FC236}">
                <a16:creationId xmlns:a16="http://schemas.microsoft.com/office/drawing/2014/main" id="{F81EFBB5-D2A0-3F2F-F8A6-3BE73464E49A}"/>
              </a:ext>
            </a:extLst>
          </p:cNvPr>
          <p:cNvSpPr>
            <a:spLocks noGrp="1"/>
          </p:cNvSpPr>
          <p:nvPr>
            <p:ph type="dt" sz="quarter" idx="1"/>
          </p:nvPr>
        </p:nvSpPr>
        <p:spPr>
          <a:xfrm>
            <a:off x="3850444" y="0"/>
            <a:ext cx="2945659" cy="498056"/>
          </a:xfrm>
          <a:prstGeom prst="rect">
            <a:avLst/>
          </a:prstGeom>
        </p:spPr>
        <p:txBody>
          <a:bodyPr vert="horz" lIns="91440" tIns="45720" rIns="91440" bIns="45720" rtlCol="0"/>
          <a:lstStyle>
            <a:lvl1pPr algn="r">
              <a:defRPr sz="1200"/>
            </a:lvl1pPr>
          </a:lstStyle>
          <a:p>
            <a:fld id="{3531B123-D5C2-46AB-84D1-B3439C6E55E4}" type="datetimeFigureOut">
              <a:rPr lang="fr-CH" smtClean="0"/>
              <a:t>17.08.2026</a:t>
            </a:fld>
            <a:endParaRPr lang="fr-CH"/>
          </a:p>
        </p:txBody>
      </p:sp>
      <p:sp>
        <p:nvSpPr>
          <p:cNvPr id="4" name="Footer Placeholder 3">
            <a:extLst>
              <a:ext uri="{FF2B5EF4-FFF2-40B4-BE49-F238E27FC236}">
                <a16:creationId xmlns:a16="http://schemas.microsoft.com/office/drawing/2014/main" id="{B96C4A39-9384-3942-F077-81E7BB567B49}"/>
              </a:ext>
            </a:extLst>
          </p:cNvPr>
          <p:cNvSpPr>
            <a:spLocks noGrp="1"/>
          </p:cNvSpPr>
          <p:nvPr>
            <p:ph type="ftr" sz="quarter" idx="2"/>
          </p:nvPr>
        </p:nvSpPr>
        <p:spPr>
          <a:xfrm>
            <a:off x="1" y="9428585"/>
            <a:ext cx="2945659" cy="498055"/>
          </a:xfrm>
          <a:prstGeom prst="rect">
            <a:avLst/>
          </a:prstGeom>
        </p:spPr>
        <p:txBody>
          <a:bodyPr vert="horz" lIns="91440" tIns="45720" rIns="91440" bIns="45720" rtlCol="0" anchor="b"/>
          <a:lstStyle>
            <a:lvl1pPr algn="l">
              <a:defRPr sz="1200"/>
            </a:lvl1pPr>
          </a:lstStyle>
          <a:p>
            <a:endParaRPr lang="fr-CH"/>
          </a:p>
        </p:txBody>
      </p:sp>
      <p:sp>
        <p:nvSpPr>
          <p:cNvPr id="5" name="Slide Number Placeholder 4">
            <a:extLst>
              <a:ext uri="{FF2B5EF4-FFF2-40B4-BE49-F238E27FC236}">
                <a16:creationId xmlns:a16="http://schemas.microsoft.com/office/drawing/2014/main" id="{86DE8807-C32A-5172-B001-63D1D854AC46}"/>
              </a:ext>
            </a:extLst>
          </p:cNvPr>
          <p:cNvSpPr>
            <a:spLocks noGrp="1"/>
          </p:cNvSpPr>
          <p:nvPr>
            <p:ph type="sldNum" sz="quarter" idx="3"/>
          </p:nvPr>
        </p:nvSpPr>
        <p:spPr>
          <a:xfrm>
            <a:off x="3850444" y="9428585"/>
            <a:ext cx="2945659" cy="498055"/>
          </a:xfrm>
          <a:prstGeom prst="rect">
            <a:avLst/>
          </a:prstGeom>
        </p:spPr>
        <p:txBody>
          <a:bodyPr vert="horz" lIns="91440" tIns="45720" rIns="91440" bIns="45720" rtlCol="0" anchor="b"/>
          <a:lstStyle>
            <a:lvl1pPr algn="r">
              <a:defRPr sz="1200"/>
            </a:lvl1pPr>
          </a:lstStyle>
          <a:p>
            <a:fld id="{963FD519-F66F-452D-B925-0199049DD93F}" type="slidenum">
              <a:rPr lang="fr-CH" smtClean="0"/>
              <a:t>‹#›</a:t>
            </a:fld>
            <a:endParaRPr lang="fr-CH"/>
          </a:p>
        </p:txBody>
      </p:sp>
    </p:spTree>
    <p:extLst>
      <p:ext uri="{BB962C8B-B14F-4D97-AF65-F5344CB8AC3E}">
        <p14:creationId xmlns:p14="http://schemas.microsoft.com/office/powerpoint/2010/main" val="9109065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1" y="0"/>
            <a:ext cx="2945659" cy="498056"/>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50444" y="0"/>
            <a:ext cx="2945659" cy="498056"/>
          </a:xfrm>
          <a:prstGeom prst="rect">
            <a:avLst/>
          </a:prstGeom>
        </p:spPr>
        <p:txBody>
          <a:bodyPr vert="horz" lIns="91440" tIns="45720" rIns="91440" bIns="45720" rtlCol="0"/>
          <a:lstStyle>
            <a:lvl1pPr algn="r">
              <a:defRPr sz="1200"/>
            </a:lvl1pPr>
          </a:lstStyle>
          <a:p>
            <a:fld id="{5E93E09A-228D-4562-A1B1-13015B77C2C1}" type="datetimeFigureOut">
              <a:rPr lang="fr-FR" smtClean="0"/>
              <a:t>17/08/2026</a:t>
            </a:fld>
            <a:endParaRPr lang="fr-FR"/>
          </a:p>
        </p:txBody>
      </p:sp>
      <p:sp>
        <p:nvSpPr>
          <p:cNvPr id="4" name="Espace réservé de l'image des diapositives 3"/>
          <p:cNvSpPr>
            <a:spLocks noGrp="1" noRot="1" noChangeAspect="1"/>
          </p:cNvSpPr>
          <p:nvPr>
            <p:ph type="sldImg" idx="2"/>
          </p:nvPr>
        </p:nvSpPr>
        <p:spPr>
          <a:xfrm>
            <a:off x="1030288" y="1241425"/>
            <a:ext cx="4737100" cy="3349625"/>
          </a:xfrm>
          <a:prstGeom prst="rect">
            <a:avLst/>
          </a:prstGeom>
          <a:noFill/>
          <a:ln w="12700">
            <a:solidFill>
              <a:prstClr val="black"/>
            </a:solidFill>
          </a:ln>
        </p:spPr>
      </p:sp>
      <p:sp>
        <p:nvSpPr>
          <p:cNvPr id="5" name="Espace réservé des notes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1" y="9428585"/>
            <a:ext cx="2945659" cy="498055"/>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50444" y="9428585"/>
            <a:ext cx="2945659" cy="498055"/>
          </a:xfrm>
          <a:prstGeom prst="rect">
            <a:avLst/>
          </a:prstGeom>
        </p:spPr>
        <p:txBody>
          <a:bodyPr vert="horz" lIns="91440" tIns="45720" rIns="91440" bIns="45720" rtlCol="0" anchor="b"/>
          <a:lstStyle>
            <a:lvl1pPr algn="r">
              <a:defRPr sz="1200"/>
            </a:lvl1pPr>
          </a:lstStyle>
          <a:p>
            <a:fld id="{CDC1F2C2-3FE6-4E84-9695-8A42647BC1FB}" type="slidenum">
              <a:rPr lang="fr-FR" smtClean="0"/>
              <a:t>‹#›</a:t>
            </a:fld>
            <a:endParaRPr lang="fr-FR"/>
          </a:p>
        </p:txBody>
      </p:sp>
    </p:spTree>
    <p:extLst>
      <p:ext uri="{BB962C8B-B14F-4D97-AF65-F5344CB8AC3E}">
        <p14:creationId xmlns:p14="http://schemas.microsoft.com/office/powerpoint/2010/main" val="1155130610"/>
      </p:ext>
    </p:extLst>
  </p:cSld>
  <p:clrMap bg1="lt1" tx1="dk1" bg2="lt2" tx2="dk2" accent1="accent1" accent2="accent2" accent3="accent3" accent4="accent4" accent5="accent5" accent6="accent6" hlink="hlink" folHlink="folHlink"/>
  <p:notesStyle>
    <a:lvl1pPr marL="0" algn="l" defTabSz="914261" rtl="0" eaLnBrk="1" latinLnBrk="0" hangingPunct="1">
      <a:defRPr sz="1199" kern="1200">
        <a:solidFill>
          <a:schemeClr val="tx1"/>
        </a:solidFill>
        <a:latin typeface="+mn-lt"/>
        <a:ea typeface="+mn-ea"/>
        <a:cs typeface="+mn-cs"/>
      </a:defRPr>
    </a:lvl1pPr>
    <a:lvl2pPr marL="457129" algn="l" defTabSz="914261" rtl="0" eaLnBrk="1" latinLnBrk="0" hangingPunct="1">
      <a:defRPr sz="1199" kern="1200">
        <a:solidFill>
          <a:schemeClr val="tx1"/>
        </a:solidFill>
        <a:latin typeface="+mn-lt"/>
        <a:ea typeface="+mn-ea"/>
        <a:cs typeface="+mn-cs"/>
      </a:defRPr>
    </a:lvl2pPr>
    <a:lvl3pPr marL="914261" algn="l" defTabSz="914261" rtl="0" eaLnBrk="1" latinLnBrk="0" hangingPunct="1">
      <a:defRPr sz="1199" kern="1200">
        <a:solidFill>
          <a:schemeClr val="tx1"/>
        </a:solidFill>
        <a:latin typeface="+mn-lt"/>
        <a:ea typeface="+mn-ea"/>
        <a:cs typeface="+mn-cs"/>
      </a:defRPr>
    </a:lvl3pPr>
    <a:lvl4pPr marL="1371389" algn="l" defTabSz="914261" rtl="0" eaLnBrk="1" latinLnBrk="0" hangingPunct="1">
      <a:defRPr sz="1199" kern="1200">
        <a:solidFill>
          <a:schemeClr val="tx1"/>
        </a:solidFill>
        <a:latin typeface="+mn-lt"/>
        <a:ea typeface="+mn-ea"/>
        <a:cs typeface="+mn-cs"/>
      </a:defRPr>
    </a:lvl4pPr>
    <a:lvl5pPr marL="1828519" algn="l" defTabSz="914261" rtl="0" eaLnBrk="1" latinLnBrk="0" hangingPunct="1">
      <a:defRPr sz="1199" kern="1200">
        <a:solidFill>
          <a:schemeClr val="tx1"/>
        </a:solidFill>
        <a:latin typeface="+mn-lt"/>
        <a:ea typeface="+mn-ea"/>
        <a:cs typeface="+mn-cs"/>
      </a:defRPr>
    </a:lvl5pPr>
    <a:lvl6pPr marL="2285649" algn="l" defTabSz="914261" rtl="0" eaLnBrk="1" latinLnBrk="0" hangingPunct="1">
      <a:defRPr sz="1199" kern="1200">
        <a:solidFill>
          <a:schemeClr val="tx1"/>
        </a:solidFill>
        <a:latin typeface="+mn-lt"/>
        <a:ea typeface="+mn-ea"/>
        <a:cs typeface="+mn-cs"/>
      </a:defRPr>
    </a:lvl6pPr>
    <a:lvl7pPr marL="2742778" algn="l" defTabSz="914261" rtl="0" eaLnBrk="1" latinLnBrk="0" hangingPunct="1">
      <a:defRPr sz="1199" kern="1200">
        <a:solidFill>
          <a:schemeClr val="tx1"/>
        </a:solidFill>
        <a:latin typeface="+mn-lt"/>
        <a:ea typeface="+mn-ea"/>
        <a:cs typeface="+mn-cs"/>
      </a:defRPr>
    </a:lvl7pPr>
    <a:lvl8pPr marL="3199907" algn="l" defTabSz="914261" rtl="0" eaLnBrk="1" latinLnBrk="0" hangingPunct="1">
      <a:defRPr sz="1199" kern="1200">
        <a:solidFill>
          <a:schemeClr val="tx1"/>
        </a:solidFill>
        <a:latin typeface="+mn-lt"/>
        <a:ea typeface="+mn-ea"/>
        <a:cs typeface="+mn-cs"/>
      </a:defRPr>
    </a:lvl8pPr>
    <a:lvl9pPr marL="3657037" algn="l" defTabSz="914261" rtl="0" eaLnBrk="1" latinLnBrk="0" hangingPunct="1">
      <a:defRPr sz="1199"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0DEC2-83E7-0E2C-49CA-B9CEEEF83E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E59EFB-4143-AFDE-0AEE-503A3AC659EE}"/>
              </a:ext>
            </a:extLst>
          </p:cNvPr>
          <p:cNvSpPr>
            <a:spLocks noGrp="1" noRot="1" noChangeAspect="1"/>
          </p:cNvSpPr>
          <p:nvPr>
            <p:ph type="sldImg"/>
          </p:nvPr>
        </p:nvSpPr>
        <p:spPr/>
        <p:txBody>
          <a:bodyPr/>
          <a:lstStyle/>
          <a:p>
            <a:endParaRPr lang="en-CH"/>
          </a:p>
        </p:txBody>
      </p:sp>
      <p:sp>
        <p:nvSpPr>
          <p:cNvPr id="3" name="Notes Placeholder 2">
            <a:extLst>
              <a:ext uri="{FF2B5EF4-FFF2-40B4-BE49-F238E27FC236}">
                <a16:creationId xmlns:a16="http://schemas.microsoft.com/office/drawing/2014/main" id="{11CE799E-74CF-9A91-D49C-79BE39BF299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4C5FA5D7-ACCA-2EE7-1D86-47D243274107}"/>
              </a:ext>
            </a:extLst>
          </p:cNvPr>
          <p:cNvSpPr>
            <a:spLocks noGrp="1"/>
          </p:cNvSpPr>
          <p:nvPr>
            <p:ph type="sldNum" sz="quarter" idx="5"/>
          </p:nvPr>
        </p:nvSpPr>
        <p:spPr/>
        <p:txBody>
          <a:bodyPr/>
          <a:lstStyle/>
          <a:p>
            <a:fld id="{CDC1F2C2-3FE6-4E84-9695-8A42647BC1FB}" type="slidenum">
              <a:rPr lang="fr-FR" smtClean="0"/>
              <a:t>23</a:t>
            </a:fld>
            <a:endParaRPr lang="fr-FR"/>
          </a:p>
        </p:txBody>
      </p:sp>
    </p:spTree>
    <p:extLst>
      <p:ext uri="{BB962C8B-B14F-4D97-AF65-F5344CB8AC3E}">
        <p14:creationId xmlns:p14="http://schemas.microsoft.com/office/powerpoint/2010/main" val="3334157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DC1F2C2-3FE6-4E84-9695-8A42647BC1FB}" type="slidenum">
              <a:rPr lang="fr-FR" smtClean="0"/>
              <a:t>24</a:t>
            </a:fld>
            <a:endParaRPr lang="fr-FR"/>
          </a:p>
        </p:txBody>
      </p:sp>
    </p:spTree>
    <p:extLst>
      <p:ext uri="{BB962C8B-B14F-4D97-AF65-F5344CB8AC3E}">
        <p14:creationId xmlns:p14="http://schemas.microsoft.com/office/powerpoint/2010/main" val="2165975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H"/>
          </a:p>
        </p:txBody>
      </p:sp>
      <p:sp>
        <p:nvSpPr>
          <p:cNvPr id="4" name="Slide Number Placeholder 3"/>
          <p:cNvSpPr>
            <a:spLocks noGrp="1"/>
          </p:cNvSpPr>
          <p:nvPr>
            <p:ph type="sldNum" sz="quarter" idx="5"/>
          </p:nvPr>
        </p:nvSpPr>
        <p:spPr/>
        <p:txBody>
          <a:bodyPr/>
          <a:lstStyle/>
          <a:p>
            <a:fld id="{CDC1F2C2-3FE6-4E84-9695-8A42647BC1FB}" type="slidenum">
              <a:rPr lang="fr-FR" smtClean="0"/>
              <a:t>26</a:t>
            </a:fld>
            <a:endParaRPr lang="fr-FR"/>
          </a:p>
        </p:txBody>
      </p:sp>
    </p:spTree>
    <p:extLst>
      <p:ext uri="{BB962C8B-B14F-4D97-AF65-F5344CB8AC3E}">
        <p14:creationId xmlns:p14="http://schemas.microsoft.com/office/powerpoint/2010/main" val="19553029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H"/>
          </a:p>
        </p:txBody>
      </p:sp>
      <p:sp>
        <p:nvSpPr>
          <p:cNvPr id="4" name="Slide Number Placeholder 3"/>
          <p:cNvSpPr>
            <a:spLocks noGrp="1"/>
          </p:cNvSpPr>
          <p:nvPr>
            <p:ph type="sldNum" sz="quarter" idx="5"/>
          </p:nvPr>
        </p:nvSpPr>
        <p:spPr/>
        <p:txBody>
          <a:bodyPr/>
          <a:lstStyle/>
          <a:p>
            <a:fld id="{CDC1F2C2-3FE6-4E84-9695-8A42647BC1FB}" type="slidenum">
              <a:rPr lang="fr-FR" smtClean="0"/>
              <a:t>27</a:t>
            </a:fld>
            <a:endParaRPr lang="fr-FR"/>
          </a:p>
        </p:txBody>
      </p:sp>
    </p:spTree>
    <p:extLst>
      <p:ext uri="{BB962C8B-B14F-4D97-AF65-F5344CB8AC3E}">
        <p14:creationId xmlns:p14="http://schemas.microsoft.com/office/powerpoint/2010/main" val="9040848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0DDFB-1E3C-335D-F481-B2C11FD770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63CCF4-B15A-4C82-F5F8-7DF6EEE572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7864FE-5CC0-0420-3F47-199FAA985567}"/>
              </a:ext>
            </a:extLst>
          </p:cNvPr>
          <p:cNvSpPr>
            <a:spLocks noGrp="1"/>
          </p:cNvSpPr>
          <p:nvPr>
            <p:ph type="body" idx="1"/>
          </p:nvPr>
        </p:nvSpPr>
        <p:spPr/>
        <p:txBody>
          <a:bodyPr/>
          <a:lstStyle/>
          <a:p>
            <a:endParaRPr lang="fr-CH"/>
          </a:p>
        </p:txBody>
      </p:sp>
      <p:sp>
        <p:nvSpPr>
          <p:cNvPr id="4" name="Slide Number Placeholder 3">
            <a:extLst>
              <a:ext uri="{FF2B5EF4-FFF2-40B4-BE49-F238E27FC236}">
                <a16:creationId xmlns:a16="http://schemas.microsoft.com/office/drawing/2014/main" id="{D3793791-9556-BBB1-5F98-29A0A07D2E1D}"/>
              </a:ext>
            </a:extLst>
          </p:cNvPr>
          <p:cNvSpPr>
            <a:spLocks noGrp="1"/>
          </p:cNvSpPr>
          <p:nvPr>
            <p:ph type="sldNum" sz="quarter" idx="5"/>
          </p:nvPr>
        </p:nvSpPr>
        <p:spPr/>
        <p:txBody>
          <a:bodyPr/>
          <a:lstStyle/>
          <a:p>
            <a:fld id="{CDC1F2C2-3FE6-4E84-9695-8A42647BC1FB}" type="slidenum">
              <a:rPr lang="fr-FR" smtClean="0"/>
              <a:t>28</a:t>
            </a:fld>
            <a:endParaRPr lang="fr-FR"/>
          </a:p>
        </p:txBody>
      </p:sp>
    </p:spTree>
    <p:extLst>
      <p:ext uri="{BB962C8B-B14F-4D97-AF65-F5344CB8AC3E}">
        <p14:creationId xmlns:p14="http://schemas.microsoft.com/office/powerpoint/2010/main" val="41813846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H"/>
          </a:p>
        </p:txBody>
      </p:sp>
      <p:sp>
        <p:nvSpPr>
          <p:cNvPr id="4" name="Slide Number Placeholder 3"/>
          <p:cNvSpPr>
            <a:spLocks noGrp="1"/>
          </p:cNvSpPr>
          <p:nvPr>
            <p:ph type="sldNum" sz="quarter" idx="5"/>
          </p:nvPr>
        </p:nvSpPr>
        <p:spPr/>
        <p:txBody>
          <a:bodyPr/>
          <a:lstStyle/>
          <a:p>
            <a:fld id="{CDC1F2C2-3FE6-4E84-9695-8A42647BC1FB}" type="slidenum">
              <a:rPr lang="fr-FR" smtClean="0"/>
              <a:t>29</a:t>
            </a:fld>
            <a:endParaRPr lang="fr-FR"/>
          </a:p>
        </p:txBody>
      </p:sp>
    </p:spTree>
    <p:extLst>
      <p:ext uri="{BB962C8B-B14F-4D97-AF65-F5344CB8AC3E}">
        <p14:creationId xmlns:p14="http://schemas.microsoft.com/office/powerpoint/2010/main" val="11151822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H"/>
          </a:p>
        </p:txBody>
      </p:sp>
      <p:sp>
        <p:nvSpPr>
          <p:cNvPr id="4" name="Slide Number Placeholder 3"/>
          <p:cNvSpPr>
            <a:spLocks noGrp="1"/>
          </p:cNvSpPr>
          <p:nvPr>
            <p:ph type="sldNum" sz="quarter" idx="5"/>
          </p:nvPr>
        </p:nvSpPr>
        <p:spPr/>
        <p:txBody>
          <a:bodyPr/>
          <a:lstStyle/>
          <a:p>
            <a:fld id="{CDC1F2C2-3FE6-4E84-9695-8A42647BC1FB}" type="slidenum">
              <a:rPr lang="fr-FR" smtClean="0"/>
              <a:t>30</a:t>
            </a:fld>
            <a:endParaRPr lang="fr-FR"/>
          </a:p>
        </p:txBody>
      </p:sp>
    </p:spTree>
    <p:extLst>
      <p:ext uri="{BB962C8B-B14F-4D97-AF65-F5344CB8AC3E}">
        <p14:creationId xmlns:p14="http://schemas.microsoft.com/office/powerpoint/2010/main" val="42905043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2.png"/><Relationship Id="rId4" Type="http://schemas.openxmlformats.org/officeDocument/2006/relationships/image" Target="../media/image5.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gradient">
    <p:bg>
      <p:bgPr>
        <a:solidFill>
          <a:schemeClr val="accent1"/>
        </a:solidFill>
        <a:effectLst/>
      </p:bgPr>
    </p:bg>
    <p:spTree>
      <p:nvGrpSpPr>
        <p:cNvPr id="1" name=""/>
        <p:cNvGrpSpPr/>
        <p:nvPr/>
      </p:nvGrpSpPr>
      <p:grpSpPr>
        <a:xfrm>
          <a:off x="0" y="0"/>
          <a:ext cx="0" cy="0"/>
          <a:chOff x="0" y="0"/>
          <a:chExt cx="0" cy="0"/>
        </a:xfrm>
      </p:grpSpPr>
      <p:pic>
        <p:nvPicPr>
          <p:cNvPr id="6" name="Picture 5" descr="A yellow and white gradient&#10;&#10;Description automatically generated">
            <a:extLst>
              <a:ext uri="{FF2B5EF4-FFF2-40B4-BE49-F238E27FC236}">
                <a16:creationId xmlns:a16="http://schemas.microsoft.com/office/drawing/2014/main" id="{8756AB47-2F75-0A84-09B7-2EFBCD1BFDA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0691813" cy="7559675"/>
          </a:xfrm>
          <a:prstGeom prst="rect">
            <a:avLst/>
          </a:prstGeom>
        </p:spPr>
      </p:pic>
      <p:pic>
        <p:nvPicPr>
          <p:cNvPr id="9" name="Picture 8">
            <a:extLst>
              <a:ext uri="{FF2B5EF4-FFF2-40B4-BE49-F238E27FC236}">
                <a16:creationId xmlns:a16="http://schemas.microsoft.com/office/drawing/2014/main" id="{AB2A9497-291D-3880-E61F-12534C23DA40}"/>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4843637" y="1007505"/>
            <a:ext cx="1004538" cy="907010"/>
          </a:xfrm>
          <a:prstGeom prst="rect">
            <a:avLst/>
          </a:prstGeom>
        </p:spPr>
      </p:pic>
      <p:sp>
        <p:nvSpPr>
          <p:cNvPr id="10" name="Title 9">
            <a:extLst>
              <a:ext uri="{FF2B5EF4-FFF2-40B4-BE49-F238E27FC236}">
                <a16:creationId xmlns:a16="http://schemas.microsoft.com/office/drawing/2014/main" id="{F9C284E6-090E-4772-71F2-BE9D9ACEE7A0}"/>
              </a:ext>
            </a:extLst>
          </p:cNvPr>
          <p:cNvSpPr>
            <a:spLocks noGrp="1"/>
          </p:cNvSpPr>
          <p:nvPr>
            <p:ph type="title" hasCustomPrompt="1"/>
          </p:nvPr>
        </p:nvSpPr>
        <p:spPr>
          <a:xfrm>
            <a:off x="665163" y="3675152"/>
            <a:ext cx="9398001" cy="864587"/>
          </a:xfrm>
        </p:spPr>
        <p:txBody>
          <a:bodyPr/>
          <a:lstStyle>
            <a:lvl1pPr algn="ctr">
              <a:defRPr sz="2800">
                <a:solidFill>
                  <a:schemeClr val="bg1"/>
                </a:solidFill>
              </a:defRPr>
            </a:lvl1pPr>
          </a:lstStyle>
          <a:p>
            <a:r>
              <a:rPr lang="en-GB"/>
              <a:t>Click to edit title</a:t>
            </a:r>
          </a:p>
        </p:txBody>
      </p:sp>
    </p:spTree>
    <p:extLst>
      <p:ext uri="{BB962C8B-B14F-4D97-AF65-F5344CB8AC3E}">
        <p14:creationId xmlns:p14="http://schemas.microsoft.com/office/powerpoint/2010/main" val="109581210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Slide 2">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65166" y="5455024"/>
            <a:ext cx="3505819" cy="1028391"/>
          </a:xfrm>
          <a:noFill/>
        </p:spPr>
        <p:txBody>
          <a:bodyPr wrap="square" lIns="0" tIns="0" rIns="0" bIns="0" anchor="t" anchorCtr="0">
            <a:noAutofit/>
          </a:bodyPr>
          <a:lstStyle>
            <a:lvl1pPr algn="l">
              <a:lnSpc>
                <a:spcPct val="100000"/>
              </a:lnSpc>
              <a:defRPr sz="2400" b="0" cap="none" baseline="0">
                <a:gradFill flip="none" rotWithShape="1">
                  <a:gsLst>
                    <a:gs pos="0">
                      <a:schemeClr val="accent4"/>
                    </a:gs>
                    <a:gs pos="100000">
                      <a:srgbClr val="FFA400"/>
                    </a:gs>
                  </a:gsLst>
                  <a:lin ang="0" scaled="1"/>
                </a:gradFill>
                <a:latin typeface="+mj-lt"/>
              </a:defRPr>
            </a:lvl1pPr>
          </a:lstStyle>
          <a:p>
            <a:r>
              <a:rPr lang="en-GB" noProof="0"/>
              <a:t>Title on one </a:t>
            </a:r>
            <a:br>
              <a:rPr lang="en-GB" noProof="0"/>
            </a:br>
            <a:r>
              <a:rPr lang="en-GB" noProof="0"/>
              <a:t>or two lines</a:t>
            </a:r>
          </a:p>
        </p:txBody>
      </p:sp>
      <p:sp>
        <p:nvSpPr>
          <p:cNvPr id="7" name="Espace réservé du texte 6">
            <a:extLst>
              <a:ext uri="{FF2B5EF4-FFF2-40B4-BE49-F238E27FC236}">
                <a16:creationId xmlns:a16="http://schemas.microsoft.com/office/drawing/2014/main" id="{C0537D46-3E08-43B9-A8FE-19337D7C171B}"/>
              </a:ext>
            </a:extLst>
          </p:cNvPr>
          <p:cNvSpPr>
            <a:spLocks noGrp="1"/>
          </p:cNvSpPr>
          <p:nvPr>
            <p:ph type="body" sz="quarter" idx="13" hasCustomPrompt="1"/>
          </p:nvPr>
        </p:nvSpPr>
        <p:spPr>
          <a:xfrm>
            <a:off x="665166" y="4907572"/>
            <a:ext cx="3023135" cy="379589"/>
          </a:xfrm>
          <a:noFill/>
        </p:spPr>
        <p:txBody>
          <a:bodyPr lIns="0" tIns="0" rIns="0" bIns="0" anchor="t"/>
          <a:lstStyle>
            <a:lvl1pPr marL="0" indent="0">
              <a:spcBef>
                <a:spcPct val="0"/>
              </a:spcBef>
              <a:spcAft>
                <a:spcPct val="0"/>
              </a:spcAft>
              <a:buNone/>
              <a:defRPr sz="954" b="0" cap="none" baseline="0">
                <a:solidFill>
                  <a:srgbClr val="4B5F80"/>
                </a:solidFill>
              </a:defRPr>
            </a:lvl1pPr>
          </a:lstStyle>
          <a:p>
            <a:pPr lvl="0"/>
            <a:r>
              <a:rPr lang="en-GB"/>
              <a:t>INTRO LINE</a:t>
            </a:r>
          </a:p>
        </p:txBody>
      </p:sp>
      <p:sp>
        <p:nvSpPr>
          <p:cNvPr id="4" name="Picture Placeholder 3">
            <a:extLst>
              <a:ext uri="{FF2B5EF4-FFF2-40B4-BE49-F238E27FC236}">
                <a16:creationId xmlns:a16="http://schemas.microsoft.com/office/drawing/2014/main" id="{27B97CC1-DC51-4792-25CC-4FAD8394D6D6}"/>
              </a:ext>
            </a:extLst>
          </p:cNvPr>
          <p:cNvSpPr>
            <a:spLocks noGrp="1"/>
          </p:cNvSpPr>
          <p:nvPr>
            <p:ph type="pic" sz="quarter" idx="14"/>
          </p:nvPr>
        </p:nvSpPr>
        <p:spPr>
          <a:xfrm>
            <a:off x="5345906" y="0"/>
            <a:ext cx="5345906" cy="7559675"/>
          </a:xfrm>
        </p:spPr>
        <p:txBody>
          <a:bodyPr/>
          <a:lstStyle/>
          <a:p>
            <a:r>
              <a:rPr lang="en-US"/>
              <a:t>Click icon to add picture</a:t>
            </a:r>
            <a:endParaRPr lang="en-GB"/>
          </a:p>
        </p:txBody>
      </p:sp>
      <p:pic>
        <p:nvPicPr>
          <p:cNvPr id="3" name="Picture 2">
            <a:extLst>
              <a:ext uri="{FF2B5EF4-FFF2-40B4-BE49-F238E27FC236}">
                <a16:creationId xmlns:a16="http://schemas.microsoft.com/office/drawing/2014/main" id="{6536F54C-E62B-0D11-424E-908F7C5AFDD9}"/>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665166" y="861501"/>
            <a:ext cx="1255672" cy="1133762"/>
          </a:xfrm>
          <a:prstGeom prst="rect">
            <a:avLst/>
          </a:prstGeom>
        </p:spPr>
      </p:pic>
    </p:spTree>
    <p:extLst>
      <p:ext uri="{BB962C8B-B14F-4D97-AF65-F5344CB8AC3E}">
        <p14:creationId xmlns:p14="http://schemas.microsoft.com/office/powerpoint/2010/main" val="613881730"/>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7B97CC1-DC51-4792-25CC-4FAD8394D6D6}"/>
              </a:ext>
            </a:extLst>
          </p:cNvPr>
          <p:cNvSpPr>
            <a:spLocks noGrp="1"/>
          </p:cNvSpPr>
          <p:nvPr>
            <p:ph type="pic" sz="quarter" idx="14"/>
          </p:nvPr>
        </p:nvSpPr>
        <p:spPr>
          <a:xfrm>
            <a:off x="5345906" y="0"/>
            <a:ext cx="5345906" cy="7559675"/>
          </a:xfrm>
        </p:spPr>
        <p:txBody>
          <a:bodyPr/>
          <a:lstStyle/>
          <a:p>
            <a:r>
              <a:rPr lang="en-US"/>
              <a:t>Click icon to add picture</a:t>
            </a:r>
            <a:endParaRPr lang="en-GB"/>
          </a:p>
        </p:txBody>
      </p:sp>
      <p:sp>
        <p:nvSpPr>
          <p:cNvPr id="6" name="Title 1">
            <a:extLst>
              <a:ext uri="{FF2B5EF4-FFF2-40B4-BE49-F238E27FC236}">
                <a16:creationId xmlns:a16="http://schemas.microsoft.com/office/drawing/2014/main" id="{BCB30788-EE0B-1E3E-4889-FDDDF6F0C1E3}"/>
              </a:ext>
            </a:extLst>
          </p:cNvPr>
          <p:cNvSpPr txBox="1"/>
          <p:nvPr userDrawn="1"/>
        </p:nvSpPr>
        <p:spPr>
          <a:xfrm>
            <a:off x="675137" y="1442131"/>
            <a:ext cx="4808826" cy="784337"/>
          </a:xfrm>
          <a:prstGeom prst="rect">
            <a:avLst/>
          </a:prstGeom>
        </p:spPr>
        <p:txBody>
          <a:bodyPr vert="horz" lIns="0" tIns="0" rIns="0" bIns="0" rtlCol="0" anchor="t" anchorCtr="0">
            <a:noAutofit/>
          </a:bodyPr>
          <a:lstStyle>
            <a:lvl1pPr algn="l" defTabSz="801899" rtl="0" eaLnBrk="1" latinLnBrk="0" hangingPunct="1">
              <a:lnSpc>
                <a:spcPct val="90000"/>
              </a:lnSpc>
              <a:spcBef>
                <a:spcPct val="0"/>
              </a:spcBef>
              <a:buNone/>
              <a:defRPr sz="2400" b="1" kern="1200">
                <a:gradFill flip="none" rotWithShape="1">
                  <a:gsLst>
                    <a:gs pos="0">
                      <a:schemeClr val="accent4"/>
                    </a:gs>
                    <a:gs pos="100000">
                      <a:srgbClr val="FFA400"/>
                    </a:gs>
                  </a:gsLst>
                  <a:lin ang="0" scaled="1"/>
                </a:gradFill>
                <a:latin typeface="+mj-lt"/>
                <a:ea typeface="+mj-ea"/>
                <a:cs typeface="+mj-cs"/>
              </a:defRPr>
            </a:lvl1pPr>
          </a:lstStyle>
          <a:p>
            <a:r>
              <a:rPr lang="fr-FR"/>
              <a:t>Agenda</a:t>
            </a:r>
          </a:p>
        </p:txBody>
      </p:sp>
      <p:sp>
        <p:nvSpPr>
          <p:cNvPr id="18" name="Text Placeholder 21">
            <a:extLst>
              <a:ext uri="{FF2B5EF4-FFF2-40B4-BE49-F238E27FC236}">
                <a16:creationId xmlns:a16="http://schemas.microsoft.com/office/drawing/2014/main" id="{8D056D14-6552-602E-166B-3EEA11274939}"/>
              </a:ext>
            </a:extLst>
          </p:cNvPr>
          <p:cNvSpPr>
            <a:spLocks noGrp="1"/>
          </p:cNvSpPr>
          <p:nvPr>
            <p:ph type="body" sz="quarter" idx="20" hasCustomPrompt="1"/>
          </p:nvPr>
        </p:nvSpPr>
        <p:spPr>
          <a:xfrm>
            <a:off x="1064392" y="3083075"/>
            <a:ext cx="2851200" cy="303354"/>
          </a:xfrm>
          <a:solidFill>
            <a:schemeClr val="accent3"/>
          </a:solidFill>
        </p:spPr>
        <p:txBody>
          <a:bodyPr lIns="72000" rIns="72000" bIns="0" anchor="ctr" anchorCtr="0"/>
          <a:lstStyle>
            <a:lvl1pPr marL="0" indent="0">
              <a:buNone/>
              <a:defRPr sz="1050" b="1" i="0">
                <a:solidFill>
                  <a:schemeClr val="bg1"/>
                </a:solidFill>
                <a:latin typeface="Nunito" pitchFamily="2" charset="77"/>
              </a:defRPr>
            </a:lvl1pPr>
          </a:lstStyle>
          <a:p>
            <a:pPr lvl="0"/>
            <a:r>
              <a:rPr lang="en-GB"/>
              <a:t>Enter text</a:t>
            </a:r>
          </a:p>
        </p:txBody>
      </p:sp>
      <p:sp>
        <p:nvSpPr>
          <p:cNvPr id="19" name="Text Placeholder 21">
            <a:extLst>
              <a:ext uri="{FF2B5EF4-FFF2-40B4-BE49-F238E27FC236}">
                <a16:creationId xmlns:a16="http://schemas.microsoft.com/office/drawing/2014/main" id="{7D0A2B12-6E02-0B8D-4BA8-C3621FFD7468}"/>
              </a:ext>
            </a:extLst>
          </p:cNvPr>
          <p:cNvSpPr>
            <a:spLocks noGrp="1"/>
          </p:cNvSpPr>
          <p:nvPr>
            <p:ph type="body" sz="quarter" idx="21" hasCustomPrompt="1"/>
          </p:nvPr>
        </p:nvSpPr>
        <p:spPr>
          <a:xfrm>
            <a:off x="1064392" y="3446004"/>
            <a:ext cx="2851200" cy="303354"/>
          </a:xfrm>
          <a:solidFill>
            <a:schemeClr val="accent3">
              <a:lumMod val="40000"/>
              <a:lumOff val="60000"/>
            </a:schemeClr>
          </a:solidFill>
        </p:spPr>
        <p:txBody>
          <a:bodyPr lIns="72000" rIns="72000" bIns="0" anchor="ctr" anchorCtr="0"/>
          <a:lstStyle>
            <a:lvl1pPr marL="0" indent="0">
              <a:buNone/>
              <a:defRPr sz="1050" b="1" i="0">
                <a:solidFill>
                  <a:schemeClr val="bg1"/>
                </a:solidFill>
                <a:latin typeface="Nunito" pitchFamily="2" charset="77"/>
              </a:defRPr>
            </a:lvl1pPr>
          </a:lstStyle>
          <a:p>
            <a:pPr lvl="0"/>
            <a:r>
              <a:rPr lang="en-GB"/>
              <a:t>Enter text</a:t>
            </a:r>
          </a:p>
        </p:txBody>
      </p:sp>
      <p:sp>
        <p:nvSpPr>
          <p:cNvPr id="20" name="Text Placeholder 21">
            <a:extLst>
              <a:ext uri="{FF2B5EF4-FFF2-40B4-BE49-F238E27FC236}">
                <a16:creationId xmlns:a16="http://schemas.microsoft.com/office/drawing/2014/main" id="{7629280E-8681-E8FE-0396-17CBE1FD485E}"/>
              </a:ext>
            </a:extLst>
          </p:cNvPr>
          <p:cNvSpPr>
            <a:spLocks noGrp="1"/>
          </p:cNvSpPr>
          <p:nvPr>
            <p:ph type="body" sz="quarter" idx="22" hasCustomPrompt="1"/>
          </p:nvPr>
        </p:nvSpPr>
        <p:spPr>
          <a:xfrm>
            <a:off x="1064392" y="3808933"/>
            <a:ext cx="2851200" cy="303354"/>
          </a:xfrm>
          <a:solidFill>
            <a:schemeClr val="accent3">
              <a:lumMod val="40000"/>
              <a:lumOff val="60000"/>
            </a:schemeClr>
          </a:solidFill>
        </p:spPr>
        <p:txBody>
          <a:bodyPr lIns="72000" rIns="72000" bIns="0" anchor="ctr" anchorCtr="0"/>
          <a:lstStyle>
            <a:lvl1pPr marL="0" indent="0">
              <a:buNone/>
              <a:defRPr sz="1050" b="1" i="0">
                <a:solidFill>
                  <a:schemeClr val="bg1"/>
                </a:solidFill>
                <a:latin typeface="Nunito" pitchFamily="2" charset="77"/>
              </a:defRPr>
            </a:lvl1pPr>
          </a:lstStyle>
          <a:p>
            <a:pPr lvl="0"/>
            <a:r>
              <a:rPr lang="en-GB"/>
              <a:t>Enter text</a:t>
            </a:r>
          </a:p>
        </p:txBody>
      </p:sp>
      <p:sp>
        <p:nvSpPr>
          <p:cNvPr id="21" name="Text Placeholder 21">
            <a:extLst>
              <a:ext uri="{FF2B5EF4-FFF2-40B4-BE49-F238E27FC236}">
                <a16:creationId xmlns:a16="http://schemas.microsoft.com/office/drawing/2014/main" id="{C4DDC98F-5EEC-B05A-0B96-D4B63E95F155}"/>
              </a:ext>
            </a:extLst>
          </p:cNvPr>
          <p:cNvSpPr>
            <a:spLocks noGrp="1"/>
          </p:cNvSpPr>
          <p:nvPr>
            <p:ph type="body" sz="quarter" idx="23" hasCustomPrompt="1"/>
          </p:nvPr>
        </p:nvSpPr>
        <p:spPr>
          <a:xfrm>
            <a:off x="1064392" y="4171862"/>
            <a:ext cx="2851200" cy="303354"/>
          </a:xfrm>
          <a:solidFill>
            <a:schemeClr val="accent3">
              <a:lumMod val="40000"/>
              <a:lumOff val="60000"/>
            </a:schemeClr>
          </a:solidFill>
        </p:spPr>
        <p:txBody>
          <a:bodyPr lIns="72000" rIns="72000" bIns="0" anchor="ctr" anchorCtr="0"/>
          <a:lstStyle>
            <a:lvl1pPr marL="0" indent="0">
              <a:buNone/>
              <a:defRPr sz="1050" b="1" i="0">
                <a:solidFill>
                  <a:schemeClr val="bg1"/>
                </a:solidFill>
                <a:latin typeface="Nunito" pitchFamily="2" charset="77"/>
              </a:defRPr>
            </a:lvl1pPr>
          </a:lstStyle>
          <a:p>
            <a:pPr lvl="0"/>
            <a:r>
              <a:rPr lang="en-GB"/>
              <a:t>Enter text</a:t>
            </a:r>
          </a:p>
        </p:txBody>
      </p:sp>
      <p:sp>
        <p:nvSpPr>
          <p:cNvPr id="22" name="Text Placeholder 21">
            <a:extLst>
              <a:ext uri="{FF2B5EF4-FFF2-40B4-BE49-F238E27FC236}">
                <a16:creationId xmlns:a16="http://schemas.microsoft.com/office/drawing/2014/main" id="{DB233D09-5BF5-BAAB-046E-311A4E3F2476}"/>
              </a:ext>
            </a:extLst>
          </p:cNvPr>
          <p:cNvSpPr>
            <a:spLocks noGrp="1"/>
          </p:cNvSpPr>
          <p:nvPr>
            <p:ph type="body" sz="quarter" idx="24" hasCustomPrompt="1"/>
          </p:nvPr>
        </p:nvSpPr>
        <p:spPr>
          <a:xfrm>
            <a:off x="1064392" y="4534792"/>
            <a:ext cx="2851200" cy="303354"/>
          </a:xfrm>
          <a:solidFill>
            <a:schemeClr val="accent3">
              <a:lumMod val="40000"/>
              <a:lumOff val="60000"/>
            </a:schemeClr>
          </a:solidFill>
        </p:spPr>
        <p:txBody>
          <a:bodyPr lIns="72000" rIns="72000" bIns="0" anchor="ctr" anchorCtr="0"/>
          <a:lstStyle>
            <a:lvl1pPr marL="0" indent="0">
              <a:buNone/>
              <a:defRPr sz="1050" b="1" i="0">
                <a:solidFill>
                  <a:schemeClr val="bg1"/>
                </a:solidFill>
                <a:latin typeface="Nunito" pitchFamily="2" charset="77"/>
              </a:defRPr>
            </a:lvl1pPr>
          </a:lstStyle>
          <a:p>
            <a:pPr lvl="0"/>
            <a:r>
              <a:rPr lang="en-GB"/>
              <a:t>Enter text</a:t>
            </a:r>
          </a:p>
        </p:txBody>
      </p:sp>
      <p:sp>
        <p:nvSpPr>
          <p:cNvPr id="23" name="Text Placeholder 21">
            <a:extLst>
              <a:ext uri="{FF2B5EF4-FFF2-40B4-BE49-F238E27FC236}">
                <a16:creationId xmlns:a16="http://schemas.microsoft.com/office/drawing/2014/main" id="{C11D3BD7-7B6A-46D1-9A9B-E3FED282711F}"/>
              </a:ext>
            </a:extLst>
          </p:cNvPr>
          <p:cNvSpPr>
            <a:spLocks noGrp="1"/>
          </p:cNvSpPr>
          <p:nvPr>
            <p:ph type="body" sz="quarter" idx="25" hasCustomPrompt="1"/>
          </p:nvPr>
        </p:nvSpPr>
        <p:spPr>
          <a:xfrm>
            <a:off x="665161" y="3083075"/>
            <a:ext cx="331013" cy="303354"/>
          </a:xfrm>
          <a:noFill/>
        </p:spPr>
        <p:txBody>
          <a:bodyPr lIns="72000" rIns="72000" bIns="0" anchor="ctr" anchorCtr="0"/>
          <a:lstStyle>
            <a:lvl1pPr marL="0" indent="0">
              <a:buNone/>
              <a:defRPr sz="1050" b="1" i="0">
                <a:solidFill>
                  <a:schemeClr val="accent3"/>
                </a:solidFill>
                <a:latin typeface="Nunito" pitchFamily="2" charset="77"/>
              </a:defRPr>
            </a:lvl1pPr>
          </a:lstStyle>
          <a:p>
            <a:pPr lvl="0"/>
            <a:r>
              <a:rPr lang="fr-CH"/>
              <a:t>page</a:t>
            </a:r>
            <a:endParaRPr lang="en-GB"/>
          </a:p>
        </p:txBody>
      </p:sp>
      <p:sp>
        <p:nvSpPr>
          <p:cNvPr id="24" name="Text Placeholder 21">
            <a:extLst>
              <a:ext uri="{FF2B5EF4-FFF2-40B4-BE49-F238E27FC236}">
                <a16:creationId xmlns:a16="http://schemas.microsoft.com/office/drawing/2014/main" id="{332997ED-3D78-F97E-AD07-6499F495A9AD}"/>
              </a:ext>
            </a:extLst>
          </p:cNvPr>
          <p:cNvSpPr>
            <a:spLocks noGrp="1"/>
          </p:cNvSpPr>
          <p:nvPr>
            <p:ph type="body" sz="quarter" idx="26" hasCustomPrompt="1"/>
          </p:nvPr>
        </p:nvSpPr>
        <p:spPr>
          <a:xfrm>
            <a:off x="665161" y="3446004"/>
            <a:ext cx="331013" cy="303354"/>
          </a:xfrm>
          <a:noFill/>
        </p:spPr>
        <p:txBody>
          <a:bodyPr lIns="72000" rIns="72000" bIns="0" anchor="ctr" anchorCtr="0"/>
          <a:lstStyle>
            <a:lvl1pPr marL="0" indent="0">
              <a:buNone/>
              <a:defRPr sz="1050" b="1" i="0">
                <a:solidFill>
                  <a:schemeClr val="accent3">
                    <a:lumMod val="40000"/>
                    <a:lumOff val="60000"/>
                  </a:schemeClr>
                </a:solidFill>
                <a:latin typeface="Nunito" pitchFamily="2" charset="77"/>
              </a:defRPr>
            </a:lvl1pPr>
          </a:lstStyle>
          <a:p>
            <a:pPr lvl="0"/>
            <a:r>
              <a:rPr lang="fr-CH"/>
              <a:t>page</a:t>
            </a:r>
            <a:endParaRPr lang="en-GB"/>
          </a:p>
        </p:txBody>
      </p:sp>
      <p:sp>
        <p:nvSpPr>
          <p:cNvPr id="25" name="Text Placeholder 21">
            <a:extLst>
              <a:ext uri="{FF2B5EF4-FFF2-40B4-BE49-F238E27FC236}">
                <a16:creationId xmlns:a16="http://schemas.microsoft.com/office/drawing/2014/main" id="{5291EB23-3F11-F04B-957B-7497B18673E1}"/>
              </a:ext>
            </a:extLst>
          </p:cNvPr>
          <p:cNvSpPr>
            <a:spLocks noGrp="1"/>
          </p:cNvSpPr>
          <p:nvPr>
            <p:ph type="body" sz="quarter" idx="27" hasCustomPrompt="1"/>
          </p:nvPr>
        </p:nvSpPr>
        <p:spPr>
          <a:xfrm>
            <a:off x="665161" y="3808933"/>
            <a:ext cx="331013" cy="303354"/>
          </a:xfrm>
          <a:noFill/>
        </p:spPr>
        <p:txBody>
          <a:bodyPr lIns="72000" rIns="72000" bIns="0" anchor="ctr" anchorCtr="0"/>
          <a:lstStyle>
            <a:lvl1pPr marL="0" indent="0">
              <a:buNone/>
              <a:defRPr sz="1050" b="1" i="0">
                <a:solidFill>
                  <a:schemeClr val="accent3">
                    <a:lumMod val="40000"/>
                    <a:lumOff val="60000"/>
                  </a:schemeClr>
                </a:solidFill>
                <a:latin typeface="Nunito" pitchFamily="2" charset="77"/>
              </a:defRPr>
            </a:lvl1pPr>
          </a:lstStyle>
          <a:p>
            <a:pPr lvl="0"/>
            <a:r>
              <a:rPr lang="en-GB"/>
              <a:t>page</a:t>
            </a:r>
          </a:p>
        </p:txBody>
      </p:sp>
      <p:sp>
        <p:nvSpPr>
          <p:cNvPr id="26" name="Text Placeholder 21">
            <a:extLst>
              <a:ext uri="{FF2B5EF4-FFF2-40B4-BE49-F238E27FC236}">
                <a16:creationId xmlns:a16="http://schemas.microsoft.com/office/drawing/2014/main" id="{8FE067F3-B309-D196-AE89-DF3010BF2053}"/>
              </a:ext>
            </a:extLst>
          </p:cNvPr>
          <p:cNvSpPr>
            <a:spLocks noGrp="1"/>
          </p:cNvSpPr>
          <p:nvPr>
            <p:ph type="body" sz="quarter" idx="28" hasCustomPrompt="1"/>
          </p:nvPr>
        </p:nvSpPr>
        <p:spPr>
          <a:xfrm>
            <a:off x="665161" y="4171862"/>
            <a:ext cx="331013" cy="303354"/>
          </a:xfrm>
          <a:noFill/>
        </p:spPr>
        <p:txBody>
          <a:bodyPr lIns="72000" rIns="72000" bIns="0" anchor="ctr" anchorCtr="0"/>
          <a:lstStyle>
            <a:lvl1pPr marL="0" indent="0">
              <a:buNone/>
              <a:defRPr sz="1050" b="1" i="0">
                <a:solidFill>
                  <a:schemeClr val="accent3">
                    <a:lumMod val="40000"/>
                    <a:lumOff val="60000"/>
                  </a:schemeClr>
                </a:solidFill>
                <a:latin typeface="Nunito" pitchFamily="2" charset="77"/>
              </a:defRPr>
            </a:lvl1pPr>
          </a:lstStyle>
          <a:p>
            <a:pPr lvl="0"/>
            <a:r>
              <a:rPr lang="en-GB"/>
              <a:t>page</a:t>
            </a:r>
          </a:p>
        </p:txBody>
      </p:sp>
      <p:sp>
        <p:nvSpPr>
          <p:cNvPr id="27" name="Text Placeholder 21">
            <a:extLst>
              <a:ext uri="{FF2B5EF4-FFF2-40B4-BE49-F238E27FC236}">
                <a16:creationId xmlns:a16="http://schemas.microsoft.com/office/drawing/2014/main" id="{DE62711F-A766-B9C1-A992-9147EF6CD00B}"/>
              </a:ext>
            </a:extLst>
          </p:cNvPr>
          <p:cNvSpPr>
            <a:spLocks noGrp="1"/>
          </p:cNvSpPr>
          <p:nvPr>
            <p:ph type="body" sz="quarter" idx="29" hasCustomPrompt="1"/>
          </p:nvPr>
        </p:nvSpPr>
        <p:spPr>
          <a:xfrm>
            <a:off x="665161" y="4534792"/>
            <a:ext cx="331013" cy="303354"/>
          </a:xfrm>
          <a:noFill/>
        </p:spPr>
        <p:txBody>
          <a:bodyPr lIns="72000" rIns="72000" bIns="0" anchor="ctr" anchorCtr="0"/>
          <a:lstStyle>
            <a:lvl1pPr marL="0" indent="0">
              <a:buNone/>
              <a:defRPr sz="1050" b="1" i="0">
                <a:solidFill>
                  <a:schemeClr val="accent3">
                    <a:lumMod val="40000"/>
                    <a:lumOff val="60000"/>
                  </a:schemeClr>
                </a:solidFill>
                <a:latin typeface="Nunito" pitchFamily="2" charset="77"/>
              </a:defRPr>
            </a:lvl1pPr>
          </a:lstStyle>
          <a:p>
            <a:pPr lvl="0"/>
            <a:r>
              <a:rPr lang="en-GB"/>
              <a:t>page</a:t>
            </a:r>
          </a:p>
        </p:txBody>
      </p:sp>
    </p:spTree>
    <p:extLst>
      <p:ext uri="{BB962C8B-B14F-4D97-AF65-F5344CB8AC3E}">
        <p14:creationId xmlns:p14="http://schemas.microsoft.com/office/powerpoint/2010/main" val="194780530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Boxes Content - Bicolour">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gradFill flip="none" rotWithShape="1">
                  <a:gsLst>
                    <a:gs pos="0">
                      <a:schemeClr val="accent4"/>
                    </a:gs>
                    <a:gs pos="100000">
                      <a:srgbClr val="FFA400"/>
                    </a:gs>
                  </a:gsLst>
                  <a:lin ang="0" scaled="1"/>
                </a:gradFill>
              </a:defRPr>
            </a:lvl1pPr>
          </a:lstStyle>
          <a:p>
            <a:r>
              <a:rPr lang="en-GB" noProof="0"/>
              <a:t>Slide title</a:t>
            </a:r>
          </a:p>
        </p:txBody>
      </p:sp>
      <p:sp>
        <p:nvSpPr>
          <p:cNvPr id="3" name="Rounded Rectangle 2">
            <a:extLst>
              <a:ext uri="{FF2B5EF4-FFF2-40B4-BE49-F238E27FC236}">
                <a16:creationId xmlns:a16="http://schemas.microsoft.com/office/drawing/2014/main" id="{2B4EC977-2E77-E6C8-3B1E-8939B56169EA}"/>
              </a:ext>
            </a:extLst>
          </p:cNvPr>
          <p:cNvSpPr/>
          <p:nvPr userDrawn="1"/>
        </p:nvSpPr>
        <p:spPr>
          <a:xfrm>
            <a:off x="712789" y="2795336"/>
            <a:ext cx="4533679"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4" name="Rounded Rectangle 3">
            <a:extLst>
              <a:ext uri="{FF2B5EF4-FFF2-40B4-BE49-F238E27FC236}">
                <a16:creationId xmlns:a16="http://schemas.microsoft.com/office/drawing/2014/main" id="{2E236926-7BE6-EF59-0B50-F412EF79AE03}"/>
              </a:ext>
            </a:extLst>
          </p:cNvPr>
          <p:cNvSpPr/>
          <p:nvPr userDrawn="1"/>
        </p:nvSpPr>
        <p:spPr>
          <a:xfrm>
            <a:off x="5527698" y="2795334"/>
            <a:ext cx="4533679" cy="3865017"/>
          </a:xfrm>
          <a:prstGeom prst="roundRect">
            <a:avLst>
              <a:gd name="adj" fmla="val 9296"/>
            </a:avLst>
          </a:prstGeom>
          <a:solidFill>
            <a:schemeClr val="bg1"/>
          </a:solidFill>
          <a:ln>
            <a:solidFill>
              <a:schemeClr val="accent6"/>
            </a:solidFill>
          </a:ln>
          <a:effectLst>
            <a:outerShdw blurRad="615666" dist="38100" dir="5400000" sx="103538" sy="103538" algn="t" rotWithShape="0">
              <a:srgbClr val="4B5F8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Picture Placeholder 7">
            <a:extLst>
              <a:ext uri="{FF2B5EF4-FFF2-40B4-BE49-F238E27FC236}">
                <a16:creationId xmlns:a16="http://schemas.microsoft.com/office/drawing/2014/main" id="{AD2870F1-24BD-0BA4-BBDA-422677BCE6D0}"/>
              </a:ext>
            </a:extLst>
          </p:cNvPr>
          <p:cNvSpPr>
            <a:spLocks noGrp="1"/>
          </p:cNvSpPr>
          <p:nvPr>
            <p:ph type="pic" sz="quarter" idx="10"/>
          </p:nvPr>
        </p:nvSpPr>
        <p:spPr>
          <a:xfrm>
            <a:off x="712788" y="2788214"/>
            <a:ext cx="4535467" cy="1994681"/>
          </a:xfrm>
        </p:spPr>
        <p:txBody>
          <a:bodyPr/>
          <a:lstStyle/>
          <a:p>
            <a:r>
              <a:rPr lang="en-US"/>
              <a:t>Click icon to add picture</a:t>
            </a:r>
            <a:endParaRPr lang="en-GB"/>
          </a:p>
        </p:txBody>
      </p:sp>
      <p:sp>
        <p:nvSpPr>
          <p:cNvPr id="9" name="Picture Placeholder 7">
            <a:extLst>
              <a:ext uri="{FF2B5EF4-FFF2-40B4-BE49-F238E27FC236}">
                <a16:creationId xmlns:a16="http://schemas.microsoft.com/office/drawing/2014/main" id="{BC2E9E2B-C558-358B-0379-05B2E2D0120B}"/>
              </a:ext>
            </a:extLst>
          </p:cNvPr>
          <p:cNvSpPr>
            <a:spLocks noGrp="1"/>
          </p:cNvSpPr>
          <p:nvPr>
            <p:ph type="pic" sz="quarter" idx="11"/>
          </p:nvPr>
        </p:nvSpPr>
        <p:spPr>
          <a:xfrm>
            <a:off x="5527700" y="2788214"/>
            <a:ext cx="4535467" cy="1994681"/>
          </a:xfrm>
        </p:spPr>
        <p:txBody>
          <a:bodyPr/>
          <a:lstStyle/>
          <a:p>
            <a:r>
              <a:rPr lang="en-US"/>
              <a:t>Click icon to add picture</a:t>
            </a:r>
            <a:endParaRPr lang="en-GB"/>
          </a:p>
        </p:txBody>
      </p:sp>
      <p:sp>
        <p:nvSpPr>
          <p:cNvPr id="12" name="Rectangle 11">
            <a:extLst>
              <a:ext uri="{FF2B5EF4-FFF2-40B4-BE49-F238E27FC236}">
                <a16:creationId xmlns:a16="http://schemas.microsoft.com/office/drawing/2014/main" id="{E215D75A-053F-4D97-85C5-CB7ABEF07B09}"/>
              </a:ext>
            </a:extLst>
          </p:cNvPr>
          <p:cNvSpPr/>
          <p:nvPr userDrawn="1"/>
        </p:nvSpPr>
        <p:spPr>
          <a:xfrm>
            <a:off x="713165" y="4782896"/>
            <a:ext cx="4536000" cy="180000"/>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3" name="Rectangle 12">
            <a:extLst>
              <a:ext uri="{FF2B5EF4-FFF2-40B4-BE49-F238E27FC236}">
                <a16:creationId xmlns:a16="http://schemas.microsoft.com/office/drawing/2014/main" id="{99BA444B-8868-0C6A-CB33-816EFA606CE1}"/>
              </a:ext>
            </a:extLst>
          </p:cNvPr>
          <p:cNvSpPr/>
          <p:nvPr userDrawn="1"/>
        </p:nvSpPr>
        <p:spPr>
          <a:xfrm>
            <a:off x="5522650" y="4782896"/>
            <a:ext cx="4536000" cy="180000"/>
          </a:xfrm>
          <a:prstGeom prst="rect">
            <a:avLst/>
          </a:prstGeom>
          <a:gradFill>
            <a:gsLst>
              <a:gs pos="0">
                <a:srgbClr val="202945"/>
              </a:gs>
              <a:gs pos="99000">
                <a:srgbClr val="4B5F8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3" name="Text Placeholder 18">
            <a:extLst>
              <a:ext uri="{FF2B5EF4-FFF2-40B4-BE49-F238E27FC236}">
                <a16:creationId xmlns:a16="http://schemas.microsoft.com/office/drawing/2014/main" id="{7DC812B6-E739-158F-4066-50696D276A6B}"/>
              </a:ext>
            </a:extLst>
          </p:cNvPr>
          <p:cNvSpPr>
            <a:spLocks noGrp="1"/>
          </p:cNvSpPr>
          <p:nvPr>
            <p:ph type="body" sz="quarter" idx="17" hasCustomPrompt="1"/>
          </p:nvPr>
        </p:nvSpPr>
        <p:spPr>
          <a:xfrm>
            <a:off x="5768049" y="5620577"/>
            <a:ext cx="416522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4" name="Text Placeholder 21">
            <a:extLst>
              <a:ext uri="{FF2B5EF4-FFF2-40B4-BE49-F238E27FC236}">
                <a16:creationId xmlns:a16="http://schemas.microsoft.com/office/drawing/2014/main" id="{E780D308-B6E1-F1F2-C867-91A938358C7C}"/>
              </a:ext>
            </a:extLst>
          </p:cNvPr>
          <p:cNvSpPr>
            <a:spLocks noGrp="1"/>
          </p:cNvSpPr>
          <p:nvPr>
            <p:ph type="body" sz="quarter" idx="18" hasCustomPrompt="1"/>
          </p:nvPr>
        </p:nvSpPr>
        <p:spPr>
          <a:xfrm>
            <a:off x="5768047" y="5142445"/>
            <a:ext cx="4150037" cy="372430"/>
          </a:xfrm>
        </p:spPr>
        <p:txBody>
          <a:bodyPr/>
          <a:lstStyle>
            <a:lvl1pPr marL="0" indent="0">
              <a:buNone/>
              <a:defRPr sz="1228" b="1" i="0">
                <a:solidFill>
                  <a:srgbClr val="4B5F80"/>
                </a:solidFill>
                <a:latin typeface="Nunito" pitchFamily="2" charset="77"/>
              </a:defRPr>
            </a:lvl1pPr>
          </a:lstStyle>
          <a:p>
            <a:pPr lvl="0"/>
            <a:r>
              <a:rPr lang="en-GB"/>
              <a:t>Enter text</a:t>
            </a:r>
          </a:p>
        </p:txBody>
      </p:sp>
      <p:sp>
        <p:nvSpPr>
          <p:cNvPr id="25" name="Text Placeholder 18">
            <a:extLst>
              <a:ext uri="{FF2B5EF4-FFF2-40B4-BE49-F238E27FC236}">
                <a16:creationId xmlns:a16="http://schemas.microsoft.com/office/drawing/2014/main" id="{1DA32A0C-0AF8-135E-1B4F-39B1AC2A3962}"/>
              </a:ext>
            </a:extLst>
          </p:cNvPr>
          <p:cNvSpPr>
            <a:spLocks noGrp="1"/>
          </p:cNvSpPr>
          <p:nvPr>
            <p:ph type="body" sz="quarter" idx="19" hasCustomPrompt="1"/>
          </p:nvPr>
        </p:nvSpPr>
        <p:spPr>
          <a:xfrm>
            <a:off x="961829" y="5620577"/>
            <a:ext cx="416522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6" name="Text Placeholder 21">
            <a:extLst>
              <a:ext uri="{FF2B5EF4-FFF2-40B4-BE49-F238E27FC236}">
                <a16:creationId xmlns:a16="http://schemas.microsoft.com/office/drawing/2014/main" id="{74F76D5E-3165-02EC-5DAE-83599D3E920A}"/>
              </a:ext>
            </a:extLst>
          </p:cNvPr>
          <p:cNvSpPr>
            <a:spLocks noGrp="1"/>
          </p:cNvSpPr>
          <p:nvPr>
            <p:ph type="body" sz="quarter" idx="20" hasCustomPrompt="1"/>
          </p:nvPr>
        </p:nvSpPr>
        <p:spPr>
          <a:xfrm>
            <a:off x="961827" y="5142445"/>
            <a:ext cx="4150037"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6" name="Text Placeholder 4">
            <a:extLst>
              <a:ext uri="{FF2B5EF4-FFF2-40B4-BE49-F238E27FC236}">
                <a16:creationId xmlns:a16="http://schemas.microsoft.com/office/drawing/2014/main" id="{87CF13E4-BAB6-8297-CE1C-3E6F9B0D6037}"/>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422176982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Boxes Content - Oran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Rounded Rectangle 2">
            <a:extLst>
              <a:ext uri="{FF2B5EF4-FFF2-40B4-BE49-F238E27FC236}">
                <a16:creationId xmlns:a16="http://schemas.microsoft.com/office/drawing/2014/main" id="{2B4EC977-2E77-E6C8-3B1E-8939B56169EA}"/>
              </a:ext>
            </a:extLst>
          </p:cNvPr>
          <p:cNvSpPr/>
          <p:nvPr userDrawn="1"/>
        </p:nvSpPr>
        <p:spPr>
          <a:xfrm>
            <a:off x="712789" y="2795336"/>
            <a:ext cx="4533679"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4" name="Rounded Rectangle 3">
            <a:extLst>
              <a:ext uri="{FF2B5EF4-FFF2-40B4-BE49-F238E27FC236}">
                <a16:creationId xmlns:a16="http://schemas.microsoft.com/office/drawing/2014/main" id="{2E236926-7BE6-EF59-0B50-F412EF79AE03}"/>
              </a:ext>
            </a:extLst>
          </p:cNvPr>
          <p:cNvSpPr/>
          <p:nvPr userDrawn="1"/>
        </p:nvSpPr>
        <p:spPr>
          <a:xfrm>
            <a:off x="5527698" y="2795334"/>
            <a:ext cx="4533679"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Picture Placeholder 7">
            <a:extLst>
              <a:ext uri="{FF2B5EF4-FFF2-40B4-BE49-F238E27FC236}">
                <a16:creationId xmlns:a16="http://schemas.microsoft.com/office/drawing/2014/main" id="{AD2870F1-24BD-0BA4-BBDA-422677BCE6D0}"/>
              </a:ext>
            </a:extLst>
          </p:cNvPr>
          <p:cNvSpPr>
            <a:spLocks noGrp="1"/>
          </p:cNvSpPr>
          <p:nvPr>
            <p:ph type="pic" sz="quarter" idx="10"/>
          </p:nvPr>
        </p:nvSpPr>
        <p:spPr>
          <a:xfrm>
            <a:off x="712788" y="2788214"/>
            <a:ext cx="4535467" cy="1994681"/>
          </a:xfrm>
        </p:spPr>
        <p:txBody>
          <a:bodyPr/>
          <a:lstStyle/>
          <a:p>
            <a:r>
              <a:rPr lang="en-US"/>
              <a:t>Click icon to add picture</a:t>
            </a:r>
            <a:endParaRPr lang="en-GB"/>
          </a:p>
        </p:txBody>
      </p:sp>
      <p:sp>
        <p:nvSpPr>
          <p:cNvPr id="9" name="Picture Placeholder 7">
            <a:extLst>
              <a:ext uri="{FF2B5EF4-FFF2-40B4-BE49-F238E27FC236}">
                <a16:creationId xmlns:a16="http://schemas.microsoft.com/office/drawing/2014/main" id="{BC2E9E2B-C558-358B-0379-05B2E2D0120B}"/>
              </a:ext>
            </a:extLst>
          </p:cNvPr>
          <p:cNvSpPr>
            <a:spLocks noGrp="1"/>
          </p:cNvSpPr>
          <p:nvPr>
            <p:ph type="pic" sz="quarter" idx="11"/>
          </p:nvPr>
        </p:nvSpPr>
        <p:spPr>
          <a:xfrm>
            <a:off x="5527700" y="2788214"/>
            <a:ext cx="4535467" cy="1994681"/>
          </a:xfrm>
        </p:spPr>
        <p:txBody>
          <a:bodyPr/>
          <a:lstStyle/>
          <a:p>
            <a:r>
              <a:rPr lang="en-US"/>
              <a:t>Click icon to add picture</a:t>
            </a:r>
            <a:endParaRPr lang="en-GB"/>
          </a:p>
        </p:txBody>
      </p:sp>
      <p:sp>
        <p:nvSpPr>
          <p:cNvPr id="12" name="Rectangle 11">
            <a:extLst>
              <a:ext uri="{FF2B5EF4-FFF2-40B4-BE49-F238E27FC236}">
                <a16:creationId xmlns:a16="http://schemas.microsoft.com/office/drawing/2014/main" id="{E215D75A-053F-4D97-85C5-CB7ABEF07B09}"/>
              </a:ext>
            </a:extLst>
          </p:cNvPr>
          <p:cNvSpPr/>
          <p:nvPr userDrawn="1"/>
        </p:nvSpPr>
        <p:spPr>
          <a:xfrm>
            <a:off x="713165" y="4782896"/>
            <a:ext cx="4536000" cy="180000"/>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3" name="Text Placeholder 18">
            <a:extLst>
              <a:ext uri="{FF2B5EF4-FFF2-40B4-BE49-F238E27FC236}">
                <a16:creationId xmlns:a16="http://schemas.microsoft.com/office/drawing/2014/main" id="{7DC812B6-E739-158F-4066-50696D276A6B}"/>
              </a:ext>
            </a:extLst>
          </p:cNvPr>
          <p:cNvSpPr>
            <a:spLocks noGrp="1"/>
          </p:cNvSpPr>
          <p:nvPr>
            <p:ph type="body" sz="quarter" idx="17" hasCustomPrompt="1"/>
          </p:nvPr>
        </p:nvSpPr>
        <p:spPr>
          <a:xfrm>
            <a:off x="5768049" y="5620577"/>
            <a:ext cx="416522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4" name="Text Placeholder 21">
            <a:extLst>
              <a:ext uri="{FF2B5EF4-FFF2-40B4-BE49-F238E27FC236}">
                <a16:creationId xmlns:a16="http://schemas.microsoft.com/office/drawing/2014/main" id="{E780D308-B6E1-F1F2-C867-91A938358C7C}"/>
              </a:ext>
            </a:extLst>
          </p:cNvPr>
          <p:cNvSpPr>
            <a:spLocks noGrp="1"/>
          </p:cNvSpPr>
          <p:nvPr>
            <p:ph type="body" sz="quarter" idx="18" hasCustomPrompt="1"/>
          </p:nvPr>
        </p:nvSpPr>
        <p:spPr>
          <a:xfrm>
            <a:off x="5768047" y="5142445"/>
            <a:ext cx="4150037"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5" name="Text Placeholder 18">
            <a:extLst>
              <a:ext uri="{FF2B5EF4-FFF2-40B4-BE49-F238E27FC236}">
                <a16:creationId xmlns:a16="http://schemas.microsoft.com/office/drawing/2014/main" id="{1DA32A0C-0AF8-135E-1B4F-39B1AC2A3962}"/>
              </a:ext>
            </a:extLst>
          </p:cNvPr>
          <p:cNvSpPr>
            <a:spLocks noGrp="1"/>
          </p:cNvSpPr>
          <p:nvPr>
            <p:ph type="body" sz="quarter" idx="19" hasCustomPrompt="1"/>
          </p:nvPr>
        </p:nvSpPr>
        <p:spPr>
          <a:xfrm>
            <a:off x="961829" y="5620577"/>
            <a:ext cx="416522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6" name="Text Placeholder 21">
            <a:extLst>
              <a:ext uri="{FF2B5EF4-FFF2-40B4-BE49-F238E27FC236}">
                <a16:creationId xmlns:a16="http://schemas.microsoft.com/office/drawing/2014/main" id="{74F76D5E-3165-02EC-5DAE-83599D3E920A}"/>
              </a:ext>
            </a:extLst>
          </p:cNvPr>
          <p:cNvSpPr>
            <a:spLocks noGrp="1"/>
          </p:cNvSpPr>
          <p:nvPr>
            <p:ph type="body" sz="quarter" idx="20" hasCustomPrompt="1"/>
          </p:nvPr>
        </p:nvSpPr>
        <p:spPr>
          <a:xfrm>
            <a:off x="961827" y="5142445"/>
            <a:ext cx="4150037"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5" name="Rectangle 4">
            <a:extLst>
              <a:ext uri="{FF2B5EF4-FFF2-40B4-BE49-F238E27FC236}">
                <a16:creationId xmlns:a16="http://schemas.microsoft.com/office/drawing/2014/main" id="{77544857-5437-1C3C-1478-9EC6F18E4D71}"/>
              </a:ext>
            </a:extLst>
          </p:cNvPr>
          <p:cNvSpPr/>
          <p:nvPr userDrawn="1"/>
        </p:nvSpPr>
        <p:spPr>
          <a:xfrm>
            <a:off x="5529992" y="4782896"/>
            <a:ext cx="4536000" cy="180000"/>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7" name="Text Placeholder 4">
            <a:extLst>
              <a:ext uri="{FF2B5EF4-FFF2-40B4-BE49-F238E27FC236}">
                <a16:creationId xmlns:a16="http://schemas.microsoft.com/office/drawing/2014/main" id="{F00E8640-ABD2-F67E-20F2-78BF41DB4461}"/>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169463738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Boxes Content - Bicolour">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Rounded Rectangle 2">
            <a:extLst>
              <a:ext uri="{FF2B5EF4-FFF2-40B4-BE49-F238E27FC236}">
                <a16:creationId xmlns:a16="http://schemas.microsoft.com/office/drawing/2014/main" id="{2B4EC977-2E77-E6C8-3B1E-8939B56169EA}"/>
              </a:ext>
            </a:extLst>
          </p:cNvPr>
          <p:cNvSpPr/>
          <p:nvPr userDrawn="1"/>
        </p:nvSpPr>
        <p:spPr>
          <a:xfrm>
            <a:off x="712787" y="4782895"/>
            <a:ext cx="2970000" cy="1877458"/>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4" name="Rounded Rectangle 3">
            <a:extLst>
              <a:ext uri="{FF2B5EF4-FFF2-40B4-BE49-F238E27FC236}">
                <a16:creationId xmlns:a16="http://schemas.microsoft.com/office/drawing/2014/main" id="{2E236926-7BE6-EF59-0B50-F412EF79AE03}"/>
              </a:ext>
            </a:extLst>
          </p:cNvPr>
          <p:cNvSpPr/>
          <p:nvPr userDrawn="1"/>
        </p:nvSpPr>
        <p:spPr>
          <a:xfrm>
            <a:off x="3910625" y="4782893"/>
            <a:ext cx="2970000" cy="1877458"/>
          </a:xfrm>
          <a:prstGeom prst="roundRect">
            <a:avLst>
              <a:gd name="adj" fmla="val 9296"/>
            </a:avLst>
          </a:prstGeom>
          <a:solidFill>
            <a:schemeClr val="bg1"/>
          </a:solidFill>
          <a:ln>
            <a:solidFill>
              <a:schemeClr val="accent6"/>
            </a:solidFill>
          </a:ln>
          <a:effectLst>
            <a:outerShdw blurRad="615666" dist="38100" dir="5400000" sx="103538" sy="103538" algn="t" rotWithShape="0">
              <a:srgbClr val="4B5F8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5" name="Rounded Rectangle 4">
            <a:extLst>
              <a:ext uri="{FF2B5EF4-FFF2-40B4-BE49-F238E27FC236}">
                <a16:creationId xmlns:a16="http://schemas.microsoft.com/office/drawing/2014/main" id="{CCD3EB5C-0568-A6CB-E497-E654623D719A}"/>
              </a:ext>
            </a:extLst>
          </p:cNvPr>
          <p:cNvSpPr/>
          <p:nvPr userDrawn="1"/>
        </p:nvSpPr>
        <p:spPr>
          <a:xfrm>
            <a:off x="7098690" y="4776109"/>
            <a:ext cx="2970000" cy="1877458"/>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Picture Placeholder 7">
            <a:extLst>
              <a:ext uri="{FF2B5EF4-FFF2-40B4-BE49-F238E27FC236}">
                <a16:creationId xmlns:a16="http://schemas.microsoft.com/office/drawing/2014/main" id="{AD2870F1-24BD-0BA4-BBDA-422677BCE6D0}"/>
              </a:ext>
            </a:extLst>
          </p:cNvPr>
          <p:cNvSpPr>
            <a:spLocks noGrp="1"/>
          </p:cNvSpPr>
          <p:nvPr>
            <p:ph type="pic" sz="quarter" idx="10"/>
          </p:nvPr>
        </p:nvSpPr>
        <p:spPr>
          <a:xfrm>
            <a:off x="718506" y="2788214"/>
            <a:ext cx="2958562" cy="1994681"/>
          </a:xfrm>
        </p:spPr>
        <p:txBody>
          <a:bodyPr/>
          <a:lstStyle/>
          <a:p>
            <a:r>
              <a:rPr lang="en-US"/>
              <a:t>Click icon to add picture</a:t>
            </a:r>
            <a:endParaRPr lang="en-GB"/>
          </a:p>
        </p:txBody>
      </p:sp>
      <p:sp>
        <p:nvSpPr>
          <p:cNvPr id="9" name="Picture Placeholder 7">
            <a:extLst>
              <a:ext uri="{FF2B5EF4-FFF2-40B4-BE49-F238E27FC236}">
                <a16:creationId xmlns:a16="http://schemas.microsoft.com/office/drawing/2014/main" id="{BC2E9E2B-C558-358B-0379-05B2E2D0120B}"/>
              </a:ext>
            </a:extLst>
          </p:cNvPr>
          <p:cNvSpPr>
            <a:spLocks noGrp="1"/>
          </p:cNvSpPr>
          <p:nvPr>
            <p:ph type="pic" sz="quarter" idx="11"/>
          </p:nvPr>
        </p:nvSpPr>
        <p:spPr>
          <a:xfrm>
            <a:off x="3916344" y="2788214"/>
            <a:ext cx="2958562" cy="1994681"/>
          </a:xfrm>
        </p:spPr>
        <p:txBody>
          <a:bodyPr/>
          <a:lstStyle/>
          <a:p>
            <a:r>
              <a:rPr lang="en-US"/>
              <a:t>Click icon to add picture</a:t>
            </a:r>
            <a:endParaRPr lang="en-GB"/>
          </a:p>
        </p:txBody>
      </p:sp>
      <p:sp>
        <p:nvSpPr>
          <p:cNvPr id="10" name="Picture Placeholder 7">
            <a:extLst>
              <a:ext uri="{FF2B5EF4-FFF2-40B4-BE49-F238E27FC236}">
                <a16:creationId xmlns:a16="http://schemas.microsoft.com/office/drawing/2014/main" id="{0F990878-F61E-D2F9-C47C-021E64188303}"/>
              </a:ext>
            </a:extLst>
          </p:cNvPr>
          <p:cNvSpPr>
            <a:spLocks noGrp="1"/>
          </p:cNvSpPr>
          <p:nvPr>
            <p:ph type="pic" sz="quarter" idx="12"/>
          </p:nvPr>
        </p:nvSpPr>
        <p:spPr>
          <a:xfrm>
            <a:off x="7103034" y="2788214"/>
            <a:ext cx="2958562" cy="1994681"/>
          </a:xfrm>
        </p:spPr>
        <p:txBody>
          <a:bodyPr/>
          <a:lstStyle/>
          <a:p>
            <a:r>
              <a:rPr lang="en-US"/>
              <a:t>Click icon to add picture</a:t>
            </a:r>
            <a:endParaRPr lang="en-GB"/>
          </a:p>
        </p:txBody>
      </p:sp>
      <p:sp>
        <p:nvSpPr>
          <p:cNvPr id="12" name="Rectangle 11">
            <a:extLst>
              <a:ext uri="{FF2B5EF4-FFF2-40B4-BE49-F238E27FC236}">
                <a16:creationId xmlns:a16="http://schemas.microsoft.com/office/drawing/2014/main" id="{E215D75A-053F-4D97-85C5-CB7ABEF07B09}"/>
              </a:ext>
            </a:extLst>
          </p:cNvPr>
          <p:cNvSpPr/>
          <p:nvPr userDrawn="1"/>
        </p:nvSpPr>
        <p:spPr>
          <a:xfrm>
            <a:off x="713377" y="4782896"/>
            <a:ext cx="2968821"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3" name="Rectangle 12">
            <a:extLst>
              <a:ext uri="{FF2B5EF4-FFF2-40B4-BE49-F238E27FC236}">
                <a16:creationId xmlns:a16="http://schemas.microsoft.com/office/drawing/2014/main" id="{99BA444B-8868-0C6A-CB33-816EFA606CE1}"/>
              </a:ext>
            </a:extLst>
          </p:cNvPr>
          <p:cNvSpPr/>
          <p:nvPr userDrawn="1"/>
        </p:nvSpPr>
        <p:spPr>
          <a:xfrm>
            <a:off x="3911215" y="4782896"/>
            <a:ext cx="2968821" cy="173124"/>
          </a:xfrm>
          <a:prstGeom prst="rect">
            <a:avLst/>
          </a:prstGeom>
          <a:gradFill>
            <a:gsLst>
              <a:gs pos="0">
                <a:srgbClr val="202945"/>
              </a:gs>
              <a:gs pos="99000">
                <a:srgbClr val="4B5F8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4" name="Rectangle 13">
            <a:extLst>
              <a:ext uri="{FF2B5EF4-FFF2-40B4-BE49-F238E27FC236}">
                <a16:creationId xmlns:a16="http://schemas.microsoft.com/office/drawing/2014/main" id="{5270AD9C-3720-C293-3FD0-E557FEB655B9}"/>
              </a:ext>
            </a:extLst>
          </p:cNvPr>
          <p:cNvSpPr/>
          <p:nvPr userDrawn="1"/>
        </p:nvSpPr>
        <p:spPr>
          <a:xfrm>
            <a:off x="7099280" y="4782896"/>
            <a:ext cx="2968821"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0" name="Text Placeholder 18">
            <a:extLst>
              <a:ext uri="{FF2B5EF4-FFF2-40B4-BE49-F238E27FC236}">
                <a16:creationId xmlns:a16="http://schemas.microsoft.com/office/drawing/2014/main" id="{5FF58F5F-F44B-1BF9-6E3B-816FA254ED2C}"/>
              </a:ext>
            </a:extLst>
          </p:cNvPr>
          <p:cNvSpPr>
            <a:spLocks noGrp="1"/>
          </p:cNvSpPr>
          <p:nvPr>
            <p:ph type="body" sz="quarter" idx="15" hasCustomPrompt="1"/>
          </p:nvPr>
        </p:nvSpPr>
        <p:spPr>
          <a:xfrm>
            <a:off x="7343384" y="5620577"/>
            <a:ext cx="2717046"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2" name="Text Placeholder 21">
            <a:extLst>
              <a:ext uri="{FF2B5EF4-FFF2-40B4-BE49-F238E27FC236}">
                <a16:creationId xmlns:a16="http://schemas.microsoft.com/office/drawing/2014/main" id="{90A3EAAD-15F2-A4AB-D476-603499DC3253}"/>
              </a:ext>
            </a:extLst>
          </p:cNvPr>
          <p:cNvSpPr>
            <a:spLocks noGrp="1"/>
          </p:cNvSpPr>
          <p:nvPr>
            <p:ph type="body" sz="quarter" idx="16" hasCustomPrompt="1"/>
          </p:nvPr>
        </p:nvSpPr>
        <p:spPr>
          <a:xfrm>
            <a:off x="7343387" y="5142445"/>
            <a:ext cx="2707139"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3" name="Text Placeholder 18">
            <a:extLst>
              <a:ext uri="{FF2B5EF4-FFF2-40B4-BE49-F238E27FC236}">
                <a16:creationId xmlns:a16="http://schemas.microsoft.com/office/drawing/2014/main" id="{7DC812B6-E739-158F-4066-50696D276A6B}"/>
              </a:ext>
            </a:extLst>
          </p:cNvPr>
          <p:cNvSpPr>
            <a:spLocks noGrp="1"/>
          </p:cNvSpPr>
          <p:nvPr>
            <p:ph type="body" sz="quarter" idx="17" hasCustomPrompt="1"/>
          </p:nvPr>
        </p:nvSpPr>
        <p:spPr>
          <a:xfrm>
            <a:off x="4153498" y="5620577"/>
            <a:ext cx="2717046"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4" name="Text Placeholder 21">
            <a:extLst>
              <a:ext uri="{FF2B5EF4-FFF2-40B4-BE49-F238E27FC236}">
                <a16:creationId xmlns:a16="http://schemas.microsoft.com/office/drawing/2014/main" id="{E780D308-B6E1-F1F2-C867-91A938358C7C}"/>
              </a:ext>
            </a:extLst>
          </p:cNvPr>
          <p:cNvSpPr>
            <a:spLocks noGrp="1"/>
          </p:cNvSpPr>
          <p:nvPr>
            <p:ph type="body" sz="quarter" idx="18" hasCustomPrompt="1"/>
          </p:nvPr>
        </p:nvSpPr>
        <p:spPr>
          <a:xfrm>
            <a:off x="4153501" y="5142445"/>
            <a:ext cx="2707139" cy="372430"/>
          </a:xfrm>
        </p:spPr>
        <p:txBody>
          <a:bodyPr/>
          <a:lstStyle>
            <a:lvl1pPr marL="0" indent="0">
              <a:buNone/>
              <a:defRPr sz="1228" b="1" i="0">
                <a:solidFill>
                  <a:srgbClr val="4B5F80"/>
                </a:solidFill>
                <a:latin typeface="Nunito" pitchFamily="2" charset="77"/>
              </a:defRPr>
            </a:lvl1pPr>
          </a:lstStyle>
          <a:p>
            <a:pPr lvl="0"/>
            <a:r>
              <a:rPr lang="en-GB"/>
              <a:t>Enter text</a:t>
            </a:r>
          </a:p>
        </p:txBody>
      </p:sp>
      <p:sp>
        <p:nvSpPr>
          <p:cNvPr id="25" name="Text Placeholder 18">
            <a:extLst>
              <a:ext uri="{FF2B5EF4-FFF2-40B4-BE49-F238E27FC236}">
                <a16:creationId xmlns:a16="http://schemas.microsoft.com/office/drawing/2014/main" id="{1DA32A0C-0AF8-135E-1B4F-39B1AC2A3962}"/>
              </a:ext>
            </a:extLst>
          </p:cNvPr>
          <p:cNvSpPr>
            <a:spLocks noGrp="1"/>
          </p:cNvSpPr>
          <p:nvPr>
            <p:ph type="body" sz="quarter" idx="19" hasCustomPrompt="1"/>
          </p:nvPr>
        </p:nvSpPr>
        <p:spPr>
          <a:xfrm>
            <a:off x="961827" y="5620577"/>
            <a:ext cx="2717046"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6" name="Text Placeholder 21">
            <a:extLst>
              <a:ext uri="{FF2B5EF4-FFF2-40B4-BE49-F238E27FC236}">
                <a16:creationId xmlns:a16="http://schemas.microsoft.com/office/drawing/2014/main" id="{74F76D5E-3165-02EC-5DAE-83599D3E920A}"/>
              </a:ext>
            </a:extLst>
          </p:cNvPr>
          <p:cNvSpPr>
            <a:spLocks noGrp="1"/>
          </p:cNvSpPr>
          <p:nvPr>
            <p:ph type="body" sz="quarter" idx="20" hasCustomPrompt="1"/>
          </p:nvPr>
        </p:nvSpPr>
        <p:spPr>
          <a:xfrm>
            <a:off x="961830" y="5142445"/>
            <a:ext cx="2707139"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6" name="Text Placeholder 4">
            <a:extLst>
              <a:ext uri="{FF2B5EF4-FFF2-40B4-BE49-F238E27FC236}">
                <a16:creationId xmlns:a16="http://schemas.microsoft.com/office/drawing/2014/main" id="{8113008E-E9EE-C626-8405-308DAA976974}"/>
              </a:ext>
            </a:extLst>
          </p:cNvPr>
          <p:cNvSpPr>
            <a:spLocks noGrp="1"/>
          </p:cNvSpPr>
          <p:nvPr>
            <p:ph type="body" sz="quarter" idx="14" hasCustomPrompt="1"/>
          </p:nvPr>
        </p:nvSpPr>
        <p:spPr>
          <a:xfrm>
            <a:off x="665163" y="1939097"/>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78984781"/>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 Boxes Content - Oran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Rounded Rectangle 2">
            <a:extLst>
              <a:ext uri="{FF2B5EF4-FFF2-40B4-BE49-F238E27FC236}">
                <a16:creationId xmlns:a16="http://schemas.microsoft.com/office/drawing/2014/main" id="{2B4EC977-2E77-E6C8-3B1E-8939B56169EA}"/>
              </a:ext>
            </a:extLst>
          </p:cNvPr>
          <p:cNvSpPr/>
          <p:nvPr userDrawn="1"/>
        </p:nvSpPr>
        <p:spPr>
          <a:xfrm>
            <a:off x="718688" y="2795336"/>
            <a:ext cx="2957396"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4" name="Rounded Rectangle 3">
            <a:extLst>
              <a:ext uri="{FF2B5EF4-FFF2-40B4-BE49-F238E27FC236}">
                <a16:creationId xmlns:a16="http://schemas.microsoft.com/office/drawing/2014/main" id="{2E236926-7BE6-EF59-0B50-F412EF79AE03}"/>
              </a:ext>
            </a:extLst>
          </p:cNvPr>
          <p:cNvSpPr/>
          <p:nvPr userDrawn="1"/>
        </p:nvSpPr>
        <p:spPr>
          <a:xfrm>
            <a:off x="3915398" y="2795334"/>
            <a:ext cx="2957396"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A4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5" name="Rounded Rectangle 4">
            <a:extLst>
              <a:ext uri="{FF2B5EF4-FFF2-40B4-BE49-F238E27FC236}">
                <a16:creationId xmlns:a16="http://schemas.microsoft.com/office/drawing/2014/main" id="{CCD3EB5C-0568-A6CB-E497-E654623D719A}"/>
              </a:ext>
            </a:extLst>
          </p:cNvPr>
          <p:cNvSpPr/>
          <p:nvPr userDrawn="1"/>
        </p:nvSpPr>
        <p:spPr>
          <a:xfrm>
            <a:off x="7100055" y="2788550"/>
            <a:ext cx="2957396"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Picture Placeholder 7">
            <a:extLst>
              <a:ext uri="{FF2B5EF4-FFF2-40B4-BE49-F238E27FC236}">
                <a16:creationId xmlns:a16="http://schemas.microsoft.com/office/drawing/2014/main" id="{AD2870F1-24BD-0BA4-BBDA-422677BCE6D0}"/>
              </a:ext>
            </a:extLst>
          </p:cNvPr>
          <p:cNvSpPr>
            <a:spLocks noGrp="1"/>
          </p:cNvSpPr>
          <p:nvPr>
            <p:ph type="pic" sz="quarter" idx="10"/>
          </p:nvPr>
        </p:nvSpPr>
        <p:spPr>
          <a:xfrm>
            <a:off x="718105" y="2788214"/>
            <a:ext cx="2958562" cy="1994681"/>
          </a:xfrm>
        </p:spPr>
        <p:txBody>
          <a:bodyPr/>
          <a:lstStyle/>
          <a:p>
            <a:r>
              <a:rPr lang="en-US"/>
              <a:t>Click icon to add picture</a:t>
            </a:r>
            <a:endParaRPr lang="en-GB"/>
          </a:p>
        </p:txBody>
      </p:sp>
      <p:sp>
        <p:nvSpPr>
          <p:cNvPr id="9" name="Picture Placeholder 7">
            <a:extLst>
              <a:ext uri="{FF2B5EF4-FFF2-40B4-BE49-F238E27FC236}">
                <a16:creationId xmlns:a16="http://schemas.microsoft.com/office/drawing/2014/main" id="{BC2E9E2B-C558-358B-0379-05B2E2D0120B}"/>
              </a:ext>
            </a:extLst>
          </p:cNvPr>
          <p:cNvSpPr>
            <a:spLocks noGrp="1"/>
          </p:cNvSpPr>
          <p:nvPr>
            <p:ph type="pic" sz="quarter" idx="11"/>
          </p:nvPr>
        </p:nvSpPr>
        <p:spPr>
          <a:xfrm>
            <a:off x="3914815" y="2788214"/>
            <a:ext cx="2958562" cy="1994681"/>
          </a:xfrm>
        </p:spPr>
        <p:txBody>
          <a:bodyPr/>
          <a:lstStyle/>
          <a:p>
            <a:r>
              <a:rPr lang="en-US"/>
              <a:t>Click icon to add picture</a:t>
            </a:r>
            <a:endParaRPr lang="en-GB"/>
          </a:p>
        </p:txBody>
      </p:sp>
      <p:sp>
        <p:nvSpPr>
          <p:cNvPr id="10" name="Picture Placeholder 7">
            <a:extLst>
              <a:ext uri="{FF2B5EF4-FFF2-40B4-BE49-F238E27FC236}">
                <a16:creationId xmlns:a16="http://schemas.microsoft.com/office/drawing/2014/main" id="{0F990878-F61E-D2F9-C47C-021E64188303}"/>
              </a:ext>
            </a:extLst>
          </p:cNvPr>
          <p:cNvSpPr>
            <a:spLocks noGrp="1"/>
          </p:cNvSpPr>
          <p:nvPr>
            <p:ph type="pic" sz="quarter" idx="12"/>
          </p:nvPr>
        </p:nvSpPr>
        <p:spPr>
          <a:xfrm>
            <a:off x="7099472" y="2788214"/>
            <a:ext cx="2958562" cy="1994681"/>
          </a:xfrm>
        </p:spPr>
        <p:txBody>
          <a:bodyPr/>
          <a:lstStyle/>
          <a:p>
            <a:r>
              <a:rPr lang="en-US"/>
              <a:t>Click icon to add picture</a:t>
            </a:r>
            <a:endParaRPr lang="en-GB"/>
          </a:p>
        </p:txBody>
      </p:sp>
      <p:sp>
        <p:nvSpPr>
          <p:cNvPr id="12" name="Rectangle 11">
            <a:extLst>
              <a:ext uri="{FF2B5EF4-FFF2-40B4-BE49-F238E27FC236}">
                <a16:creationId xmlns:a16="http://schemas.microsoft.com/office/drawing/2014/main" id="{E215D75A-053F-4D97-85C5-CB7ABEF07B09}"/>
              </a:ext>
            </a:extLst>
          </p:cNvPr>
          <p:cNvSpPr/>
          <p:nvPr userDrawn="1"/>
        </p:nvSpPr>
        <p:spPr>
          <a:xfrm>
            <a:off x="712976" y="4782896"/>
            <a:ext cx="2968821"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4" name="Rectangle 13">
            <a:extLst>
              <a:ext uri="{FF2B5EF4-FFF2-40B4-BE49-F238E27FC236}">
                <a16:creationId xmlns:a16="http://schemas.microsoft.com/office/drawing/2014/main" id="{5270AD9C-3720-C293-3FD0-E557FEB655B9}"/>
              </a:ext>
            </a:extLst>
          </p:cNvPr>
          <p:cNvSpPr/>
          <p:nvPr userDrawn="1"/>
        </p:nvSpPr>
        <p:spPr>
          <a:xfrm>
            <a:off x="7094343" y="4782896"/>
            <a:ext cx="2968821"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0" name="Text Placeholder 18">
            <a:extLst>
              <a:ext uri="{FF2B5EF4-FFF2-40B4-BE49-F238E27FC236}">
                <a16:creationId xmlns:a16="http://schemas.microsoft.com/office/drawing/2014/main" id="{5FF58F5F-F44B-1BF9-6E3B-816FA254ED2C}"/>
              </a:ext>
            </a:extLst>
          </p:cNvPr>
          <p:cNvSpPr>
            <a:spLocks noGrp="1"/>
          </p:cNvSpPr>
          <p:nvPr>
            <p:ph type="body" sz="quarter" idx="15" hasCustomPrompt="1"/>
          </p:nvPr>
        </p:nvSpPr>
        <p:spPr>
          <a:xfrm>
            <a:off x="7343384" y="5620577"/>
            <a:ext cx="2717046"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2" name="Text Placeholder 21">
            <a:extLst>
              <a:ext uri="{FF2B5EF4-FFF2-40B4-BE49-F238E27FC236}">
                <a16:creationId xmlns:a16="http://schemas.microsoft.com/office/drawing/2014/main" id="{90A3EAAD-15F2-A4AB-D476-603499DC3253}"/>
              </a:ext>
            </a:extLst>
          </p:cNvPr>
          <p:cNvSpPr>
            <a:spLocks noGrp="1"/>
          </p:cNvSpPr>
          <p:nvPr>
            <p:ph type="body" sz="quarter" idx="16" hasCustomPrompt="1"/>
          </p:nvPr>
        </p:nvSpPr>
        <p:spPr>
          <a:xfrm>
            <a:off x="7343387" y="5142445"/>
            <a:ext cx="2707139"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3" name="Text Placeholder 18">
            <a:extLst>
              <a:ext uri="{FF2B5EF4-FFF2-40B4-BE49-F238E27FC236}">
                <a16:creationId xmlns:a16="http://schemas.microsoft.com/office/drawing/2014/main" id="{7DC812B6-E739-158F-4066-50696D276A6B}"/>
              </a:ext>
            </a:extLst>
          </p:cNvPr>
          <p:cNvSpPr>
            <a:spLocks noGrp="1"/>
          </p:cNvSpPr>
          <p:nvPr>
            <p:ph type="body" sz="quarter" idx="17" hasCustomPrompt="1"/>
          </p:nvPr>
        </p:nvSpPr>
        <p:spPr>
          <a:xfrm>
            <a:off x="4153498" y="5620577"/>
            <a:ext cx="2717046"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4" name="Text Placeholder 21">
            <a:extLst>
              <a:ext uri="{FF2B5EF4-FFF2-40B4-BE49-F238E27FC236}">
                <a16:creationId xmlns:a16="http://schemas.microsoft.com/office/drawing/2014/main" id="{E780D308-B6E1-F1F2-C867-91A938358C7C}"/>
              </a:ext>
            </a:extLst>
          </p:cNvPr>
          <p:cNvSpPr>
            <a:spLocks noGrp="1"/>
          </p:cNvSpPr>
          <p:nvPr>
            <p:ph type="body" sz="quarter" idx="18" hasCustomPrompt="1"/>
          </p:nvPr>
        </p:nvSpPr>
        <p:spPr>
          <a:xfrm>
            <a:off x="4153501" y="5142445"/>
            <a:ext cx="2707139"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5" name="Text Placeholder 18">
            <a:extLst>
              <a:ext uri="{FF2B5EF4-FFF2-40B4-BE49-F238E27FC236}">
                <a16:creationId xmlns:a16="http://schemas.microsoft.com/office/drawing/2014/main" id="{1DA32A0C-0AF8-135E-1B4F-39B1AC2A3962}"/>
              </a:ext>
            </a:extLst>
          </p:cNvPr>
          <p:cNvSpPr>
            <a:spLocks noGrp="1"/>
          </p:cNvSpPr>
          <p:nvPr>
            <p:ph type="body" sz="quarter" idx="19" hasCustomPrompt="1"/>
          </p:nvPr>
        </p:nvSpPr>
        <p:spPr>
          <a:xfrm>
            <a:off x="961827" y="5620577"/>
            <a:ext cx="2717046"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6" name="Text Placeholder 21">
            <a:extLst>
              <a:ext uri="{FF2B5EF4-FFF2-40B4-BE49-F238E27FC236}">
                <a16:creationId xmlns:a16="http://schemas.microsoft.com/office/drawing/2014/main" id="{74F76D5E-3165-02EC-5DAE-83599D3E920A}"/>
              </a:ext>
            </a:extLst>
          </p:cNvPr>
          <p:cNvSpPr>
            <a:spLocks noGrp="1"/>
          </p:cNvSpPr>
          <p:nvPr>
            <p:ph type="body" sz="quarter" idx="20" hasCustomPrompt="1"/>
          </p:nvPr>
        </p:nvSpPr>
        <p:spPr>
          <a:xfrm>
            <a:off x="961830" y="5142445"/>
            <a:ext cx="2707139"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6" name="Rectangle 5">
            <a:extLst>
              <a:ext uri="{FF2B5EF4-FFF2-40B4-BE49-F238E27FC236}">
                <a16:creationId xmlns:a16="http://schemas.microsoft.com/office/drawing/2014/main" id="{85E32EFA-1A66-4183-CDD0-A1DA0186E23B}"/>
              </a:ext>
            </a:extLst>
          </p:cNvPr>
          <p:cNvSpPr/>
          <p:nvPr userDrawn="1"/>
        </p:nvSpPr>
        <p:spPr>
          <a:xfrm>
            <a:off x="3909686" y="4782896"/>
            <a:ext cx="2968821"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1" name="Text Placeholder 4">
            <a:extLst>
              <a:ext uri="{FF2B5EF4-FFF2-40B4-BE49-F238E27FC236}">
                <a16:creationId xmlns:a16="http://schemas.microsoft.com/office/drawing/2014/main" id="{5F6BD925-AEFF-89C2-27D1-9169397386CD}"/>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72801670"/>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Boxes Content - Bicolour">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Rounded Rectangle 2">
            <a:extLst>
              <a:ext uri="{FF2B5EF4-FFF2-40B4-BE49-F238E27FC236}">
                <a16:creationId xmlns:a16="http://schemas.microsoft.com/office/drawing/2014/main" id="{2B4EC977-2E77-E6C8-3B1E-8939B56169EA}"/>
              </a:ext>
            </a:extLst>
          </p:cNvPr>
          <p:cNvSpPr/>
          <p:nvPr userDrawn="1"/>
        </p:nvSpPr>
        <p:spPr>
          <a:xfrm>
            <a:off x="717192" y="2795336"/>
            <a:ext cx="2182051"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4" name="Rounded Rectangle 3">
            <a:extLst>
              <a:ext uri="{FF2B5EF4-FFF2-40B4-BE49-F238E27FC236}">
                <a16:creationId xmlns:a16="http://schemas.microsoft.com/office/drawing/2014/main" id="{2E236926-7BE6-EF59-0B50-F412EF79AE03}"/>
              </a:ext>
            </a:extLst>
          </p:cNvPr>
          <p:cNvSpPr/>
          <p:nvPr userDrawn="1"/>
        </p:nvSpPr>
        <p:spPr>
          <a:xfrm>
            <a:off x="3073944" y="2795334"/>
            <a:ext cx="2182051" cy="3865017"/>
          </a:xfrm>
          <a:prstGeom prst="roundRect">
            <a:avLst>
              <a:gd name="adj" fmla="val 9296"/>
            </a:avLst>
          </a:prstGeom>
          <a:solidFill>
            <a:schemeClr val="bg1"/>
          </a:solidFill>
          <a:ln>
            <a:solidFill>
              <a:schemeClr val="accent6"/>
            </a:solidFill>
          </a:ln>
          <a:effectLst>
            <a:outerShdw blurRad="615666" dist="38100" dir="5400000" sx="103538" sy="103538" algn="t" rotWithShape="0">
              <a:srgbClr val="4B5F8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5" name="Rounded Rectangle 4">
            <a:extLst>
              <a:ext uri="{FF2B5EF4-FFF2-40B4-BE49-F238E27FC236}">
                <a16:creationId xmlns:a16="http://schemas.microsoft.com/office/drawing/2014/main" id="{CCD3EB5C-0568-A6CB-E497-E654623D719A}"/>
              </a:ext>
            </a:extLst>
          </p:cNvPr>
          <p:cNvSpPr/>
          <p:nvPr userDrawn="1"/>
        </p:nvSpPr>
        <p:spPr>
          <a:xfrm>
            <a:off x="5431068" y="2788550"/>
            <a:ext cx="2182051"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6" name="Rounded Rectangle 5">
            <a:extLst>
              <a:ext uri="{FF2B5EF4-FFF2-40B4-BE49-F238E27FC236}">
                <a16:creationId xmlns:a16="http://schemas.microsoft.com/office/drawing/2014/main" id="{14CCBD35-8AD5-DE40-3190-FDC6673CD4FA}"/>
              </a:ext>
            </a:extLst>
          </p:cNvPr>
          <p:cNvSpPr/>
          <p:nvPr userDrawn="1"/>
        </p:nvSpPr>
        <p:spPr>
          <a:xfrm>
            <a:off x="7798541" y="2788550"/>
            <a:ext cx="2182051" cy="3865017"/>
          </a:xfrm>
          <a:prstGeom prst="roundRect">
            <a:avLst>
              <a:gd name="adj" fmla="val 9296"/>
            </a:avLst>
          </a:prstGeom>
          <a:solidFill>
            <a:schemeClr val="bg1"/>
          </a:solidFill>
          <a:ln>
            <a:solidFill>
              <a:schemeClr val="accent6"/>
            </a:solidFill>
          </a:ln>
          <a:effectLst>
            <a:outerShdw blurRad="615666" dist="38100" dir="5400000" sx="103538" sy="103538" algn="t" rotWithShape="0">
              <a:srgbClr val="4B5F8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Picture Placeholder 7">
            <a:extLst>
              <a:ext uri="{FF2B5EF4-FFF2-40B4-BE49-F238E27FC236}">
                <a16:creationId xmlns:a16="http://schemas.microsoft.com/office/drawing/2014/main" id="{AD2870F1-24BD-0BA4-BBDA-422677BCE6D0}"/>
              </a:ext>
            </a:extLst>
          </p:cNvPr>
          <p:cNvSpPr>
            <a:spLocks noGrp="1"/>
          </p:cNvSpPr>
          <p:nvPr>
            <p:ph type="pic" sz="quarter" idx="10"/>
          </p:nvPr>
        </p:nvSpPr>
        <p:spPr>
          <a:xfrm>
            <a:off x="716761" y="2788214"/>
            <a:ext cx="2182912" cy="1994681"/>
          </a:xfrm>
        </p:spPr>
        <p:txBody>
          <a:bodyPr/>
          <a:lstStyle/>
          <a:p>
            <a:r>
              <a:rPr lang="en-US"/>
              <a:t>Click icon to add picture</a:t>
            </a:r>
            <a:endParaRPr lang="en-GB"/>
          </a:p>
        </p:txBody>
      </p:sp>
      <p:sp>
        <p:nvSpPr>
          <p:cNvPr id="9" name="Picture Placeholder 7">
            <a:extLst>
              <a:ext uri="{FF2B5EF4-FFF2-40B4-BE49-F238E27FC236}">
                <a16:creationId xmlns:a16="http://schemas.microsoft.com/office/drawing/2014/main" id="{BC2E9E2B-C558-358B-0379-05B2E2D0120B}"/>
              </a:ext>
            </a:extLst>
          </p:cNvPr>
          <p:cNvSpPr>
            <a:spLocks noGrp="1"/>
          </p:cNvSpPr>
          <p:nvPr>
            <p:ph type="pic" sz="quarter" idx="11"/>
          </p:nvPr>
        </p:nvSpPr>
        <p:spPr>
          <a:xfrm>
            <a:off x="3073513" y="2788214"/>
            <a:ext cx="2182912" cy="1994681"/>
          </a:xfrm>
        </p:spPr>
        <p:txBody>
          <a:bodyPr/>
          <a:lstStyle/>
          <a:p>
            <a:r>
              <a:rPr lang="en-US"/>
              <a:t>Click icon to add picture</a:t>
            </a:r>
            <a:endParaRPr lang="en-GB"/>
          </a:p>
        </p:txBody>
      </p:sp>
      <p:sp>
        <p:nvSpPr>
          <p:cNvPr id="10" name="Picture Placeholder 7">
            <a:extLst>
              <a:ext uri="{FF2B5EF4-FFF2-40B4-BE49-F238E27FC236}">
                <a16:creationId xmlns:a16="http://schemas.microsoft.com/office/drawing/2014/main" id="{0F990878-F61E-D2F9-C47C-021E64188303}"/>
              </a:ext>
            </a:extLst>
          </p:cNvPr>
          <p:cNvSpPr>
            <a:spLocks noGrp="1"/>
          </p:cNvSpPr>
          <p:nvPr>
            <p:ph type="pic" sz="quarter" idx="12"/>
          </p:nvPr>
        </p:nvSpPr>
        <p:spPr>
          <a:xfrm>
            <a:off x="5430637" y="2788214"/>
            <a:ext cx="2182912" cy="1994681"/>
          </a:xfrm>
        </p:spPr>
        <p:txBody>
          <a:bodyPr/>
          <a:lstStyle/>
          <a:p>
            <a:r>
              <a:rPr lang="en-US"/>
              <a:t>Click icon to add picture</a:t>
            </a:r>
            <a:endParaRPr lang="en-GB"/>
          </a:p>
        </p:txBody>
      </p:sp>
      <p:sp>
        <p:nvSpPr>
          <p:cNvPr id="11" name="Picture Placeholder 7">
            <a:extLst>
              <a:ext uri="{FF2B5EF4-FFF2-40B4-BE49-F238E27FC236}">
                <a16:creationId xmlns:a16="http://schemas.microsoft.com/office/drawing/2014/main" id="{4284997B-1702-9BBF-447A-2202459E90EF}"/>
              </a:ext>
            </a:extLst>
          </p:cNvPr>
          <p:cNvSpPr>
            <a:spLocks noGrp="1"/>
          </p:cNvSpPr>
          <p:nvPr>
            <p:ph type="pic" sz="quarter" idx="13"/>
          </p:nvPr>
        </p:nvSpPr>
        <p:spPr>
          <a:xfrm>
            <a:off x="7798110" y="2788214"/>
            <a:ext cx="2182912" cy="1994681"/>
          </a:xfrm>
        </p:spPr>
        <p:txBody>
          <a:bodyPr/>
          <a:lstStyle/>
          <a:p>
            <a:r>
              <a:rPr lang="en-US"/>
              <a:t>Click icon to add picture</a:t>
            </a:r>
            <a:endParaRPr lang="en-GB"/>
          </a:p>
        </p:txBody>
      </p:sp>
      <p:sp>
        <p:nvSpPr>
          <p:cNvPr id="12" name="Rectangle 11">
            <a:extLst>
              <a:ext uri="{FF2B5EF4-FFF2-40B4-BE49-F238E27FC236}">
                <a16:creationId xmlns:a16="http://schemas.microsoft.com/office/drawing/2014/main" id="{E215D75A-053F-4D97-85C5-CB7ABEF07B09}"/>
              </a:ext>
            </a:extLst>
          </p:cNvPr>
          <p:cNvSpPr/>
          <p:nvPr userDrawn="1"/>
        </p:nvSpPr>
        <p:spPr>
          <a:xfrm>
            <a:off x="712976" y="4782896"/>
            <a:ext cx="2190482"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3" name="Rectangle 12">
            <a:extLst>
              <a:ext uri="{FF2B5EF4-FFF2-40B4-BE49-F238E27FC236}">
                <a16:creationId xmlns:a16="http://schemas.microsoft.com/office/drawing/2014/main" id="{99BA444B-8868-0C6A-CB33-816EFA606CE1}"/>
              </a:ext>
            </a:extLst>
          </p:cNvPr>
          <p:cNvSpPr/>
          <p:nvPr userDrawn="1"/>
        </p:nvSpPr>
        <p:spPr>
          <a:xfrm>
            <a:off x="3069728" y="4782896"/>
            <a:ext cx="2190482" cy="173124"/>
          </a:xfrm>
          <a:prstGeom prst="rect">
            <a:avLst/>
          </a:prstGeom>
          <a:gradFill>
            <a:gsLst>
              <a:gs pos="0">
                <a:srgbClr val="202945"/>
              </a:gs>
              <a:gs pos="99000">
                <a:srgbClr val="4B5F8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4" name="Rectangle 13">
            <a:extLst>
              <a:ext uri="{FF2B5EF4-FFF2-40B4-BE49-F238E27FC236}">
                <a16:creationId xmlns:a16="http://schemas.microsoft.com/office/drawing/2014/main" id="{5270AD9C-3720-C293-3FD0-E557FEB655B9}"/>
              </a:ext>
            </a:extLst>
          </p:cNvPr>
          <p:cNvSpPr/>
          <p:nvPr userDrawn="1"/>
        </p:nvSpPr>
        <p:spPr>
          <a:xfrm>
            <a:off x="5426852" y="4782896"/>
            <a:ext cx="2190482"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5" name="Rectangle 14">
            <a:extLst>
              <a:ext uri="{FF2B5EF4-FFF2-40B4-BE49-F238E27FC236}">
                <a16:creationId xmlns:a16="http://schemas.microsoft.com/office/drawing/2014/main" id="{D4C31299-95D5-168A-7017-7B8EE145F385}"/>
              </a:ext>
            </a:extLst>
          </p:cNvPr>
          <p:cNvSpPr/>
          <p:nvPr userDrawn="1"/>
        </p:nvSpPr>
        <p:spPr>
          <a:xfrm>
            <a:off x="7794325" y="4782896"/>
            <a:ext cx="2190482" cy="173124"/>
          </a:xfrm>
          <a:prstGeom prst="rect">
            <a:avLst/>
          </a:prstGeom>
          <a:gradFill>
            <a:gsLst>
              <a:gs pos="0">
                <a:srgbClr val="202945"/>
              </a:gs>
              <a:gs pos="99000">
                <a:srgbClr val="4B5F8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0" name="Text Placeholder 18">
            <a:extLst>
              <a:ext uri="{FF2B5EF4-FFF2-40B4-BE49-F238E27FC236}">
                <a16:creationId xmlns:a16="http://schemas.microsoft.com/office/drawing/2014/main" id="{5FF58F5F-F44B-1BF9-6E3B-816FA254ED2C}"/>
              </a:ext>
            </a:extLst>
          </p:cNvPr>
          <p:cNvSpPr>
            <a:spLocks noGrp="1"/>
          </p:cNvSpPr>
          <p:nvPr>
            <p:ph type="body" sz="quarter" idx="15" hasCustomPrompt="1"/>
          </p:nvPr>
        </p:nvSpPr>
        <p:spPr>
          <a:xfrm>
            <a:off x="5618656"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2" name="Text Placeholder 21">
            <a:extLst>
              <a:ext uri="{FF2B5EF4-FFF2-40B4-BE49-F238E27FC236}">
                <a16:creationId xmlns:a16="http://schemas.microsoft.com/office/drawing/2014/main" id="{90A3EAAD-15F2-A4AB-D476-603499DC3253}"/>
              </a:ext>
            </a:extLst>
          </p:cNvPr>
          <p:cNvSpPr>
            <a:spLocks noGrp="1"/>
          </p:cNvSpPr>
          <p:nvPr>
            <p:ph type="body" sz="quarter" idx="16" hasCustomPrompt="1"/>
          </p:nvPr>
        </p:nvSpPr>
        <p:spPr>
          <a:xfrm>
            <a:off x="5618656" y="5142445"/>
            <a:ext cx="1997405"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3" name="Text Placeholder 18">
            <a:extLst>
              <a:ext uri="{FF2B5EF4-FFF2-40B4-BE49-F238E27FC236}">
                <a16:creationId xmlns:a16="http://schemas.microsoft.com/office/drawing/2014/main" id="{7DC812B6-E739-158F-4066-50696D276A6B}"/>
              </a:ext>
            </a:extLst>
          </p:cNvPr>
          <p:cNvSpPr>
            <a:spLocks noGrp="1"/>
          </p:cNvSpPr>
          <p:nvPr>
            <p:ph type="body" sz="quarter" idx="17" hasCustomPrompt="1"/>
          </p:nvPr>
        </p:nvSpPr>
        <p:spPr>
          <a:xfrm>
            <a:off x="3251183"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4" name="Text Placeholder 21">
            <a:extLst>
              <a:ext uri="{FF2B5EF4-FFF2-40B4-BE49-F238E27FC236}">
                <a16:creationId xmlns:a16="http://schemas.microsoft.com/office/drawing/2014/main" id="{E780D308-B6E1-F1F2-C867-91A938358C7C}"/>
              </a:ext>
            </a:extLst>
          </p:cNvPr>
          <p:cNvSpPr>
            <a:spLocks noGrp="1"/>
          </p:cNvSpPr>
          <p:nvPr>
            <p:ph type="body" sz="quarter" idx="18" hasCustomPrompt="1"/>
          </p:nvPr>
        </p:nvSpPr>
        <p:spPr>
          <a:xfrm>
            <a:off x="3251183" y="5142445"/>
            <a:ext cx="1997405" cy="372430"/>
          </a:xfrm>
        </p:spPr>
        <p:txBody>
          <a:bodyPr/>
          <a:lstStyle>
            <a:lvl1pPr marL="0" indent="0">
              <a:buNone/>
              <a:defRPr sz="1228" b="1" i="0">
                <a:solidFill>
                  <a:srgbClr val="4B5F80"/>
                </a:solidFill>
                <a:latin typeface="Nunito" pitchFamily="2" charset="77"/>
              </a:defRPr>
            </a:lvl1pPr>
          </a:lstStyle>
          <a:p>
            <a:pPr lvl="0"/>
            <a:r>
              <a:rPr lang="en-GB"/>
              <a:t>Enter text</a:t>
            </a:r>
          </a:p>
        </p:txBody>
      </p:sp>
      <p:sp>
        <p:nvSpPr>
          <p:cNvPr id="25" name="Text Placeholder 18">
            <a:extLst>
              <a:ext uri="{FF2B5EF4-FFF2-40B4-BE49-F238E27FC236}">
                <a16:creationId xmlns:a16="http://schemas.microsoft.com/office/drawing/2014/main" id="{1DA32A0C-0AF8-135E-1B4F-39B1AC2A3962}"/>
              </a:ext>
            </a:extLst>
          </p:cNvPr>
          <p:cNvSpPr>
            <a:spLocks noGrp="1"/>
          </p:cNvSpPr>
          <p:nvPr>
            <p:ph type="body" sz="quarter" idx="19" hasCustomPrompt="1"/>
          </p:nvPr>
        </p:nvSpPr>
        <p:spPr>
          <a:xfrm>
            <a:off x="894622"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6" name="Text Placeholder 21">
            <a:extLst>
              <a:ext uri="{FF2B5EF4-FFF2-40B4-BE49-F238E27FC236}">
                <a16:creationId xmlns:a16="http://schemas.microsoft.com/office/drawing/2014/main" id="{74F76D5E-3165-02EC-5DAE-83599D3E920A}"/>
              </a:ext>
            </a:extLst>
          </p:cNvPr>
          <p:cNvSpPr>
            <a:spLocks noGrp="1"/>
          </p:cNvSpPr>
          <p:nvPr>
            <p:ph type="body" sz="quarter" idx="20" hasCustomPrompt="1"/>
          </p:nvPr>
        </p:nvSpPr>
        <p:spPr>
          <a:xfrm>
            <a:off x="894622" y="5142445"/>
            <a:ext cx="1997405"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7" name="Text Placeholder 18">
            <a:extLst>
              <a:ext uri="{FF2B5EF4-FFF2-40B4-BE49-F238E27FC236}">
                <a16:creationId xmlns:a16="http://schemas.microsoft.com/office/drawing/2014/main" id="{D2DCE4EA-F6E0-596D-321E-1C1AD6991036}"/>
              </a:ext>
            </a:extLst>
          </p:cNvPr>
          <p:cNvSpPr>
            <a:spLocks noGrp="1"/>
          </p:cNvSpPr>
          <p:nvPr>
            <p:ph type="body" sz="quarter" idx="21" hasCustomPrompt="1"/>
          </p:nvPr>
        </p:nvSpPr>
        <p:spPr>
          <a:xfrm>
            <a:off x="7986128"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8" name="Text Placeholder 21">
            <a:extLst>
              <a:ext uri="{FF2B5EF4-FFF2-40B4-BE49-F238E27FC236}">
                <a16:creationId xmlns:a16="http://schemas.microsoft.com/office/drawing/2014/main" id="{7AC37364-9E5F-0AE7-E945-79579A81FF1E}"/>
              </a:ext>
            </a:extLst>
          </p:cNvPr>
          <p:cNvSpPr>
            <a:spLocks noGrp="1"/>
          </p:cNvSpPr>
          <p:nvPr>
            <p:ph type="body" sz="quarter" idx="22" hasCustomPrompt="1"/>
          </p:nvPr>
        </p:nvSpPr>
        <p:spPr>
          <a:xfrm>
            <a:off x="7986128" y="5142445"/>
            <a:ext cx="1997405" cy="372430"/>
          </a:xfrm>
        </p:spPr>
        <p:txBody>
          <a:bodyPr/>
          <a:lstStyle>
            <a:lvl1pPr marL="0" indent="0">
              <a:buNone/>
              <a:defRPr sz="1228" b="1" i="0">
                <a:solidFill>
                  <a:srgbClr val="4B5F80"/>
                </a:solidFill>
                <a:latin typeface="Nunito" pitchFamily="2" charset="77"/>
              </a:defRPr>
            </a:lvl1pPr>
          </a:lstStyle>
          <a:p>
            <a:pPr lvl="0"/>
            <a:r>
              <a:rPr lang="en-GB"/>
              <a:t>Enter text</a:t>
            </a:r>
          </a:p>
        </p:txBody>
      </p:sp>
      <p:sp>
        <p:nvSpPr>
          <p:cNvPr id="16" name="Text Placeholder 4">
            <a:extLst>
              <a:ext uri="{FF2B5EF4-FFF2-40B4-BE49-F238E27FC236}">
                <a16:creationId xmlns:a16="http://schemas.microsoft.com/office/drawing/2014/main" id="{ED73ADEE-F9BE-CE96-E209-4D698D3BE133}"/>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1080836749"/>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 Boxes Content - Oran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Rounded Rectangle 2">
            <a:extLst>
              <a:ext uri="{FF2B5EF4-FFF2-40B4-BE49-F238E27FC236}">
                <a16:creationId xmlns:a16="http://schemas.microsoft.com/office/drawing/2014/main" id="{2B4EC977-2E77-E6C8-3B1E-8939B56169EA}"/>
              </a:ext>
            </a:extLst>
          </p:cNvPr>
          <p:cNvSpPr/>
          <p:nvPr userDrawn="1"/>
        </p:nvSpPr>
        <p:spPr>
          <a:xfrm>
            <a:off x="717192" y="2795336"/>
            <a:ext cx="2182051"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4" name="Rounded Rectangle 3">
            <a:extLst>
              <a:ext uri="{FF2B5EF4-FFF2-40B4-BE49-F238E27FC236}">
                <a16:creationId xmlns:a16="http://schemas.microsoft.com/office/drawing/2014/main" id="{2E236926-7BE6-EF59-0B50-F412EF79AE03}"/>
              </a:ext>
            </a:extLst>
          </p:cNvPr>
          <p:cNvSpPr/>
          <p:nvPr userDrawn="1"/>
        </p:nvSpPr>
        <p:spPr>
          <a:xfrm>
            <a:off x="3073944" y="2795334"/>
            <a:ext cx="2182051"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5" name="Rounded Rectangle 4">
            <a:extLst>
              <a:ext uri="{FF2B5EF4-FFF2-40B4-BE49-F238E27FC236}">
                <a16:creationId xmlns:a16="http://schemas.microsoft.com/office/drawing/2014/main" id="{CCD3EB5C-0568-A6CB-E497-E654623D719A}"/>
              </a:ext>
            </a:extLst>
          </p:cNvPr>
          <p:cNvSpPr/>
          <p:nvPr userDrawn="1"/>
        </p:nvSpPr>
        <p:spPr>
          <a:xfrm>
            <a:off x="5431068" y="2788550"/>
            <a:ext cx="2182051"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6" name="Rounded Rectangle 5">
            <a:extLst>
              <a:ext uri="{FF2B5EF4-FFF2-40B4-BE49-F238E27FC236}">
                <a16:creationId xmlns:a16="http://schemas.microsoft.com/office/drawing/2014/main" id="{14CCBD35-8AD5-DE40-3190-FDC6673CD4FA}"/>
              </a:ext>
            </a:extLst>
          </p:cNvPr>
          <p:cNvSpPr/>
          <p:nvPr userDrawn="1"/>
        </p:nvSpPr>
        <p:spPr>
          <a:xfrm>
            <a:off x="7802457" y="2788550"/>
            <a:ext cx="2182051"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Picture Placeholder 7">
            <a:extLst>
              <a:ext uri="{FF2B5EF4-FFF2-40B4-BE49-F238E27FC236}">
                <a16:creationId xmlns:a16="http://schemas.microsoft.com/office/drawing/2014/main" id="{AD2870F1-24BD-0BA4-BBDA-422677BCE6D0}"/>
              </a:ext>
            </a:extLst>
          </p:cNvPr>
          <p:cNvSpPr>
            <a:spLocks noGrp="1"/>
          </p:cNvSpPr>
          <p:nvPr>
            <p:ph type="pic" sz="quarter" idx="10"/>
          </p:nvPr>
        </p:nvSpPr>
        <p:spPr>
          <a:xfrm>
            <a:off x="716761" y="2788214"/>
            <a:ext cx="2182912" cy="1994681"/>
          </a:xfrm>
        </p:spPr>
        <p:txBody>
          <a:bodyPr/>
          <a:lstStyle/>
          <a:p>
            <a:r>
              <a:rPr lang="en-US"/>
              <a:t>Click icon to add picture</a:t>
            </a:r>
            <a:endParaRPr lang="en-GB"/>
          </a:p>
        </p:txBody>
      </p:sp>
      <p:sp>
        <p:nvSpPr>
          <p:cNvPr id="9" name="Picture Placeholder 7">
            <a:extLst>
              <a:ext uri="{FF2B5EF4-FFF2-40B4-BE49-F238E27FC236}">
                <a16:creationId xmlns:a16="http://schemas.microsoft.com/office/drawing/2014/main" id="{BC2E9E2B-C558-358B-0379-05B2E2D0120B}"/>
              </a:ext>
            </a:extLst>
          </p:cNvPr>
          <p:cNvSpPr>
            <a:spLocks noGrp="1"/>
          </p:cNvSpPr>
          <p:nvPr>
            <p:ph type="pic" sz="quarter" idx="11"/>
          </p:nvPr>
        </p:nvSpPr>
        <p:spPr>
          <a:xfrm>
            <a:off x="3073513" y="2788214"/>
            <a:ext cx="2182912" cy="1994681"/>
          </a:xfrm>
        </p:spPr>
        <p:txBody>
          <a:bodyPr/>
          <a:lstStyle/>
          <a:p>
            <a:r>
              <a:rPr lang="en-US"/>
              <a:t>Click icon to add picture</a:t>
            </a:r>
            <a:endParaRPr lang="en-GB"/>
          </a:p>
        </p:txBody>
      </p:sp>
      <p:sp>
        <p:nvSpPr>
          <p:cNvPr id="10" name="Picture Placeholder 7">
            <a:extLst>
              <a:ext uri="{FF2B5EF4-FFF2-40B4-BE49-F238E27FC236}">
                <a16:creationId xmlns:a16="http://schemas.microsoft.com/office/drawing/2014/main" id="{0F990878-F61E-D2F9-C47C-021E64188303}"/>
              </a:ext>
            </a:extLst>
          </p:cNvPr>
          <p:cNvSpPr>
            <a:spLocks noGrp="1"/>
          </p:cNvSpPr>
          <p:nvPr>
            <p:ph type="pic" sz="quarter" idx="12"/>
          </p:nvPr>
        </p:nvSpPr>
        <p:spPr>
          <a:xfrm>
            <a:off x="5430637" y="2788214"/>
            <a:ext cx="2182912" cy="1994681"/>
          </a:xfrm>
        </p:spPr>
        <p:txBody>
          <a:bodyPr/>
          <a:lstStyle/>
          <a:p>
            <a:r>
              <a:rPr lang="en-US"/>
              <a:t>Click icon to add picture</a:t>
            </a:r>
            <a:endParaRPr lang="en-GB"/>
          </a:p>
        </p:txBody>
      </p:sp>
      <p:sp>
        <p:nvSpPr>
          <p:cNvPr id="11" name="Picture Placeholder 7">
            <a:extLst>
              <a:ext uri="{FF2B5EF4-FFF2-40B4-BE49-F238E27FC236}">
                <a16:creationId xmlns:a16="http://schemas.microsoft.com/office/drawing/2014/main" id="{4284997B-1702-9BBF-447A-2202459E90EF}"/>
              </a:ext>
            </a:extLst>
          </p:cNvPr>
          <p:cNvSpPr>
            <a:spLocks noGrp="1"/>
          </p:cNvSpPr>
          <p:nvPr>
            <p:ph type="pic" sz="quarter" idx="13"/>
          </p:nvPr>
        </p:nvSpPr>
        <p:spPr>
          <a:xfrm>
            <a:off x="7802456" y="2788214"/>
            <a:ext cx="2182912" cy="1994681"/>
          </a:xfrm>
        </p:spPr>
        <p:txBody>
          <a:bodyPr/>
          <a:lstStyle/>
          <a:p>
            <a:r>
              <a:rPr lang="en-US"/>
              <a:t>Click icon to add picture</a:t>
            </a:r>
            <a:endParaRPr lang="en-GB"/>
          </a:p>
        </p:txBody>
      </p:sp>
      <p:sp>
        <p:nvSpPr>
          <p:cNvPr id="12" name="Rectangle 11">
            <a:extLst>
              <a:ext uri="{FF2B5EF4-FFF2-40B4-BE49-F238E27FC236}">
                <a16:creationId xmlns:a16="http://schemas.microsoft.com/office/drawing/2014/main" id="{E215D75A-053F-4D97-85C5-CB7ABEF07B09}"/>
              </a:ext>
            </a:extLst>
          </p:cNvPr>
          <p:cNvSpPr/>
          <p:nvPr userDrawn="1"/>
        </p:nvSpPr>
        <p:spPr>
          <a:xfrm>
            <a:off x="712976" y="4782896"/>
            <a:ext cx="2190482"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3" name="Rectangle 12">
            <a:extLst>
              <a:ext uri="{FF2B5EF4-FFF2-40B4-BE49-F238E27FC236}">
                <a16:creationId xmlns:a16="http://schemas.microsoft.com/office/drawing/2014/main" id="{99BA444B-8868-0C6A-CB33-816EFA606CE1}"/>
              </a:ext>
            </a:extLst>
          </p:cNvPr>
          <p:cNvSpPr/>
          <p:nvPr userDrawn="1"/>
        </p:nvSpPr>
        <p:spPr>
          <a:xfrm>
            <a:off x="3069728" y="4782896"/>
            <a:ext cx="2190482"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4" name="Rectangle 13">
            <a:extLst>
              <a:ext uri="{FF2B5EF4-FFF2-40B4-BE49-F238E27FC236}">
                <a16:creationId xmlns:a16="http://schemas.microsoft.com/office/drawing/2014/main" id="{5270AD9C-3720-C293-3FD0-E557FEB655B9}"/>
              </a:ext>
            </a:extLst>
          </p:cNvPr>
          <p:cNvSpPr/>
          <p:nvPr userDrawn="1"/>
        </p:nvSpPr>
        <p:spPr>
          <a:xfrm>
            <a:off x="5426852" y="4782896"/>
            <a:ext cx="2190482"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5" name="Rectangle 14">
            <a:extLst>
              <a:ext uri="{FF2B5EF4-FFF2-40B4-BE49-F238E27FC236}">
                <a16:creationId xmlns:a16="http://schemas.microsoft.com/office/drawing/2014/main" id="{D4C31299-95D5-168A-7017-7B8EE145F385}"/>
              </a:ext>
            </a:extLst>
          </p:cNvPr>
          <p:cNvSpPr/>
          <p:nvPr userDrawn="1"/>
        </p:nvSpPr>
        <p:spPr>
          <a:xfrm>
            <a:off x="7793764" y="4782896"/>
            <a:ext cx="2190482"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0" name="Text Placeholder 18">
            <a:extLst>
              <a:ext uri="{FF2B5EF4-FFF2-40B4-BE49-F238E27FC236}">
                <a16:creationId xmlns:a16="http://schemas.microsoft.com/office/drawing/2014/main" id="{5FF58F5F-F44B-1BF9-6E3B-816FA254ED2C}"/>
              </a:ext>
            </a:extLst>
          </p:cNvPr>
          <p:cNvSpPr>
            <a:spLocks noGrp="1"/>
          </p:cNvSpPr>
          <p:nvPr>
            <p:ph type="body" sz="quarter" idx="15" hasCustomPrompt="1"/>
          </p:nvPr>
        </p:nvSpPr>
        <p:spPr>
          <a:xfrm>
            <a:off x="5618656"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2" name="Text Placeholder 21">
            <a:extLst>
              <a:ext uri="{FF2B5EF4-FFF2-40B4-BE49-F238E27FC236}">
                <a16:creationId xmlns:a16="http://schemas.microsoft.com/office/drawing/2014/main" id="{90A3EAAD-15F2-A4AB-D476-603499DC3253}"/>
              </a:ext>
            </a:extLst>
          </p:cNvPr>
          <p:cNvSpPr>
            <a:spLocks noGrp="1"/>
          </p:cNvSpPr>
          <p:nvPr>
            <p:ph type="body" sz="quarter" idx="16" hasCustomPrompt="1"/>
          </p:nvPr>
        </p:nvSpPr>
        <p:spPr>
          <a:xfrm>
            <a:off x="5618656" y="5142445"/>
            <a:ext cx="1997405"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3" name="Text Placeholder 18">
            <a:extLst>
              <a:ext uri="{FF2B5EF4-FFF2-40B4-BE49-F238E27FC236}">
                <a16:creationId xmlns:a16="http://schemas.microsoft.com/office/drawing/2014/main" id="{7DC812B6-E739-158F-4066-50696D276A6B}"/>
              </a:ext>
            </a:extLst>
          </p:cNvPr>
          <p:cNvSpPr>
            <a:spLocks noGrp="1"/>
          </p:cNvSpPr>
          <p:nvPr>
            <p:ph type="body" sz="quarter" idx="17" hasCustomPrompt="1"/>
          </p:nvPr>
        </p:nvSpPr>
        <p:spPr>
          <a:xfrm>
            <a:off x="3251183"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4" name="Text Placeholder 21">
            <a:extLst>
              <a:ext uri="{FF2B5EF4-FFF2-40B4-BE49-F238E27FC236}">
                <a16:creationId xmlns:a16="http://schemas.microsoft.com/office/drawing/2014/main" id="{E780D308-B6E1-F1F2-C867-91A938358C7C}"/>
              </a:ext>
            </a:extLst>
          </p:cNvPr>
          <p:cNvSpPr>
            <a:spLocks noGrp="1"/>
          </p:cNvSpPr>
          <p:nvPr>
            <p:ph type="body" sz="quarter" idx="18" hasCustomPrompt="1"/>
          </p:nvPr>
        </p:nvSpPr>
        <p:spPr>
          <a:xfrm>
            <a:off x="3251183" y="5142445"/>
            <a:ext cx="1997405"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5" name="Text Placeholder 18">
            <a:extLst>
              <a:ext uri="{FF2B5EF4-FFF2-40B4-BE49-F238E27FC236}">
                <a16:creationId xmlns:a16="http://schemas.microsoft.com/office/drawing/2014/main" id="{1DA32A0C-0AF8-135E-1B4F-39B1AC2A3962}"/>
              </a:ext>
            </a:extLst>
          </p:cNvPr>
          <p:cNvSpPr>
            <a:spLocks noGrp="1"/>
          </p:cNvSpPr>
          <p:nvPr>
            <p:ph type="body" sz="quarter" idx="19" hasCustomPrompt="1"/>
          </p:nvPr>
        </p:nvSpPr>
        <p:spPr>
          <a:xfrm>
            <a:off x="894622"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6" name="Text Placeholder 21">
            <a:extLst>
              <a:ext uri="{FF2B5EF4-FFF2-40B4-BE49-F238E27FC236}">
                <a16:creationId xmlns:a16="http://schemas.microsoft.com/office/drawing/2014/main" id="{74F76D5E-3165-02EC-5DAE-83599D3E920A}"/>
              </a:ext>
            </a:extLst>
          </p:cNvPr>
          <p:cNvSpPr>
            <a:spLocks noGrp="1"/>
          </p:cNvSpPr>
          <p:nvPr>
            <p:ph type="body" sz="quarter" idx="20" hasCustomPrompt="1"/>
          </p:nvPr>
        </p:nvSpPr>
        <p:spPr>
          <a:xfrm>
            <a:off x="894622" y="5142445"/>
            <a:ext cx="1997405"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7" name="Text Placeholder 18">
            <a:extLst>
              <a:ext uri="{FF2B5EF4-FFF2-40B4-BE49-F238E27FC236}">
                <a16:creationId xmlns:a16="http://schemas.microsoft.com/office/drawing/2014/main" id="{D2DCE4EA-F6E0-596D-321E-1C1AD6991036}"/>
              </a:ext>
            </a:extLst>
          </p:cNvPr>
          <p:cNvSpPr>
            <a:spLocks noGrp="1"/>
          </p:cNvSpPr>
          <p:nvPr>
            <p:ph type="body" sz="quarter" idx="21" hasCustomPrompt="1"/>
          </p:nvPr>
        </p:nvSpPr>
        <p:spPr>
          <a:xfrm>
            <a:off x="7986128"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8" name="Text Placeholder 21">
            <a:extLst>
              <a:ext uri="{FF2B5EF4-FFF2-40B4-BE49-F238E27FC236}">
                <a16:creationId xmlns:a16="http://schemas.microsoft.com/office/drawing/2014/main" id="{7AC37364-9E5F-0AE7-E945-79579A81FF1E}"/>
              </a:ext>
            </a:extLst>
          </p:cNvPr>
          <p:cNvSpPr>
            <a:spLocks noGrp="1"/>
          </p:cNvSpPr>
          <p:nvPr>
            <p:ph type="body" sz="quarter" idx="22" hasCustomPrompt="1"/>
          </p:nvPr>
        </p:nvSpPr>
        <p:spPr>
          <a:xfrm>
            <a:off x="7986128" y="5142445"/>
            <a:ext cx="1997405"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7" name="Text Placeholder 4">
            <a:extLst>
              <a:ext uri="{FF2B5EF4-FFF2-40B4-BE49-F238E27FC236}">
                <a16:creationId xmlns:a16="http://schemas.microsoft.com/office/drawing/2014/main" id="{FEA4ACDE-C775-D6B1-8096-BB27A0B53DD2}"/>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84158126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lvl1pPr>
              <a:defRPr/>
            </a:lvl1p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2" name="Title 1">
            <a:extLst>
              <a:ext uri="{FF2B5EF4-FFF2-40B4-BE49-F238E27FC236}">
                <a16:creationId xmlns:a16="http://schemas.microsoft.com/office/drawing/2014/main" id="{DCCA61BB-1E9E-456D-B58D-064A7F1C76A3}"/>
              </a:ext>
            </a:extLst>
          </p:cNvPr>
          <p:cNvSpPr>
            <a:spLocks noGrp="1"/>
          </p:cNvSpPr>
          <p:nvPr>
            <p:ph type="title" hasCustomPrompt="1"/>
          </p:nvPr>
        </p:nvSpPr>
        <p:spPr>
          <a:xfrm>
            <a:off x="665163" y="1032442"/>
            <a:ext cx="9398001" cy="705133"/>
          </a:xfrm>
        </p:spPr>
        <p:txBody>
          <a:bodyPr/>
          <a:lstStyle>
            <a:lvl1pPr>
              <a:defRPr sz="2400"/>
            </a:lvl1pPr>
          </a:lstStyle>
          <a:p>
            <a:r>
              <a:rPr lang="en-GB"/>
              <a:t>Slide title</a:t>
            </a:r>
          </a:p>
        </p:txBody>
      </p:sp>
      <p:sp>
        <p:nvSpPr>
          <p:cNvPr id="4" name="Text Placeholder 4">
            <a:extLst>
              <a:ext uri="{FF2B5EF4-FFF2-40B4-BE49-F238E27FC236}">
                <a16:creationId xmlns:a16="http://schemas.microsoft.com/office/drawing/2014/main" id="{65A96556-A5D3-7789-EFBE-FF07F9131256}"/>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dirty="0"/>
              <a:t>Subtitle</a:t>
            </a:r>
          </a:p>
        </p:txBody>
      </p:sp>
    </p:spTree>
    <p:extLst>
      <p:ext uri="{BB962C8B-B14F-4D97-AF65-F5344CB8AC3E}">
        <p14:creationId xmlns:p14="http://schemas.microsoft.com/office/powerpoint/2010/main" val="283393489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EEA84D-5FF5-4C87-A8CD-2FE2E91BC22C}"/>
              </a:ext>
            </a:extLst>
          </p:cNvPr>
          <p:cNvSpPr>
            <a:spLocks noGrp="1"/>
          </p:cNvSpPr>
          <p:nvPr>
            <p:ph type="title" hasCustomPrompt="1"/>
          </p:nvPr>
        </p:nvSpPr>
        <p:spPr>
          <a:xfrm>
            <a:off x="665163" y="1032442"/>
            <a:ext cx="9398001" cy="709201"/>
          </a:xfrm>
        </p:spPr>
        <p:txBody>
          <a:bodyPr/>
          <a:lstStyle>
            <a:lvl1pPr>
              <a:defRPr sz="2400"/>
            </a:lvl1pPr>
          </a:lstStyle>
          <a:p>
            <a:r>
              <a:rPr lang="en-GB" noProof="0"/>
              <a:t>Slide title</a:t>
            </a:r>
          </a:p>
        </p:txBody>
      </p:sp>
      <p:sp>
        <p:nvSpPr>
          <p:cNvPr id="5" name="Content Placeholder 2">
            <a:extLst>
              <a:ext uri="{FF2B5EF4-FFF2-40B4-BE49-F238E27FC236}">
                <a16:creationId xmlns:a16="http://schemas.microsoft.com/office/drawing/2014/main" id="{F9175149-A099-4F41-8BFB-1C37F0AAFC21}"/>
              </a:ext>
            </a:extLst>
          </p:cNvPr>
          <p:cNvSpPr>
            <a:spLocks noGrp="1"/>
          </p:cNvSpPr>
          <p:nvPr>
            <p:ph sz="quarter" idx="16" hasCustomPrompt="1"/>
          </p:nvPr>
        </p:nvSpPr>
        <p:spPr>
          <a:xfrm>
            <a:off x="5882566" y="2802443"/>
            <a:ext cx="4180601" cy="3269738"/>
          </a:xfrm>
        </p:spPr>
        <p:txBody>
          <a:bodyPr/>
          <a:lstStyle/>
          <a:p>
            <a:pPr lvl="0"/>
            <a:r>
              <a:rPr lang="en-GB" noProof="0"/>
              <a:t>Use Alt+Shift+Right/Left arrows to change text levels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6" name="Content Placeholder 1">
            <a:extLst>
              <a:ext uri="{FF2B5EF4-FFF2-40B4-BE49-F238E27FC236}">
                <a16:creationId xmlns:a16="http://schemas.microsoft.com/office/drawing/2014/main" id="{AD757474-7227-4BDD-870D-FF87BDF76B07}"/>
              </a:ext>
            </a:extLst>
          </p:cNvPr>
          <p:cNvSpPr>
            <a:spLocks noGrp="1"/>
          </p:cNvSpPr>
          <p:nvPr>
            <p:ph sz="quarter" idx="15" hasCustomPrompt="1"/>
          </p:nvPr>
        </p:nvSpPr>
        <p:spPr>
          <a:xfrm>
            <a:off x="665167" y="2802443"/>
            <a:ext cx="4180601" cy="3269738"/>
          </a:xfrm>
        </p:spPr>
        <p:txBody>
          <a:bodyPr/>
          <a:lstStyle/>
          <a:p>
            <a:pPr lvl="0"/>
            <a:r>
              <a:rPr lang="en-GB" noProof="0"/>
              <a:t>Use Alt+Shift+Right/Left arrows to change text levels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 name="Text Placeholder 4">
            <a:extLst>
              <a:ext uri="{FF2B5EF4-FFF2-40B4-BE49-F238E27FC236}">
                <a16:creationId xmlns:a16="http://schemas.microsoft.com/office/drawing/2014/main" id="{612FC3BC-31D0-3E8B-B6CC-43063BD0B67D}"/>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3947991966"/>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s (1/3, 2/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5678241-41CF-4C36-8136-3B5EFF59525B}"/>
              </a:ext>
            </a:extLst>
          </p:cNvPr>
          <p:cNvSpPr>
            <a:spLocks noGrp="1"/>
          </p:cNvSpPr>
          <p:nvPr>
            <p:ph type="title" hasCustomPrompt="1"/>
          </p:nvPr>
        </p:nvSpPr>
        <p:spPr>
          <a:xfrm>
            <a:off x="665163" y="1032440"/>
            <a:ext cx="9398001" cy="695487"/>
          </a:xfrm>
        </p:spPr>
        <p:txBody>
          <a:bodyPr/>
          <a:lstStyle>
            <a:lvl1pPr>
              <a:defRPr sz="2400"/>
            </a:lvl1pPr>
          </a:lstStyle>
          <a:p>
            <a:r>
              <a:rPr lang="en-GB" noProof="0"/>
              <a:t>Slide title</a:t>
            </a:r>
          </a:p>
        </p:txBody>
      </p:sp>
      <p:sp>
        <p:nvSpPr>
          <p:cNvPr id="5" name="Content Placeholder 2">
            <a:extLst>
              <a:ext uri="{FF2B5EF4-FFF2-40B4-BE49-F238E27FC236}">
                <a16:creationId xmlns:a16="http://schemas.microsoft.com/office/drawing/2014/main" id="{8F171A6D-C546-417D-A82D-7DBA9617B505}"/>
              </a:ext>
            </a:extLst>
          </p:cNvPr>
          <p:cNvSpPr>
            <a:spLocks noGrp="1"/>
          </p:cNvSpPr>
          <p:nvPr>
            <p:ph sz="quarter" idx="16" hasCustomPrompt="1"/>
          </p:nvPr>
        </p:nvSpPr>
        <p:spPr>
          <a:xfrm>
            <a:off x="3986909" y="2802443"/>
            <a:ext cx="6081019" cy="3269738"/>
          </a:xfrm>
        </p:spPr>
        <p:txBody>
          <a:bodyPr/>
          <a:lstStyle/>
          <a:p>
            <a:pPr lvl="0"/>
            <a:r>
              <a:rPr lang="en-GB" noProof="0"/>
              <a:t>Use Alt+Shift+Right/Left arrows to change text levels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6" name="Content Placeholder 1">
            <a:extLst>
              <a:ext uri="{FF2B5EF4-FFF2-40B4-BE49-F238E27FC236}">
                <a16:creationId xmlns:a16="http://schemas.microsoft.com/office/drawing/2014/main" id="{AF9062DF-55B9-4B16-B9B3-10FA793D4390}"/>
              </a:ext>
            </a:extLst>
          </p:cNvPr>
          <p:cNvSpPr>
            <a:spLocks noGrp="1"/>
          </p:cNvSpPr>
          <p:nvPr>
            <p:ph sz="quarter" idx="15" hasCustomPrompt="1"/>
          </p:nvPr>
        </p:nvSpPr>
        <p:spPr>
          <a:xfrm>
            <a:off x="665165" y="2802443"/>
            <a:ext cx="2714400" cy="3269738"/>
          </a:xfrm>
        </p:spPr>
        <p:txBody>
          <a:bodyPr/>
          <a:lstStyle/>
          <a:p>
            <a:pPr lvl="0"/>
            <a:r>
              <a:rPr lang="en-GB" noProof="0"/>
              <a:t>Use Alt+Shift+Right/Left arrows to change text levels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 name="Text Placeholder 4">
            <a:extLst>
              <a:ext uri="{FF2B5EF4-FFF2-40B4-BE49-F238E27FC236}">
                <a16:creationId xmlns:a16="http://schemas.microsoft.com/office/drawing/2014/main" id="{84BB08B8-AC6F-1448-D859-175B2E33604C}"/>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3199149826"/>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s (2/3, 1/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0D86C2-03CA-42D7-B168-CA51FF1A6CCF}"/>
              </a:ext>
            </a:extLst>
          </p:cNvPr>
          <p:cNvSpPr>
            <a:spLocks noGrp="1"/>
          </p:cNvSpPr>
          <p:nvPr>
            <p:ph type="title" hasCustomPrompt="1"/>
          </p:nvPr>
        </p:nvSpPr>
        <p:spPr>
          <a:xfrm>
            <a:off x="665163" y="1032440"/>
            <a:ext cx="9398001" cy="695487"/>
          </a:xfrm>
        </p:spPr>
        <p:txBody>
          <a:bodyPr/>
          <a:lstStyle>
            <a:lvl1pPr>
              <a:defRPr sz="2400"/>
            </a:lvl1pPr>
          </a:lstStyle>
          <a:p>
            <a:r>
              <a:rPr lang="en-GB" noProof="0"/>
              <a:t>Slide title</a:t>
            </a:r>
          </a:p>
        </p:txBody>
      </p:sp>
      <p:sp>
        <p:nvSpPr>
          <p:cNvPr id="5" name="Content Placeholder 2">
            <a:extLst>
              <a:ext uri="{FF2B5EF4-FFF2-40B4-BE49-F238E27FC236}">
                <a16:creationId xmlns:a16="http://schemas.microsoft.com/office/drawing/2014/main" id="{4EFDDDA8-C558-4002-A15E-2C7179B00530}"/>
              </a:ext>
            </a:extLst>
          </p:cNvPr>
          <p:cNvSpPr>
            <a:spLocks noGrp="1"/>
          </p:cNvSpPr>
          <p:nvPr>
            <p:ph sz="quarter" idx="16" hasCustomPrompt="1"/>
          </p:nvPr>
        </p:nvSpPr>
        <p:spPr>
          <a:xfrm>
            <a:off x="7348764" y="2802443"/>
            <a:ext cx="2714400" cy="3269738"/>
          </a:xfrm>
        </p:spPr>
        <p:txBody>
          <a:bodyPr/>
          <a:lstStyle/>
          <a:p>
            <a:pPr lvl="0"/>
            <a:r>
              <a:rPr lang="en-GB" noProof="0"/>
              <a:t>Use Alt+Shift+Right/Left arrows to change text levels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6" name="Content Placeholder 1">
            <a:extLst>
              <a:ext uri="{FF2B5EF4-FFF2-40B4-BE49-F238E27FC236}">
                <a16:creationId xmlns:a16="http://schemas.microsoft.com/office/drawing/2014/main" id="{9E177CAB-09E9-45D9-B5E5-87ED47ADE028}"/>
              </a:ext>
            </a:extLst>
          </p:cNvPr>
          <p:cNvSpPr>
            <a:spLocks noGrp="1"/>
          </p:cNvSpPr>
          <p:nvPr>
            <p:ph sz="quarter" idx="15" hasCustomPrompt="1"/>
          </p:nvPr>
        </p:nvSpPr>
        <p:spPr>
          <a:xfrm>
            <a:off x="665165" y="2802443"/>
            <a:ext cx="6039742" cy="3269738"/>
          </a:xfrm>
        </p:spPr>
        <p:txBody>
          <a:bodyPr/>
          <a:lstStyle/>
          <a:p>
            <a:pPr lvl="0"/>
            <a:r>
              <a:rPr lang="en-GB" noProof="0"/>
              <a:t>Use Alt+Shift+Right/Left arrows to change text levels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 name="Text Placeholder 4">
            <a:extLst>
              <a:ext uri="{FF2B5EF4-FFF2-40B4-BE49-F238E27FC236}">
                <a16:creationId xmlns:a16="http://schemas.microsoft.com/office/drawing/2014/main" id="{17C0C67D-3F2A-CADA-7A37-B333CA6F061E}"/>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1086523994"/>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24ABFD-BFB7-4A6D-8F2C-66FB56A69346}"/>
              </a:ext>
            </a:extLst>
          </p:cNvPr>
          <p:cNvSpPr>
            <a:spLocks noGrp="1"/>
          </p:cNvSpPr>
          <p:nvPr>
            <p:ph type="title" hasCustomPrompt="1"/>
          </p:nvPr>
        </p:nvSpPr>
        <p:spPr>
          <a:xfrm>
            <a:off x="665163" y="1032440"/>
            <a:ext cx="9398001" cy="695487"/>
          </a:xfrm>
        </p:spPr>
        <p:txBody>
          <a:bodyPr/>
          <a:lstStyle>
            <a:lvl1pPr>
              <a:defRPr sz="2400"/>
            </a:lvl1pPr>
          </a:lstStyle>
          <a:p>
            <a:r>
              <a:rPr lang="en-GB" noProof="0"/>
              <a:t>Slide title</a:t>
            </a:r>
          </a:p>
        </p:txBody>
      </p:sp>
      <p:sp>
        <p:nvSpPr>
          <p:cNvPr id="4" name="Espace réservé du contenu 5">
            <a:extLst>
              <a:ext uri="{FF2B5EF4-FFF2-40B4-BE49-F238E27FC236}">
                <a16:creationId xmlns:a16="http://schemas.microsoft.com/office/drawing/2014/main" id="{8C04D29B-6145-4A33-B103-D04CB5BAA105}"/>
              </a:ext>
            </a:extLst>
          </p:cNvPr>
          <p:cNvSpPr>
            <a:spLocks noGrp="1"/>
          </p:cNvSpPr>
          <p:nvPr>
            <p:ph sz="quarter" idx="12" hasCustomPrompt="1"/>
          </p:nvPr>
        </p:nvSpPr>
        <p:spPr>
          <a:xfrm>
            <a:off x="665165" y="2802443"/>
            <a:ext cx="2714400" cy="3269738"/>
          </a:xfrm>
        </p:spPr>
        <p:txBody>
          <a:body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5" name="Espace réservé du contenu 7">
            <a:extLst>
              <a:ext uri="{FF2B5EF4-FFF2-40B4-BE49-F238E27FC236}">
                <a16:creationId xmlns:a16="http://schemas.microsoft.com/office/drawing/2014/main" id="{8FE3C4F1-7627-4C97-988A-2B51600A0E6F}"/>
              </a:ext>
            </a:extLst>
          </p:cNvPr>
          <p:cNvSpPr>
            <a:spLocks noGrp="1"/>
          </p:cNvSpPr>
          <p:nvPr>
            <p:ph sz="quarter" idx="13" hasCustomPrompt="1"/>
          </p:nvPr>
        </p:nvSpPr>
        <p:spPr>
          <a:xfrm>
            <a:off x="3986906" y="2802443"/>
            <a:ext cx="2718001" cy="3269738"/>
          </a:xfrm>
        </p:spPr>
        <p:txBody>
          <a:body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6" name="Espace réservé du contenu 9">
            <a:extLst>
              <a:ext uri="{FF2B5EF4-FFF2-40B4-BE49-F238E27FC236}">
                <a16:creationId xmlns:a16="http://schemas.microsoft.com/office/drawing/2014/main" id="{B2032ED6-526D-4E24-B6E9-F55FD69E83D4}"/>
              </a:ext>
            </a:extLst>
          </p:cNvPr>
          <p:cNvSpPr>
            <a:spLocks noGrp="1"/>
          </p:cNvSpPr>
          <p:nvPr>
            <p:ph sz="quarter" idx="14" hasCustomPrompt="1"/>
          </p:nvPr>
        </p:nvSpPr>
        <p:spPr>
          <a:xfrm>
            <a:off x="7348764" y="2802443"/>
            <a:ext cx="2714400" cy="3269738"/>
          </a:xfrm>
        </p:spPr>
        <p:txBody>
          <a:body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7" name="Text Placeholder 4">
            <a:extLst>
              <a:ext uri="{FF2B5EF4-FFF2-40B4-BE49-F238E27FC236}">
                <a16:creationId xmlns:a16="http://schemas.microsoft.com/office/drawing/2014/main" id="{2439EC37-2F2C-944E-AB9F-8CE8F1F89F15}"/>
              </a:ext>
            </a:extLst>
          </p:cNvPr>
          <p:cNvSpPr>
            <a:spLocks noGrp="1"/>
          </p:cNvSpPr>
          <p:nvPr>
            <p:ph type="body" sz="quarter" idx="15"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dirty="0"/>
              <a:t>Subtitle</a:t>
            </a:r>
          </a:p>
        </p:txBody>
      </p:sp>
    </p:spTree>
    <p:extLst>
      <p:ext uri="{BB962C8B-B14F-4D97-AF65-F5344CB8AC3E}">
        <p14:creationId xmlns:p14="http://schemas.microsoft.com/office/powerpoint/2010/main" val="3928012002"/>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Four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B1F81-44D6-4EF7-9CE3-5735B6DD1D71}"/>
              </a:ext>
            </a:extLst>
          </p:cNvPr>
          <p:cNvSpPr>
            <a:spLocks noGrp="1"/>
          </p:cNvSpPr>
          <p:nvPr>
            <p:ph type="title" hasCustomPrompt="1"/>
          </p:nvPr>
        </p:nvSpPr>
        <p:spPr>
          <a:xfrm>
            <a:off x="665163" y="1032442"/>
            <a:ext cx="9398001" cy="709201"/>
          </a:xfrm>
        </p:spPr>
        <p:txBody>
          <a:bodyPr/>
          <a:lstStyle>
            <a:lvl1pPr>
              <a:defRPr sz="2400"/>
            </a:lvl1pPr>
          </a:lstStyle>
          <a:p>
            <a:r>
              <a:rPr lang="en-GB" noProof="0"/>
              <a:t>Slide title</a:t>
            </a:r>
            <a:endParaRPr lang="en-GB"/>
          </a:p>
        </p:txBody>
      </p:sp>
      <p:sp>
        <p:nvSpPr>
          <p:cNvPr id="4" name="Content Placeholder 3">
            <a:extLst>
              <a:ext uri="{FF2B5EF4-FFF2-40B4-BE49-F238E27FC236}">
                <a16:creationId xmlns:a16="http://schemas.microsoft.com/office/drawing/2014/main" id="{8BD131B6-C879-4B02-8749-11A05AB944E7}"/>
              </a:ext>
            </a:extLst>
          </p:cNvPr>
          <p:cNvSpPr>
            <a:spLocks noGrp="1"/>
          </p:cNvSpPr>
          <p:nvPr>
            <p:ph sz="quarter" idx="10" hasCustomPrompt="1"/>
          </p:nvPr>
        </p:nvSpPr>
        <p:spPr>
          <a:xfrm>
            <a:off x="665163" y="2802443"/>
            <a:ext cx="2077200" cy="3269738"/>
          </a:xfrm>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6" name="Content Placeholder 5">
            <a:extLst>
              <a:ext uri="{FF2B5EF4-FFF2-40B4-BE49-F238E27FC236}">
                <a16:creationId xmlns:a16="http://schemas.microsoft.com/office/drawing/2014/main" id="{8A22A1E6-A642-4AD6-AB79-8DE8930FCDBB}"/>
              </a:ext>
            </a:extLst>
          </p:cNvPr>
          <p:cNvSpPr>
            <a:spLocks noGrp="1"/>
          </p:cNvSpPr>
          <p:nvPr>
            <p:ph sz="quarter" idx="11" hasCustomPrompt="1"/>
          </p:nvPr>
        </p:nvSpPr>
        <p:spPr>
          <a:xfrm>
            <a:off x="3105430" y="2802443"/>
            <a:ext cx="2077200" cy="3269738"/>
          </a:xfrm>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8" name="Content Placeholder 7">
            <a:extLst>
              <a:ext uri="{FF2B5EF4-FFF2-40B4-BE49-F238E27FC236}">
                <a16:creationId xmlns:a16="http://schemas.microsoft.com/office/drawing/2014/main" id="{8A8A34B5-6600-406B-94E8-A6D4627A2D2C}"/>
              </a:ext>
            </a:extLst>
          </p:cNvPr>
          <p:cNvSpPr>
            <a:spLocks noGrp="1"/>
          </p:cNvSpPr>
          <p:nvPr>
            <p:ph sz="quarter" idx="12" hasCustomPrompt="1"/>
          </p:nvPr>
        </p:nvSpPr>
        <p:spPr>
          <a:xfrm>
            <a:off x="5545698" y="2802443"/>
            <a:ext cx="2077200" cy="3269738"/>
          </a:xfrm>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10" name="Content Placeholder 9">
            <a:extLst>
              <a:ext uri="{FF2B5EF4-FFF2-40B4-BE49-F238E27FC236}">
                <a16:creationId xmlns:a16="http://schemas.microsoft.com/office/drawing/2014/main" id="{01DBA077-4057-42CF-9538-F883259C51B3}"/>
              </a:ext>
            </a:extLst>
          </p:cNvPr>
          <p:cNvSpPr>
            <a:spLocks noGrp="1"/>
          </p:cNvSpPr>
          <p:nvPr>
            <p:ph sz="quarter" idx="13" hasCustomPrompt="1"/>
          </p:nvPr>
        </p:nvSpPr>
        <p:spPr>
          <a:xfrm>
            <a:off x="7985964" y="2802443"/>
            <a:ext cx="2077200" cy="3269738"/>
          </a:xfrm>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5D184E80-718A-ED9A-F0EB-A5B0774AD5F5}"/>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3597464348"/>
      </p:ext>
    </p:extLst>
  </p:cSld>
  <p:clrMapOvr>
    <a:masterClrMapping/>
  </p:clrMapOvr>
  <p:transition/>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our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B1F81-44D6-4EF7-9CE3-5735B6DD1D71}"/>
              </a:ext>
            </a:extLst>
          </p:cNvPr>
          <p:cNvSpPr>
            <a:spLocks noGrp="1"/>
          </p:cNvSpPr>
          <p:nvPr>
            <p:ph type="title" hasCustomPrompt="1"/>
          </p:nvPr>
        </p:nvSpPr>
        <p:spPr>
          <a:xfrm>
            <a:off x="665163" y="1032440"/>
            <a:ext cx="9398001" cy="619206"/>
          </a:xfrm>
        </p:spPr>
        <p:txBody>
          <a:bodyPr/>
          <a:lstStyle>
            <a:lvl1pPr>
              <a:defRPr sz="2400"/>
            </a:lvl1pPr>
          </a:lstStyle>
          <a:p>
            <a:r>
              <a:rPr lang="en-GB" noProof="0"/>
              <a:t>Slide title</a:t>
            </a:r>
            <a:endParaRPr lang="en-GB"/>
          </a:p>
        </p:txBody>
      </p:sp>
      <p:sp>
        <p:nvSpPr>
          <p:cNvPr id="4" name="Content Placeholder 3">
            <a:extLst>
              <a:ext uri="{FF2B5EF4-FFF2-40B4-BE49-F238E27FC236}">
                <a16:creationId xmlns:a16="http://schemas.microsoft.com/office/drawing/2014/main" id="{8BD131B6-C879-4B02-8749-11A05AB944E7}"/>
              </a:ext>
            </a:extLst>
          </p:cNvPr>
          <p:cNvSpPr>
            <a:spLocks noGrp="1"/>
          </p:cNvSpPr>
          <p:nvPr>
            <p:ph sz="quarter" idx="10" hasCustomPrompt="1"/>
          </p:nvPr>
        </p:nvSpPr>
        <p:spPr>
          <a:xfrm>
            <a:off x="665167" y="2802448"/>
            <a:ext cx="4180601" cy="1506531"/>
          </a:xfrm>
          <a:noFill/>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6" name="Content Placeholder 5">
            <a:extLst>
              <a:ext uri="{FF2B5EF4-FFF2-40B4-BE49-F238E27FC236}">
                <a16:creationId xmlns:a16="http://schemas.microsoft.com/office/drawing/2014/main" id="{8A22A1E6-A642-4AD6-AB79-8DE8930FCDBB}"/>
              </a:ext>
            </a:extLst>
          </p:cNvPr>
          <p:cNvSpPr>
            <a:spLocks noGrp="1"/>
          </p:cNvSpPr>
          <p:nvPr>
            <p:ph sz="quarter" idx="11" hasCustomPrompt="1"/>
          </p:nvPr>
        </p:nvSpPr>
        <p:spPr>
          <a:xfrm>
            <a:off x="665167" y="4565653"/>
            <a:ext cx="4180601" cy="1506531"/>
          </a:xfrm>
          <a:noFill/>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8" name="Content Placeholder 7">
            <a:extLst>
              <a:ext uri="{FF2B5EF4-FFF2-40B4-BE49-F238E27FC236}">
                <a16:creationId xmlns:a16="http://schemas.microsoft.com/office/drawing/2014/main" id="{8A8A34B5-6600-406B-94E8-A6D4627A2D2C}"/>
              </a:ext>
            </a:extLst>
          </p:cNvPr>
          <p:cNvSpPr>
            <a:spLocks noGrp="1"/>
          </p:cNvSpPr>
          <p:nvPr>
            <p:ph sz="quarter" idx="12" hasCustomPrompt="1"/>
          </p:nvPr>
        </p:nvSpPr>
        <p:spPr>
          <a:xfrm>
            <a:off x="5882566" y="2802448"/>
            <a:ext cx="4180601" cy="1506531"/>
          </a:xfrm>
          <a:noFill/>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10" name="Content Placeholder 9">
            <a:extLst>
              <a:ext uri="{FF2B5EF4-FFF2-40B4-BE49-F238E27FC236}">
                <a16:creationId xmlns:a16="http://schemas.microsoft.com/office/drawing/2014/main" id="{01DBA077-4057-42CF-9538-F883259C51B3}"/>
              </a:ext>
            </a:extLst>
          </p:cNvPr>
          <p:cNvSpPr>
            <a:spLocks noGrp="1"/>
          </p:cNvSpPr>
          <p:nvPr>
            <p:ph sz="quarter" idx="13" hasCustomPrompt="1"/>
          </p:nvPr>
        </p:nvSpPr>
        <p:spPr>
          <a:xfrm>
            <a:off x="5882566" y="4565653"/>
            <a:ext cx="4180601" cy="1506531"/>
          </a:xfrm>
          <a:noFill/>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E9C4B98C-E4D2-8123-9D51-7C700009E705}"/>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3691419914"/>
      </p:ext>
    </p:extLst>
  </p:cSld>
  <p:clrMapOvr>
    <a:masterClrMapping/>
  </p:clrMapOvr>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Four Contents">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3B12E61E-BC50-9930-6C67-27A18A6BD925}"/>
              </a:ext>
            </a:extLst>
          </p:cNvPr>
          <p:cNvSpPr/>
          <p:nvPr userDrawn="1"/>
        </p:nvSpPr>
        <p:spPr>
          <a:xfrm>
            <a:off x="628649" y="2666995"/>
            <a:ext cx="4533679" cy="1770318"/>
          </a:xfrm>
          <a:prstGeom prst="roundRect">
            <a:avLst>
              <a:gd name="adj" fmla="val 9296"/>
            </a:avLst>
          </a:prstGeom>
          <a:solidFill>
            <a:schemeClr val="bg1"/>
          </a:solidFill>
          <a:ln>
            <a:no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 name="Title 1">
            <a:extLst>
              <a:ext uri="{FF2B5EF4-FFF2-40B4-BE49-F238E27FC236}">
                <a16:creationId xmlns:a16="http://schemas.microsoft.com/office/drawing/2014/main" id="{62EB1F81-44D6-4EF7-9CE3-5735B6DD1D71}"/>
              </a:ext>
            </a:extLst>
          </p:cNvPr>
          <p:cNvSpPr>
            <a:spLocks noGrp="1"/>
          </p:cNvSpPr>
          <p:nvPr>
            <p:ph type="title" hasCustomPrompt="1"/>
          </p:nvPr>
        </p:nvSpPr>
        <p:spPr>
          <a:xfrm>
            <a:off x="665163" y="1032440"/>
            <a:ext cx="9398001" cy="619206"/>
          </a:xfrm>
        </p:spPr>
        <p:txBody>
          <a:bodyPr/>
          <a:lstStyle>
            <a:lvl1pPr>
              <a:defRPr sz="2400"/>
            </a:lvl1pPr>
          </a:lstStyle>
          <a:p>
            <a:r>
              <a:rPr lang="en-GB" noProof="0"/>
              <a:t>Slide title</a:t>
            </a:r>
            <a:endParaRPr lang="en-GB"/>
          </a:p>
        </p:txBody>
      </p:sp>
      <p:sp>
        <p:nvSpPr>
          <p:cNvPr id="4" name="Content Placeholder 3">
            <a:extLst>
              <a:ext uri="{FF2B5EF4-FFF2-40B4-BE49-F238E27FC236}">
                <a16:creationId xmlns:a16="http://schemas.microsoft.com/office/drawing/2014/main" id="{8BD131B6-C879-4B02-8749-11A05AB944E7}"/>
              </a:ext>
            </a:extLst>
          </p:cNvPr>
          <p:cNvSpPr>
            <a:spLocks noGrp="1"/>
          </p:cNvSpPr>
          <p:nvPr>
            <p:ph sz="quarter" idx="10" hasCustomPrompt="1"/>
          </p:nvPr>
        </p:nvSpPr>
        <p:spPr>
          <a:xfrm>
            <a:off x="931222" y="3086414"/>
            <a:ext cx="4150264" cy="1133794"/>
          </a:xfrm>
          <a:noFill/>
        </p:spPr>
        <p:txBody>
          <a:bodyPr/>
          <a:lstStyle/>
          <a:p>
            <a:pPr lvl="0"/>
            <a:r>
              <a:rPr lang="en-GB" noProof="0"/>
              <a:t>Use Alt+Shift+Right/Left arrows to change text levels</a:t>
            </a:r>
            <a:endParaRPr lang="en-GB"/>
          </a:p>
          <a:p>
            <a:pPr lvl="1"/>
            <a:r>
              <a:rPr lang="en-GB"/>
              <a:t>Second level</a:t>
            </a:r>
          </a:p>
          <a:p>
            <a:pPr lvl="2"/>
            <a:r>
              <a:rPr lang="en-GB"/>
              <a:t>Third level</a:t>
            </a:r>
          </a:p>
        </p:txBody>
      </p:sp>
      <p:sp>
        <p:nvSpPr>
          <p:cNvPr id="7" name="Rounded Rectangle 6">
            <a:extLst>
              <a:ext uri="{FF2B5EF4-FFF2-40B4-BE49-F238E27FC236}">
                <a16:creationId xmlns:a16="http://schemas.microsoft.com/office/drawing/2014/main" id="{FA4FF28C-529D-43D3-DD1F-274E293FD77A}"/>
              </a:ext>
            </a:extLst>
          </p:cNvPr>
          <p:cNvSpPr/>
          <p:nvPr userDrawn="1"/>
        </p:nvSpPr>
        <p:spPr>
          <a:xfrm>
            <a:off x="628649" y="4675683"/>
            <a:ext cx="4533679" cy="1770318"/>
          </a:xfrm>
          <a:prstGeom prst="roundRect">
            <a:avLst>
              <a:gd name="adj" fmla="val 9296"/>
            </a:avLst>
          </a:prstGeom>
          <a:solidFill>
            <a:schemeClr val="bg1"/>
          </a:solidFill>
          <a:ln>
            <a:no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9" name="Content Placeholder 3">
            <a:extLst>
              <a:ext uri="{FF2B5EF4-FFF2-40B4-BE49-F238E27FC236}">
                <a16:creationId xmlns:a16="http://schemas.microsoft.com/office/drawing/2014/main" id="{B8A47E6B-7ACA-222C-4724-6643FCB1E6C0}"/>
              </a:ext>
            </a:extLst>
          </p:cNvPr>
          <p:cNvSpPr>
            <a:spLocks noGrp="1"/>
          </p:cNvSpPr>
          <p:nvPr>
            <p:ph sz="quarter" idx="15" hasCustomPrompt="1"/>
          </p:nvPr>
        </p:nvSpPr>
        <p:spPr>
          <a:xfrm>
            <a:off x="931222" y="5095102"/>
            <a:ext cx="4150264" cy="1133794"/>
          </a:xfrm>
          <a:noFill/>
        </p:spPr>
        <p:txBody>
          <a:bodyPr/>
          <a:lstStyle/>
          <a:p>
            <a:pPr lvl="0"/>
            <a:r>
              <a:rPr lang="en-GB" noProof="0"/>
              <a:t>Use Alt+Shift+Right/Left arrows to change text levels</a:t>
            </a:r>
            <a:endParaRPr lang="en-GB"/>
          </a:p>
          <a:p>
            <a:pPr lvl="1"/>
            <a:r>
              <a:rPr lang="en-GB"/>
              <a:t>Second level</a:t>
            </a:r>
          </a:p>
          <a:p>
            <a:pPr lvl="2"/>
            <a:r>
              <a:rPr lang="en-GB"/>
              <a:t>Third level</a:t>
            </a:r>
          </a:p>
        </p:txBody>
      </p:sp>
      <p:sp>
        <p:nvSpPr>
          <p:cNvPr id="11" name="Rounded Rectangle 10">
            <a:extLst>
              <a:ext uri="{FF2B5EF4-FFF2-40B4-BE49-F238E27FC236}">
                <a16:creationId xmlns:a16="http://schemas.microsoft.com/office/drawing/2014/main" id="{7446EAA6-E3C1-0D56-503D-A5E3DEA06A8C}"/>
              </a:ext>
            </a:extLst>
          </p:cNvPr>
          <p:cNvSpPr/>
          <p:nvPr userDrawn="1"/>
        </p:nvSpPr>
        <p:spPr>
          <a:xfrm>
            <a:off x="5330748" y="2666995"/>
            <a:ext cx="4533679" cy="1770318"/>
          </a:xfrm>
          <a:prstGeom prst="roundRect">
            <a:avLst>
              <a:gd name="adj" fmla="val 9296"/>
            </a:avLst>
          </a:prstGeom>
          <a:solidFill>
            <a:schemeClr val="bg1"/>
          </a:solidFill>
          <a:ln>
            <a:no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2" name="Content Placeholder 3">
            <a:extLst>
              <a:ext uri="{FF2B5EF4-FFF2-40B4-BE49-F238E27FC236}">
                <a16:creationId xmlns:a16="http://schemas.microsoft.com/office/drawing/2014/main" id="{4C64CEFE-4FCB-0F8C-EC42-2FF598EACD6A}"/>
              </a:ext>
            </a:extLst>
          </p:cNvPr>
          <p:cNvSpPr>
            <a:spLocks noGrp="1"/>
          </p:cNvSpPr>
          <p:nvPr>
            <p:ph sz="quarter" idx="16" hasCustomPrompt="1"/>
          </p:nvPr>
        </p:nvSpPr>
        <p:spPr>
          <a:xfrm>
            <a:off x="5633321" y="3086414"/>
            <a:ext cx="4150264" cy="1133794"/>
          </a:xfrm>
          <a:noFill/>
        </p:spPr>
        <p:txBody>
          <a:bodyPr/>
          <a:lstStyle/>
          <a:p>
            <a:pPr lvl="0"/>
            <a:r>
              <a:rPr lang="en-GB" noProof="0"/>
              <a:t>Use Alt+Shift+Right/Left arrows to change text levels</a:t>
            </a:r>
            <a:endParaRPr lang="en-GB"/>
          </a:p>
          <a:p>
            <a:pPr lvl="1"/>
            <a:r>
              <a:rPr lang="en-GB"/>
              <a:t>Second level</a:t>
            </a:r>
          </a:p>
          <a:p>
            <a:pPr lvl="2"/>
            <a:r>
              <a:rPr lang="en-GB"/>
              <a:t>Third level</a:t>
            </a:r>
          </a:p>
        </p:txBody>
      </p:sp>
      <p:sp>
        <p:nvSpPr>
          <p:cNvPr id="13" name="Rounded Rectangle 12">
            <a:extLst>
              <a:ext uri="{FF2B5EF4-FFF2-40B4-BE49-F238E27FC236}">
                <a16:creationId xmlns:a16="http://schemas.microsoft.com/office/drawing/2014/main" id="{053B9138-CA84-C35F-46AD-F826241A210F}"/>
              </a:ext>
            </a:extLst>
          </p:cNvPr>
          <p:cNvSpPr/>
          <p:nvPr userDrawn="1"/>
        </p:nvSpPr>
        <p:spPr>
          <a:xfrm>
            <a:off x="5330748" y="4675683"/>
            <a:ext cx="4533679" cy="1770318"/>
          </a:xfrm>
          <a:prstGeom prst="roundRect">
            <a:avLst>
              <a:gd name="adj" fmla="val 9296"/>
            </a:avLst>
          </a:prstGeom>
          <a:solidFill>
            <a:schemeClr val="bg1"/>
          </a:solidFill>
          <a:ln>
            <a:no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4" name="Content Placeholder 3">
            <a:extLst>
              <a:ext uri="{FF2B5EF4-FFF2-40B4-BE49-F238E27FC236}">
                <a16:creationId xmlns:a16="http://schemas.microsoft.com/office/drawing/2014/main" id="{EBC7D18E-B3EC-2274-2E13-B49BBEB9456F}"/>
              </a:ext>
            </a:extLst>
          </p:cNvPr>
          <p:cNvSpPr>
            <a:spLocks noGrp="1"/>
          </p:cNvSpPr>
          <p:nvPr>
            <p:ph sz="quarter" idx="17" hasCustomPrompt="1"/>
          </p:nvPr>
        </p:nvSpPr>
        <p:spPr>
          <a:xfrm>
            <a:off x="5633321" y="5095102"/>
            <a:ext cx="4150264" cy="1133794"/>
          </a:xfrm>
          <a:noFill/>
        </p:spPr>
        <p:txBody>
          <a:bodyPr/>
          <a:lstStyle/>
          <a:p>
            <a:pPr lvl="0"/>
            <a:r>
              <a:rPr lang="en-GB" noProof="0"/>
              <a:t>Use Alt+Shift+Right/Left arrows to change text levels</a:t>
            </a:r>
            <a:endParaRPr lang="en-GB"/>
          </a:p>
          <a:p>
            <a:pPr lvl="1"/>
            <a:r>
              <a:rPr lang="en-GB"/>
              <a:t>Second level</a:t>
            </a:r>
          </a:p>
          <a:p>
            <a:pPr lvl="2"/>
            <a:r>
              <a:rPr lang="en-GB"/>
              <a:t>Third level</a:t>
            </a:r>
          </a:p>
        </p:txBody>
      </p:sp>
      <p:sp>
        <p:nvSpPr>
          <p:cNvPr id="6" name="Text Placeholder 4">
            <a:extLst>
              <a:ext uri="{FF2B5EF4-FFF2-40B4-BE49-F238E27FC236}">
                <a16:creationId xmlns:a16="http://schemas.microsoft.com/office/drawing/2014/main" id="{AA669579-F586-2DFE-1A52-BF74F3752E2E}"/>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1252110713"/>
      </p:ext>
    </p:extLst>
  </p:cSld>
  <p:clrMapOvr>
    <a:masterClrMapping/>
  </p:clrMapOvr>
  <p:transition/>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eft ima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a:xfrm>
            <a:off x="5846052" y="1032442"/>
            <a:ext cx="4217115" cy="864587"/>
          </a:xfrm>
        </p:spPr>
        <p:txBody>
          <a:bodyPr/>
          <a:lstStyle>
            <a:lvl1pPr>
              <a:defRPr sz="2400"/>
            </a:lvl1pPr>
          </a:lstStyle>
          <a:p>
            <a:r>
              <a:rPr lang="en-GB" noProof="0"/>
              <a:t>Slide title</a:t>
            </a:r>
          </a:p>
        </p:txBody>
      </p:sp>
      <p:sp>
        <p:nvSpPr>
          <p:cNvPr id="7" name="Content Placeholder 2">
            <a:extLst>
              <a:ext uri="{FF2B5EF4-FFF2-40B4-BE49-F238E27FC236}">
                <a16:creationId xmlns:a16="http://schemas.microsoft.com/office/drawing/2014/main" id="{3B099D75-4B83-4AE8-9C88-5935E02B0536}"/>
              </a:ext>
            </a:extLst>
          </p:cNvPr>
          <p:cNvSpPr>
            <a:spLocks noGrp="1"/>
          </p:cNvSpPr>
          <p:nvPr>
            <p:ph idx="1" hasCustomPrompt="1"/>
          </p:nvPr>
        </p:nvSpPr>
        <p:spPr>
          <a:xfrm>
            <a:off x="5846052" y="2802443"/>
            <a:ext cx="4217115" cy="3269738"/>
          </a:xfrm>
        </p:spPr>
        <p:txBody>
          <a:bodyPr/>
          <a:lstStyle>
            <a:lvl1pPr>
              <a:defRPr/>
            </a:lvl1p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9" name="Picture Placeholder 8">
            <a:extLst>
              <a:ext uri="{FF2B5EF4-FFF2-40B4-BE49-F238E27FC236}">
                <a16:creationId xmlns:a16="http://schemas.microsoft.com/office/drawing/2014/main" id="{BF1BB149-136D-4116-8379-5710241A176C}"/>
              </a:ext>
            </a:extLst>
          </p:cNvPr>
          <p:cNvSpPr>
            <a:spLocks noGrp="1"/>
          </p:cNvSpPr>
          <p:nvPr>
            <p:ph type="pic" sz="quarter" idx="11"/>
          </p:nvPr>
        </p:nvSpPr>
        <p:spPr>
          <a:xfrm>
            <a:off x="3" y="0"/>
            <a:ext cx="5397501" cy="7559675"/>
          </a:xfrm>
          <a:solidFill>
            <a:schemeClr val="bg1">
              <a:lumMod val="95000"/>
            </a:schemeClr>
          </a:solidFill>
        </p:spPr>
        <p:txBody>
          <a:bodyPr anchor="ctr"/>
          <a:lstStyle>
            <a:lvl1pPr marL="0" indent="0" algn="ctr">
              <a:buNone/>
              <a:defRPr>
                <a:noFill/>
              </a:defRPr>
            </a:lvl1pPr>
          </a:lstStyle>
          <a:p>
            <a:r>
              <a:rPr lang="en-US"/>
              <a:t>Click icon to add picture</a:t>
            </a:r>
          </a:p>
        </p:txBody>
      </p:sp>
      <p:sp>
        <p:nvSpPr>
          <p:cNvPr id="4" name="Text Placeholder 4">
            <a:extLst>
              <a:ext uri="{FF2B5EF4-FFF2-40B4-BE49-F238E27FC236}">
                <a16:creationId xmlns:a16="http://schemas.microsoft.com/office/drawing/2014/main" id="{F5A99006-B2CC-1034-3FD2-98BB2FB2EB1B}"/>
              </a:ext>
            </a:extLst>
          </p:cNvPr>
          <p:cNvSpPr>
            <a:spLocks noGrp="1"/>
          </p:cNvSpPr>
          <p:nvPr>
            <p:ph type="body" sz="quarter" idx="10" hasCustomPrompt="1"/>
          </p:nvPr>
        </p:nvSpPr>
        <p:spPr>
          <a:xfrm>
            <a:off x="5846049" y="2347159"/>
            <a:ext cx="4217113" cy="455285"/>
          </a:xfrm>
          <a:noFill/>
        </p:spPr>
        <p:txBody>
          <a:bodyPr bIns="0" anchor="t"/>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dirty="0"/>
              <a:t>Subtitle</a:t>
            </a:r>
          </a:p>
        </p:txBody>
      </p:sp>
    </p:spTree>
    <p:extLst>
      <p:ext uri="{BB962C8B-B14F-4D97-AF65-F5344CB8AC3E}">
        <p14:creationId xmlns:p14="http://schemas.microsoft.com/office/powerpoint/2010/main" val="4267744963"/>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Right ima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a:xfrm>
            <a:off x="665166" y="1032442"/>
            <a:ext cx="4180601" cy="864587"/>
          </a:xfrm>
        </p:spPr>
        <p:txBody>
          <a:bodyPr/>
          <a:lstStyle>
            <a:lvl1pPr>
              <a:defRPr sz="2400"/>
            </a:lvl1pPr>
          </a:lstStyle>
          <a:p>
            <a:r>
              <a:rPr lang="en-GB" noProof="0"/>
              <a:t>Slide title</a:t>
            </a:r>
          </a:p>
        </p:txBody>
      </p:sp>
      <p:sp>
        <p:nvSpPr>
          <p:cNvPr id="8" name="Content Placeholder 2">
            <a:extLst>
              <a:ext uri="{FF2B5EF4-FFF2-40B4-BE49-F238E27FC236}">
                <a16:creationId xmlns:a16="http://schemas.microsoft.com/office/drawing/2014/main" id="{8FF50214-EE6D-4D2F-8B42-7ABE577137B4}"/>
              </a:ext>
            </a:extLst>
          </p:cNvPr>
          <p:cNvSpPr>
            <a:spLocks noGrp="1"/>
          </p:cNvSpPr>
          <p:nvPr>
            <p:ph idx="1" hasCustomPrompt="1"/>
          </p:nvPr>
        </p:nvSpPr>
        <p:spPr>
          <a:xfrm>
            <a:off x="665166" y="2802443"/>
            <a:ext cx="4180601" cy="3269738"/>
          </a:xfrm>
        </p:spPr>
        <p:txBody>
          <a:bodyPr/>
          <a:lstStyle>
            <a:lvl1pPr>
              <a:defRPr/>
            </a:lvl1p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9" name="Picture Placeholder 8">
            <a:extLst>
              <a:ext uri="{FF2B5EF4-FFF2-40B4-BE49-F238E27FC236}">
                <a16:creationId xmlns:a16="http://schemas.microsoft.com/office/drawing/2014/main" id="{1C52AC07-BDDB-4B92-BEB0-F59687FB208A}"/>
              </a:ext>
            </a:extLst>
          </p:cNvPr>
          <p:cNvSpPr>
            <a:spLocks noGrp="1"/>
          </p:cNvSpPr>
          <p:nvPr>
            <p:ph type="pic" sz="quarter" idx="11"/>
          </p:nvPr>
        </p:nvSpPr>
        <p:spPr>
          <a:xfrm>
            <a:off x="5294315" y="0"/>
            <a:ext cx="5397501" cy="7559675"/>
          </a:xfrm>
          <a:solidFill>
            <a:schemeClr val="bg1">
              <a:lumMod val="95000"/>
            </a:schemeClr>
          </a:solidFill>
        </p:spPr>
        <p:txBody>
          <a:bodyPr anchor="ctr"/>
          <a:lstStyle>
            <a:lvl1pPr marL="0" indent="0" algn="ctr">
              <a:buNone/>
              <a:defRPr>
                <a:noFill/>
              </a:defRPr>
            </a:lvl1pPr>
          </a:lstStyle>
          <a:p>
            <a:r>
              <a:rPr lang="en-US"/>
              <a:t>Click icon to add picture</a:t>
            </a:r>
          </a:p>
        </p:txBody>
      </p:sp>
      <p:sp>
        <p:nvSpPr>
          <p:cNvPr id="5" name="Text Placeholder 4">
            <a:extLst>
              <a:ext uri="{FF2B5EF4-FFF2-40B4-BE49-F238E27FC236}">
                <a16:creationId xmlns:a16="http://schemas.microsoft.com/office/drawing/2014/main" id="{5FAF3B1F-99E4-78A4-2C2C-1B6C61258436}"/>
              </a:ext>
            </a:extLst>
          </p:cNvPr>
          <p:cNvSpPr>
            <a:spLocks noGrp="1"/>
          </p:cNvSpPr>
          <p:nvPr>
            <p:ph type="body" sz="quarter" idx="10" hasCustomPrompt="1"/>
          </p:nvPr>
        </p:nvSpPr>
        <p:spPr>
          <a:xfrm>
            <a:off x="665163" y="2347159"/>
            <a:ext cx="4217113" cy="455285"/>
          </a:xfrm>
          <a:noFill/>
        </p:spPr>
        <p:txBody>
          <a:bodyPr bIns="0" anchor="t"/>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1984636999"/>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Text Placeholder 4">
            <a:extLst>
              <a:ext uri="{FF2B5EF4-FFF2-40B4-BE49-F238E27FC236}">
                <a16:creationId xmlns:a16="http://schemas.microsoft.com/office/drawing/2014/main" id="{66A54C84-3901-C94E-E787-087A7B3B12DC}"/>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4081188066"/>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Rounded Rectangle 2">
            <a:extLst>
              <a:ext uri="{FF2B5EF4-FFF2-40B4-BE49-F238E27FC236}">
                <a16:creationId xmlns:a16="http://schemas.microsoft.com/office/drawing/2014/main" id="{31AD921E-299C-D3C4-7820-5E024D410839}"/>
              </a:ext>
            </a:extLst>
          </p:cNvPr>
          <p:cNvSpPr/>
          <p:nvPr userDrawn="1"/>
        </p:nvSpPr>
        <p:spPr>
          <a:xfrm rot="5400000">
            <a:off x="1254279" y="2061543"/>
            <a:ext cx="1770667" cy="2948898"/>
          </a:xfrm>
          <a:prstGeom prst="roundRect">
            <a:avLst>
              <a:gd name="adj" fmla="val 9296"/>
            </a:avLst>
          </a:prstGeom>
          <a:solidFill>
            <a:schemeClr val="bg1"/>
          </a:solidFill>
          <a:ln>
            <a:solidFill>
              <a:schemeClr val="accent3"/>
            </a:solidFill>
          </a:ln>
          <a:effectLst>
            <a:outerShdw blurRad="753720" dist="38100" dir="5400000" sx="96000" sy="96000" algn="t" rotWithShape="0">
              <a:srgbClr val="FFA400">
                <a:alpha val="30049"/>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5" name="Rounded Rectangle 4">
            <a:extLst>
              <a:ext uri="{FF2B5EF4-FFF2-40B4-BE49-F238E27FC236}">
                <a16:creationId xmlns:a16="http://schemas.microsoft.com/office/drawing/2014/main" id="{A9972123-411B-D1A3-AA3D-1DC9A130C63F}"/>
              </a:ext>
            </a:extLst>
          </p:cNvPr>
          <p:cNvSpPr/>
          <p:nvPr userDrawn="1"/>
        </p:nvSpPr>
        <p:spPr>
          <a:xfrm rot="5400000">
            <a:off x="4478830" y="2061543"/>
            <a:ext cx="1770667" cy="2948898"/>
          </a:xfrm>
          <a:prstGeom prst="roundRect">
            <a:avLst>
              <a:gd name="adj" fmla="val 9296"/>
            </a:avLst>
          </a:prstGeom>
          <a:solidFill>
            <a:schemeClr val="bg1"/>
          </a:solidFill>
          <a:ln>
            <a:solidFill>
              <a:schemeClr val="accent6"/>
            </a:solidFill>
          </a:ln>
          <a:effectLst>
            <a:outerShdw blurRad="753720" dist="38100" dir="5400000" sx="96000" sy="96000" algn="t" rotWithShape="0">
              <a:srgbClr val="4B5F8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6" name="Rounded Rectangle 5">
            <a:extLst>
              <a:ext uri="{FF2B5EF4-FFF2-40B4-BE49-F238E27FC236}">
                <a16:creationId xmlns:a16="http://schemas.microsoft.com/office/drawing/2014/main" id="{527D9BCA-86C8-2330-D1A4-1BFB0816F27B}"/>
              </a:ext>
            </a:extLst>
          </p:cNvPr>
          <p:cNvSpPr/>
          <p:nvPr userDrawn="1"/>
        </p:nvSpPr>
        <p:spPr>
          <a:xfrm rot="5400000">
            <a:off x="7703382" y="2061543"/>
            <a:ext cx="1770667" cy="2948898"/>
          </a:xfrm>
          <a:prstGeom prst="roundRect">
            <a:avLst>
              <a:gd name="adj" fmla="val 9296"/>
            </a:avLst>
          </a:prstGeom>
          <a:solidFill>
            <a:schemeClr val="bg1"/>
          </a:solidFill>
          <a:ln>
            <a:solidFill>
              <a:schemeClr val="accent3"/>
            </a:solidFill>
          </a:ln>
          <a:effectLst>
            <a:outerShdw blurRad="753720" dist="38100" dir="5400000" sx="96000" sy="96000" algn="t" rotWithShape="0">
              <a:srgbClr val="FFA400">
                <a:alpha val="30049"/>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7" name="Rounded Rectangle 6">
            <a:extLst>
              <a:ext uri="{FF2B5EF4-FFF2-40B4-BE49-F238E27FC236}">
                <a16:creationId xmlns:a16="http://schemas.microsoft.com/office/drawing/2014/main" id="{471A1710-EEEB-21D3-8499-754CAE5D2E4A}"/>
              </a:ext>
            </a:extLst>
          </p:cNvPr>
          <p:cNvSpPr/>
          <p:nvPr userDrawn="1"/>
        </p:nvSpPr>
        <p:spPr>
          <a:xfrm rot="5400000">
            <a:off x="1254279" y="4167455"/>
            <a:ext cx="1770667" cy="2948898"/>
          </a:xfrm>
          <a:prstGeom prst="roundRect">
            <a:avLst>
              <a:gd name="adj" fmla="val 9296"/>
            </a:avLst>
          </a:prstGeom>
          <a:solidFill>
            <a:schemeClr val="bg1"/>
          </a:solidFill>
          <a:ln>
            <a:solidFill>
              <a:schemeClr val="accent6"/>
            </a:solidFill>
          </a:ln>
          <a:effectLst>
            <a:outerShdw blurRad="753720" dist="38100" dir="5400000" sx="96000" sy="96000" algn="t" rotWithShape="0">
              <a:srgbClr val="4B5F8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Rounded Rectangle 7">
            <a:extLst>
              <a:ext uri="{FF2B5EF4-FFF2-40B4-BE49-F238E27FC236}">
                <a16:creationId xmlns:a16="http://schemas.microsoft.com/office/drawing/2014/main" id="{B3C32386-9995-05A5-4D53-B77FBDB4EEC3}"/>
              </a:ext>
            </a:extLst>
          </p:cNvPr>
          <p:cNvSpPr/>
          <p:nvPr userDrawn="1"/>
        </p:nvSpPr>
        <p:spPr>
          <a:xfrm rot="5400000">
            <a:off x="4478830" y="4167455"/>
            <a:ext cx="1770667" cy="2948898"/>
          </a:xfrm>
          <a:prstGeom prst="roundRect">
            <a:avLst>
              <a:gd name="adj" fmla="val 9296"/>
            </a:avLst>
          </a:prstGeom>
          <a:solidFill>
            <a:schemeClr val="bg1"/>
          </a:solidFill>
          <a:ln>
            <a:solidFill>
              <a:schemeClr val="accent3"/>
            </a:solidFill>
          </a:ln>
          <a:effectLst>
            <a:outerShdw blurRad="753720" dist="38100" dir="5400000" sx="96000" sy="96000" algn="t" rotWithShape="0">
              <a:srgbClr val="FFA400">
                <a:alpha val="30049"/>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9" name="Rounded Rectangle 8">
            <a:extLst>
              <a:ext uri="{FF2B5EF4-FFF2-40B4-BE49-F238E27FC236}">
                <a16:creationId xmlns:a16="http://schemas.microsoft.com/office/drawing/2014/main" id="{A8B13388-E13E-BCFA-7018-CE070B415784}"/>
              </a:ext>
            </a:extLst>
          </p:cNvPr>
          <p:cNvSpPr/>
          <p:nvPr userDrawn="1"/>
        </p:nvSpPr>
        <p:spPr>
          <a:xfrm rot="5400000">
            <a:off x="7703382" y="4167455"/>
            <a:ext cx="1770667" cy="2948898"/>
          </a:xfrm>
          <a:prstGeom prst="roundRect">
            <a:avLst>
              <a:gd name="adj" fmla="val 9296"/>
            </a:avLst>
          </a:prstGeom>
          <a:solidFill>
            <a:schemeClr val="bg1"/>
          </a:solidFill>
          <a:ln>
            <a:solidFill>
              <a:schemeClr val="accent6"/>
            </a:solidFill>
          </a:ln>
          <a:effectLst>
            <a:outerShdw blurRad="753720" dist="38100" dir="5400000" sx="96000" sy="96000" algn="t" rotWithShape="0">
              <a:srgbClr val="4B5F8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34" name="Text Placeholder 33">
            <a:extLst>
              <a:ext uri="{FF2B5EF4-FFF2-40B4-BE49-F238E27FC236}">
                <a16:creationId xmlns:a16="http://schemas.microsoft.com/office/drawing/2014/main" id="{800B566C-0372-29E4-5D59-62BA07E5DF43}"/>
              </a:ext>
            </a:extLst>
          </p:cNvPr>
          <p:cNvSpPr>
            <a:spLocks noGrp="1"/>
          </p:cNvSpPr>
          <p:nvPr>
            <p:ph type="body" sz="quarter" idx="15" hasCustomPrompt="1"/>
          </p:nvPr>
        </p:nvSpPr>
        <p:spPr>
          <a:xfrm>
            <a:off x="664529" y="2650556"/>
            <a:ext cx="1070639" cy="1770925"/>
          </a:xfrm>
        </p:spPr>
        <p:txBody>
          <a:bodyPr anchor="ctr"/>
          <a:lstStyle>
            <a:lvl1pPr marL="0" indent="0" algn="l" defTabSz="801899" rtl="0" eaLnBrk="1" latinLnBrk="0" hangingPunct="1">
              <a:lnSpc>
                <a:spcPct val="90000"/>
              </a:lnSpc>
              <a:spcBef>
                <a:spcPct val="0"/>
              </a:spcBef>
              <a:buNone/>
              <a:defRPr lang="en-GB" sz="3274" b="1" kern="1200" smtClean="0">
                <a:gradFill flip="none" rotWithShape="1">
                  <a:gsLst>
                    <a:gs pos="0">
                      <a:schemeClr val="accent4"/>
                    </a:gs>
                    <a:gs pos="100000">
                      <a:srgbClr val="FFA400"/>
                    </a:gs>
                  </a:gsLst>
                  <a:lin ang="0" scaled="1"/>
                </a:gradFill>
                <a:latin typeface="+mj-lt"/>
                <a:ea typeface="+mj-ea"/>
                <a:cs typeface="+mj-cs"/>
              </a:defRPr>
            </a:lvl1pPr>
          </a:lstStyle>
          <a:p>
            <a:pPr marL="0" marR="0" lvl="0" indent="0" algn="ctr" defTabSz="801899" rtl="0" eaLnBrk="1" fontAlgn="auto" latinLnBrk="0" hangingPunct="1">
              <a:lnSpc>
                <a:spcPct val="100000"/>
              </a:lnSpc>
              <a:spcBef>
                <a:spcPts val="954"/>
              </a:spcBef>
              <a:spcAft>
                <a:spcPct val="0"/>
              </a:spcAft>
              <a:buClr>
                <a:srgbClr val="FFA400"/>
              </a:buClr>
              <a:buSzPct val="90000"/>
              <a:buFont typeface="Wingdings 3" panose="05040102010807070707" pitchFamily="18" charset="2"/>
              <a:buNone/>
              <a:defRPr/>
            </a:pPr>
            <a:r>
              <a:rPr lang="en-GB" sz="3742"/>
              <a:t>1</a:t>
            </a:r>
          </a:p>
        </p:txBody>
      </p:sp>
      <p:sp>
        <p:nvSpPr>
          <p:cNvPr id="36" name="Text Placeholder 33">
            <a:extLst>
              <a:ext uri="{FF2B5EF4-FFF2-40B4-BE49-F238E27FC236}">
                <a16:creationId xmlns:a16="http://schemas.microsoft.com/office/drawing/2014/main" id="{0596C4AD-57BB-30A2-5E1D-91C8CD7B4F6A}"/>
              </a:ext>
            </a:extLst>
          </p:cNvPr>
          <p:cNvSpPr>
            <a:spLocks noGrp="1"/>
          </p:cNvSpPr>
          <p:nvPr>
            <p:ph type="body" sz="quarter" idx="16" hasCustomPrompt="1"/>
          </p:nvPr>
        </p:nvSpPr>
        <p:spPr>
          <a:xfrm>
            <a:off x="664529" y="4745951"/>
            <a:ext cx="1070639" cy="1770925"/>
          </a:xfrm>
        </p:spPr>
        <p:txBody>
          <a:bodyPr anchor="ctr"/>
          <a:lstStyle>
            <a:lvl1pPr marL="0" indent="0" algn="l" defTabSz="801899" rtl="0" eaLnBrk="1" latinLnBrk="0" hangingPunct="1">
              <a:lnSpc>
                <a:spcPct val="90000"/>
              </a:lnSpc>
              <a:spcBef>
                <a:spcPct val="0"/>
              </a:spcBef>
              <a:buNone/>
              <a:defRPr lang="en-GB" sz="3274" b="1" kern="1200" smtClean="0">
                <a:solidFill>
                  <a:srgbClr val="4B5F80"/>
                </a:solidFill>
                <a:latin typeface="+mj-lt"/>
                <a:ea typeface="+mj-ea"/>
                <a:cs typeface="+mj-cs"/>
              </a:defRPr>
            </a:lvl1pPr>
          </a:lstStyle>
          <a:p>
            <a:pPr marL="0" marR="0" lvl="0" indent="0" algn="ctr" defTabSz="801899" rtl="0" eaLnBrk="1" fontAlgn="auto" latinLnBrk="0" hangingPunct="1">
              <a:lnSpc>
                <a:spcPct val="100000"/>
              </a:lnSpc>
              <a:spcBef>
                <a:spcPts val="954"/>
              </a:spcBef>
              <a:spcAft>
                <a:spcPct val="0"/>
              </a:spcAft>
              <a:buClr>
                <a:srgbClr val="FFA400"/>
              </a:buClr>
              <a:buSzPct val="90000"/>
              <a:buFont typeface="Wingdings 3" panose="05040102010807070707" pitchFamily="18" charset="2"/>
              <a:buNone/>
              <a:defRPr/>
            </a:pPr>
            <a:r>
              <a:rPr lang="en-GB" sz="3742"/>
              <a:t>4</a:t>
            </a:r>
          </a:p>
        </p:txBody>
      </p:sp>
      <p:sp>
        <p:nvSpPr>
          <p:cNvPr id="37" name="Text Placeholder 33">
            <a:extLst>
              <a:ext uri="{FF2B5EF4-FFF2-40B4-BE49-F238E27FC236}">
                <a16:creationId xmlns:a16="http://schemas.microsoft.com/office/drawing/2014/main" id="{CA17D34A-8B27-5680-2189-8A6419816563}"/>
              </a:ext>
            </a:extLst>
          </p:cNvPr>
          <p:cNvSpPr>
            <a:spLocks noGrp="1"/>
          </p:cNvSpPr>
          <p:nvPr>
            <p:ph type="body" sz="quarter" idx="17" hasCustomPrompt="1"/>
          </p:nvPr>
        </p:nvSpPr>
        <p:spPr>
          <a:xfrm>
            <a:off x="3883569" y="2650556"/>
            <a:ext cx="1070639" cy="1770925"/>
          </a:xfrm>
        </p:spPr>
        <p:txBody>
          <a:bodyPr anchor="ctr"/>
          <a:lstStyle>
            <a:lvl1pPr marL="0" indent="0" algn="l" defTabSz="801899" rtl="0" eaLnBrk="1" latinLnBrk="0" hangingPunct="1">
              <a:lnSpc>
                <a:spcPct val="90000"/>
              </a:lnSpc>
              <a:spcBef>
                <a:spcPct val="0"/>
              </a:spcBef>
              <a:buNone/>
              <a:defRPr lang="en-GB" sz="3274" b="1" kern="1200" smtClean="0">
                <a:solidFill>
                  <a:srgbClr val="4B5F80"/>
                </a:solidFill>
                <a:latin typeface="+mj-lt"/>
                <a:ea typeface="+mj-ea"/>
                <a:cs typeface="+mj-cs"/>
              </a:defRPr>
            </a:lvl1pPr>
          </a:lstStyle>
          <a:p>
            <a:pPr marL="0" marR="0" lvl="0" indent="0" algn="ctr" defTabSz="801899" rtl="0" eaLnBrk="1" fontAlgn="auto" latinLnBrk="0" hangingPunct="1">
              <a:lnSpc>
                <a:spcPct val="100000"/>
              </a:lnSpc>
              <a:spcBef>
                <a:spcPts val="954"/>
              </a:spcBef>
              <a:spcAft>
                <a:spcPct val="0"/>
              </a:spcAft>
              <a:buClr>
                <a:srgbClr val="FFA400"/>
              </a:buClr>
              <a:buSzPct val="90000"/>
              <a:buFont typeface="Wingdings 3" panose="05040102010807070707" pitchFamily="18" charset="2"/>
              <a:buNone/>
              <a:defRPr/>
            </a:pPr>
            <a:r>
              <a:rPr lang="en-GB" sz="3742"/>
              <a:t>2</a:t>
            </a:r>
          </a:p>
        </p:txBody>
      </p:sp>
      <p:sp>
        <p:nvSpPr>
          <p:cNvPr id="38" name="Text Placeholder 33">
            <a:extLst>
              <a:ext uri="{FF2B5EF4-FFF2-40B4-BE49-F238E27FC236}">
                <a16:creationId xmlns:a16="http://schemas.microsoft.com/office/drawing/2014/main" id="{0052A383-7A3E-CA0B-8E85-8534C94474AF}"/>
              </a:ext>
            </a:extLst>
          </p:cNvPr>
          <p:cNvSpPr>
            <a:spLocks noGrp="1"/>
          </p:cNvSpPr>
          <p:nvPr>
            <p:ph type="body" sz="quarter" idx="18" hasCustomPrompt="1"/>
          </p:nvPr>
        </p:nvSpPr>
        <p:spPr>
          <a:xfrm>
            <a:off x="3883569" y="4745951"/>
            <a:ext cx="1070639" cy="1770925"/>
          </a:xfrm>
        </p:spPr>
        <p:txBody>
          <a:bodyPr anchor="ctr"/>
          <a:lstStyle>
            <a:lvl1pPr marL="0" indent="0" algn="l" defTabSz="801899" rtl="0" eaLnBrk="1" latinLnBrk="0" hangingPunct="1">
              <a:lnSpc>
                <a:spcPct val="90000"/>
              </a:lnSpc>
              <a:spcBef>
                <a:spcPct val="0"/>
              </a:spcBef>
              <a:buNone/>
              <a:defRPr lang="en-GB" sz="3274" b="1" kern="1200" smtClean="0">
                <a:gradFill flip="none" rotWithShape="1">
                  <a:gsLst>
                    <a:gs pos="0">
                      <a:schemeClr val="accent4"/>
                    </a:gs>
                    <a:gs pos="100000">
                      <a:srgbClr val="FFA400"/>
                    </a:gs>
                  </a:gsLst>
                  <a:lin ang="0" scaled="1"/>
                </a:gradFill>
                <a:latin typeface="+mj-lt"/>
                <a:ea typeface="+mj-ea"/>
                <a:cs typeface="+mj-cs"/>
              </a:defRPr>
            </a:lvl1pPr>
          </a:lstStyle>
          <a:p>
            <a:pPr marL="0" marR="0" lvl="0" indent="0" algn="ctr" defTabSz="801899" rtl="0" eaLnBrk="1" fontAlgn="auto" latinLnBrk="0" hangingPunct="1">
              <a:lnSpc>
                <a:spcPct val="100000"/>
              </a:lnSpc>
              <a:spcBef>
                <a:spcPts val="954"/>
              </a:spcBef>
              <a:spcAft>
                <a:spcPct val="0"/>
              </a:spcAft>
              <a:buClr>
                <a:srgbClr val="FFA400"/>
              </a:buClr>
              <a:buSzPct val="90000"/>
              <a:buFont typeface="Wingdings 3" panose="05040102010807070707" pitchFamily="18" charset="2"/>
              <a:buNone/>
              <a:defRPr/>
            </a:pPr>
            <a:r>
              <a:rPr lang="en-GB" sz="3742"/>
              <a:t>5</a:t>
            </a:r>
          </a:p>
        </p:txBody>
      </p:sp>
      <p:sp>
        <p:nvSpPr>
          <p:cNvPr id="39" name="Text Placeholder 33">
            <a:extLst>
              <a:ext uri="{FF2B5EF4-FFF2-40B4-BE49-F238E27FC236}">
                <a16:creationId xmlns:a16="http://schemas.microsoft.com/office/drawing/2014/main" id="{64D469C4-5E50-90DA-2D72-6F3E8E78A1CF}"/>
              </a:ext>
            </a:extLst>
          </p:cNvPr>
          <p:cNvSpPr>
            <a:spLocks noGrp="1"/>
          </p:cNvSpPr>
          <p:nvPr>
            <p:ph type="body" sz="quarter" idx="19" hasCustomPrompt="1"/>
          </p:nvPr>
        </p:nvSpPr>
        <p:spPr>
          <a:xfrm>
            <a:off x="7102611" y="2650556"/>
            <a:ext cx="1070639" cy="1770925"/>
          </a:xfrm>
        </p:spPr>
        <p:txBody>
          <a:bodyPr anchor="ctr"/>
          <a:lstStyle>
            <a:lvl1pPr marL="0" indent="0" algn="l" defTabSz="801899" rtl="0" eaLnBrk="1" latinLnBrk="0" hangingPunct="1">
              <a:lnSpc>
                <a:spcPct val="90000"/>
              </a:lnSpc>
              <a:spcBef>
                <a:spcPct val="0"/>
              </a:spcBef>
              <a:buNone/>
              <a:defRPr lang="en-GB" sz="3274" b="1" kern="1200" smtClean="0">
                <a:gradFill flip="none" rotWithShape="1">
                  <a:gsLst>
                    <a:gs pos="0">
                      <a:schemeClr val="accent4"/>
                    </a:gs>
                    <a:gs pos="100000">
                      <a:srgbClr val="FFA400"/>
                    </a:gs>
                  </a:gsLst>
                  <a:lin ang="0" scaled="1"/>
                </a:gradFill>
                <a:latin typeface="+mj-lt"/>
                <a:ea typeface="+mj-ea"/>
                <a:cs typeface="+mj-cs"/>
              </a:defRPr>
            </a:lvl1pPr>
          </a:lstStyle>
          <a:p>
            <a:pPr marL="0" marR="0" lvl="0" indent="0" algn="ctr" defTabSz="801899" rtl="0" eaLnBrk="1" fontAlgn="auto" latinLnBrk="0" hangingPunct="1">
              <a:lnSpc>
                <a:spcPct val="100000"/>
              </a:lnSpc>
              <a:spcBef>
                <a:spcPts val="954"/>
              </a:spcBef>
              <a:spcAft>
                <a:spcPct val="0"/>
              </a:spcAft>
              <a:buClr>
                <a:srgbClr val="FFA400"/>
              </a:buClr>
              <a:buSzPct val="90000"/>
              <a:buFont typeface="Wingdings 3" panose="05040102010807070707" pitchFamily="18" charset="2"/>
              <a:buNone/>
              <a:defRPr/>
            </a:pPr>
            <a:r>
              <a:rPr lang="en-GB" sz="3742"/>
              <a:t>3</a:t>
            </a:r>
          </a:p>
        </p:txBody>
      </p:sp>
      <p:sp>
        <p:nvSpPr>
          <p:cNvPr id="40" name="Text Placeholder 33">
            <a:extLst>
              <a:ext uri="{FF2B5EF4-FFF2-40B4-BE49-F238E27FC236}">
                <a16:creationId xmlns:a16="http://schemas.microsoft.com/office/drawing/2014/main" id="{FBCA0B58-9531-6E66-B270-5BC42D3F5152}"/>
              </a:ext>
            </a:extLst>
          </p:cNvPr>
          <p:cNvSpPr>
            <a:spLocks noGrp="1"/>
          </p:cNvSpPr>
          <p:nvPr>
            <p:ph type="body" sz="quarter" idx="20" hasCustomPrompt="1"/>
          </p:nvPr>
        </p:nvSpPr>
        <p:spPr>
          <a:xfrm>
            <a:off x="7102611" y="4745951"/>
            <a:ext cx="1070639" cy="1770925"/>
          </a:xfrm>
        </p:spPr>
        <p:txBody>
          <a:bodyPr anchor="ctr"/>
          <a:lstStyle>
            <a:lvl1pPr marL="0" indent="0" algn="l" defTabSz="801899" rtl="0" eaLnBrk="1" latinLnBrk="0" hangingPunct="1">
              <a:lnSpc>
                <a:spcPct val="90000"/>
              </a:lnSpc>
              <a:spcBef>
                <a:spcPct val="0"/>
              </a:spcBef>
              <a:buNone/>
              <a:defRPr lang="en-GB" sz="3274" b="1" kern="1200" smtClean="0">
                <a:solidFill>
                  <a:srgbClr val="4B5F80"/>
                </a:solidFill>
                <a:latin typeface="+mj-lt"/>
                <a:ea typeface="+mj-ea"/>
                <a:cs typeface="+mj-cs"/>
              </a:defRPr>
            </a:lvl1pPr>
          </a:lstStyle>
          <a:p>
            <a:pPr marL="0" marR="0" lvl="0" indent="0" algn="ctr" defTabSz="801899" rtl="0" eaLnBrk="1" fontAlgn="auto" latinLnBrk="0" hangingPunct="1">
              <a:lnSpc>
                <a:spcPct val="100000"/>
              </a:lnSpc>
              <a:spcBef>
                <a:spcPts val="954"/>
              </a:spcBef>
              <a:spcAft>
                <a:spcPct val="0"/>
              </a:spcAft>
              <a:buClr>
                <a:srgbClr val="FFA400"/>
              </a:buClr>
              <a:buSzPct val="90000"/>
              <a:buFont typeface="Wingdings 3" panose="05040102010807070707" pitchFamily="18" charset="2"/>
              <a:buNone/>
              <a:defRPr/>
            </a:pPr>
            <a:r>
              <a:rPr lang="en-GB" sz="3742"/>
              <a:t>6</a:t>
            </a:r>
          </a:p>
        </p:txBody>
      </p:sp>
      <p:sp>
        <p:nvSpPr>
          <p:cNvPr id="10" name="Text Placeholder 4">
            <a:extLst>
              <a:ext uri="{FF2B5EF4-FFF2-40B4-BE49-F238E27FC236}">
                <a16:creationId xmlns:a16="http://schemas.microsoft.com/office/drawing/2014/main" id="{9E46882F-DB78-AC85-0A41-E7D5E3057488}"/>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aison Neue Light Italic" panose="020B0304040000000000" pitchFamily="34" charset="77"/>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485857094"/>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4" name="Text Placeholder 4">
            <a:extLst>
              <a:ext uri="{FF2B5EF4-FFF2-40B4-BE49-F238E27FC236}">
                <a16:creationId xmlns:a16="http://schemas.microsoft.com/office/drawing/2014/main" id="{A61987B9-8783-6974-C610-4CB20A32EECC}"/>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418549040"/>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Disclaimer (general)">
    <p:spTree>
      <p:nvGrpSpPr>
        <p:cNvPr id="1" name=""/>
        <p:cNvGrpSpPr/>
        <p:nvPr/>
      </p:nvGrpSpPr>
      <p:grpSpPr>
        <a:xfrm>
          <a:off x="0" y="0"/>
          <a:ext cx="0" cy="0"/>
          <a:chOff x="0" y="0"/>
          <a:chExt cx="0" cy="0"/>
        </a:xfrm>
      </p:grpSpPr>
      <p:grpSp>
        <p:nvGrpSpPr>
          <p:cNvPr id="2" name="EN Disclaimer">
            <a:extLst>
              <a:ext uri="{FF2B5EF4-FFF2-40B4-BE49-F238E27FC236}">
                <a16:creationId xmlns:a16="http://schemas.microsoft.com/office/drawing/2014/main" id="{66D3F688-554B-4C38-87B6-3BAB54314DF8}"/>
              </a:ext>
            </a:extLst>
          </p:cNvPr>
          <p:cNvGrpSpPr/>
          <p:nvPr userDrawn="1"/>
        </p:nvGrpSpPr>
        <p:grpSpPr>
          <a:xfrm>
            <a:off x="1575235" y="1906248"/>
            <a:ext cx="7541343" cy="3747180"/>
            <a:chOff x="1618505" y="2687008"/>
            <a:chExt cx="7541343" cy="3747180"/>
          </a:xfrm>
        </p:grpSpPr>
        <p:sp>
          <p:nvSpPr>
            <p:cNvPr id="3" name="TextBox 7">
              <a:extLst>
                <a:ext uri="{FF2B5EF4-FFF2-40B4-BE49-F238E27FC236}">
                  <a16:creationId xmlns:a16="http://schemas.microsoft.com/office/drawing/2014/main" id="{11631E77-A784-40C0-BF97-5FEDB1C9CADF}"/>
                </a:ext>
              </a:extLst>
            </p:cNvPr>
            <p:cNvSpPr txBox="1"/>
            <p:nvPr userDrawn="1"/>
          </p:nvSpPr>
          <p:spPr>
            <a:xfrm>
              <a:off x="1618505" y="2964007"/>
              <a:ext cx="7541343" cy="347018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spcAft>
                  <a:spcPts val="300"/>
                </a:spcAft>
              </a:pPr>
              <a:r>
                <a:rPr lang="en-US" sz="900">
                  <a:latin typeface="Nunito Sans" pitchFamily="2" charset="77"/>
                </a:rPr>
                <a:t>This communication has been sent to recipients for information purposes only and cannot be considered to constitute an advertisement, an offer or a personalised recommendation to buy or sell a financial instrument or any other investment or currency.</a:t>
              </a:r>
            </a:p>
            <a:p>
              <a:pPr algn="just">
                <a:spcAft>
                  <a:spcPts val="300"/>
                </a:spcAft>
              </a:pPr>
              <a:r>
                <a:rPr lang="en-US" sz="900">
                  <a:latin typeface="Nunito Sans" pitchFamily="2" charset="77"/>
                </a:rPr>
                <a:t>This communication is not directed to any person in any jurisdiction where, by reason of that person’s nationality, residence or otherwise, its dissemination or use is prohibited. It cannot be quoted, reproduced, disclosed, distributed or otherwise referred to, in whole or in part, to any third party without the Bank’s prior written consent. </a:t>
              </a:r>
            </a:p>
            <a:p>
              <a:pPr algn="just">
                <a:spcAft>
                  <a:spcPts val="300"/>
                </a:spcAft>
              </a:pPr>
              <a:r>
                <a:rPr lang="en-US" sz="900">
                  <a:latin typeface="Nunito Sans" pitchFamily="2" charset="77"/>
                </a:rPr>
                <a:t>This communication may contain information on past performances of a financial product, all kinds of economic and financial valuations and analyses, as well as opinions of the Bank or of third parties. Any market valuations, terms and calculation methods, yields and opinions expressed are subject to change without notice. The information and opinions contained herein have been compiled and provided in good faith, based on information obtained from sources believed to be trustworthy. However, such information has not been independently verified. No guarantee, representation, or warranty of any kind, whether express or implied, is provided by the Bank or by relevant data vendors and other sources with respect to the accuracy, reliability, currentness or exhaustiveness of the information communicated, the methodology employed or the prices contained herein. </a:t>
              </a:r>
            </a:p>
            <a:p>
              <a:pPr algn="just">
                <a:spcAft>
                  <a:spcPts val="300"/>
                </a:spcAft>
              </a:pPr>
              <a:r>
                <a:rPr lang="en-US" sz="900">
                  <a:latin typeface="Nunito Sans" pitchFamily="2" charset="77"/>
                </a:rPr>
                <a:t>Past performance is not a reliable indicator of current or future results. Any reference to the past performance of an investment does not guarantee its future performance. Fluctuations in exchange rates may adversely affect the value, price or income of any investment. </a:t>
              </a:r>
            </a:p>
            <a:p>
              <a:pPr algn="just">
                <a:spcAft>
                  <a:spcPts val="300"/>
                </a:spcAft>
              </a:pPr>
              <a:r>
                <a:rPr lang="en-US" sz="900">
                  <a:latin typeface="Nunito Sans" pitchFamily="2" charset="77"/>
                </a:rPr>
                <a:t>Nothing in the present communication constitutes investment, legal, accounting or tax advice. This information is purely objective since it does not take into consideration the personal situation (including financial knowledge and experience), the investment objectives and risk profile of any recipient. Moreover, certain financial instruments mentioned (in particular, but not exclusively, derivatives, options and futures) involve a high risk of loss and may not be suitable. Accordingly, recipients should consult their own advisors on such matters, including but not limited to the possible tax consequences of investing in any financial product mentioned herein, and make their own assessment of the suitability of such investment product. </a:t>
              </a:r>
            </a:p>
            <a:p>
              <a:pPr algn="just">
                <a:spcAft>
                  <a:spcPts val="300"/>
                </a:spcAft>
              </a:pPr>
              <a:r>
                <a:rPr lang="en-US" sz="900">
                  <a:latin typeface="Nunito Sans" pitchFamily="2" charset="77"/>
                </a:rPr>
                <a:t>Should a recipient make an investment on the basis of the present communication, the recipient alone shall bear the consequences thereof. In no event shall the Bank, its directors, employees, affiliates or agents be held responsible for damages of any kind arising out of the use of all or part of the information provided herein.</a:t>
              </a:r>
            </a:p>
          </p:txBody>
        </p:sp>
        <p:sp>
          <p:nvSpPr>
            <p:cNvPr id="4" name="Rectangle 3">
              <a:extLst>
                <a:ext uri="{FF2B5EF4-FFF2-40B4-BE49-F238E27FC236}">
                  <a16:creationId xmlns:a16="http://schemas.microsoft.com/office/drawing/2014/main" id="{955156A8-2899-4B3E-ADB9-34A6DD4992CF}"/>
                </a:ext>
              </a:extLst>
            </p:cNvPr>
            <p:cNvSpPr/>
            <p:nvPr userDrawn="1"/>
          </p:nvSpPr>
          <p:spPr>
            <a:xfrm>
              <a:off x="1618505" y="2687008"/>
              <a:ext cx="1647887" cy="261610"/>
            </a:xfrm>
            <a:prstGeom prst="rect">
              <a:avLst/>
            </a:prstGeom>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spcBef>
                  <a:spcPct val="0"/>
                </a:spcBef>
              </a:pPr>
              <a:r>
                <a:rPr lang="en-US" altLang="en-CH" sz="1100" kern="600" spc="-20">
                  <a:gradFill flip="none" rotWithShape="1">
                    <a:gsLst>
                      <a:gs pos="0">
                        <a:schemeClr val="accent4"/>
                      </a:gs>
                      <a:gs pos="100000">
                        <a:srgbClr val="FFA400"/>
                      </a:gs>
                    </a:gsLst>
                    <a:lin ang="0" scaled="1"/>
                  </a:gradFill>
                  <a:latin typeface="Nunito Sans ExtraBold" pitchFamily="2" charset="77"/>
                  <a:ea typeface="+mj-ea"/>
                  <a:cs typeface="+mj-cs"/>
                </a:rPr>
                <a:t>Important Information </a:t>
              </a:r>
              <a:endParaRPr lang="en-US" sz="1100" kern="600" spc="-20">
                <a:gradFill flip="none" rotWithShape="1">
                  <a:gsLst>
                    <a:gs pos="0">
                      <a:schemeClr val="accent4"/>
                    </a:gs>
                    <a:gs pos="100000">
                      <a:srgbClr val="FFA400"/>
                    </a:gs>
                  </a:gsLst>
                  <a:lin ang="0" scaled="1"/>
                </a:gradFill>
                <a:latin typeface="Nunito Sans ExtraBold" pitchFamily="2" charset="77"/>
                <a:ea typeface="+mj-ea"/>
                <a:cs typeface="+mj-cs"/>
              </a:endParaRPr>
            </a:p>
          </p:txBody>
        </p:sp>
      </p:grpSp>
    </p:spTree>
    <p:extLst>
      <p:ext uri="{BB962C8B-B14F-4D97-AF65-F5344CB8AC3E}">
        <p14:creationId xmlns:p14="http://schemas.microsoft.com/office/powerpoint/2010/main" val="1348499630"/>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Final page - blank">
    <p:bg>
      <p:bgRef idx="1001">
        <a:schemeClr val="bg1"/>
      </p:bgRef>
    </p:bg>
    <p:spTree>
      <p:nvGrpSpPr>
        <p:cNvPr id="1" name=""/>
        <p:cNvGrpSpPr/>
        <p:nvPr/>
      </p:nvGrpSpPr>
      <p:grpSpPr>
        <a:xfrm>
          <a:off x="0" y="0"/>
          <a:ext cx="0" cy="0"/>
          <a:chOff x="0" y="0"/>
          <a:chExt cx="0" cy="0"/>
        </a:xfrm>
      </p:grpSpPr>
      <p:sp>
        <p:nvSpPr>
          <p:cNvPr id="8" name="Rectangle 11">
            <a:extLst>
              <a:ext uri="{FF2B5EF4-FFF2-40B4-BE49-F238E27FC236}">
                <a16:creationId xmlns:a16="http://schemas.microsoft.com/office/drawing/2014/main" id="{B4147DA3-E36C-A06A-B178-3E626E257DCA}"/>
              </a:ext>
            </a:extLst>
          </p:cNvPr>
          <p:cNvSpPr txBox="1">
            <a:spLocks noChangeArrowheads="1"/>
          </p:cNvSpPr>
          <p:nvPr userDrawn="1"/>
        </p:nvSpPr>
        <p:spPr bwMode="auto">
          <a:xfrm rot="16200000">
            <a:off x="-412268" y="6603344"/>
            <a:ext cx="1234078" cy="171760"/>
          </a:xfrm>
          <a:prstGeom prst="rect">
            <a:avLst/>
          </a:prstGeom>
          <a:noFill/>
          <a:ln>
            <a:noFill/>
          </a:ln>
          <a:effectLst/>
        </p:spPr>
        <p:txBody>
          <a:bodyPr vert="horz" wrap="square" lIns="0" tIns="0" rIns="0" bIns="0" numCol="1" anchor="ctr" anchorCtr="0" compatLnSpc="1">
            <a:prstTxWarp prst="textNoShape">
              <a:avLst/>
            </a:prstTxWarp>
          </a:bodyPr>
          <a:lstStyle>
            <a:defPPr>
              <a:defRPr lang="en-US"/>
            </a:defPPr>
            <a:lvl1pPr marL="0" algn="l" defTabSz="457200" rtl="0" eaLnBrk="1" latinLnBrk="0" hangingPunct="1">
              <a:defRPr sz="700" kern="1200">
                <a:solidFill>
                  <a:schemeClr val="tx2"/>
                </a:solidFill>
                <a:latin typeface="+mn-lt"/>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defRPr/>
            </a:pPr>
            <a:r>
              <a:rPr lang="en-GB" altLang="en-CH" sz="596" kern="600">
                <a:solidFill>
                  <a:schemeClr val="bg1">
                    <a:lumMod val="85000"/>
                  </a:schemeClr>
                </a:solidFill>
                <a:latin typeface="Nunito Sans" pitchFamily="2" charset="77"/>
              </a:rPr>
              <a:t>PRIVATE </a:t>
            </a:r>
            <a:r>
              <a:rPr lang="en-US" altLang="en-CH" sz="596" kern="600">
                <a:solidFill>
                  <a:schemeClr val="bg1">
                    <a:lumMod val="85000"/>
                  </a:schemeClr>
                </a:solidFill>
                <a:latin typeface="Nunito Sans" pitchFamily="2" charset="77"/>
              </a:rPr>
              <a:t>&amp; CONFIDENTIAL</a:t>
            </a:r>
            <a:endParaRPr lang="en-GB" altLang="en-CH" sz="596" kern="600">
              <a:solidFill>
                <a:schemeClr val="bg1">
                  <a:lumMod val="85000"/>
                </a:schemeClr>
              </a:solidFill>
              <a:latin typeface="Nunito Sans" pitchFamily="2" charset="77"/>
            </a:endParaRPr>
          </a:p>
        </p:txBody>
      </p:sp>
      <p:pic>
        <p:nvPicPr>
          <p:cNvPr id="9" name="Picture 8">
            <a:extLst>
              <a:ext uri="{FF2B5EF4-FFF2-40B4-BE49-F238E27FC236}">
                <a16:creationId xmlns:a16="http://schemas.microsoft.com/office/drawing/2014/main" id="{AB2A9497-291D-3880-E61F-12534C23DA40}"/>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843637" y="1007505"/>
            <a:ext cx="1004538" cy="907010"/>
          </a:xfrm>
          <a:prstGeom prst="rect">
            <a:avLst/>
          </a:prstGeom>
        </p:spPr>
      </p:pic>
      <p:pic>
        <p:nvPicPr>
          <p:cNvPr id="2" name="Picture 1">
            <a:extLst>
              <a:ext uri="{FF2B5EF4-FFF2-40B4-BE49-F238E27FC236}">
                <a16:creationId xmlns:a16="http://schemas.microsoft.com/office/drawing/2014/main" id="{B54EA86E-FE57-087C-065B-87B8FA6F09C6}"/>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962009" y="3872826"/>
            <a:ext cx="6767793" cy="1312166"/>
          </a:xfrm>
          <a:prstGeom prst="rect">
            <a:avLst/>
          </a:prstGeom>
        </p:spPr>
      </p:pic>
    </p:spTree>
    <p:extLst>
      <p:ext uri="{BB962C8B-B14F-4D97-AF65-F5344CB8AC3E}">
        <p14:creationId xmlns:p14="http://schemas.microsoft.com/office/powerpoint/2010/main" val="3655377727"/>
      </p:ext>
    </p:extLst>
  </p:cSld>
  <p:clrMapOvr>
    <a:overrideClrMapping bg1="lt1" tx1="dk1" bg2="lt2" tx2="dk2" accent1="accent1" accent2="accent2" accent3="accent3" accent4="accent4" accent5="accent5" accent6="accent6" hlink="hlink" folHlink="folHlink"/>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Final page - Orange">
    <p:bg>
      <p:bgPr>
        <a:solidFill>
          <a:schemeClr val="accent1"/>
        </a:solidFill>
        <a:effectLst/>
      </p:bgPr>
    </p:bg>
    <p:spTree>
      <p:nvGrpSpPr>
        <p:cNvPr id="1" name=""/>
        <p:cNvGrpSpPr/>
        <p:nvPr/>
      </p:nvGrpSpPr>
      <p:grpSpPr>
        <a:xfrm>
          <a:off x="0" y="0"/>
          <a:ext cx="0" cy="0"/>
          <a:chOff x="0" y="0"/>
          <a:chExt cx="0" cy="0"/>
        </a:xfrm>
      </p:grpSpPr>
      <p:pic>
        <p:nvPicPr>
          <p:cNvPr id="6" name="Picture 5" descr="A yellow and white gradient&#10;&#10;Description automatically generated">
            <a:extLst>
              <a:ext uri="{FF2B5EF4-FFF2-40B4-BE49-F238E27FC236}">
                <a16:creationId xmlns:a16="http://schemas.microsoft.com/office/drawing/2014/main" id="{8756AB47-2F75-0A84-09B7-2EFBCD1BFDA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0691813" cy="7559675"/>
          </a:xfrm>
          <a:prstGeom prst="rect">
            <a:avLst/>
          </a:prstGeom>
        </p:spPr>
      </p:pic>
      <p:pic>
        <p:nvPicPr>
          <p:cNvPr id="9" name="Picture 8">
            <a:extLst>
              <a:ext uri="{FF2B5EF4-FFF2-40B4-BE49-F238E27FC236}">
                <a16:creationId xmlns:a16="http://schemas.microsoft.com/office/drawing/2014/main" id="{AB2A9497-291D-3880-E61F-12534C23DA40}"/>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4843637" y="1007505"/>
            <a:ext cx="1004538" cy="907010"/>
          </a:xfrm>
          <a:prstGeom prst="rect">
            <a:avLst/>
          </a:prstGeom>
        </p:spPr>
      </p:pic>
      <p:pic>
        <p:nvPicPr>
          <p:cNvPr id="2" name="Picture 1" descr="A black background with white text&#10;&#10;Description automatically generated">
            <a:extLst>
              <a:ext uri="{FF2B5EF4-FFF2-40B4-BE49-F238E27FC236}">
                <a16:creationId xmlns:a16="http://schemas.microsoft.com/office/drawing/2014/main" id="{B54EA86E-FE57-087C-065B-87B8FA6F09C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962009" y="3872826"/>
            <a:ext cx="6767793" cy="1312167"/>
          </a:xfrm>
          <a:prstGeom prst="rect">
            <a:avLst/>
          </a:prstGeom>
        </p:spPr>
      </p:pic>
    </p:spTree>
    <p:extLst>
      <p:ext uri="{BB962C8B-B14F-4D97-AF65-F5344CB8AC3E}">
        <p14:creationId xmlns:p14="http://schemas.microsoft.com/office/powerpoint/2010/main" val="116967286"/>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_Final page - with Offices">
    <p:bg>
      <p:bgRef idx="1001">
        <a:schemeClr val="bg1"/>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B2A9497-291D-3880-E61F-12534C23DA40}"/>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843637" y="1007505"/>
            <a:ext cx="1004538" cy="907010"/>
          </a:xfrm>
          <a:prstGeom prst="rect">
            <a:avLst/>
          </a:prstGeom>
        </p:spPr>
      </p:pic>
      <p:pic>
        <p:nvPicPr>
          <p:cNvPr id="4" name="Picture 3">
            <a:extLst>
              <a:ext uri="{FF2B5EF4-FFF2-40B4-BE49-F238E27FC236}">
                <a16:creationId xmlns:a16="http://schemas.microsoft.com/office/drawing/2014/main" id="{0AE2D8AE-65EC-9284-4241-E97BE84E917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962009" y="3123754"/>
            <a:ext cx="6767793" cy="1312166"/>
          </a:xfrm>
          <a:prstGeom prst="rect">
            <a:avLst/>
          </a:prstGeom>
        </p:spPr>
      </p:pic>
      <p:graphicFrame>
        <p:nvGraphicFramePr>
          <p:cNvPr id="19" name="Table 18">
            <a:extLst>
              <a:ext uri="{FF2B5EF4-FFF2-40B4-BE49-F238E27FC236}">
                <a16:creationId xmlns:a16="http://schemas.microsoft.com/office/drawing/2014/main" id="{70C0091A-8638-FF38-D877-94E0EFA31BBA}"/>
              </a:ext>
            </a:extLst>
          </p:cNvPr>
          <p:cNvGraphicFramePr>
            <a:graphicFrameLocks noGrp="1"/>
          </p:cNvGraphicFramePr>
          <p:nvPr userDrawn="1">
            <p:extLst>
              <p:ext uri="{D42A27DB-BD31-4B8C-83A1-F6EECF244321}">
                <p14:modId xmlns:p14="http://schemas.microsoft.com/office/powerpoint/2010/main" val="1200304216"/>
              </p:ext>
            </p:extLst>
          </p:nvPr>
        </p:nvGraphicFramePr>
        <p:xfrm>
          <a:off x="1612568" y="5499881"/>
          <a:ext cx="7466673" cy="1700100"/>
        </p:xfrm>
        <a:graphic>
          <a:graphicData uri="http://schemas.openxmlformats.org/drawingml/2006/table">
            <a:tbl>
              <a:tblPr firstRow="1" bandRow="1">
                <a:tableStyleId>{5C22544A-7EE6-4342-B048-85BDC9FD1C3A}</a:tableStyleId>
              </a:tblPr>
              <a:tblGrid>
                <a:gridCol w="2488891">
                  <a:extLst>
                    <a:ext uri="{9D8B030D-6E8A-4147-A177-3AD203B41FA5}">
                      <a16:colId xmlns:a16="http://schemas.microsoft.com/office/drawing/2014/main" val="2749746622"/>
                    </a:ext>
                  </a:extLst>
                </a:gridCol>
                <a:gridCol w="2488891">
                  <a:extLst>
                    <a:ext uri="{9D8B030D-6E8A-4147-A177-3AD203B41FA5}">
                      <a16:colId xmlns:a16="http://schemas.microsoft.com/office/drawing/2014/main" val="466498394"/>
                    </a:ext>
                  </a:extLst>
                </a:gridCol>
                <a:gridCol w="2488891">
                  <a:extLst>
                    <a:ext uri="{9D8B030D-6E8A-4147-A177-3AD203B41FA5}">
                      <a16:colId xmlns:a16="http://schemas.microsoft.com/office/drawing/2014/main" val="1630515560"/>
                    </a:ext>
                  </a:extLst>
                </a:gridCol>
              </a:tblGrid>
              <a:tr h="792000">
                <a:tc>
                  <a:txBody>
                    <a:bodyPr/>
                    <a:lstStyle/>
                    <a:p>
                      <a:pPr marL="12700" marR="0" lvl="0" indent="0" algn="l" defTabSz="457129" rtl="0" eaLnBrk="1" fontAlgn="auto" latinLnBrk="0" hangingPunct="1">
                        <a:lnSpc>
                          <a:spcPct val="100000"/>
                        </a:lnSpc>
                        <a:spcBef>
                          <a:spcPts val="100"/>
                        </a:spcBef>
                        <a:spcAft>
                          <a:spcPts val="0"/>
                        </a:spcAft>
                        <a:buClrTx/>
                        <a:buSzTx/>
                        <a:buFontTx/>
                        <a:buNone/>
                        <a:tabLst/>
                        <a:defRPr/>
                      </a:pPr>
                      <a:r>
                        <a:rPr kumimoji="0" lang="fr-FR" sz="900" b="1" i="0" u="none" strike="noStrike" kern="1200" cap="none" spc="0" normalizeH="0" baseline="0" noProof="0" dirty="0">
                          <a:ln>
                            <a:noFill/>
                          </a:ln>
                          <a:solidFill>
                            <a:schemeClr val="accent4"/>
                          </a:solidFill>
                          <a:effectLst/>
                          <a:uLnTx/>
                          <a:uFillTx/>
                          <a:latin typeface="Nunito Sans ExtraBold"/>
                          <a:ea typeface="+mn-ea"/>
                          <a:cs typeface="+mn-cs"/>
                        </a:rPr>
                        <a:t>Geneva</a:t>
                      </a:r>
                      <a:endParaRPr kumimoji="0" lang="fr-FR" sz="1150" b="1" i="0" u="none" strike="noStrike" kern="1200" cap="none" spc="0" normalizeH="0" baseline="0" noProof="0" dirty="0">
                        <a:ln>
                          <a:noFill/>
                        </a:ln>
                        <a:solidFill>
                          <a:schemeClr val="accent4"/>
                        </a:solidFill>
                        <a:effectLst/>
                        <a:uLnTx/>
                        <a:uFillTx/>
                        <a:latin typeface="Nunito Sans ExtraBold"/>
                        <a:ea typeface="+mn-ea"/>
                        <a:cs typeface="+mn-cs"/>
                      </a:endParaRPr>
                    </a:p>
                    <a:p>
                      <a:pPr marL="0" marR="231775" lvl="0" indent="0" algn="l" defTabSz="457129" rtl="0" eaLnBrk="1" fontAlgn="auto" latinLnBrk="0" hangingPunct="1">
                        <a:lnSpc>
                          <a:spcPct val="100000"/>
                        </a:lnSpc>
                        <a:spcBef>
                          <a:spcPts val="0"/>
                        </a:spcBef>
                        <a:spcAft>
                          <a:spcPts val="0"/>
                        </a:spcAft>
                        <a:buClrTx/>
                        <a:buSzTx/>
                        <a:buFontTx/>
                        <a:buNone/>
                        <a:tabLst/>
                        <a:defRPr/>
                      </a:pPr>
                      <a:r>
                        <a:rPr kumimoji="0" lang="fr-FR"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Banque Syz </a:t>
                      </a:r>
                      <a:r>
                        <a:rPr kumimoji="0" lang="fr-FR" sz="750" b="1"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Demi"/>
                        </a:rPr>
                        <a:t>SA</a:t>
                      </a:r>
                    </a:p>
                    <a:p>
                      <a:pPr marL="0" marR="231775" lvl="0" indent="0" algn="l" defTabSz="457129" rtl="0" eaLnBrk="1" fontAlgn="auto" latinLnBrk="0" hangingPunct="1">
                        <a:lnSpc>
                          <a:spcPct val="100000"/>
                        </a:lnSpc>
                        <a:spcBef>
                          <a:spcPts val="0"/>
                        </a:spcBef>
                        <a:spcAft>
                          <a:spcPts val="0"/>
                        </a:spcAft>
                        <a:buClrTx/>
                        <a:buSzTx/>
                        <a:buFontTx/>
                        <a:buNone/>
                        <a:tabLst/>
                        <a:defRPr/>
                      </a:pPr>
                      <a:r>
                        <a:rPr kumimoji="0" lang="fr-FR"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Quai</a:t>
                      </a:r>
                      <a:r>
                        <a:rPr kumimoji="0" lang="fr-FR" sz="750" b="0" i="0" u="none" strike="noStrike" kern="1200" cap="none" spc="-2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des</a:t>
                      </a:r>
                      <a:r>
                        <a:rPr kumimoji="0" lang="fr-FR" sz="750" b="0" i="0" u="none" strike="noStrike" kern="1200" cap="none" spc="-2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Bergues </a:t>
                      </a:r>
                      <a:r>
                        <a:rPr kumimoji="0" lang="fr-FR"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1</a:t>
                      </a:r>
                    </a:p>
                    <a:p>
                      <a:pPr marL="0" marR="231775" lvl="0" indent="0" algn="l" defTabSz="457129" rtl="0" eaLnBrk="1" fontAlgn="auto" latinLnBrk="0" hangingPunct="1">
                        <a:lnSpc>
                          <a:spcPct val="100000"/>
                        </a:lnSpc>
                        <a:spcBef>
                          <a:spcPts val="0"/>
                        </a:spcBef>
                        <a:spcAft>
                          <a:spcPts val="0"/>
                        </a:spcAft>
                        <a:buClrTx/>
                        <a:buSzTx/>
                        <a:buFontTx/>
                        <a:buNone/>
                        <a:tabLst/>
                        <a:defRPr/>
                      </a:pPr>
                      <a:r>
                        <a:rPr kumimoji="0" lang="fr-FR"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CH</a:t>
                      </a:r>
                      <a:r>
                        <a:rPr kumimoji="0" lang="fr-FR"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a:t>
                      </a:r>
                      <a:r>
                        <a:rPr kumimoji="0" lang="fr-FR"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1201</a:t>
                      </a:r>
                      <a:r>
                        <a:rPr kumimoji="0" lang="fr-FR"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Geneva</a:t>
                      </a:r>
                      <a:endParaRPr kumimoji="0" lang="fr-FR"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fr-FR"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T</a:t>
                      </a:r>
                      <a:r>
                        <a:rPr kumimoji="0" lang="fr-FR" sz="750" b="0" i="0" u="none" strike="noStrike" kern="1200" cap="none" spc="13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80" normalizeH="0" baseline="0" noProof="0" dirty="0">
                          <a:ln>
                            <a:noFill/>
                          </a:ln>
                          <a:solidFill>
                            <a:schemeClr val="tx1"/>
                          </a:solidFill>
                          <a:effectLst/>
                          <a:uLnTx/>
                          <a:uFillTx/>
                          <a:latin typeface="Nunito Sans" panose="00000500000000000000" pitchFamily="2" charset="0"/>
                          <a:ea typeface="+mn-ea"/>
                          <a:cs typeface="MaisonNeue-Book"/>
                        </a:rPr>
                        <a:t>+41</a:t>
                      </a:r>
                      <a:r>
                        <a:rPr kumimoji="0" lang="fr-FR"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58</a:t>
                      </a:r>
                      <a:r>
                        <a:rPr kumimoji="0" lang="fr-FR"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55" normalizeH="0" baseline="0" noProof="0" dirty="0">
                          <a:ln>
                            <a:noFill/>
                          </a:ln>
                          <a:solidFill>
                            <a:schemeClr val="tx1"/>
                          </a:solidFill>
                          <a:effectLst/>
                          <a:uLnTx/>
                          <a:uFillTx/>
                          <a:latin typeface="Nunito Sans" panose="00000500000000000000" pitchFamily="2" charset="0"/>
                          <a:ea typeface="+mn-ea"/>
                          <a:cs typeface="MaisonNeue-Book"/>
                        </a:rPr>
                        <a:t>799</a:t>
                      </a:r>
                      <a:r>
                        <a:rPr kumimoji="0" lang="fr-FR"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80" normalizeH="0" baseline="0" noProof="0" dirty="0">
                          <a:ln>
                            <a:noFill/>
                          </a:ln>
                          <a:solidFill>
                            <a:schemeClr val="tx1"/>
                          </a:solidFill>
                          <a:effectLst/>
                          <a:uLnTx/>
                          <a:uFillTx/>
                          <a:latin typeface="Nunito Sans" panose="00000500000000000000" pitchFamily="2" charset="0"/>
                          <a:ea typeface="+mn-ea"/>
                          <a:cs typeface="MaisonNeue-Book"/>
                        </a:rPr>
                        <a:t>10</a:t>
                      </a:r>
                      <a:r>
                        <a:rPr kumimoji="0" lang="fr-FR"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00</a:t>
                      </a:r>
                      <a:endParaRPr kumimoji="0" lang="fr-FR"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114942" marR="11494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r>
                        <a:rPr kumimoji="0" lang="de-DE" sz="900" b="1" i="0" u="none" strike="noStrike" kern="1200" cap="none" spc="0" normalizeH="0" baseline="0" noProof="0" dirty="0">
                          <a:ln>
                            <a:noFill/>
                          </a:ln>
                          <a:solidFill>
                            <a:schemeClr val="accent4"/>
                          </a:solidFill>
                          <a:effectLst/>
                          <a:uLnTx/>
                          <a:uFillTx/>
                          <a:latin typeface="Nunito Sans ExtraBold"/>
                          <a:ea typeface="+mn-ea"/>
                          <a:cs typeface="+mn-cs"/>
                        </a:rPr>
                        <a:t>Zurich</a:t>
                      </a:r>
                    </a:p>
                    <a:p>
                      <a:pPr marL="0" marR="209550" lvl="0" indent="0" algn="l" defTabSz="457129" rtl="0" eaLnBrk="1" fontAlgn="auto" latinLnBrk="0" hangingPunct="1">
                        <a:lnSpc>
                          <a:spcPct val="100000"/>
                        </a:lnSpc>
                        <a:spcBef>
                          <a:spcPts val="0"/>
                        </a:spcBef>
                        <a:spcAft>
                          <a:spcPts val="0"/>
                        </a:spcAft>
                        <a:buClrTx/>
                        <a:buSzTx/>
                        <a:buFontTx/>
                        <a:buNone/>
                        <a:tabLst/>
                        <a:defRPr/>
                      </a:pPr>
                      <a:r>
                        <a:rPr kumimoji="0" lang="de-DE"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Banque Syz </a:t>
                      </a:r>
                      <a:r>
                        <a:rPr kumimoji="0" lang="de-DE" sz="750" b="1"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Demi"/>
                        </a:rPr>
                        <a:t>AG</a:t>
                      </a:r>
                    </a:p>
                    <a:p>
                      <a:pPr marL="0" marR="209550" lvl="0" indent="0" algn="l" defTabSz="457129"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20" normalizeH="0" baseline="0" noProof="0" dirty="0">
                          <a:ln>
                            <a:noFill/>
                          </a:ln>
                          <a:solidFill>
                            <a:schemeClr val="tx1"/>
                          </a:solidFill>
                          <a:effectLst/>
                          <a:uLnTx/>
                          <a:uFillTx/>
                          <a:latin typeface="Nunito Sans" panose="00000500000000000000" pitchFamily="2" charset="0"/>
                          <a:ea typeface="+mn-ea"/>
                          <a:cs typeface="MaisonNeue-Book"/>
                        </a:rPr>
                        <a:t>Freigutstrasse 14</a:t>
                      </a:r>
                    </a:p>
                    <a:p>
                      <a:pPr marL="0" marR="209550" lvl="0" indent="0" algn="l" defTabSz="457129"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CH</a:t>
                      </a:r>
                      <a:r>
                        <a:rPr kumimoji="0" lang="de-DE"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a:t>
                      </a:r>
                      <a:r>
                        <a:rPr kumimoji="0" lang="de-DE"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8002</a:t>
                      </a:r>
                      <a:r>
                        <a:rPr kumimoji="0" lang="de-DE"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Zurich</a:t>
                      </a:r>
                      <a:endParaRPr kumimoji="0" lang="de-DE"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T</a:t>
                      </a:r>
                      <a:r>
                        <a:rPr kumimoji="0" lang="de-DE" sz="750" b="0" i="0" u="none" strike="noStrike" kern="1200" cap="none" spc="135"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80" normalizeH="0" baseline="0" noProof="0" dirty="0">
                          <a:ln>
                            <a:noFill/>
                          </a:ln>
                          <a:solidFill>
                            <a:schemeClr val="tx1"/>
                          </a:solidFill>
                          <a:effectLst/>
                          <a:uLnTx/>
                          <a:uFillTx/>
                          <a:latin typeface="Nunito Sans" panose="00000500000000000000" pitchFamily="2" charset="0"/>
                          <a:ea typeface="+mn-ea"/>
                          <a:cs typeface="MaisonNeue-Book"/>
                        </a:rPr>
                        <a:t>+41</a:t>
                      </a:r>
                      <a:r>
                        <a:rPr kumimoji="0" lang="de-DE"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58</a:t>
                      </a:r>
                      <a:r>
                        <a:rPr kumimoji="0" lang="de-DE"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55" normalizeH="0" baseline="0" noProof="0" dirty="0">
                          <a:ln>
                            <a:noFill/>
                          </a:ln>
                          <a:solidFill>
                            <a:schemeClr val="tx1"/>
                          </a:solidFill>
                          <a:effectLst/>
                          <a:uLnTx/>
                          <a:uFillTx/>
                          <a:latin typeface="Nunito Sans" panose="00000500000000000000" pitchFamily="2" charset="0"/>
                          <a:ea typeface="+mn-ea"/>
                          <a:cs typeface="MaisonNeue-Book"/>
                        </a:rPr>
                        <a:t>799</a:t>
                      </a:r>
                      <a:r>
                        <a:rPr kumimoji="0" lang="de-DE"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95" normalizeH="0" baseline="0" noProof="0" dirty="0">
                          <a:ln>
                            <a:noFill/>
                          </a:ln>
                          <a:solidFill>
                            <a:schemeClr val="tx1"/>
                          </a:solidFill>
                          <a:effectLst/>
                          <a:uLnTx/>
                          <a:uFillTx/>
                          <a:latin typeface="Nunito Sans" panose="00000500000000000000" pitchFamily="2" charset="0"/>
                          <a:ea typeface="+mn-ea"/>
                          <a:cs typeface="MaisonNeue-Book"/>
                        </a:rPr>
                        <a:t>77</a:t>
                      </a:r>
                      <a:r>
                        <a:rPr kumimoji="0" lang="de-DE"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60" normalizeH="0" baseline="0" noProof="0" dirty="0">
                          <a:ln>
                            <a:noFill/>
                          </a:ln>
                          <a:solidFill>
                            <a:schemeClr val="tx1"/>
                          </a:solidFill>
                          <a:effectLst/>
                          <a:uLnTx/>
                          <a:uFillTx/>
                          <a:latin typeface="Nunito Sans" panose="00000500000000000000" pitchFamily="2" charset="0"/>
                          <a:ea typeface="+mn-ea"/>
                          <a:cs typeface="MaisonNeue-Book"/>
                        </a:rPr>
                        <a:t>37</a:t>
                      </a:r>
                      <a:endParaRPr kumimoji="0" lang="de-DE"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114942" marR="11494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chemeClr val="accent4"/>
                          </a:solidFill>
                          <a:effectLst/>
                          <a:uLnTx/>
                          <a:uFillTx/>
                          <a:latin typeface="Nunito Sans ExtraBold"/>
                          <a:ea typeface="+mn-ea"/>
                          <a:cs typeface="+mn-cs"/>
                        </a:rPr>
                        <a:t>Istanbul</a:t>
                      </a: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Banque</a:t>
                      </a:r>
                      <a:r>
                        <a:rPr kumimoji="0" lang="en-US" sz="750" b="1"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Demi"/>
                        </a:rPr>
                        <a:t> </a:t>
                      </a:r>
                      <a:r>
                        <a:rPr kumimoji="0" lang="en-US"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Syz</a:t>
                      </a:r>
                      <a:r>
                        <a:rPr kumimoji="0" lang="en-US" sz="750" b="1"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Demi"/>
                        </a:rPr>
                        <a:t> </a:t>
                      </a:r>
                      <a:r>
                        <a:rPr kumimoji="0" lang="en-US" sz="750" b="1"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Demi"/>
                        </a:rPr>
                        <a:t>SA</a:t>
                      </a:r>
                      <a:endPar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Demi"/>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Zorlu</a:t>
                      </a:r>
                      <a:r>
                        <a:rPr kumimoji="0" lang="en-US" sz="750" b="0" i="0" u="none" strike="noStrike" kern="1200" cap="none" spc="-2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Center, </a:t>
                      </a:r>
                      <a:r>
                        <a:rPr kumimoji="0" lang="en-US" sz="750" b="0" i="0" u="none" strike="noStrike" kern="1200" cap="none" spc="5" normalizeH="0" baseline="0" noProof="0" dirty="0" err="1">
                          <a:ln>
                            <a:noFill/>
                          </a:ln>
                          <a:solidFill>
                            <a:schemeClr val="tx1"/>
                          </a:solidFill>
                          <a:effectLst/>
                          <a:uLnTx/>
                          <a:uFillTx/>
                          <a:latin typeface="Nunito Sans" panose="00000500000000000000" pitchFamily="2" charset="0"/>
                          <a:ea typeface="+mn-ea"/>
                          <a:cs typeface="MaisonNeue-Book"/>
                        </a:rPr>
                        <a:t>Levazim</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a:t>
                      </a:r>
                      <a:r>
                        <a:rPr kumimoji="0" lang="en-US" sz="750" b="0" i="0" u="none" strike="noStrike" kern="1200" cap="none" spc="-2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Koru</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err="1">
                          <a:ln>
                            <a:noFill/>
                          </a:ln>
                          <a:solidFill>
                            <a:schemeClr val="tx1"/>
                          </a:solidFill>
                          <a:effectLst/>
                          <a:uLnTx/>
                          <a:uFillTx/>
                          <a:latin typeface="Nunito Sans" panose="00000500000000000000" pitchFamily="2" charset="0"/>
                          <a:ea typeface="+mn-ea"/>
                          <a:cs typeface="MaisonNeue-Book"/>
                        </a:rPr>
                        <a:t>Sokaği</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No:2, Teras </a:t>
                      </a:r>
                      <a:r>
                        <a:rPr kumimoji="0" lang="en-US" sz="750" b="0" i="0" u="none" strike="noStrike" kern="1200" cap="none" spc="5" normalizeH="0" baseline="0" noProof="0" dirty="0" err="1">
                          <a:ln>
                            <a:noFill/>
                          </a:ln>
                          <a:solidFill>
                            <a:schemeClr val="tx1"/>
                          </a:solidFill>
                          <a:effectLst/>
                          <a:uLnTx/>
                          <a:uFillTx/>
                          <a:latin typeface="Nunito Sans" panose="00000500000000000000" pitchFamily="2" charset="0"/>
                          <a:ea typeface="+mn-ea"/>
                          <a:cs typeface="MaisonNeue-Book"/>
                        </a:rPr>
                        <a:t>Evler</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T3 </a:t>
                      </a: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NO 347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34340</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Beşiktaş</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İstanbul - Turkey</a:t>
                      </a:r>
                      <a:endPar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T</a:t>
                      </a:r>
                      <a:r>
                        <a:rPr kumimoji="0" lang="en-US" sz="750" b="0" i="0" u="none" strike="noStrike" kern="1200" cap="none" spc="13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25" normalizeH="0" baseline="0" noProof="0" dirty="0">
                          <a:ln>
                            <a:noFill/>
                          </a:ln>
                          <a:solidFill>
                            <a:schemeClr val="tx1"/>
                          </a:solidFill>
                          <a:effectLst/>
                          <a:uLnTx/>
                          <a:uFillTx/>
                          <a:latin typeface="Nunito Sans" panose="00000500000000000000" pitchFamily="2" charset="0"/>
                          <a:ea typeface="+mn-ea"/>
                          <a:cs typeface="MaisonNeue-Book"/>
                        </a:rPr>
                        <a:t>+90</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75" normalizeH="0" baseline="0" noProof="0" dirty="0">
                          <a:ln>
                            <a:noFill/>
                          </a:ln>
                          <a:solidFill>
                            <a:schemeClr val="tx1"/>
                          </a:solidFill>
                          <a:effectLst/>
                          <a:uLnTx/>
                          <a:uFillTx/>
                          <a:latin typeface="Nunito Sans" panose="00000500000000000000" pitchFamily="2" charset="0"/>
                          <a:ea typeface="+mn-ea"/>
                          <a:cs typeface="MaisonNeue-Book"/>
                        </a:rPr>
                        <a:t>212</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40" normalizeH="0" baseline="0" noProof="0" dirty="0">
                          <a:ln>
                            <a:noFill/>
                          </a:ln>
                          <a:solidFill>
                            <a:schemeClr val="tx1"/>
                          </a:solidFill>
                          <a:effectLst/>
                          <a:uLnTx/>
                          <a:uFillTx/>
                          <a:latin typeface="Nunito Sans" panose="00000500000000000000" pitchFamily="2" charset="0"/>
                          <a:ea typeface="+mn-ea"/>
                          <a:cs typeface="MaisonNeue-Book"/>
                        </a:rPr>
                        <a:t>703</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95" normalizeH="0" baseline="0" noProof="0" dirty="0">
                          <a:ln>
                            <a:noFill/>
                          </a:ln>
                          <a:solidFill>
                            <a:schemeClr val="tx1"/>
                          </a:solidFill>
                          <a:effectLst/>
                          <a:uLnTx/>
                          <a:uFillTx/>
                          <a:latin typeface="Nunito Sans" panose="00000500000000000000" pitchFamily="2" charset="0"/>
                          <a:ea typeface="+mn-ea"/>
                          <a:cs typeface="MaisonNeue-Book"/>
                        </a:rPr>
                        <a:t>77</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40" normalizeH="0" baseline="0" noProof="0" dirty="0">
                          <a:ln>
                            <a:noFill/>
                          </a:ln>
                          <a:solidFill>
                            <a:schemeClr val="tx1"/>
                          </a:solidFill>
                          <a:effectLst/>
                          <a:uLnTx/>
                          <a:uFillTx/>
                          <a:latin typeface="Nunito Sans" panose="00000500000000000000" pitchFamily="2" charset="0"/>
                          <a:ea typeface="+mn-ea"/>
                          <a:cs typeface="MaisonNeue-Book"/>
                        </a:rPr>
                        <a:t>99</a:t>
                      </a:r>
                    </a:p>
                  </a:txBody>
                  <a:tcPr marL="114942" marR="114942" anchor="ctr">
                    <a:lnL w="6350" cap="flat" cmpd="sng" algn="ctr">
                      <a:solidFill>
                        <a:schemeClr val="accent4"/>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41451115"/>
                  </a:ext>
                </a:extLst>
              </a:tr>
              <a:tr h="108000">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endParaRPr kumimoji="0" lang="fr-FR" sz="3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endParaRPr kumimoji="0" lang="de-DE" sz="3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endParaRPr kumimoji="0" lang="it-IT" sz="3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89925484"/>
                  </a:ext>
                </a:extLst>
              </a:tr>
              <a:tr h="792000">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900" b="1" i="0" u="none" strike="noStrike" kern="1200" cap="none" spc="0" normalizeH="0" baseline="0" noProof="0" dirty="0">
                          <a:ln>
                            <a:noFill/>
                          </a:ln>
                          <a:solidFill>
                            <a:schemeClr val="accent4"/>
                          </a:solidFill>
                          <a:effectLst/>
                          <a:uLnTx/>
                          <a:uFillTx/>
                          <a:latin typeface="Nunito Sans ExtraBold"/>
                          <a:ea typeface="+mn-ea"/>
                          <a:cs typeface="+mn-cs"/>
                        </a:rPr>
                        <a:t>Lugano</a:t>
                      </a: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80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Banca</a:t>
                      </a:r>
                      <a:r>
                        <a:rPr kumimoji="0" lang="it-IT" sz="800" b="1" i="0" u="none" strike="noStrike" kern="1200" cap="none" spc="-40" normalizeH="0" baseline="0" noProof="0" dirty="0">
                          <a:ln>
                            <a:noFill/>
                          </a:ln>
                          <a:solidFill>
                            <a:schemeClr val="tx1"/>
                          </a:solidFill>
                          <a:effectLst/>
                          <a:uLnTx/>
                          <a:uFillTx/>
                          <a:latin typeface="Nunito Sans" panose="00000500000000000000" pitchFamily="2" charset="0"/>
                          <a:ea typeface="+mn-ea"/>
                          <a:cs typeface="MaisonNeue-Demi"/>
                        </a:rPr>
                        <a:t> </a:t>
                      </a:r>
                      <a:r>
                        <a:rPr kumimoji="0" lang="it-IT" sz="80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Syz</a:t>
                      </a:r>
                      <a:r>
                        <a:rPr kumimoji="0" lang="it-IT" sz="800" b="1" i="0" u="none" strike="noStrike" kern="1200" cap="none" spc="-35" normalizeH="0" baseline="0" noProof="0" dirty="0">
                          <a:ln>
                            <a:noFill/>
                          </a:ln>
                          <a:solidFill>
                            <a:schemeClr val="tx1"/>
                          </a:solidFill>
                          <a:effectLst/>
                          <a:uLnTx/>
                          <a:uFillTx/>
                          <a:latin typeface="Nunito Sans" panose="00000500000000000000" pitchFamily="2" charset="0"/>
                          <a:ea typeface="+mn-ea"/>
                          <a:cs typeface="MaisonNeue-Demi"/>
                        </a:rPr>
                        <a:t> </a:t>
                      </a:r>
                      <a:r>
                        <a:rPr kumimoji="0" lang="it-IT" sz="800" b="1"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Demi"/>
                        </a:rPr>
                        <a:t>SA</a:t>
                      </a:r>
                      <a:endParaRPr kumimoji="0" lang="it-IT" sz="8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Demi"/>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Via Nassa 42</a:t>
                      </a:r>
                      <a:endParaRPr kumimoji="0" lang="it-IT" sz="8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CH</a:t>
                      </a: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a:t>
                      </a: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6900</a:t>
                      </a: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Lugano</a:t>
                      </a:r>
                      <a:endParaRPr kumimoji="0" lang="it-IT" sz="8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8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T</a:t>
                      </a:r>
                      <a:r>
                        <a:rPr kumimoji="0" lang="it-IT" sz="800" b="0" i="0" u="none" strike="noStrike" kern="1200" cap="none" spc="13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80" normalizeH="0" baseline="0" noProof="0" dirty="0">
                          <a:ln>
                            <a:noFill/>
                          </a:ln>
                          <a:solidFill>
                            <a:schemeClr val="tx1"/>
                          </a:solidFill>
                          <a:effectLst/>
                          <a:uLnTx/>
                          <a:uFillTx/>
                          <a:latin typeface="Nunito Sans" panose="00000500000000000000" pitchFamily="2" charset="0"/>
                          <a:ea typeface="+mn-ea"/>
                          <a:cs typeface="MaisonNeue-Book"/>
                        </a:rPr>
                        <a:t>+41</a:t>
                      </a:r>
                      <a:r>
                        <a:rPr kumimoji="0" lang="it-IT" sz="80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58</a:t>
                      </a:r>
                      <a:r>
                        <a:rPr kumimoji="0" lang="it-IT" sz="80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55" normalizeH="0" baseline="0" noProof="0" dirty="0">
                          <a:ln>
                            <a:noFill/>
                          </a:ln>
                          <a:solidFill>
                            <a:schemeClr val="tx1"/>
                          </a:solidFill>
                          <a:effectLst/>
                          <a:uLnTx/>
                          <a:uFillTx/>
                          <a:latin typeface="Nunito Sans" panose="00000500000000000000" pitchFamily="2" charset="0"/>
                          <a:ea typeface="+mn-ea"/>
                          <a:cs typeface="MaisonNeue-Book"/>
                        </a:rPr>
                        <a:t>799</a:t>
                      </a:r>
                      <a:r>
                        <a:rPr kumimoji="0" lang="it-IT" sz="80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55" normalizeH="0" baseline="0" noProof="0" dirty="0">
                          <a:ln>
                            <a:noFill/>
                          </a:ln>
                          <a:solidFill>
                            <a:schemeClr val="tx1"/>
                          </a:solidFill>
                          <a:effectLst/>
                          <a:uLnTx/>
                          <a:uFillTx/>
                          <a:latin typeface="Nunito Sans" panose="00000500000000000000" pitchFamily="2" charset="0"/>
                          <a:ea typeface="+mn-ea"/>
                          <a:cs typeface="MaisonNeue-Book"/>
                        </a:rPr>
                        <a:t>67</a:t>
                      </a:r>
                      <a:r>
                        <a:rPr kumimoji="0" lang="it-IT" sz="80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20" normalizeH="0" baseline="0" noProof="0" dirty="0">
                          <a:ln>
                            <a:noFill/>
                          </a:ln>
                          <a:solidFill>
                            <a:schemeClr val="tx1"/>
                          </a:solidFill>
                          <a:effectLst/>
                          <a:uLnTx/>
                          <a:uFillTx/>
                          <a:latin typeface="Nunito Sans" panose="00000500000000000000" pitchFamily="2" charset="0"/>
                          <a:ea typeface="+mn-ea"/>
                          <a:cs typeface="MaisonNeue-Book"/>
                        </a:rPr>
                        <a:t>20</a:t>
                      </a:r>
                      <a:endParaRPr kumimoji="0" lang="de-DE"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114942" marR="11494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900" b="1" i="0" u="none" strike="noStrike" kern="1200" cap="none" spc="0" normalizeH="0" baseline="0" noProof="0" dirty="0">
                          <a:ln>
                            <a:noFill/>
                          </a:ln>
                          <a:solidFill>
                            <a:schemeClr val="accent4"/>
                          </a:solidFill>
                          <a:effectLst/>
                          <a:uLnTx/>
                          <a:uFillTx/>
                          <a:latin typeface="Nunito Sans ExtraBold"/>
                          <a:ea typeface="+mn-ea"/>
                          <a:cs typeface="+mn-cs"/>
                        </a:rPr>
                        <a:t>Locarno</a:t>
                      </a: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750" b="1" i="0" u="none" strike="noStrike" kern="1200" cap="none" spc="10" normalizeH="0" baseline="0" noProof="0" dirty="0" err="1">
                          <a:ln>
                            <a:noFill/>
                          </a:ln>
                          <a:solidFill>
                            <a:schemeClr val="tx1"/>
                          </a:solidFill>
                          <a:effectLst/>
                          <a:uLnTx/>
                          <a:uFillTx/>
                          <a:latin typeface="Nunito Sans" panose="00000500000000000000" pitchFamily="2" charset="0"/>
                          <a:ea typeface="+mn-ea"/>
                          <a:cs typeface="MaisonNeue-Demi"/>
                        </a:rPr>
                        <a:t>Banque</a:t>
                      </a:r>
                      <a:r>
                        <a:rPr kumimoji="0" lang="it-IT" sz="750" b="1"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Demi"/>
                        </a:rPr>
                        <a:t> </a:t>
                      </a:r>
                      <a:r>
                        <a:rPr kumimoji="0" lang="it-IT"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Syz</a:t>
                      </a:r>
                      <a:r>
                        <a:rPr kumimoji="0" lang="it-IT" sz="750" b="1"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Demi"/>
                        </a:rPr>
                        <a:t> </a:t>
                      </a:r>
                      <a:r>
                        <a:rPr kumimoji="0" lang="it-IT" sz="750" b="1"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Demi"/>
                        </a:rPr>
                        <a:t>SA</a:t>
                      </a:r>
                      <a:endParaRPr kumimoji="0" lang="it-IT"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Demi"/>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Via</a:t>
                      </a:r>
                      <a:r>
                        <a:rPr kumimoji="0" lang="it-IT"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Cattori</a:t>
                      </a:r>
                      <a:r>
                        <a:rPr kumimoji="0" lang="it-IT"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4</a:t>
                      </a: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CH</a:t>
                      </a:r>
                      <a:r>
                        <a:rPr kumimoji="0" lang="it-IT"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a:t>
                      </a:r>
                      <a:r>
                        <a:rPr kumimoji="0" lang="it-IT" sz="750" b="0" i="0" u="none" strike="noStrike" kern="1200" cap="none" spc="-2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6601</a:t>
                      </a:r>
                      <a:r>
                        <a:rPr kumimoji="0" lang="it-IT"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Locarno</a:t>
                      </a:r>
                      <a:endParaRPr kumimoji="0" lang="it-IT"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T</a:t>
                      </a:r>
                      <a:r>
                        <a:rPr kumimoji="0" lang="it-IT" sz="750" b="0" i="0" u="none" strike="noStrike" kern="1200" cap="none" spc="13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80" normalizeH="0" baseline="0" noProof="0" dirty="0">
                          <a:ln>
                            <a:noFill/>
                          </a:ln>
                          <a:solidFill>
                            <a:schemeClr val="tx1"/>
                          </a:solidFill>
                          <a:effectLst/>
                          <a:uLnTx/>
                          <a:uFillTx/>
                          <a:latin typeface="Nunito Sans" panose="00000500000000000000" pitchFamily="2" charset="0"/>
                          <a:ea typeface="+mn-ea"/>
                          <a:cs typeface="MaisonNeue-Book"/>
                        </a:rPr>
                        <a:t>+41</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58</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55" normalizeH="0" baseline="0" noProof="0" dirty="0">
                          <a:ln>
                            <a:noFill/>
                          </a:ln>
                          <a:solidFill>
                            <a:schemeClr val="tx1"/>
                          </a:solidFill>
                          <a:effectLst/>
                          <a:uLnTx/>
                          <a:uFillTx/>
                          <a:latin typeface="Nunito Sans" panose="00000500000000000000" pitchFamily="2" charset="0"/>
                          <a:ea typeface="+mn-ea"/>
                          <a:cs typeface="MaisonNeue-Book"/>
                        </a:rPr>
                        <a:t>799</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25" normalizeH="0" baseline="0" noProof="0" dirty="0">
                          <a:ln>
                            <a:noFill/>
                          </a:ln>
                          <a:solidFill>
                            <a:schemeClr val="tx1"/>
                          </a:solidFill>
                          <a:effectLst/>
                          <a:uLnTx/>
                          <a:uFillTx/>
                          <a:latin typeface="Nunito Sans" panose="00000500000000000000" pitchFamily="2" charset="0"/>
                          <a:ea typeface="+mn-ea"/>
                          <a:cs typeface="MaisonNeue-Book"/>
                        </a:rPr>
                        <a:t>66</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25" normalizeH="0" baseline="0" noProof="0" dirty="0">
                          <a:ln>
                            <a:noFill/>
                          </a:ln>
                          <a:solidFill>
                            <a:schemeClr val="tx1"/>
                          </a:solidFill>
                          <a:effectLst/>
                          <a:uLnTx/>
                          <a:uFillTx/>
                          <a:latin typeface="Nunito Sans" panose="00000500000000000000" pitchFamily="2" charset="0"/>
                          <a:ea typeface="+mn-ea"/>
                          <a:cs typeface="MaisonNeue-Book"/>
                        </a:rPr>
                        <a:t>66</a:t>
                      </a:r>
                      <a:endParaRPr kumimoji="0" lang="it-IT"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114942" marR="11494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chemeClr val="accent4"/>
                          </a:solidFill>
                          <a:effectLst/>
                          <a:uLnTx/>
                          <a:uFillTx/>
                          <a:latin typeface="Nunito Sans ExtraBold"/>
                          <a:ea typeface="+mn-ea"/>
                          <a:cs typeface="+mn-cs"/>
                        </a:rPr>
                        <a:t>Johannesburg</a:t>
                      </a: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Banque</a:t>
                      </a:r>
                      <a:r>
                        <a:rPr kumimoji="0" lang="en-US" sz="750" b="1"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Demi"/>
                        </a:rPr>
                        <a:t> </a:t>
                      </a:r>
                      <a:r>
                        <a:rPr kumimoji="0" lang="en-US"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Syz</a:t>
                      </a:r>
                      <a:r>
                        <a:rPr kumimoji="0" lang="en-US" sz="750" b="1"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Demi"/>
                        </a:rPr>
                        <a:t> </a:t>
                      </a:r>
                      <a:r>
                        <a:rPr kumimoji="0" lang="en-US" sz="750" b="1"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Demi"/>
                        </a:rPr>
                        <a:t>SA</a:t>
                      </a:r>
                      <a:endPar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Demi"/>
                      </a:endParaRPr>
                    </a:p>
                    <a:p>
                      <a:pPr marL="0" marR="5080" lvl="0" indent="0" algn="l" defTabSz="457129"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First</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Floor,</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Future</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Space </a:t>
                      </a:r>
                    </a:p>
                    <a:p>
                      <a:pPr marL="0" marR="5080" lvl="0" indent="0" algn="l" defTabSz="457129"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61</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Katherine</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Street</a:t>
                      </a:r>
                      <a:endPar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RSA</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Sandton</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2146</a:t>
                      </a:r>
                      <a:endPar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T</a:t>
                      </a:r>
                      <a:r>
                        <a:rPr kumimoji="0" lang="en-US" sz="750" b="0" i="0" u="none" strike="noStrike" kern="1200" cap="none" spc="13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45" normalizeH="0" baseline="0" noProof="0" dirty="0">
                          <a:ln>
                            <a:noFill/>
                          </a:ln>
                          <a:solidFill>
                            <a:schemeClr val="tx1"/>
                          </a:solidFill>
                          <a:effectLst/>
                          <a:uLnTx/>
                          <a:uFillTx/>
                          <a:latin typeface="Nunito Sans" panose="00000500000000000000" pitchFamily="2" charset="0"/>
                          <a:ea typeface="+mn-ea"/>
                          <a:cs typeface="MaisonNeue-Book"/>
                        </a:rPr>
                        <a:t>+27</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(0)10</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20" normalizeH="0" baseline="0" noProof="0" dirty="0">
                          <a:ln>
                            <a:noFill/>
                          </a:ln>
                          <a:solidFill>
                            <a:schemeClr val="tx1"/>
                          </a:solidFill>
                          <a:effectLst/>
                          <a:uLnTx/>
                          <a:uFillTx/>
                          <a:latin typeface="Nunito Sans" panose="00000500000000000000" pitchFamily="2" charset="0"/>
                          <a:ea typeface="+mn-ea"/>
                          <a:cs typeface="MaisonNeue-Book"/>
                        </a:rPr>
                        <a:t>300</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25" normalizeH="0" baseline="0" noProof="0" dirty="0">
                          <a:ln>
                            <a:noFill/>
                          </a:ln>
                          <a:solidFill>
                            <a:schemeClr val="tx1"/>
                          </a:solidFill>
                          <a:effectLst/>
                          <a:uLnTx/>
                          <a:uFillTx/>
                          <a:latin typeface="Nunito Sans" panose="00000500000000000000" pitchFamily="2" charset="0"/>
                          <a:ea typeface="+mn-ea"/>
                          <a:cs typeface="MaisonNeue-Book"/>
                        </a:rPr>
                        <a:t>6040</a:t>
                      </a:r>
                      <a:endPar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114942" marR="114942" anchor="ctr">
                    <a:lnL w="6350" cap="flat" cmpd="sng" algn="ctr">
                      <a:solidFill>
                        <a:schemeClr val="accent4"/>
                      </a:solidFill>
                      <a:prstDash val="solid"/>
                      <a:round/>
                      <a:headEnd type="none" w="med" len="med"/>
                      <a:tailEnd type="none" w="med" len="med"/>
                    </a:lnL>
                    <a:lnR w="6350" cap="flat" cmpd="sng" algn="ctr">
                      <a:no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70400001"/>
                  </a:ext>
                </a:extLst>
              </a:tr>
            </a:tbl>
          </a:graphicData>
        </a:graphic>
      </p:graphicFrame>
    </p:spTree>
    <p:extLst>
      <p:ext uri="{BB962C8B-B14F-4D97-AF65-F5344CB8AC3E}">
        <p14:creationId xmlns:p14="http://schemas.microsoft.com/office/powerpoint/2010/main" val="1318701589"/>
      </p:ext>
    </p:extLst>
  </p:cSld>
  <p:clrMapOvr>
    <a:overrideClrMapping bg1="lt1" tx1="dk1" bg2="lt2" tx2="dk2" accent1="accent1" accent2="accent2" accent3="accent3" accent4="accent4" accent5="accent5" accent6="accent6" hlink="hlink" folHlink="folHlink"/>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6473696"/>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a:lvl1pPr>
          </a:lstStyle>
          <a:p>
            <a:r>
              <a:rPr lang="en-GB" noProof="0"/>
              <a:t>Slide title</a:t>
            </a:r>
          </a:p>
        </p:txBody>
      </p:sp>
    </p:spTree>
    <p:extLst>
      <p:ext uri="{BB962C8B-B14F-4D97-AF65-F5344CB8AC3E}">
        <p14:creationId xmlns:p14="http://schemas.microsoft.com/office/powerpoint/2010/main" val="430374328"/>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One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lvl1pPr>
              <a:defRPr/>
            </a:lvl1pPr>
          </a:lstStyle>
          <a:p>
            <a:pPr lvl="0"/>
            <a:r>
              <a:rPr lang="en-GB" noProof="0"/>
              <a:t>Use </a:t>
            </a:r>
            <a:r>
              <a:rPr lang="en-GB" noProof="0" err="1"/>
              <a:t>Alt+Shift+Right</a:t>
            </a:r>
            <a:r>
              <a:rPr lang="en-GB" noProof="0"/>
              <a:t>/Left arrows to change text levels</a:t>
            </a:r>
          </a:p>
          <a:p>
            <a:pPr lvl="1"/>
            <a:r>
              <a:rPr lang="en-GB" noProof="0" err="1"/>
              <a:t>Deuxième</a:t>
            </a:r>
            <a:r>
              <a:rPr lang="en-GB" noProof="0"/>
              <a:t> </a:t>
            </a:r>
            <a:r>
              <a:rPr lang="en-GB" noProof="0" err="1"/>
              <a:t>niveau</a:t>
            </a:r>
            <a:endParaRPr lang="en-GB" noProof="0"/>
          </a:p>
          <a:p>
            <a:pPr lvl="2"/>
            <a:r>
              <a:rPr lang="en-GB" noProof="0" err="1"/>
              <a:t>Troisième</a:t>
            </a:r>
            <a:r>
              <a:rPr lang="en-GB" noProof="0"/>
              <a:t> </a:t>
            </a:r>
            <a:r>
              <a:rPr lang="en-GB" noProof="0" err="1"/>
              <a:t>niveau</a:t>
            </a:r>
            <a:endParaRPr lang="en-GB" noProof="0"/>
          </a:p>
          <a:p>
            <a:pPr lvl="3"/>
            <a:r>
              <a:rPr lang="en-GB" noProof="0" err="1"/>
              <a:t>Quatrième</a:t>
            </a:r>
            <a:r>
              <a:rPr lang="en-GB" noProof="0"/>
              <a:t> </a:t>
            </a:r>
            <a:r>
              <a:rPr lang="en-GB" noProof="0" err="1"/>
              <a:t>niveau</a:t>
            </a:r>
            <a:endParaRPr lang="en-GB" noProof="0"/>
          </a:p>
          <a:p>
            <a:pPr lvl="4"/>
            <a:r>
              <a:rPr lang="en-GB" noProof="0" err="1"/>
              <a:t>Cinquième</a:t>
            </a:r>
            <a:r>
              <a:rPr lang="en-GB" noProof="0"/>
              <a:t> </a:t>
            </a:r>
            <a:r>
              <a:rPr lang="en-GB" noProof="0" err="1"/>
              <a:t>niveau</a:t>
            </a:r>
            <a:endParaRPr lang="en-GB" noProof="0"/>
          </a:p>
        </p:txBody>
      </p:sp>
      <p:sp>
        <p:nvSpPr>
          <p:cNvPr id="5" name="Text Placeholder 4">
            <a:extLst>
              <a:ext uri="{FF2B5EF4-FFF2-40B4-BE49-F238E27FC236}">
                <a16:creationId xmlns:a16="http://schemas.microsoft.com/office/drawing/2014/main" id="{40AFE413-7A7E-456B-97B3-39F37977D126}"/>
              </a:ext>
            </a:extLst>
          </p:cNvPr>
          <p:cNvSpPr>
            <a:spLocks noGrp="1"/>
          </p:cNvSpPr>
          <p:nvPr>
            <p:ph type="body" sz="quarter" idx="10" hasCustomPrompt="1"/>
          </p:nvPr>
        </p:nvSpPr>
        <p:spPr>
          <a:xfrm>
            <a:off x="665163" y="1908323"/>
            <a:ext cx="9398001" cy="251511"/>
          </a:xfrm>
          <a:noFill/>
        </p:spPr>
        <p:txBody>
          <a:bodyPr bIns="0" anchor="b"/>
          <a:lstStyle>
            <a:lvl1pPr marL="0" indent="0">
              <a:buNone/>
              <a:defRPr lang="en-GB" sz="1286" b="0" i="0" kern="1200" cap="none" baseline="0" dirty="0">
                <a:solidFill>
                  <a:schemeClr val="tx2"/>
                </a:solidFill>
                <a:latin typeface="Maison Neue Light Italic" panose="020B0304040000000000" pitchFamily="34" charset="77"/>
                <a:ea typeface="+mn-ea"/>
                <a:cs typeface="+mn-cs"/>
              </a:defRPr>
            </a:lvl1pPr>
          </a:lstStyle>
          <a:p>
            <a:pPr marL="0" lvl="0" indent="0" algn="l" defTabSz="801899" rtl="0" eaLnBrk="1" latinLnBrk="0" hangingPunct="1">
              <a:lnSpc>
                <a:spcPct val="100000"/>
              </a:lnSpc>
              <a:spcBef>
                <a:spcPts val="0"/>
              </a:spcBef>
              <a:spcAft>
                <a:spcPts val="0"/>
              </a:spcAft>
              <a:buClr>
                <a:srgbClr val="FFA400"/>
              </a:buClr>
              <a:buSzPct val="90000"/>
              <a:buFont typeface="Wingdings 3" panose="05040102010807070707" pitchFamily="18" charset="2"/>
              <a:buNone/>
            </a:pPr>
            <a:r>
              <a:rPr lang="en-GB"/>
              <a:t>Subtitle</a:t>
            </a:r>
          </a:p>
        </p:txBody>
      </p:sp>
      <p:sp>
        <p:nvSpPr>
          <p:cNvPr id="2" name="Title 1">
            <a:extLst>
              <a:ext uri="{FF2B5EF4-FFF2-40B4-BE49-F238E27FC236}">
                <a16:creationId xmlns:a16="http://schemas.microsoft.com/office/drawing/2014/main" id="{DCCA61BB-1E9E-456D-B58D-064A7F1C76A3}"/>
              </a:ext>
            </a:extLst>
          </p:cNvPr>
          <p:cNvSpPr>
            <a:spLocks noGrp="1"/>
          </p:cNvSpPr>
          <p:nvPr>
            <p:ph type="title" hasCustomPrompt="1"/>
          </p:nvPr>
        </p:nvSpPr>
        <p:spPr>
          <a:xfrm>
            <a:off x="665163" y="1032442"/>
            <a:ext cx="9398001" cy="705133"/>
          </a:xfrm>
        </p:spPr>
        <p:txBody>
          <a:bodyPr/>
          <a:lstStyle>
            <a:lvl1pPr>
              <a:defRPr sz="2400"/>
            </a:lvl1pPr>
          </a:lstStyle>
          <a:p>
            <a:r>
              <a:rPr lang="en-GB"/>
              <a:t>Slide title</a:t>
            </a:r>
          </a:p>
        </p:txBody>
      </p:sp>
    </p:spTree>
    <p:extLst>
      <p:ext uri="{BB962C8B-B14F-4D97-AF65-F5344CB8AC3E}">
        <p14:creationId xmlns:p14="http://schemas.microsoft.com/office/powerpoint/2010/main" val="22770240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_Three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24ABFD-BFB7-4A6D-8F2C-66FB56A69346}"/>
              </a:ext>
            </a:extLst>
          </p:cNvPr>
          <p:cNvSpPr>
            <a:spLocks noGrp="1"/>
          </p:cNvSpPr>
          <p:nvPr>
            <p:ph type="title" hasCustomPrompt="1"/>
          </p:nvPr>
        </p:nvSpPr>
        <p:spPr>
          <a:xfrm>
            <a:off x="665163" y="1032440"/>
            <a:ext cx="9398001" cy="695487"/>
          </a:xfrm>
        </p:spPr>
        <p:txBody>
          <a:bodyPr/>
          <a:lstStyle>
            <a:lvl1pPr>
              <a:defRPr sz="2400"/>
            </a:lvl1pPr>
          </a:lstStyle>
          <a:p>
            <a:r>
              <a:rPr lang="en-GB" noProof="0"/>
              <a:t>Slide title</a:t>
            </a:r>
          </a:p>
        </p:txBody>
      </p:sp>
      <p:sp>
        <p:nvSpPr>
          <p:cNvPr id="4" name="Espace réservé du contenu 5">
            <a:extLst>
              <a:ext uri="{FF2B5EF4-FFF2-40B4-BE49-F238E27FC236}">
                <a16:creationId xmlns:a16="http://schemas.microsoft.com/office/drawing/2014/main" id="{8C04D29B-6145-4A33-B103-D04CB5BAA105}"/>
              </a:ext>
            </a:extLst>
          </p:cNvPr>
          <p:cNvSpPr>
            <a:spLocks noGrp="1"/>
          </p:cNvSpPr>
          <p:nvPr>
            <p:ph sz="quarter" idx="12" hasCustomPrompt="1"/>
          </p:nvPr>
        </p:nvSpPr>
        <p:spPr>
          <a:xfrm>
            <a:off x="665165" y="2802443"/>
            <a:ext cx="2714400" cy="3269738"/>
          </a:xfrm>
        </p:spPr>
        <p:txBody>
          <a:body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5" name="Espace réservé du contenu 7">
            <a:extLst>
              <a:ext uri="{FF2B5EF4-FFF2-40B4-BE49-F238E27FC236}">
                <a16:creationId xmlns:a16="http://schemas.microsoft.com/office/drawing/2014/main" id="{8FE3C4F1-7627-4C97-988A-2B51600A0E6F}"/>
              </a:ext>
            </a:extLst>
          </p:cNvPr>
          <p:cNvSpPr>
            <a:spLocks noGrp="1"/>
          </p:cNvSpPr>
          <p:nvPr>
            <p:ph sz="quarter" idx="13" hasCustomPrompt="1"/>
          </p:nvPr>
        </p:nvSpPr>
        <p:spPr>
          <a:xfrm>
            <a:off x="3986906" y="2802443"/>
            <a:ext cx="2718001" cy="3269738"/>
          </a:xfrm>
        </p:spPr>
        <p:txBody>
          <a:body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6" name="Espace réservé du contenu 9">
            <a:extLst>
              <a:ext uri="{FF2B5EF4-FFF2-40B4-BE49-F238E27FC236}">
                <a16:creationId xmlns:a16="http://schemas.microsoft.com/office/drawing/2014/main" id="{B2032ED6-526D-4E24-B6E9-F55FD69E83D4}"/>
              </a:ext>
            </a:extLst>
          </p:cNvPr>
          <p:cNvSpPr>
            <a:spLocks noGrp="1"/>
          </p:cNvSpPr>
          <p:nvPr>
            <p:ph sz="quarter" idx="14" hasCustomPrompt="1"/>
          </p:nvPr>
        </p:nvSpPr>
        <p:spPr>
          <a:xfrm>
            <a:off x="7348764" y="2802443"/>
            <a:ext cx="2714400" cy="3269738"/>
          </a:xfrm>
        </p:spPr>
        <p:txBody>
          <a:body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3" name="Text Placeholder 4">
            <a:extLst>
              <a:ext uri="{FF2B5EF4-FFF2-40B4-BE49-F238E27FC236}">
                <a16:creationId xmlns:a16="http://schemas.microsoft.com/office/drawing/2014/main" id="{4E3FC404-0C96-6470-9CBB-E4D624E35A0E}"/>
              </a:ext>
            </a:extLst>
          </p:cNvPr>
          <p:cNvSpPr>
            <a:spLocks noGrp="1"/>
          </p:cNvSpPr>
          <p:nvPr>
            <p:ph type="body" sz="quarter" idx="10" hasCustomPrompt="1"/>
          </p:nvPr>
        </p:nvSpPr>
        <p:spPr>
          <a:xfrm>
            <a:off x="665163" y="1908323"/>
            <a:ext cx="9398001" cy="251511"/>
          </a:xfrm>
          <a:noFill/>
        </p:spPr>
        <p:txBody>
          <a:bodyPr bIns="0" anchor="b"/>
          <a:lstStyle>
            <a:lvl1pPr marL="0" indent="0">
              <a:buNone/>
              <a:defRPr lang="en-GB" sz="1286" b="0" i="0" kern="1200" cap="none" baseline="0">
                <a:solidFill>
                  <a:schemeClr val="tx2"/>
                </a:solidFill>
                <a:latin typeface="Maison Neue Light Italic" panose="020B0304040000000000" pitchFamily="34" charset="77"/>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2184315969"/>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Tree>
    <p:extLst>
      <p:ext uri="{BB962C8B-B14F-4D97-AF65-F5344CB8AC3E}">
        <p14:creationId xmlns:p14="http://schemas.microsoft.com/office/powerpoint/2010/main" val="347337473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_Title and sub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a:lvl1pPr>
          </a:lstStyle>
          <a:p>
            <a:r>
              <a:rPr lang="en-GB" noProof="0"/>
              <a:t>Slide title</a:t>
            </a:r>
          </a:p>
        </p:txBody>
      </p:sp>
      <p:sp>
        <p:nvSpPr>
          <p:cNvPr id="3" name="Text Placeholder 4">
            <a:extLst>
              <a:ext uri="{FF2B5EF4-FFF2-40B4-BE49-F238E27FC236}">
                <a16:creationId xmlns:a16="http://schemas.microsoft.com/office/drawing/2014/main" id="{07348D2B-5FF0-420D-852B-8025EEA0E549}"/>
              </a:ext>
            </a:extLst>
          </p:cNvPr>
          <p:cNvSpPr>
            <a:spLocks noGrp="1"/>
          </p:cNvSpPr>
          <p:nvPr>
            <p:ph type="body" sz="quarter" idx="10" hasCustomPrompt="1"/>
          </p:nvPr>
        </p:nvSpPr>
        <p:spPr>
          <a:xfrm>
            <a:off x="665163" y="2321540"/>
            <a:ext cx="9398001" cy="251512"/>
          </a:xfrm>
          <a:noFill/>
        </p:spPr>
        <p:txBody>
          <a:bodyPr bIns="0" anchor="b"/>
          <a:lstStyle>
            <a:lvl1pPr marL="0" indent="0">
              <a:buNone/>
              <a:defRPr sz="1300" b="0" cap="none" baseline="0">
                <a:solidFill>
                  <a:schemeClr val="tx1"/>
                </a:solidFill>
                <a:latin typeface="Nunito Sans ExtraBold" panose="00000900000000000000" pitchFamily="2" charset="0"/>
              </a:defRPr>
            </a:lvl1pPr>
          </a:lstStyle>
          <a:p>
            <a:pPr lvl="0"/>
            <a:r>
              <a:rPr lang="en-GB"/>
              <a:t>Subtitle</a:t>
            </a:r>
          </a:p>
        </p:txBody>
      </p:sp>
    </p:spTree>
    <p:extLst>
      <p:ext uri="{BB962C8B-B14F-4D97-AF65-F5344CB8AC3E}">
        <p14:creationId xmlns:p14="http://schemas.microsoft.com/office/powerpoint/2010/main" val="120229173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theme" Target="../theme/theme1.xml"/><Relationship Id="rId34" Type="http://schemas.openxmlformats.org/officeDocument/2006/relationships/tags" Target="../tags/tag2.xml"/><Relationship Id="rId35" Type="http://schemas.openxmlformats.org/officeDocument/2006/relationships/oleObject" Target="../embeddings/oleObject1.bin"/><Relationship Id="rId36" Type="http://schemas.openxmlformats.org/officeDocument/2006/relationships/image" Target="../media/image1.emf"/><Relationship Id="rId37"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4BDDEA15-CDFB-C0D1-1BAE-21EC1602C811}"/>
              </a:ext>
            </a:extLst>
          </p:cNvPr>
          <p:cNvGraphicFramePr>
            <a:graphicFrameLocks noChangeAspect="1"/>
          </p:cNvGraphicFramePr>
          <p:nvPr userDrawn="1">
            <p:custDataLst>
              <p:tags r:id="rId34"/>
            </p:custDataLst>
            <p:extLst>
              <p:ext uri="{D42A27DB-BD31-4B8C-83A1-F6EECF244321}">
                <p14:modId xmlns:p14="http://schemas.microsoft.com/office/powerpoint/2010/main" val="2457869099"/>
              </p:ext>
            </p:extLst>
          </p:nvPr>
        </p:nvGraphicFramePr>
        <p:xfrm>
          <a:off x="1588" y="1589"/>
          <a:ext cx="1588" cy="1587"/>
        </p:xfrm>
        <a:graphic>
          <a:graphicData uri="http://schemas.openxmlformats.org/presentationml/2006/ole">
            <mc:AlternateContent xmlns:mc="http://schemas.openxmlformats.org/markup-compatibility/2006">
              <mc:Choice xmlns:v="urn:schemas-microsoft-com:vml" Requires="v">
                <p:oleObj name="think-cell Slide" r:id="rId35" imgW="286" imgH="286" progId="TCLayout.ActiveDocument.1">
                  <p:embed/>
                </p:oleObj>
              </mc:Choice>
              <mc:Fallback>
                <p:oleObj name="think-cell Slide" r:id="rId35" imgW="286" imgH="286" progId="TCLayout.ActiveDocument.1">
                  <p:embed/>
                  <p:pic>
                    <p:nvPicPr>
                      <p:cNvPr id="5" name="Object 4" hidden="1">
                        <a:extLst>
                          <a:ext uri="{FF2B5EF4-FFF2-40B4-BE49-F238E27FC236}">
                            <a16:creationId xmlns:a16="http://schemas.microsoft.com/office/drawing/2014/main" id="{4BDDEA15-CDFB-C0D1-1BAE-21EC1602C811}"/>
                          </a:ext>
                        </a:extLst>
                      </p:cNvPr>
                      <p:cNvPicPr/>
                      <p:nvPr/>
                    </p:nvPicPr>
                    <p:blipFill>
                      <a:blip r:embed="rId36"/>
                      <a:stretch>
                        <a:fillRect/>
                      </a:stretch>
                    </p:blipFill>
                    <p:spPr>
                      <a:xfrm>
                        <a:off x="1588" y="1589"/>
                        <a:ext cx="1588" cy="1587"/>
                      </a:xfrm>
                      <a:prstGeom prst="rect">
                        <a:avLst/>
                      </a:prstGeom>
                    </p:spPr>
                  </p:pic>
                </p:oleObj>
              </mc:Fallback>
            </mc:AlternateContent>
          </a:graphicData>
        </a:graphic>
      </p:graphicFrame>
      <p:sp>
        <p:nvSpPr>
          <p:cNvPr id="2" name="Title Placeholder 1"/>
          <p:cNvSpPr>
            <a:spLocks noGrp="1"/>
          </p:cNvSpPr>
          <p:nvPr>
            <p:ph type="title"/>
          </p:nvPr>
        </p:nvSpPr>
        <p:spPr>
          <a:xfrm>
            <a:off x="665163" y="1032442"/>
            <a:ext cx="9398001" cy="864587"/>
          </a:xfrm>
          <a:prstGeom prst="rect">
            <a:avLst/>
          </a:prstGeom>
        </p:spPr>
        <p:txBody>
          <a:bodyPr vert="horz" lIns="0" tIns="0" rIns="0" bIns="0" rtlCol="0" anchor="t" anchorCtr="0">
            <a:noAutofit/>
          </a:bodyPr>
          <a:lstStyle/>
          <a:p>
            <a:r>
              <a:rPr lang="en-GB" noProof="0"/>
              <a:t>Slide title</a:t>
            </a:r>
          </a:p>
        </p:txBody>
      </p:sp>
      <p:sp>
        <p:nvSpPr>
          <p:cNvPr id="3" name="Text Placeholder 2"/>
          <p:cNvSpPr>
            <a:spLocks noGrp="1"/>
          </p:cNvSpPr>
          <p:nvPr>
            <p:ph type="body" idx="1"/>
          </p:nvPr>
        </p:nvSpPr>
        <p:spPr>
          <a:xfrm>
            <a:off x="665163" y="2552366"/>
            <a:ext cx="9398001" cy="3269738"/>
          </a:xfrm>
          <a:prstGeom prst="rect">
            <a:avLst/>
          </a:prstGeom>
          <a:noFill/>
        </p:spPr>
        <p:txBody>
          <a:bodyPr vert="horz" lIns="0" tIns="0" rIns="0" bIns="0" rtlCol="0">
            <a:noAutofit/>
          </a:bodyPr>
          <a:lstStyle/>
          <a:p>
            <a:pPr lvl="0"/>
            <a:r>
              <a:rPr lang="en-GB" noProof="0" dirty="0"/>
              <a:t>Use </a:t>
            </a:r>
            <a:r>
              <a:rPr lang="en-GB" noProof="0" dirty="0" err="1"/>
              <a:t>Alt+Shift+Right</a:t>
            </a:r>
            <a:r>
              <a:rPr lang="en-GB" noProof="0" dirty="0"/>
              <a:t>/Left arrows to change text levels</a:t>
            </a:r>
          </a:p>
          <a:p>
            <a:pPr lvl="1"/>
            <a:r>
              <a:rPr lang="en-GB" noProof="0" dirty="0"/>
              <a:t>Deuxième </a:t>
            </a:r>
            <a:r>
              <a:rPr lang="en-GB" noProof="0" dirty="0" err="1"/>
              <a:t>niveau</a:t>
            </a:r>
            <a:endParaRPr lang="en-GB" noProof="0" dirty="0"/>
          </a:p>
          <a:p>
            <a:pPr lvl="2"/>
            <a:r>
              <a:rPr lang="en-GB" noProof="0" dirty="0" err="1"/>
              <a:t>Troisième</a:t>
            </a:r>
            <a:r>
              <a:rPr lang="en-GB" noProof="0" dirty="0"/>
              <a:t> </a:t>
            </a:r>
            <a:r>
              <a:rPr lang="en-GB" noProof="0" dirty="0" err="1"/>
              <a:t>niveau</a:t>
            </a:r>
            <a:endParaRPr lang="en-GB" noProof="0" dirty="0"/>
          </a:p>
          <a:p>
            <a:pPr lvl="3"/>
            <a:r>
              <a:rPr lang="en-GB" noProof="0" dirty="0" err="1"/>
              <a:t>Quatrième</a:t>
            </a:r>
            <a:r>
              <a:rPr lang="en-GB" noProof="0" dirty="0"/>
              <a:t> </a:t>
            </a:r>
            <a:r>
              <a:rPr lang="en-GB" noProof="0" dirty="0" err="1"/>
              <a:t>niveau</a:t>
            </a:r>
            <a:endParaRPr lang="en-GB" noProof="0" dirty="0"/>
          </a:p>
          <a:p>
            <a:pPr lvl="4"/>
            <a:r>
              <a:rPr lang="en-GB" noProof="0" dirty="0" err="1"/>
              <a:t>Cinquième</a:t>
            </a:r>
            <a:r>
              <a:rPr lang="en-GB" noProof="0" dirty="0"/>
              <a:t> </a:t>
            </a:r>
            <a:r>
              <a:rPr lang="en-GB" noProof="0" dirty="0" err="1"/>
              <a:t>niveau</a:t>
            </a:r>
            <a:endParaRPr lang="en-GB" noProof="0" dirty="0"/>
          </a:p>
          <a:p>
            <a:pPr lvl="5"/>
            <a:r>
              <a:rPr lang="en-GB" noProof="0" dirty="0" err="1"/>
              <a:t>Sixième</a:t>
            </a:r>
            <a:r>
              <a:rPr lang="en-GB" noProof="0" dirty="0"/>
              <a:t> </a:t>
            </a:r>
            <a:r>
              <a:rPr lang="en-GB" noProof="0" dirty="0" err="1"/>
              <a:t>niveau</a:t>
            </a:r>
            <a:endParaRPr lang="en-GB" noProof="0" dirty="0"/>
          </a:p>
          <a:p>
            <a:pPr lvl="6"/>
            <a:r>
              <a:rPr lang="en-GB" noProof="0" dirty="0" err="1"/>
              <a:t>Septième</a:t>
            </a:r>
            <a:r>
              <a:rPr lang="en-GB" noProof="0" dirty="0"/>
              <a:t> </a:t>
            </a:r>
            <a:r>
              <a:rPr lang="en-GB" noProof="0" dirty="0" err="1"/>
              <a:t>niveau</a:t>
            </a:r>
            <a:endParaRPr lang="en-GB" noProof="0" dirty="0"/>
          </a:p>
          <a:p>
            <a:pPr lvl="7"/>
            <a:r>
              <a:rPr lang="en-GB" noProof="0" dirty="0" err="1"/>
              <a:t>Huitième</a:t>
            </a:r>
            <a:r>
              <a:rPr lang="en-GB" noProof="0" dirty="0"/>
              <a:t> </a:t>
            </a:r>
            <a:r>
              <a:rPr lang="en-GB" noProof="0" dirty="0" err="1"/>
              <a:t>niveau</a:t>
            </a:r>
            <a:endParaRPr lang="en-GB" noProof="0" dirty="0"/>
          </a:p>
          <a:p>
            <a:pPr lvl="8"/>
            <a:r>
              <a:rPr lang="en-GB" noProof="0" dirty="0" err="1"/>
              <a:t>Neuvième</a:t>
            </a:r>
            <a:r>
              <a:rPr lang="en-GB" noProof="0" dirty="0"/>
              <a:t> </a:t>
            </a:r>
            <a:r>
              <a:rPr lang="en-GB" noProof="0" dirty="0" err="1"/>
              <a:t>niveau</a:t>
            </a:r>
            <a:endParaRPr lang="en-GB" noProof="0" dirty="0"/>
          </a:p>
        </p:txBody>
      </p:sp>
      <p:sp>
        <p:nvSpPr>
          <p:cNvPr id="16" name="ZoneTexte 3">
            <a:extLst>
              <a:ext uri="{FF2B5EF4-FFF2-40B4-BE49-F238E27FC236}">
                <a16:creationId xmlns:a16="http://schemas.microsoft.com/office/drawing/2014/main" id="{907A1612-3E73-9848-9340-FBD9D78E3901}"/>
              </a:ext>
            </a:extLst>
          </p:cNvPr>
          <p:cNvSpPr txBox="1"/>
          <p:nvPr userDrawn="1"/>
        </p:nvSpPr>
        <p:spPr>
          <a:xfrm>
            <a:off x="10155096" y="7097826"/>
            <a:ext cx="252000" cy="225415"/>
          </a:xfrm>
          <a:prstGeom prst="rect">
            <a:avLst/>
          </a:prstGeom>
          <a:noFill/>
        </p:spPr>
        <p:txBody>
          <a:bodyPr wrap="square" lIns="0" tIns="0" rIns="0" bIns="0" rtlCol="0" anchor="ctr" anchorCtr="0">
            <a:noAutofit/>
          </a:bodyPr>
          <a:lstStyle>
            <a:defPPr>
              <a:defRPr lang="en-US"/>
            </a:defPPr>
            <a:lvl1pPr algn="r">
              <a:defRPr sz="750" b="0"/>
            </a:lvl1pPr>
          </a:lstStyle>
          <a:p>
            <a:pPr lvl="0"/>
            <a:r>
              <a:rPr lang="en-GB" sz="596">
                <a:solidFill>
                  <a:schemeClr val="tx1"/>
                </a:solidFill>
              </a:rPr>
              <a:t> </a:t>
            </a:r>
            <a:fld id="{4DDA3DAE-CEE7-4C82-B729-78E2CF34A6DC}" type="slidenum">
              <a:rPr lang="en-GB" sz="596" smtClean="0">
                <a:solidFill>
                  <a:schemeClr val="tx1"/>
                </a:solidFill>
              </a:rPr>
              <a:pPr lvl="0"/>
              <a:t>‹#›</a:t>
            </a:fld>
            <a:endParaRPr lang="en-GB" sz="596">
              <a:solidFill>
                <a:schemeClr val="tx1"/>
              </a:solidFill>
            </a:endParaRPr>
          </a:p>
        </p:txBody>
      </p:sp>
      <p:sp>
        <p:nvSpPr>
          <p:cNvPr id="17" name="Rectangle 11">
            <a:extLst>
              <a:ext uri="{FF2B5EF4-FFF2-40B4-BE49-F238E27FC236}">
                <a16:creationId xmlns:a16="http://schemas.microsoft.com/office/drawing/2014/main" id="{03CB904D-62A2-D249-9D86-6AF9109F4D6C}"/>
              </a:ext>
            </a:extLst>
          </p:cNvPr>
          <p:cNvSpPr txBox="1">
            <a:spLocks noChangeArrowheads="1"/>
          </p:cNvSpPr>
          <p:nvPr userDrawn="1"/>
        </p:nvSpPr>
        <p:spPr bwMode="auto">
          <a:xfrm rot="5400000">
            <a:off x="8756462" y="5065221"/>
            <a:ext cx="3269735" cy="251503"/>
          </a:xfrm>
          <a:prstGeom prst="rect">
            <a:avLst/>
          </a:prstGeom>
          <a:noFill/>
          <a:ln>
            <a:noFill/>
          </a:ln>
          <a:effectLst/>
        </p:spPr>
        <p:txBody>
          <a:bodyPr vert="horz" wrap="square" lIns="0" tIns="0" rIns="0" bIns="0" numCol="1" anchor="ctr" anchorCtr="0" compatLnSpc="1">
            <a:prstTxWarp prst="textNoShape">
              <a:avLst/>
            </a:prstTxWarp>
          </a:bodyPr>
          <a:lstStyle>
            <a:defPPr>
              <a:defRPr lang="en-US"/>
            </a:defPPr>
            <a:lvl1pPr marL="0" algn="l" defTabSz="457200" rtl="0" eaLnBrk="1" latinLnBrk="0" hangingPunct="1">
              <a:defRPr sz="700" kern="1200">
                <a:solidFill>
                  <a:schemeClr val="tx2"/>
                </a:solidFill>
                <a:latin typeface="+mn-lt"/>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defRPr/>
            </a:pPr>
            <a:r>
              <a:rPr lang="en-GB" altLang="en-CH" sz="585" kern="600">
                <a:solidFill>
                  <a:schemeClr val="bg1">
                    <a:lumMod val="85000"/>
                  </a:schemeClr>
                </a:solidFill>
                <a:latin typeface="Nunito Sans" pitchFamily="2" charset="77"/>
              </a:rPr>
              <a:t>Please see important information at the end of the document</a:t>
            </a:r>
          </a:p>
        </p:txBody>
      </p:sp>
      <p:pic>
        <p:nvPicPr>
          <p:cNvPr id="6" name="Picture 5">
            <a:extLst>
              <a:ext uri="{FF2B5EF4-FFF2-40B4-BE49-F238E27FC236}">
                <a16:creationId xmlns:a16="http://schemas.microsoft.com/office/drawing/2014/main" id="{4F1D6016-274D-6FC8-0249-F3874C23DA47}"/>
              </a:ext>
            </a:extLst>
          </p:cNvPr>
          <p:cNvPicPr>
            <a:picLocks noChangeAspect="1"/>
          </p:cNvPicPr>
          <p:nvPr userDrawn="1"/>
        </p:nvPicPr>
        <p:blipFill>
          <a:blip r:embed="rId37">
            <a:extLst>
              <a:ext uri="{28A0092B-C50C-407E-A947-70E740481C1C}">
                <a14:useLocalDpi xmlns:a14="http://schemas.microsoft.com/office/drawing/2010/main"/>
              </a:ext>
            </a:extLst>
          </a:blip>
          <a:stretch>
            <a:fillRect/>
          </a:stretch>
        </p:blipFill>
        <p:spPr>
          <a:xfrm>
            <a:off x="10064601" y="396054"/>
            <a:ext cx="426928" cy="385479"/>
          </a:xfrm>
          <a:prstGeom prst="rect">
            <a:avLst/>
          </a:prstGeom>
        </p:spPr>
      </p:pic>
    </p:spTree>
    <p:extLst>
      <p:ext uri="{BB962C8B-B14F-4D97-AF65-F5344CB8AC3E}">
        <p14:creationId xmlns:p14="http://schemas.microsoft.com/office/powerpoint/2010/main" val="1689319010"/>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704" r:id="rId3"/>
    <p:sldLayoutId id="2147483698" r:id="rId4"/>
    <p:sldLayoutId id="2147483701" r:id="rId5"/>
    <p:sldLayoutId id="2147483697" r:id="rId6"/>
    <p:sldLayoutId id="2147483702" r:id="rId7"/>
    <p:sldLayoutId id="2147483691" r:id="rId8"/>
    <p:sldLayoutId id="2147483690" r:id="rId9"/>
    <p:sldLayoutId id="2147483662" r:id="rId10"/>
    <p:sldLayoutId id="2147483663" r:id="rId11"/>
    <p:sldLayoutId id="2147483664" r:id="rId12"/>
    <p:sldLayoutId id="2147483665" r:id="rId13"/>
    <p:sldLayoutId id="2147483674" r:id="rId14"/>
    <p:sldLayoutId id="2147483679" r:id="rId15"/>
    <p:sldLayoutId id="2147483680" r:id="rId16"/>
    <p:sldLayoutId id="2147483699" r:id="rId17"/>
    <p:sldLayoutId id="2147483685" r:id="rId18"/>
    <p:sldLayoutId id="2147483686" r:id="rId19"/>
    <p:sldLayoutId id="2147483666" r:id="rId20"/>
    <p:sldLayoutId id="2147483700" r:id="rId21"/>
    <p:sldLayoutId id="2147483687" r:id="rId22"/>
    <p:sldLayoutId id="2147483678" r:id="rId23"/>
    <p:sldLayoutId id="2147483705" r:id="rId24"/>
    <p:sldLayoutId id="2147483707" r:id="rId25"/>
    <p:sldLayoutId id="2147483706" r:id="rId26"/>
    <p:sldLayoutId id="2147483703" r:id="rId27"/>
    <p:sldLayoutId id="2147483708" r:id="rId28"/>
    <p:sldLayoutId id="2147483710" r:id="rId29"/>
    <p:sldLayoutId id="2147483711" r:id="rId30"/>
    <p:sldLayoutId id="2147483712" r:id="rId31"/>
    <p:sldLayoutId id="2147483713" r:id="rId32"/>
  </p:sldLayoutIdLst>
  <p:transition/>
  <p:hf hdr="0" ftr="0"/>
  <p:txStyles>
    <p:titleStyle>
      <a:lvl1pPr algn="l" defTabSz="801899" rtl="0" eaLnBrk="1" latinLnBrk="0" hangingPunct="1">
        <a:lnSpc>
          <a:spcPct val="90000"/>
        </a:lnSpc>
        <a:spcBef>
          <a:spcPct val="0"/>
        </a:spcBef>
        <a:buNone/>
        <a:defRPr sz="2400" b="1" kern="1200">
          <a:gradFill flip="none" rotWithShape="1">
            <a:gsLst>
              <a:gs pos="0">
                <a:schemeClr val="accent4"/>
              </a:gs>
              <a:gs pos="100000">
                <a:srgbClr val="FFA400"/>
              </a:gs>
            </a:gsLst>
            <a:lin ang="0" scaled="1"/>
          </a:gradFill>
          <a:latin typeface="+mj-lt"/>
          <a:ea typeface="+mj-ea"/>
          <a:cs typeface="+mj-cs"/>
        </a:defRPr>
      </a:lvl1pPr>
    </p:titleStyle>
    <p:bodyStyle>
      <a:lvl1pPr marL="217670" indent="-217670" algn="l" defTabSz="801899" rtl="0" eaLnBrk="1" latinLnBrk="0" hangingPunct="1">
        <a:lnSpc>
          <a:spcPct val="100000"/>
        </a:lnSpc>
        <a:spcBef>
          <a:spcPts val="954"/>
        </a:spcBef>
        <a:spcAft>
          <a:spcPct val="0"/>
        </a:spcAft>
        <a:buClr>
          <a:srgbClr val="FFA400"/>
        </a:buClr>
        <a:buSzPct val="90000"/>
        <a:buFont typeface="Wingdings 3" panose="05040102010807070707" pitchFamily="18" charset="2"/>
        <a:buChar char=""/>
        <a:defRPr sz="1114" b="0" kern="1200" cap="none" baseline="0">
          <a:solidFill>
            <a:schemeClr val="tx1"/>
          </a:solidFill>
          <a:latin typeface="+mn-lt"/>
          <a:ea typeface="+mn-ea"/>
          <a:cs typeface="+mn-cs"/>
        </a:defRPr>
      </a:lvl1pPr>
      <a:lvl2pPr marL="392381" indent="-174710" algn="l" defTabSz="801899" rtl="0" eaLnBrk="1" latinLnBrk="0" hangingPunct="1">
        <a:lnSpc>
          <a:spcPct val="100000"/>
        </a:lnSpc>
        <a:spcBef>
          <a:spcPts val="477"/>
        </a:spcBef>
        <a:spcAft>
          <a:spcPct val="0"/>
        </a:spcAft>
        <a:buClr>
          <a:srgbClr val="4B5F80"/>
        </a:buClr>
        <a:buSzTx/>
        <a:buFont typeface="Arial" panose="020B0604020202020204" pitchFamily="34" charset="0"/>
        <a:buChar char="•"/>
        <a:defRPr sz="1114" b="0" kern="1200">
          <a:solidFill>
            <a:schemeClr val="tx1"/>
          </a:solidFill>
          <a:latin typeface="+mn-lt"/>
          <a:ea typeface="+mn-ea"/>
          <a:cs typeface="+mn-cs"/>
        </a:defRPr>
      </a:lvl2pPr>
      <a:lvl3pPr marL="601459" indent="-174710" algn="l" defTabSz="801899" rtl="0" eaLnBrk="1" latinLnBrk="0" hangingPunct="1">
        <a:lnSpc>
          <a:spcPct val="100000"/>
        </a:lnSpc>
        <a:spcBef>
          <a:spcPts val="477"/>
        </a:spcBef>
        <a:spcAft>
          <a:spcPct val="0"/>
        </a:spcAft>
        <a:buClr>
          <a:srgbClr val="4B5F80"/>
        </a:buClr>
        <a:buFont typeface="Cambria" panose="02040503050406030204" pitchFamily="18" charset="0"/>
        <a:buChar char="⎼"/>
        <a:defRPr sz="1035" kern="1200">
          <a:solidFill>
            <a:schemeClr val="tx1"/>
          </a:solidFill>
          <a:latin typeface="+mn-lt"/>
          <a:ea typeface="+mn-ea"/>
          <a:cs typeface="+mn-cs"/>
        </a:defRPr>
      </a:lvl3pPr>
      <a:lvl4pPr marL="847769" indent="-183302" algn="l" defTabSz="801899" rtl="0" eaLnBrk="1" latinLnBrk="0" hangingPunct="1">
        <a:lnSpc>
          <a:spcPct val="100000"/>
        </a:lnSpc>
        <a:spcBef>
          <a:spcPts val="477"/>
        </a:spcBef>
        <a:spcAft>
          <a:spcPct val="0"/>
        </a:spcAft>
        <a:buClr>
          <a:srgbClr val="4B5F80"/>
        </a:buClr>
        <a:buFont typeface="Wingdings 3" panose="05040102010807070707" pitchFamily="18" charset="2"/>
        <a:buChar char="Ò"/>
        <a:defRPr sz="954" kern="1200">
          <a:solidFill>
            <a:schemeClr val="tx1"/>
          </a:solidFill>
          <a:latin typeface="+mn-lt"/>
          <a:ea typeface="+mn-ea"/>
          <a:cs typeface="+mn-cs"/>
        </a:defRPr>
      </a:lvl4pPr>
      <a:lvl5pPr marL="847769" indent="-183302" algn="l" defTabSz="801899" rtl="0" eaLnBrk="1" latinLnBrk="0" hangingPunct="1">
        <a:lnSpc>
          <a:spcPct val="100000"/>
        </a:lnSpc>
        <a:spcBef>
          <a:spcPts val="477"/>
        </a:spcBef>
        <a:spcAft>
          <a:spcPct val="0"/>
        </a:spcAft>
        <a:buClr>
          <a:srgbClr val="4B5F80"/>
        </a:buClr>
        <a:buFont typeface="Wingdings 3" panose="05040102010807070707" pitchFamily="18" charset="2"/>
        <a:buChar char="Ò"/>
        <a:defRPr sz="954" kern="1200">
          <a:solidFill>
            <a:schemeClr val="tx1"/>
          </a:solidFill>
          <a:latin typeface="+mn-lt"/>
          <a:ea typeface="+mn-ea"/>
          <a:cs typeface="+mn-cs"/>
        </a:defRPr>
      </a:lvl5pPr>
      <a:lvl6pPr marL="847769" indent="-183302" algn="l" defTabSz="801899" rtl="0" eaLnBrk="1" latinLnBrk="0" hangingPunct="1">
        <a:lnSpc>
          <a:spcPct val="100000"/>
        </a:lnSpc>
        <a:spcBef>
          <a:spcPts val="477"/>
        </a:spcBef>
        <a:spcAft>
          <a:spcPct val="0"/>
        </a:spcAft>
        <a:buClr>
          <a:srgbClr val="4B5F80"/>
        </a:buClr>
        <a:buFont typeface="Wingdings 3" panose="05040102010807070707" pitchFamily="18" charset="2"/>
        <a:buChar char="Ò"/>
        <a:defRPr sz="954" kern="1200">
          <a:solidFill>
            <a:schemeClr val="tx1"/>
          </a:solidFill>
          <a:latin typeface="+mn-lt"/>
          <a:ea typeface="+mn-ea"/>
          <a:cs typeface="+mn-cs"/>
        </a:defRPr>
      </a:lvl6pPr>
      <a:lvl7pPr marL="847769" indent="-183302" algn="l" defTabSz="801899" rtl="0" eaLnBrk="1" latinLnBrk="0" hangingPunct="1">
        <a:lnSpc>
          <a:spcPct val="100000"/>
        </a:lnSpc>
        <a:spcBef>
          <a:spcPts val="477"/>
        </a:spcBef>
        <a:spcAft>
          <a:spcPct val="0"/>
        </a:spcAft>
        <a:buClr>
          <a:srgbClr val="4B5F80"/>
        </a:buClr>
        <a:buFont typeface="Wingdings 3" panose="05040102010807070707" pitchFamily="18" charset="2"/>
        <a:buChar char="Ò"/>
        <a:defRPr sz="954" kern="1200">
          <a:solidFill>
            <a:schemeClr val="tx1"/>
          </a:solidFill>
          <a:latin typeface="+mn-lt"/>
          <a:ea typeface="+mn-ea"/>
          <a:cs typeface="+mn-cs"/>
        </a:defRPr>
      </a:lvl7pPr>
      <a:lvl8pPr marL="847769" indent="-183302" algn="l" defTabSz="801899" rtl="0" eaLnBrk="1" latinLnBrk="0" hangingPunct="1">
        <a:lnSpc>
          <a:spcPct val="100000"/>
        </a:lnSpc>
        <a:spcBef>
          <a:spcPts val="477"/>
        </a:spcBef>
        <a:spcAft>
          <a:spcPct val="0"/>
        </a:spcAft>
        <a:buClr>
          <a:srgbClr val="4B5F80"/>
        </a:buClr>
        <a:buFont typeface="Wingdings 3" panose="05040102010807070707" pitchFamily="18" charset="2"/>
        <a:buChar char="Ò"/>
        <a:defRPr sz="954" kern="1200">
          <a:solidFill>
            <a:schemeClr val="tx1"/>
          </a:solidFill>
          <a:latin typeface="+mn-lt"/>
          <a:ea typeface="+mn-ea"/>
          <a:cs typeface="+mn-cs"/>
        </a:defRPr>
      </a:lvl8pPr>
      <a:lvl9pPr marL="847769" indent="-183302" algn="l" defTabSz="801899" rtl="0" eaLnBrk="1" latinLnBrk="0" hangingPunct="1">
        <a:lnSpc>
          <a:spcPct val="100000"/>
        </a:lnSpc>
        <a:spcBef>
          <a:spcPts val="477"/>
        </a:spcBef>
        <a:spcAft>
          <a:spcPct val="0"/>
        </a:spcAft>
        <a:buClr>
          <a:srgbClr val="4B5F80"/>
        </a:buClr>
        <a:buFont typeface="Wingdings 3" panose="05040102010807070707" pitchFamily="18" charset="2"/>
        <a:buChar char="Ò"/>
        <a:defRPr sz="954" kern="1200">
          <a:solidFill>
            <a:schemeClr val="tx1"/>
          </a:solidFill>
          <a:latin typeface="+mn-lt"/>
          <a:ea typeface="+mn-ea"/>
          <a:cs typeface="+mn-cs"/>
        </a:defRPr>
      </a:lvl9pPr>
    </p:bodyStyle>
    <p:otherStyle>
      <a:defPPr>
        <a:defRPr lang="en-US"/>
      </a:defPPr>
      <a:lvl1pPr marL="0" algn="l" defTabSz="801899" rtl="0" eaLnBrk="1" latinLnBrk="0" hangingPunct="1">
        <a:defRPr sz="1579" kern="1200">
          <a:solidFill>
            <a:schemeClr val="tx1"/>
          </a:solidFill>
          <a:latin typeface="+mn-lt"/>
          <a:ea typeface="+mn-ea"/>
          <a:cs typeface="+mn-cs"/>
        </a:defRPr>
      </a:lvl1pPr>
      <a:lvl2pPr marL="400951" algn="l" defTabSz="801899" rtl="0" eaLnBrk="1" latinLnBrk="0" hangingPunct="1">
        <a:defRPr sz="1579" kern="1200">
          <a:solidFill>
            <a:schemeClr val="tx1"/>
          </a:solidFill>
          <a:latin typeface="+mn-lt"/>
          <a:ea typeface="+mn-ea"/>
          <a:cs typeface="+mn-cs"/>
        </a:defRPr>
      </a:lvl2pPr>
      <a:lvl3pPr marL="801899" algn="l" defTabSz="801899" rtl="0" eaLnBrk="1" latinLnBrk="0" hangingPunct="1">
        <a:defRPr sz="1579" kern="1200">
          <a:solidFill>
            <a:schemeClr val="tx1"/>
          </a:solidFill>
          <a:latin typeface="+mn-lt"/>
          <a:ea typeface="+mn-ea"/>
          <a:cs typeface="+mn-cs"/>
        </a:defRPr>
      </a:lvl3pPr>
      <a:lvl4pPr marL="1202850" algn="l" defTabSz="801899" rtl="0" eaLnBrk="1" latinLnBrk="0" hangingPunct="1">
        <a:defRPr sz="1579" kern="1200">
          <a:solidFill>
            <a:schemeClr val="tx1"/>
          </a:solidFill>
          <a:latin typeface="+mn-lt"/>
          <a:ea typeface="+mn-ea"/>
          <a:cs typeface="+mn-cs"/>
        </a:defRPr>
      </a:lvl4pPr>
      <a:lvl5pPr marL="1603799" algn="l" defTabSz="801899" rtl="0" eaLnBrk="1" latinLnBrk="0" hangingPunct="1">
        <a:defRPr sz="1579" kern="1200">
          <a:solidFill>
            <a:schemeClr val="tx1"/>
          </a:solidFill>
          <a:latin typeface="+mn-lt"/>
          <a:ea typeface="+mn-ea"/>
          <a:cs typeface="+mn-cs"/>
        </a:defRPr>
      </a:lvl5pPr>
      <a:lvl6pPr marL="2004748" algn="l" defTabSz="801899" rtl="0" eaLnBrk="1" latinLnBrk="0" hangingPunct="1">
        <a:defRPr sz="1579" kern="1200">
          <a:solidFill>
            <a:schemeClr val="tx1"/>
          </a:solidFill>
          <a:latin typeface="+mn-lt"/>
          <a:ea typeface="+mn-ea"/>
          <a:cs typeface="+mn-cs"/>
        </a:defRPr>
      </a:lvl6pPr>
      <a:lvl7pPr marL="2405698" algn="l" defTabSz="801899" rtl="0" eaLnBrk="1" latinLnBrk="0" hangingPunct="1">
        <a:defRPr sz="1579" kern="1200">
          <a:solidFill>
            <a:schemeClr val="tx1"/>
          </a:solidFill>
          <a:latin typeface="+mn-lt"/>
          <a:ea typeface="+mn-ea"/>
          <a:cs typeface="+mn-cs"/>
        </a:defRPr>
      </a:lvl7pPr>
      <a:lvl8pPr marL="2806647" algn="l" defTabSz="801899" rtl="0" eaLnBrk="1" latinLnBrk="0" hangingPunct="1">
        <a:defRPr sz="1579" kern="1200">
          <a:solidFill>
            <a:schemeClr val="tx1"/>
          </a:solidFill>
          <a:latin typeface="+mn-lt"/>
          <a:ea typeface="+mn-ea"/>
          <a:cs typeface="+mn-cs"/>
        </a:defRPr>
      </a:lvl8pPr>
      <a:lvl9pPr marL="3207598" algn="l" defTabSz="801899" rtl="0" eaLnBrk="1" latinLnBrk="0" hangingPunct="1">
        <a:defRPr sz="157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9" userDrawn="1">
          <p15:clr>
            <a:srgbClr val="F26B43"/>
          </p15:clr>
        </p15:guide>
        <p15:guide id="2" pos="6342" userDrawn="1">
          <p15:clr>
            <a:srgbClr val="F26B43"/>
          </p15:clr>
        </p15:guide>
        <p15:guide id="3" orient="horz" pos="1764" userDrawn="1">
          <p15:clr>
            <a:srgbClr val="F26B43"/>
          </p15:clr>
        </p15:guide>
        <p15:guide id="4" orient="horz" pos="3824" userDrawn="1">
          <p15:clr>
            <a:srgbClr val="F26B43"/>
          </p15:clr>
        </p15:guide>
        <p15:guide id="5" orient="horz" pos="1202" userDrawn="1">
          <p15:clr>
            <a:srgbClr val="F26B43"/>
          </p15:clr>
        </p15:guide>
        <p15:guide id="6" orient="horz" pos="589" userDrawn="1">
          <p15:clr>
            <a:srgbClr val="F26B43"/>
          </p15:clr>
        </p15:guide>
        <p15:guide id="7" orient="horz" pos="433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12.png"/><Relationship Id="rId3" Type="http://schemas.openxmlformats.org/officeDocument/2006/relationships/image" Target="../media/image13.sv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22.xml"/><Relationship Id="rId3" Type="http://schemas.openxmlformats.org/officeDocument/2006/relationships/image" Target="../media/image15.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1.xml"/><Relationship Id="rId3" Type="http://schemas.openxmlformats.org/officeDocument/2006/relationships/chart" Target="../charts/char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3.xml"/><Relationship Id="rId3" Type="http://schemas.openxmlformats.org/officeDocument/2006/relationships/chart" Target="../charts/chart4.xml"/></Relationships>
</file>

<file path=ppt/slides/_rels/slide13.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22.xml"/><Relationship Id="rId3" Type="http://schemas.openxmlformats.org/officeDocument/2006/relationships/chart" Target="../charts/chart5.xml"/><Relationship Id="rId4" Type="http://schemas.openxmlformats.org/officeDocument/2006/relationships/image" Target="../media/image16.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 Id="rId3" Type="http://schemas.openxmlformats.org/officeDocument/2006/relationships/chart" Target="../charts/chart10.xml"/><Relationship Id="rId4" Type="http://schemas.openxmlformats.org/officeDocument/2006/relationships/chart" Target="../charts/chart11.xml"/><Relationship Id="rId5" Type="http://schemas.openxmlformats.org/officeDocument/2006/relationships/image" Target="../media/image17.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2.xml"/><Relationship Id="rId3" Type="http://schemas.openxmlformats.org/officeDocument/2006/relationships/chart" Target="../charts/chart15.xml"/><Relationship Id="rId4" Type="http://schemas.openxmlformats.org/officeDocument/2006/relationships/image" Target="../media/image18.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16.xml"/><Relationship Id="rId3" Type="http://schemas.openxmlformats.org/officeDocument/2006/relationships/image" Target="../media/image19.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20.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17.xml"/></Relationships>
</file>

<file path=ppt/slides/_rels/slide21.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Layout" Target="../slideLayouts/slideLayout1.xml"/><Relationship Id="rId3" Type="http://schemas.openxmlformats.org/officeDocument/2006/relationships/notesSlide" Target="../notesSlides/notesSlide3.xml"/><Relationship Id="rId4" Type="http://schemas.openxmlformats.org/officeDocument/2006/relationships/oleObject" Target="../embeddings/oleObject2.bin"/><Relationship Id="rId5" Type="http://schemas.openxmlformats.org/officeDocument/2006/relationships/image" Target="../media/image21.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4.xml"/><Relationship Id="rId3" Type="http://schemas.openxmlformats.org/officeDocument/2006/relationships/image" Target="../media/image22.png"/><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tags" Target="../tags/tag8.xml"/><Relationship Id="rId3" Type="http://schemas.openxmlformats.org/officeDocument/2006/relationships/slideLayout" Target="../slideLayouts/slideLayout28.xml"/><Relationship Id="rId4" Type="http://schemas.openxmlformats.org/officeDocument/2006/relationships/notesSlide" Target="../notesSlides/notesSlide5.xml"/><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image" Target="../media/image27.svg"/><Relationship Id="rId8" Type="http://schemas.openxmlformats.org/officeDocument/2006/relationships/image" Target="../media/image28.svg"/><Relationship Id="rId9" Type="http://schemas.openxmlformats.org/officeDocument/2006/relationships/image" Target="../media/image29.sv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7.xml"/><Relationship Id="rId3" Type="http://schemas.openxmlformats.org/officeDocument/2006/relationships/image" Target="../media/image30.svg"/></Relationships>
</file>

<file path=ppt/slides/_rels/slide29.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tags" Target="../tags/tag10.xml"/><Relationship Id="rId3" Type="http://schemas.openxmlformats.org/officeDocument/2006/relationships/slideLayout" Target="../slideLayouts/slideLayout30.xml"/><Relationship Id="rId4" Type="http://schemas.openxmlformats.org/officeDocument/2006/relationships/notesSlide" Target="../notesSlides/notesSlide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9.xml"/><Relationship Id="rId3" Type="http://schemas.openxmlformats.org/officeDocument/2006/relationships/image" Target="../media/image25.png"/><Relationship Id="rId4" Type="http://schemas.openxmlformats.org/officeDocument/2006/relationships/image" Target="../media/image26.svg"/><Relationship Id="rId5" Type="http://schemas.openxmlformats.org/officeDocument/2006/relationships/image" Target="../media/image31.svg"/><Relationship Id="rId6" Type="http://schemas.openxmlformats.org/officeDocument/2006/relationships/image" Target="../media/image32.svg"/><Relationship Id="rId7" Type="http://schemas.openxmlformats.org/officeDocument/2006/relationships/image" Target="../media/image33.sv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1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65166" y="3432261"/>
            <a:ext cx="3505819" cy="1028391"/>
          </a:xfrm>
        </p:spPr>
        <p:txBody>
          <a:bodyPr/>
          <a:lstStyle/>
          <a:p>
            <a:r>
              <a:rPr lang="en-US" noProof="0" dirty="0"/>
              <a:t>Investment Proposal</a:t>
            </a:r>
            <a:br>
              <a:rPr lang="en-US" noProof="0" dirty="0"/>
            </a:br>
            <a:endParaRPr lang="en-US" noProof="0" dirty="0"/>
          </a:p>
        </p:txBody>
      </p:sp>
      <p:sp>
        <p:nvSpPr>
          <p:cNvPr id="5" name="TextBox 4">
            <a:extLst>
              <a:ext uri="{FF2B5EF4-FFF2-40B4-BE49-F238E27FC236}">
                <a16:creationId xmlns:a16="http://schemas.microsoft.com/office/drawing/2014/main" id="{DB5E26F1-C2FA-05E8-250D-21FE76B78DDB}"/>
              </a:ext>
            </a:extLst>
          </p:cNvPr>
          <p:cNvSpPr txBox="1"/>
          <p:nvPr/>
        </p:nvSpPr>
        <p:spPr>
          <a:xfrm>
            <a:off x="1047135" y="1283110"/>
            <a:ext cx="0" cy="0"/>
          </a:xfrm>
          <a:prstGeom prst="rect">
            <a:avLst/>
          </a:prstGeom>
          <a:noFill/>
        </p:spPr>
        <p:txBody>
          <a:bodyPr vert="horz" wrap="none" lIns="0" tIns="0" rIns="0" bIns="0" rtlCol="0">
            <a:noAutofit/>
          </a:bodyPr>
          <a:lstStyle/>
          <a:p>
            <a:pPr algn="l"/>
            <a:endParaRPr lang="en-US" sz="1400" noProof="0" dirty="0"/>
          </a:p>
        </p:txBody>
      </p:sp>
      <p:pic>
        <p:nvPicPr>
          <p:cNvPr id="7" name="Picture 6">
            <a:extLst>
              <a:ext uri="{FF2B5EF4-FFF2-40B4-BE49-F238E27FC236}">
                <a16:creationId xmlns:a16="http://schemas.microsoft.com/office/drawing/2014/main" id="{6F76270C-7241-4516-0B18-4CDED44272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5570142" y="2436288"/>
            <a:ext cx="7561173" cy="2685600"/>
          </a:xfrm>
          <a:prstGeom prst="rect">
            <a:avLst/>
          </a:prstGeom>
        </p:spPr>
      </p:pic>
      <p:pic>
        <p:nvPicPr>
          <p:cNvPr id="14" name="Picture Placeholder 13">
            <a:extLst>
              <a:ext uri="{FF2B5EF4-FFF2-40B4-BE49-F238E27FC236}">
                <a16:creationId xmlns:a16="http://schemas.microsoft.com/office/drawing/2014/main" id="{4C3FC1B2-015E-C93E-4C3A-D485BBAB60D6}"/>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t="59" b="59"/>
          <a:stretch>
            <a:fillRect/>
          </a:stretch>
        </p:blipFill>
        <p:spPr>
          <a:prstGeom prst="rect">
            <a:avLst/>
          </a:prstGeom>
          <a:noFill/>
        </p:spPr>
      </p:pic>
      <p:sp>
        <p:nvSpPr>
          <p:cNvPr id="8" name="Text Placeholder 5">
            <a:extLst>
              <a:ext uri="{FF2B5EF4-FFF2-40B4-BE49-F238E27FC236}">
                <a16:creationId xmlns:a16="http://schemas.microsoft.com/office/drawing/2014/main" id="{5F934597-247F-905C-6285-0E599E19095F}"/>
              </a:ext>
            </a:extLst>
          </p:cNvPr>
          <p:cNvSpPr>
            <a:spLocks noGrp="1"/>
          </p:cNvSpPr>
          <p:nvPr>
            <p:ph type="body" sz="quarter" idx="13"/>
          </p:nvPr>
        </p:nvSpPr>
        <p:spPr>
          <a:xfrm>
            <a:off x="665163" y="4232565"/>
            <a:ext cx="4391746" cy="1572490"/>
          </a:xfrm>
        </p:spPr>
        <p:txBody>
          <a:bodyPr/>
          <a:lstStyle/>
          <a:p>
            <a:r>
              <a:rPr lang="en-US" sz="1600" b="1" dirty="0"/>
              <a:t>Growth EUR 21.1m</a:t>
            </a:r>
            <a:endParaRPr lang="en-GB" sz="1600" b="1" dirty="0"/>
          </a:p>
          <a:p>
            <a:r>
              <a:t/>
            </a:r>
            <a:endParaRPr lang="en-GB" sz="1400" b="1" dirty="0"/>
          </a:p>
          <a:p>
            <a:r>
              <a:rPr lang="en-CH" sz="1100" dirty="0"/>
              <a:t>Prepared for [Client Name]</a:t>
            </a:r>
            <a:endParaRPr lang="en-US" sz="1100" dirty="0"/>
          </a:p>
          <a:p>
            <a:r>
              <a:t/>
            </a:r>
            <a:endParaRPr lang="en-US" sz="1100" dirty="0"/>
          </a:p>
          <a:p>
            <a:r>
              <a:rPr lang="en-CH" sz="1100" dirty="0"/>
              <a:t>Your Relationship Manager: [Name]</a:t>
            </a:r>
            <a:endParaRPr lang="en-US" sz="1100" dirty="0"/>
          </a:p>
          <a:p>
            <a:r>
              <a:t/>
            </a:r>
            <a:endParaRPr lang="en-US" sz="1100" b="1" dirty="0"/>
          </a:p>
          <a:p>
            <a:r>
              <a:rPr lang="en-US" sz="1100" dirty="0"/>
              <a:t>Your Advisor: </a:t>
            </a:r>
            <a:endParaRPr lang="en-GB" sz="1100"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7" r="7"/>
          <a:stretch/>
        </p:blipFill>
        <p:spPr/>
      </p:pic>
      <p:sp>
        <p:nvSpPr>
          <p:cNvPr id="3" name="Text Placeholder 2"/>
          <p:cNvSpPr>
            <a:spLocks noGrp="1"/>
          </p:cNvSpPr>
          <p:nvPr>
            <p:ph type="body" sz="quarter" idx="20"/>
          </p:nvPr>
        </p:nvSpPr>
        <p:spPr>
          <a:solidFill>
            <a:srgbClr val="FFA400"/>
          </a:solidFill>
        </p:spPr>
        <p:txBody>
          <a:bodyPr/>
          <a:lstStyle/>
          <a:p>
            <a:r>
              <a:rPr lang="en-US" noProof="0" dirty="0">
                <a:solidFill>
                  <a:srgbClr val="FFFFFF"/>
                </a:solidFill>
                <a:latin typeface="Nunito Sans ExtraBold"/>
              </a:rPr>
              <a:t>Market Update</a:t>
            </a:r>
            <a:endParaRPr lang="en-US" b="1" noProof="0" dirty="0">
              <a:solidFill>
                <a:srgbClr val="FFFFFF"/>
              </a:solidFill>
              <a:latin typeface="Nunito Sans ExtraBold"/>
            </a:endParaRPr>
          </a:p>
        </p:txBody>
      </p:sp>
      <p:sp>
        <p:nvSpPr>
          <p:cNvPr id="4" name="Text Placeholder 3"/>
          <p:cNvSpPr>
            <a:spLocks noGrp="1"/>
          </p:cNvSpPr>
          <p:nvPr>
            <p:ph type="body" sz="quarter" idx="21"/>
          </p:nvPr>
        </p:nvSpPr>
        <p:spPr>
          <a:solidFill>
            <a:srgbClr val="FFDA99"/>
          </a:solidFill>
        </p:spPr>
        <p:txBody>
          <a:bodyPr/>
          <a:lstStyle/>
          <a:p>
            <a:r>
              <a:rPr lang="en-US" sz="1100" b="1" noProof="0" dirty="0">
                <a:solidFill>
                  <a:srgbClr val="FFFFFF"/>
                </a:solidFill>
                <a:latin typeface="Nunito Sans ExtraBold"/>
              </a:rPr>
              <a:t>Investment Proposal</a:t>
            </a:r>
          </a:p>
        </p:txBody>
      </p:sp>
      <p:sp>
        <p:nvSpPr>
          <p:cNvPr id="8" name="Text Placeholder 7"/>
          <p:cNvSpPr>
            <a:spLocks noGrp="1"/>
          </p:cNvSpPr>
          <p:nvPr>
            <p:ph type="body" sz="quarter" idx="25"/>
          </p:nvPr>
        </p:nvSpPr>
        <p:spPr/>
        <p:txBody>
          <a:bodyPr/>
          <a:lstStyle/>
          <a:p>
            <a:r>
              <a:rPr lang="en-US" b="1" noProof="0" dirty="0">
                <a:solidFill>
                  <a:srgbClr val="FF8300"/>
                </a:solidFill>
                <a:latin typeface="Nunito Sans ExtraBold"/>
              </a:rPr>
              <a:t>01</a:t>
            </a:r>
          </a:p>
        </p:txBody>
      </p:sp>
      <p:sp>
        <p:nvSpPr>
          <p:cNvPr id="9" name="Text Placeholder 8"/>
          <p:cNvSpPr>
            <a:spLocks noGrp="1"/>
          </p:cNvSpPr>
          <p:nvPr>
            <p:ph type="body" sz="quarter" idx="26"/>
          </p:nvPr>
        </p:nvSpPr>
        <p:spPr/>
        <p:txBody>
          <a:bodyPr/>
          <a:lstStyle/>
          <a:p>
            <a:r>
              <a:rPr lang="en-US" b="1" noProof="0" dirty="0">
                <a:solidFill>
                  <a:srgbClr val="FFA400"/>
                </a:solidFill>
                <a:latin typeface="Nunito Sans ExtraBold"/>
              </a:rPr>
              <a:t>02</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Our investment conclusions: August 2026</a:t>
            </a:r>
          </a:p>
        </p:txBody>
      </p:sp>
      <p:sp>
        <p:nvSpPr>
          <p:cNvPr id="4" name="Rectangle"/>
          <p:cNvSpPr/>
          <p:nvPr/>
        </p:nvSpPr>
        <p:spPr>
          <a:xfrm>
            <a:off x="666000" y="2412000"/>
            <a:ext cx="2160000" cy="1008000"/>
          </a:xfrm>
          <a:prstGeom prst="rect">
            <a:avLst/>
          </a:prstGeom>
          <a:solidFill>
            <a:srgbClr val="FFFFFF"/>
          </a:solidFill>
          <a:ln w="12700">
            <a:solidFill>
              <a:srgbClr val="FFC545"/>
            </a:solidFill>
          </a:ln>
          <a:effectLst/>
        </p:spPr>
        <p:txBody>
          <a:bodyPr lIns="45720" tIns="45720" rIns="45720" bIns="45720" rtlCol="0" anchor="ctr"/>
          <a:lstStyle/>
          <a:p>
            <a:pPr algn="ctr"/>
            <a:r>
              <a:rPr lang="en-US" sz="2400" b="1" noProof="0" dirty="0">
                <a:solidFill>
                  <a:srgbClr val="FF6C0E"/>
                </a:solidFill>
                <a:latin typeface="Nunito Sans ExtraBold"/>
              </a:rPr>
              <a:t>+32%</a:t>
            </a:r>
          </a:p>
          <a:p>
            <a:pPr algn="ctr"/>
            <a:r>
              <a:rPr lang="en-US" sz="1200" noProof="0" dirty="0">
                <a:solidFill>
                  <a:srgbClr val="202945"/>
                </a:solidFill>
                <a:latin typeface="Nunito Sans"/>
              </a:rPr>
              <a:t>2026e EPS growth, US</a:t>
            </a:r>
          </a:p>
        </p:txBody>
      </p:sp>
      <p:sp>
        <p:nvSpPr>
          <p:cNvPr id="5" name="Rectangle"/>
          <p:cNvSpPr/>
          <p:nvPr/>
        </p:nvSpPr>
        <p:spPr>
          <a:xfrm>
            <a:off x="3066000" y="2412000"/>
            <a:ext cx="2160000" cy="1008000"/>
          </a:xfrm>
          <a:prstGeom prst="rect">
            <a:avLst/>
          </a:prstGeom>
          <a:solidFill>
            <a:srgbClr val="FFFFFF"/>
          </a:solidFill>
          <a:ln w="12700">
            <a:solidFill>
              <a:srgbClr val="FFC545"/>
            </a:solidFill>
          </a:ln>
          <a:effectLst/>
        </p:spPr>
        <p:txBody>
          <a:bodyPr lIns="45720" tIns="45720" rIns="45720" bIns="45720" rtlCol="0" anchor="ctr"/>
          <a:lstStyle/>
          <a:p>
            <a:pPr algn="ctr"/>
            <a:r>
              <a:rPr lang="en-US" sz="2400" b="1" noProof="0" dirty="0">
                <a:solidFill>
                  <a:srgbClr val="FF6C0E"/>
                </a:solidFill>
                <a:latin typeface="Nunito Sans ExtraBold"/>
              </a:rPr>
              <a:t>+18%</a:t>
            </a:r>
          </a:p>
          <a:p>
            <a:pPr algn="ctr"/>
            <a:r>
              <a:rPr lang="en-US" sz="1200" noProof="0" dirty="0">
                <a:solidFill>
                  <a:srgbClr val="202945"/>
                </a:solidFill>
                <a:latin typeface="Nunito Sans"/>
              </a:rPr>
              <a:t>2026e EPS growth, Europe</a:t>
            </a:r>
          </a:p>
        </p:txBody>
      </p:sp>
      <p:sp>
        <p:nvSpPr>
          <p:cNvPr id="6" name="Rectangle"/>
          <p:cNvSpPr/>
          <p:nvPr/>
        </p:nvSpPr>
        <p:spPr>
          <a:xfrm>
            <a:off x="5466000" y="2412000"/>
            <a:ext cx="2160000" cy="1008000"/>
          </a:xfrm>
          <a:prstGeom prst="rect">
            <a:avLst/>
          </a:prstGeom>
          <a:solidFill>
            <a:srgbClr val="FFFFFF"/>
          </a:solidFill>
          <a:ln w="12700">
            <a:solidFill>
              <a:srgbClr val="FFC545"/>
            </a:solidFill>
          </a:ln>
          <a:effectLst/>
        </p:spPr>
        <p:txBody>
          <a:bodyPr lIns="45720" tIns="45720" rIns="45720" bIns="45720" rtlCol="0" anchor="ctr"/>
          <a:lstStyle/>
          <a:p>
            <a:pPr algn="ctr"/>
            <a:r>
              <a:rPr lang="en-US" sz="2400" b="1" noProof="0" dirty="0">
                <a:solidFill>
                  <a:srgbClr val="FF6C0E"/>
                </a:solidFill>
                <a:latin typeface="Nunito Sans ExtraBold"/>
              </a:rPr>
              <a:t>20x</a:t>
            </a:r>
          </a:p>
          <a:p>
            <a:pPr algn="ctr"/>
            <a:r>
              <a:rPr lang="en-US" sz="1200" noProof="0" dirty="0">
                <a:solidFill>
                  <a:srgbClr val="202945"/>
                </a:solidFill>
                <a:latin typeface="Nunito Sans"/>
              </a:rPr>
              <a:t>S&amp;P 500 forward P/E</a:t>
            </a:r>
          </a:p>
        </p:txBody>
      </p:sp>
      <p:sp>
        <p:nvSpPr>
          <p:cNvPr id="7" name="Rectangle"/>
          <p:cNvSpPr/>
          <p:nvPr/>
        </p:nvSpPr>
        <p:spPr>
          <a:xfrm>
            <a:off x="7866000" y="2412000"/>
            <a:ext cx="2160000" cy="1008000"/>
          </a:xfrm>
          <a:prstGeom prst="rect">
            <a:avLst/>
          </a:prstGeom>
          <a:solidFill>
            <a:srgbClr val="FFFFFF"/>
          </a:solidFill>
          <a:ln w="12700">
            <a:solidFill>
              <a:srgbClr val="FFC545"/>
            </a:solidFill>
          </a:ln>
          <a:effectLst/>
        </p:spPr>
        <p:txBody>
          <a:bodyPr lIns="45720" tIns="45720" rIns="45720" bIns="45720" rtlCol="0" anchor="ctr"/>
          <a:lstStyle/>
          <a:p>
            <a:pPr algn="ctr"/>
            <a:r>
              <a:rPr lang="en-US" sz="2400" b="1" noProof="0" dirty="0">
                <a:solidFill>
                  <a:srgbClr val="FF6C0E"/>
                </a:solidFill>
                <a:latin typeface="Nunito Sans ExtraBold"/>
              </a:rPr>
              <a:t>91</a:t>
            </a:r>
            <a:endParaRPr lang="en-US" sz="2400" noProof="0" dirty="0"/>
          </a:p>
          <a:p>
            <a:pPr algn="ctr"/>
            <a:r>
              <a:rPr lang="en-US" sz="1200" noProof="0" dirty="0">
                <a:solidFill>
                  <a:srgbClr val="202945"/>
                </a:solidFill>
                <a:latin typeface="Nunito Sans"/>
              </a:rPr>
              <a:t>US market-factor score</a:t>
            </a:r>
            <a:endParaRPr lang="en-US" sz="1300" noProof="0" dirty="0">
              <a:solidFill>
                <a:srgbClr val="202945"/>
              </a:solidFill>
              <a:latin typeface="Nunito Sans"/>
            </a:endParaRPr>
          </a:p>
        </p:txBody>
      </p:sp>
      <p:sp>
        <p:nvSpPr>
          <p:cNvPr id="8" name="TextBox"/>
          <p:cNvSpPr txBox="1"/>
          <p:nvPr/>
        </p:nvSpPr>
        <p:spPr>
          <a:xfrm>
            <a:off x="666000" y="3720000"/>
            <a:ext cx="4400000" cy="300000"/>
          </a:xfrm>
          <a:prstGeom prst="rect">
            <a:avLst/>
          </a:prstGeom>
          <a:noFill/>
        </p:spPr>
        <p:txBody>
          <a:bodyPr wrap="square" lIns="0" tIns="0" rIns="0" bIns="0" anchor="t"/>
          <a:lstStyle/>
          <a:p>
            <a:pPr algn="l"/>
            <a:r>
              <a:rPr lang="en-US" sz="1400" b="1" noProof="0" dirty="0">
                <a:solidFill>
                  <a:srgbClr val="FF6C0E"/>
                </a:solidFill>
                <a:latin typeface="Nunito Sans ExtraBold"/>
              </a:rPr>
              <a:t>Tactical asset allocation</a:t>
            </a:r>
          </a:p>
        </p:txBody>
      </p:sp>
      <p:sp>
        <p:nvSpPr>
          <p:cNvPr id="9" name="TextBox"/>
          <p:cNvSpPr txBox="1"/>
          <p:nvPr/>
        </p:nvSpPr>
        <p:spPr>
          <a:xfrm>
            <a:off x="666000" y="4100000"/>
            <a:ext cx="2497520" cy="2900000"/>
          </a:xfrm>
          <a:prstGeom prst="rect">
            <a:avLst/>
          </a:prstGeom>
          <a:noFill/>
        </p:spPr>
        <p:txBody>
          <a:bodyPr wrap="square" lIns="0" tIns="0" rIns="0" bIns="0" anchor="t"/>
          <a:lstStyle/>
          <a:p>
            <a:pPr algn="l">
              <a:spcAft>
                <a:spcPts val="600"/>
              </a:spcAft>
            </a:pPr>
            <a:r>
              <a:rPr lang="en-US" sz="1100" b="1" noProof="0" dirty="0">
                <a:solidFill>
                  <a:srgbClr val="202945"/>
                </a:solidFill>
                <a:latin typeface="Nunito Sans"/>
              </a:rPr>
              <a:t>House view</a:t>
            </a:r>
          </a:p>
          <a:p>
            <a:pPr algn="l">
              <a:spcAft>
                <a:spcPts val="600"/>
              </a:spcAft>
            </a:pPr>
            <a:r>
              <a:rPr lang="en-US" sz="1100" b="0" noProof="0" dirty="0">
                <a:solidFill>
                  <a:srgbClr val="202945"/>
                </a:solidFill>
                <a:latin typeface="Nunito Sans"/>
              </a:rPr>
              <a:t>Cash</a:t>
            </a:r>
          </a:p>
          <a:p>
            <a:pPr algn="l">
              <a:spcAft>
                <a:spcPts val="600"/>
              </a:spcAft>
            </a:pPr>
            <a:r>
              <a:rPr lang="en-US" sz="1100" b="0" noProof="0" dirty="0">
                <a:solidFill>
                  <a:srgbClr val="202945"/>
                </a:solidFill>
                <a:latin typeface="Nunito Sans"/>
              </a:rPr>
              <a:t>Equities</a:t>
            </a:r>
          </a:p>
          <a:p>
            <a:pPr algn="l">
              <a:spcAft>
                <a:spcPts val="600"/>
              </a:spcAft>
            </a:pPr>
            <a:r>
              <a:rPr lang="en-US" sz="1100" b="0" noProof="0" dirty="0">
                <a:solidFill>
                  <a:srgbClr val="202945"/>
                </a:solidFill>
                <a:latin typeface="Nunito Sans"/>
              </a:rPr>
              <a:t>Fixed income</a:t>
            </a:r>
          </a:p>
          <a:p>
            <a:pPr algn="l">
              <a:spcAft>
                <a:spcPts val="600"/>
              </a:spcAft>
            </a:pPr>
            <a:r>
              <a:rPr lang="en-US" sz="1100" b="0" noProof="0" dirty="0">
                <a:solidFill>
                  <a:srgbClr val="202945"/>
                </a:solidFill>
                <a:latin typeface="Nunito Sans"/>
              </a:rPr>
              <a:t>Government bonds</a:t>
            </a:r>
          </a:p>
          <a:p>
            <a:pPr algn="l">
              <a:spcAft>
                <a:spcPts val="600"/>
              </a:spcAft>
            </a:pPr>
            <a:r>
              <a:rPr lang="en-US" sz="1100" b="0" noProof="0" dirty="0">
                <a:solidFill>
                  <a:srgbClr val="202945"/>
                </a:solidFill>
                <a:latin typeface="Nunito Sans"/>
              </a:rPr>
              <a:t>Corporate IG and high yield</a:t>
            </a:r>
          </a:p>
          <a:p>
            <a:pPr algn="l">
              <a:spcAft>
                <a:spcPts val="600"/>
              </a:spcAft>
            </a:pPr>
            <a:r>
              <a:rPr lang="en-US" sz="1100" b="0" noProof="0" dirty="0">
                <a:solidFill>
                  <a:srgbClr val="202945"/>
                </a:solidFill>
                <a:latin typeface="Nunito Sans"/>
              </a:rPr>
              <a:t>EM debt</a:t>
            </a:r>
          </a:p>
          <a:p>
            <a:pPr algn="l">
              <a:spcAft>
                <a:spcPts val="600"/>
              </a:spcAft>
            </a:pPr>
            <a:r>
              <a:rPr lang="en-US" sz="1100" b="0" noProof="0" dirty="0">
                <a:solidFill>
                  <a:srgbClr val="202945"/>
                </a:solidFill>
                <a:latin typeface="Nunito Sans"/>
              </a:rPr>
              <a:t>Alternatives, hedge funds</a:t>
            </a:r>
          </a:p>
          <a:p>
            <a:pPr algn="l">
              <a:spcAft>
                <a:spcPts val="600"/>
              </a:spcAft>
            </a:pPr>
            <a:r>
              <a:rPr lang="en-US" sz="1100" b="0" noProof="0" dirty="0">
                <a:solidFill>
                  <a:srgbClr val="202945"/>
                </a:solidFill>
                <a:latin typeface="Nunito Sans"/>
              </a:rPr>
              <a:t>Gold and commodities</a:t>
            </a:r>
          </a:p>
          <a:p>
            <a:pPr algn="l">
              <a:spcAft>
                <a:spcPts val="600"/>
              </a:spcAft>
            </a:pPr>
            <a:r>
              <a:rPr lang="en-US" sz="1100" b="0" noProof="0" dirty="0">
                <a:solidFill>
                  <a:srgbClr val="202945"/>
                </a:solidFill>
                <a:latin typeface="Nunito Sans"/>
              </a:rPr>
              <a:t>EUR, CHF, GBP, EM FX vs USD</a:t>
            </a:r>
          </a:p>
        </p:txBody>
      </p:sp>
      <p:sp>
        <p:nvSpPr>
          <p:cNvPr id="10" name="TextBox"/>
          <p:cNvSpPr txBox="1"/>
          <p:nvPr/>
        </p:nvSpPr>
        <p:spPr>
          <a:xfrm>
            <a:off x="3197520" y="4100000"/>
            <a:ext cx="976884" cy="2900000"/>
          </a:xfrm>
          <a:prstGeom prst="rect">
            <a:avLst/>
          </a:prstGeom>
          <a:noFill/>
        </p:spPr>
        <p:txBody>
          <a:bodyPr wrap="square" lIns="0" tIns="0" rIns="0" bIns="0" anchor="t"/>
          <a:lstStyle/>
          <a:p>
            <a:pPr algn="r">
              <a:spcAft>
                <a:spcPts val="600"/>
              </a:spcAft>
            </a:pPr>
            <a:r>
              <a:rPr lang="en-US" sz="1100" b="1" noProof="0" dirty="0">
                <a:solidFill>
                  <a:srgbClr val="202945"/>
                </a:solidFill>
                <a:latin typeface="Nunito Sans"/>
              </a:rPr>
              <a:t>Stance</a:t>
            </a:r>
            <a:endParaRPr lang="en-US" sz="1100" noProof="0" dirty="0"/>
          </a:p>
          <a:p>
            <a:pPr algn="r">
              <a:spcAft>
                <a:spcPts val="600"/>
              </a:spcAft>
            </a:pPr>
            <a:r>
              <a:rPr lang="en-US" sz="1100" b="0" noProof="0" dirty="0">
                <a:solidFill>
                  <a:srgbClr val="202945"/>
                </a:solidFill>
                <a:latin typeface="Nunito Sans"/>
              </a:rPr>
              <a:t>Overweight</a:t>
            </a:r>
          </a:p>
          <a:p>
            <a:pPr algn="r">
              <a:spcAft>
                <a:spcPts val="600"/>
              </a:spcAft>
            </a:pPr>
            <a:r>
              <a:rPr lang="en-US" sz="1100" b="0" noProof="0" dirty="0">
                <a:solidFill>
                  <a:srgbClr val="202945"/>
                </a:solidFill>
                <a:latin typeface="Nunito Sans"/>
              </a:rPr>
              <a:t>Neutral</a:t>
            </a:r>
          </a:p>
          <a:p>
            <a:pPr algn="r">
              <a:spcAft>
                <a:spcPts val="600"/>
              </a:spcAft>
            </a:pPr>
            <a:r>
              <a:rPr lang="en-US" sz="1100" b="0" noProof="0" dirty="0">
                <a:solidFill>
                  <a:srgbClr val="202945"/>
                </a:solidFill>
                <a:latin typeface="Nunito Sans"/>
              </a:rPr>
              <a:t>Underweight</a:t>
            </a:r>
          </a:p>
          <a:p>
            <a:pPr algn="r">
              <a:spcAft>
                <a:spcPts val="600"/>
              </a:spcAft>
            </a:pPr>
            <a:r>
              <a:rPr lang="en-US" sz="1100" b="0" noProof="0" dirty="0">
                <a:solidFill>
                  <a:srgbClr val="202945"/>
                </a:solidFill>
                <a:latin typeface="Nunito Sans"/>
              </a:rPr>
              <a:t>Underweight</a:t>
            </a:r>
          </a:p>
          <a:p>
            <a:pPr algn="r">
              <a:spcAft>
                <a:spcPts val="600"/>
              </a:spcAft>
            </a:pPr>
            <a:r>
              <a:rPr lang="en-US" sz="1100" b="0" noProof="0" dirty="0">
                <a:solidFill>
                  <a:srgbClr val="202945"/>
                </a:solidFill>
                <a:latin typeface="Nunito Sans"/>
              </a:rPr>
              <a:t>Neutral</a:t>
            </a:r>
          </a:p>
          <a:p>
            <a:pPr algn="r">
              <a:spcAft>
                <a:spcPts val="600"/>
              </a:spcAft>
            </a:pPr>
            <a:r>
              <a:rPr lang="en-US" sz="1100" b="0" noProof="0" dirty="0">
                <a:solidFill>
                  <a:srgbClr val="202945"/>
                </a:solidFill>
                <a:latin typeface="Nunito Sans"/>
              </a:rPr>
              <a:t>Neutral</a:t>
            </a:r>
          </a:p>
          <a:p>
            <a:pPr algn="r">
              <a:spcAft>
                <a:spcPts val="600"/>
              </a:spcAft>
            </a:pPr>
            <a:r>
              <a:rPr lang="en-US" sz="1100" b="0" noProof="0" dirty="0">
                <a:solidFill>
                  <a:srgbClr val="202945"/>
                </a:solidFill>
                <a:latin typeface="Nunito Sans"/>
              </a:rPr>
              <a:t>Neutral</a:t>
            </a:r>
          </a:p>
          <a:p>
            <a:pPr algn="r">
              <a:spcAft>
                <a:spcPts val="600"/>
              </a:spcAft>
            </a:pPr>
            <a:r>
              <a:rPr lang="en-US" sz="1100" b="0" noProof="0" dirty="0">
                <a:solidFill>
                  <a:srgbClr val="202945"/>
                </a:solidFill>
                <a:latin typeface="Nunito Sans"/>
              </a:rPr>
              <a:t>Overweight</a:t>
            </a:r>
          </a:p>
          <a:p>
            <a:pPr algn="r">
              <a:spcAft>
                <a:spcPts val="600"/>
              </a:spcAft>
            </a:pPr>
            <a:r>
              <a:rPr lang="en-US" sz="1100" b="0" noProof="0" dirty="0">
                <a:solidFill>
                  <a:srgbClr val="202945"/>
                </a:solidFill>
                <a:latin typeface="Nunito Sans"/>
              </a:rPr>
              <a:t>Neutral</a:t>
            </a:r>
          </a:p>
        </p:txBody>
      </p:sp>
      <p:sp>
        <p:nvSpPr>
          <p:cNvPr id="11" name="TextBox"/>
          <p:cNvSpPr txBox="1"/>
          <p:nvPr/>
        </p:nvSpPr>
        <p:spPr>
          <a:xfrm>
            <a:off x="4234404" y="4100000"/>
            <a:ext cx="831596" cy="2900000"/>
          </a:xfrm>
          <a:prstGeom prst="rect">
            <a:avLst/>
          </a:prstGeom>
          <a:noFill/>
        </p:spPr>
        <p:txBody>
          <a:bodyPr wrap="square" lIns="0" tIns="0" rIns="0" bIns="0" anchor="t"/>
          <a:lstStyle/>
          <a:p>
            <a:pPr algn="r">
              <a:spcAft>
                <a:spcPts val="600"/>
              </a:spcAft>
            </a:pPr>
            <a:r>
              <a:rPr lang="en-US" sz="1100" b="1" noProof="0" dirty="0">
                <a:solidFill>
                  <a:srgbClr val="202945"/>
                </a:solidFill>
                <a:latin typeface="Nunito Sans"/>
              </a:rPr>
              <a:t>Change</a:t>
            </a:r>
            <a:endParaRPr lang="en-US" sz="1100" noProof="0" dirty="0"/>
          </a:p>
          <a:p>
            <a:pPr algn="r">
              <a:spcAft>
                <a:spcPts val="600"/>
              </a:spcAft>
            </a:pPr>
            <a:r>
              <a:rPr lang="en-US" sz="1100" b="0" noProof="0" dirty="0">
                <a:solidFill>
                  <a:srgbClr val="202945"/>
                </a:solidFill>
                <a:latin typeface="Nunito Sans"/>
              </a:rPr>
              <a:t>Unchanged</a:t>
            </a:r>
          </a:p>
          <a:p>
            <a:pPr algn="r">
              <a:spcAft>
                <a:spcPts val="600"/>
              </a:spcAft>
            </a:pPr>
            <a:r>
              <a:rPr lang="en-US" sz="1100" b="0" noProof="0" dirty="0">
                <a:solidFill>
                  <a:srgbClr val="202945"/>
                </a:solidFill>
                <a:latin typeface="Nunito Sans"/>
              </a:rPr>
              <a:t>Unchanged</a:t>
            </a:r>
          </a:p>
          <a:p>
            <a:pPr algn="r">
              <a:spcAft>
                <a:spcPts val="600"/>
              </a:spcAft>
            </a:pPr>
            <a:r>
              <a:rPr lang="en-US" sz="1100" b="0" noProof="0" dirty="0">
                <a:solidFill>
                  <a:srgbClr val="202945"/>
                </a:solidFill>
                <a:latin typeface="Nunito Sans"/>
              </a:rPr>
              <a:t>Unchanged</a:t>
            </a:r>
          </a:p>
          <a:p>
            <a:pPr algn="r">
              <a:spcAft>
                <a:spcPts val="600"/>
              </a:spcAft>
            </a:pPr>
            <a:r>
              <a:rPr lang="en-US" sz="1100" b="0" noProof="0" dirty="0">
                <a:solidFill>
                  <a:srgbClr val="202945"/>
                </a:solidFill>
                <a:latin typeface="Nunito Sans"/>
              </a:rPr>
              <a:t>Unchanged</a:t>
            </a:r>
          </a:p>
          <a:p>
            <a:pPr algn="r">
              <a:spcAft>
                <a:spcPts val="600"/>
              </a:spcAft>
            </a:pPr>
            <a:r>
              <a:rPr lang="en-US" sz="1100" b="0" noProof="0" dirty="0">
                <a:solidFill>
                  <a:srgbClr val="202945"/>
                </a:solidFill>
                <a:latin typeface="Nunito Sans"/>
              </a:rPr>
              <a:t>Unchanged</a:t>
            </a:r>
          </a:p>
          <a:p>
            <a:pPr algn="r">
              <a:spcAft>
                <a:spcPts val="600"/>
              </a:spcAft>
            </a:pPr>
            <a:r>
              <a:rPr lang="en-US" sz="1100" b="0" noProof="0" dirty="0">
                <a:solidFill>
                  <a:srgbClr val="202945"/>
                </a:solidFill>
                <a:latin typeface="Nunito Sans"/>
              </a:rPr>
              <a:t>Unchanged</a:t>
            </a:r>
          </a:p>
          <a:p>
            <a:pPr algn="r">
              <a:spcAft>
                <a:spcPts val="600"/>
              </a:spcAft>
            </a:pPr>
            <a:r>
              <a:rPr lang="en-US" sz="1100" b="0" noProof="0" dirty="0">
                <a:solidFill>
                  <a:srgbClr val="202945"/>
                </a:solidFill>
                <a:latin typeface="Nunito Sans"/>
              </a:rPr>
              <a:t>Unchanged</a:t>
            </a:r>
          </a:p>
          <a:p>
            <a:pPr algn="r">
              <a:spcAft>
                <a:spcPts val="600"/>
              </a:spcAft>
            </a:pPr>
            <a:r>
              <a:rPr lang="en-US" sz="1100" b="0" noProof="0" dirty="0">
                <a:solidFill>
                  <a:srgbClr val="202945"/>
                </a:solidFill>
                <a:latin typeface="Nunito Sans"/>
              </a:rPr>
              <a:t>Unchanged</a:t>
            </a:r>
          </a:p>
          <a:p>
            <a:pPr algn="r">
              <a:spcAft>
                <a:spcPts val="600"/>
              </a:spcAft>
            </a:pPr>
            <a:r>
              <a:rPr lang="en-US" sz="1100" b="0" noProof="0" dirty="0">
                <a:solidFill>
                  <a:srgbClr val="202945"/>
                </a:solidFill>
                <a:latin typeface="Nunito Sans"/>
              </a:rPr>
              <a:t>Upgraded</a:t>
            </a:r>
          </a:p>
        </p:txBody>
      </p:sp>
      <p:sp>
        <p:nvSpPr>
          <p:cNvPr id="12" name="TextBox"/>
          <p:cNvSpPr txBox="1"/>
          <p:nvPr/>
        </p:nvSpPr>
        <p:spPr>
          <a:xfrm>
            <a:off x="5560000" y="3720000"/>
            <a:ext cx="4465813" cy="300000"/>
          </a:xfrm>
          <a:prstGeom prst="rect">
            <a:avLst/>
          </a:prstGeom>
          <a:noFill/>
        </p:spPr>
        <p:txBody>
          <a:bodyPr wrap="square" lIns="0" tIns="0" rIns="0" bIns="0" anchor="t"/>
          <a:lstStyle/>
          <a:p>
            <a:pPr algn="l"/>
            <a:r>
              <a:rPr lang="en-US" sz="1400" b="1" noProof="0" dirty="0">
                <a:solidFill>
                  <a:srgbClr val="FF6C0E"/>
                </a:solidFill>
                <a:latin typeface="Nunito Sans ExtraBold"/>
              </a:rPr>
              <a:t>Three observations</a:t>
            </a:r>
          </a:p>
        </p:txBody>
      </p:sp>
      <p:sp>
        <p:nvSpPr>
          <p:cNvPr id="13" name="Rectangle"/>
          <p:cNvSpPr/>
          <p:nvPr/>
        </p:nvSpPr>
        <p:spPr>
          <a:xfrm>
            <a:off x="5560000" y="4100000"/>
            <a:ext cx="4465813" cy="880000"/>
          </a:xfrm>
          <a:prstGeom prst="rect">
            <a:avLst/>
          </a:prstGeom>
          <a:solidFill>
            <a:srgbClr val="FFFFFF"/>
          </a:solidFill>
          <a:ln>
            <a:noFill/>
          </a:ln>
          <a:effectLst>
            <a:outerShdw blurRad="635000" dir="5400000" algn="t" rotWithShape="0">
              <a:schemeClr val="bg1">
                <a:lumMod val="85000"/>
                <a:alpha val="30000"/>
              </a:schemeClr>
            </a:outerShdw>
          </a:effectLst>
        </p:spPr>
        <p:txBody>
          <a:bodyPr lIns="150000" tIns="150000" rIns="150000" bIns="150000" rtlCol="0" anchor="ctr"/>
          <a:lstStyle/>
          <a:p>
            <a:pPr algn="l">
              <a:spcAft>
                <a:spcPts val="400"/>
              </a:spcAft>
            </a:pPr>
            <a:r>
              <a:rPr lang="en-US" sz="1200" b="1" noProof="0" dirty="0">
                <a:solidFill>
                  <a:srgbClr val="202945"/>
                </a:solidFill>
                <a:latin typeface="Nunito Sans ExtraBold"/>
              </a:rPr>
              <a:t>No changes to the five pillars</a:t>
            </a:r>
            <a:endParaRPr lang="en-US" sz="1200" noProof="0" dirty="0"/>
          </a:p>
          <a:p>
            <a:pPr algn="l"/>
            <a:r>
              <a:rPr lang="en-US" sz="1100" b="0" noProof="0" dirty="0">
                <a:solidFill>
                  <a:srgbClr val="202945"/>
                </a:solidFill>
                <a:latin typeface="Nunito Sans"/>
              </a:rPr>
              <a:t>Liquidity and valuations stay neutral, market factors and earnings growth positive, the macro cycle moderately positive — none of the five moved.</a:t>
            </a:r>
          </a:p>
        </p:txBody>
      </p:sp>
      <p:sp>
        <p:nvSpPr>
          <p:cNvPr id="14" name="Rectangle"/>
          <p:cNvSpPr/>
          <p:nvPr/>
        </p:nvSpPr>
        <p:spPr>
          <a:xfrm>
            <a:off x="5560000" y="5070000"/>
            <a:ext cx="4465813" cy="880000"/>
          </a:xfrm>
          <a:prstGeom prst="rect">
            <a:avLst/>
          </a:prstGeom>
          <a:solidFill>
            <a:srgbClr val="FFFFFF"/>
          </a:solidFill>
          <a:ln>
            <a:noFill/>
          </a:ln>
          <a:effectLst>
            <a:outerShdw blurRad="635000" dir="5400000" algn="t" rotWithShape="0">
              <a:schemeClr val="bg1">
                <a:lumMod val="85000"/>
                <a:alpha val="30000"/>
              </a:schemeClr>
            </a:outerShdw>
          </a:effectLst>
        </p:spPr>
        <p:txBody>
          <a:bodyPr lIns="150000" tIns="150000" rIns="150000" bIns="150000" rtlCol="0" anchor="ctr"/>
          <a:lstStyle/>
          <a:p>
            <a:pPr algn="l">
              <a:spcAft>
                <a:spcPts val="400"/>
              </a:spcAft>
            </a:pPr>
            <a:r>
              <a:rPr lang="en-US" sz="1200" b="1" noProof="0" dirty="0">
                <a:solidFill>
                  <a:srgbClr val="202945"/>
                </a:solidFill>
                <a:latin typeface="Nunito Sans ExtraBold"/>
              </a:rPr>
              <a:t>Earnings are carrying valuations</a:t>
            </a:r>
            <a:endParaRPr lang="en-US" sz="1200" noProof="0" dirty="0"/>
          </a:p>
          <a:p>
            <a:pPr algn="l"/>
            <a:r>
              <a:rPr lang="en-US" sz="1100" b="0" noProof="0" dirty="0">
                <a:solidFill>
                  <a:srgbClr val="202945"/>
                </a:solidFill>
                <a:latin typeface="Nunito Sans"/>
              </a:rPr>
              <a:t>Consensus expects 2026 EPS growth of 32% in the US, 18% in Europe and 19% in Japan, with estimates rising faster than share prices.</a:t>
            </a:r>
          </a:p>
        </p:txBody>
      </p:sp>
      <p:sp>
        <p:nvSpPr>
          <p:cNvPr id="15" name="Rectangle"/>
          <p:cNvSpPr/>
          <p:nvPr/>
        </p:nvSpPr>
        <p:spPr>
          <a:xfrm>
            <a:off x="5560000" y="6040000"/>
            <a:ext cx="4465813" cy="880000"/>
          </a:xfrm>
          <a:prstGeom prst="rect">
            <a:avLst/>
          </a:prstGeom>
          <a:solidFill>
            <a:srgbClr val="FFFFFF"/>
          </a:solidFill>
          <a:ln>
            <a:noFill/>
          </a:ln>
          <a:effectLst>
            <a:outerShdw blurRad="635000" dir="5400000" algn="t" rotWithShape="0">
              <a:schemeClr val="bg1">
                <a:lumMod val="85000"/>
                <a:alpha val="30000"/>
              </a:schemeClr>
            </a:outerShdw>
          </a:effectLst>
        </p:spPr>
        <p:txBody>
          <a:bodyPr lIns="150000" tIns="150000" rIns="150000" bIns="150000" rtlCol="0" anchor="ctr"/>
          <a:lstStyle/>
          <a:p>
            <a:pPr algn="l">
              <a:spcAft>
                <a:spcPts val="400"/>
              </a:spcAft>
            </a:pPr>
            <a:r>
              <a:rPr lang="en-US" sz="1200" b="1" noProof="0" dirty="0">
                <a:solidFill>
                  <a:srgbClr val="202945"/>
                </a:solidFill>
                <a:latin typeface="Nunito Sans ExtraBold"/>
              </a:rPr>
              <a:t>The dollar overweight is gone</a:t>
            </a:r>
            <a:endParaRPr lang="en-US" sz="1200" noProof="0" dirty="0"/>
          </a:p>
          <a:p>
            <a:pPr algn="l"/>
            <a:r>
              <a:rPr lang="en-US" sz="1100" b="0" noProof="0" dirty="0">
                <a:solidFill>
                  <a:srgbClr val="202945"/>
                </a:solidFill>
                <a:latin typeface="Nunito Sans"/>
              </a:rPr>
              <a:t>The USD overweight is cut to neutral: all currencies are now neutral against the dollar as Fed hike expectations and the safety bid faded.</a:t>
            </a:r>
          </a:p>
        </p:txBody>
      </p:sp>
      <p:sp>
        <p:nvSpPr>
          <p:cNvPr id="16" name="Text Placeholder 2"/>
          <p:cNvSpPr txBox="1"/>
          <p:nvPr/>
        </p:nvSpPr>
        <p:spPr>
          <a:xfrm>
            <a:off x="665163" y="1728947"/>
            <a:ext cx="9398001" cy="560000"/>
          </a:xfrm>
          <a:prstGeom prst="rect">
            <a:avLst/>
          </a:prstGeom>
          <a:noFill/>
        </p:spPr>
        <p:txBody>
          <a:bodyPr wrap="square" anchor="t" lIns="0" rIns="0" tIns="0" bIns="0">
            <a:spAutoFit/>
          </a:bodyPr>
          <a:lstStyle/>
          <a:p>
            <a:r>
              <a:rPr sz="1200">
                <a:solidFill>
                  <a:srgbClr val="202945"/>
                </a:solidFill>
              </a:rPr>
              <a:t>No changes to our five allocation pillars this month; the one move is in FX, where EUR, CHF, GBP and EM currencies shift from underweight to neutral against the US dollar.</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98E74-BC25-E5F5-BE84-27A48B8941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7C31F3-BF6F-1B0C-36DF-7DC4FF3A011C}"/>
              </a:ext>
            </a:extLst>
          </p:cNvPr>
          <p:cNvSpPr>
            <a:spLocks noGrp="1"/>
          </p:cNvSpPr>
          <p:nvPr>
            <p:ph type="title"/>
          </p:nvPr>
        </p:nvSpPr>
        <p:spPr>
          <a:xfrm>
            <a:off x="669924" y="1051017"/>
            <a:ext cx="9398001" cy="864587"/>
          </a:xfrm>
        </p:spPr>
        <p:txBody>
          <a:bodyPr/>
          <a:lstStyle/>
          <a:p>
            <a:r>
              <a:rPr lang="en-US" noProof="0" dirty="0"/>
              <a:t>What is driving our view: four forces</a:t>
            </a:r>
          </a:p>
        </p:txBody>
      </p:sp>
      <p:sp>
        <p:nvSpPr>
          <p:cNvPr id="4" name="Rectangle">
            <a:extLst>
              <a:ext uri="{FF2B5EF4-FFF2-40B4-BE49-F238E27FC236}">
                <a16:creationId xmlns:a16="http://schemas.microsoft.com/office/drawing/2014/main" id="{4A442DDD-B97F-DF7C-E439-F0A18B214C9E}"/>
              </a:ext>
            </a:extLst>
          </p:cNvPr>
          <p:cNvSpPr/>
          <p:nvPr/>
        </p:nvSpPr>
        <p:spPr>
          <a:xfrm>
            <a:off x="666000" y="2412000"/>
            <a:ext cx="4560000" cy="1900000"/>
          </a:xfrm>
          <a:prstGeom prst="rect">
            <a:avLst/>
          </a:prstGeom>
          <a:ln/>
        </p:spPr>
        <p:style>
          <a:lnRef idx="2">
            <a:schemeClr val="accent3"/>
          </a:lnRef>
          <a:fillRef idx="1">
            <a:schemeClr val="lt1"/>
          </a:fillRef>
          <a:effectRef idx="0">
            <a:schemeClr val="accent3"/>
          </a:effectRef>
          <a:fontRef idx="minor">
            <a:schemeClr val="dk1"/>
          </a:fontRef>
        </p:style>
        <p:txBody>
          <a:bodyPr lIns="180000" tIns="180000" rIns="180000" bIns="180000" rtlCol="0" anchor="t"/>
          <a:lstStyle/>
          <a:p>
            <a:pPr algn="l">
              <a:spcAft>
                <a:spcPts val="800"/>
              </a:spcAft>
            </a:pPr>
            <a:r>
              <a:rPr lang="en-US" sz="1200" b="1" noProof="0" dirty="0">
                <a:solidFill>
                  <a:schemeClr val="tx2"/>
                </a:solidFill>
                <a:latin typeface="Nunito Sans ExtraBold"/>
              </a:rPr>
              <a:t>1 - Middle East escalation and energy</a:t>
            </a:r>
            <a:endParaRPr lang="en-US" sz="1200" noProof="0" dirty="0">
              <a:solidFill>
                <a:schemeClr val="tx2"/>
              </a:solidFill>
            </a:endParaRPr>
          </a:p>
          <a:p>
            <a:pPr algn="l">
              <a:spcAft>
                <a:spcPts val="800"/>
              </a:spcAft>
            </a:pPr>
            <a:r>
              <a:rPr lang="en-US" sz="1100" b="0" noProof="0" dirty="0">
                <a:solidFill>
                  <a:srgbClr val="202945"/>
                </a:solidFill>
                <a:latin typeface="Nunito Sans"/>
              </a:rPr>
              <a:t>The latest escalation is pushing energy prices higher, dampening global growth on top of weaker macro data in the US and China. We expect it settled and energy prices moderating towards the end of Q3.</a:t>
            </a:r>
          </a:p>
          <a:p>
            <a:pPr>
              <a:spcAft>
                <a:spcPts val="800"/>
              </a:spcAft>
            </a:pPr>
            <a:r>
              <a:rPr lang="en-US" sz="1200" b="0" noProof="0" dirty="0">
                <a:solidFill>
                  <a:schemeClr val="tx2"/>
                </a:solidFill>
                <a:latin typeface="Nunito Sans ExtraBold"/>
              </a:rPr>
              <a:t>Strait of Hormuz to reopen</a:t>
            </a:r>
          </a:p>
        </p:txBody>
      </p:sp>
      <p:sp>
        <p:nvSpPr>
          <p:cNvPr id="5" name="Rectangle">
            <a:extLst>
              <a:ext uri="{FF2B5EF4-FFF2-40B4-BE49-F238E27FC236}">
                <a16:creationId xmlns:a16="http://schemas.microsoft.com/office/drawing/2014/main" id="{749238CC-59D3-5013-88EF-20D717F51A0B}"/>
              </a:ext>
            </a:extLst>
          </p:cNvPr>
          <p:cNvSpPr/>
          <p:nvPr/>
        </p:nvSpPr>
        <p:spPr>
          <a:xfrm>
            <a:off x="5466000" y="2412000"/>
            <a:ext cx="4560000" cy="1900000"/>
          </a:xfrm>
          <a:prstGeom prst="rect">
            <a:avLst/>
          </a:prstGeom>
          <a:ln/>
        </p:spPr>
        <p:style>
          <a:lnRef idx="2">
            <a:schemeClr val="accent3"/>
          </a:lnRef>
          <a:fillRef idx="1">
            <a:schemeClr val="lt1"/>
          </a:fillRef>
          <a:effectRef idx="0">
            <a:schemeClr val="accent3"/>
          </a:effectRef>
          <a:fontRef idx="minor">
            <a:schemeClr val="dk1"/>
          </a:fontRef>
        </p:style>
        <p:txBody>
          <a:bodyPr lIns="180000" tIns="180000" rIns="180000" bIns="180000" rtlCol="0" anchor="t"/>
          <a:lstStyle/>
          <a:p>
            <a:pPr algn="l">
              <a:spcAft>
                <a:spcPts val="800"/>
              </a:spcAft>
            </a:pPr>
            <a:r>
              <a:rPr lang="en-US" sz="1200" b="1" noProof="0" dirty="0">
                <a:solidFill>
                  <a:schemeClr val="tx2"/>
                </a:solidFill>
                <a:latin typeface="Nunito Sans ExtraBold"/>
              </a:rPr>
              <a:t>2 - Central banks pulling apart</a:t>
            </a:r>
          </a:p>
          <a:p>
            <a:pPr algn="l">
              <a:spcAft>
                <a:spcPts val="800"/>
              </a:spcAft>
            </a:pPr>
            <a:r>
              <a:rPr lang="en-US" sz="1100" b="0" noProof="0" dirty="0">
                <a:solidFill>
                  <a:srgbClr val="202945"/>
                </a:solidFill>
                <a:latin typeface="Nunito Sans"/>
              </a:rPr>
              <a:t>Latest CPI prints mostly confirmed the first energy surge's price spikes are over and pipeline pressure has abated, but the new escalation is interrupting that trend and lifting inflation expectations.</a:t>
            </a:r>
          </a:p>
          <a:p>
            <a:pPr>
              <a:spcAft>
                <a:spcPts val="800"/>
              </a:spcAft>
            </a:pPr>
            <a:r>
              <a:rPr lang="en-US" sz="1200" b="0" noProof="0" dirty="0">
                <a:solidFill>
                  <a:schemeClr val="tx2"/>
                </a:solidFill>
                <a:latin typeface="Nunito Sans ExtraBold"/>
              </a:rPr>
              <a:t>ECB and BoJ to hike in H2</a:t>
            </a:r>
          </a:p>
        </p:txBody>
      </p:sp>
      <p:sp>
        <p:nvSpPr>
          <p:cNvPr id="6" name="Rectangle">
            <a:extLst>
              <a:ext uri="{FF2B5EF4-FFF2-40B4-BE49-F238E27FC236}">
                <a16:creationId xmlns:a16="http://schemas.microsoft.com/office/drawing/2014/main" id="{A2C086E3-257D-A53C-CCD1-B3F95AF36B55}"/>
              </a:ext>
            </a:extLst>
          </p:cNvPr>
          <p:cNvSpPr/>
          <p:nvPr/>
        </p:nvSpPr>
        <p:spPr>
          <a:xfrm>
            <a:off x="666000" y="4512000"/>
            <a:ext cx="4560000" cy="1900000"/>
          </a:xfrm>
          <a:prstGeom prst="rect">
            <a:avLst/>
          </a:prstGeom>
          <a:ln/>
        </p:spPr>
        <p:style>
          <a:lnRef idx="2">
            <a:schemeClr val="accent3"/>
          </a:lnRef>
          <a:fillRef idx="1">
            <a:schemeClr val="lt1"/>
          </a:fillRef>
          <a:effectRef idx="0">
            <a:schemeClr val="accent3"/>
          </a:effectRef>
          <a:fontRef idx="minor">
            <a:schemeClr val="dk1"/>
          </a:fontRef>
        </p:style>
        <p:txBody>
          <a:bodyPr lIns="180000" tIns="180000" rIns="180000" bIns="180000" rtlCol="0" anchor="t"/>
          <a:lstStyle/>
          <a:p>
            <a:pPr algn="l">
              <a:spcAft>
                <a:spcPts val="800"/>
              </a:spcAft>
            </a:pPr>
            <a:r>
              <a:rPr lang="en-US" sz="1200" b="1" noProof="0" dirty="0">
                <a:solidFill>
                  <a:schemeClr val="tx2"/>
                </a:solidFill>
                <a:latin typeface="Nunito Sans ExtraBold"/>
              </a:rPr>
              <a:t>3 - Earnings still doing the work</a:t>
            </a:r>
          </a:p>
          <a:p>
            <a:pPr algn="l">
              <a:spcAft>
                <a:spcPts val="800"/>
              </a:spcAft>
            </a:pPr>
            <a:r>
              <a:rPr lang="en-US" sz="1100" b="0" noProof="0" dirty="0">
                <a:solidFill>
                  <a:srgbClr val="202945"/>
                </a:solidFill>
                <a:latin typeface="Nunito Sans"/>
              </a:rPr>
              <a:t>AI investment continues to support earnings growth, participation is broadening across sectors and regions, margins remain near record highs and management confidence is resilient.</a:t>
            </a:r>
          </a:p>
          <a:p>
            <a:pPr>
              <a:spcAft>
                <a:spcPts val="800"/>
              </a:spcAft>
            </a:pPr>
            <a:r>
              <a:rPr lang="en-US" sz="1200" b="0" noProof="0" dirty="0">
                <a:solidFill>
                  <a:schemeClr val="tx2"/>
                </a:solidFill>
                <a:latin typeface="Nunito Sans ExtraBold"/>
              </a:rPr>
              <a:t>Key risk: higher real yields</a:t>
            </a:r>
          </a:p>
        </p:txBody>
      </p:sp>
      <p:sp>
        <p:nvSpPr>
          <p:cNvPr id="7" name="Rectangle">
            <a:extLst>
              <a:ext uri="{FF2B5EF4-FFF2-40B4-BE49-F238E27FC236}">
                <a16:creationId xmlns:a16="http://schemas.microsoft.com/office/drawing/2014/main" id="{9E4D0E42-696C-1786-596E-D9D78E9E6D5D}"/>
              </a:ext>
            </a:extLst>
          </p:cNvPr>
          <p:cNvSpPr/>
          <p:nvPr/>
        </p:nvSpPr>
        <p:spPr>
          <a:xfrm>
            <a:off x="5466000" y="4512000"/>
            <a:ext cx="4560000" cy="1900000"/>
          </a:xfrm>
          <a:prstGeom prst="rect">
            <a:avLst/>
          </a:prstGeom>
          <a:ln/>
        </p:spPr>
        <p:style>
          <a:lnRef idx="2">
            <a:schemeClr val="accent3"/>
          </a:lnRef>
          <a:fillRef idx="1">
            <a:schemeClr val="lt1"/>
          </a:fillRef>
          <a:effectRef idx="0">
            <a:schemeClr val="accent3"/>
          </a:effectRef>
          <a:fontRef idx="minor">
            <a:schemeClr val="dk1"/>
          </a:fontRef>
        </p:style>
        <p:txBody>
          <a:bodyPr lIns="180000" tIns="180000" rIns="180000" bIns="180000" rtlCol="0" anchor="t"/>
          <a:lstStyle/>
          <a:p>
            <a:pPr algn="l">
              <a:spcAft>
                <a:spcPts val="800"/>
              </a:spcAft>
            </a:pPr>
            <a:r>
              <a:rPr lang="en-US" sz="1200" b="1" noProof="0" dirty="0">
                <a:solidFill>
                  <a:schemeClr val="tx2"/>
                </a:solidFill>
                <a:latin typeface="Nunito Sans ExtraBold"/>
              </a:rPr>
              <a:t>4 - Fiscal support against trade friction</a:t>
            </a:r>
          </a:p>
          <a:p>
            <a:pPr algn="l">
              <a:spcAft>
                <a:spcPts val="800"/>
              </a:spcAft>
            </a:pPr>
            <a:r>
              <a:rPr lang="en-US" sz="1100" b="0" noProof="0" dirty="0">
                <a:solidFill>
                  <a:srgbClr val="202945"/>
                </a:solidFill>
                <a:latin typeface="Nunito Sans"/>
              </a:rPr>
              <a:t>Fiscal policy stays expansive in the US, China and Europe, with extra stimulus to cushion the energy shock. Tariffs and the Middle East crisis still hamper trade, though the impacts are fading.</a:t>
            </a:r>
          </a:p>
          <a:p>
            <a:pPr>
              <a:spcAft>
                <a:spcPts val="800"/>
              </a:spcAft>
            </a:pPr>
            <a:r>
              <a:rPr lang="en-US" sz="1200" b="0" noProof="0" dirty="0">
                <a:solidFill>
                  <a:schemeClr val="tx2"/>
                </a:solidFill>
                <a:latin typeface="Nunito Sans ExtraBold"/>
              </a:rPr>
              <a:t>UMCA talks the next test</a:t>
            </a:r>
          </a:p>
        </p:txBody>
      </p:sp>
      <p:sp>
        <p:nvSpPr>
          <p:cNvPr id="8" name="Rectangle">
            <a:extLst>
              <a:ext uri="{FF2B5EF4-FFF2-40B4-BE49-F238E27FC236}">
                <a16:creationId xmlns:a16="http://schemas.microsoft.com/office/drawing/2014/main" id="{3EAC691C-29BB-1B3E-DEF6-0C6751F61EE8}"/>
              </a:ext>
            </a:extLst>
          </p:cNvPr>
          <p:cNvSpPr/>
          <p:nvPr/>
        </p:nvSpPr>
        <p:spPr>
          <a:xfrm>
            <a:off x="666000" y="6612000"/>
            <a:ext cx="9359813" cy="470000"/>
          </a:xfrm>
          <a:prstGeom prst="rect">
            <a:avLst/>
          </a:prstGeom>
          <a:ln/>
        </p:spPr>
        <p:style>
          <a:lnRef idx="2">
            <a:schemeClr val="accent3"/>
          </a:lnRef>
          <a:fillRef idx="1">
            <a:schemeClr val="lt1"/>
          </a:fillRef>
          <a:effectRef idx="0">
            <a:schemeClr val="accent3"/>
          </a:effectRef>
          <a:fontRef idx="minor">
            <a:schemeClr val="dk1"/>
          </a:fontRef>
        </p:style>
        <p:txBody>
          <a:bodyPr lIns="140000" tIns="140000" rIns="140000" bIns="140000" rtlCol="0" anchor="ctr"/>
          <a:lstStyle/>
          <a:p>
            <a:pPr algn="l"/>
            <a:r>
              <a:rPr lang="en-US" sz="1100" b="0" noProof="0" dirty="0">
                <a:solidFill>
                  <a:srgbClr val="202945"/>
                </a:solidFill>
                <a:latin typeface="Nunito Sans"/>
              </a:rPr>
              <a:t>On the policy side: we expect the Fed, the SNB and the Bank of England to hold key rates stable in H2, while the ECB and the Bank of Japan each conduct at least one hike.</a:t>
            </a:r>
          </a:p>
        </p:txBody>
      </p:sp>
      <p:sp>
        <p:nvSpPr>
          <p:cNvPr id="9" name="Text Placeholder 2"/>
          <p:cNvSpPr txBox="1"/>
          <p:nvPr/>
        </p:nvSpPr>
        <p:spPr>
          <a:xfrm>
            <a:off x="665163" y="1728947"/>
            <a:ext cx="9398001" cy="560000"/>
          </a:xfrm>
          <a:prstGeom prst="rect">
            <a:avLst/>
          </a:prstGeom>
          <a:noFill/>
        </p:spPr>
        <p:txBody>
          <a:bodyPr wrap="square" anchor="t" lIns="0" rIns="0" tIns="0" bIns="0">
            <a:spAutoFit/>
          </a:bodyPr>
          <a:lstStyle/>
          <a:p>
            <a:r>
              <a:rPr sz="1200">
                <a:solidFill>
                  <a:srgbClr val="202945"/>
                </a:solidFill>
              </a:rPr>
              <a:t>A renewed Middle East escalation and higher energy prices are the swing factor; central banks split between holding and hiking, while earnings growth and expansive fiscal policy keep the trend positive.</a:t>
            </a:r>
          </a:p>
        </p:txBody>
      </p:sp>
    </p:spTree>
    <p:extLst>
      <p:ext uri="{BB962C8B-B14F-4D97-AF65-F5344CB8AC3E}">
        <p14:creationId xmlns:p14="http://schemas.microsoft.com/office/powerpoint/2010/main" val="2757242596"/>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Our economic scenario</a:t>
            </a:r>
          </a:p>
        </p:txBody>
      </p:sp>
      <p:sp>
        <p:nvSpPr>
          <p:cNvPr id="3" name="Text Placeholder 2"/>
          <p:cNvSpPr>
            <a:spLocks noGrp="1"/>
          </p:cNvSpPr>
          <p:nvPr>
            <p:ph type="body" sz="quarter" idx="14"/>
          </p:nvPr>
        </p:nvSpPr>
        <p:spPr/>
        <p:txBody>
          <a:bodyPr/>
          <a:lstStyle/>
          <a:p>
            <a:r>
              <a:rPr lang="en-US" sz="1200" noProof="0" dirty="0"/>
              <a:t>The house baseline is a resilient global recovery, 'Indian Summer for 2026' at 50% probability, balanced against a 30% inflation-heatwave and a 20% growth-freeze risk scenario.</a:t>
            </a:r>
          </a:p>
        </p:txBody>
      </p:sp>
      <p:sp>
        <p:nvSpPr>
          <p:cNvPr id="4" name="Rectangle 3"/>
          <p:cNvSpPr/>
          <p:nvPr/>
        </p:nvSpPr>
        <p:spPr>
          <a:xfrm>
            <a:off x="666000" y="2592000"/>
            <a:ext cx="2916000" cy="3708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5" name="Rectangle 4"/>
          <p:cNvSpPr/>
          <p:nvPr/>
        </p:nvSpPr>
        <p:spPr>
          <a:xfrm>
            <a:off x="666000" y="2592000"/>
            <a:ext cx="2916000" cy="540000"/>
          </a:xfrm>
          <a:prstGeom prst="rect">
            <a:avLst/>
          </a:prstGeom>
          <a:solidFill>
            <a:srgbClr val="79D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noProof="0" dirty="0">
                <a:solidFill>
                  <a:srgbClr val="FFFFFF"/>
                </a:solidFill>
                <a:latin typeface="Nunito Sans ExtraBold"/>
              </a:rPr>
              <a:t>Growth</a:t>
            </a:r>
          </a:p>
        </p:txBody>
      </p:sp>
      <p:sp>
        <p:nvSpPr>
          <p:cNvPr id="7" name="TextBox 6"/>
          <p:cNvSpPr txBox="1"/>
          <p:nvPr/>
        </p:nvSpPr>
        <p:spPr>
          <a:xfrm>
            <a:off x="846000" y="3276000"/>
            <a:ext cx="2556000" cy="1938992"/>
          </a:xfrm>
          <a:prstGeom prst="rect">
            <a:avLst/>
          </a:prstGeom>
          <a:noFill/>
        </p:spPr>
        <p:txBody>
          <a:bodyPr wrap="square" anchor="t">
            <a:spAutoFit/>
          </a:bodyPr>
          <a:lstStyle/>
          <a:p>
            <a:pPr algn="l">
              <a:spcAft>
                <a:spcPts val="600"/>
              </a:spcAft>
            </a:pPr>
            <a:r>
              <a:rPr lang="en-US" sz="1200" b="0" noProof="0" dirty="0">
                <a:solidFill>
                  <a:srgbClr val="202945"/>
                </a:solidFill>
                <a:latin typeface="Nunito Sans"/>
              </a:rPr>
              <a:t>Global growth is expected to recover from low levels as trade uncertainty eases and investment returns, with the US sustained by balanced fiscal stimulus, re-leveraging and AI productivity gains, the Eurozone grinding toward potential, and China and EM benefiting from less trade uncertainty.</a:t>
            </a:r>
          </a:p>
        </p:txBody>
      </p:sp>
      <p:sp>
        <p:nvSpPr>
          <p:cNvPr id="8" name="Rectangle 7"/>
          <p:cNvSpPr/>
          <p:nvPr/>
        </p:nvSpPr>
        <p:spPr>
          <a:xfrm>
            <a:off x="3941999" y="2592000"/>
            <a:ext cx="2916000" cy="3708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9" name="Rectangle 8"/>
          <p:cNvSpPr/>
          <p:nvPr/>
        </p:nvSpPr>
        <p:spPr>
          <a:xfrm>
            <a:off x="3941999" y="2592000"/>
            <a:ext cx="2916000" cy="540000"/>
          </a:xfrm>
          <a:prstGeom prst="rect">
            <a:avLst/>
          </a:prstGeom>
          <a:solidFill>
            <a:srgbClr val="4B5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noProof="0" dirty="0">
                <a:solidFill>
                  <a:srgbClr val="FFFFFF"/>
                </a:solidFill>
                <a:latin typeface="Nunito Sans ExtraBold"/>
              </a:rPr>
              <a:t>Central Banks</a:t>
            </a:r>
          </a:p>
        </p:txBody>
      </p:sp>
      <p:pic>
        <p:nvPicPr>
          <p:cNvPr id="10" name="Picture 9" descr="ic_centralbanks.png"/>
          <p:cNvPicPr>
            <a:picLocks noChangeAspect="1"/>
          </p:cNvPicPr>
          <p:nvPr/>
        </p:nvPicPr>
        <p:blipFill>
          <a:blip r:embed="rId2"/>
          <a:stretch>
            <a:fillRect/>
          </a:stretch>
        </p:blipFill>
        <p:spPr>
          <a:xfrm>
            <a:off x="4067999" y="2718000"/>
            <a:ext cx="288000" cy="288000"/>
          </a:xfrm>
          <a:prstGeom prst="rect">
            <a:avLst/>
          </a:prstGeom>
        </p:spPr>
      </p:pic>
      <p:sp>
        <p:nvSpPr>
          <p:cNvPr id="11" name="TextBox 10"/>
          <p:cNvSpPr txBox="1"/>
          <p:nvPr/>
        </p:nvSpPr>
        <p:spPr>
          <a:xfrm>
            <a:off x="4121999" y="3276000"/>
            <a:ext cx="2556000" cy="1938992"/>
          </a:xfrm>
          <a:prstGeom prst="rect">
            <a:avLst/>
          </a:prstGeom>
          <a:noFill/>
        </p:spPr>
        <p:txBody>
          <a:bodyPr wrap="square" anchor="t">
            <a:spAutoFit/>
          </a:bodyPr>
          <a:lstStyle/>
          <a:p>
            <a:pPr algn="l">
              <a:spcAft>
                <a:spcPts val="600"/>
              </a:spcAft>
            </a:pPr>
            <a:r>
              <a:rPr lang="en-US" sz="1200" b="0" noProof="0" dirty="0">
                <a:solidFill>
                  <a:srgbClr val="202945"/>
                </a:solidFill>
                <a:latin typeface="Nunito Sans"/>
              </a:rPr>
              <a:t>Inflation should stay broadly calm as regions offset each other, though the US and UK face above-target inflation ahead of Japan, while the Eurozone sees only mild pressure and Switzerland almost none; a key risk is the Fed turning too dovish, falling behind the curve and needing to catch up.</a:t>
            </a:r>
          </a:p>
        </p:txBody>
      </p:sp>
      <p:sp>
        <p:nvSpPr>
          <p:cNvPr id="12" name="Rectangle 11"/>
          <p:cNvSpPr/>
          <p:nvPr/>
        </p:nvSpPr>
        <p:spPr>
          <a:xfrm>
            <a:off x="7218000" y="2592000"/>
            <a:ext cx="2916000" cy="3708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13" name="Rectangle 12"/>
          <p:cNvSpPr/>
          <p:nvPr/>
        </p:nvSpPr>
        <p:spPr>
          <a:xfrm>
            <a:off x="7218000" y="2592000"/>
            <a:ext cx="2916000" cy="540000"/>
          </a:xfrm>
          <a:prstGeom prst="rect">
            <a:avLst/>
          </a:prstGeom>
          <a:solidFill>
            <a:srgbClr val="FFA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noProof="0" dirty="0">
                <a:solidFill>
                  <a:srgbClr val="FFFFFF"/>
                </a:solidFill>
                <a:latin typeface="Nunito Sans ExtraBold"/>
              </a:rPr>
              <a:t>Politics</a:t>
            </a:r>
          </a:p>
        </p:txBody>
      </p:sp>
      <p:pic>
        <p:nvPicPr>
          <p:cNvPr id="14" name="Picture 13" descr="ic_politics.png"/>
          <p:cNvPicPr>
            <a:picLocks noChangeAspect="1"/>
          </p:cNvPicPr>
          <p:nvPr/>
        </p:nvPicPr>
        <p:blipFill>
          <a:blip r:embed="rId3"/>
          <a:stretch>
            <a:fillRect/>
          </a:stretch>
        </p:blipFill>
        <p:spPr>
          <a:xfrm>
            <a:off x="7344000" y="2718000"/>
            <a:ext cx="288000" cy="288000"/>
          </a:xfrm>
          <a:prstGeom prst="rect">
            <a:avLst/>
          </a:prstGeom>
        </p:spPr>
      </p:pic>
      <p:sp>
        <p:nvSpPr>
          <p:cNvPr id="15" name="TextBox 14"/>
          <p:cNvSpPr txBox="1"/>
          <p:nvPr/>
        </p:nvSpPr>
        <p:spPr>
          <a:xfrm>
            <a:off x="7398000" y="3276000"/>
            <a:ext cx="2556000" cy="2123658"/>
          </a:xfrm>
          <a:prstGeom prst="rect">
            <a:avLst/>
          </a:prstGeom>
          <a:noFill/>
        </p:spPr>
        <p:txBody>
          <a:bodyPr wrap="square" anchor="t">
            <a:spAutoFit/>
          </a:bodyPr>
          <a:lstStyle/>
          <a:p>
            <a:pPr algn="l">
              <a:spcAft>
                <a:spcPts val="600"/>
              </a:spcAft>
            </a:pPr>
            <a:r>
              <a:rPr lang="en-US" sz="1200" b="0" noProof="0" dirty="0">
                <a:solidFill>
                  <a:srgbClr val="202945"/>
                </a:solidFill>
                <a:latin typeface="Nunito Sans"/>
              </a:rPr>
              <a:t>The baseline 'Indian Summer' scenario carries a 50% probability, against a 30% 'Inflation Heatwave' risk from fiscal stimulus, re-leveraging, trade-dispute escalation or a geopolitical energy shock, and a 20% 'Growth Freeze' risk from a US AI-capex bust, credit woes, or fiscal austerity returning to the US or France.</a:t>
            </a:r>
          </a:p>
        </p:txBody>
      </p:sp>
      <p:sp>
        <p:nvSpPr>
          <p:cNvPr id="16" name="TextBox 15"/>
          <p:cNvSpPr txBox="1"/>
          <p:nvPr/>
        </p:nvSpPr>
        <p:spPr>
          <a:xfrm>
            <a:off x="666000" y="7128000"/>
            <a:ext cx="8640000" cy="180000"/>
          </a:xfrm>
          <a:prstGeom prst="rect">
            <a:avLst/>
          </a:prstGeom>
          <a:noFill/>
        </p:spPr>
        <p:txBody>
          <a:bodyPr wrap="square" anchor="t">
            <a:spAutoFit/>
          </a:bodyPr>
          <a:lstStyle/>
          <a:p>
            <a:pPr algn="l"/>
            <a:r>
              <a:rPr lang="en-US" sz="900" b="0" noProof="0" dirty="0">
                <a:solidFill>
                  <a:srgbClr val="4B5F80"/>
                </a:solidFill>
                <a:latin typeface="Nunito Sans"/>
              </a:rPr>
              <a:t>SOURCE: SYZ GROUP, DATA AS OF 2026-08-03</a:t>
            </a:r>
          </a:p>
        </p:txBody>
      </p:sp>
      <p:pic>
        <p:nvPicPr>
          <p:cNvPr id="20" name="Graphic 19" descr="Tree With Roots outline">
            <a:extLst>
              <a:ext uri="{FF2B5EF4-FFF2-40B4-BE49-F238E27FC236}">
                <a16:creationId xmlns:a16="http://schemas.microsoft.com/office/drawing/2014/main" id="{8A587CED-7213-5A40-3281-94690FFA0F2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0663" y="2718000"/>
            <a:ext cx="288000" cy="288000"/>
          </a:xfrm>
          <a:prstGeom prst="rect">
            <a:avLst/>
          </a:prstGeom>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Our current investment views</a:t>
            </a:r>
          </a:p>
        </p:txBody>
      </p:sp>
      <p:sp>
        <p:nvSpPr>
          <p:cNvPr id="3" name="Text Placeholder 2"/>
          <p:cNvSpPr>
            <a:spLocks noGrp="1"/>
          </p:cNvSpPr>
          <p:nvPr>
            <p:ph type="body" sz="quarter" idx="14"/>
          </p:nvPr>
        </p:nvSpPr>
        <p:spPr/>
        <p:txBody>
          <a:bodyPr/>
          <a:lstStyle/>
          <a:p>
            <a:r>
              <a:rPr lang="en-US" sz="1200" noProof="0" dirty="0"/>
              <a:t>We stay neutral equities and underweight fixed income, while leaning overweight commodities, gold and the dollar as diversifiers amid rate and geopolitical uncertainty.</a:t>
            </a:r>
          </a:p>
        </p:txBody>
      </p:sp>
      <p:sp>
        <p:nvSpPr>
          <p:cNvPr id="4" name="Rectangle 3"/>
          <p:cNvSpPr/>
          <p:nvPr/>
        </p:nvSpPr>
        <p:spPr>
          <a:xfrm>
            <a:off x="666000" y="2592000"/>
            <a:ext cx="2916000" cy="3708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5" name="Rectangle 4"/>
          <p:cNvSpPr/>
          <p:nvPr/>
        </p:nvSpPr>
        <p:spPr>
          <a:xfrm>
            <a:off x="665163" y="2592000"/>
            <a:ext cx="2916000" cy="540000"/>
          </a:xfrm>
          <a:prstGeom prst="rect">
            <a:avLst/>
          </a:prstGeom>
          <a:solidFill>
            <a:srgbClr val="79D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noProof="0" dirty="0">
                <a:solidFill>
                  <a:srgbClr val="FFFFFF"/>
                </a:solidFill>
                <a:latin typeface="Nunito Sans ExtraBold"/>
              </a:rPr>
              <a:t>Equities</a:t>
            </a:r>
          </a:p>
        </p:txBody>
      </p:sp>
      <p:sp>
        <p:nvSpPr>
          <p:cNvPr id="7" name="TextBox 6"/>
          <p:cNvSpPr txBox="1"/>
          <p:nvPr/>
        </p:nvSpPr>
        <p:spPr>
          <a:xfrm>
            <a:off x="846000" y="3276000"/>
            <a:ext cx="2556000" cy="1569660"/>
          </a:xfrm>
          <a:prstGeom prst="rect">
            <a:avLst/>
          </a:prstGeom>
          <a:noFill/>
        </p:spPr>
        <p:txBody>
          <a:bodyPr wrap="square" anchor="t">
            <a:spAutoFit/>
          </a:bodyPr>
          <a:lstStyle/>
          <a:p>
            <a:pPr algn="l">
              <a:spcAft>
                <a:spcPts val="600"/>
              </a:spcAft>
            </a:pPr>
            <a:r>
              <a:rPr lang="en-US" sz="1200" b="1" noProof="0" dirty="0">
                <a:solidFill>
                  <a:srgbClr val="202945"/>
                </a:solidFill>
                <a:latin typeface="Nunito Sans"/>
              </a:rPr>
              <a:t>Neutral: </a:t>
            </a:r>
            <a:r>
              <a:rPr lang="en-US" sz="1200" b="0" noProof="0" dirty="0">
                <a:solidFill>
                  <a:srgbClr val="202945"/>
                </a:solidFill>
                <a:latin typeface="Nunito Sans"/>
              </a:rPr>
              <a:t>We remain neutral on equities: mixed Magnificent 7 earnings shifted investor focus from AI spending to sustainable monetization, but resilient growth, a healthy labor market and S&amp;P 500 EPS growth above 27% keep the backdrop supportive.</a:t>
            </a:r>
          </a:p>
        </p:txBody>
      </p:sp>
      <p:sp>
        <p:nvSpPr>
          <p:cNvPr id="8" name="Rectangle 7"/>
          <p:cNvSpPr/>
          <p:nvPr/>
        </p:nvSpPr>
        <p:spPr>
          <a:xfrm>
            <a:off x="3941999" y="2592000"/>
            <a:ext cx="2916000" cy="3708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9" name="Rectangle 8"/>
          <p:cNvSpPr/>
          <p:nvPr/>
        </p:nvSpPr>
        <p:spPr>
          <a:xfrm>
            <a:off x="3941999" y="2592000"/>
            <a:ext cx="2916000" cy="540000"/>
          </a:xfrm>
          <a:prstGeom prst="rect">
            <a:avLst/>
          </a:prstGeom>
          <a:solidFill>
            <a:srgbClr val="4B5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noProof="0" dirty="0">
                <a:solidFill>
                  <a:srgbClr val="FFFFFF"/>
                </a:solidFill>
                <a:latin typeface="Nunito Sans ExtraBold"/>
              </a:rPr>
              <a:t>Fixed Income</a:t>
            </a:r>
          </a:p>
        </p:txBody>
      </p:sp>
      <p:sp>
        <p:nvSpPr>
          <p:cNvPr id="11" name="TextBox 10"/>
          <p:cNvSpPr txBox="1"/>
          <p:nvPr/>
        </p:nvSpPr>
        <p:spPr>
          <a:xfrm>
            <a:off x="4121999" y="3276000"/>
            <a:ext cx="2556000" cy="1384995"/>
          </a:xfrm>
          <a:prstGeom prst="rect">
            <a:avLst/>
          </a:prstGeom>
          <a:noFill/>
        </p:spPr>
        <p:txBody>
          <a:bodyPr wrap="square" anchor="t">
            <a:spAutoFit/>
          </a:bodyPr>
          <a:lstStyle/>
          <a:p>
            <a:pPr algn="l">
              <a:spcAft>
                <a:spcPts val="600"/>
              </a:spcAft>
            </a:pPr>
            <a:r>
              <a:rPr lang="en-US" sz="1200" b="1" noProof="0" dirty="0">
                <a:solidFill>
                  <a:srgbClr val="202945"/>
                </a:solidFill>
                <a:latin typeface="Nunito Sans"/>
              </a:rPr>
              <a:t>Underweight: </a:t>
            </a:r>
            <a:r>
              <a:rPr lang="en-US" sz="1200" b="0" noProof="0" dirty="0">
                <a:solidFill>
                  <a:srgbClr val="202945"/>
                </a:solidFill>
                <a:latin typeface="Nunito Sans"/>
              </a:rPr>
              <a:t>We keep an underweight exposure to fixed income as the Fed held rates at 3.50-3.75% with three hawkish dissents, pushing Treasury yields higher, particularly at the long end.</a:t>
            </a:r>
          </a:p>
        </p:txBody>
      </p:sp>
      <p:sp>
        <p:nvSpPr>
          <p:cNvPr id="12" name="Rectangle 11"/>
          <p:cNvSpPr/>
          <p:nvPr/>
        </p:nvSpPr>
        <p:spPr>
          <a:xfrm>
            <a:off x="7218000" y="2592000"/>
            <a:ext cx="2916000" cy="3708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13" name="Rectangle 12"/>
          <p:cNvSpPr/>
          <p:nvPr/>
        </p:nvSpPr>
        <p:spPr>
          <a:xfrm>
            <a:off x="7218000" y="2592000"/>
            <a:ext cx="2916000" cy="540000"/>
          </a:xfrm>
          <a:prstGeom prst="rect">
            <a:avLst/>
          </a:prstGeom>
          <a:solidFill>
            <a:srgbClr val="FFA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noProof="0" dirty="0">
                <a:solidFill>
                  <a:srgbClr val="FFFFFF"/>
                </a:solidFill>
                <a:latin typeface="Nunito Sans ExtraBold"/>
              </a:rPr>
              <a:t>Commodities &amp; Forex</a:t>
            </a:r>
          </a:p>
        </p:txBody>
      </p:sp>
      <p:pic>
        <p:nvPicPr>
          <p:cNvPr id="14" name="Picture 13" descr="ic_forex.png"/>
          <p:cNvPicPr>
            <a:picLocks noChangeAspect="1"/>
          </p:cNvPicPr>
          <p:nvPr/>
        </p:nvPicPr>
        <p:blipFill>
          <a:blip r:embed="rId2"/>
          <a:stretch>
            <a:fillRect/>
          </a:stretch>
        </p:blipFill>
        <p:spPr>
          <a:xfrm>
            <a:off x="7344000" y="2718000"/>
            <a:ext cx="288000" cy="288000"/>
          </a:xfrm>
          <a:prstGeom prst="rect">
            <a:avLst/>
          </a:prstGeom>
        </p:spPr>
      </p:pic>
      <p:sp>
        <p:nvSpPr>
          <p:cNvPr id="15" name="TextBox 14"/>
          <p:cNvSpPr txBox="1"/>
          <p:nvPr/>
        </p:nvSpPr>
        <p:spPr>
          <a:xfrm>
            <a:off x="7398000" y="3276000"/>
            <a:ext cx="2556000" cy="1015663"/>
          </a:xfrm>
          <a:prstGeom prst="rect">
            <a:avLst/>
          </a:prstGeom>
          <a:noFill/>
        </p:spPr>
        <p:txBody>
          <a:bodyPr wrap="square" anchor="t">
            <a:spAutoFit/>
          </a:bodyPr>
          <a:lstStyle/>
          <a:p>
            <a:pPr algn="l">
              <a:spcAft>
                <a:spcPts val="600"/>
              </a:spcAft>
            </a:pPr>
            <a:r>
              <a:rPr lang="en-US" sz="1200" b="1" noProof="0" dirty="0">
                <a:solidFill>
                  <a:srgbClr val="202945"/>
                </a:solidFill>
                <a:latin typeface="Nunito Sans"/>
              </a:rPr>
              <a:t>Overweight: </a:t>
            </a:r>
            <a:r>
              <a:rPr lang="en-US" sz="1200" b="0" noProof="0" dirty="0">
                <a:solidFill>
                  <a:srgbClr val="202945"/>
                </a:solidFill>
                <a:latin typeface="Nunito Sans"/>
              </a:rPr>
              <a:t>We are overweight commodities and gold as diversifiers, and overweight the dollar against all currencies except the yen, which we hold neutral.</a:t>
            </a:r>
          </a:p>
        </p:txBody>
      </p:sp>
      <p:sp>
        <p:nvSpPr>
          <p:cNvPr id="16" name="TextBox 15"/>
          <p:cNvSpPr txBox="1"/>
          <p:nvPr/>
        </p:nvSpPr>
        <p:spPr>
          <a:xfrm>
            <a:off x="666000" y="7128000"/>
            <a:ext cx="8640000" cy="180000"/>
          </a:xfrm>
          <a:prstGeom prst="rect">
            <a:avLst/>
          </a:prstGeom>
          <a:noFill/>
        </p:spPr>
        <p:txBody>
          <a:bodyPr wrap="square" anchor="t">
            <a:spAutoFit/>
          </a:bodyPr>
          <a:lstStyle/>
          <a:p>
            <a:pPr algn="l"/>
            <a:r>
              <a:rPr lang="en-US" sz="900" b="0" noProof="0" dirty="0">
                <a:solidFill>
                  <a:srgbClr val="4B5F80"/>
                </a:solidFill>
                <a:latin typeface="Nunito Sans"/>
              </a:rPr>
              <a:t>SOURCE: SYZ GROUP, DATA AS OF 2026-08-03</a:t>
            </a:r>
          </a:p>
        </p:txBody>
      </p:sp>
      <p:pic>
        <p:nvPicPr>
          <p:cNvPr id="24" name="Graphic 23" descr="Greek Pillar with solid fill">
            <a:extLst>
              <a:ext uri="{FF2B5EF4-FFF2-40B4-BE49-F238E27FC236}">
                <a16:creationId xmlns:a16="http://schemas.microsoft.com/office/drawing/2014/main" id="{561FF4CC-AE27-478D-9BD1-3F9794D8FF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44540" y="2718000"/>
            <a:ext cx="288000" cy="288000"/>
          </a:xfrm>
          <a:prstGeom prst="rect">
            <a:avLst/>
          </a:prstGeom>
        </p:spPr>
      </p:pic>
      <p:pic>
        <p:nvPicPr>
          <p:cNvPr id="30" name="Picture 29" descr="ic_growth.png">
            <a:extLst>
              <a:ext uri="{FF2B5EF4-FFF2-40B4-BE49-F238E27FC236}">
                <a16:creationId xmlns:a16="http://schemas.microsoft.com/office/drawing/2014/main" id="{48D50A56-40A2-B2A7-B950-3849EF03ACA3}"/>
              </a:ext>
            </a:extLst>
          </p:cNvPr>
          <p:cNvPicPr>
            <a:picLocks noChangeAspect="1"/>
          </p:cNvPicPr>
          <p:nvPr/>
        </p:nvPicPr>
        <p:blipFill>
          <a:blip r:embed="rId4"/>
          <a:stretch>
            <a:fillRect/>
          </a:stretch>
        </p:blipFill>
        <p:spPr>
          <a:xfrm>
            <a:off x="792000" y="2718000"/>
            <a:ext cx="288000" cy="288000"/>
          </a:xfrm>
          <a:prstGeom prst="rect">
            <a:avLst/>
          </a:prstGeom>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FD6BD-4166-40EA-7DD5-C66FF6B266A2}"/>
            </a:ext>
          </a:extLst>
        </p:cNvPr>
        <p:cNvGrpSpPr/>
        <p:nvPr/>
      </p:nvGrpSpPr>
      <p:grpSpPr>
        <a:xfrm>
          <a:off x="0" y="0"/>
          <a:ext cx="0" cy="0"/>
          <a:chOff x="0" y="0"/>
          <a:chExt cx="0" cy="0"/>
        </a:xfrm>
      </p:grpSpPr>
      <p:pic>
        <p:nvPicPr>
          <p:cNvPr id="2" name="Picture Placeholder 1">
            <a:extLst>
              <a:ext uri="{FF2B5EF4-FFF2-40B4-BE49-F238E27FC236}">
                <a16:creationId xmlns:a16="http://schemas.microsoft.com/office/drawing/2014/main" id="{468DEDCF-AA30-BEB8-0B9C-124EEB1C086A}"/>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7" r="7"/>
          <a:stretch/>
        </p:blipFill>
        <p:spPr/>
      </p:pic>
      <p:sp>
        <p:nvSpPr>
          <p:cNvPr id="3" name="Text Placeholder 2">
            <a:extLst>
              <a:ext uri="{FF2B5EF4-FFF2-40B4-BE49-F238E27FC236}">
                <a16:creationId xmlns:a16="http://schemas.microsoft.com/office/drawing/2014/main" id="{55A31BB9-02A7-BAD5-63FF-AB21526670CD}"/>
              </a:ext>
            </a:extLst>
          </p:cNvPr>
          <p:cNvSpPr>
            <a:spLocks noGrp="1"/>
          </p:cNvSpPr>
          <p:nvPr>
            <p:ph type="body" sz="quarter" idx="20"/>
          </p:nvPr>
        </p:nvSpPr>
        <p:spPr>
          <a:solidFill>
            <a:srgbClr val="FFDA99"/>
          </a:solidFill>
        </p:spPr>
        <p:txBody>
          <a:bodyPr vert="horz" lIns="72000" tIns="0" rIns="72000" bIns="0" rtlCol="0" anchor="ctr" anchorCtr="0">
            <a:noAutofit/>
          </a:bodyPr>
          <a:lstStyle/>
          <a:p>
            <a:r>
              <a:rPr lang="en-US" sz="1100" noProof="0" dirty="0">
                <a:solidFill>
                  <a:srgbClr val="FFFFFF"/>
                </a:solidFill>
                <a:latin typeface="Nunito Sans ExtraBold"/>
              </a:rPr>
              <a:t>Markets</a:t>
            </a:r>
            <a:r>
              <a:rPr lang="en-US" noProof="0" dirty="0">
                <a:solidFill>
                  <a:srgbClr val="FFFFFF"/>
                </a:solidFill>
                <a:latin typeface="Nunito Sans ExtraBold"/>
              </a:rPr>
              <a:t> this week</a:t>
            </a:r>
          </a:p>
        </p:txBody>
      </p:sp>
      <p:sp>
        <p:nvSpPr>
          <p:cNvPr id="4" name="Text Placeholder 3">
            <a:extLst>
              <a:ext uri="{FF2B5EF4-FFF2-40B4-BE49-F238E27FC236}">
                <a16:creationId xmlns:a16="http://schemas.microsoft.com/office/drawing/2014/main" id="{24B4E312-D773-94BB-A385-11E67C030D96}"/>
              </a:ext>
            </a:extLst>
          </p:cNvPr>
          <p:cNvSpPr>
            <a:spLocks noGrp="1"/>
          </p:cNvSpPr>
          <p:nvPr>
            <p:ph type="body" sz="quarter" idx="21"/>
          </p:nvPr>
        </p:nvSpPr>
        <p:spPr>
          <a:solidFill>
            <a:srgbClr val="FFA400"/>
          </a:solidFill>
        </p:spPr>
        <p:txBody>
          <a:bodyPr vert="horz" lIns="72000" tIns="0" rIns="72000" bIns="0" rtlCol="0" anchor="ctr" anchorCtr="0">
            <a:noAutofit/>
          </a:bodyPr>
          <a:lstStyle/>
          <a:p>
            <a:r>
              <a:rPr lang="en-US" noProof="0" dirty="0">
                <a:solidFill>
                  <a:srgbClr val="FFFFFF"/>
                </a:solidFill>
                <a:latin typeface="Nunito Sans ExtraBold"/>
              </a:rPr>
              <a:t>Investment proposal</a:t>
            </a:r>
          </a:p>
        </p:txBody>
      </p:sp>
      <p:sp>
        <p:nvSpPr>
          <p:cNvPr id="8" name="Text Placeholder 7">
            <a:extLst>
              <a:ext uri="{FF2B5EF4-FFF2-40B4-BE49-F238E27FC236}">
                <a16:creationId xmlns:a16="http://schemas.microsoft.com/office/drawing/2014/main" id="{01E0E275-FA6A-860C-8836-EEEEF39381DA}"/>
              </a:ext>
            </a:extLst>
          </p:cNvPr>
          <p:cNvSpPr>
            <a:spLocks noGrp="1"/>
          </p:cNvSpPr>
          <p:nvPr>
            <p:ph type="body" sz="quarter" idx="25"/>
          </p:nvPr>
        </p:nvSpPr>
        <p:spPr/>
        <p:txBody>
          <a:bodyPr/>
          <a:lstStyle/>
          <a:p>
            <a:r>
              <a:rPr lang="en-US" b="1" noProof="0" dirty="0">
                <a:solidFill>
                  <a:srgbClr val="FF8300"/>
                </a:solidFill>
                <a:latin typeface="Nunito Sans ExtraBold"/>
              </a:rPr>
              <a:t>01</a:t>
            </a:r>
          </a:p>
        </p:txBody>
      </p:sp>
      <p:sp>
        <p:nvSpPr>
          <p:cNvPr id="9" name="Text Placeholder 8">
            <a:extLst>
              <a:ext uri="{FF2B5EF4-FFF2-40B4-BE49-F238E27FC236}">
                <a16:creationId xmlns:a16="http://schemas.microsoft.com/office/drawing/2014/main" id="{BD73B4D2-7895-FFA4-BA54-3CAC28863593}"/>
              </a:ext>
            </a:extLst>
          </p:cNvPr>
          <p:cNvSpPr>
            <a:spLocks noGrp="1"/>
          </p:cNvSpPr>
          <p:nvPr>
            <p:ph type="body" sz="quarter" idx="26"/>
          </p:nvPr>
        </p:nvSpPr>
        <p:spPr/>
        <p:txBody>
          <a:bodyPr/>
          <a:lstStyle/>
          <a:p>
            <a:r>
              <a:rPr lang="en-US" b="1" noProof="0" dirty="0">
                <a:solidFill>
                  <a:srgbClr val="FFA400"/>
                </a:solidFill>
                <a:latin typeface="Nunito Sans ExtraBold"/>
              </a:rPr>
              <a:t>02</a:t>
            </a:r>
          </a:p>
        </p:txBody>
      </p:sp>
      <p:sp>
        <p:nvSpPr>
          <p:cNvPr id="19" name="TextBox 18">
            <a:extLst>
              <a:ext uri="{FF2B5EF4-FFF2-40B4-BE49-F238E27FC236}">
                <a16:creationId xmlns:a16="http://schemas.microsoft.com/office/drawing/2014/main" id="{006B0C6F-A80E-A893-6F0B-97C6D628D981}"/>
              </a:ext>
            </a:extLst>
          </p:cNvPr>
          <p:cNvSpPr txBox="1"/>
          <p:nvPr/>
        </p:nvSpPr>
        <p:spPr>
          <a:xfrm>
            <a:off x="869950" y="1619250"/>
            <a:ext cx="0" cy="0"/>
          </a:xfrm>
          <a:prstGeom prst="rect">
            <a:avLst/>
          </a:prstGeom>
          <a:noFill/>
        </p:spPr>
        <p:txBody>
          <a:bodyPr vert="horz" wrap="none" lIns="0" tIns="0" rIns="0" bIns="0" rtlCol="0">
            <a:noAutofit/>
          </a:bodyPr>
          <a:lstStyle/>
          <a:p>
            <a:pPr algn="l"/>
            <a:endParaRPr lang="en-US" sz="1400" noProof="0" dirty="0"/>
          </a:p>
        </p:txBody>
      </p:sp>
      <p:sp>
        <p:nvSpPr>
          <p:cNvPr id="20" name="TextBox 19">
            <a:extLst>
              <a:ext uri="{FF2B5EF4-FFF2-40B4-BE49-F238E27FC236}">
                <a16:creationId xmlns:a16="http://schemas.microsoft.com/office/drawing/2014/main" id="{C27B70A2-B2CB-3873-3285-4C99162A6D25}"/>
              </a:ext>
            </a:extLst>
          </p:cNvPr>
          <p:cNvSpPr txBox="1"/>
          <p:nvPr/>
        </p:nvSpPr>
        <p:spPr>
          <a:xfrm>
            <a:off x="1289050" y="1574800"/>
            <a:ext cx="0" cy="0"/>
          </a:xfrm>
          <a:prstGeom prst="rect">
            <a:avLst/>
          </a:prstGeom>
          <a:noFill/>
        </p:spPr>
        <p:txBody>
          <a:bodyPr vert="horz" wrap="none" lIns="0" tIns="0" rIns="0" bIns="0" rtlCol="0">
            <a:noAutofit/>
          </a:bodyPr>
          <a:lstStyle/>
          <a:p>
            <a:pPr algn="l"/>
            <a:endParaRPr lang="en-US" sz="1400" noProof="0" dirty="0"/>
          </a:p>
        </p:txBody>
      </p:sp>
    </p:spTree>
    <p:extLst>
      <p:ext uri="{BB962C8B-B14F-4D97-AF65-F5344CB8AC3E}">
        <p14:creationId xmlns:p14="http://schemas.microsoft.com/office/powerpoint/2010/main" val="3220082781"/>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E26B7-F78B-77A1-92E8-3EBF9FAB8A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816A33-1372-8816-CDD2-BED29A8D38FF}"/>
              </a:ext>
            </a:extLst>
          </p:cNvPr>
          <p:cNvSpPr>
            <a:spLocks noGrp="1"/>
          </p:cNvSpPr>
          <p:nvPr>
            <p:ph type="title"/>
          </p:nvPr>
        </p:nvSpPr>
        <p:spPr/>
        <p:txBody>
          <a:bodyPr/>
          <a:lstStyle/>
          <a:p>
            <a:r>
              <a:rPr lang="en-US" noProof="0" dirty="0"/>
              <a:t>Portfolio strategies across the (risk - return) trade-off</a:t>
            </a:r>
          </a:p>
        </p:txBody>
      </p:sp>
      <p:sp>
        <p:nvSpPr>
          <p:cNvPr id="3" name="Text Placeholder 2">
            <a:extLst>
              <a:ext uri="{FF2B5EF4-FFF2-40B4-BE49-F238E27FC236}">
                <a16:creationId xmlns:a16="http://schemas.microsoft.com/office/drawing/2014/main" id="{DB548BFB-6075-9740-A83E-86FBABA9382C}"/>
              </a:ext>
            </a:extLst>
          </p:cNvPr>
          <p:cNvSpPr>
            <a:spLocks noGrp="1"/>
          </p:cNvSpPr>
          <p:nvPr>
            <p:ph type="body" sz="quarter" idx="14"/>
          </p:nvPr>
        </p:nvSpPr>
        <p:spPr>
          <a:xfrm>
            <a:off x="665163" y="1658949"/>
            <a:ext cx="9398001" cy="251511"/>
          </a:xfrm>
        </p:spPr>
        <p:txBody>
          <a:bodyPr/>
          <a:lstStyle/>
          <a:p>
            <a:r>
              <a:rPr lang="en-US" sz="1400" noProof="0" dirty="0"/>
              <a:t>Different risk profiles map to distinct portfolio allocations along the risk/return curve.</a:t>
            </a:r>
          </a:p>
        </p:txBody>
      </p:sp>
      <p:sp>
        <p:nvSpPr>
          <p:cNvPr id="24" name="TextBox 23">
            <a:extLst>
              <a:ext uri="{FF2B5EF4-FFF2-40B4-BE49-F238E27FC236}">
                <a16:creationId xmlns:a16="http://schemas.microsoft.com/office/drawing/2014/main" id="{4C6DF09E-DD1C-3F3A-A1E1-D53E344FFC03}"/>
              </a:ext>
            </a:extLst>
          </p:cNvPr>
          <p:cNvSpPr txBox="1"/>
          <p:nvPr/>
        </p:nvSpPr>
        <p:spPr>
          <a:xfrm>
            <a:off x="1872000" y="6660000"/>
            <a:ext cx="6660000" cy="307777"/>
          </a:xfrm>
          <a:prstGeom prst="rect">
            <a:avLst/>
          </a:prstGeom>
          <a:noFill/>
        </p:spPr>
        <p:txBody>
          <a:bodyPr wrap="square" anchor="t">
            <a:spAutoFit/>
          </a:bodyPr>
          <a:lstStyle/>
          <a:p>
            <a:pPr algn="ctr"/>
            <a:r>
              <a:rPr lang="en-US" sz="1400" b="1" noProof="0" dirty="0">
                <a:solidFill>
                  <a:srgbClr val="202945"/>
                </a:solidFill>
                <a:latin typeface="Nunito Sans ExtraBold"/>
              </a:rPr>
              <a:t>Proposed profile for this portfolio: Growth - 83% in growth assets</a:t>
            </a:r>
          </a:p>
        </p:txBody>
      </p:sp>
      <p:graphicFrame>
        <p:nvGraphicFramePr>
          <p:cNvPr id="45" name="Table 44">
            <a:extLst>
              <a:ext uri="{FF2B5EF4-FFF2-40B4-BE49-F238E27FC236}">
                <a16:creationId xmlns:a16="http://schemas.microsoft.com/office/drawing/2014/main" id="{A791B544-12B1-C5EE-15F0-3FFE100386AC}"/>
              </a:ext>
            </a:extLst>
          </p:cNvPr>
          <p:cNvGraphicFramePr>
            <a:graphicFrameLocks noGrp="1"/>
          </p:cNvGraphicFramePr>
          <p:nvPr>
            <p:custDataLst>
              <p:tags r:id="rId1"/>
            </p:custDataLst>
            <p:extLst>
              <p:ext uri="{D42A27DB-BD31-4B8C-83A1-F6EECF244321}">
                <p14:modId xmlns:p14="http://schemas.microsoft.com/office/powerpoint/2010/main" val="1679185425"/>
              </p:ext>
            </p:extLst>
          </p:nvPr>
        </p:nvGraphicFramePr>
        <p:xfrm>
          <a:off x="665163" y="2957816"/>
          <a:ext cx="4624169" cy="3094920"/>
        </p:xfrm>
        <a:graphic>
          <a:graphicData uri="http://schemas.openxmlformats.org/drawingml/2006/table">
            <a:tbl>
              <a:tblPr firstRow="1" firstCol="1" bandRow="1"/>
              <a:tblGrid>
                <a:gridCol w="1891789">
                  <a:extLst>
                    <a:ext uri="{9D8B030D-6E8A-4147-A177-3AD203B41FA5}">
                      <a16:colId xmlns:a16="http://schemas.microsoft.com/office/drawing/2014/main" val="626646253"/>
                    </a:ext>
                  </a:extLst>
                </a:gridCol>
                <a:gridCol w="2732380">
                  <a:extLst>
                    <a:ext uri="{9D8B030D-6E8A-4147-A177-3AD203B41FA5}">
                      <a16:colId xmlns:a16="http://schemas.microsoft.com/office/drawing/2014/main" val="1205080223"/>
                    </a:ext>
                  </a:extLst>
                </a:gridCol>
              </a:tblGrid>
              <a:tr h="166910">
                <a:tc gridSpan="2">
                  <a:txBody>
                    <a:bodyPr/>
                    <a:lstStyle/>
                    <a:p>
                      <a:pPr algn="ctr"/>
                      <a:endParaRPr lang="en-US" sz="1100" b="1" noProof="0" dirty="0">
                        <a:solidFill>
                          <a:srgbClr val="FFFFFF"/>
                        </a:solidFill>
                        <a:latin typeface="+mn-lt"/>
                      </a:endParaRPr>
                    </a:p>
                    <a:p>
                      <a:pPr algn="ctr"/>
                      <a:r>
                        <a:rPr lang="en-US" sz="1100" b="1" noProof="0" dirty="0">
                          <a:solidFill>
                            <a:srgbClr val="FFFFFF"/>
                          </a:solidFill>
                          <a:latin typeface="+mn-lt"/>
                        </a:rPr>
                        <a:t>Investment characteristics</a:t>
                      </a:r>
                    </a:p>
                    <a:p>
                      <a:pPr algn="ctr"/>
                      <a:endParaRPr lang="en-US" sz="1100" b="1" noProof="0" dirty="0">
                        <a:solidFill>
                          <a:srgbClr val="FFFFFF"/>
                        </a:solidFill>
                        <a:latin typeface="+mn-lt"/>
                      </a:endParaRPr>
                    </a:p>
                  </a:txBody>
                  <a:tcPr marL="0" marR="0" marT="0" marB="0">
                    <a:lnL>
                      <a:noFill/>
                    </a:lnL>
                    <a:lnR>
                      <a:noFill/>
                    </a:lnR>
                    <a:lnT>
                      <a:noFill/>
                    </a:lnT>
                    <a:lnB>
                      <a:noFill/>
                    </a:lnB>
                    <a:solidFill>
                      <a:schemeClr val="tx2"/>
                    </a:solidFill>
                  </a:tcPr>
                </a:tc>
                <a:tc hMerge="1">
                  <a:txBody>
                    <a:bodyPr/>
                    <a:lstStyle/>
                    <a:p>
                      <a:endParaRPr/>
                    </a:p>
                  </a:txBody>
                  <a:tcPr marL="0" marR="0" marT="0" marB="0" anchor="ctr">
                    <a:lnL>
                      <a:noFill/>
                    </a:lnL>
                    <a:lnR>
                      <a:noFill/>
                    </a:lnR>
                    <a:lnT>
                      <a:noFill/>
                    </a:lnT>
                    <a:lnB>
                      <a:noFill/>
                    </a:lnB>
                    <a:solidFill>
                      <a:schemeClr val="tx2"/>
                    </a:solidFill>
                  </a:tcPr>
                </a:tc>
                <a:extLst>
                  <a:ext uri="{0D108BD9-81ED-4DB2-BD59-A6C34878D82A}">
                    <a16:rowId xmlns:a16="http://schemas.microsoft.com/office/drawing/2014/main" val="2096398645"/>
                  </a:ext>
                </a:extLst>
              </a:tr>
              <a:tr h="432000">
                <a:tc>
                  <a:txBody>
                    <a:bodyPr/>
                    <a:lstStyle/>
                    <a:p>
                      <a:r>
                        <a:rPr lang="en-US" sz="1100" b="1" noProof="0" dirty="0">
                          <a:solidFill>
                            <a:schemeClr val="tx2"/>
                          </a:solidFill>
                          <a:latin typeface="+mn-lt"/>
                        </a:rPr>
                        <a:t>Financial profile</a:t>
                      </a:r>
                    </a:p>
                  </a:txBody>
                  <a:tcPr marL="0" marR="0" marT="33034" marB="33034" anchor="ctr">
                    <a:lnL>
                      <a:noFill/>
                    </a:lnL>
                    <a:lnR>
                      <a:noFill/>
                    </a:lnR>
                    <a:lnT>
                      <a:noFill/>
                    </a:lnT>
                    <a:lnB w="12700" cap="flat" cmpd="sng" algn="ctr">
                      <a:solidFill>
                        <a:srgbClr val="51555E"/>
                      </a:solidFill>
                      <a:prstDash val="solid"/>
                      <a:round/>
                      <a:headEnd type="none" w="med" len="med"/>
                      <a:tailEnd type="none" w="med" len="med"/>
                    </a:lnB>
                    <a:solidFill>
                      <a:srgbClr val="FFFFFF"/>
                    </a:solidFill>
                  </a:tcPr>
                </a:tc>
                <a:tc>
                  <a:txBody>
                    <a:bodyPr/>
                    <a:lstStyle/>
                    <a:p>
                      <a:r>
                        <a:rPr lang="en-US" sz="1100" noProof="0" dirty="0">
                          <a:solidFill>
                            <a:schemeClr val="tx2"/>
                          </a:solidFill>
                          <a:latin typeface="+mn-lt"/>
                        </a:rPr>
                        <a:t>Professional</a:t>
                      </a:r>
                    </a:p>
                  </a:txBody>
                  <a:tcPr marL="62591" marR="62591" marT="33034" marB="33034" anchor="ctr">
                    <a:lnL>
                      <a:noFill/>
                    </a:lnL>
                    <a:lnR>
                      <a:noFill/>
                    </a:lnR>
                    <a:lnT>
                      <a:noFill/>
                    </a:lnT>
                    <a:lnB w="12700" cap="flat" cmpd="sng" algn="ctr">
                      <a:solidFill>
                        <a:srgbClr val="51555E"/>
                      </a:solidFill>
                      <a:prstDash val="solid"/>
                      <a:round/>
                      <a:headEnd type="none" w="med" len="med"/>
                      <a:tailEnd type="none" w="med" len="med"/>
                    </a:lnB>
                    <a:solidFill>
                      <a:srgbClr val="FFFFFF"/>
                    </a:solidFill>
                  </a:tcPr>
                </a:tc>
                <a:extLst>
                  <a:ext uri="{0D108BD9-81ED-4DB2-BD59-A6C34878D82A}">
                    <a16:rowId xmlns:a16="http://schemas.microsoft.com/office/drawing/2014/main" val="134858508"/>
                  </a:ext>
                </a:extLst>
              </a:tr>
              <a:tr h="432000">
                <a:tc>
                  <a:txBody>
                    <a:bodyPr/>
                    <a:lstStyle/>
                    <a:p>
                      <a:r>
                        <a:rPr lang="en-US" sz="1100" b="1" noProof="0" dirty="0">
                          <a:solidFill>
                            <a:schemeClr val="tx2"/>
                          </a:solidFill>
                          <a:latin typeface="+mn-lt"/>
                        </a:rPr>
                        <a:t>Investment horizon</a:t>
                      </a:r>
                    </a:p>
                  </a:txBody>
                  <a:tcPr marL="0" marR="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tc>
                  <a:txBody>
                    <a:bodyPr wrap="square"/>
                    <a:lstStyle/>
                    <a:p>
                      <a:pPr algn="l"/>
                      <a:r>
                        <a:rPr lang="en-US" sz="1000" noProof="0" dirty="0" b="0">
                          <a:solidFill>
                            <a:srgbClr val="202945"/>
                          </a:solidFill>
                          <a:latin typeface="+mn-lt"/>
                        </a:rPr>
                        <a:t>Long term (7 to 12 years)</a:t>
                      </a:r>
                    </a:p>
                  </a:txBody>
                  <a:tcPr marL="45720" marR="4572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noFill/>
                  </a:tcPr>
                </a:tc>
                <a:extLst>
                  <a:ext uri="{0D108BD9-81ED-4DB2-BD59-A6C34878D82A}">
                    <a16:rowId xmlns:a16="http://schemas.microsoft.com/office/drawing/2014/main" val="1797003612"/>
                  </a:ext>
                </a:extLst>
              </a:tr>
              <a:tr h="432000">
                <a:tc>
                  <a:txBody>
                    <a:bodyPr/>
                    <a:lstStyle/>
                    <a:p>
                      <a:r>
                        <a:rPr lang="en-US" sz="1100" b="1" noProof="0" dirty="0">
                          <a:solidFill>
                            <a:schemeClr val="tx2"/>
                          </a:solidFill>
                          <a:latin typeface="+mn-lt"/>
                        </a:rPr>
                        <a:t>Reference of currency</a:t>
                      </a:r>
                    </a:p>
                  </a:txBody>
                  <a:tcPr marL="0" marR="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tc>
                  <a:txBody>
                    <a:bodyPr wrap="square"/>
                    <a:lstStyle/>
                    <a:p>
                      <a:pPr algn="l"/>
                      <a:r>
                        <a:rPr lang="en-US" sz="1000" noProof="0" dirty="0" b="0">
                          <a:solidFill>
                            <a:srgbClr val="202945"/>
                          </a:solidFill>
                          <a:latin typeface="+mn-lt"/>
                        </a:rPr>
                        <a:t>EUR</a:t>
                      </a:r>
                    </a:p>
                  </a:txBody>
                  <a:tcPr marL="45720" marR="4572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noFill/>
                  </a:tcPr>
                </a:tc>
                <a:extLst>
                  <a:ext uri="{0D108BD9-81ED-4DB2-BD59-A6C34878D82A}">
                    <a16:rowId xmlns:a16="http://schemas.microsoft.com/office/drawing/2014/main" val="3583574982"/>
                  </a:ext>
                </a:extLst>
              </a:tr>
              <a:tr h="432000">
                <a:tc>
                  <a:txBody>
                    <a:bodyPr/>
                    <a:lstStyle/>
                    <a:p>
                      <a:r>
                        <a:rPr lang="en-US" sz="1100" b="1" noProof="0" dirty="0">
                          <a:solidFill>
                            <a:schemeClr val="tx2"/>
                          </a:solidFill>
                          <a:latin typeface="+mn-lt"/>
                        </a:rPr>
                        <a:t>Risk level</a:t>
                      </a:r>
                    </a:p>
                  </a:txBody>
                  <a:tcPr marL="0" marR="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tc>
                  <a:txBody>
                    <a:bodyPr wrap="square"/>
                    <a:lstStyle/>
                    <a:p>
                      <a:pPr algn="l"/>
                      <a:r>
                        <a:rPr lang="en-US" sz="1000" noProof="0" dirty="0" b="0">
                          <a:solidFill>
                            <a:srgbClr val="202945"/>
                          </a:solidFill>
                          <a:latin typeface="+mn-lt"/>
                        </a:rPr>
                        <a:t>Growth</a:t>
                      </a:r>
                    </a:p>
                  </a:txBody>
                  <a:tcPr marL="45720" marR="4572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noFill/>
                  </a:tcPr>
                </a:tc>
                <a:extLst>
                  <a:ext uri="{0D108BD9-81ED-4DB2-BD59-A6C34878D82A}">
                    <a16:rowId xmlns:a16="http://schemas.microsoft.com/office/drawing/2014/main" val="257386133"/>
                  </a:ext>
                </a:extLst>
              </a:tr>
              <a:tr h="432000">
                <a:tc>
                  <a:txBody>
                    <a:bodyPr/>
                    <a:lstStyle/>
                    <a:p>
                      <a:r>
                        <a:rPr lang="en-US" sz="1100" b="1" noProof="0" dirty="0">
                          <a:solidFill>
                            <a:schemeClr val="tx2"/>
                          </a:solidFill>
                          <a:latin typeface="+mn-lt"/>
                        </a:rPr>
                        <a:t>Geographic exposure</a:t>
                      </a:r>
                    </a:p>
                  </a:txBody>
                  <a:tcPr marL="0" marR="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tc>
                  <a:txBody>
                    <a:bodyPr/>
                    <a:lstStyle/>
                    <a:p>
                      <a:r>
                        <a:rPr lang="en-US" sz="1100" noProof="0" dirty="0">
                          <a:solidFill>
                            <a:schemeClr val="tx2"/>
                          </a:solidFill>
                          <a:latin typeface="+mn-lt"/>
                        </a:rPr>
                        <a:t>Global </a:t>
                      </a:r>
                    </a:p>
                  </a:txBody>
                  <a:tcPr marL="62591" marR="62591"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extLst>
                  <a:ext uri="{0D108BD9-81ED-4DB2-BD59-A6C34878D82A}">
                    <a16:rowId xmlns:a16="http://schemas.microsoft.com/office/drawing/2014/main" val="1713467916"/>
                  </a:ext>
                </a:extLst>
              </a:tr>
              <a:tr h="432000">
                <a:tc>
                  <a:txBody>
                    <a:bodyPr/>
                    <a:lstStyle/>
                    <a:p>
                      <a:r>
                        <a:rPr lang="en-US" sz="1100" b="1" noProof="0" dirty="0">
                          <a:solidFill>
                            <a:schemeClr val="tx2"/>
                          </a:solidFill>
                          <a:latin typeface="+mn-lt"/>
                        </a:rPr>
                        <a:t>Liquidity needs</a:t>
                      </a:r>
                    </a:p>
                  </a:txBody>
                  <a:tcPr marL="0" marR="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tc>
                  <a:txBody>
                    <a:bodyPr wrap="square"/>
                    <a:lstStyle/>
                    <a:p>
                      <a:pPr algn="l"/>
                      <a:r>
                        <a:rPr lang="en-US" sz="1000" noProof="0" dirty="0" b="0">
                          <a:solidFill>
                            <a:srgbClr val="202945"/>
                          </a:solidFill>
                          <a:latin typeface="+mn-lt"/>
                        </a:rPr>
                        <a:t>Growth priority, distributions opportunistic</a:t>
                      </a:r>
                    </a:p>
                  </a:txBody>
                  <a:tcPr marL="45720" marR="4572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noFill/>
                  </a:tcPr>
                </a:tc>
                <a:extLst>
                  <a:ext uri="{0D108BD9-81ED-4DB2-BD59-A6C34878D82A}">
                    <a16:rowId xmlns:a16="http://schemas.microsoft.com/office/drawing/2014/main" val="1707953171"/>
                  </a:ext>
                </a:extLst>
              </a:tr>
            </a:tbl>
          </a:graphicData>
        </a:graphic>
      </p:graphicFrame>
      <p:sp>
        <p:nvSpPr>
          <p:cNvPr id="44" name="Rectangle 43">
            <a:extLst>
              <a:ext uri="{FF2B5EF4-FFF2-40B4-BE49-F238E27FC236}">
                <a16:creationId xmlns:a16="http://schemas.microsoft.com/office/drawing/2014/main" id="{25147299-2014-29BB-7022-417044840F63}"/>
              </a:ext>
            </a:extLst>
          </p:cNvPr>
          <p:cNvSpPr/>
          <p:nvPr/>
        </p:nvSpPr>
        <p:spPr>
          <a:xfrm rot="1632602">
            <a:off x="3146732" y="2260509"/>
            <a:ext cx="221195" cy="699268"/>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grpSp>
        <p:nvGrpSpPr>
          <p:cNvPr id="4" name="Group 3">
            <a:extLst>
              <a:ext uri="{FF2B5EF4-FFF2-40B4-BE49-F238E27FC236}">
                <a16:creationId xmlns:a16="http://schemas.microsoft.com/office/drawing/2014/main" id="{6CFD0A9B-B72E-E8C9-4088-426391D2FAA2}"/>
              </a:ext>
            </a:extLst>
          </p:cNvPr>
          <p:cNvGrpSpPr/>
          <p:nvPr/>
        </p:nvGrpSpPr>
        <p:grpSpPr>
          <a:xfrm>
            <a:off x="5444003" y="2796693"/>
            <a:ext cx="4616783" cy="3531775"/>
            <a:chOff x="4480140" y="2497249"/>
            <a:chExt cx="5561697" cy="4174403"/>
          </a:xfrm>
        </p:grpSpPr>
        <p:sp>
          <p:nvSpPr>
            <p:cNvPr id="5" name="Freeform 8">
              <a:extLst>
                <a:ext uri="{FF2B5EF4-FFF2-40B4-BE49-F238E27FC236}">
                  <a16:creationId xmlns:a16="http://schemas.microsoft.com/office/drawing/2014/main" id="{E5B3CD17-6A9C-92DA-2837-733BD9F49D1D}"/>
                </a:ext>
              </a:extLst>
            </p:cNvPr>
            <p:cNvSpPr/>
            <p:nvPr/>
          </p:nvSpPr>
          <p:spPr>
            <a:xfrm rot="237914">
              <a:off x="5117674" y="2638881"/>
              <a:ext cx="4500355" cy="3681616"/>
            </a:xfrm>
            <a:custGeom>
              <a:avLst/>
              <a:gdLst>
                <a:gd name="connsiteX0" fmla="*/ 0 w 3687292"/>
                <a:gd name="connsiteY0" fmla="*/ 2599361 h 2599361"/>
                <a:gd name="connsiteX1" fmla="*/ 1098836 w 3687292"/>
                <a:gd name="connsiteY1" fmla="*/ 731520 h 2599361"/>
                <a:gd name="connsiteX2" fmla="*/ 3687292 w 3687292"/>
                <a:gd name="connsiteY2" fmla="*/ 0 h 2599361"/>
              </a:gdLst>
              <a:ahLst/>
              <a:cxnLst>
                <a:cxn ang="0">
                  <a:pos x="connsiteX0" y="connsiteY0"/>
                </a:cxn>
                <a:cxn ang="0">
                  <a:pos x="connsiteX1" y="connsiteY1"/>
                </a:cxn>
                <a:cxn ang="0">
                  <a:pos x="connsiteX2" y="connsiteY2"/>
                </a:cxn>
              </a:cxnLst>
              <a:rect l="l" t="t" r="r" b="b"/>
              <a:pathLst>
                <a:path w="3687292" h="2599361">
                  <a:moveTo>
                    <a:pt x="0" y="2599361"/>
                  </a:moveTo>
                  <a:cubicBezTo>
                    <a:pt x="294249" y="1763505"/>
                    <a:pt x="484287" y="1164747"/>
                    <a:pt x="1098836" y="731520"/>
                  </a:cubicBezTo>
                  <a:cubicBezTo>
                    <a:pt x="1713385" y="298293"/>
                    <a:pt x="2710759" y="125437"/>
                    <a:pt x="3687292" y="0"/>
                  </a:cubicBezTo>
                </a:path>
              </a:pathLst>
            </a:custGeom>
            <a:ln w="38100">
              <a:solidFill>
                <a:srgbClr val="4B5F8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2" noProof="0" dirty="0"/>
            </a:p>
          </p:txBody>
        </p:sp>
        <p:cxnSp>
          <p:nvCxnSpPr>
            <p:cNvPr id="6" name="Straight Arrow Connector 5">
              <a:extLst>
                <a:ext uri="{FF2B5EF4-FFF2-40B4-BE49-F238E27FC236}">
                  <a16:creationId xmlns:a16="http://schemas.microsoft.com/office/drawing/2014/main" id="{618DD1DB-926F-C580-39BB-124C2DE2316C}"/>
                </a:ext>
              </a:extLst>
            </p:cNvPr>
            <p:cNvCxnSpPr/>
            <p:nvPr/>
          </p:nvCxnSpPr>
          <p:spPr>
            <a:xfrm>
              <a:off x="4785395" y="6345375"/>
              <a:ext cx="5215319" cy="826"/>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7" name="Straight Arrow Connector 6">
              <a:extLst>
                <a:ext uri="{FF2B5EF4-FFF2-40B4-BE49-F238E27FC236}">
                  <a16:creationId xmlns:a16="http://schemas.microsoft.com/office/drawing/2014/main" id="{14181C86-9A76-BB0C-4650-DCB01AE1526D}"/>
                </a:ext>
              </a:extLst>
            </p:cNvPr>
            <p:cNvCxnSpPr/>
            <p:nvPr/>
          </p:nvCxnSpPr>
          <p:spPr>
            <a:xfrm rot="5400000" flipH="1" flipV="1">
              <a:off x="2861086" y="4425468"/>
              <a:ext cx="3848617" cy="82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8" name="TextBox 7">
              <a:extLst>
                <a:ext uri="{FF2B5EF4-FFF2-40B4-BE49-F238E27FC236}">
                  <a16:creationId xmlns:a16="http://schemas.microsoft.com/office/drawing/2014/main" id="{42514A0D-D3DF-2EB7-5004-9406B693DFB0}"/>
                </a:ext>
              </a:extLst>
            </p:cNvPr>
            <p:cNvSpPr txBox="1"/>
            <p:nvPr/>
          </p:nvSpPr>
          <p:spPr>
            <a:xfrm>
              <a:off x="5426023" y="5317198"/>
              <a:ext cx="1431323" cy="279200"/>
            </a:xfrm>
            <a:prstGeom prst="rect">
              <a:avLst/>
            </a:prstGeom>
            <a:noFill/>
          </p:spPr>
          <p:txBody>
            <a:bodyPr wrap="none" rtlCol="0">
              <a:spAutoFit/>
            </a:bodyPr>
            <a:lstStyle/>
            <a:p>
              <a:pPr>
                <a:lnSpc>
                  <a:spcPct val="80000"/>
                </a:lnSpc>
              </a:pPr>
              <a:r>
                <a:rPr lang="en-US" sz="1100" b="0" noProof="0" dirty="0">
                  <a:solidFill>
                    <a:srgbClr val="3AB7C8"/>
                  </a:solidFill>
                  <a:latin typeface="Nunito Sans" pitchFamily="2" charset="77"/>
                  <a:cs typeface="Arial" panose="020B0604020202020204" pitchFamily="34" charset="0"/>
                </a:rPr>
                <a:t>FIXED INCOME</a:t>
              </a:r>
            </a:p>
          </p:txBody>
        </p:sp>
        <p:sp>
          <p:nvSpPr>
            <p:cNvPr id="9" name="Oval 8">
              <a:extLst>
                <a:ext uri="{FF2B5EF4-FFF2-40B4-BE49-F238E27FC236}">
                  <a16:creationId xmlns:a16="http://schemas.microsoft.com/office/drawing/2014/main" id="{36EAD43D-CC1E-AC08-BE7F-F179862BC750}"/>
                </a:ext>
              </a:extLst>
            </p:cNvPr>
            <p:cNvSpPr>
              <a:spLocks noChangeAspect="1"/>
            </p:cNvSpPr>
            <p:nvPr/>
          </p:nvSpPr>
          <p:spPr>
            <a:xfrm>
              <a:off x="5175959" y="5248074"/>
              <a:ext cx="250065" cy="250065"/>
            </a:xfrm>
            <a:prstGeom prst="ellipse">
              <a:avLst/>
            </a:prstGeom>
            <a:solidFill>
              <a:srgbClr val="3AB7C8"/>
            </a:solidFill>
            <a:ln w="38100">
              <a:solidFill>
                <a:schemeClr val="bg1"/>
              </a:solidFill>
            </a:ln>
            <a:effectLst>
              <a:outerShdw blurRad="127000"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14" noProof="0" dirty="0">
                <a:latin typeface="Lucida Sans" panose="020B0602030504020204" pitchFamily="34" charset="77"/>
              </a:endParaRPr>
            </a:p>
          </p:txBody>
        </p:sp>
        <p:sp>
          <p:nvSpPr>
            <p:cNvPr id="10" name="Oval 9">
              <a:extLst>
                <a:ext uri="{FF2B5EF4-FFF2-40B4-BE49-F238E27FC236}">
                  <a16:creationId xmlns:a16="http://schemas.microsoft.com/office/drawing/2014/main" id="{ADB02C24-75FC-FA33-3B10-0D7DD79DCC31}"/>
                </a:ext>
              </a:extLst>
            </p:cNvPr>
            <p:cNvSpPr>
              <a:spLocks noChangeAspect="1"/>
            </p:cNvSpPr>
            <p:nvPr/>
          </p:nvSpPr>
          <p:spPr>
            <a:xfrm>
              <a:off x="5373995" y="4721043"/>
              <a:ext cx="250065" cy="250065"/>
            </a:xfrm>
            <a:prstGeom prst="ellipse">
              <a:avLst/>
            </a:prstGeom>
            <a:solidFill>
              <a:srgbClr val="3AB7C8"/>
            </a:solidFill>
            <a:ln w="38100">
              <a:solidFill>
                <a:schemeClr val="bg1"/>
              </a:solidFill>
            </a:ln>
            <a:effectLst>
              <a:outerShdw blurRad="127000"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14" noProof="0" dirty="0">
                <a:latin typeface="Lucida Sans" panose="020B0602030504020204" pitchFamily="34" charset="77"/>
              </a:endParaRPr>
            </a:p>
          </p:txBody>
        </p:sp>
        <p:sp>
          <p:nvSpPr>
            <p:cNvPr id="11" name="TextBox 10">
              <a:extLst>
                <a:ext uri="{FF2B5EF4-FFF2-40B4-BE49-F238E27FC236}">
                  <a16:creationId xmlns:a16="http://schemas.microsoft.com/office/drawing/2014/main" id="{E2126030-A0FA-8F48-87FB-FCBF27640D5C}"/>
                </a:ext>
              </a:extLst>
            </p:cNvPr>
            <p:cNvSpPr txBox="1"/>
            <p:nvPr/>
          </p:nvSpPr>
          <p:spPr>
            <a:xfrm>
              <a:off x="5624061" y="4770120"/>
              <a:ext cx="1551050" cy="279200"/>
            </a:xfrm>
            <a:prstGeom prst="rect">
              <a:avLst/>
            </a:prstGeom>
            <a:noFill/>
          </p:spPr>
          <p:txBody>
            <a:bodyPr wrap="none" rtlCol="0">
              <a:spAutoFit/>
            </a:bodyPr>
            <a:lstStyle/>
            <a:p>
              <a:pPr>
                <a:lnSpc>
                  <a:spcPct val="80000"/>
                </a:lnSpc>
              </a:pPr>
              <a:r>
                <a:rPr lang="en-US" sz="1100" b="0" noProof="0" dirty="0">
                  <a:solidFill>
                    <a:srgbClr val="3AB7C8"/>
                  </a:solidFill>
                  <a:latin typeface="Nunito Sans" pitchFamily="2" charset="77"/>
                  <a:cs typeface="Arial" panose="020B0604020202020204" pitchFamily="34" charset="0"/>
                </a:rPr>
                <a:t>CONSERVATIVE</a:t>
              </a:r>
            </a:p>
          </p:txBody>
        </p:sp>
        <p:sp>
          <p:nvSpPr>
            <p:cNvPr id="12" name="Oval 11">
              <a:extLst>
                <a:ext uri="{FF2B5EF4-FFF2-40B4-BE49-F238E27FC236}">
                  <a16:creationId xmlns:a16="http://schemas.microsoft.com/office/drawing/2014/main" id="{2E04DCB5-3A89-D93B-749D-99192A526990}"/>
                </a:ext>
              </a:extLst>
            </p:cNvPr>
            <p:cNvSpPr>
              <a:spLocks noChangeAspect="1"/>
            </p:cNvSpPr>
            <p:nvPr/>
          </p:nvSpPr>
          <p:spPr>
            <a:xfrm>
              <a:off x="6023467" y="3761984"/>
              <a:ext cx="250065" cy="250065"/>
            </a:xfrm>
            <a:prstGeom prst="ellipse">
              <a:avLst/>
            </a:prstGeom>
            <a:solidFill>
              <a:srgbClr val="3AB7C8"/>
            </a:solidFill>
            <a:ln w="38100">
              <a:solidFill>
                <a:schemeClr val="bg1"/>
              </a:solidFill>
            </a:ln>
            <a:effectLst>
              <a:outerShdw blurRad="127000"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14" noProof="0" dirty="0">
                <a:latin typeface="Lucida Sans" panose="020B0602030504020204" pitchFamily="34" charset="77"/>
              </a:endParaRPr>
            </a:p>
          </p:txBody>
        </p:sp>
        <p:sp>
          <p:nvSpPr>
            <p:cNvPr id="13" name="TextBox 12">
              <a:extLst>
                <a:ext uri="{FF2B5EF4-FFF2-40B4-BE49-F238E27FC236}">
                  <a16:creationId xmlns:a16="http://schemas.microsoft.com/office/drawing/2014/main" id="{60E24EAE-6792-70B8-E4DB-1DB0379EC696}"/>
                </a:ext>
              </a:extLst>
            </p:cNvPr>
            <p:cNvSpPr txBox="1"/>
            <p:nvPr/>
          </p:nvSpPr>
          <p:spPr>
            <a:xfrm>
              <a:off x="6271665" y="3862427"/>
              <a:ext cx="1284561" cy="294660"/>
            </a:xfrm>
            <a:prstGeom prst="rect">
              <a:avLst/>
            </a:prstGeom>
            <a:noFill/>
          </p:spPr>
          <p:txBody>
            <a:bodyPr wrap="none" rtlCol="0">
              <a:spAutoFit/>
            </a:bodyPr>
            <a:p>
              <a:r>
                <a:rPr lang="en-US" sz="1100" noProof="0" dirty="0" b="0">
                  <a:solidFill>
                    <a:srgbClr val="3AB7C8"/>
                  </a:solidFill>
                </a:rPr>
                <a:t>MODERATE</a:t>
              </a:r>
            </a:p>
          </p:txBody>
        </p:sp>
        <p:sp>
          <p:nvSpPr>
            <p:cNvPr id="14" name="Oval 13">
              <a:extLst>
                <a:ext uri="{FF2B5EF4-FFF2-40B4-BE49-F238E27FC236}">
                  <a16:creationId xmlns:a16="http://schemas.microsoft.com/office/drawing/2014/main" id="{16B9A5A3-905E-08D8-E7A7-4FCD79C96669}"/>
                </a:ext>
              </a:extLst>
            </p:cNvPr>
            <p:cNvSpPr>
              <a:spLocks noChangeAspect="1"/>
            </p:cNvSpPr>
            <p:nvPr/>
          </p:nvSpPr>
          <p:spPr>
            <a:xfrm>
              <a:off x="7723577" y="2871594"/>
              <a:ext cx="340000" cy="340000"/>
            </a:xfrm>
            <a:prstGeom prst="ellipse">
              <a:avLst/>
            </a:prstGeom>
            <a:solidFill>
              <a:srgbClr val="FFA400"/>
            </a:solidFill>
            <a:ln w="38100">
              <a:solidFill>
                <a:schemeClr val="bg1"/>
              </a:solidFill>
            </a:ln>
            <a:effectLst>
              <a:outerShdw blurRad="127000"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14" noProof="0" dirty="0">
                <a:latin typeface="Lucida Sans" panose="020B0602030504020204" pitchFamily="34" charset="77"/>
              </a:endParaRPr>
            </a:p>
          </p:txBody>
        </p:sp>
        <p:sp>
          <p:nvSpPr>
            <p:cNvPr id="15" name="TextBox 14">
              <a:extLst>
                <a:ext uri="{FF2B5EF4-FFF2-40B4-BE49-F238E27FC236}">
                  <a16:creationId xmlns:a16="http://schemas.microsoft.com/office/drawing/2014/main" id="{EBB12ADF-B4E8-15A7-72C8-9DA61CF02AEA}"/>
                </a:ext>
              </a:extLst>
            </p:cNvPr>
            <p:cNvSpPr txBox="1"/>
            <p:nvPr/>
          </p:nvSpPr>
          <p:spPr>
            <a:xfrm>
              <a:off x="7989012" y="3068680"/>
              <a:ext cx="1023864" cy="279200"/>
            </a:xfrm>
            <a:prstGeom prst="rect">
              <a:avLst/>
            </a:prstGeom>
            <a:noFill/>
          </p:spPr>
          <p:txBody>
            <a:bodyPr wrap="none" rtlCol="0">
              <a:spAutoFit/>
            </a:bodyPr>
            <a:lstStyle/>
            <a:p>
              <a:pPr>
                <a:lnSpc>
                  <a:spcPct val="80000"/>
                </a:lnSpc>
              </a:pPr>
              <a:r>
                <a:rPr lang="en-US" sz="1200" b="1" noProof="0" dirty="0">
                  <a:solidFill>
                    <a:srgbClr val="FFA400"/>
                  </a:solidFill>
                  <a:latin typeface="Nunito Sans" pitchFamily="2" charset="77"/>
                  <a:cs typeface="Arial" panose="020B0604020202020204" pitchFamily="34" charset="0"/>
                </a:rPr>
                <a:t>GROWTH</a:t>
              </a:r>
            </a:p>
          </p:txBody>
        </p:sp>
        <p:sp>
          <p:nvSpPr>
            <p:cNvPr id="16" name="Oval 15">
              <a:extLst>
                <a:ext uri="{FF2B5EF4-FFF2-40B4-BE49-F238E27FC236}">
                  <a16:creationId xmlns:a16="http://schemas.microsoft.com/office/drawing/2014/main" id="{E18D1864-FFE9-147D-0F57-70D6A5EEA523}"/>
                </a:ext>
              </a:extLst>
            </p:cNvPr>
            <p:cNvSpPr>
              <a:spLocks noChangeAspect="1"/>
            </p:cNvSpPr>
            <p:nvPr/>
          </p:nvSpPr>
          <p:spPr>
            <a:xfrm>
              <a:off x="8912633" y="2735238"/>
              <a:ext cx="250065" cy="250065"/>
            </a:xfrm>
            <a:prstGeom prst="ellipse">
              <a:avLst/>
            </a:prstGeom>
            <a:solidFill>
              <a:srgbClr val="3AB7C8"/>
            </a:solidFill>
            <a:ln w="38100">
              <a:solidFill>
                <a:schemeClr val="bg1"/>
              </a:solidFill>
            </a:ln>
            <a:effectLst>
              <a:outerShdw blurRad="127000"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14" noProof="0" dirty="0">
                <a:latin typeface="Lucida Sans" panose="020B0602030504020204" pitchFamily="34" charset="77"/>
              </a:endParaRPr>
            </a:p>
          </p:txBody>
        </p:sp>
        <p:sp>
          <p:nvSpPr>
            <p:cNvPr id="17" name="TextBox 16">
              <a:extLst>
                <a:ext uri="{FF2B5EF4-FFF2-40B4-BE49-F238E27FC236}">
                  <a16:creationId xmlns:a16="http://schemas.microsoft.com/office/drawing/2014/main" id="{80CD1FA2-7A97-AB01-D37A-48E0AA53D1A0}"/>
                </a:ext>
              </a:extLst>
            </p:cNvPr>
            <p:cNvSpPr txBox="1"/>
            <p:nvPr/>
          </p:nvSpPr>
          <p:spPr>
            <a:xfrm>
              <a:off x="9122739" y="2918083"/>
              <a:ext cx="842341" cy="279200"/>
            </a:xfrm>
            <a:prstGeom prst="rect">
              <a:avLst/>
            </a:prstGeom>
            <a:noFill/>
          </p:spPr>
          <p:txBody>
            <a:bodyPr wrap="none" rtlCol="0">
              <a:spAutoFit/>
            </a:bodyPr>
            <a:lstStyle/>
            <a:p>
              <a:pPr>
                <a:lnSpc>
                  <a:spcPct val="80000"/>
                </a:lnSpc>
              </a:pPr>
              <a:r>
                <a:rPr lang="en-US" sz="1100" b="0" noProof="0" dirty="0">
                  <a:solidFill>
                    <a:srgbClr val="3AB7C8"/>
                  </a:solidFill>
                  <a:latin typeface="Nunito Sans" pitchFamily="2" charset="77"/>
                  <a:cs typeface="Arial" panose="020B0604020202020204" pitchFamily="34" charset="0"/>
                </a:rPr>
                <a:t>EQUITY</a:t>
              </a:r>
            </a:p>
          </p:txBody>
        </p:sp>
        <p:sp>
          <p:nvSpPr>
            <p:cNvPr id="18" name="Oval 17">
              <a:extLst>
                <a:ext uri="{FF2B5EF4-FFF2-40B4-BE49-F238E27FC236}">
                  <a16:creationId xmlns:a16="http://schemas.microsoft.com/office/drawing/2014/main" id="{F633C10A-7421-E27C-79FC-AA1DB2E8ADF9}"/>
                </a:ext>
              </a:extLst>
            </p:cNvPr>
            <p:cNvSpPr>
              <a:spLocks noChangeAspect="1"/>
            </p:cNvSpPr>
            <p:nvPr/>
          </p:nvSpPr>
          <p:spPr>
            <a:xfrm>
              <a:off x="6912287" y="3187851"/>
              <a:ext cx="250065" cy="250065"/>
            </a:xfrm>
            <a:prstGeom prst="ellipse">
              <a:avLst/>
            </a:prstGeom>
            <a:solidFill>
              <a:srgbClr val="3AB7C8"/>
            </a:solidFill>
            <a:ln w="38100">
              <a:solidFill>
                <a:schemeClr val="bg1"/>
              </a:solidFill>
            </a:ln>
            <a:effectLst>
              <a:outerShdw blurRad="127000"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14" noProof="0" dirty="0">
                <a:latin typeface="Lucida Sans" panose="020B0602030504020204" pitchFamily="34" charset="77"/>
              </a:endParaRPr>
            </a:p>
          </p:txBody>
        </p:sp>
        <p:sp>
          <p:nvSpPr>
            <p:cNvPr id="19" name="TextBox 18">
              <a:extLst>
                <a:ext uri="{FF2B5EF4-FFF2-40B4-BE49-F238E27FC236}">
                  <a16:creationId xmlns:a16="http://schemas.microsoft.com/office/drawing/2014/main" id="{650FD01B-830E-054C-4111-4E9EF544765C}"/>
                </a:ext>
              </a:extLst>
            </p:cNvPr>
            <p:cNvSpPr txBox="1"/>
            <p:nvPr/>
          </p:nvSpPr>
          <p:spPr>
            <a:xfrm>
              <a:off x="7068085" y="3491334"/>
              <a:ext cx="1160970" cy="279200"/>
            </a:xfrm>
            <a:prstGeom prst="rect">
              <a:avLst/>
            </a:prstGeom>
            <a:noFill/>
          </p:spPr>
          <p:txBody>
            <a:bodyPr wrap="none" rtlCol="0">
              <a:spAutoFit/>
            </a:bodyPr>
            <a:p>
              <a:r>
                <a:rPr lang="en-US" sz="1100" noProof="0" dirty="0" b="0">
                  <a:solidFill>
                    <a:srgbClr val="3AB7C8"/>
                  </a:solidFill>
                </a:rPr>
                <a:t>BALANCED</a:t>
              </a:r>
            </a:p>
          </p:txBody>
        </p:sp>
        <p:sp>
          <p:nvSpPr>
            <p:cNvPr id="20" name="Rectangle 19">
              <a:extLst>
                <a:ext uri="{FF2B5EF4-FFF2-40B4-BE49-F238E27FC236}">
                  <a16:creationId xmlns:a16="http://schemas.microsoft.com/office/drawing/2014/main" id="{599FC8E0-0A76-616D-7F2E-7F53A1CA777D}"/>
                </a:ext>
              </a:extLst>
            </p:cNvPr>
            <p:cNvSpPr/>
            <p:nvPr/>
          </p:nvSpPr>
          <p:spPr>
            <a:xfrm rot="16200000">
              <a:off x="4274695" y="2702694"/>
              <a:ext cx="726043" cy="315154"/>
            </a:xfrm>
            <a:prstGeom prst="rect">
              <a:avLst/>
            </a:prstGeom>
          </p:spPr>
          <p:txBody>
            <a:bodyPr wrap="none">
              <a:spAutoFit/>
            </a:bodyPr>
            <a:lstStyle/>
            <a:p>
              <a:pPr algn="ctr"/>
              <a:r>
                <a:rPr lang="en-US" sz="1100" noProof="0" dirty="0">
                  <a:solidFill>
                    <a:schemeClr val="tx2"/>
                  </a:solidFill>
                  <a:latin typeface="Nunito Sans" pitchFamily="2" charset="77"/>
                  <a:cs typeface="Arial" panose="020B0604020202020204" pitchFamily="34" charset="0"/>
                </a:rPr>
                <a:t>Return</a:t>
              </a:r>
            </a:p>
          </p:txBody>
        </p:sp>
        <p:sp>
          <p:nvSpPr>
            <p:cNvPr id="21" name="Rectangle 20">
              <a:extLst>
                <a:ext uri="{FF2B5EF4-FFF2-40B4-BE49-F238E27FC236}">
                  <a16:creationId xmlns:a16="http://schemas.microsoft.com/office/drawing/2014/main" id="{F4C1B45D-8DE0-CCCF-6416-324D0D828911}"/>
                </a:ext>
              </a:extLst>
            </p:cNvPr>
            <p:cNvSpPr/>
            <p:nvPr/>
          </p:nvSpPr>
          <p:spPr>
            <a:xfrm>
              <a:off x="9131908" y="6362440"/>
              <a:ext cx="909929" cy="309212"/>
            </a:xfrm>
            <a:prstGeom prst="rect">
              <a:avLst/>
            </a:prstGeom>
          </p:spPr>
          <p:txBody>
            <a:bodyPr wrap="none">
              <a:spAutoFit/>
            </a:bodyPr>
            <a:lstStyle/>
            <a:p>
              <a:pPr algn="ctr"/>
              <a:r>
                <a:rPr lang="en-US" sz="1100" noProof="0" dirty="0">
                  <a:solidFill>
                    <a:schemeClr val="tx2"/>
                  </a:solidFill>
                  <a:latin typeface="Nunito Sans" pitchFamily="2" charset="77"/>
                  <a:cs typeface="Arial" panose="020B0604020202020204" pitchFamily="34" charset="0"/>
                </a:rPr>
                <a:t>Volatility</a:t>
              </a:r>
            </a:p>
          </p:txBody>
        </p:sp>
      </p:grpSp>
      <p:sp>
        <p:nvSpPr>
          <p:cNvPr id="49" name="Rectangle: Rounded Corners 48">
            <a:extLst>
              <a:ext uri="{FF2B5EF4-FFF2-40B4-BE49-F238E27FC236}">
                <a16:creationId xmlns:a16="http://schemas.microsoft.com/office/drawing/2014/main" id="{9136CC6D-6251-8098-4B2D-EC31FBFF2C40}"/>
              </a:ext>
            </a:extLst>
          </p:cNvPr>
          <p:cNvSpPr/>
          <p:nvPr/>
        </p:nvSpPr>
        <p:spPr>
          <a:xfrm>
            <a:off x="2643627" y="2770311"/>
            <a:ext cx="784860" cy="282814"/>
          </a:xfrm>
          <a:prstGeom prst="roundRect">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52" name="Rectangle 29">
            <a:extLst>
              <a:ext uri="{FF2B5EF4-FFF2-40B4-BE49-F238E27FC236}">
                <a16:creationId xmlns:a16="http://schemas.microsoft.com/office/drawing/2014/main" id="{461A1599-74CC-00D0-2C70-9D37C2F38668}"/>
              </a:ext>
            </a:extLst>
          </p:cNvPr>
          <p:cNvSpPr/>
          <p:nvPr/>
        </p:nvSpPr>
        <p:spPr>
          <a:xfrm rot="20031575">
            <a:off x="2744786" y="2216727"/>
            <a:ext cx="261097" cy="852224"/>
          </a:xfrm>
          <a:custGeom>
            <a:avLst/>
            <a:gdLst>
              <a:gd name="connsiteX0" fmla="*/ 0 w 205740"/>
              <a:gd name="connsiteY0" fmla="*/ 0 h 930514"/>
              <a:gd name="connsiteX1" fmla="*/ 205740 w 205740"/>
              <a:gd name="connsiteY1" fmla="*/ 0 h 930514"/>
              <a:gd name="connsiteX2" fmla="*/ 205740 w 205740"/>
              <a:gd name="connsiteY2" fmla="*/ 930514 h 930514"/>
              <a:gd name="connsiteX3" fmla="*/ 0 w 205740"/>
              <a:gd name="connsiteY3" fmla="*/ 930514 h 930514"/>
              <a:gd name="connsiteX4" fmla="*/ 0 w 205740"/>
              <a:gd name="connsiteY4" fmla="*/ 0 h 930514"/>
              <a:gd name="connsiteX0" fmla="*/ 0 w 233608"/>
              <a:gd name="connsiteY0" fmla="*/ 0 h 1012096"/>
              <a:gd name="connsiteX1" fmla="*/ 205740 w 233608"/>
              <a:gd name="connsiteY1" fmla="*/ 0 h 1012096"/>
              <a:gd name="connsiteX2" fmla="*/ 233608 w 233608"/>
              <a:gd name="connsiteY2" fmla="*/ 1012096 h 1012096"/>
              <a:gd name="connsiteX3" fmla="*/ 0 w 233608"/>
              <a:gd name="connsiteY3" fmla="*/ 930514 h 1012096"/>
              <a:gd name="connsiteX4" fmla="*/ 0 w 233608"/>
              <a:gd name="connsiteY4" fmla="*/ 0 h 1012096"/>
              <a:gd name="connsiteX0" fmla="*/ 0 w 261097"/>
              <a:gd name="connsiteY0" fmla="*/ 0 h 1042563"/>
              <a:gd name="connsiteX1" fmla="*/ 205740 w 261097"/>
              <a:gd name="connsiteY1" fmla="*/ 0 h 1042563"/>
              <a:gd name="connsiteX2" fmla="*/ 261097 w 261097"/>
              <a:gd name="connsiteY2" fmla="*/ 1042563 h 1042563"/>
              <a:gd name="connsiteX3" fmla="*/ 0 w 261097"/>
              <a:gd name="connsiteY3" fmla="*/ 930514 h 1042563"/>
              <a:gd name="connsiteX4" fmla="*/ 0 w 261097"/>
              <a:gd name="connsiteY4" fmla="*/ 0 h 1042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097" h="1042563">
                <a:moveTo>
                  <a:pt x="0" y="0"/>
                </a:moveTo>
                <a:lnTo>
                  <a:pt x="205740" y="0"/>
                </a:lnTo>
                <a:lnTo>
                  <a:pt x="261097" y="1042563"/>
                </a:lnTo>
                <a:lnTo>
                  <a:pt x="0" y="930514"/>
                </a:lnTo>
                <a:lnTo>
                  <a:pt x="0" y="0"/>
                </a:lnTo>
                <a:close/>
              </a:path>
            </a:pathLst>
          </a:custGeom>
          <a:solidFill>
            <a:schemeClr val="bg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Tree>
    <p:extLst>
      <p:ext uri="{BB962C8B-B14F-4D97-AF65-F5344CB8AC3E}">
        <p14:creationId xmlns:p14="http://schemas.microsoft.com/office/powerpoint/2010/main" val="257560606"/>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Proposed portfolio: full holdings list</a:t>
            </a:r>
          </a:p>
        </p:txBody>
      </p:sp>
      <p:sp>
        <p:nvSpPr>
          <p:cNvPr id="3" name="Text Placeholder 2"/>
          <p:cNvSpPr txBox="1"/>
          <p:nvPr/>
        </p:nvSpPr>
        <p:spPr>
          <a:xfrm>
            <a:off x="665163" y="1728947"/>
            <a:ext cx="9398001" cy="560000"/>
          </a:xfrm>
          <a:prstGeom prst="rect">
            <a:avLst/>
          </a:prstGeom>
          <a:noFill/>
        </p:spPr>
        <p:txBody>
          <a:bodyPr wrap="square" anchor="t" lIns="0" rIns="0" tIns="0" bIns="0">
            <a:spAutoFit/>
          </a:bodyPr>
          <a:lstStyle/>
          <a:p>
            <a:r>
              <a:rPr sz="1200">
                <a:solidFill>
                  <a:srgbClr val="202945"/>
                </a:solidFill>
              </a:rPr>
              <a:t>All positions of the proposed EUR 21.1m allocation, part 1 of 4. Weights as at 4 September 2026.</a:t>
            </a:r>
          </a:p>
        </p:txBody>
      </p:sp>
      <p:graphicFrame>
        <p:nvGraphicFramePr>
          <p:cNvPr id="4" name="Table 3"/>
          <p:cNvGraphicFramePr>
            <a:graphicFrameLocks noGrp="1"/>
          </p:cNvGraphicFramePr>
          <p:nvPr/>
        </p:nvGraphicFramePr>
        <p:xfrm>
          <a:off x="665163" y="2140000"/>
          <a:ext cx="9398001" cy="4920000"/>
        </p:xfrm>
        <a:graphic>
          <a:graphicData uri="http://schemas.openxmlformats.org/drawingml/2006/table">
            <a:tbl>
              <a:tblPr>
                <a:tableStyleId>{5C22544A-7EE6-4342-B048-85BDC9FD1C3A}</a:tableStyleId>
              </a:tblPr>
              <a:tblGrid>
                <a:gridCol w="1900000"/>
                <a:gridCol w="1500000"/>
                <a:gridCol w="4573001"/>
                <a:gridCol w="1425000"/>
              </a:tblGrid>
              <a:tr h="205000">
                <a:tc>
                  <a:txBody>
                    <a:bodyPr wrap="square"/>
                    <a:lstStyle/>
                    <a:p>
                      <a:pPr algn="l"/>
                      <a:r>
                        <a:rPr sz="1000" b="1">
                          <a:solidFill>
                            <a:srgbClr val="202945"/>
                          </a:solidFill>
                          <a:latin typeface="Nunito Sans ExtraBold"/>
                        </a:rPr>
                        <a:t>Asset Allocation</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ISIN</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Instrument</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Weight</a:t>
                      </a:r>
                    </a:p>
                  </a:txBody>
                  <a:tcPr marL="45720" marR="45720" marT="9144" marB="9144" anchor="ctr">
                    <a:solidFill>
                      <a:srgbClr val="FFFFFF"/>
                    </a:solidFill>
                  </a:tcPr>
                </a:tc>
              </a:tr>
              <a:tr h="205000">
                <a:tc>
                  <a:txBody>
                    <a:bodyPr wrap="square"/>
                    <a:lstStyle/>
                    <a:p>
                      <a:pPr algn="l"/>
                      <a:r>
                        <a:rPr sz="1050" b="1">
                          <a:solidFill>
                            <a:srgbClr val="FFFFFF"/>
                          </a:solidFill>
                          <a:latin typeface="Nunito Sans ExtraBold"/>
                        </a:rPr>
                        <a:t>Cash</a:t>
                      </a:r>
                    </a:p>
                  </a:txBody>
                  <a:tcPr marL="45720" marR="45720" marT="9144" marB="9144" anchor="ctr">
                    <a:solidFill>
                      <a:srgbClr val="FFC545"/>
                    </a:solidFill>
                  </a:tcPr>
                </a:tc>
                <a:tc>
                  <a:txBody>
                    <a:bodyPr wrap="square"/>
                    <a:lstStyle/>
                    <a:p>
                      <a:pPr algn="l"/>
                      <a:r>
                        <a:rPr sz="1050" b="1">
                          <a:solidFill>
                            <a:srgbClr val="FFFFFF"/>
                          </a:solidFill>
                          <a:latin typeface="Nunito Sans ExtraBold"/>
                        </a:rPr>
                        <a:t/>
                      </a:r>
                    </a:p>
                  </a:txBody>
                  <a:tcPr marL="45720" marR="45720" marT="9144" marB="9144" anchor="ctr">
                    <a:solidFill>
                      <a:srgbClr val="FFC545"/>
                    </a:solidFill>
                  </a:tcPr>
                </a:tc>
                <a:tc>
                  <a:txBody>
                    <a:bodyPr wrap="square"/>
                    <a:lstStyle/>
                    <a:p>
                      <a:pPr algn="l"/>
                      <a:r>
                        <a:rPr sz="1050" b="1">
                          <a:solidFill>
                            <a:srgbClr val="FFFFFF"/>
                          </a:solidFill>
                          <a:latin typeface="Nunito Sans ExtraBold"/>
                        </a:rPr>
                        <a:t/>
                      </a:r>
                    </a:p>
                  </a:txBody>
                  <a:tcPr marL="45720" marR="45720" marT="9144" marB="9144" anchor="ctr">
                    <a:solidFill>
                      <a:srgbClr val="FFC545"/>
                    </a:solidFill>
                  </a:tcPr>
                </a:tc>
                <a:tc>
                  <a:txBody>
                    <a:bodyPr wrap="square"/>
                    <a:lstStyle/>
                    <a:p>
                      <a:pPr algn="r"/>
                      <a:r>
                        <a:rPr sz="1050" b="1">
                          <a:solidFill>
                            <a:srgbClr val="FFFFFF"/>
                          </a:solidFill>
                          <a:latin typeface="Nunito Sans ExtraBold"/>
                        </a:rPr>
                        <a:t>0.4%</a:t>
                      </a:r>
                    </a:p>
                  </a:txBody>
                  <a:tcPr marL="45720" marR="45720" marT="9144" marB="9144" anchor="ctr">
                    <a:solidFill>
                      <a:srgbClr val="FFC545"/>
                    </a:solidFill>
                  </a:tcPr>
                </a:tc>
              </a:tr>
              <a:tr h="205000">
                <a:tc rowSpan="7">
                  <a:txBody>
                    <a:bodyPr wrap="square"/>
                    <a:lstStyle/>
                    <a:p>
                      <a:pPr algn="l"/>
                      <a:r>
                        <a:rPr sz="950" b="1">
                          <a:solidFill>
                            <a:srgbClr val="202945"/>
                          </a:solidFill>
                          <a:latin typeface="Calibri"/>
                        </a:rPr>
                        <a:t>Cash</a:t>
                      </a:r>
                    </a:p>
                  </a:txBody>
                  <a:tcPr marL="45720" marR="45720" marT="9144" marB="9144" anchor="ctr">
                    <a:noFill/>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CURRENT ACCOUNT IN CHF</a:t>
                      </a:r>
                    </a:p>
                  </a:txBody>
                  <a:tcPr marL="45720" marR="45720" marT="9144" marB="9144" anchor="ctr">
                    <a:noFill/>
                  </a:tcPr>
                </a:tc>
                <a:tc>
                  <a:txBody>
                    <a:bodyPr wrap="square"/>
                    <a:lstStyle/>
                    <a:p>
                      <a:pPr algn="r"/>
                      <a:r>
                        <a:rPr sz="950" b="0">
                          <a:solidFill>
                            <a:srgbClr val="202945"/>
                          </a:solidFill>
                          <a:latin typeface="Calibri"/>
                        </a:rPr>
                        <a:t>0.1%</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CURRENT ACCOUNT IN USD</a:t>
                      </a:r>
                    </a:p>
                  </a:txBody>
                  <a:tcPr marL="45720" marR="45720" marT="9144" marB="9144" anchor="ctr">
                    <a:noFill/>
                  </a:tcPr>
                </a:tc>
                <a:tc>
                  <a:txBody>
                    <a:bodyPr wrap="square"/>
                    <a:lstStyle/>
                    <a:p>
                      <a:pPr algn="r"/>
                      <a:r>
                        <a:rPr sz="950" b="0">
                          <a:solidFill>
                            <a:srgbClr val="202945"/>
                          </a:solidFill>
                          <a:latin typeface="Calibri"/>
                        </a:rPr>
                        <a:t>0.1%</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CURRENT ACCOUNT IN GBP</a:t>
                      </a:r>
                    </a:p>
                  </a:txBody>
                  <a:tcPr marL="45720" marR="45720" marT="9144" marB="9144" anchor="ctr">
                    <a:noFill/>
                  </a:tcPr>
                </a:tc>
                <a:tc>
                  <a:txBody>
                    <a:bodyPr wrap="square"/>
                    <a:lstStyle/>
                    <a:p>
                      <a:pPr algn="r"/>
                      <a:r>
                        <a:rPr sz="950" b="0">
                          <a:solidFill>
                            <a:srgbClr val="202945"/>
                          </a:solidFill>
                          <a:latin typeface="Calibri"/>
                        </a:rPr>
                        <a:t>&lt;0.1%</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CURRENT ACCOUNT IN EUR</a:t>
                      </a:r>
                    </a:p>
                  </a:txBody>
                  <a:tcPr marL="45720" marR="45720" marT="9144" marB="9144" anchor="ctr">
                    <a:noFill/>
                  </a:tcPr>
                </a:tc>
                <a:tc>
                  <a:txBody>
                    <a:bodyPr wrap="square"/>
                    <a:lstStyle/>
                    <a:p>
                      <a:pPr algn="r"/>
                      <a:r>
                        <a:rPr sz="950" b="0">
                          <a:solidFill>
                            <a:srgbClr val="202945"/>
                          </a:solidFill>
                          <a:latin typeface="Calibri"/>
                        </a:rPr>
                        <a:t>&lt;0.1%</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INCOME TO BE RECEIVED IN GBP</a:t>
                      </a:r>
                    </a:p>
                  </a:txBody>
                  <a:tcPr marL="45720" marR="45720" marT="9144" marB="9144" anchor="ctr">
                    <a:noFill/>
                  </a:tcPr>
                </a:tc>
                <a:tc>
                  <a:txBody>
                    <a:bodyPr wrap="square"/>
                    <a:lstStyle/>
                    <a:p>
                      <a:pPr algn="r"/>
                      <a:r>
                        <a:rPr sz="950" b="0">
                          <a:solidFill>
                            <a:srgbClr val="202945"/>
                          </a:solidFill>
                          <a:latin typeface="Calibri"/>
                        </a:rPr>
                        <a:t>&lt;0.1%</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CURRENT ACCOUNT IN SEK</a:t>
                      </a:r>
                    </a:p>
                  </a:txBody>
                  <a:tcPr marL="45720" marR="45720" marT="9144" marB="9144" anchor="ctr">
                    <a:noFill/>
                  </a:tcPr>
                </a:tc>
                <a:tc>
                  <a:txBody>
                    <a:bodyPr wrap="square"/>
                    <a:lstStyle/>
                    <a:p>
                      <a:pPr algn="r"/>
                      <a:r>
                        <a:rPr sz="950" b="0">
                          <a:solidFill>
                            <a:srgbClr val="202945"/>
                          </a:solidFill>
                          <a:latin typeface="Calibri"/>
                        </a:rPr>
                        <a:t>&lt;0.1%</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CURRENT ACCOUNT IN CAD</a:t>
                      </a:r>
                    </a:p>
                  </a:txBody>
                  <a:tcPr marL="45720" marR="45720" marT="9144" marB="9144" anchor="ctr">
                    <a:noFill/>
                  </a:tcPr>
                </a:tc>
                <a:tc>
                  <a:txBody>
                    <a:bodyPr wrap="square"/>
                    <a:lstStyle/>
                    <a:p>
                      <a:pPr algn="r"/>
                      <a:r>
                        <a:rPr sz="950" b="0">
                          <a:solidFill>
                            <a:srgbClr val="202945"/>
                          </a:solidFill>
                          <a:latin typeface="Calibri"/>
                        </a:rPr>
                        <a:t>&lt;0.1%</a:t>
                      </a:r>
                    </a:p>
                  </a:txBody>
                  <a:tcPr marL="45720" marR="45720" marT="9144" marB="9144" anchor="ctr">
                    <a:noFill/>
                  </a:tcPr>
                </a:tc>
              </a:tr>
              <a:tr h="205000">
                <a:tc>
                  <a:txBody>
                    <a:bodyPr wrap="square"/>
                    <a:lstStyle/>
                    <a:p>
                      <a:pPr algn="l"/>
                      <a:r>
                        <a:rPr sz="1050" b="1">
                          <a:solidFill>
                            <a:srgbClr val="FFFFFF"/>
                          </a:solidFill>
                          <a:latin typeface="Nunito Sans ExtraBold"/>
                        </a:rPr>
                        <a:t>Fixed Income</a:t>
                      </a:r>
                    </a:p>
                  </a:txBody>
                  <a:tcPr marL="45720" marR="45720" marT="9144" marB="9144" anchor="ctr">
                    <a:solidFill>
                      <a:srgbClr val="4B5F80"/>
                    </a:solidFill>
                  </a:tcPr>
                </a:tc>
                <a:tc>
                  <a:txBody>
                    <a:bodyPr wrap="square"/>
                    <a:lstStyle/>
                    <a:p>
                      <a:pPr algn="l"/>
                      <a:r>
                        <a:rPr sz="1050" b="1">
                          <a:solidFill>
                            <a:srgbClr val="FFFFFF"/>
                          </a:solidFill>
                          <a:latin typeface="Nunito Sans ExtraBold"/>
                        </a:rPr>
                        <a:t/>
                      </a:r>
                    </a:p>
                  </a:txBody>
                  <a:tcPr marL="45720" marR="45720" marT="9144" marB="9144" anchor="ctr">
                    <a:solidFill>
                      <a:srgbClr val="4B5F80"/>
                    </a:solidFill>
                  </a:tcPr>
                </a:tc>
                <a:tc>
                  <a:txBody>
                    <a:bodyPr wrap="square"/>
                    <a:lstStyle/>
                    <a:p>
                      <a:pPr algn="l"/>
                      <a:r>
                        <a:rPr sz="1050" b="1">
                          <a:solidFill>
                            <a:srgbClr val="FFFFFF"/>
                          </a:solidFill>
                          <a:latin typeface="Nunito Sans ExtraBold"/>
                        </a:rPr>
                        <a:t/>
                      </a:r>
                    </a:p>
                  </a:txBody>
                  <a:tcPr marL="45720" marR="45720" marT="9144" marB="9144" anchor="ctr">
                    <a:solidFill>
                      <a:srgbClr val="4B5F80"/>
                    </a:solidFill>
                  </a:tcPr>
                </a:tc>
                <a:tc>
                  <a:txBody>
                    <a:bodyPr wrap="square"/>
                    <a:lstStyle/>
                    <a:p>
                      <a:pPr algn="r"/>
                      <a:r>
                        <a:rPr sz="1050" b="1">
                          <a:solidFill>
                            <a:srgbClr val="FFFFFF"/>
                          </a:solidFill>
                          <a:latin typeface="Nunito Sans ExtraBold"/>
                        </a:rPr>
                        <a:t>15.6%</a:t>
                      </a:r>
                    </a:p>
                  </a:txBody>
                  <a:tcPr marL="45720" marR="45720" marT="9144" marB="9144" anchor="ctr">
                    <a:solidFill>
                      <a:srgbClr val="4B5F80"/>
                    </a:solidFill>
                  </a:tcPr>
                </a:tc>
              </a:tr>
              <a:tr h="205000">
                <a:tc rowSpan="2">
                  <a:txBody>
                    <a:bodyPr wrap="square"/>
                    <a:lstStyle/>
                    <a:p>
                      <a:pPr algn="l"/>
                      <a:r>
                        <a:rPr sz="950" b="1">
                          <a:solidFill>
                            <a:srgbClr val="202945"/>
                          </a:solidFill>
                          <a:latin typeface="Calibri"/>
                        </a:rPr>
                        <a:t>Govies 1-10 (local)</a:t>
                      </a:r>
                    </a:p>
                  </a:txBody>
                  <a:tcPr marL="45720" marR="45720" marT="9144" marB="9144" anchor="ctr">
                    <a:noFill/>
                  </a:tcPr>
                </a:tc>
                <a:tc>
                  <a:txBody>
                    <a:bodyPr wrap="square"/>
                    <a:lstStyle/>
                    <a:p>
                      <a:pPr algn="l"/>
                      <a:r>
                        <a:rPr sz="950" b="0">
                          <a:solidFill>
                            <a:srgbClr val="202945"/>
                          </a:solidFill>
                          <a:latin typeface="Calibri"/>
                        </a:rPr>
                        <a:t>US30303MAC64</a:t>
                      </a:r>
                    </a:p>
                  </a:txBody>
                  <a:tcPr marL="45720" marR="45720" marT="9144" marB="9144" anchor="ctr">
                    <a:noFill/>
                  </a:tcPr>
                </a:tc>
                <a:tc>
                  <a:txBody>
                    <a:bodyPr wrap="square"/>
                    <a:lstStyle/>
                    <a:p>
                      <a:pPr algn="l"/>
                      <a:r>
                        <a:rPr sz="950" b="0">
                          <a:solidFill>
                            <a:srgbClr val="202945"/>
                          </a:solidFill>
                          <a:latin typeface="Calibri"/>
                        </a:rPr>
                        <a:t>4.6% META PLATFORMS NOV32  15.11.2032</a:t>
                      </a:r>
                    </a:p>
                  </a:txBody>
                  <a:tcPr marL="45720" marR="45720" marT="9144" marB="9144" anchor="ctr">
                    <a:noFill/>
                  </a:tcPr>
                </a:tc>
                <a:tc>
                  <a:txBody>
                    <a:bodyPr wrap="square"/>
                    <a:lstStyle/>
                    <a:p>
                      <a:pPr algn="r"/>
                      <a:r>
                        <a:rPr sz="950" b="0">
                          <a:solidFill>
                            <a:srgbClr val="202945"/>
                          </a:solidFill>
                          <a:latin typeface="Calibri"/>
                        </a:rPr>
                        <a:t>0.8%</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US023135CR56</a:t>
                      </a:r>
                    </a:p>
                  </a:txBody>
                  <a:tcPr marL="45720" marR="45720" marT="9144" marB="9144" anchor="ctr">
                    <a:noFill/>
                  </a:tcPr>
                </a:tc>
                <a:tc>
                  <a:txBody>
                    <a:bodyPr wrap="square"/>
                    <a:lstStyle/>
                    <a:p>
                      <a:pPr algn="l"/>
                      <a:r>
                        <a:rPr sz="950" b="0">
                          <a:solidFill>
                            <a:srgbClr val="202945"/>
                          </a:solidFill>
                          <a:latin typeface="Calibri"/>
                        </a:rPr>
                        <a:t>4.7% AMAZON DEC32  01.12.2032</a:t>
                      </a:r>
                    </a:p>
                  </a:txBody>
                  <a:tcPr marL="45720" marR="45720" marT="9144" marB="9144" anchor="ctr">
                    <a:noFill/>
                  </a:tcPr>
                </a:tc>
                <a:tc>
                  <a:txBody>
                    <a:bodyPr wrap="square"/>
                    <a:lstStyle/>
                    <a:p>
                      <a:pPr algn="r"/>
                      <a:r>
                        <a:rPr sz="950" b="0">
                          <a:solidFill>
                            <a:srgbClr val="202945"/>
                          </a:solidFill>
                          <a:latin typeface="Calibri"/>
                        </a:rPr>
                        <a:t>0.6%</a:t>
                      </a:r>
                    </a:p>
                  </a:txBody>
                  <a:tcPr marL="45720" marR="45720" marT="9144" marB="9144" anchor="ctr">
                    <a:noFill/>
                  </a:tcPr>
                </a:tc>
              </a:tr>
              <a:tr h="205000">
                <a:tc rowSpan="8">
                  <a:txBody>
                    <a:bodyPr wrap="square"/>
                    <a:lstStyle/>
                    <a:p>
                      <a:pPr algn="l"/>
                      <a:r>
                        <a:rPr sz="950" b="1">
                          <a:solidFill>
                            <a:srgbClr val="202945"/>
                          </a:solidFill>
                          <a:latin typeface="Calibri"/>
                        </a:rPr>
                        <a:t>High Yield (local or global hdg)</a:t>
                      </a:r>
                    </a:p>
                  </a:txBody>
                  <a:tcPr marL="45720" marR="45720" marT="9144" marB="9144" anchor="ctr">
                    <a:noFill/>
                  </a:tcPr>
                </a:tc>
                <a:tc>
                  <a:txBody>
                    <a:bodyPr wrap="square"/>
                    <a:lstStyle/>
                    <a:p>
                      <a:pPr algn="l"/>
                      <a:r>
                        <a:rPr sz="950" b="0">
                          <a:solidFill>
                            <a:srgbClr val="202945"/>
                          </a:solidFill>
                          <a:latin typeface="Calibri"/>
                        </a:rPr>
                        <a:t>CH0414256021</a:t>
                      </a:r>
                    </a:p>
                  </a:txBody>
                  <a:tcPr marL="45720" marR="45720" marT="9144" marB="9144" anchor="ctr">
                    <a:noFill/>
                  </a:tcPr>
                </a:tc>
                <a:tc>
                  <a:txBody>
                    <a:bodyPr wrap="square"/>
                    <a:lstStyle/>
                    <a:p>
                      <a:pPr algn="l"/>
                      <a:r>
                        <a:rPr sz="950" b="0">
                          <a:solidFill>
                            <a:srgbClr val="202945"/>
                          </a:solidFill>
                          <a:latin typeface="Calibri"/>
                        </a:rPr>
                        <a:t>SYZ EM BONDS CERTIFICATE</a:t>
                      </a:r>
                    </a:p>
                  </a:txBody>
                  <a:tcPr marL="45720" marR="45720" marT="9144" marB="9144" anchor="ctr">
                    <a:noFill/>
                  </a:tcPr>
                </a:tc>
                <a:tc>
                  <a:txBody>
                    <a:bodyPr wrap="square"/>
                    <a:lstStyle/>
                    <a:p>
                      <a:pPr algn="r"/>
                      <a:r>
                        <a:rPr sz="950" b="0">
                          <a:solidFill>
                            <a:srgbClr val="202945"/>
                          </a:solidFill>
                          <a:latin typeface="Calibri"/>
                        </a:rPr>
                        <a:t>2.9%</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LU0840158819</a:t>
                      </a:r>
                    </a:p>
                  </a:txBody>
                  <a:tcPr marL="45720" marR="45720" marT="9144" marB="9144" anchor="ctr">
                    <a:noFill/>
                  </a:tcPr>
                </a:tc>
                <a:tc>
                  <a:txBody>
                    <a:bodyPr wrap="square"/>
                    <a:lstStyle/>
                    <a:p>
                      <a:pPr algn="l"/>
                      <a:r>
                        <a:rPr sz="950" b="0">
                          <a:solidFill>
                            <a:srgbClr val="202945"/>
                          </a:solidFill>
                          <a:latin typeface="Calibri"/>
                        </a:rPr>
                        <a:t>STORM II BOND RC EUR</a:t>
                      </a:r>
                    </a:p>
                  </a:txBody>
                  <a:tcPr marL="45720" marR="45720" marT="9144" marB="9144" anchor="ctr">
                    <a:noFill/>
                  </a:tcPr>
                </a:tc>
                <a:tc>
                  <a:txBody>
                    <a:bodyPr wrap="square"/>
                    <a:lstStyle/>
                    <a:p>
                      <a:pPr algn="r"/>
                      <a:r>
                        <a:rPr sz="950" b="0">
                          <a:solidFill>
                            <a:srgbClr val="202945"/>
                          </a:solidFill>
                          <a:latin typeface="Calibri"/>
                        </a:rPr>
                        <a:t>2.2%</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2.53% Fid. 17.08.2026 - 19.10.2026 QATAR NATIONAL BANK - DOHA No. 263303</a:t>
                      </a:r>
                    </a:p>
                  </a:txBody>
                  <a:tcPr marL="45720" marR="45720" marT="9144" marB="9144" anchor="ctr">
                    <a:noFill/>
                  </a:tcPr>
                </a:tc>
                <a:tc>
                  <a:txBody>
                    <a:bodyPr wrap="square"/>
                    <a:lstStyle/>
                    <a:p>
                      <a:pPr algn="r"/>
                      <a:r>
                        <a:rPr sz="950" b="0">
                          <a:solidFill>
                            <a:srgbClr val="202945"/>
                          </a:solidFill>
                          <a:latin typeface="Calibri"/>
                        </a:rPr>
                        <a:t>1.5%</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CH0103254758</a:t>
                      </a:r>
                    </a:p>
                  </a:txBody>
                  <a:tcPr marL="45720" marR="45720" marT="9144" marB="9144" anchor="ctr">
                    <a:noFill/>
                  </a:tcPr>
                </a:tc>
                <a:tc>
                  <a:txBody>
                    <a:bodyPr wrap="square"/>
                    <a:lstStyle/>
                    <a:p>
                      <a:pPr algn="l"/>
                      <a:r>
                        <a:rPr sz="950" b="0">
                          <a:solidFill>
                            <a:srgbClr val="202945"/>
                          </a:solidFill>
                          <a:latin typeface="Calibri"/>
                        </a:rPr>
                        <a:t>SYZ AM(CH) 1 LIQUID MGT D</a:t>
                      </a:r>
                    </a:p>
                  </a:txBody>
                  <a:tcPr marL="45720" marR="45720" marT="9144" marB="9144" anchor="ctr">
                    <a:noFill/>
                  </a:tcPr>
                </a:tc>
                <a:tc>
                  <a:txBody>
                    <a:bodyPr wrap="square"/>
                    <a:lstStyle/>
                    <a:p>
                      <a:pPr algn="r"/>
                      <a:r>
                        <a:rPr sz="950" b="0">
                          <a:solidFill>
                            <a:srgbClr val="202945"/>
                          </a:solidFill>
                          <a:latin typeface="Calibri"/>
                        </a:rPr>
                        <a:t>1.2%</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US88167AAP66</a:t>
                      </a:r>
                    </a:p>
                  </a:txBody>
                  <a:tcPr marL="45720" marR="45720" marT="9144" marB="9144" anchor="ctr">
                    <a:noFill/>
                  </a:tcPr>
                </a:tc>
                <a:tc>
                  <a:txBody>
                    <a:bodyPr wrap="square"/>
                    <a:lstStyle/>
                    <a:p>
                      <a:pPr algn="l"/>
                      <a:r>
                        <a:rPr sz="950" b="0">
                          <a:solidFill>
                            <a:srgbClr val="202945"/>
                          </a:solidFill>
                          <a:latin typeface="Calibri"/>
                        </a:rPr>
                        <a:t>4 3/4 TEVA PHARMA MAY27  09.05.2027</a:t>
                      </a:r>
                    </a:p>
                  </a:txBody>
                  <a:tcPr marL="45720" marR="45720" marT="9144" marB="9144" anchor="ctr">
                    <a:noFill/>
                  </a:tcPr>
                </a:tc>
                <a:tc>
                  <a:txBody>
                    <a:bodyPr wrap="square"/>
                    <a:lstStyle/>
                    <a:p>
                      <a:pPr algn="r"/>
                      <a:r>
                        <a:rPr sz="950" b="0">
                          <a:solidFill>
                            <a:srgbClr val="202945"/>
                          </a:solidFill>
                          <a:latin typeface="Calibri"/>
                        </a:rPr>
                        <a:t>0.8%</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3.35% Fid. On Call 48 Hrs Natixis, Paris On Call No. 96289</a:t>
                      </a:r>
                    </a:p>
                  </a:txBody>
                  <a:tcPr marL="45720" marR="45720" marT="9144" marB="9144" anchor="ctr">
                    <a:noFill/>
                  </a:tcPr>
                </a:tc>
                <a:tc>
                  <a:txBody>
                    <a:bodyPr wrap="square"/>
                    <a:lstStyle/>
                    <a:p>
                      <a:pPr algn="r"/>
                      <a:r>
                        <a:rPr sz="950" b="0">
                          <a:solidFill>
                            <a:srgbClr val="202945"/>
                          </a:solidFill>
                          <a:latin typeface="Calibri"/>
                        </a:rPr>
                        <a:t>0.6%</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1.75% Fid. On Call 48 Hrs Société Générale, Paris On Call No. 20843</a:t>
                      </a:r>
                    </a:p>
                  </a:txBody>
                  <a:tcPr marL="45720" marR="45720" marT="9144" marB="9144" anchor="ctr">
                    <a:noFill/>
                  </a:tcPr>
                </a:tc>
                <a:tc>
                  <a:txBody>
                    <a:bodyPr wrap="square"/>
                    <a:lstStyle/>
                    <a:p>
                      <a:pPr algn="r"/>
                      <a:r>
                        <a:rPr sz="950" b="0">
                          <a:solidFill>
                            <a:srgbClr val="202945"/>
                          </a:solidFill>
                          <a:latin typeface="Calibri"/>
                        </a:rPr>
                        <a:t>0.5%</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IE00BD5CTX77</a:t>
                      </a:r>
                    </a:p>
                  </a:txBody>
                  <a:tcPr marL="45720" marR="45720" marT="9144" marB="9144" anchor="ctr">
                    <a:noFill/>
                  </a:tcPr>
                </a:tc>
                <a:tc>
                  <a:txBody>
                    <a:bodyPr wrap="square"/>
                    <a:lstStyle/>
                    <a:p>
                      <a:pPr algn="l"/>
                      <a:r>
                        <a:rPr sz="950" b="0">
                          <a:solidFill>
                            <a:srgbClr val="202945"/>
                          </a:solidFill>
                          <a:latin typeface="Calibri"/>
                        </a:rPr>
                        <a:t>BNY MELLON S/D H/Y H HDG</a:t>
                      </a:r>
                    </a:p>
                  </a:txBody>
                  <a:tcPr marL="45720" marR="45720" marT="9144" marB="9144" anchor="ctr">
                    <a:noFill/>
                  </a:tcPr>
                </a:tc>
                <a:tc>
                  <a:txBody>
                    <a:bodyPr wrap="square"/>
                    <a:lstStyle/>
                    <a:p>
                      <a:pPr algn="r"/>
                      <a:r>
                        <a:rPr sz="950" b="0">
                          <a:solidFill>
                            <a:srgbClr val="202945"/>
                          </a:solidFill>
                          <a:latin typeface="Calibri"/>
                        </a:rPr>
                        <a:t>0.4%</a:t>
                      </a:r>
                    </a:p>
                  </a:txBody>
                  <a:tcPr marL="45720" marR="45720" marT="9144" marB="9144" anchor="ctr">
                    <a:noFill/>
                  </a:tcPr>
                </a:tc>
              </a:tr>
              <a:tr h="205000">
                <a:tc rowSpan="4">
                  <a:txBody>
                    <a:bodyPr wrap="square"/>
                    <a:lstStyle/>
                    <a:p>
                      <a:pPr algn="l"/>
                      <a:r>
                        <a:rPr sz="950" b="1">
                          <a:solidFill>
                            <a:srgbClr val="202945"/>
                          </a:solidFill>
                          <a:latin typeface="Calibri"/>
                        </a:rPr>
                        <a:t>Corporate IG (local)</a:t>
                      </a:r>
                    </a:p>
                  </a:txBody>
                  <a:tcPr marL="45720" marR="45720" marT="9144" marB="9144" anchor="ctr">
                    <a:noFill/>
                  </a:tcPr>
                </a:tc>
                <a:tc>
                  <a:txBody>
                    <a:bodyPr wrap="square"/>
                    <a:lstStyle/>
                    <a:p>
                      <a:pPr algn="l"/>
                      <a:r>
                        <a:rPr sz="950" b="0">
                          <a:solidFill>
                            <a:srgbClr val="202945"/>
                          </a:solidFill>
                          <a:latin typeface="Calibri"/>
                        </a:rPr>
                        <a:t>XS2983840518</a:t>
                      </a:r>
                    </a:p>
                  </a:txBody>
                  <a:tcPr marL="45720" marR="45720" marT="9144" marB="9144" anchor="ctr">
                    <a:noFill/>
                  </a:tcPr>
                </a:tc>
                <a:tc>
                  <a:txBody>
                    <a:bodyPr wrap="square"/>
                    <a:lstStyle/>
                    <a:p>
                      <a:pPr algn="l"/>
                      <a:r>
                        <a:rPr sz="950" b="0">
                          <a:solidFill>
                            <a:srgbClr val="202945"/>
                          </a:solidFill>
                          <a:latin typeface="Calibri"/>
                        </a:rPr>
                        <a:t>3.5% GOLDMAN SACHS JAN33  23.01.2033</a:t>
                      </a:r>
                    </a:p>
                  </a:txBody>
                  <a:tcPr marL="45720" marR="45720" marT="9144" marB="9144" anchor="ctr">
                    <a:noFill/>
                  </a:tcPr>
                </a:tc>
                <a:tc>
                  <a:txBody>
                    <a:bodyPr wrap="square"/>
                    <a:lstStyle/>
                    <a:p>
                      <a:pPr algn="r"/>
                      <a:r>
                        <a:rPr sz="950" b="0">
                          <a:solidFill>
                            <a:srgbClr val="202945"/>
                          </a:solidFill>
                          <a:latin typeface="Calibri"/>
                        </a:rPr>
                        <a:t>0.9%</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XS3222746375</a:t>
                      </a:r>
                    </a:p>
                  </a:txBody>
                  <a:tcPr marL="45720" marR="45720" marT="9144" marB="9144" anchor="ctr">
                    <a:noFill/>
                  </a:tcPr>
                </a:tc>
                <a:tc>
                  <a:txBody>
                    <a:bodyPr wrap="square"/>
                    <a:lstStyle/>
                    <a:p>
                      <a:pPr algn="l"/>
                      <a:r>
                        <a:rPr sz="950" b="0">
                          <a:solidFill>
                            <a:srgbClr val="202945"/>
                          </a:solidFill>
                          <a:latin typeface="Calibri"/>
                        </a:rPr>
                        <a:t>3.5% VONOVIA NOV32  12.11.2032</a:t>
                      </a:r>
                    </a:p>
                  </a:txBody>
                  <a:tcPr marL="45720" marR="45720" marT="9144" marB="9144" anchor="ctr">
                    <a:noFill/>
                  </a:tcPr>
                </a:tc>
                <a:tc>
                  <a:txBody>
                    <a:bodyPr wrap="square"/>
                    <a:lstStyle/>
                    <a:p>
                      <a:pPr algn="r"/>
                      <a:r>
                        <a:rPr sz="950" b="0">
                          <a:solidFill>
                            <a:srgbClr val="202945"/>
                          </a:solidFill>
                          <a:latin typeface="Calibri"/>
                        </a:rPr>
                        <a:t>0.9%</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US718172DY22</a:t>
                      </a:r>
                    </a:p>
                  </a:txBody>
                  <a:tcPr marL="45720" marR="45720" marT="9144" marB="9144" anchor="ctr">
                    <a:noFill/>
                  </a:tcPr>
                </a:tc>
                <a:tc>
                  <a:txBody>
                    <a:bodyPr wrap="square"/>
                    <a:lstStyle/>
                    <a:p>
                      <a:pPr algn="l"/>
                      <a:r>
                        <a:rPr sz="950" b="0">
                          <a:solidFill>
                            <a:srgbClr val="202945"/>
                          </a:solidFill>
                          <a:latin typeface="Calibri"/>
                        </a:rPr>
                        <a:t>4% PHILIP MORRIS OCT30  29.10.2030</a:t>
                      </a:r>
                    </a:p>
                  </a:txBody>
                  <a:tcPr marL="45720" marR="45720" marT="9144" marB="9144" anchor="ctr">
                    <a:noFill/>
                  </a:tcPr>
                </a:tc>
                <a:tc>
                  <a:txBody>
                    <a:bodyPr wrap="square"/>
                    <a:lstStyle/>
                    <a:p>
                      <a:pPr algn="r"/>
                      <a:r>
                        <a:rPr sz="950" b="0">
                          <a:solidFill>
                            <a:srgbClr val="202945"/>
                          </a:solidFill>
                          <a:latin typeface="Calibri"/>
                        </a:rPr>
                        <a:t>0.8%</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US38141GZM94</a:t>
                      </a:r>
                    </a:p>
                  </a:txBody>
                  <a:tcPr marL="45720" marR="45720" marT="9144" marB="9144" anchor="ctr">
                    <a:noFill/>
                  </a:tcPr>
                </a:tc>
                <a:tc>
                  <a:txBody>
                    <a:bodyPr wrap="square"/>
                    <a:lstStyle/>
                    <a:p>
                      <a:pPr algn="l"/>
                      <a:r>
                        <a:rPr sz="950" b="0">
                          <a:solidFill>
                            <a:srgbClr val="202945"/>
                          </a:solidFill>
                          <a:latin typeface="Calibri"/>
                        </a:rPr>
                        <a:t>3.102% GOLDMAN FLR FEB33  24.02.2033</a:t>
                      </a:r>
                    </a:p>
                  </a:txBody>
                  <a:tcPr marL="45720" marR="45720" marT="9144" marB="9144" anchor="ctr">
                    <a:noFill/>
                  </a:tcPr>
                </a:tc>
                <a:tc>
                  <a:txBody>
                    <a:bodyPr wrap="square"/>
                    <a:lstStyle/>
                    <a:p>
                      <a:pPr algn="r"/>
                      <a:r>
                        <a:rPr sz="950" b="0">
                          <a:solidFill>
                            <a:srgbClr val="202945"/>
                          </a:solidFill>
                          <a:latin typeface="Calibri"/>
                        </a:rPr>
                        <a:t>0.5%</a:t>
                      </a:r>
                    </a:p>
                  </a:txBody>
                  <a:tcPr marL="45720" marR="45720" marT="9144" marB="9144" anchor="ctr">
                    <a:noFill/>
                  </a:tcPr>
                </a:tc>
              </a:tr>
            </a:tbl>
          </a:graphicData>
        </a:graphic>
      </p:graphicFrame>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Proposed portfolio: full holdings list</a:t>
            </a:r>
          </a:p>
        </p:txBody>
      </p:sp>
      <p:sp>
        <p:nvSpPr>
          <p:cNvPr id="3" name="Text Placeholder 2"/>
          <p:cNvSpPr txBox="1"/>
          <p:nvPr/>
        </p:nvSpPr>
        <p:spPr>
          <a:xfrm>
            <a:off x="665163" y="1728947"/>
            <a:ext cx="9398001" cy="560000"/>
          </a:xfrm>
          <a:prstGeom prst="rect">
            <a:avLst/>
          </a:prstGeom>
          <a:noFill/>
        </p:spPr>
        <p:txBody>
          <a:bodyPr wrap="square" anchor="t" lIns="0" rIns="0" tIns="0" bIns="0">
            <a:spAutoFit/>
          </a:bodyPr>
          <a:lstStyle/>
          <a:p>
            <a:r>
              <a:rPr sz="1200">
                <a:solidFill>
                  <a:srgbClr val="202945"/>
                </a:solidFill>
              </a:rPr>
              <a:t>All positions of the proposed EUR 21.1m allocation, part 2 of 4. Weights as at 4 September 2026.</a:t>
            </a:r>
          </a:p>
        </p:txBody>
      </p:sp>
      <p:graphicFrame>
        <p:nvGraphicFramePr>
          <p:cNvPr id="4" name="Table 3"/>
          <p:cNvGraphicFramePr>
            <a:graphicFrameLocks noGrp="1"/>
          </p:cNvGraphicFramePr>
          <p:nvPr/>
        </p:nvGraphicFramePr>
        <p:xfrm>
          <a:off x="665163" y="2140000"/>
          <a:ext cx="9398001" cy="3280000"/>
        </p:xfrm>
        <a:graphic>
          <a:graphicData uri="http://schemas.openxmlformats.org/drawingml/2006/table">
            <a:tbl>
              <a:tblPr>
                <a:tableStyleId>{5C22544A-7EE6-4342-B048-85BDC9FD1C3A}</a:tableStyleId>
              </a:tblPr>
              <a:tblGrid>
                <a:gridCol w="1900000"/>
                <a:gridCol w="1500000"/>
                <a:gridCol w="4573001"/>
                <a:gridCol w="1425000"/>
              </a:tblGrid>
              <a:tr h="205000">
                <a:tc>
                  <a:txBody>
                    <a:bodyPr wrap="square"/>
                    <a:lstStyle/>
                    <a:p>
                      <a:pPr algn="l"/>
                      <a:r>
                        <a:rPr sz="1000" b="1">
                          <a:solidFill>
                            <a:srgbClr val="202945"/>
                          </a:solidFill>
                          <a:latin typeface="Nunito Sans ExtraBold"/>
                        </a:rPr>
                        <a:t>Asset Allocation</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ISIN</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Instrument</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Weight</a:t>
                      </a:r>
                    </a:p>
                  </a:txBody>
                  <a:tcPr marL="45720" marR="45720" marT="9144" marB="9144" anchor="ctr">
                    <a:solidFill>
                      <a:srgbClr val="FFFFFF"/>
                    </a:solidFill>
                  </a:tcPr>
                </a:tc>
              </a:tr>
              <a:tr h="205000">
                <a:tc>
                  <a:txBody>
                    <a:bodyPr wrap="square"/>
                    <a:lstStyle/>
                    <a:p>
                      <a:pPr algn="l"/>
                      <a:r>
                        <a:rPr sz="1050" b="1">
                          <a:solidFill>
                            <a:srgbClr val="FFFFFF"/>
                          </a:solidFill>
                          <a:latin typeface="Nunito Sans ExtraBold"/>
                        </a:rPr>
                        <a:t>Fixed Income</a:t>
                      </a:r>
                    </a:p>
                  </a:txBody>
                  <a:tcPr marL="45720" marR="45720" marT="9144" marB="9144" anchor="ctr">
                    <a:solidFill>
                      <a:srgbClr val="4B5F80"/>
                    </a:solidFill>
                  </a:tcPr>
                </a:tc>
                <a:tc>
                  <a:txBody>
                    <a:bodyPr wrap="square"/>
                    <a:lstStyle/>
                    <a:p>
                      <a:pPr algn="l"/>
                      <a:r>
                        <a:rPr sz="1050" b="1">
                          <a:solidFill>
                            <a:srgbClr val="FFFFFF"/>
                          </a:solidFill>
                          <a:latin typeface="Nunito Sans ExtraBold"/>
                        </a:rPr>
                        <a:t/>
                      </a:r>
                    </a:p>
                  </a:txBody>
                  <a:tcPr marL="45720" marR="45720" marT="9144" marB="9144" anchor="ctr">
                    <a:solidFill>
                      <a:srgbClr val="4B5F80"/>
                    </a:solidFill>
                  </a:tcPr>
                </a:tc>
                <a:tc>
                  <a:txBody>
                    <a:bodyPr wrap="square"/>
                    <a:lstStyle/>
                    <a:p>
                      <a:pPr algn="l"/>
                      <a:r>
                        <a:rPr sz="1050" b="1">
                          <a:solidFill>
                            <a:srgbClr val="FFFFFF"/>
                          </a:solidFill>
                          <a:latin typeface="Nunito Sans ExtraBold"/>
                        </a:rPr>
                        <a:t/>
                      </a:r>
                    </a:p>
                  </a:txBody>
                  <a:tcPr marL="45720" marR="45720" marT="9144" marB="9144" anchor="ctr">
                    <a:solidFill>
                      <a:srgbClr val="4B5F80"/>
                    </a:solidFill>
                  </a:tcPr>
                </a:tc>
                <a:tc>
                  <a:txBody>
                    <a:bodyPr wrap="square"/>
                    <a:lstStyle/>
                    <a:p>
                      <a:pPr algn="r"/>
                      <a:r>
                        <a:rPr sz="1050" b="1">
                          <a:solidFill>
                            <a:srgbClr val="FFFFFF"/>
                          </a:solidFill>
                          <a:latin typeface="Nunito Sans ExtraBold"/>
                        </a:rPr>
                        <a:t>15.6%</a:t>
                      </a:r>
                    </a:p>
                  </a:txBody>
                  <a:tcPr marL="45720" marR="45720" marT="9144" marB="9144" anchor="ctr">
                    <a:solidFill>
                      <a:srgbClr val="4B5F80"/>
                    </a:solidFill>
                  </a:tcPr>
                </a:tc>
              </a:tr>
              <a:tr h="205000">
                <a:tc>
                  <a:txBody>
                    <a:bodyPr wrap="square"/>
                    <a:lstStyle/>
                    <a:p>
                      <a:pPr algn="l"/>
                      <a:r>
                        <a:rPr sz="950" b="1">
                          <a:solidFill>
                            <a:srgbClr val="202945"/>
                          </a:solidFill>
                          <a:latin typeface="Calibri"/>
                        </a:rPr>
                        <a:t>EM Debt</a:t>
                      </a:r>
                    </a:p>
                  </a:txBody>
                  <a:tcPr marL="45720" marR="45720" marT="9144" marB="9144" anchor="ctr">
                    <a:noFill/>
                  </a:tcPr>
                </a:tc>
                <a:tc>
                  <a:txBody>
                    <a:bodyPr wrap="square"/>
                    <a:lstStyle/>
                    <a:p>
                      <a:pPr algn="l"/>
                      <a:r>
                        <a:rPr sz="950" b="0">
                          <a:solidFill>
                            <a:srgbClr val="202945"/>
                          </a:solidFill>
                          <a:latin typeface="Calibri"/>
                        </a:rPr>
                        <a:t>XS2647371843</a:t>
                      </a:r>
                    </a:p>
                  </a:txBody>
                  <a:tcPr marL="45720" marR="45720" marT="9144" marB="9144" anchor="ctr">
                    <a:noFill/>
                  </a:tcPr>
                </a:tc>
                <a:tc>
                  <a:txBody>
                    <a:bodyPr wrap="square"/>
                    <a:lstStyle/>
                    <a:p>
                      <a:pPr algn="l"/>
                      <a:r>
                        <a:rPr sz="950" b="0">
                          <a:solidFill>
                            <a:srgbClr val="202945"/>
                          </a:solidFill>
                          <a:latin typeface="Calibri"/>
                        </a:rPr>
                        <a:t>4.75% PKN ORLEN JUL30  13.07.2030</a:t>
                      </a:r>
                    </a:p>
                  </a:txBody>
                  <a:tcPr marL="45720" marR="45720" marT="9144" marB="9144" anchor="ctr">
                    <a:noFill/>
                  </a:tcPr>
                </a:tc>
                <a:tc>
                  <a:txBody>
                    <a:bodyPr wrap="square"/>
                    <a:lstStyle/>
                    <a:p>
                      <a:pPr algn="r"/>
                      <a:r>
                        <a:rPr sz="950" b="0">
                          <a:solidFill>
                            <a:srgbClr val="202945"/>
                          </a:solidFill>
                          <a:latin typeface="Calibri"/>
                        </a:rPr>
                        <a:t>0.7%</a:t>
                      </a:r>
                    </a:p>
                  </a:txBody>
                  <a:tcPr marL="45720" marR="45720" marT="9144" marB="9144" anchor="ctr">
                    <a:noFill/>
                  </a:tcPr>
                </a:tc>
              </a:tr>
              <a:tr h="205000">
                <a:tc>
                  <a:txBody>
                    <a:bodyPr wrap="square"/>
                    <a:lstStyle/>
                    <a:p>
                      <a:pPr algn="l"/>
                      <a:r>
                        <a:rPr sz="1050" b="1">
                          <a:solidFill>
                            <a:srgbClr val="FFFFFF"/>
                          </a:solidFill>
                          <a:latin typeface="Nunito Sans ExtraBold"/>
                        </a:rPr>
                        <a:t>Equities</a:t>
                      </a:r>
                    </a:p>
                  </a:txBody>
                  <a:tcPr marL="45720" marR="45720" marT="9144" marB="9144" anchor="ctr">
                    <a:solidFill>
                      <a:srgbClr val="79D6FF"/>
                    </a:solidFill>
                  </a:tcPr>
                </a:tc>
                <a:tc>
                  <a:txBody>
                    <a:bodyPr wrap="square"/>
                    <a:lstStyle/>
                    <a:p>
                      <a:pPr algn="l"/>
                      <a:r>
                        <a:rPr sz="1050" b="1">
                          <a:solidFill>
                            <a:srgbClr val="FFFFFF"/>
                          </a:solidFill>
                          <a:latin typeface="Nunito Sans ExtraBold"/>
                        </a:rPr>
                        <a:t/>
                      </a:r>
                    </a:p>
                  </a:txBody>
                  <a:tcPr marL="45720" marR="45720" marT="9144" marB="9144" anchor="ctr">
                    <a:solidFill>
                      <a:srgbClr val="79D6FF"/>
                    </a:solidFill>
                  </a:tcPr>
                </a:tc>
                <a:tc>
                  <a:txBody>
                    <a:bodyPr wrap="square"/>
                    <a:lstStyle/>
                    <a:p>
                      <a:pPr algn="l"/>
                      <a:r>
                        <a:rPr sz="1050" b="1">
                          <a:solidFill>
                            <a:srgbClr val="FFFFFF"/>
                          </a:solidFill>
                          <a:latin typeface="Nunito Sans ExtraBold"/>
                        </a:rPr>
                        <a:t/>
                      </a:r>
                    </a:p>
                  </a:txBody>
                  <a:tcPr marL="45720" marR="45720" marT="9144" marB="9144" anchor="ctr">
                    <a:solidFill>
                      <a:srgbClr val="79D6FF"/>
                    </a:solidFill>
                  </a:tcPr>
                </a:tc>
                <a:tc>
                  <a:txBody>
                    <a:bodyPr wrap="square"/>
                    <a:lstStyle/>
                    <a:p>
                      <a:pPr algn="r"/>
                      <a:r>
                        <a:rPr sz="1050" b="1">
                          <a:solidFill>
                            <a:srgbClr val="FFFFFF"/>
                          </a:solidFill>
                          <a:latin typeface="Nunito Sans ExtraBold"/>
                        </a:rPr>
                        <a:t>34.0%</a:t>
                      </a:r>
                    </a:p>
                  </a:txBody>
                  <a:tcPr marL="45720" marR="45720" marT="9144" marB="9144" anchor="ctr">
                    <a:solidFill>
                      <a:srgbClr val="79D6FF"/>
                    </a:solidFill>
                  </a:tcPr>
                </a:tc>
              </a:tr>
              <a:tr h="205000">
                <a:tc>
                  <a:txBody>
                    <a:bodyPr wrap="square"/>
                    <a:lstStyle/>
                    <a:p>
                      <a:pPr algn="l"/>
                      <a:r>
                        <a:rPr sz="950" b="1">
                          <a:solidFill>
                            <a:srgbClr val="202945"/>
                          </a:solidFill>
                          <a:latin typeface="Calibri"/>
                        </a:rPr>
                        <a:t>US</a:t>
                      </a:r>
                    </a:p>
                  </a:txBody>
                  <a:tcPr marL="45720" marR="45720" marT="9144" marB="9144" anchor="ctr">
                    <a:noFill/>
                  </a:tcPr>
                </a:tc>
                <a:tc>
                  <a:txBody>
                    <a:bodyPr wrap="square"/>
                    <a:lstStyle/>
                    <a:p>
                      <a:pPr algn="l"/>
                      <a:r>
                        <a:rPr sz="950" b="0">
                          <a:solidFill>
                            <a:srgbClr val="202945"/>
                          </a:solidFill>
                          <a:latin typeface="Calibri"/>
                        </a:rPr>
                        <a:t>US0846707026</a:t>
                      </a:r>
                    </a:p>
                  </a:txBody>
                  <a:tcPr marL="45720" marR="45720" marT="9144" marB="9144" anchor="ctr">
                    <a:noFill/>
                  </a:tcPr>
                </a:tc>
                <a:tc>
                  <a:txBody>
                    <a:bodyPr wrap="square"/>
                    <a:lstStyle/>
                    <a:p>
                      <a:pPr algn="l"/>
                      <a:r>
                        <a:rPr sz="950" b="0">
                          <a:solidFill>
                            <a:srgbClr val="202945"/>
                          </a:solidFill>
                          <a:latin typeface="Calibri"/>
                        </a:rPr>
                        <a:t>BERKSHIRE HATHAWAY B</a:t>
                      </a:r>
                    </a:p>
                  </a:txBody>
                  <a:tcPr marL="45720" marR="45720" marT="9144" marB="9144" anchor="ctr">
                    <a:noFill/>
                  </a:tcPr>
                </a:tc>
                <a:tc>
                  <a:txBody>
                    <a:bodyPr wrap="square"/>
                    <a:lstStyle/>
                    <a:p>
                      <a:pPr algn="r"/>
                      <a:r>
                        <a:rPr sz="950" b="0">
                          <a:solidFill>
                            <a:srgbClr val="202945"/>
                          </a:solidFill>
                          <a:latin typeface="Calibri"/>
                        </a:rPr>
                        <a:t>1.6%</a:t>
                      </a:r>
                    </a:p>
                  </a:txBody>
                  <a:tcPr marL="45720" marR="45720" marT="9144" marB="9144" anchor="ctr">
                    <a:noFill/>
                  </a:tcPr>
                </a:tc>
              </a:tr>
              <a:tr h="205000">
                <a:tc rowSpan="6">
                  <a:txBody>
                    <a:bodyPr wrap="square"/>
                    <a:lstStyle/>
                    <a:p>
                      <a:pPr algn="l"/>
                      <a:r>
                        <a:rPr sz="950" b="1">
                          <a:solidFill>
                            <a:srgbClr val="202945"/>
                          </a:solidFill>
                          <a:latin typeface="Calibri"/>
                        </a:rPr>
                        <a:t>Eurozone</a:t>
                      </a:r>
                    </a:p>
                  </a:txBody>
                  <a:tcPr marL="45720" marR="45720" marT="9144" marB="9144" anchor="ctr">
                    <a:noFill/>
                  </a:tcPr>
                </a:tc>
                <a:tc>
                  <a:txBody>
                    <a:bodyPr wrap="square"/>
                    <a:lstStyle/>
                    <a:p>
                      <a:pPr algn="l"/>
                      <a:r>
                        <a:rPr sz="950" b="0">
                          <a:solidFill>
                            <a:srgbClr val="202945"/>
                          </a:solidFill>
                          <a:latin typeface="Calibri"/>
                        </a:rPr>
                        <a:t>DE0008404005</a:t>
                      </a:r>
                    </a:p>
                  </a:txBody>
                  <a:tcPr marL="45720" marR="45720" marT="9144" marB="9144" anchor="ctr">
                    <a:noFill/>
                  </a:tcPr>
                </a:tc>
                <a:tc>
                  <a:txBody>
                    <a:bodyPr wrap="square"/>
                    <a:lstStyle/>
                    <a:p>
                      <a:pPr algn="l"/>
                      <a:r>
                        <a:rPr sz="950" b="0">
                          <a:solidFill>
                            <a:srgbClr val="202945"/>
                          </a:solidFill>
                          <a:latin typeface="Calibri"/>
                        </a:rPr>
                        <a:t>ALLIANZ (NOM)</a:t>
                      </a:r>
                    </a:p>
                  </a:txBody>
                  <a:tcPr marL="45720" marR="45720" marT="9144" marB="9144" anchor="ctr">
                    <a:noFill/>
                  </a:tcPr>
                </a:tc>
                <a:tc>
                  <a:txBody>
                    <a:bodyPr wrap="square"/>
                    <a:lstStyle/>
                    <a:p>
                      <a:pPr algn="r"/>
                      <a:r>
                        <a:rPr sz="950" b="0">
                          <a:solidFill>
                            <a:srgbClr val="202945"/>
                          </a:solidFill>
                          <a:latin typeface="Calibri"/>
                        </a:rPr>
                        <a:t>3.0%</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XS3315944077</a:t>
                      </a:r>
                    </a:p>
                  </a:txBody>
                  <a:tcPr marL="45720" marR="45720" marT="9144" marB="9144" anchor="ctr">
                    <a:noFill/>
                  </a:tcPr>
                </a:tc>
                <a:tc>
                  <a:txBody>
                    <a:bodyPr wrap="square"/>
                    <a:lstStyle/>
                    <a:p>
                      <a:pPr algn="l"/>
                      <a:r>
                        <a:rPr sz="950" b="0">
                          <a:solidFill>
                            <a:srgbClr val="202945"/>
                          </a:solidFill>
                          <a:latin typeface="Calibri"/>
                        </a:rPr>
                        <a:t>SG CHINA NEXT WINNERS  01.06.2099</a:t>
                      </a:r>
                    </a:p>
                  </a:txBody>
                  <a:tcPr marL="45720" marR="45720" marT="9144" marB="9144" anchor="ctr">
                    <a:noFill/>
                  </a:tcPr>
                </a:tc>
                <a:tc>
                  <a:txBody>
                    <a:bodyPr wrap="square"/>
                    <a:lstStyle/>
                    <a:p>
                      <a:pPr algn="r"/>
                      <a:r>
                        <a:rPr sz="950" b="0">
                          <a:solidFill>
                            <a:srgbClr val="202945"/>
                          </a:solidFill>
                          <a:latin typeface="Calibri"/>
                        </a:rPr>
                        <a:t>1.9%</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NL0000235190</a:t>
                      </a:r>
                    </a:p>
                  </a:txBody>
                  <a:tcPr marL="45720" marR="45720" marT="9144" marB="9144" anchor="ctr">
                    <a:noFill/>
                  </a:tcPr>
                </a:tc>
                <a:tc>
                  <a:txBody>
                    <a:bodyPr wrap="square"/>
                    <a:lstStyle/>
                    <a:p>
                      <a:pPr algn="l"/>
                      <a:r>
                        <a:rPr sz="950" b="0">
                          <a:solidFill>
                            <a:srgbClr val="202945"/>
                          </a:solidFill>
                          <a:latin typeface="Calibri"/>
                        </a:rPr>
                        <a:t>AIRBUS</a:t>
                      </a:r>
                    </a:p>
                  </a:txBody>
                  <a:tcPr marL="45720" marR="45720" marT="9144" marB="9144" anchor="ctr">
                    <a:noFill/>
                  </a:tcPr>
                </a:tc>
                <a:tc>
                  <a:txBody>
                    <a:bodyPr wrap="square"/>
                    <a:lstStyle/>
                    <a:p>
                      <a:pPr algn="r"/>
                      <a:r>
                        <a:rPr sz="950" b="0">
                          <a:solidFill>
                            <a:srgbClr val="202945"/>
                          </a:solidFill>
                          <a:latin typeface="Calibri"/>
                        </a:rPr>
                        <a:t>1.4%</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IT0003856405</a:t>
                      </a:r>
                    </a:p>
                  </a:txBody>
                  <a:tcPr marL="45720" marR="45720" marT="9144" marB="9144" anchor="ctr">
                    <a:noFill/>
                  </a:tcPr>
                </a:tc>
                <a:tc>
                  <a:txBody>
                    <a:bodyPr wrap="square"/>
                    <a:lstStyle/>
                    <a:p>
                      <a:pPr algn="l"/>
                      <a:r>
                        <a:rPr sz="950" b="0">
                          <a:solidFill>
                            <a:srgbClr val="202945"/>
                          </a:solidFill>
                          <a:latin typeface="Calibri"/>
                        </a:rPr>
                        <a:t>LEONARDO (RAGGR)</a:t>
                      </a:r>
                    </a:p>
                  </a:txBody>
                  <a:tcPr marL="45720" marR="45720" marT="9144" marB="9144" anchor="ctr">
                    <a:noFill/>
                  </a:tcPr>
                </a:tc>
                <a:tc>
                  <a:txBody>
                    <a:bodyPr wrap="square"/>
                    <a:lstStyle/>
                    <a:p>
                      <a:pPr algn="r"/>
                      <a:r>
                        <a:rPr sz="950" b="0">
                          <a:solidFill>
                            <a:srgbClr val="202945"/>
                          </a:solidFill>
                          <a:latin typeface="Calibri"/>
                        </a:rPr>
                        <a:t>0.9%</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FR0014004L86</a:t>
                      </a:r>
                    </a:p>
                  </a:txBody>
                  <a:tcPr marL="45720" marR="45720" marT="9144" marB="9144" anchor="ctr">
                    <a:noFill/>
                  </a:tcPr>
                </a:tc>
                <a:tc>
                  <a:txBody>
                    <a:bodyPr wrap="square"/>
                    <a:lstStyle/>
                    <a:p>
                      <a:pPr algn="l"/>
                      <a:r>
                        <a:rPr sz="950" b="0">
                          <a:solidFill>
                            <a:srgbClr val="202945"/>
                          </a:solidFill>
                          <a:latin typeface="Calibri"/>
                        </a:rPr>
                        <a:t>DASSAULT AVIATION SA</a:t>
                      </a:r>
                    </a:p>
                  </a:txBody>
                  <a:tcPr marL="45720" marR="45720" marT="9144" marB="9144" anchor="ctr">
                    <a:noFill/>
                  </a:tcPr>
                </a:tc>
                <a:tc>
                  <a:txBody>
                    <a:bodyPr wrap="square"/>
                    <a:lstStyle/>
                    <a:p>
                      <a:pPr algn="r"/>
                      <a:r>
                        <a:rPr sz="950" b="0">
                          <a:solidFill>
                            <a:srgbClr val="202945"/>
                          </a:solidFill>
                          <a:latin typeface="Calibri"/>
                        </a:rPr>
                        <a:t>0.9%</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DE0008402215</a:t>
                      </a:r>
                    </a:p>
                  </a:txBody>
                  <a:tcPr marL="45720" marR="45720" marT="9144" marB="9144" anchor="ctr">
                    <a:noFill/>
                  </a:tcPr>
                </a:tc>
                <a:tc>
                  <a:txBody>
                    <a:bodyPr wrap="square"/>
                    <a:lstStyle/>
                    <a:p>
                      <a:pPr algn="l"/>
                      <a:r>
                        <a:rPr sz="950" b="0">
                          <a:solidFill>
                            <a:srgbClr val="202945"/>
                          </a:solidFill>
                          <a:latin typeface="Calibri"/>
                        </a:rPr>
                        <a:t>HANNOVER RUECK (NOM)</a:t>
                      </a:r>
                    </a:p>
                  </a:txBody>
                  <a:tcPr marL="45720" marR="45720" marT="9144" marB="9144" anchor="ctr">
                    <a:noFill/>
                  </a:tcPr>
                </a:tc>
                <a:tc>
                  <a:txBody>
                    <a:bodyPr wrap="square"/>
                    <a:lstStyle/>
                    <a:p>
                      <a:pPr algn="r"/>
                      <a:r>
                        <a:rPr sz="950" b="0">
                          <a:solidFill>
                            <a:srgbClr val="202945"/>
                          </a:solidFill>
                          <a:latin typeface="Calibri"/>
                        </a:rPr>
                        <a:t>0.5%</a:t>
                      </a:r>
                    </a:p>
                  </a:txBody>
                  <a:tcPr marL="45720" marR="45720" marT="9144" marB="9144" anchor="ctr">
                    <a:noFill/>
                  </a:tcPr>
                </a:tc>
              </a:tr>
              <a:tr h="205000">
                <a:tc rowSpan="2">
                  <a:txBody>
                    <a:bodyPr wrap="square"/>
                    <a:lstStyle/>
                    <a:p>
                      <a:pPr algn="l"/>
                      <a:r>
                        <a:rPr sz="950" b="1">
                          <a:solidFill>
                            <a:srgbClr val="202945"/>
                          </a:solidFill>
                          <a:latin typeface="Calibri"/>
                        </a:rPr>
                        <a:t>UK</a:t>
                      </a:r>
                    </a:p>
                  </a:txBody>
                  <a:tcPr marL="45720" marR="45720" marT="9144" marB="9144" anchor="ctr">
                    <a:noFill/>
                  </a:tcPr>
                </a:tc>
                <a:tc>
                  <a:txBody>
                    <a:bodyPr wrap="square"/>
                    <a:lstStyle/>
                    <a:p>
                      <a:pPr algn="l"/>
                      <a:r>
                        <a:rPr sz="950" b="0">
                          <a:solidFill>
                            <a:srgbClr val="202945"/>
                          </a:solidFill>
                          <a:latin typeface="Calibri"/>
                        </a:rPr>
                        <a:t>GB0002634946</a:t>
                      </a:r>
                    </a:p>
                  </a:txBody>
                  <a:tcPr marL="45720" marR="45720" marT="9144" marB="9144" anchor="ctr">
                    <a:noFill/>
                  </a:tcPr>
                </a:tc>
                <a:tc>
                  <a:txBody>
                    <a:bodyPr wrap="square"/>
                    <a:lstStyle/>
                    <a:p>
                      <a:pPr algn="l"/>
                      <a:r>
                        <a:rPr sz="950" b="0">
                          <a:solidFill>
                            <a:srgbClr val="202945"/>
                          </a:solidFill>
                          <a:latin typeface="Calibri"/>
                        </a:rPr>
                        <a:t>BAE SYSTEMS</a:t>
                      </a:r>
                    </a:p>
                  </a:txBody>
                  <a:tcPr marL="45720" marR="45720" marT="9144" marB="9144" anchor="ctr">
                    <a:noFill/>
                  </a:tcPr>
                </a:tc>
                <a:tc>
                  <a:txBody>
                    <a:bodyPr wrap="square"/>
                    <a:lstStyle/>
                    <a:p>
                      <a:pPr algn="r"/>
                      <a:r>
                        <a:rPr sz="950" b="0">
                          <a:solidFill>
                            <a:srgbClr val="202945"/>
                          </a:solidFill>
                          <a:latin typeface="Calibri"/>
                        </a:rPr>
                        <a:t>1.3%</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GB0008706128</a:t>
                      </a:r>
                    </a:p>
                  </a:txBody>
                  <a:tcPr marL="45720" marR="45720" marT="9144" marB="9144" anchor="ctr">
                    <a:noFill/>
                  </a:tcPr>
                </a:tc>
                <a:tc>
                  <a:txBody>
                    <a:bodyPr wrap="square"/>
                    <a:lstStyle/>
                    <a:p>
                      <a:pPr algn="l"/>
                      <a:r>
                        <a:rPr sz="950" b="0">
                          <a:solidFill>
                            <a:srgbClr val="202945"/>
                          </a:solidFill>
                          <a:latin typeface="Calibri"/>
                        </a:rPr>
                        <a:t>LLOYDS BANKING GROUP</a:t>
                      </a:r>
                    </a:p>
                  </a:txBody>
                  <a:tcPr marL="45720" marR="45720" marT="9144" marB="9144" anchor="ctr">
                    <a:noFill/>
                  </a:tcPr>
                </a:tc>
                <a:tc>
                  <a:txBody>
                    <a:bodyPr wrap="square"/>
                    <a:lstStyle/>
                    <a:p>
                      <a:pPr algn="r"/>
                      <a:r>
                        <a:rPr sz="950" b="0">
                          <a:solidFill>
                            <a:srgbClr val="202945"/>
                          </a:solidFill>
                          <a:latin typeface="Calibri"/>
                        </a:rPr>
                        <a:t>0.6%</a:t>
                      </a:r>
                    </a:p>
                  </a:txBody>
                  <a:tcPr marL="45720" marR="45720" marT="9144" marB="9144" anchor="ctr">
                    <a:noFill/>
                  </a:tcPr>
                </a:tc>
              </a:tr>
              <a:tr h="205000">
                <a:tc rowSpan="3">
                  <a:txBody>
                    <a:bodyPr wrap="square"/>
                    <a:lstStyle/>
                    <a:p>
                      <a:pPr algn="l"/>
                      <a:r>
                        <a:rPr sz="950" b="1">
                          <a:solidFill>
                            <a:srgbClr val="202945"/>
                          </a:solidFill>
                          <a:latin typeface="Calibri"/>
                        </a:rPr>
                        <a:t>Switzerland</a:t>
                      </a:r>
                    </a:p>
                  </a:txBody>
                  <a:tcPr marL="45720" marR="45720" marT="9144" marB="9144" anchor="ctr">
                    <a:noFill/>
                  </a:tcPr>
                </a:tc>
                <a:tc>
                  <a:txBody>
                    <a:bodyPr wrap="square"/>
                    <a:lstStyle/>
                    <a:p>
                      <a:pPr algn="l"/>
                      <a:r>
                        <a:rPr sz="950" b="0">
                          <a:solidFill>
                            <a:srgbClr val="202945"/>
                          </a:solidFill>
                          <a:latin typeface="Calibri"/>
                        </a:rPr>
                        <a:t>CH0017043958</a:t>
                      </a:r>
                    </a:p>
                  </a:txBody>
                  <a:tcPr marL="45720" marR="45720" marT="9144" marB="9144" anchor="ctr">
                    <a:noFill/>
                  </a:tcPr>
                </a:tc>
                <a:tc>
                  <a:txBody>
                    <a:bodyPr wrap="square"/>
                    <a:lstStyle/>
                    <a:p>
                      <a:pPr algn="l"/>
                      <a:r>
                        <a:rPr sz="950" b="0">
                          <a:solidFill>
                            <a:srgbClr val="202945"/>
                          </a:solidFill>
                          <a:latin typeface="Calibri"/>
                        </a:rPr>
                        <a:t>UBS(CH) EQ-SWISS INC CHFP</a:t>
                      </a:r>
                    </a:p>
                  </a:txBody>
                  <a:tcPr marL="45720" marR="45720" marT="9144" marB="9144" anchor="ctr">
                    <a:noFill/>
                  </a:tcPr>
                </a:tc>
                <a:tc>
                  <a:txBody>
                    <a:bodyPr wrap="square"/>
                    <a:lstStyle/>
                    <a:p>
                      <a:pPr algn="r"/>
                      <a:r>
                        <a:rPr sz="950" b="0">
                          <a:solidFill>
                            <a:srgbClr val="202945"/>
                          </a:solidFill>
                          <a:latin typeface="Calibri"/>
                        </a:rPr>
                        <a:t>2.8%</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CH0011075394</a:t>
                      </a:r>
                    </a:p>
                  </a:txBody>
                  <a:tcPr marL="45720" marR="45720" marT="9144" marB="9144" anchor="ctr">
                    <a:noFill/>
                  </a:tcPr>
                </a:tc>
                <a:tc>
                  <a:txBody>
                    <a:bodyPr wrap="square"/>
                    <a:lstStyle/>
                    <a:p>
                      <a:pPr algn="l"/>
                      <a:r>
                        <a:rPr sz="950" b="0">
                          <a:solidFill>
                            <a:srgbClr val="202945"/>
                          </a:solidFill>
                          <a:latin typeface="Calibri"/>
                        </a:rPr>
                        <a:t>ZURICH INSURANCE GRP(NOM)</a:t>
                      </a:r>
                    </a:p>
                  </a:txBody>
                  <a:tcPr marL="45720" marR="45720" marT="9144" marB="9144" anchor="ctr">
                    <a:noFill/>
                  </a:tcPr>
                </a:tc>
                <a:tc>
                  <a:txBody>
                    <a:bodyPr wrap="square"/>
                    <a:lstStyle/>
                    <a:p>
                      <a:pPr algn="r"/>
                      <a:r>
                        <a:rPr sz="950" b="0">
                          <a:solidFill>
                            <a:srgbClr val="202945"/>
                          </a:solidFill>
                          <a:latin typeface="Calibri"/>
                        </a:rPr>
                        <a:t>2.0%</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CH0008742519</a:t>
                      </a:r>
                    </a:p>
                  </a:txBody>
                  <a:tcPr marL="45720" marR="45720" marT="9144" marB="9144" anchor="ctr">
                    <a:noFill/>
                  </a:tcPr>
                </a:tc>
                <a:tc>
                  <a:txBody>
                    <a:bodyPr wrap="square"/>
                    <a:lstStyle/>
                    <a:p>
                      <a:pPr algn="l"/>
                      <a:r>
                        <a:rPr sz="950" b="0">
                          <a:solidFill>
                            <a:srgbClr val="202945"/>
                          </a:solidFill>
                          <a:latin typeface="Calibri"/>
                        </a:rPr>
                        <a:t>SWISSCOM (NOM)</a:t>
                      </a:r>
                    </a:p>
                  </a:txBody>
                  <a:tcPr marL="45720" marR="45720" marT="9144" marB="9144" anchor="ctr">
                    <a:noFill/>
                  </a:tcPr>
                </a:tc>
                <a:tc>
                  <a:txBody>
                    <a:bodyPr wrap="square"/>
                    <a:lstStyle/>
                    <a:p>
                      <a:pPr algn="r"/>
                      <a:r>
                        <a:rPr sz="950" b="0">
                          <a:solidFill>
                            <a:srgbClr val="202945"/>
                          </a:solidFill>
                          <a:latin typeface="Calibri"/>
                        </a:rPr>
                        <a:t>1.6%</a:t>
                      </a:r>
                    </a:p>
                  </a:txBody>
                  <a:tcPr marL="45720" marR="45720" marT="9144" marB="9144" anchor="ctr">
                    <a:noFill/>
                  </a:tcPr>
                </a:tc>
              </a:tr>
            </a:tbl>
          </a:graphicData>
        </a:graphic>
      </p:graphicFrame>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Portfolio overview</a:t>
            </a:r>
          </a:p>
        </p:txBody>
      </p:sp>
      <p:sp>
        <p:nvSpPr>
          <p:cNvPr id="3" name="Text Placeholder 2"/>
          <p:cNvSpPr>
            <a:spLocks noGrp="1"/>
          </p:cNvSpPr>
          <p:nvPr>
            <p:ph type="body" sz="quarter" idx="14"/>
          </p:nvPr>
        </p:nvSpPr>
        <p:spPr>
          <a:xfrm>
            <a:off x="665163" y="1645085"/>
            <a:ext cx="9398001" cy="251511"/>
          </a:xfrm>
        </p:spPr>
        <p:txBody>
          <a:bodyPr/>
          <a:lstStyle/>
          <a:p>
            <a:r>
              <a:rPr lang="en-US" sz="1400" noProof="0" dirty="0"/>
              <a:t>A consolidated view of the portfolio as at the statement date.</a:t>
            </a:r>
          </a:p>
        </p:txBody>
      </p:sp>
      <p:sp>
        <p:nvSpPr>
          <p:cNvPr id="4" name="Rectangle 3"/>
          <p:cNvSpPr/>
          <p:nvPr/>
        </p:nvSpPr>
        <p:spPr>
          <a:xfrm>
            <a:off x="666000" y="2412000"/>
            <a:ext cx="1792800" cy="1007999"/>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EUR 21.1M</a:t>
            </a:r>
          </a:p>
          <a:p>
            <a:pPr algn="ctr"/>
            <a:r>
              <a:rPr lang="en-US" sz="1400" b="0" noProof="0" dirty="0">
                <a:solidFill>
                  <a:srgbClr val="202945"/>
                </a:solidFill>
                <a:latin typeface="Nunito Sans"/>
              </a:rPr>
              <a:t>Total value</a:t>
            </a:r>
          </a:p>
        </p:txBody>
      </p:sp>
      <p:sp>
        <p:nvSpPr>
          <p:cNvPr id="5" name="Rectangle 4"/>
          <p:cNvSpPr/>
          <p:nvPr/>
        </p:nvSpPr>
        <p:spPr>
          <a:xfrm>
            <a:off x="2566800" y="2412000"/>
            <a:ext cx="1792800" cy="1007999"/>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68</a:t>
            </a:r>
          </a:p>
          <a:p>
            <a:pPr algn="ctr"/>
            <a:r>
              <a:rPr lang="en-US" sz="1400" b="0" noProof="0" dirty="0">
                <a:solidFill>
                  <a:srgbClr val="202945"/>
                </a:solidFill>
                <a:latin typeface="Nunito Sans"/>
              </a:rPr>
              <a:t>Positions</a:t>
            </a:r>
          </a:p>
        </p:txBody>
      </p:sp>
      <p:sp>
        <p:nvSpPr>
          <p:cNvPr id="6" name="Rectangle 5"/>
          <p:cNvSpPr/>
          <p:nvPr/>
        </p:nvSpPr>
        <p:spPr>
          <a:xfrm>
            <a:off x="4467600" y="2412000"/>
            <a:ext cx="1792800" cy="1007999"/>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20.1%</a:t>
            </a:r>
          </a:p>
          <a:p>
            <a:pPr algn="ctr"/>
            <a:r>
              <a:rPr lang="en-US" sz="1400" b="0" noProof="0" dirty="0">
                <a:solidFill>
                  <a:srgbClr val="202945"/>
                </a:solidFill>
                <a:latin typeface="Nunito Sans"/>
              </a:rPr>
              <a:t>Largest position</a:t>
            </a:r>
          </a:p>
        </p:txBody>
      </p:sp>
      <p:sp>
        <p:nvSpPr>
          <p:cNvPr id="7" name="Rectangle 6"/>
          <p:cNvSpPr/>
          <p:nvPr/>
        </p:nvSpPr>
        <p:spPr>
          <a:xfrm>
            <a:off x="6368400" y="2412000"/>
            <a:ext cx="1792800" cy="1007999"/>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83.4%</a:t>
            </a:r>
          </a:p>
          <a:p>
            <a:pPr algn="ctr"/>
            <a:r>
              <a:rPr lang="en-US" sz="1400" b="0" noProof="0" dirty="0">
                <a:solidFill>
                  <a:srgbClr val="202945"/>
                </a:solidFill>
                <a:latin typeface="Nunito Sans"/>
              </a:rPr>
              <a:t>Liquid share</a:t>
            </a:r>
          </a:p>
        </p:txBody>
      </p:sp>
      <p:sp>
        <p:nvSpPr>
          <p:cNvPr id="8" name="Rectangle 7"/>
          <p:cNvSpPr/>
          <p:nvPr/>
        </p:nvSpPr>
        <p:spPr>
          <a:xfrm>
            <a:off x="8269200" y="2412000"/>
            <a:ext cx="1792800" cy="1007999"/>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0.4%</a:t>
            </a:r>
          </a:p>
          <a:p>
            <a:pPr algn="ctr"/>
            <a:r>
              <a:rPr lang="en-US" sz="1400" b="0" noProof="0" dirty="0">
                <a:solidFill>
                  <a:srgbClr val="202945"/>
                </a:solidFill>
                <a:latin typeface="Nunito Sans"/>
              </a:rPr>
              <a:t>Running yield</a:t>
            </a:r>
          </a:p>
        </p:txBody>
      </p:sp>
      <p:sp>
        <p:nvSpPr>
          <p:cNvPr id="10" name="Rectangle 9"/>
          <p:cNvSpPr/>
          <p:nvPr/>
        </p:nvSpPr>
        <p:spPr>
          <a:xfrm>
            <a:off x="665163" y="4031999"/>
            <a:ext cx="9402762" cy="2591999"/>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aphicFrame>
        <p:nvGraphicFramePr>
          <p:cNvPr id="11" name="Chart 10"/>
          <p:cNvGraphicFramePr>
            <a:graphicFrameLocks noGrp="1"/>
          </p:cNvGraphicFramePr>
          <p:nvPr>
            <p:extLst>
              <p:ext uri="{D42A27DB-BD31-4B8C-83A1-F6EECF244321}">
                <p14:modId xmlns:p14="http://schemas.microsoft.com/office/powerpoint/2010/main" val="2148443508"/>
              </p:ext>
            </p:extLst>
          </p:nvPr>
        </p:nvGraphicFramePr>
        <p:xfrm>
          <a:off x="665163" y="4139676"/>
          <a:ext cx="5040000" cy="2231999"/>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2"/>
          <p:cNvSpPr txBox="1"/>
          <p:nvPr/>
        </p:nvSpPr>
        <p:spPr>
          <a:xfrm>
            <a:off x="666000" y="6983999"/>
            <a:ext cx="9396000" cy="432000"/>
          </a:xfrm>
          <a:prstGeom prst="rect">
            <a:avLst/>
          </a:prstGeom>
          <a:noFill/>
        </p:spPr>
        <p:txBody>
          <a:bodyPr wrap="square" anchor="t">
            <a:spAutoFit/>
          </a:bodyPr>
          <a:lstStyle/>
          <a:p>
            <a:pPr algn="l"/>
            <a:r>
              <a:rPr lang="en-US" sz="900" b="0" noProof="0" dirty="0">
                <a:solidFill>
                  <a:srgbClr val="4B5F80"/>
                </a:solidFill>
                <a:latin typeface="Nunito Sans"/>
              </a:rPr>
              <a:t>⚠ 2 of 23 fixed-income line(s) report no modified duration; portfolio duration reflects the 85% of the sleeve that does.</a:t>
            </a:r>
          </a:p>
        </p:txBody>
      </p:sp>
      <p:graphicFrame>
        <p:nvGraphicFramePr>
          <p:cNvPr id="15" name="Chart 14">
            <a:extLst>
              <a:ext uri="{FF2B5EF4-FFF2-40B4-BE49-F238E27FC236}">
                <a16:creationId xmlns:a16="http://schemas.microsoft.com/office/drawing/2014/main" id="{B9435713-E2C8-DCEF-CAD2-AB94539F1466}"/>
              </a:ext>
            </a:extLst>
          </p:cNvPr>
          <p:cNvGraphicFramePr>
            <a:graphicFrameLocks noGrp="1"/>
          </p:cNvGraphicFramePr>
          <p:nvPr>
            <p:extLst>
              <p:ext uri="{D42A27DB-BD31-4B8C-83A1-F6EECF244321}">
                <p14:modId xmlns:p14="http://schemas.microsoft.com/office/powerpoint/2010/main" val="2044145011"/>
              </p:ext>
            </p:extLst>
          </p:nvPr>
        </p:nvGraphicFramePr>
        <p:xfrm>
          <a:off x="5881036" y="4176349"/>
          <a:ext cx="4165388" cy="2232000"/>
        </p:xfrm>
        <a:graphic>
          <a:graphicData uri="http://schemas.openxmlformats.org/drawingml/2006/chart">
            <c:chart xmlns:c="http://schemas.openxmlformats.org/drawingml/2006/chart" xmlns:r="http://schemas.openxmlformats.org/officeDocument/2006/relationships" r:id="rId3"/>
          </a:graphicData>
        </a:graphic>
      </p:graphicFrame>
      <p:sp>
        <p:nvSpPr>
          <p:cNvPr id="16" name="TextBox 8"/>
          <p:cNvSpPr txBox="1"/>
          <p:nvPr/>
        </p:nvSpPr>
        <p:spPr>
          <a:xfrm>
            <a:off x="990000" y="5007600"/>
            <a:ext cx="2378880" cy="500000"/>
          </a:xfrm>
          <a:prstGeom prst="rect">
            <a:avLst/>
          </a:prstGeom>
          <a:noFill/>
        </p:spPr>
        <p:txBody>
          <a:bodyPr wrap="square" anchor="ctr" lIns="0" rIns="0" tIns="0" bIns="0">
            <a:spAutoFit/>
          </a:bodyPr>
          <a:lstStyle/>
          <a:p>
            <a:pPr algn="ctr"/>
            <a:r>
              <a:rPr sz="1400" b="1">
                <a:solidFill>
                  <a:srgbClr val="202945"/>
                </a:solidFill>
                <a:latin typeface="Nunito Sans"/>
              </a:rPr>
              <a:t>Allocation by
asset class</a:t>
            </a:r>
          </a:p>
        </p:txBody>
      </p:sp>
      <p:sp>
        <p:nvSpPr>
          <p:cNvPr id="17" name="TextBox 16"/>
          <p:cNvSpPr txBox="1"/>
          <p:nvPr/>
        </p:nvSpPr>
        <p:spPr>
          <a:xfrm>
            <a:off x="5943600" y="5007600"/>
            <a:ext cx="2378880" cy="500000"/>
          </a:xfrm>
          <a:prstGeom prst="rect">
            <a:avLst/>
          </a:prstGeom>
          <a:noFill/>
        </p:spPr>
        <p:txBody>
          <a:bodyPr wrap="square" anchor="ctr" lIns="0" rIns="0" tIns="0" bIns="0">
            <a:spAutoFit/>
          </a:bodyPr>
          <a:lstStyle/>
          <a:p>
            <a:pPr algn="ctr"/>
            <a:r>
              <a:rPr sz="1400" b="1">
                <a:solidFill>
                  <a:srgbClr val="202945"/>
                </a:solidFill>
                <a:latin typeface="Nunito Sans"/>
              </a:rPr>
              <a:t>Currency
exposure</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5163" y="1032442"/>
            <a:ext cx="9398001" cy="477703"/>
          </a:xfrm>
        </p:spPr>
        <p:txBody>
          <a:bodyPr/>
          <a:lstStyle/>
          <a:p>
            <a:r>
              <a:rPr lang="en-US" noProof="0" dirty="0"/>
              <a:t>Geographic exposure</a:t>
            </a:r>
          </a:p>
        </p:txBody>
      </p:sp>
      <p:sp>
        <p:nvSpPr>
          <p:cNvPr id="4" name="TextBox 3"/>
          <p:cNvSpPr txBox="1"/>
          <p:nvPr/>
        </p:nvSpPr>
        <p:spPr>
          <a:xfrm>
            <a:off x="666000" y="2340000"/>
            <a:ext cx="4608000" cy="307777"/>
          </a:xfrm>
          <a:prstGeom prst="rect">
            <a:avLst/>
          </a:prstGeom>
          <a:noFill/>
        </p:spPr>
        <p:txBody>
          <a:bodyPr wrap="square" anchor="t">
            <a:spAutoFit/>
          </a:bodyPr>
          <a:lstStyle/>
          <a:p>
            <a:pPr algn="l"/>
            <a:r>
              <a:rPr lang="en-US" sz="1400" b="1" noProof="0" dirty="0">
                <a:solidFill>
                  <a:srgbClr val="202945"/>
                </a:solidFill>
                <a:latin typeface="Nunito Sans ExtraBold"/>
              </a:rPr>
              <a:t>Whole portfolio</a:t>
            </a:r>
          </a:p>
        </p:txBody>
      </p:sp>
      <p:sp>
        <p:nvSpPr>
          <p:cNvPr id="5" name="Rectangle 4"/>
          <p:cNvSpPr/>
          <p:nvPr/>
        </p:nvSpPr>
        <p:spPr>
          <a:xfrm>
            <a:off x="666000" y="2700000"/>
            <a:ext cx="4608000" cy="3743999"/>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aphicFrame>
        <p:nvGraphicFramePr>
          <p:cNvPr id="6" name="Chart 5"/>
          <p:cNvGraphicFramePr>
            <a:graphicFrameLocks noGrp="1"/>
          </p:cNvGraphicFramePr>
          <p:nvPr>
            <p:extLst>
              <p:ext uri="{D42A27DB-BD31-4B8C-83A1-F6EECF244321}">
                <p14:modId xmlns:p14="http://schemas.microsoft.com/office/powerpoint/2010/main" val="1791008276"/>
              </p:ext>
            </p:extLst>
          </p:nvPr>
        </p:nvGraphicFramePr>
        <p:xfrm>
          <a:off x="846000" y="2880000"/>
          <a:ext cx="4248000" cy="3383999"/>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p:cNvSpPr txBox="1"/>
          <p:nvPr/>
        </p:nvSpPr>
        <p:spPr>
          <a:xfrm>
            <a:off x="5418000" y="2340000"/>
            <a:ext cx="4608000" cy="307777"/>
          </a:xfrm>
          <a:prstGeom prst="rect">
            <a:avLst/>
          </a:prstGeom>
          <a:noFill/>
        </p:spPr>
        <p:txBody>
          <a:bodyPr wrap="square" anchor="t">
            <a:spAutoFit/>
          </a:bodyPr>
          <a:lstStyle/>
          <a:p>
            <a:pPr algn="l"/>
            <a:r>
              <a:rPr lang="en-US" sz="1400" b="1" noProof="0">
                <a:solidFill>
                  <a:srgbClr val="202945"/>
                </a:solidFill>
                <a:latin typeface="Nunito Sans ExtraBold"/>
              </a:rPr>
              <a:t>Equity sleeve</a:t>
            </a:r>
          </a:p>
        </p:txBody>
      </p:sp>
      <p:sp>
        <p:nvSpPr>
          <p:cNvPr id="8" name="Rectangle 7"/>
          <p:cNvSpPr/>
          <p:nvPr/>
        </p:nvSpPr>
        <p:spPr>
          <a:xfrm>
            <a:off x="5418000" y="2700000"/>
            <a:ext cx="4608000" cy="3743999"/>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aphicFrame>
        <p:nvGraphicFramePr>
          <p:cNvPr id="9" name="Chart 8"/>
          <p:cNvGraphicFramePr>
            <a:graphicFrameLocks noGrp="1"/>
          </p:cNvGraphicFramePr>
          <p:nvPr>
            <p:extLst>
              <p:ext uri="{D42A27DB-BD31-4B8C-83A1-F6EECF244321}">
                <p14:modId xmlns:p14="http://schemas.microsoft.com/office/powerpoint/2010/main" val="477681824"/>
              </p:ext>
            </p:extLst>
          </p:nvPr>
        </p:nvGraphicFramePr>
        <p:xfrm>
          <a:off x="5598000" y="2880000"/>
          <a:ext cx="4248000" cy="3383999"/>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Placeholder 2"/>
          <p:cNvSpPr txBox="1"/>
          <p:nvPr/>
        </p:nvSpPr>
        <p:spPr>
          <a:xfrm>
            <a:off x="665163" y="1728947"/>
            <a:ext cx="9398001" cy="560000"/>
          </a:xfrm>
          <a:prstGeom prst="rect">
            <a:avLst/>
          </a:prstGeom>
          <a:noFill/>
        </p:spPr>
        <p:txBody>
          <a:bodyPr wrap="square" anchor="t" lIns="0" rIns="0" tIns="0" bIns="0">
            <a:spAutoFit/>
          </a:bodyPr>
          <a:lstStyle/>
          <a:p>
            <a:r>
              <a:rPr sz="1200">
                <a:solidFill>
                  <a:srgbClr val="202945"/>
                </a:solidFill>
              </a:rPr>
              <a:t>Regional breakdown of the whole portfolio and, separately, of the equity sleeve — 24 lines, EUR 7.2m, 34.0% of the portfolio.</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Fixed Income: income-type specifics</a:t>
            </a:r>
          </a:p>
        </p:txBody>
      </p:sp>
      <p:sp>
        <p:nvSpPr>
          <p:cNvPr id="4" name="TextBox 3"/>
          <p:cNvSpPr txBox="1"/>
          <p:nvPr/>
        </p:nvSpPr>
        <p:spPr>
          <a:xfrm>
            <a:off x="666000" y="2160000"/>
            <a:ext cx="4536000" cy="324000"/>
          </a:xfrm>
          <a:prstGeom prst="rect">
            <a:avLst/>
          </a:prstGeom>
          <a:noFill/>
        </p:spPr>
        <p:txBody>
          <a:bodyPr wrap="square" lIns="0" anchor="t">
            <a:spAutoFit/>
          </a:bodyPr>
          <a:lstStyle/>
          <a:p>
            <a:pPr algn="l"/>
            <a:r>
              <a:rPr lang="en-US" sz="1500" b="1" noProof="0" dirty="0">
                <a:solidFill>
                  <a:srgbClr val="202945"/>
                </a:solidFill>
                <a:latin typeface="Nunito Sans ExtraBold"/>
              </a:rPr>
              <a:t>How this sleeve is built</a:t>
            </a:r>
          </a:p>
        </p:txBody>
      </p:sp>
      <p:sp>
        <p:nvSpPr>
          <p:cNvPr id="5" name="TextBox 4"/>
          <p:cNvSpPr txBox="1"/>
          <p:nvPr/>
        </p:nvSpPr>
        <p:spPr>
          <a:xfrm>
            <a:off x="666000" y="2520000"/>
            <a:ext cx="4536000" cy="1200329"/>
          </a:xfrm>
          <a:prstGeom prst="rect">
            <a:avLst/>
          </a:prstGeom>
          <a:noFill/>
        </p:spPr>
        <p:txBody>
          <a:bodyPr wrap="square" lIns="0" anchor="t">
            <a:spAutoFit/>
          </a:bodyPr>
          <a:lstStyle/>
          <a:p>
            <a:pPr algn="l">
              <a:spcAft>
                <a:spcPts val="800"/>
              </a:spcAft>
            </a:pPr>
            <a:r>
              <a:rPr lang="en-US" sz="1200" b="0" noProof="0">
                <a:solidFill>
                  <a:srgbClr val="202945"/>
                </a:solidFill>
                <a:latin typeface="Nunito Sans"/>
              </a:rPr>
              <a:t>Fixed Income diversification: a mix of government bonds, high-quality corporate bonds and higher-yielding instruments (emerging-market debt, subordinated financial debt). Higher-yielding exposure is accessed through collective vehicles for diversification. The sleeve is designed for stability, regular income and capital preservation.</a:t>
            </a:r>
          </a:p>
        </p:txBody>
      </p:sp>
      <p:sp>
        <p:nvSpPr>
          <p:cNvPr id="6" name="TextBox 5"/>
          <p:cNvSpPr txBox="1"/>
          <p:nvPr/>
        </p:nvSpPr>
        <p:spPr>
          <a:xfrm>
            <a:off x="666000" y="4500000"/>
            <a:ext cx="4536000" cy="324000"/>
          </a:xfrm>
          <a:prstGeom prst="rect">
            <a:avLst/>
          </a:prstGeom>
          <a:noFill/>
        </p:spPr>
        <p:txBody>
          <a:bodyPr wrap="square" anchor="t">
            <a:spAutoFit/>
          </a:bodyPr>
          <a:lstStyle/>
          <a:p>
            <a:pPr algn="l"/>
            <a:r>
              <a:rPr lang="en-US" sz="1500" b="1" noProof="0" dirty="0">
                <a:solidFill>
                  <a:srgbClr val="202945"/>
                </a:solidFill>
                <a:latin typeface="Nunito Sans ExtraBold"/>
              </a:rPr>
              <a:t>Largest holdings in this sleeve</a:t>
            </a:r>
          </a:p>
        </p:txBody>
      </p:sp>
      <p:sp>
        <p:nvSpPr>
          <p:cNvPr id="8" name="TextBox 7"/>
          <p:cNvSpPr txBox="1"/>
          <p:nvPr/>
        </p:nvSpPr>
        <p:spPr>
          <a:xfrm>
            <a:off x="5418000" y="2160000"/>
            <a:ext cx="4608000" cy="324000"/>
          </a:xfrm>
          <a:prstGeom prst="rect">
            <a:avLst/>
          </a:prstGeom>
          <a:noFill/>
        </p:spPr>
        <p:txBody>
          <a:bodyPr wrap="square" anchor="t">
            <a:spAutoFit/>
          </a:bodyPr>
          <a:lstStyle/>
          <a:p>
            <a:pPr algn="l"/>
            <a:r>
              <a:rPr lang="en-US" sz="1500" b="1" noProof="0" dirty="0">
                <a:solidFill>
                  <a:srgbClr val="202945"/>
                </a:solidFill>
                <a:latin typeface="Nunito Sans ExtraBold"/>
              </a:rPr>
              <a:t>Fixed Income across investment vehicles</a:t>
            </a:r>
          </a:p>
        </p:txBody>
      </p:sp>
      <p:sp>
        <p:nvSpPr>
          <p:cNvPr id="9" name="Rectangle 8"/>
          <p:cNvSpPr/>
          <p:nvPr/>
        </p:nvSpPr>
        <p:spPr>
          <a:xfrm>
            <a:off x="5418000" y="2481500"/>
            <a:ext cx="4608000" cy="198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aphicFrame>
        <p:nvGraphicFramePr>
          <p:cNvPr id="10" name="Chart 9"/>
          <p:cNvGraphicFramePr>
            <a:graphicFrameLocks noGrp="1"/>
          </p:cNvGraphicFramePr>
          <p:nvPr>
            <p:extLst>
              <p:ext uri="{D42A27DB-BD31-4B8C-83A1-F6EECF244321}">
                <p14:modId xmlns:p14="http://schemas.microsoft.com/office/powerpoint/2010/main" val="22184399"/>
              </p:ext>
            </p:extLst>
          </p:nvPr>
        </p:nvGraphicFramePr>
        <p:xfrm>
          <a:off x="5598000" y="2700001"/>
          <a:ext cx="4219768" cy="1717028"/>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p:cNvSpPr txBox="1"/>
          <p:nvPr/>
        </p:nvSpPr>
        <p:spPr>
          <a:xfrm>
            <a:off x="666000" y="6983999"/>
            <a:ext cx="9396000" cy="432000"/>
          </a:xfrm>
          <a:prstGeom prst="rect">
            <a:avLst/>
          </a:prstGeom>
          <a:noFill/>
        </p:spPr>
        <p:txBody>
          <a:bodyPr wrap="square" anchor="t">
            <a:spAutoFit/>
          </a:bodyPr>
          <a:lstStyle/>
          <a:p>
            <a:pPr algn="l"/>
            <a:r>
              <a:rPr lang="en-US" sz="900" b="0" noProof="0" dirty="0">
                <a:solidFill>
                  <a:srgbClr val="4B5F80"/>
                </a:solidFill>
                <a:latin typeface="Nunito Sans"/>
              </a:rPr>
              <a:t>⚠ Duration coverage: 11 of 15 fixed-income line(s) report a modified duration; portfolio duration reflects only those.</a:t>
            </a:r>
          </a:p>
        </p:txBody>
      </p:sp>
      <p:grpSp>
        <p:nvGrpSpPr>
          <p:cNvPr id="14" name="Group 13">
            <a:extLst>
              <a:ext uri="{FF2B5EF4-FFF2-40B4-BE49-F238E27FC236}">
                <a16:creationId xmlns:a16="http://schemas.microsoft.com/office/drawing/2014/main" id="{56DA9580-A6B6-4071-E04D-2AAD7BD991A8}"/>
              </a:ext>
            </a:extLst>
          </p:cNvPr>
          <p:cNvGrpSpPr/>
          <p:nvPr/>
        </p:nvGrpSpPr>
        <p:grpSpPr>
          <a:xfrm>
            <a:off x="9966508" y="935038"/>
            <a:ext cx="540000" cy="540000"/>
            <a:chOff x="9862599" y="872588"/>
            <a:chExt cx="540000" cy="540000"/>
          </a:xfrm>
        </p:grpSpPr>
        <p:pic>
          <p:nvPicPr>
            <p:cNvPr id="13" name="Graphic 12" descr="Greek Pillar with solid fill">
              <a:extLst>
                <a:ext uri="{FF2B5EF4-FFF2-40B4-BE49-F238E27FC236}">
                  <a16:creationId xmlns:a16="http://schemas.microsoft.com/office/drawing/2014/main" id="{681C4647-5113-C638-FCCD-A70F7003E50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11195" y="935038"/>
              <a:ext cx="442808" cy="442808"/>
            </a:xfrm>
            <a:prstGeom prst="rect">
              <a:avLst/>
            </a:prstGeom>
          </p:spPr>
        </p:pic>
        <p:sp>
          <p:nvSpPr>
            <p:cNvPr id="3" name="Oval 2">
              <a:extLst>
                <a:ext uri="{FF2B5EF4-FFF2-40B4-BE49-F238E27FC236}">
                  <a16:creationId xmlns:a16="http://schemas.microsoft.com/office/drawing/2014/main" id="{92FC80C9-F3B5-588D-5159-77C7ABDCF4F4}"/>
                </a:ext>
              </a:extLst>
            </p:cNvPr>
            <p:cNvSpPr/>
            <p:nvPr/>
          </p:nvSpPr>
          <p:spPr>
            <a:xfrm>
              <a:off x="9862599" y="872588"/>
              <a:ext cx="540000" cy="540000"/>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H" sz="1400" dirty="0"/>
            </a:p>
          </p:txBody>
        </p:sp>
      </p:grpSp>
      <p:graphicFrame>
        <p:nvGraphicFramePr>
          <p:cNvPr id="15" name="Table 14"/>
          <p:cNvGraphicFramePr>
            <a:graphicFrameLocks noGrp="1"/>
          </p:cNvGraphicFramePr>
          <p:nvPr/>
        </p:nvGraphicFramePr>
        <p:xfrm>
          <a:off x="666000" y="4860000"/>
          <a:ext cx="9396000" cy="1879200"/>
        </p:xfrm>
        <a:graphic>
          <a:graphicData uri="http://schemas.openxmlformats.org/drawingml/2006/table">
            <a:tbl>
              <a:tblPr firstRow="1" bandRow="1">
                <a:tableStyleId>{5C22544A-7EE6-4342-B048-85BDC9FD1C3A}</a:tableStyleId>
              </a:tblPr>
              <a:tblGrid>
                <a:gridCol w="4322160"/>
                <a:gridCol w="1691280"/>
                <a:gridCol w="1315440"/>
                <a:gridCol w="2067120"/>
              </a:tblGrid>
              <a:tr h="313200">
                <a:tc>
                  <a:txBody>
                    <a:bodyPr wrap="square"/>
                    <a:lstStyle/>
                    <a:p>
                      <a:pPr algn="l"/>
                      <a:r>
                        <a:rPr sz="950" b="1">
                          <a:solidFill>
                            <a:srgbClr val="202945"/>
                          </a:solidFill>
                        </a:rPr>
                        <a:t>Holding</a:t>
                      </a:r>
                    </a:p>
                  </a:txBody>
                  <a:tcPr marL="45720" marR="45720" anchor="ctr">
                    <a:solidFill>
                      <a:srgbClr val="FFC545"/>
                    </a:solidFill>
                  </a:tcPr>
                </a:tc>
                <a:tc>
                  <a:txBody>
                    <a:bodyPr wrap="square"/>
                    <a:lstStyle/>
                    <a:p>
                      <a:pPr algn="l"/>
                      <a:r>
                        <a:rPr sz="950" b="1">
                          <a:solidFill>
                            <a:srgbClr val="202945"/>
                          </a:solidFill>
                        </a:rPr>
                        <a:t>Value</a:t>
                      </a:r>
                    </a:p>
                  </a:txBody>
                  <a:tcPr marL="45720" marR="45720" anchor="ctr">
                    <a:solidFill>
                      <a:srgbClr val="FFC545"/>
                    </a:solidFill>
                  </a:tcPr>
                </a:tc>
                <a:tc>
                  <a:txBody>
                    <a:bodyPr wrap="square"/>
                    <a:lstStyle/>
                    <a:p>
                      <a:pPr algn="l"/>
                      <a:r>
                        <a:rPr sz="950" b="1">
                          <a:solidFill>
                            <a:srgbClr val="202945"/>
                          </a:solidFill>
                        </a:rPr>
                        <a:t>Share</a:t>
                      </a:r>
                    </a:p>
                  </a:txBody>
                  <a:tcPr marL="45720" marR="45720" anchor="ctr">
                    <a:solidFill>
                      <a:srgbClr val="FFC545"/>
                    </a:solidFill>
                  </a:tcPr>
                </a:tc>
                <a:tc>
                  <a:txBody>
                    <a:bodyPr wrap="square"/>
                    <a:lstStyle/>
                    <a:p>
                      <a:pPr algn="l"/>
                      <a:r>
                        <a:rPr sz="950" b="1">
                          <a:solidFill>
                            <a:srgbClr val="202945"/>
                          </a:solidFill>
                        </a:rPr>
                        <a:t>Yield / Coupon</a:t>
                      </a:r>
                    </a:p>
                  </a:txBody>
                  <a:tcPr marL="45720" marR="45720" anchor="ctr">
                    <a:solidFill>
                      <a:srgbClr val="FFC545"/>
                    </a:solidFill>
                  </a:tcPr>
                </a:tc>
              </a:tr>
              <a:tr h="313200">
                <a:tc>
                  <a:txBody>
                    <a:bodyPr wrap="square"/>
                    <a:lstStyle/>
                    <a:p>
                      <a:pPr algn="l"/>
                      <a:r>
                        <a:rPr sz="900" b="0">
                          <a:solidFill>
                            <a:srgbClr val="202945"/>
                          </a:solidFill>
                        </a:rPr>
                        <a:t>SYZ EM BONDS CERTIFICATE</a:t>
                      </a:r>
                    </a:p>
                  </a:txBody>
                  <a:tcPr marL="45720" marR="45720" anchor="ctr">
                    <a:noFill/>
                  </a:tcPr>
                </a:tc>
                <a:tc>
                  <a:txBody>
                    <a:bodyPr wrap="square"/>
                    <a:lstStyle/>
                    <a:p>
                      <a:pPr algn="l"/>
                      <a:r>
                        <a:rPr sz="900" b="0">
                          <a:solidFill>
                            <a:srgbClr val="202945"/>
                          </a:solidFill>
                        </a:rPr>
                        <a:t>USD 719k</a:t>
                      </a:r>
                    </a:p>
                  </a:txBody>
                  <a:tcPr marL="45720" marR="45720" anchor="ctr">
                    <a:noFill/>
                  </a:tcPr>
                </a:tc>
                <a:tc>
                  <a:txBody>
                    <a:bodyPr wrap="square"/>
                    <a:lstStyle/>
                    <a:p>
                      <a:pPr algn="r"/>
                      <a:r>
                        <a:rPr sz="900" b="0">
                          <a:solidFill>
                            <a:srgbClr val="202945"/>
                          </a:solidFill>
                        </a:rPr>
                        <a:t>2.9%</a:t>
                      </a:r>
                    </a:p>
                  </a:txBody>
                  <a:tcPr marL="45720" marR="45720" anchor="ctr">
                    <a:noFill/>
                  </a:tcPr>
                </a:tc>
                <a:tc>
                  <a:txBody>
                    <a:bodyPr wrap="square"/>
                    <a:lstStyle/>
                    <a:p>
                      <a:pPr algn="r"/>
                      <a:r>
                        <a:rPr sz="900" b="0">
                          <a:solidFill>
                            <a:srgbClr val="202945"/>
                          </a:solidFill>
                        </a:rPr>
                        <a:t>—</a:t>
                      </a:r>
                    </a:p>
                  </a:txBody>
                  <a:tcPr marL="45720" marR="45720" anchor="ctr">
                    <a:noFill/>
                  </a:tcPr>
                </a:tc>
              </a:tr>
              <a:tr h="313200">
                <a:tc>
                  <a:txBody>
                    <a:bodyPr wrap="square"/>
                    <a:lstStyle/>
                    <a:p>
                      <a:pPr algn="l"/>
                      <a:r>
                        <a:rPr sz="900" b="0">
                          <a:solidFill>
                            <a:srgbClr val="202945"/>
                          </a:solidFill>
                        </a:rPr>
                        <a:t>STORM II BOND RC EUR</a:t>
                      </a:r>
                    </a:p>
                  </a:txBody>
                  <a:tcPr marL="45720" marR="45720" anchor="ctr">
                    <a:noFill/>
                  </a:tcPr>
                </a:tc>
                <a:tc>
                  <a:txBody>
                    <a:bodyPr wrap="square"/>
                    <a:lstStyle/>
                    <a:p>
                      <a:pPr algn="l"/>
                      <a:r>
                        <a:rPr sz="900" b="0">
                          <a:solidFill>
                            <a:srgbClr val="202945"/>
                          </a:solidFill>
                        </a:rPr>
                        <a:t>EUR 466k</a:t>
                      </a:r>
                    </a:p>
                  </a:txBody>
                  <a:tcPr marL="45720" marR="45720" anchor="ctr">
                    <a:noFill/>
                  </a:tcPr>
                </a:tc>
                <a:tc>
                  <a:txBody>
                    <a:bodyPr wrap="square"/>
                    <a:lstStyle/>
                    <a:p>
                      <a:pPr algn="r"/>
                      <a:r>
                        <a:rPr sz="900" b="0">
                          <a:solidFill>
                            <a:srgbClr val="202945"/>
                          </a:solidFill>
                        </a:rPr>
                        <a:t>2.2%</a:t>
                      </a:r>
                    </a:p>
                  </a:txBody>
                  <a:tcPr marL="45720" marR="45720" anchor="ctr">
                    <a:noFill/>
                  </a:tcPr>
                </a:tc>
                <a:tc>
                  <a:txBody>
                    <a:bodyPr wrap="square"/>
                    <a:lstStyle/>
                    <a:p>
                      <a:pPr algn="r"/>
                      <a:r>
                        <a:rPr sz="900" b="0">
                          <a:solidFill>
                            <a:srgbClr val="202945"/>
                          </a:solidFill>
                        </a:rPr>
                        <a:t>—</a:t>
                      </a:r>
                    </a:p>
                  </a:txBody>
                  <a:tcPr marL="45720" marR="45720" anchor="ctr">
                    <a:noFill/>
                  </a:tcPr>
                </a:tc>
              </a:tr>
              <a:tr h="313200">
                <a:tc>
                  <a:txBody>
                    <a:bodyPr wrap="square"/>
                    <a:lstStyle/>
                    <a:p>
                      <a:pPr algn="l"/>
                      <a:r>
                        <a:rPr sz="900" b="0">
                          <a:solidFill>
                            <a:srgbClr val="202945"/>
                          </a:solidFill>
                        </a:rPr>
                        <a:t>2.53% Fid. 17.08.2026 - 19.10.2026 QATAR NATIONAL BANK - DOHA No. 263303</a:t>
                      </a:r>
                    </a:p>
                  </a:txBody>
                  <a:tcPr marL="45720" marR="45720" anchor="ctr">
                    <a:noFill/>
                  </a:tcPr>
                </a:tc>
                <a:tc>
                  <a:txBody>
                    <a:bodyPr wrap="square"/>
                    <a:lstStyle/>
                    <a:p>
                      <a:pPr algn="l"/>
                      <a:r>
                        <a:rPr sz="900" b="0">
                          <a:solidFill>
                            <a:srgbClr val="202945"/>
                          </a:solidFill>
                        </a:rPr>
                        <a:t>EUR 320k</a:t>
                      </a:r>
                    </a:p>
                  </a:txBody>
                  <a:tcPr marL="45720" marR="45720" anchor="ctr">
                    <a:noFill/>
                  </a:tcPr>
                </a:tc>
                <a:tc>
                  <a:txBody>
                    <a:bodyPr wrap="square"/>
                    <a:lstStyle/>
                    <a:p>
                      <a:pPr algn="r"/>
                      <a:r>
                        <a:rPr sz="900" b="0">
                          <a:solidFill>
                            <a:srgbClr val="202945"/>
                          </a:solidFill>
                        </a:rPr>
                        <a:t>1.5%</a:t>
                      </a:r>
                    </a:p>
                  </a:txBody>
                  <a:tcPr marL="45720" marR="45720" anchor="ctr">
                    <a:noFill/>
                  </a:tcPr>
                </a:tc>
                <a:tc>
                  <a:txBody>
                    <a:bodyPr wrap="square"/>
                    <a:lstStyle/>
                    <a:p>
                      <a:pPr algn="r"/>
                      <a:r>
                        <a:rPr sz="900" b="0">
                          <a:solidFill>
                            <a:srgbClr val="202945"/>
                          </a:solidFill>
                        </a:rPr>
                        <a:t>2.53%</a:t>
                      </a:r>
                    </a:p>
                  </a:txBody>
                  <a:tcPr marL="45720" marR="45720" anchor="ctr">
                    <a:noFill/>
                  </a:tcPr>
                </a:tc>
              </a:tr>
              <a:tr h="313200">
                <a:tc>
                  <a:txBody>
                    <a:bodyPr wrap="square"/>
                    <a:lstStyle/>
                    <a:p>
                      <a:pPr algn="l"/>
                      <a:r>
                        <a:rPr sz="900" b="0">
                          <a:solidFill>
                            <a:srgbClr val="202945"/>
                          </a:solidFill>
                        </a:rPr>
                        <a:t>SYZ AM(CH) 1 LIQUID MGT D</a:t>
                      </a:r>
                    </a:p>
                  </a:txBody>
                  <a:tcPr marL="45720" marR="45720" anchor="ctr">
                    <a:noFill/>
                  </a:tcPr>
                </a:tc>
                <a:tc>
                  <a:txBody>
                    <a:bodyPr wrap="square"/>
                    <a:lstStyle/>
                    <a:p>
                      <a:pPr algn="l"/>
                      <a:r>
                        <a:rPr sz="900" b="0">
                          <a:solidFill>
                            <a:srgbClr val="202945"/>
                          </a:solidFill>
                        </a:rPr>
                        <a:t>USD 303k</a:t>
                      </a:r>
                    </a:p>
                  </a:txBody>
                  <a:tcPr marL="45720" marR="45720" anchor="ctr">
                    <a:noFill/>
                  </a:tcPr>
                </a:tc>
                <a:tc>
                  <a:txBody>
                    <a:bodyPr wrap="square"/>
                    <a:lstStyle/>
                    <a:p>
                      <a:pPr algn="r"/>
                      <a:r>
                        <a:rPr sz="900" b="0">
                          <a:solidFill>
                            <a:srgbClr val="202945"/>
                          </a:solidFill>
                        </a:rPr>
                        <a:t>1.2%</a:t>
                      </a:r>
                    </a:p>
                  </a:txBody>
                  <a:tcPr marL="45720" marR="45720" anchor="ctr">
                    <a:noFill/>
                  </a:tcPr>
                </a:tc>
                <a:tc>
                  <a:txBody>
                    <a:bodyPr wrap="square"/>
                    <a:lstStyle/>
                    <a:p>
                      <a:pPr algn="r"/>
                      <a:r>
                        <a:rPr sz="900" b="0">
                          <a:solidFill>
                            <a:srgbClr val="202945"/>
                          </a:solidFill>
                        </a:rPr>
                        <a:t>—</a:t>
                      </a:r>
                    </a:p>
                  </a:txBody>
                  <a:tcPr marL="45720" marR="45720" anchor="ctr">
                    <a:noFill/>
                  </a:tcPr>
                </a:tc>
              </a:tr>
              <a:tr h="313200">
                <a:tc>
                  <a:txBody>
                    <a:bodyPr wrap="square"/>
                    <a:lstStyle/>
                    <a:p>
                      <a:pPr algn="l"/>
                      <a:r>
                        <a:rPr sz="900" b="0">
                          <a:solidFill>
                            <a:srgbClr val="202945"/>
                          </a:solidFill>
                        </a:rPr>
                        <a:t>3.5% GOLDMAN SACHS JAN33  23.01.2033</a:t>
                      </a:r>
                    </a:p>
                  </a:txBody>
                  <a:tcPr marL="45720" marR="45720" anchor="ctr">
                    <a:noFill/>
                  </a:tcPr>
                </a:tc>
                <a:tc>
                  <a:txBody>
                    <a:bodyPr wrap="square"/>
                    <a:lstStyle/>
                    <a:p>
                      <a:pPr algn="l"/>
                      <a:r>
                        <a:rPr sz="900" b="0">
                          <a:solidFill>
                            <a:srgbClr val="202945"/>
                          </a:solidFill>
                        </a:rPr>
                        <a:t>EUR 199k</a:t>
                      </a:r>
                    </a:p>
                  </a:txBody>
                  <a:tcPr marL="45720" marR="45720" anchor="ctr">
                    <a:noFill/>
                  </a:tcPr>
                </a:tc>
                <a:tc>
                  <a:txBody>
                    <a:bodyPr wrap="square"/>
                    <a:lstStyle/>
                    <a:p>
                      <a:pPr algn="r"/>
                      <a:r>
                        <a:rPr sz="900" b="0">
                          <a:solidFill>
                            <a:srgbClr val="202945"/>
                          </a:solidFill>
                        </a:rPr>
                        <a:t>0.9%</a:t>
                      </a:r>
                    </a:p>
                  </a:txBody>
                  <a:tcPr marL="45720" marR="45720" anchor="ctr">
                    <a:noFill/>
                  </a:tcPr>
                </a:tc>
                <a:tc>
                  <a:txBody>
                    <a:bodyPr wrap="square"/>
                    <a:lstStyle/>
                    <a:p>
                      <a:pPr algn="r"/>
                      <a:r>
                        <a:rPr sz="900" b="0">
                          <a:solidFill>
                            <a:srgbClr val="202945"/>
                          </a:solidFill>
                        </a:rPr>
                        <a:t>4.03%</a:t>
                      </a:r>
                    </a:p>
                  </a:txBody>
                  <a:tcPr marL="45720" marR="45720" anchor="ctr">
                    <a:noFill/>
                  </a:tcPr>
                </a:tc>
              </a:tr>
            </a:tbl>
          </a:graphicData>
        </a:graphic>
      </p:graphicFrame>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Equities: income-type specifics</a:t>
            </a:r>
          </a:p>
        </p:txBody>
      </p:sp>
      <p:sp>
        <p:nvSpPr>
          <p:cNvPr id="4" name="TextBox 3"/>
          <p:cNvSpPr txBox="1"/>
          <p:nvPr/>
        </p:nvSpPr>
        <p:spPr>
          <a:xfrm>
            <a:off x="666000" y="2160000"/>
            <a:ext cx="4536000" cy="307777"/>
          </a:xfrm>
          <a:prstGeom prst="rect">
            <a:avLst/>
          </a:prstGeom>
          <a:noFill/>
        </p:spPr>
        <p:txBody>
          <a:bodyPr wrap="square" lIns="0" anchor="t">
            <a:spAutoFit/>
          </a:bodyPr>
          <a:lstStyle/>
          <a:p>
            <a:pPr algn="l"/>
            <a:r>
              <a:rPr lang="en-US" sz="1400" b="1" noProof="0">
                <a:solidFill>
                  <a:srgbClr val="202945"/>
                </a:solidFill>
                <a:latin typeface="Nunito Sans ExtraBold"/>
              </a:rPr>
              <a:t>How this sleeve is built</a:t>
            </a:r>
          </a:p>
        </p:txBody>
      </p:sp>
      <p:sp>
        <p:nvSpPr>
          <p:cNvPr id="5" name="TextBox 4"/>
          <p:cNvSpPr txBox="1"/>
          <p:nvPr/>
        </p:nvSpPr>
        <p:spPr>
          <a:xfrm>
            <a:off x="666000" y="2520000"/>
            <a:ext cx="4536000" cy="1015663"/>
          </a:xfrm>
          <a:prstGeom prst="rect">
            <a:avLst/>
          </a:prstGeom>
          <a:noFill/>
        </p:spPr>
        <p:txBody>
          <a:bodyPr wrap="square" lIns="0" anchor="t">
            <a:spAutoFit/>
          </a:bodyPr>
          <a:lstStyle/>
          <a:p>
            <a:pPr algn="l">
              <a:spcAft>
                <a:spcPts val="800"/>
              </a:spcAft>
            </a:pPr>
            <a:r>
              <a:rPr lang="en-US" sz="1200" b="0" noProof="0">
                <a:solidFill>
                  <a:srgbClr val="202945"/>
                </a:solidFill>
                <a:latin typeface="Nunito Sans"/>
              </a:rPr>
              <a:t>Equities style diversification: a combination of traditional equities (focused on capital gain), high-dividend-yield stocks (capital gain plus distribution) and 'income' funds. Exposure is spread across funds, ETFs, structured products and AMCs to balance growth and income.</a:t>
            </a:r>
          </a:p>
        </p:txBody>
      </p:sp>
      <p:sp>
        <p:nvSpPr>
          <p:cNvPr id="6" name="TextBox 5"/>
          <p:cNvSpPr txBox="1"/>
          <p:nvPr/>
        </p:nvSpPr>
        <p:spPr>
          <a:xfrm>
            <a:off x="666000" y="4500000"/>
            <a:ext cx="4536000" cy="324000"/>
          </a:xfrm>
          <a:prstGeom prst="rect">
            <a:avLst/>
          </a:prstGeom>
          <a:noFill/>
        </p:spPr>
        <p:txBody>
          <a:bodyPr wrap="square" anchor="t">
            <a:spAutoFit/>
          </a:bodyPr>
          <a:lstStyle/>
          <a:p>
            <a:pPr algn="l"/>
            <a:r>
              <a:rPr lang="en-US" sz="1500" b="1" noProof="0" dirty="0">
                <a:solidFill>
                  <a:srgbClr val="202945"/>
                </a:solidFill>
                <a:latin typeface="Nunito Sans ExtraBold"/>
              </a:rPr>
              <a:t>Largest holdings in this sleeve</a:t>
            </a:r>
          </a:p>
        </p:txBody>
      </p:sp>
      <p:sp>
        <p:nvSpPr>
          <p:cNvPr id="8" name="TextBox 7"/>
          <p:cNvSpPr txBox="1"/>
          <p:nvPr/>
        </p:nvSpPr>
        <p:spPr>
          <a:xfrm>
            <a:off x="5418000" y="2160000"/>
            <a:ext cx="4608000" cy="307777"/>
          </a:xfrm>
          <a:prstGeom prst="rect">
            <a:avLst/>
          </a:prstGeom>
          <a:noFill/>
        </p:spPr>
        <p:txBody>
          <a:bodyPr wrap="square" anchor="t">
            <a:spAutoFit/>
          </a:bodyPr>
          <a:lstStyle/>
          <a:p>
            <a:pPr algn="l"/>
            <a:r>
              <a:rPr lang="en-US" sz="1400" b="1" noProof="0">
                <a:solidFill>
                  <a:srgbClr val="202945"/>
                </a:solidFill>
                <a:latin typeface="Nunito Sans ExtraBold"/>
              </a:rPr>
              <a:t>Equities across investment vehicles</a:t>
            </a:r>
          </a:p>
        </p:txBody>
      </p:sp>
      <p:sp>
        <p:nvSpPr>
          <p:cNvPr id="9" name="Rectangle 8"/>
          <p:cNvSpPr/>
          <p:nvPr/>
        </p:nvSpPr>
        <p:spPr>
          <a:xfrm>
            <a:off x="5418000" y="2520000"/>
            <a:ext cx="4607813" cy="2088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aphicFrame>
        <p:nvGraphicFramePr>
          <p:cNvPr id="10" name="Chart 9"/>
          <p:cNvGraphicFramePr>
            <a:graphicFrameLocks noGrp="1"/>
          </p:cNvGraphicFramePr>
          <p:nvPr>
            <p:extLst>
              <p:ext uri="{D42A27DB-BD31-4B8C-83A1-F6EECF244321}">
                <p14:modId xmlns:p14="http://schemas.microsoft.com/office/powerpoint/2010/main" val="4122133409"/>
              </p:ext>
            </p:extLst>
          </p:nvPr>
        </p:nvGraphicFramePr>
        <p:xfrm>
          <a:off x="5598000" y="2700000"/>
          <a:ext cx="4219768" cy="1753029"/>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p:cNvSpPr txBox="1"/>
          <p:nvPr/>
        </p:nvSpPr>
        <p:spPr>
          <a:xfrm>
            <a:off x="666000" y="6983999"/>
            <a:ext cx="9396000" cy="432000"/>
          </a:xfrm>
          <a:prstGeom prst="rect">
            <a:avLst/>
          </a:prstGeom>
          <a:noFill/>
        </p:spPr>
        <p:txBody>
          <a:bodyPr wrap="square" anchor="t">
            <a:spAutoFit/>
          </a:bodyPr>
          <a:lstStyle/>
          <a:p>
            <a:pPr algn="l"/>
            <a:r>
              <a:rPr lang="en-US" sz="900" b="0" noProof="0" dirty="0">
                <a:solidFill>
                  <a:srgbClr val="4B5F80"/>
                </a:solidFill>
                <a:latin typeface="Nunito Sans"/>
              </a:rPr>
              <a:t/>
            </a:r>
          </a:p>
        </p:txBody>
      </p:sp>
      <p:graphicFrame>
        <p:nvGraphicFramePr>
          <p:cNvPr id="15" name="Chart 14">
            <a:extLst>
              <a:ext uri="{FF2B5EF4-FFF2-40B4-BE49-F238E27FC236}">
                <a16:creationId xmlns:a16="http://schemas.microsoft.com/office/drawing/2014/main" id="{E155B82B-9F74-3447-2CDB-A709B349221B}"/>
              </a:ext>
            </a:extLst>
          </p:cNvPr>
          <p:cNvGraphicFramePr>
            <a:graphicFrameLocks noGrp="1"/>
          </p:cNvGraphicFramePr>
          <p:nvPr>
            <p:extLst>
              <p:ext uri="{D42A27DB-BD31-4B8C-83A1-F6EECF244321}">
                <p14:modId xmlns:p14="http://schemas.microsoft.com/office/powerpoint/2010/main" val="3253181008"/>
              </p:ext>
            </p:extLst>
          </p:nvPr>
        </p:nvGraphicFramePr>
        <p:xfrm>
          <a:off x="5598000" y="2677149"/>
          <a:ext cx="4219768" cy="1717028"/>
        </p:xfrm>
        <a:graphic>
          <a:graphicData uri="http://schemas.openxmlformats.org/drawingml/2006/chart">
            <c:chart xmlns:c="http://schemas.openxmlformats.org/drawingml/2006/chart" xmlns:r="http://schemas.openxmlformats.org/officeDocument/2006/relationships" r:id="rId4"/>
          </a:graphicData>
        </a:graphic>
      </p:graphicFrame>
      <p:sp>
        <p:nvSpPr>
          <p:cNvPr id="29" name="Oval 28">
            <a:extLst>
              <a:ext uri="{FF2B5EF4-FFF2-40B4-BE49-F238E27FC236}">
                <a16:creationId xmlns:a16="http://schemas.microsoft.com/office/drawing/2014/main" id="{B544D1BC-ACD4-908C-5881-787D5AF6AD04}"/>
              </a:ext>
            </a:extLst>
          </p:cNvPr>
          <p:cNvSpPr/>
          <p:nvPr/>
        </p:nvSpPr>
        <p:spPr>
          <a:xfrm>
            <a:off x="9966508" y="935038"/>
            <a:ext cx="540000" cy="540000"/>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H" sz="1400"/>
          </a:p>
        </p:txBody>
      </p:sp>
      <p:pic>
        <p:nvPicPr>
          <p:cNvPr id="31" name="Graphic 30" descr="Open hand with plant outline">
            <a:extLst>
              <a:ext uri="{FF2B5EF4-FFF2-40B4-BE49-F238E27FC236}">
                <a16:creationId xmlns:a16="http://schemas.microsoft.com/office/drawing/2014/main" id="{FA7BB328-DA17-295C-83D8-5617889218B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004919" y="974519"/>
            <a:ext cx="463178" cy="463178"/>
          </a:xfrm>
          <a:prstGeom prst="rect">
            <a:avLst/>
          </a:prstGeom>
        </p:spPr>
      </p:pic>
      <p:graphicFrame>
        <p:nvGraphicFramePr>
          <p:cNvPr id="32" name="Table 31"/>
          <p:cNvGraphicFramePr>
            <a:graphicFrameLocks noGrp="1"/>
          </p:cNvGraphicFramePr>
          <p:nvPr/>
        </p:nvGraphicFramePr>
        <p:xfrm>
          <a:off x="666000" y="4860000"/>
          <a:ext cx="9359810" cy="1667280"/>
        </p:xfrm>
        <a:graphic>
          <a:graphicData uri="http://schemas.openxmlformats.org/drawingml/2006/table">
            <a:tbl>
              <a:tblPr firstRow="1" bandRow="1">
                <a:tableStyleId>{5C22544A-7EE6-4342-B048-85BDC9FD1C3A}</a:tableStyleId>
              </a:tblPr>
              <a:tblGrid>
                <a:gridCol w="4867102"/>
                <a:gridCol w="2246354"/>
                <a:gridCol w="2246354"/>
              </a:tblGrid>
              <a:tr h="277880">
                <a:tc>
                  <a:txBody>
                    <a:bodyPr wrap="square"/>
                    <a:lstStyle/>
                    <a:p>
                      <a:pPr algn="l"/>
                      <a:r>
                        <a:rPr sz="950" b="1">
                          <a:solidFill>
                            <a:srgbClr val="202945"/>
                          </a:solidFill>
                        </a:rPr>
                        <a:t>Holding</a:t>
                      </a:r>
                    </a:p>
                  </a:txBody>
                  <a:tcPr marL="45720" marR="45720" anchor="ctr">
                    <a:solidFill>
                      <a:srgbClr val="FFC545"/>
                    </a:solidFill>
                  </a:tcPr>
                </a:tc>
                <a:tc>
                  <a:txBody>
                    <a:bodyPr wrap="square"/>
                    <a:lstStyle/>
                    <a:p>
                      <a:pPr algn="l"/>
                      <a:r>
                        <a:rPr sz="950" b="1">
                          <a:solidFill>
                            <a:srgbClr val="202945"/>
                          </a:solidFill>
                        </a:rPr>
                        <a:t>Value</a:t>
                      </a:r>
                    </a:p>
                  </a:txBody>
                  <a:tcPr marL="45720" marR="45720" anchor="ctr">
                    <a:solidFill>
                      <a:srgbClr val="FFC545"/>
                    </a:solidFill>
                  </a:tcPr>
                </a:tc>
                <a:tc>
                  <a:txBody>
                    <a:bodyPr wrap="square"/>
                    <a:lstStyle/>
                    <a:p>
                      <a:pPr algn="l"/>
                      <a:r>
                        <a:rPr sz="950" b="1">
                          <a:solidFill>
                            <a:srgbClr val="202945"/>
                          </a:solidFill>
                        </a:rPr>
                        <a:t>Share</a:t>
                      </a:r>
                    </a:p>
                  </a:txBody>
                  <a:tcPr marL="45720" marR="45720" anchor="ctr">
                    <a:solidFill>
                      <a:srgbClr val="FFC545"/>
                    </a:solidFill>
                  </a:tcPr>
                </a:tc>
              </a:tr>
              <a:tr h="277880">
                <a:tc>
                  <a:txBody>
                    <a:bodyPr wrap="square"/>
                    <a:lstStyle/>
                    <a:p>
                      <a:pPr algn="l"/>
                      <a:r>
                        <a:rPr sz="900" b="0">
                          <a:solidFill>
                            <a:srgbClr val="202945"/>
                          </a:solidFill>
                        </a:rPr>
                        <a:t>ALLIANZ (NOM)</a:t>
                      </a:r>
                    </a:p>
                  </a:txBody>
                  <a:tcPr marL="45720" marR="45720" anchor="ctr">
                    <a:noFill/>
                  </a:tcPr>
                </a:tc>
                <a:tc>
                  <a:txBody>
                    <a:bodyPr wrap="square"/>
                    <a:lstStyle/>
                    <a:p>
                      <a:pPr algn="l"/>
                      <a:r>
                        <a:rPr sz="900" b="0">
                          <a:solidFill>
                            <a:srgbClr val="202945"/>
                          </a:solidFill>
                        </a:rPr>
                        <a:t>EUR 635k</a:t>
                      </a:r>
                    </a:p>
                  </a:txBody>
                  <a:tcPr marL="45720" marR="45720" anchor="ctr">
                    <a:noFill/>
                  </a:tcPr>
                </a:tc>
                <a:tc>
                  <a:txBody>
                    <a:bodyPr wrap="square"/>
                    <a:lstStyle/>
                    <a:p>
                      <a:pPr algn="r"/>
                      <a:r>
                        <a:rPr sz="900" b="0">
                          <a:solidFill>
                            <a:srgbClr val="202945"/>
                          </a:solidFill>
                        </a:rPr>
                        <a:t>3.0%</a:t>
                      </a:r>
                    </a:p>
                  </a:txBody>
                  <a:tcPr marL="45720" marR="45720" anchor="ctr">
                    <a:noFill/>
                  </a:tcPr>
                </a:tc>
              </a:tr>
              <a:tr h="277880">
                <a:tc>
                  <a:txBody>
                    <a:bodyPr wrap="square"/>
                    <a:lstStyle/>
                    <a:p>
                      <a:pPr algn="l"/>
                      <a:r>
                        <a:rPr sz="900" b="0">
                          <a:solidFill>
                            <a:srgbClr val="202945"/>
                          </a:solidFill>
                        </a:rPr>
                        <a:t>UBS(CH) EQ-SWISS INC CHFP</a:t>
                      </a:r>
                    </a:p>
                  </a:txBody>
                  <a:tcPr marL="45720" marR="45720" anchor="ctr">
                    <a:noFill/>
                  </a:tcPr>
                </a:tc>
                <a:tc>
                  <a:txBody>
                    <a:bodyPr wrap="square"/>
                    <a:lstStyle/>
                    <a:p>
                      <a:pPr algn="l"/>
                      <a:r>
                        <a:rPr sz="900" b="0">
                          <a:solidFill>
                            <a:srgbClr val="202945"/>
                          </a:solidFill>
                        </a:rPr>
                        <a:t>CHF 551k</a:t>
                      </a:r>
                    </a:p>
                  </a:txBody>
                  <a:tcPr marL="45720" marR="45720" anchor="ctr">
                    <a:noFill/>
                  </a:tcPr>
                </a:tc>
                <a:tc>
                  <a:txBody>
                    <a:bodyPr wrap="square"/>
                    <a:lstStyle/>
                    <a:p>
                      <a:pPr algn="r"/>
                      <a:r>
                        <a:rPr sz="900" b="0">
                          <a:solidFill>
                            <a:srgbClr val="202945"/>
                          </a:solidFill>
                        </a:rPr>
                        <a:t>2.8%</a:t>
                      </a:r>
                    </a:p>
                  </a:txBody>
                  <a:tcPr marL="45720" marR="45720" anchor="ctr">
                    <a:noFill/>
                  </a:tcPr>
                </a:tc>
              </a:tr>
              <a:tr h="277880">
                <a:tc>
                  <a:txBody>
                    <a:bodyPr wrap="square"/>
                    <a:lstStyle/>
                    <a:p>
                      <a:pPr algn="l"/>
                      <a:r>
                        <a:rPr sz="900" b="0">
                          <a:solidFill>
                            <a:srgbClr val="202945"/>
                          </a:solidFill>
                        </a:rPr>
                        <a:t>VANECK VECTORS DEF A ETF</a:t>
                      </a:r>
                    </a:p>
                  </a:txBody>
                  <a:tcPr marL="45720" marR="45720" anchor="ctr">
                    <a:noFill/>
                  </a:tcPr>
                </a:tc>
                <a:tc>
                  <a:txBody>
                    <a:bodyPr wrap="square"/>
                    <a:lstStyle/>
                    <a:p>
                      <a:pPr algn="l"/>
                      <a:r>
                        <a:rPr sz="900" b="0">
                          <a:solidFill>
                            <a:srgbClr val="202945"/>
                          </a:solidFill>
                        </a:rPr>
                        <a:t>EUR 502k</a:t>
                      </a:r>
                    </a:p>
                  </a:txBody>
                  <a:tcPr marL="45720" marR="45720" anchor="ctr">
                    <a:noFill/>
                  </a:tcPr>
                </a:tc>
                <a:tc>
                  <a:txBody>
                    <a:bodyPr wrap="square"/>
                    <a:lstStyle/>
                    <a:p>
                      <a:pPr algn="r"/>
                      <a:r>
                        <a:rPr sz="900" b="0">
                          <a:solidFill>
                            <a:srgbClr val="202945"/>
                          </a:solidFill>
                        </a:rPr>
                        <a:t>2.4%</a:t>
                      </a:r>
                    </a:p>
                  </a:txBody>
                  <a:tcPr marL="45720" marR="45720" anchor="ctr">
                    <a:noFill/>
                  </a:tcPr>
                </a:tc>
              </a:tr>
              <a:tr h="277880">
                <a:tc>
                  <a:txBody>
                    <a:bodyPr wrap="square"/>
                    <a:lstStyle/>
                    <a:p>
                      <a:pPr algn="l"/>
                      <a:r>
                        <a:rPr sz="900" b="0">
                          <a:solidFill>
                            <a:srgbClr val="202945"/>
                          </a:solidFill>
                        </a:rPr>
                        <a:t>BRGF WORLD MINING(REG)A2</a:t>
                      </a:r>
                    </a:p>
                  </a:txBody>
                  <a:tcPr marL="45720" marR="45720" anchor="ctr">
                    <a:noFill/>
                  </a:tcPr>
                </a:tc>
                <a:tc>
                  <a:txBody>
                    <a:bodyPr wrap="square"/>
                    <a:lstStyle/>
                    <a:p>
                      <a:pPr algn="l"/>
                      <a:r>
                        <a:rPr sz="900" b="0">
                          <a:solidFill>
                            <a:srgbClr val="202945"/>
                          </a:solidFill>
                        </a:rPr>
                        <a:t>USD 558k</a:t>
                      </a:r>
                    </a:p>
                  </a:txBody>
                  <a:tcPr marL="45720" marR="45720" anchor="ctr">
                    <a:noFill/>
                  </a:tcPr>
                </a:tc>
                <a:tc>
                  <a:txBody>
                    <a:bodyPr wrap="square"/>
                    <a:lstStyle/>
                    <a:p>
                      <a:pPr algn="r"/>
                      <a:r>
                        <a:rPr sz="900" b="0">
                          <a:solidFill>
                            <a:srgbClr val="202945"/>
                          </a:solidFill>
                        </a:rPr>
                        <a:t>2.3%</a:t>
                      </a:r>
                    </a:p>
                  </a:txBody>
                  <a:tcPr marL="45720" marR="45720" anchor="ctr">
                    <a:noFill/>
                  </a:tcPr>
                </a:tc>
              </a:tr>
              <a:tr h="277880">
                <a:tc>
                  <a:txBody>
                    <a:bodyPr wrap="square"/>
                    <a:lstStyle/>
                    <a:p>
                      <a:pPr algn="l"/>
                      <a:r>
                        <a:rPr sz="900" b="0">
                          <a:solidFill>
                            <a:srgbClr val="202945"/>
                          </a:solidFill>
                        </a:rPr>
                        <a:t>GOLDMAN EU HIGH DIV P CAP</a:t>
                      </a:r>
                    </a:p>
                  </a:txBody>
                  <a:tcPr marL="45720" marR="45720" anchor="ctr">
                    <a:noFill/>
                  </a:tcPr>
                </a:tc>
                <a:tc>
                  <a:txBody>
                    <a:bodyPr wrap="square"/>
                    <a:lstStyle/>
                    <a:p>
                      <a:pPr algn="l"/>
                      <a:r>
                        <a:rPr sz="900" b="0">
                          <a:solidFill>
                            <a:srgbClr val="202945"/>
                          </a:solidFill>
                        </a:rPr>
                        <a:t>EUR 435k</a:t>
                      </a:r>
                    </a:p>
                  </a:txBody>
                  <a:tcPr marL="45720" marR="45720" anchor="ctr">
                    <a:noFill/>
                  </a:tcPr>
                </a:tc>
                <a:tc>
                  <a:txBody>
                    <a:bodyPr wrap="square"/>
                    <a:lstStyle/>
                    <a:p>
                      <a:pPr algn="r"/>
                      <a:r>
                        <a:rPr sz="900" b="0">
                          <a:solidFill>
                            <a:srgbClr val="202945"/>
                          </a:solidFill>
                        </a:rPr>
                        <a:t>2.1%</a:t>
                      </a:r>
                    </a:p>
                  </a:txBody>
                  <a:tcPr marL="45720" marR="45720" anchor="ctr">
                    <a:noFill/>
                  </a:tcPr>
                </a:tc>
              </a:tr>
            </a:tbl>
          </a:graphicData>
        </a:graphic>
      </p:graphicFrame>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Alternatives: income-type specifics</a:t>
            </a:r>
          </a:p>
        </p:txBody>
      </p:sp>
      <p:sp>
        <p:nvSpPr>
          <p:cNvPr id="4" name="TextBox 3"/>
          <p:cNvSpPr txBox="1"/>
          <p:nvPr/>
        </p:nvSpPr>
        <p:spPr>
          <a:xfrm>
            <a:off x="666000" y="2160000"/>
            <a:ext cx="4536000" cy="307777"/>
          </a:xfrm>
          <a:prstGeom prst="rect">
            <a:avLst/>
          </a:prstGeom>
          <a:noFill/>
        </p:spPr>
        <p:txBody>
          <a:bodyPr wrap="square" lIns="0" anchor="t">
            <a:spAutoFit/>
          </a:bodyPr>
          <a:lstStyle/>
          <a:p>
            <a:pPr algn="l"/>
            <a:r>
              <a:rPr lang="en-US" sz="1400" b="1" noProof="0" dirty="0">
                <a:solidFill>
                  <a:srgbClr val="202945"/>
                </a:solidFill>
                <a:latin typeface="Nunito Sans ExtraBold"/>
              </a:rPr>
              <a:t>How this sleeve is built</a:t>
            </a:r>
          </a:p>
        </p:txBody>
      </p:sp>
      <p:sp>
        <p:nvSpPr>
          <p:cNvPr id="5" name="TextBox 4"/>
          <p:cNvSpPr txBox="1"/>
          <p:nvPr/>
        </p:nvSpPr>
        <p:spPr>
          <a:xfrm>
            <a:off x="666000" y="2520000"/>
            <a:ext cx="4536000" cy="830997"/>
          </a:xfrm>
          <a:prstGeom prst="rect">
            <a:avLst/>
          </a:prstGeom>
          <a:noFill/>
        </p:spPr>
        <p:txBody>
          <a:bodyPr wrap="square" lIns="0" anchor="t">
            <a:spAutoFit/>
          </a:bodyPr>
          <a:lstStyle/>
          <a:p>
            <a:pPr algn="l">
              <a:spcAft>
                <a:spcPts val="800"/>
              </a:spcAft>
            </a:pPr>
            <a:r>
              <a:rPr lang="en-US" sz="1200" b="0" noProof="0" dirty="0">
                <a:solidFill>
                  <a:srgbClr val="202945"/>
                </a:solidFill>
                <a:latin typeface="Nunito Sans"/>
              </a:rPr>
              <a:t>Alternatives diversification: private markets (private equity, private credit, real assets), hedge funds and gold. These provide return streams less correlated with public markets, plus a hedge against inflation and drawdowns, at the cost of reduced liquidity.</a:t>
            </a:r>
          </a:p>
        </p:txBody>
      </p:sp>
      <p:sp>
        <p:nvSpPr>
          <p:cNvPr id="6" name="TextBox 5"/>
          <p:cNvSpPr txBox="1"/>
          <p:nvPr/>
        </p:nvSpPr>
        <p:spPr>
          <a:xfrm>
            <a:off x="666000" y="4500000"/>
            <a:ext cx="4536000" cy="307777"/>
          </a:xfrm>
          <a:prstGeom prst="rect">
            <a:avLst/>
          </a:prstGeom>
          <a:noFill/>
        </p:spPr>
        <p:txBody>
          <a:bodyPr wrap="square" anchor="t">
            <a:spAutoFit/>
          </a:bodyPr>
          <a:lstStyle/>
          <a:p>
            <a:pPr algn="l"/>
            <a:r>
              <a:rPr lang="en-US" sz="1400" b="1" noProof="0">
                <a:solidFill>
                  <a:srgbClr val="202945"/>
                </a:solidFill>
                <a:latin typeface="Nunito Sans ExtraBold"/>
              </a:rPr>
              <a:t>Largest holdings in this sleeve</a:t>
            </a:r>
          </a:p>
        </p:txBody>
      </p:sp>
      <p:sp>
        <p:nvSpPr>
          <p:cNvPr id="8" name="TextBox 7"/>
          <p:cNvSpPr txBox="1"/>
          <p:nvPr/>
        </p:nvSpPr>
        <p:spPr>
          <a:xfrm>
            <a:off x="5418000" y="2160000"/>
            <a:ext cx="4608000" cy="307777"/>
          </a:xfrm>
          <a:prstGeom prst="rect">
            <a:avLst/>
          </a:prstGeom>
          <a:noFill/>
        </p:spPr>
        <p:txBody>
          <a:bodyPr wrap="square" anchor="t">
            <a:spAutoFit/>
          </a:bodyPr>
          <a:lstStyle/>
          <a:p>
            <a:pPr algn="l"/>
            <a:r>
              <a:rPr lang="en-US" sz="1400" b="1" noProof="0">
                <a:solidFill>
                  <a:srgbClr val="202945"/>
                </a:solidFill>
                <a:latin typeface="Nunito Sans ExtraBold"/>
              </a:rPr>
              <a:t>Alternatives across investment vehicles</a:t>
            </a:r>
          </a:p>
        </p:txBody>
      </p:sp>
      <p:sp>
        <p:nvSpPr>
          <p:cNvPr id="9" name="Rectangle 8"/>
          <p:cNvSpPr/>
          <p:nvPr/>
        </p:nvSpPr>
        <p:spPr>
          <a:xfrm>
            <a:off x="5418000" y="2520000"/>
            <a:ext cx="4608000" cy="3816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graphicFrame>
        <p:nvGraphicFramePr>
          <p:cNvPr id="10" name="Chart 9"/>
          <p:cNvGraphicFramePr>
            <a:graphicFrameLocks noGrp="1"/>
          </p:cNvGraphicFramePr>
          <p:nvPr>
            <p:extLst>
              <p:ext uri="{D42A27DB-BD31-4B8C-83A1-F6EECF244321}">
                <p14:modId xmlns:p14="http://schemas.microsoft.com/office/powerpoint/2010/main" val="3380827213"/>
              </p:ext>
            </p:extLst>
          </p:nvPr>
        </p:nvGraphicFramePr>
        <p:xfrm>
          <a:off x="5598000" y="2700000"/>
          <a:ext cx="4248000" cy="3456000"/>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p:cNvSpPr txBox="1"/>
          <p:nvPr/>
        </p:nvSpPr>
        <p:spPr>
          <a:xfrm>
            <a:off x="666000" y="6983999"/>
            <a:ext cx="9396000" cy="432000"/>
          </a:xfrm>
          <a:prstGeom prst="rect">
            <a:avLst/>
          </a:prstGeom>
          <a:noFill/>
        </p:spPr>
        <p:txBody>
          <a:bodyPr wrap="square" anchor="t">
            <a:spAutoFit/>
          </a:bodyPr>
          <a:lstStyle/>
          <a:p>
            <a:pPr algn="l"/>
            <a:r>
              <a:rPr lang="en-US" sz="900" b="0" noProof="0">
                <a:solidFill>
                  <a:srgbClr val="4B5F80"/>
                </a:solidFill>
                <a:latin typeface="Nunito Sans"/>
              </a:rPr>
              <a:t/>
            </a:r>
          </a:p>
        </p:txBody>
      </p:sp>
      <p:pic>
        <p:nvPicPr>
          <p:cNvPr id="21" name="Graphic 20" descr="Presentation with org chart with solid fill">
            <a:extLst>
              <a:ext uri="{FF2B5EF4-FFF2-40B4-BE49-F238E27FC236}">
                <a16:creationId xmlns:a16="http://schemas.microsoft.com/office/drawing/2014/main" id="{FE7851E1-3AB3-2B0A-D447-C942B0C6D10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92820" y="987662"/>
            <a:ext cx="487376" cy="487376"/>
          </a:xfrm>
          <a:prstGeom prst="rect">
            <a:avLst/>
          </a:prstGeom>
        </p:spPr>
      </p:pic>
      <p:sp>
        <p:nvSpPr>
          <p:cNvPr id="13" name="Oval 12">
            <a:extLst>
              <a:ext uri="{FF2B5EF4-FFF2-40B4-BE49-F238E27FC236}">
                <a16:creationId xmlns:a16="http://schemas.microsoft.com/office/drawing/2014/main" id="{210A7196-A286-66F6-DADB-4B8030D461C7}"/>
              </a:ext>
            </a:extLst>
          </p:cNvPr>
          <p:cNvSpPr/>
          <p:nvPr/>
        </p:nvSpPr>
        <p:spPr>
          <a:xfrm>
            <a:off x="9966508" y="935038"/>
            <a:ext cx="540000" cy="540000"/>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H" sz="1400"/>
          </a:p>
        </p:txBody>
      </p:sp>
      <p:graphicFrame>
        <p:nvGraphicFramePr>
          <p:cNvPr id="22" name="Table 21"/>
          <p:cNvGraphicFramePr>
            <a:graphicFrameLocks noGrp="1"/>
          </p:cNvGraphicFramePr>
          <p:nvPr/>
        </p:nvGraphicFramePr>
        <p:xfrm>
          <a:off x="666000" y="4860000"/>
          <a:ext cx="4535997" cy="583200"/>
        </p:xfrm>
        <a:graphic>
          <a:graphicData uri="http://schemas.openxmlformats.org/drawingml/2006/table">
            <a:tbl>
              <a:tblPr firstRow="1" bandRow="1">
                <a:tableStyleId>{5C22544A-7EE6-4342-B048-85BDC9FD1C3A}</a:tableStyleId>
              </a:tblPr>
              <a:tblGrid>
                <a:gridCol w="2358719"/>
                <a:gridCol w="1088639"/>
                <a:gridCol w="1088639"/>
              </a:tblGrid>
              <a:tr h="97200">
                <a:tc>
                  <a:txBody>
                    <a:bodyPr wrap="square"/>
                    <a:lstStyle/>
                    <a:p>
                      <a:pPr algn="l"/>
                      <a:r>
                        <a:rPr sz="950" b="1">
                          <a:solidFill>
                            <a:srgbClr val="202945"/>
                          </a:solidFill>
                        </a:rPr>
                        <a:t>Holding</a:t>
                      </a:r>
                    </a:p>
                  </a:txBody>
                  <a:tcPr marL="45720" marR="45720" anchor="ctr">
                    <a:solidFill>
                      <a:srgbClr val="FFC545"/>
                    </a:solidFill>
                  </a:tcPr>
                </a:tc>
                <a:tc>
                  <a:txBody>
                    <a:bodyPr wrap="square"/>
                    <a:lstStyle/>
                    <a:p>
                      <a:pPr algn="l"/>
                      <a:r>
                        <a:rPr sz="950" b="1">
                          <a:solidFill>
                            <a:srgbClr val="202945"/>
                          </a:solidFill>
                        </a:rPr>
                        <a:t>Value</a:t>
                      </a:r>
                    </a:p>
                  </a:txBody>
                  <a:tcPr marL="45720" marR="45720" anchor="ctr">
                    <a:solidFill>
                      <a:srgbClr val="FFC545"/>
                    </a:solidFill>
                  </a:tcPr>
                </a:tc>
                <a:tc>
                  <a:txBody>
                    <a:bodyPr wrap="square"/>
                    <a:lstStyle/>
                    <a:p>
                      <a:pPr algn="l"/>
                      <a:r>
                        <a:rPr sz="950" b="1">
                          <a:solidFill>
                            <a:srgbClr val="202945"/>
                          </a:solidFill>
                        </a:rPr>
                        <a:t>Share</a:t>
                      </a:r>
                    </a:p>
                  </a:txBody>
                  <a:tcPr marL="45720" marR="45720" anchor="ctr">
                    <a:solidFill>
                      <a:srgbClr val="FFC545"/>
                    </a:solidFill>
                  </a:tcPr>
                </a:tc>
              </a:tr>
              <a:tr h="97200">
                <a:tc>
                  <a:txBody>
                    <a:bodyPr wrap="square"/>
                    <a:lstStyle/>
                    <a:p>
                      <a:pPr algn="l"/>
                      <a:r>
                        <a:rPr sz="900" b="0">
                          <a:solidFill>
                            <a:srgbClr val="202945"/>
                          </a:solidFill>
                        </a:rPr>
                        <a:t>COA KONA III REF3 LP</a:t>
                      </a:r>
                    </a:p>
                  </a:txBody>
                  <a:tcPr marL="45720" marR="45720" anchor="ctr">
                    <a:noFill/>
                  </a:tcPr>
                </a:tc>
                <a:tc>
                  <a:txBody>
                    <a:bodyPr wrap="square"/>
                    <a:lstStyle/>
                    <a:p>
                      <a:pPr algn="l"/>
                      <a:r>
                        <a:rPr sz="900" b="0">
                          <a:solidFill>
                            <a:srgbClr val="202945"/>
                          </a:solidFill>
                        </a:rPr>
                        <a:t>USD 1649k</a:t>
                      </a:r>
                    </a:p>
                  </a:txBody>
                  <a:tcPr marL="45720" marR="45720" anchor="ctr">
                    <a:noFill/>
                  </a:tcPr>
                </a:tc>
                <a:tc>
                  <a:txBody>
                    <a:bodyPr wrap="square"/>
                    <a:lstStyle/>
                    <a:p>
                      <a:pPr algn="r"/>
                      <a:r>
                        <a:rPr sz="900" b="0">
                          <a:solidFill>
                            <a:srgbClr val="202945"/>
                          </a:solidFill>
                        </a:rPr>
                        <a:t>6.7%</a:t>
                      </a:r>
                    </a:p>
                  </a:txBody>
                  <a:tcPr marL="45720" marR="45720" anchor="ctr">
                    <a:noFill/>
                  </a:tcPr>
                </a:tc>
              </a:tr>
              <a:tr h="97200">
                <a:tc>
                  <a:txBody>
                    <a:bodyPr wrap="square"/>
                    <a:lstStyle/>
                    <a:p>
                      <a:pPr algn="l"/>
                      <a:r>
                        <a:rPr sz="900" b="0">
                          <a:solidFill>
                            <a:srgbClr val="202945"/>
                          </a:solidFill>
                        </a:rPr>
                        <a:t>LEFT LANE CP II CLT2</a:t>
                      </a:r>
                    </a:p>
                  </a:txBody>
                  <a:tcPr marL="45720" marR="45720" anchor="ctr">
                    <a:noFill/>
                  </a:tcPr>
                </a:tc>
                <a:tc>
                  <a:txBody>
                    <a:bodyPr wrap="square"/>
                    <a:lstStyle/>
                    <a:p>
                      <a:pPr algn="l"/>
                      <a:r>
                        <a:rPr sz="900" b="0">
                          <a:solidFill>
                            <a:srgbClr val="202945"/>
                          </a:solidFill>
                        </a:rPr>
                        <a:t>USD 1546k</a:t>
                      </a:r>
                    </a:p>
                  </a:txBody>
                  <a:tcPr marL="45720" marR="45720" anchor="ctr">
                    <a:noFill/>
                  </a:tcPr>
                </a:tc>
                <a:tc>
                  <a:txBody>
                    <a:bodyPr wrap="square"/>
                    <a:lstStyle/>
                    <a:p>
                      <a:pPr algn="r"/>
                      <a:r>
                        <a:rPr sz="900" b="0">
                          <a:solidFill>
                            <a:srgbClr val="202945"/>
                          </a:solidFill>
                        </a:rPr>
                        <a:t>6.3%</a:t>
                      </a:r>
                    </a:p>
                  </a:txBody>
                  <a:tcPr marL="45720" marR="45720" anchor="ctr">
                    <a:noFill/>
                  </a:tcPr>
                </a:tc>
              </a:tr>
              <a:tr h="97200">
                <a:tc>
                  <a:txBody>
                    <a:bodyPr wrap="square"/>
                    <a:lstStyle/>
                    <a:p>
                      <a:pPr algn="l"/>
                      <a:r>
                        <a:rPr sz="900" b="0">
                          <a:solidFill>
                            <a:srgbClr val="202945"/>
                          </a:solidFill>
                        </a:rPr>
                        <a:t>ACE BUYOUT III SPC A</a:t>
                      </a:r>
                    </a:p>
                  </a:txBody>
                  <a:tcPr marL="45720" marR="45720" anchor="ctr">
                    <a:noFill/>
                  </a:tcPr>
                </a:tc>
                <a:tc>
                  <a:txBody>
                    <a:bodyPr wrap="square"/>
                    <a:lstStyle/>
                    <a:p>
                      <a:pPr algn="l"/>
                      <a:r>
                        <a:rPr sz="900" b="0">
                          <a:solidFill>
                            <a:srgbClr val="202945"/>
                          </a:solidFill>
                        </a:rPr>
                        <a:t>USD 436k</a:t>
                      </a:r>
                    </a:p>
                  </a:txBody>
                  <a:tcPr marL="45720" marR="45720" anchor="ctr">
                    <a:noFill/>
                  </a:tcPr>
                </a:tc>
                <a:tc>
                  <a:txBody>
                    <a:bodyPr wrap="square"/>
                    <a:lstStyle/>
                    <a:p>
                      <a:pPr algn="r"/>
                      <a:r>
                        <a:rPr sz="900" b="0">
                          <a:solidFill>
                            <a:srgbClr val="202945"/>
                          </a:solidFill>
                        </a:rPr>
                        <a:t>1.8%</a:t>
                      </a:r>
                    </a:p>
                  </a:txBody>
                  <a:tcPr marL="45720" marR="45720" anchor="ctr">
                    <a:noFill/>
                  </a:tcPr>
                </a:tc>
              </a:tr>
              <a:tr h="97200">
                <a:tc>
                  <a:txBody>
                    <a:bodyPr wrap="square"/>
                    <a:lstStyle/>
                    <a:p>
                      <a:pPr algn="l"/>
                      <a:r>
                        <a:rPr sz="900" b="0">
                          <a:solidFill>
                            <a:srgbClr val="202945"/>
                          </a:solidFill>
                        </a:rPr>
                        <a:t>ECHO FUND SCSP</a:t>
                      </a:r>
                    </a:p>
                  </a:txBody>
                  <a:tcPr marL="45720" marR="45720" anchor="ctr">
                    <a:noFill/>
                  </a:tcPr>
                </a:tc>
                <a:tc>
                  <a:txBody>
                    <a:bodyPr wrap="square"/>
                    <a:lstStyle/>
                    <a:p>
                      <a:pPr algn="l"/>
                      <a:r>
                        <a:rPr sz="900" b="0">
                          <a:solidFill>
                            <a:srgbClr val="202945"/>
                          </a:solidFill>
                        </a:rPr>
                        <a:t>EUR 271k</a:t>
                      </a:r>
                    </a:p>
                  </a:txBody>
                  <a:tcPr marL="45720" marR="45720" anchor="ctr">
                    <a:noFill/>
                  </a:tcPr>
                </a:tc>
                <a:tc>
                  <a:txBody>
                    <a:bodyPr wrap="square"/>
                    <a:lstStyle/>
                    <a:p>
                      <a:pPr algn="r"/>
                      <a:r>
                        <a:rPr sz="900" b="0">
                          <a:solidFill>
                            <a:srgbClr val="202945"/>
                          </a:solidFill>
                        </a:rPr>
                        <a:t>1.3%</a:t>
                      </a:r>
                    </a:p>
                  </a:txBody>
                  <a:tcPr marL="45720" marR="45720" anchor="ctr">
                    <a:noFill/>
                  </a:tcPr>
                </a:tc>
              </a:tr>
              <a:tr h="97200">
                <a:tc>
                  <a:txBody>
                    <a:bodyPr wrap="square"/>
                    <a:lstStyle/>
                    <a:p>
                      <a:pPr algn="l"/>
                      <a:r>
                        <a:rPr sz="900" b="0">
                          <a:solidFill>
                            <a:srgbClr val="202945"/>
                          </a:solidFill>
                        </a:rPr>
                        <a:t>THEMIS FUND REF2 SCSP</a:t>
                      </a:r>
                    </a:p>
                  </a:txBody>
                  <a:tcPr marL="45720" marR="45720" anchor="ctr">
                    <a:noFill/>
                  </a:tcPr>
                </a:tc>
                <a:tc>
                  <a:txBody>
                    <a:bodyPr wrap="square"/>
                    <a:lstStyle/>
                    <a:p>
                      <a:pPr algn="l"/>
                      <a:r>
                        <a:rPr sz="900" b="0">
                          <a:solidFill>
                            <a:srgbClr val="202945"/>
                          </a:solidFill>
                        </a:rPr>
                        <a:t>USD 90k</a:t>
                      </a:r>
                    </a:p>
                  </a:txBody>
                  <a:tcPr marL="45720" marR="45720" anchor="ctr">
                    <a:noFill/>
                  </a:tcPr>
                </a:tc>
                <a:tc>
                  <a:txBody>
                    <a:bodyPr wrap="square"/>
                    <a:lstStyle/>
                    <a:p>
                      <a:pPr algn="r"/>
                      <a:r>
                        <a:rPr sz="900" b="0">
                          <a:solidFill>
                            <a:srgbClr val="202945"/>
                          </a:solidFill>
                        </a:rPr>
                        <a:t>0.4%</a:t>
                      </a:r>
                    </a:p>
                  </a:txBody>
                  <a:tcPr marL="45720" marR="45720" anchor="ctr">
                    <a:noFill/>
                  </a:tcPr>
                </a:tc>
              </a:tr>
            </a:tbl>
          </a:graphicData>
        </a:graphic>
      </p:graphicFrame>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C42A2-3AB7-A6EC-64D3-C20D1C4F61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5D212D-6515-E3CF-946C-40B57C2DBFCF}"/>
              </a:ext>
            </a:extLst>
          </p:cNvPr>
          <p:cNvSpPr>
            <a:spLocks noGrp="1"/>
          </p:cNvSpPr>
          <p:nvPr>
            <p:ph type="title"/>
          </p:nvPr>
        </p:nvSpPr>
        <p:spPr/>
        <p:txBody>
          <a:bodyPr/>
          <a:lstStyle/>
          <a:p>
            <a:r>
              <a:rPr lang="en-US" dirty="0"/>
              <a:t>Commodities</a:t>
            </a:r>
            <a:endParaRPr lang="en-US" noProof="0" dirty="0"/>
          </a:p>
        </p:txBody>
      </p:sp>
      <p:sp>
        <p:nvSpPr>
          <p:cNvPr id="4" name="TextBox 3">
            <a:extLst>
              <a:ext uri="{FF2B5EF4-FFF2-40B4-BE49-F238E27FC236}">
                <a16:creationId xmlns:a16="http://schemas.microsoft.com/office/drawing/2014/main" id="{8A84E177-3ABC-03B6-CF76-D443215AF262}"/>
              </a:ext>
            </a:extLst>
          </p:cNvPr>
          <p:cNvSpPr txBox="1"/>
          <p:nvPr/>
        </p:nvSpPr>
        <p:spPr>
          <a:xfrm>
            <a:off x="666000" y="2160000"/>
            <a:ext cx="4536000" cy="307777"/>
          </a:xfrm>
          <a:prstGeom prst="rect">
            <a:avLst/>
          </a:prstGeom>
          <a:noFill/>
        </p:spPr>
        <p:txBody>
          <a:bodyPr wrap="square" lIns="0" anchor="t">
            <a:spAutoFit/>
          </a:bodyPr>
          <a:lstStyle/>
          <a:p>
            <a:pPr algn="l"/>
            <a:r>
              <a:rPr lang="en-US" sz="1400" b="1" noProof="0" dirty="0">
                <a:solidFill>
                  <a:srgbClr val="202945"/>
                </a:solidFill>
                <a:latin typeface="Nunito Sans ExtraBold"/>
              </a:rPr>
              <a:t>How this sleeve is built</a:t>
            </a:r>
          </a:p>
        </p:txBody>
      </p:sp>
      <p:sp>
        <p:nvSpPr>
          <p:cNvPr id="5" name="TextBox 4">
            <a:extLst>
              <a:ext uri="{FF2B5EF4-FFF2-40B4-BE49-F238E27FC236}">
                <a16:creationId xmlns:a16="http://schemas.microsoft.com/office/drawing/2014/main" id="{370BC6EB-1FF6-F80D-32FD-FA3E2A7E43B1}"/>
              </a:ext>
            </a:extLst>
          </p:cNvPr>
          <p:cNvSpPr txBox="1"/>
          <p:nvPr/>
        </p:nvSpPr>
        <p:spPr>
          <a:xfrm>
            <a:off x="666000" y="2520000"/>
            <a:ext cx="4536000" cy="1015663"/>
          </a:xfrm>
          <a:prstGeom prst="rect">
            <a:avLst/>
          </a:prstGeom>
          <a:noFill/>
        </p:spPr>
        <p:txBody>
          <a:bodyPr wrap="square" lIns="0" anchor="t">
            <a:spAutoFit/>
          </a:bodyPr>
          <a:lstStyle/>
          <a:p>
            <a:pPr algn="l">
              <a:spcAft>
                <a:spcPts val="800"/>
              </a:spcAft>
            </a:pPr>
            <a:r>
              <a:rPr lang="en-US" sz="1200" b="0" noProof="0">
                <a:solidFill>
                  <a:srgbClr val="202945"/>
                </a:solidFill>
                <a:latin typeface="Nunito Sans"/>
              </a:rPr>
              <a:t>Commodities diversification: exposure across precious metals, energy, industrial metals and agriculture. The sleeve provides diversification against traditional asset classes and can offer protection against inflation and geopolitical shocks. Exposure is implemented through funds, ETFs/ETCs and structured products.</a:t>
            </a:r>
          </a:p>
        </p:txBody>
      </p:sp>
      <p:sp>
        <p:nvSpPr>
          <p:cNvPr id="6" name="TextBox 5">
            <a:extLst>
              <a:ext uri="{FF2B5EF4-FFF2-40B4-BE49-F238E27FC236}">
                <a16:creationId xmlns:a16="http://schemas.microsoft.com/office/drawing/2014/main" id="{970EA3A4-BF71-098C-4BFD-FAB1AEF1E9E3}"/>
              </a:ext>
            </a:extLst>
          </p:cNvPr>
          <p:cNvSpPr txBox="1"/>
          <p:nvPr/>
        </p:nvSpPr>
        <p:spPr>
          <a:xfrm>
            <a:off x="666000" y="4500000"/>
            <a:ext cx="4536000" cy="324000"/>
          </a:xfrm>
          <a:prstGeom prst="rect">
            <a:avLst/>
          </a:prstGeom>
          <a:noFill/>
        </p:spPr>
        <p:txBody>
          <a:bodyPr wrap="square" anchor="t">
            <a:spAutoFit/>
          </a:bodyPr>
          <a:lstStyle/>
          <a:p>
            <a:pPr algn="l"/>
            <a:r>
              <a:rPr lang="en-US" sz="1500" b="1" noProof="0" dirty="0">
                <a:solidFill>
                  <a:srgbClr val="202945"/>
                </a:solidFill>
                <a:latin typeface="Nunito Sans ExtraBold"/>
              </a:rPr>
              <a:t>Largest holdings in this sleeve</a:t>
            </a:r>
          </a:p>
        </p:txBody>
      </p:sp>
      <p:sp>
        <p:nvSpPr>
          <p:cNvPr id="8" name="TextBox 7">
            <a:extLst>
              <a:ext uri="{FF2B5EF4-FFF2-40B4-BE49-F238E27FC236}">
                <a16:creationId xmlns:a16="http://schemas.microsoft.com/office/drawing/2014/main" id="{3B530A2B-C246-EF91-E62E-2EFD14EBE1F3}"/>
              </a:ext>
            </a:extLst>
          </p:cNvPr>
          <p:cNvSpPr txBox="1"/>
          <p:nvPr/>
        </p:nvSpPr>
        <p:spPr>
          <a:xfrm>
            <a:off x="5418000" y="2160000"/>
            <a:ext cx="4608000" cy="307777"/>
          </a:xfrm>
          <a:prstGeom prst="rect">
            <a:avLst/>
          </a:prstGeom>
          <a:noFill/>
        </p:spPr>
        <p:txBody>
          <a:bodyPr wrap="square" anchor="t">
            <a:spAutoFit/>
          </a:bodyPr>
          <a:lstStyle/>
          <a:p>
            <a:pPr algn="l"/>
            <a:r>
              <a:rPr lang="en-US" sz="1400" b="1" dirty="0">
                <a:solidFill>
                  <a:srgbClr val="202945"/>
                </a:solidFill>
                <a:latin typeface="Nunito Sans ExtraBold"/>
              </a:rPr>
              <a:t>Commodities</a:t>
            </a:r>
            <a:r>
              <a:rPr lang="en-US" sz="1400" b="1" noProof="0" dirty="0">
                <a:solidFill>
                  <a:srgbClr val="202945"/>
                </a:solidFill>
                <a:latin typeface="Nunito Sans ExtraBold"/>
              </a:rPr>
              <a:t> across investment vehicles</a:t>
            </a:r>
          </a:p>
        </p:txBody>
      </p:sp>
      <p:sp>
        <p:nvSpPr>
          <p:cNvPr id="9" name="Rectangle 8">
            <a:extLst>
              <a:ext uri="{FF2B5EF4-FFF2-40B4-BE49-F238E27FC236}">
                <a16:creationId xmlns:a16="http://schemas.microsoft.com/office/drawing/2014/main" id="{AE5DDCCB-D619-8F86-8126-C18BF0F31E53}"/>
              </a:ext>
            </a:extLst>
          </p:cNvPr>
          <p:cNvSpPr/>
          <p:nvPr/>
        </p:nvSpPr>
        <p:spPr>
          <a:xfrm>
            <a:off x="5418000" y="2520000"/>
            <a:ext cx="4608000" cy="3816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aphicFrame>
        <p:nvGraphicFramePr>
          <p:cNvPr id="10" name="Chart 9">
            <a:extLst>
              <a:ext uri="{FF2B5EF4-FFF2-40B4-BE49-F238E27FC236}">
                <a16:creationId xmlns:a16="http://schemas.microsoft.com/office/drawing/2014/main" id="{0B6EFED3-2474-7F8B-FB18-FA9C0CF749B7}"/>
              </a:ext>
            </a:extLst>
          </p:cNvPr>
          <p:cNvGraphicFramePr>
            <a:graphicFrameLocks noGrp="1"/>
          </p:cNvGraphicFramePr>
          <p:nvPr>
            <p:extLst>
              <p:ext uri="{D42A27DB-BD31-4B8C-83A1-F6EECF244321}">
                <p14:modId xmlns:p14="http://schemas.microsoft.com/office/powerpoint/2010/main" val="200598910"/>
              </p:ext>
            </p:extLst>
          </p:nvPr>
        </p:nvGraphicFramePr>
        <p:xfrm>
          <a:off x="5598000" y="2700000"/>
          <a:ext cx="4248000" cy="3456000"/>
        </p:xfrm>
        <a:graphic>
          <a:graphicData uri="http://schemas.openxmlformats.org/drawingml/2006/chart">
            <c:chart xmlns:c="http://schemas.openxmlformats.org/drawingml/2006/chart" xmlns:r="http://schemas.openxmlformats.org/officeDocument/2006/relationships" r:id="rId2"/>
          </a:graphicData>
        </a:graphic>
      </p:graphicFrame>
      <p:sp>
        <p:nvSpPr>
          <p:cNvPr id="12" name="TextBox 11">
            <a:extLst>
              <a:ext uri="{FF2B5EF4-FFF2-40B4-BE49-F238E27FC236}">
                <a16:creationId xmlns:a16="http://schemas.microsoft.com/office/drawing/2014/main" id="{5400323E-D157-9B67-3FD1-8F2AF89255DA}"/>
              </a:ext>
            </a:extLst>
          </p:cNvPr>
          <p:cNvSpPr txBox="1"/>
          <p:nvPr/>
        </p:nvSpPr>
        <p:spPr>
          <a:xfrm>
            <a:off x="666000" y="6983999"/>
            <a:ext cx="9396000" cy="432000"/>
          </a:xfrm>
          <a:prstGeom prst="rect">
            <a:avLst/>
          </a:prstGeom>
          <a:noFill/>
        </p:spPr>
        <p:txBody>
          <a:bodyPr wrap="square" anchor="t">
            <a:spAutoFit/>
          </a:bodyPr>
          <a:lstStyle/>
          <a:p>
            <a:pPr algn="l"/>
            <a:r>
              <a:rPr lang="en-US" sz="900" b="0" noProof="0" dirty="0">
                <a:solidFill>
                  <a:srgbClr val="4B5F80"/>
                </a:solidFill>
                <a:latin typeface="Nunito Sans"/>
              </a:rPr>
              <a:t/>
            </a:r>
          </a:p>
        </p:txBody>
      </p:sp>
      <p:sp>
        <p:nvSpPr>
          <p:cNvPr id="15" name="Oval 14">
            <a:extLst>
              <a:ext uri="{FF2B5EF4-FFF2-40B4-BE49-F238E27FC236}">
                <a16:creationId xmlns:a16="http://schemas.microsoft.com/office/drawing/2014/main" id="{2C75044D-5608-0F82-F93D-A60BABFB91D1}"/>
              </a:ext>
            </a:extLst>
          </p:cNvPr>
          <p:cNvSpPr/>
          <p:nvPr/>
        </p:nvSpPr>
        <p:spPr>
          <a:xfrm>
            <a:off x="9966508" y="935038"/>
            <a:ext cx="540000" cy="540000"/>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H" sz="1400"/>
          </a:p>
        </p:txBody>
      </p:sp>
      <p:pic>
        <p:nvPicPr>
          <p:cNvPr id="19" name="Graphic 18" descr="Gold bars with solid fill">
            <a:extLst>
              <a:ext uri="{FF2B5EF4-FFF2-40B4-BE49-F238E27FC236}">
                <a16:creationId xmlns:a16="http://schemas.microsoft.com/office/drawing/2014/main" id="{36BE5BCB-655C-27C4-7FEC-BA6F6B491E8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000707" y="935038"/>
            <a:ext cx="471601" cy="471601"/>
          </a:xfrm>
          <a:prstGeom prst="rect">
            <a:avLst/>
          </a:prstGeom>
        </p:spPr>
      </p:pic>
      <p:graphicFrame>
        <p:nvGraphicFramePr>
          <p:cNvPr id="20" name="Table 19"/>
          <p:cNvGraphicFramePr>
            <a:graphicFrameLocks noGrp="1"/>
          </p:cNvGraphicFramePr>
          <p:nvPr/>
        </p:nvGraphicFramePr>
        <p:xfrm>
          <a:off x="666000" y="4860000"/>
          <a:ext cx="4535997" cy="583200"/>
        </p:xfrm>
        <a:graphic>
          <a:graphicData uri="http://schemas.openxmlformats.org/drawingml/2006/table">
            <a:tbl>
              <a:tblPr firstRow="1" bandRow="1">
                <a:tableStyleId>{5C22544A-7EE6-4342-B048-85BDC9FD1C3A}</a:tableStyleId>
              </a:tblPr>
              <a:tblGrid>
                <a:gridCol w="2358719"/>
                <a:gridCol w="1088639"/>
                <a:gridCol w="1088639"/>
              </a:tblGrid>
              <a:tr h="97200">
                <a:tc>
                  <a:txBody>
                    <a:bodyPr wrap="square"/>
                    <a:lstStyle/>
                    <a:p>
                      <a:pPr algn="l"/>
                      <a:r>
                        <a:rPr sz="950" b="1">
                          <a:solidFill>
                            <a:srgbClr val="202945"/>
                          </a:solidFill>
                        </a:rPr>
                        <a:t>Holding</a:t>
                      </a:r>
                    </a:p>
                  </a:txBody>
                  <a:tcPr marL="45720" marR="45720" anchor="ctr">
                    <a:solidFill>
                      <a:srgbClr val="FFC545"/>
                    </a:solidFill>
                  </a:tcPr>
                </a:tc>
                <a:tc>
                  <a:txBody>
                    <a:bodyPr wrap="square"/>
                    <a:lstStyle/>
                    <a:p>
                      <a:pPr algn="l"/>
                      <a:r>
                        <a:rPr sz="950" b="1">
                          <a:solidFill>
                            <a:srgbClr val="202945"/>
                          </a:solidFill>
                        </a:rPr>
                        <a:t>Value</a:t>
                      </a:r>
                    </a:p>
                  </a:txBody>
                  <a:tcPr marL="45720" marR="45720" anchor="ctr">
                    <a:solidFill>
                      <a:srgbClr val="FFC545"/>
                    </a:solidFill>
                  </a:tcPr>
                </a:tc>
                <a:tc>
                  <a:txBody>
                    <a:bodyPr wrap="square"/>
                    <a:lstStyle/>
                    <a:p>
                      <a:pPr algn="l"/>
                      <a:r>
                        <a:rPr sz="950" b="1">
                          <a:solidFill>
                            <a:srgbClr val="202945"/>
                          </a:solidFill>
                        </a:rPr>
                        <a:t>Share</a:t>
                      </a:r>
                    </a:p>
                  </a:txBody>
                  <a:tcPr marL="45720" marR="45720" anchor="ctr">
                    <a:solidFill>
                      <a:srgbClr val="FFC545"/>
                    </a:solidFill>
                  </a:tcPr>
                </a:tc>
              </a:tr>
              <a:tr h="97200">
                <a:tc>
                  <a:txBody>
                    <a:bodyPr wrap="square"/>
                    <a:lstStyle/>
                    <a:p>
                      <a:pPr algn="l"/>
                      <a:r>
                        <a:rPr sz="900" b="0">
                          <a:solidFill>
                            <a:srgbClr val="202945"/>
                          </a:solidFill>
                        </a:rPr>
                        <a:t>GOLD KG 1 999.9 CHF</a:t>
                      </a:r>
                    </a:p>
                  </a:txBody>
                  <a:tcPr marL="45720" marR="45720" anchor="ctr">
                    <a:noFill/>
                  </a:tcPr>
                </a:tc>
                <a:tc>
                  <a:txBody>
                    <a:bodyPr wrap="square"/>
                    <a:lstStyle/>
                    <a:p>
                      <a:pPr algn="l"/>
                      <a:r>
                        <a:rPr sz="900" b="0">
                          <a:solidFill>
                            <a:srgbClr val="202945"/>
                          </a:solidFill>
                        </a:rPr>
                        <a:t>CHF 3984k</a:t>
                      </a:r>
                    </a:p>
                  </a:txBody>
                  <a:tcPr marL="45720" marR="45720" anchor="ctr">
                    <a:noFill/>
                  </a:tcPr>
                </a:tc>
                <a:tc>
                  <a:txBody>
                    <a:bodyPr wrap="square"/>
                    <a:lstStyle/>
                    <a:p>
                      <a:pPr algn="r"/>
                      <a:r>
                        <a:rPr sz="900" b="0">
                          <a:solidFill>
                            <a:srgbClr val="202945"/>
                          </a:solidFill>
                        </a:rPr>
                        <a:t>20.1%</a:t>
                      </a:r>
                    </a:p>
                  </a:txBody>
                  <a:tcPr marL="45720" marR="45720" anchor="ctr">
                    <a:noFill/>
                  </a:tcPr>
                </a:tc>
              </a:tr>
              <a:tr h="97200">
                <a:tc>
                  <a:txBody>
                    <a:bodyPr wrap="square"/>
                    <a:lstStyle/>
                    <a:p>
                      <a:pPr algn="l"/>
                      <a:r>
                        <a:rPr sz="900" b="0">
                          <a:solidFill>
                            <a:srgbClr val="202945"/>
                          </a:solidFill>
                        </a:rPr>
                        <a:t>OR KRUGERRAND(PCE)1OZ USD</a:t>
                      </a:r>
                    </a:p>
                  </a:txBody>
                  <a:tcPr marL="45720" marR="45720" anchor="ctr">
                    <a:noFill/>
                  </a:tcPr>
                </a:tc>
                <a:tc>
                  <a:txBody>
                    <a:bodyPr wrap="square"/>
                    <a:lstStyle/>
                    <a:p>
                      <a:pPr algn="l"/>
                      <a:r>
                        <a:rPr sz="900" b="0">
                          <a:solidFill>
                            <a:srgbClr val="202945"/>
                          </a:solidFill>
                        </a:rPr>
                        <a:t>USD 305k</a:t>
                      </a:r>
                    </a:p>
                  </a:txBody>
                  <a:tcPr marL="45720" marR="45720" anchor="ctr">
                    <a:noFill/>
                  </a:tcPr>
                </a:tc>
                <a:tc>
                  <a:txBody>
                    <a:bodyPr wrap="square"/>
                    <a:lstStyle/>
                    <a:p>
                      <a:pPr algn="r"/>
                      <a:r>
                        <a:rPr sz="900" b="0">
                          <a:solidFill>
                            <a:srgbClr val="202945"/>
                          </a:solidFill>
                        </a:rPr>
                        <a:t>1.2%</a:t>
                      </a:r>
                    </a:p>
                  </a:txBody>
                  <a:tcPr marL="45720" marR="45720" anchor="ctr">
                    <a:noFill/>
                  </a:tcPr>
                </a:tc>
              </a:tr>
              <a:tr h="97200">
                <a:tc>
                  <a:txBody>
                    <a:bodyPr wrap="square"/>
                    <a:lstStyle/>
                    <a:p>
                      <a:pPr algn="l"/>
                      <a:r>
                        <a:rPr sz="900" b="0">
                          <a:solidFill>
                            <a:srgbClr val="202945"/>
                          </a:solidFill>
                        </a:rPr>
                        <a:t>CURRENT ACCOUNT IN XAG</a:t>
                      </a:r>
                    </a:p>
                  </a:txBody>
                  <a:tcPr marL="45720" marR="45720" anchor="ctr">
                    <a:noFill/>
                  </a:tcPr>
                </a:tc>
                <a:tc>
                  <a:txBody>
                    <a:bodyPr wrap="square"/>
                    <a:lstStyle/>
                    <a:p>
                      <a:pPr algn="l"/>
                      <a:r>
                        <a:rPr sz="900" b="0">
                          <a:solidFill>
                            <a:srgbClr val="202945"/>
                          </a:solidFill>
                        </a:rPr>
                        <a:t>EUR 233k</a:t>
                      </a:r>
                    </a:p>
                  </a:txBody>
                  <a:tcPr marL="45720" marR="45720" anchor="ctr">
                    <a:noFill/>
                  </a:tcPr>
                </a:tc>
                <a:tc>
                  <a:txBody>
                    <a:bodyPr wrap="square"/>
                    <a:lstStyle/>
                    <a:p>
                      <a:pPr algn="r"/>
                      <a:r>
                        <a:rPr sz="900" b="0">
                          <a:solidFill>
                            <a:srgbClr val="202945"/>
                          </a:solidFill>
                        </a:rPr>
                        <a:t>1.1%</a:t>
                      </a:r>
                    </a:p>
                  </a:txBody>
                  <a:tcPr marL="45720" marR="45720" anchor="ctr">
                    <a:noFill/>
                  </a:tcPr>
                </a:tc>
              </a:tr>
              <a:tr h="97200">
                <a:tc>
                  <a:txBody>
                    <a:bodyPr wrap="square"/>
                    <a:lstStyle/>
                    <a:p>
                      <a:pPr algn="l"/>
                      <a:r>
                        <a:rPr sz="900" b="0">
                          <a:solidFill>
                            <a:srgbClr val="202945"/>
                          </a:solidFill>
                        </a:rPr>
                        <a:t>CURRENT ACCOUNT IN XPT</a:t>
                      </a:r>
                    </a:p>
                  </a:txBody>
                  <a:tcPr marL="45720" marR="45720" anchor="ctr">
                    <a:noFill/>
                  </a:tcPr>
                </a:tc>
                <a:tc>
                  <a:txBody>
                    <a:bodyPr wrap="square"/>
                    <a:lstStyle/>
                    <a:p>
                      <a:pPr algn="l"/>
                      <a:r>
                        <a:rPr sz="900" b="0">
                          <a:solidFill>
                            <a:srgbClr val="202945"/>
                          </a:solidFill>
                        </a:rPr>
                        <a:t>EUR 221k</a:t>
                      </a:r>
                    </a:p>
                  </a:txBody>
                  <a:tcPr marL="45720" marR="45720" anchor="ctr">
                    <a:noFill/>
                  </a:tcPr>
                </a:tc>
                <a:tc>
                  <a:txBody>
                    <a:bodyPr wrap="square"/>
                    <a:lstStyle/>
                    <a:p>
                      <a:pPr algn="r"/>
                      <a:r>
                        <a:rPr sz="900" b="0">
                          <a:solidFill>
                            <a:srgbClr val="202945"/>
                          </a:solidFill>
                        </a:rPr>
                        <a:t>1.0%</a:t>
                      </a:r>
                    </a:p>
                  </a:txBody>
                  <a:tcPr marL="45720" marR="45720" anchor="ctr">
                    <a:noFill/>
                  </a:tcPr>
                </a:tc>
              </a:tr>
              <a:tr h="97200">
                <a:tc>
                  <a:txBody>
                    <a:bodyPr wrap="square"/>
                    <a:lstStyle/>
                    <a:p>
                      <a:pPr algn="l"/>
                      <a:r>
                        <a:rPr sz="900" b="0">
                          <a:solidFill>
                            <a:srgbClr val="202945"/>
                          </a:solidFill>
                        </a:rPr>
                        <a:t>SWC(CH)PLATINUM ETF EACHF</a:t>
                      </a:r>
                    </a:p>
                  </a:txBody>
                  <a:tcPr marL="45720" marR="45720" anchor="ctr">
                    <a:noFill/>
                  </a:tcPr>
                </a:tc>
                <a:tc>
                  <a:txBody>
                    <a:bodyPr wrap="square"/>
                    <a:lstStyle/>
                    <a:p>
                      <a:pPr algn="l"/>
                      <a:r>
                        <a:rPr sz="900" b="0">
                          <a:solidFill>
                            <a:srgbClr val="202945"/>
                          </a:solidFill>
                        </a:rPr>
                        <a:t>CHF 207k</a:t>
                      </a:r>
                    </a:p>
                  </a:txBody>
                  <a:tcPr marL="45720" marR="45720" anchor="ctr">
                    <a:noFill/>
                  </a:tcPr>
                </a:tc>
                <a:tc>
                  <a:txBody>
                    <a:bodyPr wrap="square"/>
                    <a:lstStyle/>
                    <a:p>
                      <a:pPr algn="r"/>
                      <a:r>
                        <a:rPr sz="900" b="0">
                          <a:solidFill>
                            <a:srgbClr val="202945"/>
                          </a:solidFill>
                        </a:rPr>
                        <a:t>1.0%</a:t>
                      </a:r>
                    </a:p>
                  </a:txBody>
                  <a:tcPr marL="45720" marR="45720" anchor="ctr">
                    <a:noFill/>
                  </a:tcPr>
                </a:tc>
              </a:tr>
            </a:tbl>
          </a:graphicData>
        </a:graphic>
      </p:graphicFrame>
    </p:spTree>
    <p:extLst>
      <p:ext uri="{BB962C8B-B14F-4D97-AF65-F5344CB8AC3E}">
        <p14:creationId xmlns:p14="http://schemas.microsoft.com/office/powerpoint/2010/main" val="3175993441"/>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328F8-53F6-CED6-31E0-2DCEDFB991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3C1EE4-2B5C-1D4C-4153-67DF338667A9}"/>
              </a:ext>
            </a:extLst>
          </p:cNvPr>
          <p:cNvSpPr>
            <a:spLocks noGrp="1"/>
          </p:cNvSpPr>
          <p:nvPr>
            <p:ph type="title"/>
          </p:nvPr>
        </p:nvSpPr>
        <p:spPr/>
        <p:txBody>
          <a:bodyPr/>
          <a:lstStyle/>
          <a:p>
            <a:r>
              <a:rPr lang="en-US" noProof="0" dirty="0"/>
              <a:t>Structured products</a:t>
            </a:r>
          </a:p>
        </p:txBody>
      </p:sp>
      <p:sp>
        <p:nvSpPr>
          <p:cNvPr id="4" name="TextBox 3">
            <a:extLst>
              <a:ext uri="{FF2B5EF4-FFF2-40B4-BE49-F238E27FC236}">
                <a16:creationId xmlns:a16="http://schemas.microsoft.com/office/drawing/2014/main" id="{9D19CC08-E71F-318C-3DD8-8F8F59AC2B32}"/>
              </a:ext>
            </a:extLst>
          </p:cNvPr>
          <p:cNvSpPr txBox="1"/>
          <p:nvPr/>
        </p:nvSpPr>
        <p:spPr>
          <a:xfrm>
            <a:off x="666000" y="2160000"/>
            <a:ext cx="4536000" cy="307777"/>
          </a:xfrm>
          <a:prstGeom prst="rect">
            <a:avLst/>
          </a:prstGeom>
          <a:noFill/>
        </p:spPr>
        <p:txBody>
          <a:bodyPr wrap="square" lIns="0" anchor="t">
            <a:spAutoFit/>
          </a:bodyPr>
          <a:lstStyle/>
          <a:p>
            <a:pPr algn="l"/>
            <a:r>
              <a:rPr lang="en-US" sz="1400" b="1" noProof="0" dirty="0">
                <a:solidFill>
                  <a:srgbClr val="202945"/>
                </a:solidFill>
                <a:latin typeface="Nunito Sans ExtraBold"/>
              </a:rPr>
              <a:t>How this sleeve is built</a:t>
            </a:r>
          </a:p>
        </p:txBody>
      </p:sp>
      <p:sp>
        <p:nvSpPr>
          <p:cNvPr id="5" name="TextBox 4">
            <a:extLst>
              <a:ext uri="{FF2B5EF4-FFF2-40B4-BE49-F238E27FC236}">
                <a16:creationId xmlns:a16="http://schemas.microsoft.com/office/drawing/2014/main" id="{9A95A346-C89D-DDED-D961-239FF26C8C6C}"/>
              </a:ext>
            </a:extLst>
          </p:cNvPr>
          <p:cNvSpPr txBox="1"/>
          <p:nvPr/>
        </p:nvSpPr>
        <p:spPr>
          <a:xfrm>
            <a:off x="666000" y="2520000"/>
            <a:ext cx="4536000" cy="1384995"/>
          </a:xfrm>
          <a:prstGeom prst="rect">
            <a:avLst/>
          </a:prstGeom>
          <a:noFill/>
        </p:spPr>
        <p:txBody>
          <a:bodyPr wrap="square" lIns="0" anchor="t">
            <a:spAutoFit/>
          </a:bodyPr>
          <a:lstStyle/>
          <a:p>
            <a:pPr>
              <a:spcAft>
                <a:spcPts val="800"/>
              </a:spcAft>
            </a:pPr>
            <a:r>
              <a:rPr lang="en-CH" sz="1200" b="1" dirty="0">
                <a:solidFill>
                  <a:schemeClr val="tx2"/>
                </a:solidFill>
              </a:rPr>
              <a:t>Structured Products diversification:</a:t>
            </a:r>
            <a:r>
              <a:rPr lang="en-CH" sz="1200" dirty="0">
                <a:solidFill>
                  <a:schemeClr val="tx2"/>
                </a:solidFill>
              </a:rPr>
              <a:t> a combination of yield-enhancement, participation and capital-protection strategies across equities, rates, credit and other underlying assets. Products are selected according to their payoff profile, maturity and risk characteristics, with the objective of enhancing portfolio income, accessing targeted market exposures and improving downside protection.</a:t>
            </a:r>
            <a:endParaRPr lang="en-US" sz="1200" b="0" noProof="0" dirty="0">
              <a:solidFill>
                <a:schemeClr val="tx2"/>
              </a:solidFill>
              <a:latin typeface="Nunito Sans"/>
            </a:endParaRPr>
          </a:p>
        </p:txBody>
      </p:sp>
      <p:sp>
        <p:nvSpPr>
          <p:cNvPr id="6" name="TextBox 5">
            <a:extLst>
              <a:ext uri="{FF2B5EF4-FFF2-40B4-BE49-F238E27FC236}">
                <a16:creationId xmlns:a16="http://schemas.microsoft.com/office/drawing/2014/main" id="{70DEAEC7-0D51-F0ED-BA01-134A4389238F}"/>
              </a:ext>
            </a:extLst>
          </p:cNvPr>
          <p:cNvSpPr txBox="1"/>
          <p:nvPr/>
        </p:nvSpPr>
        <p:spPr>
          <a:xfrm>
            <a:off x="666000" y="4500000"/>
            <a:ext cx="4536000" cy="324000"/>
          </a:xfrm>
          <a:prstGeom prst="rect">
            <a:avLst/>
          </a:prstGeom>
          <a:noFill/>
        </p:spPr>
        <p:txBody>
          <a:bodyPr wrap="square" anchor="t">
            <a:spAutoFit/>
          </a:bodyPr>
          <a:lstStyle/>
          <a:p>
            <a:pPr algn="l"/>
            <a:r>
              <a:rPr lang="en-US" sz="1500" b="1" noProof="0" dirty="0">
                <a:solidFill>
                  <a:srgbClr val="202945"/>
                </a:solidFill>
                <a:latin typeface="Nunito Sans ExtraBold"/>
              </a:rPr>
              <a:t>Largest holdings in this sleeve</a:t>
            </a:r>
          </a:p>
        </p:txBody>
      </p:sp>
      <p:sp>
        <p:nvSpPr>
          <p:cNvPr id="12" name="TextBox 11">
            <a:extLst>
              <a:ext uri="{FF2B5EF4-FFF2-40B4-BE49-F238E27FC236}">
                <a16:creationId xmlns:a16="http://schemas.microsoft.com/office/drawing/2014/main" id="{07F7F316-F978-B8E5-4576-FF25BA97CCAE}"/>
              </a:ext>
            </a:extLst>
          </p:cNvPr>
          <p:cNvSpPr txBox="1"/>
          <p:nvPr/>
        </p:nvSpPr>
        <p:spPr>
          <a:xfrm>
            <a:off x="666000" y="6983999"/>
            <a:ext cx="9396000" cy="432000"/>
          </a:xfrm>
          <a:prstGeom prst="rect">
            <a:avLst/>
          </a:prstGeom>
          <a:noFill/>
        </p:spPr>
        <p:txBody>
          <a:bodyPr wrap="square" anchor="t">
            <a:spAutoFit/>
          </a:bodyPr>
          <a:lstStyle/>
          <a:p>
            <a:pPr algn="l"/>
            <a:r>
              <a:rPr lang="en-US" sz="900" b="0" noProof="0" dirty="0">
                <a:solidFill>
                  <a:srgbClr val="4B5F80"/>
                </a:solidFill>
                <a:latin typeface="Nunito Sans"/>
              </a:rPr>
              <a:t/>
            </a:r>
          </a:p>
        </p:txBody>
      </p:sp>
      <p:sp>
        <p:nvSpPr>
          <p:cNvPr id="15" name="Oval 14">
            <a:extLst>
              <a:ext uri="{FF2B5EF4-FFF2-40B4-BE49-F238E27FC236}">
                <a16:creationId xmlns:a16="http://schemas.microsoft.com/office/drawing/2014/main" id="{C36BE8EF-C3A9-41DA-70ED-B995D3E8659C}"/>
              </a:ext>
            </a:extLst>
          </p:cNvPr>
          <p:cNvSpPr/>
          <p:nvPr/>
        </p:nvSpPr>
        <p:spPr>
          <a:xfrm>
            <a:off x="9966508" y="935038"/>
            <a:ext cx="540000" cy="540000"/>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H" sz="1400"/>
          </a:p>
        </p:txBody>
      </p:sp>
      <p:pic>
        <p:nvPicPr>
          <p:cNvPr id="13" name="Graphic 12" descr="Puzzle pieces outline">
            <a:extLst>
              <a:ext uri="{FF2B5EF4-FFF2-40B4-BE49-F238E27FC236}">
                <a16:creationId xmlns:a16="http://schemas.microsoft.com/office/drawing/2014/main" id="{8727BBD6-F712-BA1C-53D0-52D8820FD0A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007635" y="941965"/>
            <a:ext cx="471600" cy="471600"/>
          </a:xfrm>
          <a:prstGeom prst="rect">
            <a:avLst/>
          </a:prstGeom>
        </p:spPr>
      </p:pic>
      <p:graphicFrame>
        <p:nvGraphicFramePr>
          <p:cNvPr id="16" name="Table 15"/>
          <p:cNvGraphicFramePr>
            <a:graphicFrameLocks noGrp="1"/>
          </p:cNvGraphicFramePr>
          <p:nvPr/>
        </p:nvGraphicFramePr>
        <p:xfrm>
          <a:off x="666000" y="4860000"/>
          <a:ext cx="9341632" cy="583200"/>
        </p:xfrm>
        <a:graphic>
          <a:graphicData uri="http://schemas.openxmlformats.org/drawingml/2006/table">
            <a:tbl>
              <a:tblPr firstRow="1" bandRow="1">
                <a:tableStyleId>{5C22544A-7EE6-4342-B048-85BDC9FD1C3A}</a:tableStyleId>
              </a:tblPr>
              <a:tblGrid>
                <a:gridCol w="4297151"/>
                <a:gridCol w="1681494"/>
                <a:gridCol w="1307828"/>
                <a:gridCol w="2055159"/>
              </a:tblGrid>
              <a:tr h="97200">
                <a:tc>
                  <a:txBody>
                    <a:bodyPr wrap="square"/>
                    <a:lstStyle/>
                    <a:p>
                      <a:pPr algn="l"/>
                      <a:r>
                        <a:rPr sz="950" b="1">
                          <a:solidFill>
                            <a:srgbClr val="202945"/>
                          </a:solidFill>
                        </a:rPr>
                        <a:t>Holding</a:t>
                      </a:r>
                    </a:p>
                  </a:txBody>
                  <a:tcPr marL="45720" marR="45720" anchor="ctr">
                    <a:solidFill>
                      <a:srgbClr val="FFC545"/>
                    </a:solidFill>
                  </a:tcPr>
                </a:tc>
                <a:tc>
                  <a:txBody>
                    <a:bodyPr wrap="square"/>
                    <a:lstStyle/>
                    <a:p>
                      <a:pPr algn="l"/>
                      <a:r>
                        <a:rPr sz="950" b="1">
                          <a:solidFill>
                            <a:srgbClr val="202945"/>
                          </a:solidFill>
                        </a:rPr>
                        <a:t>Value</a:t>
                      </a:r>
                    </a:p>
                  </a:txBody>
                  <a:tcPr marL="45720" marR="45720" anchor="ctr">
                    <a:solidFill>
                      <a:srgbClr val="FFC545"/>
                    </a:solidFill>
                  </a:tcPr>
                </a:tc>
                <a:tc>
                  <a:txBody>
                    <a:bodyPr wrap="square"/>
                    <a:lstStyle/>
                    <a:p>
                      <a:pPr algn="l"/>
                      <a:r>
                        <a:rPr sz="950" b="1">
                          <a:solidFill>
                            <a:srgbClr val="202945"/>
                          </a:solidFill>
                        </a:rPr>
                        <a:t>Share</a:t>
                      </a:r>
                    </a:p>
                  </a:txBody>
                  <a:tcPr marL="45720" marR="45720" anchor="ctr">
                    <a:solidFill>
                      <a:srgbClr val="FFC545"/>
                    </a:solidFill>
                  </a:tcPr>
                </a:tc>
                <a:tc>
                  <a:txBody>
                    <a:bodyPr wrap="square"/>
                    <a:lstStyle/>
                    <a:p>
                      <a:pPr algn="l"/>
                      <a:r>
                        <a:rPr sz="950" b="1">
                          <a:solidFill>
                            <a:srgbClr val="202945"/>
                          </a:solidFill>
                        </a:rPr>
                        <a:t>Yield / Coupon</a:t>
                      </a:r>
                    </a:p>
                  </a:txBody>
                  <a:tcPr marL="45720" marR="45720" anchor="ctr">
                    <a:solidFill>
                      <a:srgbClr val="FFC545"/>
                    </a:solidFill>
                  </a:tcPr>
                </a:tc>
              </a:tr>
              <a:tr h="97200">
                <a:tc>
                  <a:txBody>
                    <a:bodyPr wrap="square"/>
                    <a:lstStyle/>
                    <a:p>
                      <a:pPr algn="l"/>
                      <a:r>
                        <a:rPr sz="900" b="0">
                          <a:solidFill>
                            <a:srgbClr val="202945"/>
                          </a:solidFill>
                        </a:rPr>
                        <a:t>CITIBTB11.3%ABBN-GALD-UBS  15.06.2027</a:t>
                      </a:r>
                    </a:p>
                  </a:txBody>
                  <a:tcPr marL="45720" marR="45720" anchor="ctr">
                    <a:noFill/>
                  </a:tcPr>
                </a:tc>
                <a:tc>
                  <a:txBody>
                    <a:bodyPr wrap="square"/>
                    <a:lstStyle/>
                    <a:p>
                      <a:pPr algn="l"/>
                      <a:r>
                        <a:rPr sz="900" b="0">
                          <a:solidFill>
                            <a:srgbClr val="202945"/>
                          </a:solidFill>
                        </a:rPr>
                        <a:t>CHF 228k</a:t>
                      </a:r>
                    </a:p>
                  </a:txBody>
                  <a:tcPr marL="45720" marR="45720" anchor="ctr">
                    <a:noFill/>
                  </a:tcPr>
                </a:tc>
                <a:tc>
                  <a:txBody>
                    <a:bodyPr wrap="square"/>
                    <a:lstStyle/>
                    <a:p>
                      <a:pPr algn="r"/>
                      <a:r>
                        <a:rPr sz="900" b="0">
                          <a:solidFill>
                            <a:srgbClr val="202945"/>
                          </a:solidFill>
                        </a:rPr>
                        <a:t>1.2%</a:t>
                      </a:r>
                    </a:p>
                  </a:txBody>
                  <a:tcPr marL="45720" marR="45720" anchor="ctr">
                    <a:noFill/>
                  </a:tcPr>
                </a:tc>
                <a:tc>
                  <a:txBody>
                    <a:bodyPr wrap="square"/>
                    <a:lstStyle/>
                    <a:p>
                      <a:pPr algn="r"/>
                      <a:r>
                        <a:rPr sz="900" b="0">
                          <a:solidFill>
                            <a:srgbClr val="202945"/>
                          </a:solidFill>
                        </a:rPr>
                        <a:t>5.56%</a:t>
                      </a:r>
                    </a:p>
                  </a:txBody>
                  <a:tcPr marL="45720" marR="45720" anchor="ctr">
                    <a:noFill/>
                  </a:tcPr>
                </a:tc>
              </a:tr>
              <a:tr h="97200">
                <a:tc>
                  <a:txBody>
                    <a:bodyPr wrap="square"/>
                    <a:lstStyle/>
                    <a:p>
                      <a:pPr algn="l"/>
                      <a:r>
                        <a:rPr sz="900" b="0">
                          <a:solidFill>
                            <a:srgbClr val="202945"/>
                          </a:solidFill>
                        </a:rPr>
                        <a:t>TCM 100% CPN 125% LEONAI1  25.08.2028</a:t>
                      </a:r>
                    </a:p>
                  </a:txBody>
                  <a:tcPr marL="45720" marR="45720" anchor="ctr">
                    <a:noFill/>
                  </a:tcPr>
                </a:tc>
                <a:tc>
                  <a:txBody>
                    <a:bodyPr wrap="square"/>
                    <a:lstStyle/>
                    <a:p>
                      <a:pPr algn="l"/>
                      <a:r>
                        <a:rPr sz="900" b="0">
                          <a:solidFill>
                            <a:srgbClr val="202945"/>
                          </a:solidFill>
                        </a:rPr>
                        <a:t>USD 242k</a:t>
                      </a:r>
                    </a:p>
                  </a:txBody>
                  <a:tcPr marL="45720" marR="45720" anchor="ctr">
                    <a:noFill/>
                  </a:tcPr>
                </a:tc>
                <a:tc>
                  <a:txBody>
                    <a:bodyPr wrap="square"/>
                    <a:lstStyle/>
                    <a:p>
                      <a:pPr algn="r"/>
                      <a:r>
                        <a:rPr sz="900" b="0">
                          <a:solidFill>
                            <a:srgbClr val="202945"/>
                          </a:solidFill>
                        </a:rPr>
                        <a:t>1.0%</a:t>
                      </a:r>
                    </a:p>
                  </a:txBody>
                  <a:tcPr marL="45720" marR="45720" anchor="ctr">
                    <a:noFill/>
                  </a:tcPr>
                </a:tc>
                <a:tc>
                  <a:txBody>
                    <a:bodyPr wrap="square"/>
                    <a:lstStyle/>
                    <a:p>
                      <a:pPr algn="r"/>
                      <a:r>
                        <a:rPr sz="900" b="0">
                          <a:solidFill>
                            <a:srgbClr val="202945"/>
                          </a:solidFill>
                        </a:rPr>
                        <a:t>—</a:t>
                      </a:r>
                    </a:p>
                  </a:txBody>
                  <a:tcPr marL="45720" marR="45720" anchor="ctr">
                    <a:noFill/>
                  </a:tcPr>
                </a:tc>
              </a:tr>
              <a:tr h="97200">
                <a:tc>
                  <a:txBody>
                    <a:bodyPr wrap="square"/>
                    <a:lstStyle/>
                    <a:p>
                      <a:pPr algn="l"/>
                      <a:r>
                        <a:rPr sz="900" b="0">
                          <a:solidFill>
                            <a:srgbClr val="202945"/>
                          </a:solidFill>
                        </a:rPr>
                        <a:t>BNP CPN 8% ENI-TTE-CVX  10.11.2027</a:t>
                      </a:r>
                    </a:p>
                  </a:txBody>
                  <a:tcPr marL="45720" marR="45720" anchor="ctr">
                    <a:noFill/>
                  </a:tcPr>
                </a:tc>
                <a:tc>
                  <a:txBody>
                    <a:bodyPr wrap="square"/>
                    <a:lstStyle/>
                    <a:p>
                      <a:pPr algn="l"/>
                      <a:r>
                        <a:rPr sz="900" b="0">
                          <a:solidFill>
                            <a:srgbClr val="202945"/>
                          </a:solidFill>
                        </a:rPr>
                        <a:t>USD 212k</a:t>
                      </a:r>
                    </a:p>
                  </a:txBody>
                  <a:tcPr marL="45720" marR="45720" anchor="ctr">
                    <a:noFill/>
                  </a:tcPr>
                </a:tc>
                <a:tc>
                  <a:txBody>
                    <a:bodyPr wrap="square"/>
                    <a:lstStyle/>
                    <a:p>
                      <a:pPr algn="r"/>
                      <a:r>
                        <a:rPr sz="900" b="0">
                          <a:solidFill>
                            <a:srgbClr val="202945"/>
                          </a:solidFill>
                        </a:rPr>
                        <a:t>0.9%</a:t>
                      </a:r>
                    </a:p>
                  </a:txBody>
                  <a:tcPr marL="45720" marR="45720" anchor="ctr">
                    <a:noFill/>
                  </a:tcPr>
                </a:tc>
                <a:tc>
                  <a:txBody>
                    <a:bodyPr wrap="square"/>
                    <a:lstStyle/>
                    <a:p>
                      <a:pPr algn="r"/>
                      <a:r>
                        <a:rPr sz="900" b="0">
                          <a:solidFill>
                            <a:srgbClr val="202945"/>
                          </a:solidFill>
                        </a:rPr>
                        <a:t>—</a:t>
                      </a:r>
                    </a:p>
                  </a:txBody>
                  <a:tcPr marL="45720" marR="45720" anchor="ctr">
                    <a:noFill/>
                  </a:tcPr>
                </a:tc>
              </a:tr>
              <a:tr h="97200">
                <a:tc>
                  <a:txBody>
                    <a:bodyPr wrap="square"/>
                    <a:lstStyle/>
                    <a:p>
                      <a:pPr algn="l"/>
                      <a:r>
                        <a:rPr sz="900" b="0">
                          <a:solidFill>
                            <a:srgbClr val="202945"/>
                          </a:solidFill>
                        </a:rPr>
                        <a:t>RAF 9.45% GOOGL-AMZN-MSFT  24.12.2026</a:t>
                      </a:r>
                    </a:p>
                  </a:txBody>
                  <a:tcPr marL="45720" marR="45720" anchor="ctr">
                    <a:noFill/>
                  </a:tcPr>
                </a:tc>
                <a:tc>
                  <a:txBody>
                    <a:bodyPr wrap="square"/>
                    <a:lstStyle/>
                    <a:p>
                      <a:pPr algn="l"/>
                      <a:r>
                        <a:rPr sz="900" b="0">
                          <a:solidFill>
                            <a:srgbClr val="202945"/>
                          </a:solidFill>
                        </a:rPr>
                        <a:t>USD 202k</a:t>
                      </a:r>
                    </a:p>
                  </a:txBody>
                  <a:tcPr marL="45720" marR="45720" anchor="ctr">
                    <a:noFill/>
                  </a:tcPr>
                </a:tc>
                <a:tc>
                  <a:txBody>
                    <a:bodyPr wrap="square"/>
                    <a:lstStyle/>
                    <a:p>
                      <a:pPr algn="r"/>
                      <a:r>
                        <a:rPr sz="900" b="0">
                          <a:solidFill>
                            <a:srgbClr val="202945"/>
                          </a:solidFill>
                        </a:rPr>
                        <a:t>0.8%</a:t>
                      </a:r>
                    </a:p>
                  </a:txBody>
                  <a:tcPr marL="45720" marR="45720" anchor="ctr">
                    <a:noFill/>
                  </a:tcPr>
                </a:tc>
                <a:tc>
                  <a:txBody>
                    <a:bodyPr wrap="square"/>
                    <a:lstStyle/>
                    <a:p>
                      <a:pPr algn="r"/>
                      <a:r>
                        <a:rPr sz="900" b="0">
                          <a:solidFill>
                            <a:srgbClr val="202945"/>
                          </a:solidFill>
                        </a:rPr>
                        <a:t>—</a:t>
                      </a:r>
                    </a:p>
                  </a:txBody>
                  <a:tcPr marL="45720" marR="45720" anchor="ctr">
                    <a:noFill/>
                  </a:tcPr>
                </a:tc>
              </a:tr>
              <a:tr h="97200">
                <a:tc>
                  <a:txBody>
                    <a:bodyPr wrap="square"/>
                    <a:lstStyle/>
                    <a:p>
                      <a:pPr algn="l"/>
                      <a:r>
                        <a:rPr sz="900" b="0">
                          <a:solidFill>
                            <a:srgbClr val="202945"/>
                          </a:solidFill>
                        </a:rPr>
                        <a:t>7%DCI XAGUSD 57.80 UBS 26  24.09.2026</a:t>
                      </a:r>
                    </a:p>
                  </a:txBody>
                  <a:tcPr marL="45720" marR="45720" anchor="ctr">
                    <a:noFill/>
                  </a:tcPr>
                </a:tc>
                <a:tc>
                  <a:txBody>
                    <a:bodyPr wrap="square"/>
                    <a:lstStyle/>
                    <a:p>
                      <a:pPr algn="l"/>
                      <a:r>
                        <a:rPr sz="900" b="0">
                          <a:solidFill>
                            <a:srgbClr val="202945"/>
                          </a:solidFill>
                        </a:rPr>
                        <a:t>USD 199k</a:t>
                      </a:r>
                    </a:p>
                  </a:txBody>
                  <a:tcPr marL="45720" marR="45720" anchor="ctr">
                    <a:noFill/>
                  </a:tcPr>
                </a:tc>
                <a:tc>
                  <a:txBody>
                    <a:bodyPr wrap="square"/>
                    <a:lstStyle/>
                    <a:p>
                      <a:pPr algn="r"/>
                      <a:r>
                        <a:rPr sz="900" b="0">
                          <a:solidFill>
                            <a:srgbClr val="202945"/>
                          </a:solidFill>
                        </a:rPr>
                        <a:t>0.8%</a:t>
                      </a:r>
                    </a:p>
                  </a:txBody>
                  <a:tcPr marL="45720" marR="45720" anchor="ctr">
                    <a:noFill/>
                  </a:tcPr>
                </a:tc>
                <a:tc>
                  <a:txBody>
                    <a:bodyPr wrap="square"/>
                    <a:lstStyle/>
                    <a:p>
                      <a:pPr algn="r"/>
                      <a:r>
                        <a:rPr sz="900" b="0">
                          <a:solidFill>
                            <a:srgbClr val="202945"/>
                          </a:solidFill>
                        </a:rPr>
                        <a:t>—</a:t>
                      </a:r>
                    </a:p>
                  </a:txBody>
                  <a:tcPr marL="45720" marR="45720" anchor="ctr">
                    <a:noFill/>
                  </a:tcPr>
                </a:tc>
              </a:tr>
            </a:tbl>
          </a:graphicData>
        </a:graphic>
      </p:graphicFrame>
    </p:spTree>
    <p:extLst>
      <p:ext uri="{BB962C8B-B14F-4D97-AF65-F5344CB8AC3E}">
        <p14:creationId xmlns:p14="http://schemas.microsoft.com/office/powerpoint/2010/main" val="1792680925"/>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Liquidity profile</a:t>
            </a:r>
          </a:p>
        </p:txBody>
      </p:sp>
      <p:sp>
        <p:nvSpPr>
          <p:cNvPr id="3" name="Text Placeholder 2"/>
          <p:cNvSpPr>
            <a:spLocks noGrp="1"/>
          </p:cNvSpPr>
          <p:nvPr>
            <p:ph type="body" sz="quarter" idx="14"/>
          </p:nvPr>
        </p:nvSpPr>
        <p:spPr>
          <a:xfrm>
            <a:off x="665163" y="1652013"/>
            <a:ext cx="9398001" cy="251511"/>
          </a:xfrm>
        </p:spPr>
        <p:txBody>
          <a:bodyPr/>
          <a:lstStyle/>
          <a:p>
            <a:r>
              <a:rPr lang="en-US" sz="1500" noProof="0" dirty="0"/>
              <a:t>Share of the book </a:t>
            </a:r>
            <a:r>
              <a:rPr lang="en-US" sz="1500" dirty="0"/>
              <a:t>across </a:t>
            </a:r>
            <a:r>
              <a:rPr lang="en-US" sz="1500" noProof="0" dirty="0"/>
              <a:t>daily, fund and locked-up horizons.</a:t>
            </a:r>
          </a:p>
        </p:txBody>
      </p:sp>
      <p:sp>
        <p:nvSpPr>
          <p:cNvPr id="4" name="TextBox 3"/>
          <p:cNvSpPr txBox="1"/>
          <p:nvPr/>
        </p:nvSpPr>
        <p:spPr>
          <a:xfrm>
            <a:off x="666000" y="2340000"/>
            <a:ext cx="4896000" cy="307777"/>
          </a:xfrm>
          <a:prstGeom prst="rect">
            <a:avLst/>
          </a:prstGeom>
          <a:noFill/>
        </p:spPr>
        <p:txBody>
          <a:bodyPr wrap="square" lIns="0" anchor="t">
            <a:spAutoFit/>
          </a:bodyPr>
          <a:lstStyle/>
          <a:p>
            <a:pPr algn="l"/>
            <a:r>
              <a:rPr lang="en-US" sz="1400" b="1" noProof="0" dirty="0">
                <a:solidFill>
                  <a:srgbClr val="202945"/>
                </a:solidFill>
                <a:latin typeface="Nunito Sans ExtraBold"/>
              </a:rPr>
              <a:t>By liquidity horizon</a:t>
            </a:r>
          </a:p>
        </p:txBody>
      </p:sp>
      <p:sp>
        <p:nvSpPr>
          <p:cNvPr id="5" name="Rectangle 4"/>
          <p:cNvSpPr/>
          <p:nvPr/>
        </p:nvSpPr>
        <p:spPr>
          <a:xfrm>
            <a:off x="666000" y="2700000"/>
            <a:ext cx="4896000" cy="3743999"/>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aphicFrame>
        <p:nvGraphicFramePr>
          <p:cNvPr id="6" name="Chart 5"/>
          <p:cNvGraphicFramePr>
            <a:graphicFrameLocks noGrp="1"/>
          </p:cNvGraphicFramePr>
          <p:nvPr>
            <p:extLst>
              <p:ext uri="{D42A27DB-BD31-4B8C-83A1-F6EECF244321}">
                <p14:modId xmlns:p14="http://schemas.microsoft.com/office/powerpoint/2010/main" val="3189709188"/>
              </p:ext>
            </p:extLst>
          </p:nvPr>
        </p:nvGraphicFramePr>
        <p:xfrm>
          <a:off x="846000" y="2880000"/>
          <a:ext cx="4536000" cy="3383999"/>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p:cNvSpPr txBox="1"/>
          <p:nvPr/>
        </p:nvSpPr>
        <p:spPr>
          <a:xfrm>
            <a:off x="1752989" y="4418112"/>
            <a:ext cx="907621" cy="307777"/>
          </a:xfrm>
          <a:prstGeom prst="rect">
            <a:avLst/>
          </a:prstGeom>
          <a:noFill/>
        </p:spPr>
        <p:txBody>
          <a:bodyPr wrap="none" anchor="ctr">
            <a:spAutoFit/>
          </a:bodyPr>
          <a:lstStyle/>
          <a:p>
            <a:pPr algn="ctr"/>
            <a:r>
              <a:rPr lang="en-US" sz="1400" b="1" noProof="0" dirty="0">
                <a:solidFill>
                  <a:srgbClr val="202945"/>
                </a:solidFill>
                <a:latin typeface="Nunito Sans"/>
              </a:rPr>
              <a:t>Liquidity</a:t>
            </a:r>
          </a:p>
        </p:txBody>
      </p:sp>
      <p:sp>
        <p:nvSpPr>
          <p:cNvPr id="8" name="TextBox 7"/>
          <p:cNvSpPr txBox="1"/>
          <p:nvPr/>
        </p:nvSpPr>
        <p:spPr>
          <a:xfrm>
            <a:off x="5832000" y="2340000"/>
            <a:ext cx="4176000" cy="307777"/>
          </a:xfrm>
          <a:prstGeom prst="rect">
            <a:avLst/>
          </a:prstGeom>
          <a:noFill/>
        </p:spPr>
        <p:txBody>
          <a:bodyPr wrap="square" anchor="t">
            <a:spAutoFit/>
          </a:bodyPr>
          <a:lstStyle/>
          <a:p>
            <a:pPr algn="l"/>
            <a:r>
              <a:rPr lang="en-US" sz="1400" b="1" noProof="0" dirty="0">
                <a:solidFill>
                  <a:srgbClr val="202945"/>
                </a:solidFill>
                <a:latin typeface="Nunito Sans ExtraBold"/>
              </a:rPr>
              <a:t>Key takeaway</a:t>
            </a:r>
          </a:p>
        </p:txBody>
      </p:sp>
      <p:sp>
        <p:nvSpPr>
          <p:cNvPr id="9" name="TextBox 8"/>
          <p:cNvSpPr txBox="1"/>
          <p:nvPr/>
        </p:nvSpPr>
        <p:spPr>
          <a:xfrm>
            <a:off x="5832000" y="2988000"/>
            <a:ext cx="4176000" cy="1590179"/>
          </a:xfrm>
          <a:prstGeom prst="rect">
            <a:avLst/>
          </a:prstGeom>
          <a:noFill/>
        </p:spPr>
        <p:txBody>
          <a:bodyPr wrap="square" anchor="t">
            <a:spAutoFit/>
          </a:bodyPr>
          <a:lstStyle/>
          <a:p>
            <a:pPr algn="l">
              <a:spcAft>
                <a:spcPts val="800"/>
              </a:spcAft>
            </a:pPr>
            <a:r>
              <a:rPr lang="en-US" sz="1200" b="0" noProof="0" dirty="0">
                <a:solidFill>
                  <a:srgbClr val="202945"/>
                </a:solidFill>
                <a:latin typeface="Nunito Sans"/>
              </a:rPr>
              <a:t>About 16.6% of the portfolio sits in private, hedge-fund and lock-up vehicles with redemption gates and notice periods.</a:t>
            </a:r>
          </a:p>
          <a:p>
            <a:pPr>
              <a:spcAft>
                <a:spcPts val="800"/>
              </a:spcAft>
            </a:pPr>
            <a:r>
              <a:t/>
            </a:r>
            <a:endParaRPr lang="en-US" sz="1200" b="0" noProof="0" dirty="0">
              <a:solidFill>
                <a:srgbClr val="202945"/>
              </a:solidFill>
              <a:latin typeface="Nunito Sans"/>
            </a:endParaRPr>
          </a:p>
          <a:p>
            <a:pPr>
              <a:spcAft>
                <a:spcPts val="800"/>
              </a:spcAft>
            </a:pPr>
            <a:r>
              <a:rPr lang="en-US" sz="1200" b="0" noProof="0" dirty="0">
                <a:solidFill>
                  <a:srgbClr val="202945"/>
                </a:solidFill>
                <a:latin typeface="Nunito Sans"/>
              </a:rPr>
              <a:t>Liquidity events should be planned around these constraints; the daily-liquid sleeve covers near-term needs.</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Concentration &amp; top holdings</a:t>
            </a:r>
          </a:p>
        </p:txBody>
      </p:sp>
      <p:sp>
        <p:nvSpPr>
          <p:cNvPr id="3" name="Text Placeholder 2"/>
          <p:cNvSpPr>
            <a:spLocks noGrp="1"/>
          </p:cNvSpPr>
          <p:nvPr>
            <p:ph type="body" sz="quarter" idx="14"/>
          </p:nvPr>
        </p:nvSpPr>
        <p:spPr>
          <a:xfrm>
            <a:off x="665163" y="1652018"/>
            <a:ext cx="9398001" cy="251511"/>
          </a:xfrm>
        </p:spPr>
        <p:txBody>
          <a:bodyPr/>
          <a:lstStyle/>
          <a:p>
            <a:r>
              <a:rPr lang="en-US" sz="1400" noProof="0" dirty="0"/>
              <a:t>Largest positions and cumulative concentration.</a:t>
            </a:r>
          </a:p>
        </p:txBody>
      </p:sp>
      <p:graphicFrame>
        <p:nvGraphicFramePr>
          <p:cNvPr id="4" name="Table 3"/>
          <p:cNvGraphicFramePr>
            <a:graphicFrameLocks noGrp="1"/>
          </p:cNvGraphicFramePr>
          <p:nvPr>
            <p:custDataLst>
              <p:tags r:id="rId1"/>
            </p:custDataLst>
            <p:extLst>
              <p:ext uri="{D42A27DB-BD31-4B8C-83A1-F6EECF244321}">
                <p14:modId xmlns:p14="http://schemas.microsoft.com/office/powerpoint/2010/main" val="3795562213"/>
              </p:ext>
            </p:extLst>
          </p:nvPr>
        </p:nvGraphicFramePr>
        <p:xfrm>
          <a:off x="666000" y="2520000"/>
          <a:ext cx="6119997" cy="3240000"/>
        </p:xfrm>
        <a:graphic>
          <a:graphicData uri="http://schemas.openxmlformats.org/drawingml/2006/table">
            <a:tbl>
              <a:tblPr firstRow="1" bandRow="1">
                <a:tableStyleId>{5C22544A-7EE6-4342-B048-85BDC9FD1C3A}</a:tableStyleId>
              </a:tblPr>
              <a:tblGrid>
                <a:gridCol w="470769">
                  <a:extLst>
                    <a:ext uri="{9D8B030D-6E8A-4147-A177-3AD203B41FA5}">
                      <a16:colId xmlns:a16="http://schemas.microsoft.com/office/drawing/2014/main" val="20000"/>
                    </a:ext>
                  </a:extLst>
                </a:gridCol>
                <a:gridCol w="3026373">
                  <a:extLst>
                    <a:ext uri="{9D8B030D-6E8A-4147-A177-3AD203B41FA5}">
                      <a16:colId xmlns:a16="http://schemas.microsoft.com/office/drawing/2014/main" val="20001"/>
                    </a:ext>
                  </a:extLst>
                </a:gridCol>
                <a:gridCol w="1008791">
                  <a:extLst>
                    <a:ext uri="{9D8B030D-6E8A-4147-A177-3AD203B41FA5}">
                      <a16:colId xmlns:a16="http://schemas.microsoft.com/office/drawing/2014/main" val="20002"/>
                    </a:ext>
                  </a:extLst>
                </a:gridCol>
                <a:gridCol w="807032">
                  <a:extLst>
                    <a:ext uri="{9D8B030D-6E8A-4147-A177-3AD203B41FA5}">
                      <a16:colId xmlns:a16="http://schemas.microsoft.com/office/drawing/2014/main" val="20003"/>
                    </a:ext>
                  </a:extLst>
                </a:gridCol>
                <a:gridCol w="807032">
                  <a:extLst>
                    <a:ext uri="{9D8B030D-6E8A-4147-A177-3AD203B41FA5}">
                      <a16:colId xmlns:a16="http://schemas.microsoft.com/office/drawing/2014/main" val="20004"/>
                    </a:ext>
                  </a:extLst>
                </a:gridCol>
              </a:tblGrid>
              <a:tr h="360000">
                <a:tc>
                  <a:txBody>
                    <a:bodyPr/>
                    <a:lstStyle/>
                    <a:p>
                      <a:pPr algn="ctr"/>
                      <a:r>
                        <a:rPr lang="en-US" sz="1200" b="1" noProof="0" dirty="0">
                          <a:solidFill>
                            <a:srgbClr val="202945"/>
                          </a:solidFill>
                          <a:latin typeface="Nunito Sans"/>
                        </a:rPr>
                        <a:t>#</a:t>
                      </a:r>
                    </a:p>
                  </a:txBody>
                  <a:tcPr marL="54000" marR="54000" marT="18000" marB="18000" anchor="ctr">
                    <a:solidFill>
                      <a:srgbClr val="FFC545"/>
                    </a:solidFill>
                  </a:tcPr>
                </a:tc>
                <a:tc>
                  <a:txBody>
                    <a:bodyPr/>
                    <a:lstStyle/>
                    <a:p>
                      <a:pPr algn="l"/>
                      <a:r>
                        <a:rPr lang="en-US" sz="1200" b="1" noProof="0" dirty="0">
                          <a:solidFill>
                            <a:srgbClr val="202945"/>
                          </a:solidFill>
                          <a:latin typeface="Nunito Sans"/>
                        </a:rPr>
                        <a:t>Holding</a:t>
                      </a:r>
                    </a:p>
                  </a:txBody>
                  <a:tcPr marL="54000" marR="54000" marT="18000" marB="18000" anchor="ctr">
                    <a:solidFill>
                      <a:srgbClr val="FFC545"/>
                    </a:solidFill>
                  </a:tcPr>
                </a:tc>
                <a:tc>
                  <a:txBody>
                    <a:bodyPr/>
                    <a:lstStyle/>
                    <a:p>
                      <a:pPr algn="r"/>
                      <a:r>
                        <a:rPr lang="en-US" sz="1200" b="1" noProof="0" dirty="0">
                          <a:solidFill>
                            <a:srgbClr val="202945"/>
                          </a:solidFill>
                          <a:latin typeface="Nunito Sans"/>
                        </a:rPr>
                        <a:t>Value</a:t>
                      </a:r>
                    </a:p>
                  </a:txBody>
                  <a:tcPr marL="54000" marR="54000" marT="18000" marB="18000" anchor="ctr">
                    <a:solidFill>
                      <a:srgbClr val="FFC545"/>
                    </a:solidFill>
                  </a:tcPr>
                </a:tc>
                <a:tc>
                  <a:txBody>
                    <a:bodyPr/>
                    <a:lstStyle/>
                    <a:p>
                      <a:pPr algn="r"/>
                      <a:r>
                        <a:rPr lang="en-US" sz="1200" b="1" noProof="0" dirty="0">
                          <a:solidFill>
                            <a:srgbClr val="202945"/>
                          </a:solidFill>
                          <a:latin typeface="Nunito Sans"/>
                        </a:rPr>
                        <a:t>Weight</a:t>
                      </a:r>
                    </a:p>
                  </a:txBody>
                  <a:tcPr marL="54000" marR="54000" marT="18000" marB="18000" anchor="ctr">
                    <a:solidFill>
                      <a:srgbClr val="FFC545"/>
                    </a:solidFill>
                  </a:tcPr>
                </a:tc>
                <a:tc>
                  <a:txBody>
                    <a:bodyPr/>
                    <a:lstStyle/>
                    <a:p>
                      <a:pPr algn="r"/>
                      <a:r>
                        <a:rPr lang="en-US" sz="1200" b="1" noProof="0" dirty="0">
                          <a:solidFill>
                            <a:srgbClr val="202945"/>
                          </a:solidFill>
                          <a:latin typeface="Nunito Sans"/>
                        </a:rPr>
                        <a:t>Cum.</a:t>
                      </a:r>
                    </a:p>
                  </a:txBody>
                  <a:tcPr marL="54000" marR="54000" marT="18000" marB="18000" anchor="ctr">
                    <a:solidFill>
                      <a:srgbClr val="FFC545"/>
                    </a:solidFill>
                  </a:tcPr>
                </a:tc>
                <a:extLst>
                  <a:ext uri="{0D108BD9-81ED-4DB2-BD59-A6C34878D82A}">
                    <a16:rowId xmlns:a16="http://schemas.microsoft.com/office/drawing/2014/main" val="10000"/>
                  </a:ext>
                </a:extLst>
              </a:tr>
              <a:tr h="288000">
                <a:tc>
                  <a:txBody>
                    <a:bodyPr wrap="square"/>
                    <a:lstStyle/>
                    <a:p>
                      <a:pPr algn="l"/>
                      <a:r>
                        <a:rPr lang="en-US" sz="900" b="0" noProof="0" dirty="0">
                          <a:solidFill>
                            <a:srgbClr val="202945"/>
                          </a:solidFill>
                          <a:latin typeface="Nunito Sans"/>
                        </a:rPr>
                        <a:t>1</a:t>
                      </a:r>
                    </a:p>
                  </a:txBody>
                  <a:tcPr marL="45720" marR="45720" marT="18000" marB="18000" anchor="ctr">
                    <a:noFill/>
                  </a:tcPr>
                </a:tc>
                <a:tc>
                  <a:txBody>
                    <a:bodyPr wrap="square"/>
                    <a:lstStyle/>
                    <a:p>
                      <a:pPr algn="l"/>
                      <a:r>
                        <a:rPr lang="en-US" sz="900" b="0" noProof="0" dirty="0">
                          <a:solidFill>
                            <a:srgbClr val="202945"/>
                          </a:solidFill>
                          <a:latin typeface="Nunito Sans"/>
                        </a:rPr>
                        <a:t>GOLD KG 1 999.9 CHF</a:t>
                      </a:r>
                    </a:p>
                  </a:txBody>
                  <a:tcPr marL="45720" marR="45720" marT="18000" marB="18000" anchor="ctr">
                    <a:noFill/>
                  </a:tcPr>
                </a:tc>
                <a:tc>
                  <a:txBody>
                    <a:bodyPr wrap="square"/>
                    <a:lstStyle/>
                    <a:p>
                      <a:pPr algn="r"/>
                      <a:r>
                        <a:rPr lang="en-US" sz="900" b="0" noProof="0" dirty="0">
                          <a:solidFill>
                            <a:srgbClr val="202945"/>
                          </a:solidFill>
                          <a:latin typeface="Nunito Sans"/>
                        </a:rPr>
                        <a:t>4,230,520</a:t>
                      </a:r>
                    </a:p>
                  </a:txBody>
                  <a:tcPr marL="45720" marR="45720" marT="18000" marB="18000" anchor="ctr">
                    <a:noFill/>
                  </a:tcPr>
                </a:tc>
                <a:tc>
                  <a:txBody>
                    <a:bodyPr wrap="square"/>
                    <a:lstStyle/>
                    <a:p>
                      <a:pPr algn="r"/>
                      <a:r>
                        <a:rPr lang="en-US" sz="900" b="0" noProof="0" dirty="0">
                          <a:solidFill>
                            <a:srgbClr val="202945"/>
                          </a:solidFill>
                          <a:latin typeface="Nunito Sans"/>
                        </a:rPr>
                        <a:t>20.1%</a:t>
                      </a:r>
                    </a:p>
                  </a:txBody>
                  <a:tcPr marL="45720" marR="45720" marT="18000" marB="18000" anchor="ctr">
                    <a:noFill/>
                  </a:tcPr>
                </a:tc>
                <a:tc>
                  <a:txBody>
                    <a:bodyPr wrap="square"/>
                    <a:lstStyle/>
                    <a:p>
                      <a:pPr algn="r"/>
                      <a:r>
                        <a:rPr lang="en-US" sz="900" b="0" noProof="0" dirty="0">
                          <a:solidFill>
                            <a:srgbClr val="202945"/>
                          </a:solidFill>
                          <a:latin typeface="Nunito Sans"/>
                        </a:rPr>
                        <a:t>20.1%</a:t>
                      </a:r>
                    </a:p>
                  </a:txBody>
                  <a:tcPr marL="45720" marR="45720" marT="18000" marB="18000" anchor="ctr">
                    <a:noFill/>
                  </a:tcPr>
                </a:tc>
                <a:extLst>
                  <a:ext uri="{0D108BD9-81ED-4DB2-BD59-A6C34878D82A}">
                    <a16:rowId xmlns:a16="http://schemas.microsoft.com/office/drawing/2014/main" val="10001"/>
                  </a:ext>
                </a:extLst>
              </a:tr>
              <a:tr h="288000">
                <a:tc>
                  <a:txBody>
                    <a:bodyPr wrap="square"/>
                    <a:lstStyle/>
                    <a:p>
                      <a:pPr algn="l"/>
                      <a:r>
                        <a:rPr lang="en-US" sz="900" b="0" noProof="0" dirty="0">
                          <a:solidFill>
                            <a:srgbClr val="202945"/>
                          </a:solidFill>
                          <a:latin typeface="Nunito Sans"/>
                        </a:rPr>
                        <a:t>2</a:t>
                      </a:r>
                    </a:p>
                  </a:txBody>
                  <a:tcPr marL="45720" marR="45720" marT="18000" marB="18000" anchor="ctr">
                    <a:noFill/>
                  </a:tcPr>
                </a:tc>
                <a:tc>
                  <a:txBody>
                    <a:bodyPr wrap="square"/>
                    <a:lstStyle/>
                    <a:p>
                      <a:pPr algn="l"/>
                      <a:r>
                        <a:rPr lang="en-US" sz="900" b="0" noProof="0" dirty="0" err="1">
                          <a:solidFill>
                            <a:srgbClr val="202945"/>
                          </a:solidFill>
                          <a:latin typeface="+mn-lt"/>
                        </a:rPr>
                        <a:t>COA KONA III REF3 LP</a:t>
                      </a:r>
                    </a:p>
                  </a:txBody>
                  <a:tcPr marL="45720" marR="45720" marT="18000" marB="18000" anchor="ctr">
                    <a:noFill/>
                  </a:tcPr>
                </a:tc>
                <a:tc>
                  <a:txBody>
                    <a:bodyPr wrap="square"/>
                    <a:lstStyle/>
                    <a:p>
                      <a:pPr algn="r"/>
                      <a:r>
                        <a:rPr lang="en-US" sz="900" b="0" noProof="0" dirty="0">
                          <a:solidFill>
                            <a:srgbClr val="202945"/>
                          </a:solidFill>
                          <a:latin typeface="Nunito Sans"/>
                        </a:rPr>
                        <a:t>1,421,857</a:t>
                      </a:r>
                    </a:p>
                  </a:txBody>
                  <a:tcPr marL="45720" marR="45720" marT="18000" marB="18000" anchor="ctr">
                    <a:noFill/>
                  </a:tcPr>
                </a:tc>
                <a:tc>
                  <a:txBody>
                    <a:bodyPr wrap="square"/>
                    <a:lstStyle/>
                    <a:p>
                      <a:pPr algn="r"/>
                      <a:r>
                        <a:rPr lang="en-US" sz="900" b="0" noProof="0" dirty="0">
                          <a:solidFill>
                            <a:srgbClr val="202945"/>
                          </a:solidFill>
                          <a:latin typeface="Nunito Sans"/>
                        </a:rPr>
                        <a:t>6.7%</a:t>
                      </a:r>
                    </a:p>
                  </a:txBody>
                  <a:tcPr marL="45720" marR="45720" marT="18000" marB="18000" anchor="ctr">
                    <a:noFill/>
                  </a:tcPr>
                </a:tc>
                <a:tc>
                  <a:txBody>
                    <a:bodyPr wrap="square"/>
                    <a:lstStyle/>
                    <a:p>
                      <a:pPr algn="r"/>
                      <a:r>
                        <a:rPr lang="en-US" sz="900" b="0" noProof="0" dirty="0">
                          <a:solidFill>
                            <a:srgbClr val="202945"/>
                          </a:solidFill>
                          <a:latin typeface="Nunito Sans"/>
                        </a:rPr>
                        <a:t>26.8%</a:t>
                      </a:r>
                    </a:p>
                  </a:txBody>
                  <a:tcPr marL="45720" marR="45720" marT="18000" marB="18000" anchor="ctr">
                    <a:noFill/>
                  </a:tcPr>
                </a:tc>
                <a:extLst>
                  <a:ext uri="{0D108BD9-81ED-4DB2-BD59-A6C34878D82A}">
                    <a16:rowId xmlns:a16="http://schemas.microsoft.com/office/drawing/2014/main" val="10002"/>
                  </a:ext>
                </a:extLst>
              </a:tr>
              <a:tr h="288000">
                <a:tc>
                  <a:txBody>
                    <a:bodyPr wrap="square"/>
                    <a:lstStyle/>
                    <a:p>
                      <a:pPr algn="l"/>
                      <a:r>
                        <a:rPr lang="en-US" sz="900" b="0" noProof="0" dirty="0">
                          <a:solidFill>
                            <a:srgbClr val="202945"/>
                          </a:solidFill>
                          <a:latin typeface="Nunito Sans"/>
                        </a:rPr>
                        <a:t>3</a:t>
                      </a:r>
                    </a:p>
                  </a:txBody>
                  <a:tcPr marL="45720" marR="45720" marT="18000" marB="18000" anchor="ctr">
                    <a:noFill/>
                  </a:tcPr>
                </a:tc>
                <a:tc>
                  <a:txBody>
                    <a:bodyPr wrap="square"/>
                    <a:lstStyle/>
                    <a:p>
                      <a:pPr algn="l"/>
                      <a:r>
                        <a:rPr lang="en-US" sz="900" b="0" noProof="0" dirty="0">
                          <a:solidFill>
                            <a:srgbClr val="202945"/>
                          </a:solidFill>
                          <a:latin typeface="Nunito Sans"/>
                        </a:rPr>
                        <a:t>LEFT LANE CP II CLT2</a:t>
                      </a:r>
                    </a:p>
                  </a:txBody>
                  <a:tcPr marL="45720" marR="45720" marT="18000" marB="18000" anchor="ctr">
                    <a:noFill/>
                  </a:tcPr>
                </a:tc>
                <a:tc>
                  <a:txBody>
                    <a:bodyPr wrap="square"/>
                    <a:lstStyle/>
                    <a:p>
                      <a:pPr algn="r"/>
                      <a:r>
                        <a:rPr lang="en-US" sz="900" b="0" noProof="0" dirty="0">
                          <a:solidFill>
                            <a:srgbClr val="202945"/>
                          </a:solidFill>
                          <a:latin typeface="Nunito Sans"/>
                        </a:rPr>
                        <a:t>1,333,023</a:t>
                      </a:r>
                    </a:p>
                  </a:txBody>
                  <a:tcPr marL="45720" marR="45720" marT="18000" marB="18000" anchor="ctr">
                    <a:noFill/>
                  </a:tcPr>
                </a:tc>
                <a:tc>
                  <a:txBody>
                    <a:bodyPr wrap="square"/>
                    <a:lstStyle/>
                    <a:p>
                      <a:pPr algn="r"/>
                      <a:r>
                        <a:rPr lang="en-US" sz="900" b="0" noProof="0" dirty="0">
                          <a:solidFill>
                            <a:srgbClr val="202945"/>
                          </a:solidFill>
                          <a:latin typeface="Nunito Sans"/>
                        </a:rPr>
                        <a:t>6.3%</a:t>
                      </a:r>
                    </a:p>
                  </a:txBody>
                  <a:tcPr marL="45720" marR="45720" marT="18000" marB="18000" anchor="ctr">
                    <a:noFill/>
                  </a:tcPr>
                </a:tc>
                <a:tc>
                  <a:txBody>
                    <a:bodyPr wrap="square"/>
                    <a:lstStyle/>
                    <a:p>
                      <a:pPr algn="r"/>
                      <a:r>
                        <a:rPr lang="en-US" sz="900" b="0" noProof="0" dirty="0">
                          <a:solidFill>
                            <a:srgbClr val="202945"/>
                          </a:solidFill>
                          <a:latin typeface="Nunito Sans"/>
                        </a:rPr>
                        <a:t>33.2%</a:t>
                      </a:r>
                    </a:p>
                  </a:txBody>
                  <a:tcPr marL="45720" marR="45720" marT="18000" marB="18000" anchor="ctr">
                    <a:noFill/>
                  </a:tcPr>
                </a:tc>
                <a:extLst>
                  <a:ext uri="{0D108BD9-81ED-4DB2-BD59-A6C34878D82A}">
                    <a16:rowId xmlns:a16="http://schemas.microsoft.com/office/drawing/2014/main" val="10003"/>
                  </a:ext>
                </a:extLst>
              </a:tr>
              <a:tr h="288000">
                <a:tc>
                  <a:txBody>
                    <a:bodyPr wrap="square"/>
                    <a:lstStyle/>
                    <a:p>
                      <a:pPr algn="l"/>
                      <a:r>
                        <a:rPr lang="en-US" sz="900" b="0" noProof="0" dirty="0">
                          <a:solidFill>
                            <a:srgbClr val="202945"/>
                          </a:solidFill>
                          <a:latin typeface="Nunito Sans"/>
                        </a:rPr>
                        <a:t>4</a:t>
                      </a:r>
                    </a:p>
                  </a:txBody>
                  <a:tcPr marL="45720" marR="45720" marT="18000" marB="18000" anchor="ctr">
                    <a:noFill/>
                  </a:tcPr>
                </a:tc>
                <a:tc>
                  <a:txBody>
                    <a:bodyPr wrap="square"/>
                    <a:lstStyle/>
                    <a:p>
                      <a:pPr algn="l"/>
                      <a:r>
                        <a:rPr lang="en-US" sz="900" b="0" noProof="0" dirty="0">
                          <a:solidFill>
                            <a:srgbClr val="202945"/>
                          </a:solidFill>
                          <a:latin typeface="Nunito Sans"/>
                        </a:rPr>
                        <a:t>ALLIANZ (NOM)</a:t>
                      </a:r>
                    </a:p>
                  </a:txBody>
                  <a:tcPr marL="45720" marR="45720" marT="18000" marB="18000" anchor="ctr">
                    <a:noFill/>
                  </a:tcPr>
                </a:tc>
                <a:tc>
                  <a:txBody>
                    <a:bodyPr wrap="square"/>
                    <a:lstStyle/>
                    <a:p>
                      <a:pPr algn="r"/>
                      <a:r>
                        <a:rPr lang="en-US" sz="900" b="0" noProof="0" dirty="0">
                          <a:solidFill>
                            <a:srgbClr val="202945"/>
                          </a:solidFill>
                          <a:latin typeface="Nunito Sans"/>
                        </a:rPr>
                        <a:t>634,779</a:t>
                      </a:r>
                    </a:p>
                  </a:txBody>
                  <a:tcPr marL="45720" marR="45720" marT="18000" marB="18000" anchor="ctr">
                    <a:noFill/>
                  </a:tcPr>
                </a:tc>
                <a:tc>
                  <a:txBody>
                    <a:bodyPr wrap="square"/>
                    <a:lstStyle/>
                    <a:p>
                      <a:pPr algn="r"/>
                      <a:r>
                        <a:rPr lang="en-US" sz="900" b="0" noProof="0" dirty="0">
                          <a:solidFill>
                            <a:srgbClr val="202945"/>
                          </a:solidFill>
                          <a:latin typeface="Nunito Sans"/>
                        </a:rPr>
                        <a:t>3.0%</a:t>
                      </a:r>
                    </a:p>
                  </a:txBody>
                  <a:tcPr marL="45720" marR="45720" marT="18000" marB="18000" anchor="ctr">
                    <a:noFill/>
                  </a:tcPr>
                </a:tc>
                <a:tc>
                  <a:txBody>
                    <a:bodyPr wrap="square"/>
                    <a:lstStyle/>
                    <a:p>
                      <a:pPr algn="r"/>
                      <a:r>
                        <a:rPr lang="en-US" sz="900" b="0" noProof="0" dirty="0">
                          <a:solidFill>
                            <a:srgbClr val="202945"/>
                          </a:solidFill>
                          <a:latin typeface="Nunito Sans"/>
                        </a:rPr>
                        <a:t>36.2%</a:t>
                      </a:r>
                    </a:p>
                  </a:txBody>
                  <a:tcPr marL="45720" marR="45720" marT="18000" marB="18000" anchor="ctr">
                    <a:noFill/>
                  </a:tcPr>
                </a:tc>
                <a:extLst>
                  <a:ext uri="{0D108BD9-81ED-4DB2-BD59-A6C34878D82A}">
                    <a16:rowId xmlns:a16="http://schemas.microsoft.com/office/drawing/2014/main" val="10004"/>
                  </a:ext>
                </a:extLst>
              </a:tr>
              <a:tr h="288000">
                <a:tc>
                  <a:txBody>
                    <a:bodyPr wrap="square"/>
                    <a:lstStyle/>
                    <a:p>
                      <a:pPr algn="l"/>
                      <a:r>
                        <a:rPr lang="en-US" sz="900" b="0" noProof="0" dirty="0">
                          <a:solidFill>
                            <a:srgbClr val="202945"/>
                          </a:solidFill>
                          <a:latin typeface="Nunito Sans"/>
                        </a:rPr>
                        <a:t>5</a:t>
                      </a:r>
                    </a:p>
                  </a:txBody>
                  <a:tcPr marL="45720" marR="45720" marT="18000" marB="18000" anchor="ctr">
                    <a:noFill/>
                  </a:tcPr>
                </a:tc>
                <a:tc>
                  <a:txBody>
                    <a:bodyPr wrap="square"/>
                    <a:lstStyle/>
                    <a:p>
                      <a:pPr algn="l"/>
                      <a:r>
                        <a:rPr lang="en-US" sz="900" b="0" noProof="0" dirty="0">
                          <a:solidFill>
                            <a:srgbClr val="202945"/>
                          </a:solidFill>
                          <a:latin typeface="Nunito Sans"/>
                        </a:rPr>
                        <a:t>SYZ EM BONDS CERTIFICATE</a:t>
                      </a:r>
                    </a:p>
                  </a:txBody>
                  <a:tcPr marL="45720" marR="45720" marT="18000" marB="18000" anchor="ctr">
                    <a:noFill/>
                  </a:tcPr>
                </a:tc>
                <a:tc>
                  <a:txBody>
                    <a:bodyPr wrap="square"/>
                    <a:lstStyle/>
                    <a:p>
                      <a:pPr algn="r"/>
                      <a:r>
                        <a:rPr lang="en-US" sz="900" b="0" noProof="0" dirty="0">
                          <a:solidFill>
                            <a:srgbClr val="202945"/>
                          </a:solidFill>
                          <a:latin typeface="Nunito Sans"/>
                        </a:rPr>
                        <a:t>620,051</a:t>
                      </a:r>
                    </a:p>
                  </a:txBody>
                  <a:tcPr marL="45720" marR="45720" marT="18000" marB="18000" anchor="ctr">
                    <a:noFill/>
                  </a:tcPr>
                </a:tc>
                <a:tc>
                  <a:txBody>
                    <a:bodyPr wrap="square"/>
                    <a:lstStyle/>
                    <a:p>
                      <a:pPr algn="r"/>
                      <a:r>
                        <a:rPr lang="en-US" sz="900" b="0" noProof="0" dirty="0">
                          <a:solidFill>
                            <a:srgbClr val="202945"/>
                          </a:solidFill>
                          <a:latin typeface="Nunito Sans"/>
                        </a:rPr>
                        <a:t>2.9%</a:t>
                      </a:r>
                    </a:p>
                  </a:txBody>
                  <a:tcPr marL="45720" marR="45720" marT="18000" marB="18000" anchor="ctr">
                    <a:noFill/>
                  </a:tcPr>
                </a:tc>
                <a:tc>
                  <a:txBody>
                    <a:bodyPr wrap="square"/>
                    <a:lstStyle/>
                    <a:p>
                      <a:pPr algn="r"/>
                      <a:r>
                        <a:rPr lang="en-US" sz="900" b="0" noProof="0" dirty="0">
                          <a:solidFill>
                            <a:srgbClr val="202945"/>
                          </a:solidFill>
                          <a:latin typeface="Nunito Sans"/>
                        </a:rPr>
                        <a:t>39.1%</a:t>
                      </a:r>
                    </a:p>
                  </a:txBody>
                  <a:tcPr marL="45720" marR="45720" marT="18000" marB="18000" anchor="ctr">
                    <a:noFill/>
                  </a:tcPr>
                </a:tc>
                <a:extLst>
                  <a:ext uri="{0D108BD9-81ED-4DB2-BD59-A6C34878D82A}">
                    <a16:rowId xmlns:a16="http://schemas.microsoft.com/office/drawing/2014/main" val="10005"/>
                  </a:ext>
                </a:extLst>
              </a:tr>
              <a:tr h="288000">
                <a:tc>
                  <a:txBody>
                    <a:bodyPr wrap="square"/>
                    <a:lstStyle/>
                    <a:p>
                      <a:pPr algn="l"/>
                      <a:r>
                        <a:rPr lang="en-US" sz="900" b="0" noProof="0" dirty="0">
                          <a:solidFill>
                            <a:srgbClr val="202945"/>
                          </a:solidFill>
                          <a:latin typeface="Nunito Sans"/>
                        </a:rPr>
                        <a:t>6</a:t>
                      </a:r>
                    </a:p>
                  </a:txBody>
                  <a:tcPr marL="45720" marR="45720" marT="18000" marB="18000" anchor="ctr">
                    <a:noFill/>
                  </a:tcPr>
                </a:tc>
                <a:tc>
                  <a:txBody>
                    <a:bodyPr wrap="square"/>
                    <a:lstStyle/>
                    <a:p>
                      <a:pPr algn="l"/>
                      <a:r>
                        <a:rPr lang="en-US" sz="900" b="0" noProof="0" dirty="0">
                          <a:solidFill>
                            <a:srgbClr val="202945"/>
                          </a:solidFill>
                          <a:latin typeface="Nunito Sans"/>
                        </a:rPr>
                        <a:t>UBS(CH) EQ-SWISS INC CHFP</a:t>
                      </a:r>
                    </a:p>
                  </a:txBody>
                  <a:tcPr marL="45720" marR="45720" marT="18000" marB="18000" anchor="ctr">
                    <a:noFill/>
                  </a:tcPr>
                </a:tc>
                <a:tc>
                  <a:txBody>
                    <a:bodyPr wrap="square"/>
                    <a:lstStyle/>
                    <a:p>
                      <a:pPr algn="r"/>
                      <a:r>
                        <a:rPr lang="en-US" sz="900" b="0" noProof="0" dirty="0">
                          <a:solidFill>
                            <a:srgbClr val="202945"/>
                          </a:solidFill>
                          <a:latin typeface="Nunito Sans"/>
                        </a:rPr>
                        <a:t>585,193</a:t>
                      </a:r>
                    </a:p>
                  </a:txBody>
                  <a:tcPr marL="45720" marR="45720" marT="18000" marB="18000" anchor="ctr">
                    <a:noFill/>
                  </a:tcPr>
                </a:tc>
                <a:tc>
                  <a:txBody>
                    <a:bodyPr wrap="square"/>
                    <a:lstStyle/>
                    <a:p>
                      <a:pPr algn="r"/>
                      <a:r>
                        <a:rPr lang="en-US" sz="900" b="0" noProof="0" dirty="0">
                          <a:solidFill>
                            <a:srgbClr val="202945"/>
                          </a:solidFill>
                          <a:latin typeface="Nunito Sans"/>
                        </a:rPr>
                        <a:t>2.8%</a:t>
                      </a:r>
                    </a:p>
                  </a:txBody>
                  <a:tcPr marL="45720" marR="45720" marT="18000" marB="18000" anchor="ctr">
                    <a:noFill/>
                  </a:tcPr>
                </a:tc>
                <a:tc>
                  <a:txBody>
                    <a:bodyPr wrap="square"/>
                    <a:lstStyle/>
                    <a:p>
                      <a:pPr algn="r"/>
                      <a:r>
                        <a:rPr lang="en-US" sz="900" b="0" noProof="0" dirty="0">
                          <a:solidFill>
                            <a:srgbClr val="202945"/>
                          </a:solidFill>
                          <a:latin typeface="Nunito Sans"/>
                        </a:rPr>
                        <a:t>41.9%</a:t>
                      </a:r>
                    </a:p>
                  </a:txBody>
                  <a:tcPr marL="45720" marR="45720" marT="18000" marB="18000" anchor="ctr">
                    <a:noFill/>
                  </a:tcPr>
                </a:tc>
                <a:extLst>
                  <a:ext uri="{0D108BD9-81ED-4DB2-BD59-A6C34878D82A}">
                    <a16:rowId xmlns:a16="http://schemas.microsoft.com/office/drawing/2014/main" val="10006"/>
                  </a:ext>
                </a:extLst>
              </a:tr>
              <a:tr h="288000">
                <a:tc>
                  <a:txBody>
                    <a:bodyPr wrap="square"/>
                    <a:lstStyle/>
                    <a:p>
                      <a:pPr algn="l"/>
                      <a:r>
                        <a:rPr lang="en-US" sz="900" b="0" noProof="0" dirty="0">
                          <a:solidFill>
                            <a:srgbClr val="202945"/>
                          </a:solidFill>
                          <a:latin typeface="Nunito Sans"/>
                        </a:rPr>
                        <a:t>7</a:t>
                      </a:r>
                    </a:p>
                  </a:txBody>
                  <a:tcPr marL="45720" marR="45720" marT="18000" marB="18000" anchor="ctr">
                    <a:noFill/>
                  </a:tcPr>
                </a:tc>
                <a:tc>
                  <a:txBody>
                    <a:bodyPr wrap="square"/>
                    <a:lstStyle/>
                    <a:p>
                      <a:pPr algn="l"/>
                      <a:r>
                        <a:rPr lang="en-US" sz="900" b="0" noProof="0" dirty="0">
                          <a:solidFill>
                            <a:srgbClr val="202945"/>
                          </a:solidFill>
                          <a:latin typeface="Nunito Sans"/>
                        </a:rPr>
                        <a:t>VANECK VECTORS DEF A ETF</a:t>
                      </a:r>
                    </a:p>
                  </a:txBody>
                  <a:tcPr marL="45720" marR="45720" marT="18000" marB="18000" anchor="ctr">
                    <a:noFill/>
                  </a:tcPr>
                </a:tc>
                <a:tc>
                  <a:txBody>
                    <a:bodyPr wrap="square"/>
                    <a:lstStyle/>
                    <a:p>
                      <a:pPr algn="r"/>
                      <a:r>
                        <a:rPr lang="en-US" sz="900" b="0" noProof="0" dirty="0">
                          <a:solidFill>
                            <a:srgbClr val="202945"/>
                          </a:solidFill>
                          <a:latin typeface="Nunito Sans"/>
                        </a:rPr>
                        <a:t>501,721</a:t>
                      </a:r>
                    </a:p>
                  </a:txBody>
                  <a:tcPr marL="45720" marR="45720" marT="18000" marB="18000" anchor="ctr">
                    <a:noFill/>
                  </a:tcPr>
                </a:tc>
                <a:tc>
                  <a:txBody>
                    <a:bodyPr wrap="square"/>
                    <a:lstStyle/>
                    <a:p>
                      <a:pPr algn="r"/>
                      <a:r>
                        <a:rPr lang="en-US" sz="900" b="0" noProof="0" dirty="0">
                          <a:solidFill>
                            <a:srgbClr val="202945"/>
                          </a:solidFill>
                          <a:latin typeface="Nunito Sans"/>
                        </a:rPr>
                        <a:t>2.4%</a:t>
                      </a:r>
                    </a:p>
                  </a:txBody>
                  <a:tcPr marL="45720" marR="45720" marT="18000" marB="18000" anchor="ctr">
                    <a:noFill/>
                  </a:tcPr>
                </a:tc>
                <a:tc>
                  <a:txBody>
                    <a:bodyPr wrap="square"/>
                    <a:lstStyle/>
                    <a:p>
                      <a:pPr algn="r"/>
                      <a:r>
                        <a:rPr lang="en-US" sz="900" b="0" noProof="0" dirty="0">
                          <a:solidFill>
                            <a:srgbClr val="202945"/>
                          </a:solidFill>
                          <a:latin typeface="Nunito Sans"/>
                        </a:rPr>
                        <a:t>44.3%</a:t>
                      </a:r>
                    </a:p>
                  </a:txBody>
                  <a:tcPr marL="45720" marR="45720" marT="18000" marB="18000" anchor="ctr">
                    <a:noFill/>
                  </a:tcPr>
                </a:tc>
                <a:extLst>
                  <a:ext uri="{0D108BD9-81ED-4DB2-BD59-A6C34878D82A}">
                    <a16:rowId xmlns:a16="http://schemas.microsoft.com/office/drawing/2014/main" val="10007"/>
                  </a:ext>
                </a:extLst>
              </a:tr>
              <a:tr h="288000">
                <a:tc>
                  <a:txBody>
                    <a:bodyPr wrap="square"/>
                    <a:lstStyle/>
                    <a:p>
                      <a:pPr algn="l"/>
                      <a:r>
                        <a:rPr lang="en-US" sz="900" b="0" noProof="0" dirty="0">
                          <a:solidFill>
                            <a:srgbClr val="202945"/>
                          </a:solidFill>
                          <a:latin typeface="Nunito Sans"/>
                        </a:rPr>
                        <a:t>8</a:t>
                      </a:r>
                    </a:p>
                  </a:txBody>
                  <a:tcPr marL="45720" marR="45720" marT="18000" marB="18000" anchor="ctr">
                    <a:noFill/>
                  </a:tcPr>
                </a:tc>
                <a:tc>
                  <a:txBody>
                    <a:bodyPr wrap="square"/>
                    <a:lstStyle/>
                    <a:p>
                      <a:pPr algn="l"/>
                      <a:r>
                        <a:rPr lang="en-US" sz="900" b="0" noProof="0" dirty="0">
                          <a:solidFill>
                            <a:srgbClr val="202945"/>
                          </a:solidFill>
                          <a:latin typeface="Nunito Sans"/>
                        </a:rPr>
                        <a:t>BRGF WORLD MINING(REG)A2</a:t>
                      </a:r>
                    </a:p>
                  </a:txBody>
                  <a:tcPr marL="45720" marR="45720" marT="18000" marB="18000" anchor="ctr">
                    <a:noFill/>
                  </a:tcPr>
                </a:tc>
                <a:tc>
                  <a:txBody>
                    <a:bodyPr wrap="square"/>
                    <a:lstStyle/>
                    <a:p>
                      <a:pPr algn="r"/>
                      <a:r>
                        <a:rPr lang="en-US" sz="900" b="0" noProof="0" dirty="0">
                          <a:solidFill>
                            <a:srgbClr val="202945"/>
                          </a:solidFill>
                          <a:latin typeface="Nunito Sans"/>
                        </a:rPr>
                        <a:t>481,140</a:t>
                      </a:r>
                    </a:p>
                  </a:txBody>
                  <a:tcPr marL="45720" marR="45720" marT="18000" marB="18000" anchor="ctr">
                    <a:noFill/>
                  </a:tcPr>
                </a:tc>
                <a:tc>
                  <a:txBody>
                    <a:bodyPr wrap="square"/>
                    <a:lstStyle/>
                    <a:p>
                      <a:pPr algn="r"/>
                      <a:r>
                        <a:rPr lang="en-US" sz="900" b="0" noProof="0" dirty="0">
                          <a:solidFill>
                            <a:srgbClr val="202945"/>
                          </a:solidFill>
                          <a:latin typeface="Nunito Sans"/>
                        </a:rPr>
                        <a:t>2.3%</a:t>
                      </a:r>
                    </a:p>
                  </a:txBody>
                  <a:tcPr marL="45720" marR="45720" marT="18000" marB="18000" anchor="ctr">
                    <a:noFill/>
                  </a:tcPr>
                </a:tc>
                <a:tc>
                  <a:txBody>
                    <a:bodyPr wrap="square"/>
                    <a:lstStyle/>
                    <a:p>
                      <a:pPr algn="r"/>
                      <a:r>
                        <a:rPr lang="en-US" sz="900" b="0" noProof="0" dirty="0">
                          <a:solidFill>
                            <a:srgbClr val="202945"/>
                          </a:solidFill>
                          <a:latin typeface="Nunito Sans"/>
                        </a:rPr>
                        <a:t>46.6%</a:t>
                      </a:r>
                    </a:p>
                  </a:txBody>
                  <a:tcPr marL="45720" marR="45720" marT="18000" marB="18000" anchor="ctr">
                    <a:noFill/>
                  </a:tcPr>
                </a:tc>
                <a:extLst>
                  <a:ext uri="{0D108BD9-81ED-4DB2-BD59-A6C34878D82A}">
                    <a16:rowId xmlns:a16="http://schemas.microsoft.com/office/drawing/2014/main" val="10008"/>
                  </a:ext>
                </a:extLst>
              </a:tr>
              <a:tr h="288000">
                <a:tc>
                  <a:txBody>
                    <a:bodyPr wrap="square"/>
                    <a:lstStyle/>
                    <a:p>
                      <a:pPr algn="l"/>
                      <a:r>
                        <a:rPr lang="en-US" sz="900" b="0" noProof="0" dirty="0">
                          <a:solidFill>
                            <a:srgbClr val="202945"/>
                          </a:solidFill>
                          <a:latin typeface="Nunito Sans"/>
                        </a:rPr>
                        <a:t>9</a:t>
                      </a:r>
                    </a:p>
                  </a:txBody>
                  <a:tcPr marL="45720" marR="45720" marT="18000" marB="18000" anchor="ctr">
                    <a:noFill/>
                  </a:tcPr>
                </a:tc>
                <a:tc>
                  <a:txBody>
                    <a:bodyPr wrap="square"/>
                    <a:lstStyle/>
                    <a:p>
                      <a:pPr algn="l"/>
                      <a:r>
                        <a:rPr lang="en-US" sz="900" b="0" noProof="0" dirty="0">
                          <a:solidFill>
                            <a:srgbClr val="202945"/>
                          </a:solidFill>
                          <a:latin typeface="Nunito Sans"/>
                        </a:rPr>
                        <a:t>STORM II BOND RC EUR</a:t>
                      </a:r>
                    </a:p>
                  </a:txBody>
                  <a:tcPr marL="45720" marR="45720" marT="18000" marB="18000" anchor="ctr">
                    <a:noFill/>
                  </a:tcPr>
                </a:tc>
                <a:tc>
                  <a:txBody>
                    <a:bodyPr wrap="square"/>
                    <a:lstStyle/>
                    <a:p>
                      <a:pPr algn="r"/>
                      <a:r>
                        <a:rPr lang="en-US" sz="900" b="0" noProof="0" dirty="0">
                          <a:solidFill>
                            <a:srgbClr val="202945"/>
                          </a:solidFill>
                          <a:latin typeface="Nunito Sans"/>
                        </a:rPr>
                        <a:t>466,229</a:t>
                      </a:r>
                    </a:p>
                  </a:txBody>
                  <a:tcPr marL="45720" marR="45720" marT="18000" marB="18000" anchor="ctr">
                    <a:noFill/>
                  </a:tcPr>
                </a:tc>
                <a:tc>
                  <a:txBody>
                    <a:bodyPr wrap="square"/>
                    <a:lstStyle/>
                    <a:p>
                      <a:pPr algn="r"/>
                      <a:r>
                        <a:rPr lang="en-US" sz="900" b="0" noProof="0" dirty="0">
                          <a:solidFill>
                            <a:srgbClr val="202945"/>
                          </a:solidFill>
                          <a:latin typeface="Nunito Sans"/>
                        </a:rPr>
                        <a:t>2.2%</a:t>
                      </a:r>
                    </a:p>
                  </a:txBody>
                  <a:tcPr marL="45720" marR="45720" marT="18000" marB="18000" anchor="ctr">
                    <a:noFill/>
                  </a:tcPr>
                </a:tc>
                <a:tc>
                  <a:txBody>
                    <a:bodyPr wrap="square"/>
                    <a:lstStyle/>
                    <a:p>
                      <a:pPr algn="r"/>
                      <a:r>
                        <a:rPr lang="en-US" sz="900" b="0" noProof="0" dirty="0">
                          <a:solidFill>
                            <a:srgbClr val="202945"/>
                          </a:solidFill>
                          <a:latin typeface="Nunito Sans"/>
                        </a:rPr>
                        <a:t>48.8%</a:t>
                      </a:r>
                    </a:p>
                  </a:txBody>
                  <a:tcPr marL="45720" marR="45720" marT="18000" marB="18000" anchor="ctr">
                    <a:noFill/>
                  </a:tcPr>
                </a:tc>
                <a:extLst>
                  <a:ext uri="{0D108BD9-81ED-4DB2-BD59-A6C34878D82A}">
                    <a16:rowId xmlns:a16="http://schemas.microsoft.com/office/drawing/2014/main" val="10009"/>
                  </a:ext>
                </a:extLst>
              </a:tr>
              <a:tr h="288000">
                <a:tc>
                  <a:txBody>
                    <a:bodyPr wrap="square"/>
                    <a:lstStyle/>
                    <a:p>
                      <a:pPr algn="l"/>
                      <a:r>
                        <a:rPr lang="en-US" sz="900" b="0" noProof="0" dirty="0">
                          <a:solidFill>
                            <a:srgbClr val="202945"/>
                          </a:solidFill>
                          <a:latin typeface="Nunito Sans"/>
                        </a:rPr>
                        <a:t>10</a:t>
                      </a:r>
                    </a:p>
                  </a:txBody>
                  <a:tcPr marL="45720" marR="45720" marT="18000" marB="18000" anchor="ctr">
                    <a:noFill/>
                  </a:tcPr>
                </a:tc>
                <a:tc>
                  <a:txBody>
                    <a:bodyPr wrap="square"/>
                    <a:lstStyle/>
                    <a:p>
                      <a:pPr algn="l"/>
                      <a:r>
                        <a:rPr lang="en-US" sz="900" b="0" noProof="0" dirty="0">
                          <a:solidFill>
                            <a:srgbClr val="202945"/>
                          </a:solidFill>
                          <a:latin typeface="Nunito Sans"/>
                        </a:rPr>
                        <a:t>GOLDMAN EU HIGH DIV P CAP</a:t>
                      </a:r>
                    </a:p>
                  </a:txBody>
                  <a:tcPr marL="45720" marR="45720" marT="18000" marB="18000" anchor="ctr">
                    <a:noFill/>
                  </a:tcPr>
                </a:tc>
                <a:tc>
                  <a:txBody>
                    <a:bodyPr wrap="square"/>
                    <a:lstStyle/>
                    <a:p>
                      <a:pPr algn="r"/>
                      <a:r>
                        <a:rPr lang="en-US" sz="900" b="0" noProof="0" dirty="0">
                          <a:solidFill>
                            <a:srgbClr val="202945"/>
                          </a:solidFill>
                          <a:latin typeface="Nunito Sans"/>
                        </a:rPr>
                        <a:t>434,515</a:t>
                      </a:r>
                    </a:p>
                  </a:txBody>
                  <a:tcPr marL="45720" marR="45720" marT="18000" marB="18000" anchor="ctr">
                    <a:noFill/>
                  </a:tcPr>
                </a:tc>
                <a:tc>
                  <a:txBody>
                    <a:bodyPr wrap="square"/>
                    <a:lstStyle/>
                    <a:p>
                      <a:pPr algn="r"/>
                      <a:r>
                        <a:rPr lang="en-US" sz="900" b="0" noProof="0" dirty="0">
                          <a:solidFill>
                            <a:srgbClr val="202945"/>
                          </a:solidFill>
                          <a:latin typeface="Nunito Sans"/>
                        </a:rPr>
                        <a:t>2.1%</a:t>
                      </a:r>
                    </a:p>
                  </a:txBody>
                  <a:tcPr marL="45720" marR="45720" marT="18000" marB="18000" anchor="ctr">
                    <a:noFill/>
                  </a:tcPr>
                </a:tc>
                <a:tc>
                  <a:txBody>
                    <a:bodyPr wrap="square"/>
                    <a:lstStyle/>
                    <a:p>
                      <a:pPr algn="r"/>
                      <a:r>
                        <a:rPr lang="en-US" sz="900" b="0" noProof="0" dirty="0">
                          <a:solidFill>
                            <a:srgbClr val="202945"/>
                          </a:solidFill>
                          <a:latin typeface="Nunito Sans"/>
                        </a:rPr>
                        <a:t>50.8%</a:t>
                      </a:r>
                    </a:p>
                  </a:txBody>
                  <a:tcPr marL="45720" marR="45720" marT="18000" marB="18000" anchor="ctr">
                    <a:noFill/>
                  </a:tcPr>
                </a:tc>
                <a:extLst>
                  <a:ext uri="{0D108BD9-81ED-4DB2-BD59-A6C34878D82A}">
                    <a16:rowId xmlns:a16="http://schemas.microsoft.com/office/drawing/2014/main" val="10010"/>
                  </a:ext>
                </a:extLst>
              </a:tr>
            </a:tbl>
          </a:graphicData>
        </a:graphic>
      </p:graphicFrame>
      <p:sp>
        <p:nvSpPr>
          <p:cNvPr id="5" name="Rectangle 4"/>
          <p:cNvSpPr/>
          <p:nvPr/>
        </p:nvSpPr>
        <p:spPr>
          <a:xfrm>
            <a:off x="6983999" y="2520000"/>
            <a:ext cx="3060000" cy="756000"/>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39.1%</a:t>
            </a:r>
          </a:p>
          <a:p>
            <a:pPr algn="ctr"/>
            <a:r>
              <a:rPr lang="en-US" sz="1400" b="0" noProof="0" dirty="0">
                <a:solidFill>
                  <a:srgbClr val="202945"/>
                </a:solidFill>
                <a:latin typeface="Nunito Sans"/>
              </a:rPr>
              <a:t>Top 5</a:t>
            </a:r>
          </a:p>
        </p:txBody>
      </p:sp>
      <p:sp>
        <p:nvSpPr>
          <p:cNvPr id="6" name="Rectangle 5"/>
          <p:cNvSpPr/>
          <p:nvPr/>
        </p:nvSpPr>
        <p:spPr>
          <a:xfrm>
            <a:off x="6983999" y="3420000"/>
            <a:ext cx="3060000" cy="756000"/>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50.8%</a:t>
            </a:r>
          </a:p>
          <a:p>
            <a:pPr algn="ctr"/>
            <a:r>
              <a:rPr lang="en-US" sz="1400" b="0" noProof="0">
                <a:solidFill>
                  <a:srgbClr val="202945"/>
                </a:solidFill>
                <a:latin typeface="Nunito Sans"/>
              </a:rPr>
              <a:t>Top 10</a:t>
            </a:r>
          </a:p>
        </p:txBody>
      </p:sp>
      <p:sp>
        <p:nvSpPr>
          <p:cNvPr id="7" name="Rectangle 6"/>
          <p:cNvSpPr/>
          <p:nvPr/>
        </p:nvSpPr>
        <p:spPr>
          <a:xfrm>
            <a:off x="6983999" y="4320000"/>
            <a:ext cx="3060000" cy="756000"/>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66.7%</a:t>
            </a:r>
          </a:p>
          <a:p>
            <a:pPr algn="ctr"/>
            <a:r>
              <a:rPr lang="en-US" sz="1400" b="0" noProof="0">
                <a:solidFill>
                  <a:srgbClr val="202945"/>
                </a:solidFill>
                <a:latin typeface="Nunito Sans"/>
              </a:rPr>
              <a:t>Top 20</a:t>
            </a:r>
          </a:p>
        </p:txBody>
      </p:sp>
      <p:sp>
        <p:nvSpPr>
          <p:cNvPr id="8" name="Rectangle 7"/>
          <p:cNvSpPr/>
          <p:nvPr/>
        </p:nvSpPr>
        <p:spPr>
          <a:xfrm>
            <a:off x="6983999" y="5220000"/>
            <a:ext cx="3060000" cy="756000"/>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3</a:t>
            </a:r>
          </a:p>
          <a:p>
            <a:pPr algn="ctr"/>
            <a:r>
              <a:rPr lang="en-US" sz="1400" b="0" noProof="0">
                <a:solidFill>
                  <a:srgbClr val="202945"/>
                </a:solidFill>
                <a:latin typeface="Nunito Sans"/>
              </a:rPr>
              <a:t>Positions &gt; 5%</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Income &amp; interest-rate sensitivity</a:t>
            </a:r>
          </a:p>
        </p:txBody>
      </p:sp>
      <p:sp>
        <p:nvSpPr>
          <p:cNvPr id="3" name="Text Placeholder 2"/>
          <p:cNvSpPr>
            <a:spLocks noGrp="1"/>
          </p:cNvSpPr>
          <p:nvPr>
            <p:ph type="body" sz="quarter" idx="14"/>
          </p:nvPr>
        </p:nvSpPr>
        <p:spPr>
          <a:xfrm>
            <a:off x="665163" y="1658942"/>
            <a:ext cx="9398001" cy="251511"/>
          </a:xfrm>
        </p:spPr>
        <p:txBody>
          <a:bodyPr/>
          <a:lstStyle/>
          <a:p>
            <a:r>
              <a:rPr lang="en-US" sz="1400" noProof="0"/>
              <a:t>Yield by sleeve and duration of the fixed-income book.</a:t>
            </a:r>
          </a:p>
        </p:txBody>
      </p:sp>
      <p:sp>
        <p:nvSpPr>
          <p:cNvPr id="4" name="TextBox 3"/>
          <p:cNvSpPr txBox="1"/>
          <p:nvPr/>
        </p:nvSpPr>
        <p:spPr>
          <a:xfrm>
            <a:off x="666000" y="2376000"/>
            <a:ext cx="4536000" cy="307777"/>
          </a:xfrm>
          <a:prstGeom prst="rect">
            <a:avLst/>
          </a:prstGeom>
          <a:noFill/>
        </p:spPr>
        <p:txBody>
          <a:bodyPr wrap="square" lIns="0" anchor="t">
            <a:spAutoFit/>
          </a:bodyPr>
          <a:lstStyle/>
          <a:p>
            <a:pPr algn="l"/>
            <a:r>
              <a:rPr lang="en-US" sz="1400" b="1" noProof="0" dirty="0">
                <a:solidFill>
                  <a:srgbClr val="202945"/>
                </a:solidFill>
                <a:latin typeface="Nunito Sans ExtraBold"/>
              </a:rPr>
              <a:t>Income by sleeve</a:t>
            </a:r>
          </a:p>
        </p:txBody>
      </p:sp>
      <p:graphicFrame>
        <p:nvGraphicFramePr>
          <p:cNvPr id="5" name="Table 4"/>
          <p:cNvGraphicFramePr>
            <a:graphicFrameLocks noGrp="1"/>
          </p:cNvGraphicFramePr>
          <p:nvPr>
            <p:extLst>
              <p:ext uri="{D42A27DB-BD31-4B8C-83A1-F6EECF244321}">
                <p14:modId xmlns:p14="http://schemas.microsoft.com/office/powerpoint/2010/main" val="1610617594"/>
              </p:ext>
            </p:extLst>
          </p:nvPr>
        </p:nvGraphicFramePr>
        <p:xfrm>
          <a:off x="666000" y="2736000"/>
          <a:ext cx="4535999" cy="1224000"/>
        </p:xfrm>
        <a:graphic>
          <a:graphicData uri="http://schemas.openxmlformats.org/drawingml/2006/table">
            <a:tbl>
              <a:tblPr firstRow="1" bandRow="1">
                <a:tableStyleId>{5C22544A-7EE6-4342-B048-85BDC9FD1C3A}</a:tableStyleId>
              </a:tblPr>
              <a:tblGrid>
                <a:gridCol w="2015999">
                  <a:extLst>
                    <a:ext uri="{9D8B030D-6E8A-4147-A177-3AD203B41FA5}">
                      <a16:colId xmlns:a16="http://schemas.microsoft.com/office/drawing/2014/main" val="20000"/>
                    </a:ext>
                  </a:extLst>
                </a:gridCol>
                <a:gridCol w="1260000">
                  <a:extLst>
                    <a:ext uri="{9D8B030D-6E8A-4147-A177-3AD203B41FA5}">
                      <a16:colId xmlns:a16="http://schemas.microsoft.com/office/drawing/2014/main" val="20001"/>
                    </a:ext>
                  </a:extLst>
                </a:gridCol>
                <a:gridCol w="1260000">
                  <a:extLst>
                    <a:ext uri="{9D8B030D-6E8A-4147-A177-3AD203B41FA5}">
                      <a16:colId xmlns:a16="http://schemas.microsoft.com/office/drawing/2014/main" val="20002"/>
                    </a:ext>
                  </a:extLst>
                </a:gridCol>
              </a:tblGrid>
              <a:tr h="360000">
                <a:tc>
                  <a:txBody>
                    <a:bodyPr/>
                    <a:lstStyle/>
                    <a:p>
                      <a:pPr algn="l"/>
                      <a:r>
                        <a:rPr lang="en-US" sz="1200" b="1" noProof="0" dirty="0">
                          <a:solidFill>
                            <a:srgbClr val="202945"/>
                          </a:solidFill>
                          <a:latin typeface="Nunito Sans"/>
                        </a:rPr>
                        <a:t>Sleeve</a:t>
                      </a:r>
                    </a:p>
                  </a:txBody>
                  <a:tcPr marL="54000" marR="54000" marT="18000" marB="18000" anchor="ctr">
                    <a:solidFill>
                      <a:srgbClr val="FFC545"/>
                    </a:solidFill>
                  </a:tcPr>
                </a:tc>
                <a:tc>
                  <a:txBody>
                    <a:bodyPr/>
                    <a:lstStyle/>
                    <a:p>
                      <a:pPr algn="r"/>
                      <a:r>
                        <a:rPr lang="en-US" sz="1200" b="1" noProof="0" dirty="0">
                          <a:solidFill>
                            <a:srgbClr val="202945"/>
                          </a:solidFill>
                          <a:latin typeface="Nunito Sans"/>
                        </a:rPr>
                        <a:t>Income</a:t>
                      </a:r>
                    </a:p>
                  </a:txBody>
                  <a:tcPr marL="54000" marR="54000" marT="18000" marB="18000" anchor="ctr">
                    <a:solidFill>
                      <a:srgbClr val="FFC545"/>
                    </a:solidFill>
                  </a:tcPr>
                </a:tc>
                <a:tc>
                  <a:txBody>
                    <a:bodyPr/>
                    <a:lstStyle/>
                    <a:p>
                      <a:pPr algn="r"/>
                      <a:r>
                        <a:rPr lang="en-US" sz="1200" b="1" noProof="0" dirty="0">
                          <a:solidFill>
                            <a:srgbClr val="202945"/>
                          </a:solidFill>
                          <a:latin typeface="Nunito Sans"/>
                        </a:rPr>
                        <a:t>% of income</a:t>
                      </a:r>
                    </a:p>
                  </a:txBody>
                  <a:tcPr marL="54000" marR="54000" marT="18000" marB="18000" anchor="ctr">
                    <a:solidFill>
                      <a:srgbClr val="FFC545"/>
                    </a:solidFill>
                  </a:tcPr>
                </a:tc>
                <a:extLst>
                  <a:ext uri="{0D108BD9-81ED-4DB2-BD59-A6C34878D82A}">
                    <a16:rowId xmlns:a16="http://schemas.microsoft.com/office/drawing/2014/main" val="10000"/>
                  </a:ext>
                </a:extLst>
              </a:tr>
              <a:tr h="288000">
                <a:tc>
                  <a:txBody>
                    <a:bodyPr wrap="square"/>
                    <a:lstStyle/>
                    <a:p>
                      <a:pPr algn="l"/>
                      <a:r>
                        <a:rPr lang="en-US" sz="900" b="0" noProof="0" dirty="0">
                          <a:solidFill>
                            <a:srgbClr val="202945"/>
                          </a:solidFill>
                          <a:latin typeface="Nunito Sans"/>
                        </a:rPr>
                        <a:t>Fixed Income</a:t>
                      </a:r>
                    </a:p>
                  </a:txBody>
                  <a:tcPr marL="45720" marR="45720" marT="18000" marB="18000" anchor="ctr">
                    <a:noFill/>
                  </a:tcPr>
                </a:tc>
                <a:tc>
                  <a:txBody>
                    <a:bodyPr wrap="square"/>
                    <a:lstStyle/>
                    <a:p>
                      <a:pPr algn="r"/>
                      <a:r>
                        <a:rPr lang="en-US" sz="900" b="0" noProof="0" dirty="0">
                          <a:solidFill>
                            <a:srgbClr val="202945"/>
                          </a:solidFill>
                          <a:latin typeface="Nunito Sans"/>
                        </a:rPr>
                        <a:t>74,826</a:t>
                      </a:r>
                    </a:p>
                  </a:txBody>
                  <a:tcPr marL="45720" marR="45720" marT="18000" marB="18000" anchor="ctr">
                    <a:noFill/>
                  </a:tcPr>
                </a:tc>
                <a:tc>
                  <a:txBody>
                    <a:bodyPr wrap="square"/>
                    <a:lstStyle/>
                    <a:p>
                      <a:pPr algn="r"/>
                      <a:r>
                        <a:rPr lang="en-US" sz="900" b="0" noProof="0" dirty="0">
                          <a:solidFill>
                            <a:srgbClr val="202945"/>
                          </a:solidFill>
                          <a:latin typeface="Nunito Sans"/>
                        </a:rPr>
                        <a:t>64.1%</a:t>
                      </a:r>
                    </a:p>
                  </a:txBody>
                  <a:tcPr marL="45720" marR="45720" marT="18000" marB="18000" anchor="ctr">
                    <a:noFill/>
                  </a:tcPr>
                </a:tc>
                <a:extLst>
                  <a:ext uri="{0D108BD9-81ED-4DB2-BD59-A6C34878D82A}">
                    <a16:rowId xmlns:a16="http://schemas.microsoft.com/office/drawing/2014/main" val="10001"/>
                  </a:ext>
                </a:extLst>
              </a:tr>
              <a:tr h="288000">
                <a:tc>
                  <a:txBody>
                    <a:bodyPr wrap="square"/>
                    <a:lstStyle/>
                    <a:p>
                      <a:pPr algn="l"/>
                      <a:r>
                        <a:rPr lang="en-US" sz="900" b="0" noProof="0" dirty="0">
                          <a:solidFill>
                            <a:srgbClr val="202945"/>
                          </a:solidFill>
                          <a:latin typeface="Nunito Sans"/>
                        </a:rPr>
                        <a:t>Structured Products</a:t>
                      </a:r>
                    </a:p>
                  </a:txBody>
                  <a:tcPr marL="45720" marR="45720" marT="18000" marB="18000" anchor="ctr">
                    <a:noFill/>
                  </a:tcPr>
                </a:tc>
                <a:tc>
                  <a:txBody>
                    <a:bodyPr wrap="square"/>
                    <a:lstStyle/>
                    <a:p>
                      <a:pPr algn="r"/>
                      <a:r>
                        <a:rPr lang="en-US" sz="900" b="0" noProof="0" dirty="0">
                          <a:solidFill>
                            <a:srgbClr val="202945"/>
                          </a:solidFill>
                          <a:latin typeface="Nunito Sans"/>
                        </a:rPr>
                        <a:t>41,981</a:t>
                      </a:r>
                    </a:p>
                  </a:txBody>
                  <a:tcPr marL="45720" marR="45720" marT="18000" marB="18000" anchor="ctr">
                    <a:noFill/>
                  </a:tcPr>
                </a:tc>
                <a:tc>
                  <a:txBody>
                    <a:bodyPr wrap="square"/>
                    <a:lstStyle/>
                    <a:p>
                      <a:pPr algn="r"/>
                      <a:r>
                        <a:rPr lang="en-US" sz="900" b="0" noProof="0" dirty="0">
                          <a:solidFill>
                            <a:srgbClr val="202945"/>
                          </a:solidFill>
                          <a:latin typeface="Nunito Sans"/>
                        </a:rPr>
                        <a:t>35.9%</a:t>
                      </a:r>
                    </a:p>
                  </a:txBody>
                  <a:tcPr marL="45720" marR="45720" marT="18000" marB="18000" anchor="ctr">
                    <a:noFill/>
                  </a:tcPr>
                </a:tc>
                <a:extLst>
                  <a:ext uri="{0D108BD9-81ED-4DB2-BD59-A6C34878D82A}">
                    <a16:rowId xmlns:a16="http://schemas.microsoft.com/office/drawing/2014/main" val="10002"/>
                  </a:ext>
                </a:extLst>
              </a:tr>
              <a:tr h="288000">
                <a:tc>
                  <a:txBody>
                    <a:bodyPr wrap="square"/>
                    <a:lstStyle/>
                    <a:p>
                      <a:pPr algn="l"/>
                      <a:r>
                        <a:rPr lang="en-US" sz="900" b="0" noProof="0" dirty="0">
                          <a:solidFill>
                            <a:srgbClr val="202945"/>
                          </a:solidFill>
                          <a:latin typeface="Nunito Sans"/>
                        </a:rPr>
                        <a:t>Cash</a:t>
                      </a:r>
                    </a:p>
                  </a:txBody>
                  <a:tcPr marL="45720" marR="45720" marT="18000" marB="18000" anchor="ctr">
                    <a:noFill/>
                  </a:tcPr>
                </a:tc>
                <a:tc>
                  <a:txBody>
                    <a:bodyPr wrap="square"/>
                    <a:lstStyle/>
                    <a:p>
                      <a:pPr algn="r"/>
                      <a:r>
                        <a:rPr lang="en-US" sz="900" b="0" noProof="0" dirty="0">
                          <a:solidFill>
                            <a:srgbClr val="202945"/>
                          </a:solidFill>
                          <a:latin typeface="Nunito Sans"/>
                        </a:rPr>
                        <a:t>0</a:t>
                      </a:r>
                    </a:p>
                  </a:txBody>
                  <a:tcPr marL="45720" marR="45720" marT="18000" marB="18000" anchor="ctr">
                    <a:noFill/>
                  </a:tcPr>
                </a:tc>
                <a:tc>
                  <a:txBody>
                    <a:bodyPr wrap="square"/>
                    <a:lstStyle/>
                    <a:p>
                      <a:pPr algn="r"/>
                      <a:r>
                        <a:rPr lang="en-US" sz="900" b="0" noProof="0" dirty="0">
                          <a:solidFill>
                            <a:srgbClr val="202945"/>
                          </a:solidFill>
                          <a:latin typeface="Nunito Sans"/>
                        </a:rPr>
                        <a:t>0.0%</a:t>
                      </a:r>
                    </a:p>
                  </a:txBody>
                  <a:tcPr marL="45720" marR="45720" marT="18000" marB="18000" anchor="ctr">
                    <a:noFill/>
                  </a:tcPr>
                </a:tc>
                <a:extLst>
                  <a:ext uri="{0D108BD9-81ED-4DB2-BD59-A6C34878D82A}">
                    <a16:rowId xmlns:a16="http://schemas.microsoft.com/office/drawing/2014/main" val="10003"/>
                  </a:ext>
                </a:extLst>
              </a:tr>
            </a:tbl>
          </a:graphicData>
        </a:graphic>
      </p:graphicFrame>
      <p:sp>
        <p:nvSpPr>
          <p:cNvPr id="6" name="Rectangle 5"/>
          <p:cNvSpPr/>
          <p:nvPr/>
        </p:nvSpPr>
        <p:spPr>
          <a:xfrm>
            <a:off x="666000" y="4536000"/>
            <a:ext cx="1440000" cy="936000"/>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0.4%</a:t>
            </a:r>
          </a:p>
          <a:p>
            <a:pPr algn="ctr"/>
            <a:r>
              <a:rPr lang="en-US" sz="1200" b="0" noProof="0">
                <a:solidFill>
                  <a:srgbClr val="202945"/>
                </a:solidFill>
                <a:latin typeface="Nunito Sans"/>
              </a:rPr>
              <a:t>Running yield</a:t>
            </a:r>
          </a:p>
        </p:txBody>
      </p:sp>
      <p:sp>
        <p:nvSpPr>
          <p:cNvPr id="7" name="Rectangle 6"/>
          <p:cNvSpPr/>
          <p:nvPr/>
        </p:nvSpPr>
        <p:spPr>
          <a:xfrm>
            <a:off x="2214000" y="4536000"/>
            <a:ext cx="1440000" cy="936000"/>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3.1y</a:t>
            </a:r>
          </a:p>
          <a:p>
            <a:pPr algn="ctr"/>
            <a:r>
              <a:rPr lang="en-US" sz="1200" b="0" noProof="0">
                <a:solidFill>
                  <a:srgbClr val="202945"/>
                </a:solidFill>
                <a:latin typeface="Nunito Sans"/>
              </a:rPr>
              <a:t>FI duration</a:t>
            </a:r>
          </a:p>
        </p:txBody>
      </p:sp>
      <p:sp>
        <p:nvSpPr>
          <p:cNvPr id="8" name="Rectangle 7"/>
          <p:cNvSpPr/>
          <p:nvPr/>
        </p:nvSpPr>
        <p:spPr>
          <a:xfrm>
            <a:off x="3761999" y="4536000"/>
            <a:ext cx="1440000" cy="936000"/>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EUR -101,080</a:t>
            </a:r>
          </a:p>
          <a:p>
            <a:pPr algn="ctr"/>
            <a:r>
              <a:rPr lang="en-US" sz="1200" b="0" noProof="0" dirty="0">
                <a:solidFill>
                  <a:srgbClr val="202945"/>
                </a:solidFill>
                <a:latin typeface="Nunito Sans"/>
              </a:rPr>
              <a:t>Impact +100bp</a:t>
            </a:r>
          </a:p>
        </p:txBody>
      </p:sp>
      <p:sp>
        <p:nvSpPr>
          <p:cNvPr id="9" name="TextBox 8"/>
          <p:cNvSpPr txBox="1"/>
          <p:nvPr/>
        </p:nvSpPr>
        <p:spPr>
          <a:xfrm>
            <a:off x="5544000" y="2376000"/>
            <a:ext cx="4536000" cy="307777"/>
          </a:xfrm>
          <a:prstGeom prst="rect">
            <a:avLst/>
          </a:prstGeom>
          <a:noFill/>
        </p:spPr>
        <p:txBody>
          <a:bodyPr wrap="square" lIns="0" anchor="t">
            <a:spAutoFit/>
          </a:bodyPr>
          <a:lstStyle/>
          <a:p>
            <a:pPr algn="l"/>
            <a:r>
              <a:rPr lang="en-US" sz="1400" b="1" noProof="0" dirty="0">
                <a:solidFill>
                  <a:srgbClr val="202945"/>
                </a:solidFill>
                <a:latin typeface="Nunito Sans ExtraBold"/>
              </a:rPr>
              <a:t>Fixed-income duration sleeves</a:t>
            </a:r>
          </a:p>
        </p:txBody>
      </p:sp>
      <p:graphicFrame>
        <p:nvGraphicFramePr>
          <p:cNvPr id="10" name="Table 9"/>
          <p:cNvGraphicFramePr>
            <a:graphicFrameLocks noGrp="1"/>
          </p:cNvGraphicFramePr>
          <p:nvPr/>
        </p:nvGraphicFramePr>
        <p:xfrm>
          <a:off x="5544000" y="2736000"/>
          <a:ext cx="4535999" cy="1440000"/>
        </p:xfrm>
        <a:graphic>
          <a:graphicData uri="http://schemas.openxmlformats.org/drawingml/2006/table">
            <a:tbl>
              <a:tblPr firstRow="1" bandRow="1">
                <a:tableStyleId>{5C22544A-7EE6-4342-B048-85BDC9FD1C3A}</a:tableStyleId>
              </a:tblPr>
              <a:tblGrid>
                <a:gridCol w="1133999"/>
                <a:gridCol w="1133999"/>
                <a:gridCol w="1133999"/>
                <a:gridCol w="1134002"/>
              </a:tblGrid>
              <a:tr h="360000">
                <a:tc>
                  <a:txBody>
                    <a:bodyPr wrap="square"/>
                    <a:lstStyle/>
                    <a:p>
                      <a:pPr algn="l"/>
                      <a:r>
                        <a:rPr sz="900" b="1">
                          <a:solidFill>
                            <a:srgbClr val="202945"/>
                          </a:solidFill>
                        </a:rPr>
                        <a:t>Sub-sleeve</a:t>
                      </a:r>
                    </a:p>
                  </a:txBody>
                  <a:tcPr marL="45720" marR="45720" anchor="ctr">
                    <a:solidFill>
                      <a:srgbClr val="FFC545"/>
                    </a:solidFill>
                  </a:tcPr>
                </a:tc>
                <a:tc>
                  <a:txBody>
                    <a:bodyPr wrap="square"/>
                    <a:lstStyle/>
                    <a:p>
                      <a:pPr algn="l"/>
                      <a:r>
                        <a:rPr sz="900" b="1">
                          <a:solidFill>
                            <a:srgbClr val="202945"/>
                          </a:solidFill>
                        </a:rPr>
                        <a:t>Value</a:t>
                      </a:r>
                    </a:p>
                  </a:txBody>
                  <a:tcPr marL="45720" marR="45720" anchor="ctr">
                    <a:solidFill>
                      <a:srgbClr val="FFC545"/>
                    </a:solidFill>
                  </a:tcPr>
                </a:tc>
                <a:tc>
                  <a:txBody>
                    <a:bodyPr wrap="square"/>
                    <a:lstStyle/>
                    <a:p>
                      <a:pPr algn="l"/>
                      <a:r>
                        <a:rPr sz="900" b="1">
                          <a:solidFill>
                            <a:srgbClr val="202945"/>
                          </a:solidFill>
                        </a:rPr>
                        <a:t>Avg duration</a:t>
                      </a:r>
                    </a:p>
                  </a:txBody>
                  <a:tcPr marL="45720" marR="45720" anchor="ctr">
                    <a:solidFill>
                      <a:srgbClr val="FFC545"/>
                    </a:solidFill>
                  </a:tcPr>
                </a:tc>
                <a:tc>
                  <a:txBody>
                    <a:bodyPr wrap="square"/>
                    <a:lstStyle/>
                    <a:p>
                      <a:pPr algn="l"/>
                      <a:r>
                        <a:rPr sz="900" b="1">
                          <a:solidFill>
                            <a:srgbClr val="202945"/>
                          </a:solidFill>
                        </a:rPr>
                        <a:t>Contribution</a:t>
                      </a:r>
                    </a:p>
                  </a:txBody>
                  <a:tcPr marL="45720" marR="45720" anchor="ctr">
                    <a:solidFill>
                      <a:srgbClr val="FFC545"/>
                    </a:solidFill>
                  </a:tcPr>
                </a:tc>
              </a:tr>
              <a:tr h="360000">
                <a:tc>
                  <a:txBody>
                    <a:bodyPr wrap="square"/>
                    <a:lstStyle/>
                    <a:p>
                      <a:pPr algn="l"/>
                      <a:r>
                        <a:rPr sz="850" b="0">
                          <a:solidFill>
                            <a:srgbClr val="202945"/>
                          </a:solidFill>
                        </a:rPr>
                        <a:t>Quasi-sovereign bond</a:t>
                      </a:r>
                    </a:p>
                  </a:txBody>
                  <a:tcPr marL="45720" marR="45720" anchor="ctr">
                    <a:noFill/>
                  </a:tcPr>
                </a:tc>
                <a:tc>
                  <a:txBody>
                    <a:bodyPr wrap="square"/>
                    <a:lstStyle/>
                    <a:p>
                      <a:pPr algn="r"/>
                      <a:r>
                        <a:rPr sz="850" b="0">
                          <a:solidFill>
                            <a:srgbClr val="202945"/>
                          </a:solidFill>
                        </a:rPr>
                        <a:t>2,341,443</a:t>
                      </a:r>
                    </a:p>
                  </a:txBody>
                  <a:tcPr marL="45720" marR="45720" anchor="ctr">
                    <a:noFill/>
                  </a:tcPr>
                </a:tc>
                <a:tc>
                  <a:txBody>
                    <a:bodyPr wrap="square"/>
                    <a:lstStyle/>
                    <a:p>
                      <a:pPr algn="r"/>
                      <a:r>
                        <a:rPr sz="850" b="0">
                          <a:solidFill>
                            <a:srgbClr val="202945"/>
                          </a:solidFill>
                        </a:rPr>
                        <a:t>2.4</a:t>
                      </a:r>
                    </a:p>
                  </a:txBody>
                  <a:tcPr marL="45720" marR="45720" anchor="ctr">
                    <a:noFill/>
                  </a:tcPr>
                </a:tc>
                <a:tc>
                  <a:txBody>
                    <a:bodyPr wrap="square"/>
                    <a:lstStyle/>
                    <a:p>
                      <a:pPr algn="r"/>
                      <a:r>
                        <a:rPr sz="850" b="0">
                          <a:solidFill>
                            <a:srgbClr val="202945"/>
                          </a:solidFill>
                        </a:rPr>
                        <a:t>1.72</a:t>
                      </a:r>
                    </a:p>
                  </a:txBody>
                  <a:tcPr marL="45720" marR="45720" anchor="ctr">
                    <a:noFill/>
                  </a:tcPr>
                </a:tc>
              </a:tr>
              <a:tr h="360000">
                <a:tc>
                  <a:txBody>
                    <a:bodyPr wrap="square"/>
                    <a:lstStyle/>
                    <a:p>
                      <a:pPr algn="l"/>
                      <a:r>
                        <a:rPr sz="850" b="0">
                          <a:solidFill>
                            <a:srgbClr val="202945"/>
                          </a:solidFill>
                        </a:rPr>
                        <a:t>Structured note / certificate</a:t>
                      </a:r>
                    </a:p>
                  </a:txBody>
                  <a:tcPr marL="45720" marR="45720" anchor="ctr">
                    <a:noFill/>
                  </a:tcPr>
                </a:tc>
                <a:tc>
                  <a:txBody>
                    <a:bodyPr wrap="square"/>
                    <a:lstStyle/>
                    <a:p>
                      <a:pPr algn="r"/>
                      <a:r>
                        <a:rPr sz="850" b="0">
                          <a:solidFill>
                            <a:srgbClr val="202945"/>
                          </a:solidFill>
                        </a:rPr>
                        <a:t>620,051</a:t>
                      </a:r>
                    </a:p>
                  </a:txBody>
                  <a:tcPr marL="45720" marR="45720" anchor="ctr">
                    <a:noFill/>
                  </a:tcPr>
                </a:tc>
                <a:tc>
                  <a:txBody>
                    <a:bodyPr wrap="square"/>
                    <a:lstStyle/>
                    <a:p>
                      <a:pPr algn="r"/>
                      <a:r>
                        <a:rPr sz="850" b="0">
                          <a:solidFill>
                            <a:srgbClr val="202945"/>
                          </a:solidFill>
                        </a:rPr>
                        <a:t>0.0</a:t>
                      </a:r>
                    </a:p>
                  </a:txBody>
                  <a:tcPr marL="45720" marR="45720" anchor="ctr">
                    <a:noFill/>
                  </a:tcPr>
                </a:tc>
                <a:tc>
                  <a:txBody>
                    <a:bodyPr wrap="square"/>
                    <a:lstStyle/>
                    <a:p>
                      <a:pPr algn="r"/>
                      <a:r>
                        <a:rPr sz="850" b="0">
                          <a:solidFill>
                            <a:srgbClr val="202945"/>
                          </a:solidFill>
                        </a:rPr>
                        <a:t>0.00</a:t>
                      </a:r>
                    </a:p>
                  </a:txBody>
                  <a:tcPr marL="45720" marR="45720" anchor="ctr">
                    <a:noFill/>
                  </a:tcPr>
                </a:tc>
              </a:tr>
              <a:tr h="360000">
                <a:tc>
                  <a:txBody>
                    <a:bodyPr wrap="square"/>
                    <a:lstStyle/>
                    <a:p>
                      <a:pPr algn="l"/>
                      <a:r>
                        <a:rPr sz="850" b="0">
                          <a:solidFill>
                            <a:srgbClr val="202945"/>
                          </a:solidFill>
                        </a:rPr>
                        <a:t>Bank bond</a:t>
                      </a:r>
                    </a:p>
                  </a:txBody>
                  <a:tcPr marL="45720" marR="45720" anchor="ctr">
                    <a:noFill/>
                  </a:tcPr>
                </a:tc>
                <a:tc>
                  <a:txBody>
                    <a:bodyPr wrap="square"/>
                    <a:lstStyle/>
                    <a:p>
                      <a:pPr algn="r"/>
                      <a:r>
                        <a:rPr sz="850" b="0">
                          <a:solidFill>
                            <a:srgbClr val="202945"/>
                          </a:solidFill>
                        </a:rPr>
                        <a:t>320,337</a:t>
                      </a:r>
                    </a:p>
                  </a:txBody>
                  <a:tcPr marL="45720" marR="45720" anchor="ctr">
                    <a:noFill/>
                  </a:tcPr>
                </a:tc>
                <a:tc>
                  <a:txBody>
                    <a:bodyPr wrap="square"/>
                    <a:lstStyle/>
                    <a:p>
                      <a:pPr algn="r"/>
                      <a:r>
                        <a:rPr sz="850" b="0">
                          <a:solidFill>
                            <a:srgbClr val="202945"/>
                          </a:solidFill>
                        </a:rPr>
                        <a:t>0.1</a:t>
                      </a:r>
                    </a:p>
                  </a:txBody>
                  <a:tcPr marL="45720" marR="45720" anchor="ctr">
                    <a:noFill/>
                  </a:tcPr>
                </a:tc>
                <a:tc>
                  <a:txBody>
                    <a:bodyPr wrap="square"/>
                    <a:lstStyle/>
                    <a:p>
                      <a:pPr algn="r"/>
                      <a:r>
                        <a:rPr sz="850" b="0">
                          <a:solidFill>
                            <a:srgbClr val="202945"/>
                          </a:solidFill>
                        </a:rPr>
                        <a:t>0.01</a:t>
                      </a:r>
                    </a:p>
                  </a:txBody>
                  <a:tcPr marL="45720" marR="45720" anchor="ctr">
                    <a:noFill/>
                  </a:tcPr>
                </a:tc>
              </a:tr>
            </a:tbl>
          </a:graphicData>
        </a:graphic>
      </p:graphicFrame>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2E258-2835-91C4-7FEF-EF33B72602C2}"/>
            </a:ext>
          </a:extLst>
        </p:cNvPr>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B13F2FF1-F8E9-A250-678D-61D39D59C7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11" name="think-cell data - do not delete" hidden="1">
                        <a:extLst>
                          <a:ext uri="{FF2B5EF4-FFF2-40B4-BE49-F238E27FC236}">
                            <a16:creationId xmlns:a16="http://schemas.microsoft.com/office/drawing/2014/main" id="{B13F2FF1-F8E9-A250-678D-61D39D59C76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0F9B6A57-3DD4-74E8-0F03-72FB944F6E61}"/>
              </a:ext>
            </a:extLst>
          </p:cNvPr>
          <p:cNvSpPr>
            <a:spLocks noGrp="1"/>
          </p:cNvSpPr>
          <p:nvPr>
            <p:ph type="title"/>
          </p:nvPr>
        </p:nvSpPr>
        <p:spPr/>
        <p:txBody>
          <a:bodyPr/>
          <a:lstStyle/>
          <a:p>
            <a:r>
              <a:rPr lang="en-US" b="1" noProof="0" dirty="0">
                <a:solidFill>
                  <a:schemeClr val="bg1"/>
                </a:solidFill>
                <a:latin typeface="Nunito Sans" pitchFamily="2" charset="77"/>
              </a:rPr>
              <a:t>Appendix</a:t>
            </a:r>
            <a:endParaRPr lang="en-US" noProof="0" dirty="0"/>
          </a:p>
        </p:txBody>
      </p:sp>
    </p:spTree>
    <p:extLst>
      <p:ext uri="{BB962C8B-B14F-4D97-AF65-F5344CB8AC3E}">
        <p14:creationId xmlns:p14="http://schemas.microsoft.com/office/powerpoint/2010/main" val="1940999109"/>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9">
            <a:extLst>
              <a:ext uri="{FF2B5EF4-FFF2-40B4-BE49-F238E27FC236}">
                <a16:creationId xmlns:a16="http://schemas.microsoft.com/office/drawing/2014/main" id="{25A98F11-C97F-4B6D-DAB0-6041E4688C58}"/>
              </a:ext>
            </a:extLst>
          </p:cNvPr>
          <p:cNvSpPr txBox="1"/>
          <p:nvPr/>
        </p:nvSpPr>
        <p:spPr>
          <a:xfrm>
            <a:off x="741478" y="1618195"/>
            <a:ext cx="9297871" cy="311084"/>
          </a:xfrm>
          <a:prstGeom prst="rect">
            <a:avLst/>
          </a:prstGeom>
        </p:spPr>
        <p:txBody>
          <a:bodyPr vert="horz" wrap="square" lIns="0" tIns="48988" rIns="0" bIns="0" rtlCol="0">
            <a:noAutofit/>
          </a:bodyPr>
          <a:lstStyle/>
          <a:p>
            <a:pPr marR="265281" defTabSz="669684">
              <a:lnSpc>
                <a:spcPct val="90000"/>
              </a:lnSpc>
              <a:spcBef>
                <a:spcPct val="0"/>
              </a:spcBef>
            </a:pPr>
            <a:r>
              <a:rPr lang="en-US" sz="1200" noProof="0" dirty="0">
                <a:solidFill>
                  <a:schemeClr val="tx2">
                    <a:lumMod val="95000"/>
                    <a:lumOff val="5000"/>
                  </a:schemeClr>
                </a:solidFill>
              </a:rPr>
              <a:t>Headquartered in Geneva, with several offices in Switzerland, Bank </a:t>
            </a:r>
            <a:r>
              <a:rPr lang="en-US" sz="1200" noProof="0" dirty="0" err="1">
                <a:solidFill>
                  <a:schemeClr val="tx2">
                    <a:lumMod val="95000"/>
                    <a:lumOff val="5000"/>
                  </a:schemeClr>
                </a:solidFill>
              </a:rPr>
              <a:t>Syz</a:t>
            </a:r>
            <a:r>
              <a:rPr lang="en-US" sz="1200" noProof="0" dirty="0">
                <a:solidFill>
                  <a:schemeClr val="tx2">
                    <a:lumMod val="95000"/>
                    <a:lumOff val="5000"/>
                  </a:schemeClr>
                </a:solidFill>
              </a:rPr>
              <a:t> is also firmly anchored in Istanbul and Johannesburg, demonstrating our willingness to ensure close proximity to our clients while giving them global reach, intercontinental expertise, and a global cultural outlook on wealth management.</a:t>
            </a:r>
          </a:p>
          <a:p>
            <a:pPr marR="265281" defTabSz="669684">
              <a:lnSpc>
                <a:spcPct val="90000"/>
              </a:lnSpc>
              <a:spcBef>
                <a:spcPct val="0"/>
              </a:spcBef>
            </a:pPr>
            <a:endParaRPr lang="en-US" sz="1100" noProof="0" dirty="0">
              <a:solidFill>
                <a:schemeClr val="tx2">
                  <a:lumMod val="95000"/>
                  <a:lumOff val="5000"/>
                </a:schemeClr>
              </a:solidFill>
              <a:latin typeface="Nunito Sans" pitchFamily="2" charset="77"/>
              <a:ea typeface="+mj-ea"/>
              <a:cs typeface="+mj-cs"/>
            </a:endParaRPr>
          </a:p>
          <a:p>
            <a:pPr marR="265281" defTabSz="669684">
              <a:lnSpc>
                <a:spcPct val="90000"/>
              </a:lnSpc>
              <a:spcBef>
                <a:spcPct val="0"/>
              </a:spcBef>
            </a:pPr>
            <a:endParaRPr lang="en-US" sz="1100" noProof="0" dirty="0">
              <a:solidFill>
                <a:schemeClr val="tx2">
                  <a:lumMod val="95000"/>
                  <a:lumOff val="5000"/>
                </a:schemeClr>
              </a:solidFill>
              <a:latin typeface="Nunito Sans" pitchFamily="2" charset="77"/>
              <a:ea typeface="+mj-ea"/>
              <a:cs typeface="+mj-cs"/>
            </a:endParaRPr>
          </a:p>
        </p:txBody>
      </p:sp>
      <p:sp>
        <p:nvSpPr>
          <p:cNvPr id="3" name="Rounded Rectangle 2">
            <a:extLst>
              <a:ext uri="{FF2B5EF4-FFF2-40B4-BE49-F238E27FC236}">
                <a16:creationId xmlns:a16="http://schemas.microsoft.com/office/drawing/2014/main" id="{E7D4A707-7602-6299-5DE4-E94333926446}"/>
              </a:ext>
            </a:extLst>
          </p:cNvPr>
          <p:cNvSpPr/>
          <p:nvPr/>
        </p:nvSpPr>
        <p:spPr>
          <a:xfrm>
            <a:off x="741478" y="4406473"/>
            <a:ext cx="1787297" cy="1671384"/>
          </a:xfrm>
          <a:prstGeom prst="roundRect">
            <a:avLst>
              <a:gd name="adj" fmla="val 10207"/>
            </a:avLst>
          </a:prstGeom>
          <a:solidFill>
            <a:schemeClr val="bg1"/>
          </a:solidFill>
          <a:ln>
            <a:solidFill>
              <a:schemeClr val="accent4"/>
            </a:solidFill>
          </a:ln>
          <a:effectLst>
            <a:outerShdw blurRad="50800" dist="38100" dir="2700000" algn="tl" rotWithShape="0">
              <a:prstClr val="black">
                <a:alpha val="40000"/>
              </a:prstClr>
            </a:outerShdw>
          </a:effectLst>
        </p:spPr>
        <p:txBody>
          <a:bodyPr/>
          <a:lstStyle/>
          <a:p>
            <a:endParaRPr lang="en-US" noProof="0" dirty="0">
              <a:solidFill>
                <a:schemeClr val="tx2"/>
              </a:solidFill>
            </a:endParaRPr>
          </a:p>
        </p:txBody>
      </p:sp>
      <p:pic>
        <p:nvPicPr>
          <p:cNvPr id="4" name="Picture 3" descr="A map of the world  Description automatically generated">
            <a:extLst>
              <a:ext uri="{FF2B5EF4-FFF2-40B4-BE49-F238E27FC236}">
                <a16:creationId xmlns:a16="http://schemas.microsoft.com/office/drawing/2014/main" id="{F582D0B6-4277-EC69-BB51-5BA7EF847B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8293" y="2638357"/>
            <a:ext cx="7515225" cy="3941636"/>
          </a:xfrm>
          <a:prstGeom prst="rect">
            <a:avLst/>
          </a:prstGeom>
          <a:noFill/>
        </p:spPr>
      </p:pic>
      <p:sp>
        <p:nvSpPr>
          <p:cNvPr id="6" name="Rounded Rectangle 5">
            <a:extLst>
              <a:ext uri="{FF2B5EF4-FFF2-40B4-BE49-F238E27FC236}">
                <a16:creationId xmlns:a16="http://schemas.microsoft.com/office/drawing/2014/main" id="{8258ABC7-80C6-5D8A-8ED3-27E86660581A}"/>
              </a:ext>
            </a:extLst>
          </p:cNvPr>
          <p:cNvSpPr/>
          <p:nvPr/>
        </p:nvSpPr>
        <p:spPr>
          <a:xfrm>
            <a:off x="741478" y="2580685"/>
            <a:ext cx="1787297" cy="1671384"/>
          </a:xfrm>
          <a:prstGeom prst="roundRect">
            <a:avLst>
              <a:gd name="adj" fmla="val 10207"/>
            </a:avLst>
          </a:prstGeom>
          <a:solidFill>
            <a:schemeClr val="bg1"/>
          </a:solidFill>
          <a:ln>
            <a:solidFill>
              <a:srgbClr val="FF83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7" name="Rounded Rectangle 6">
            <a:extLst>
              <a:ext uri="{FF2B5EF4-FFF2-40B4-BE49-F238E27FC236}">
                <a16:creationId xmlns:a16="http://schemas.microsoft.com/office/drawing/2014/main" id="{6E1532EC-E544-C4B6-7826-854C1B820136}"/>
              </a:ext>
            </a:extLst>
          </p:cNvPr>
          <p:cNvSpPr/>
          <p:nvPr/>
        </p:nvSpPr>
        <p:spPr>
          <a:xfrm>
            <a:off x="8221321" y="2580685"/>
            <a:ext cx="1787297" cy="1671384"/>
          </a:xfrm>
          <a:prstGeom prst="roundRect">
            <a:avLst>
              <a:gd name="adj" fmla="val 10207"/>
            </a:avLst>
          </a:prstGeom>
          <a:gradFill>
            <a:gsLst>
              <a:gs pos="100000">
                <a:srgbClr val="FFA400"/>
              </a:gs>
              <a:gs pos="0">
                <a:srgbClr val="FF83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8" name="Rounded Rectangle 7">
            <a:extLst>
              <a:ext uri="{FF2B5EF4-FFF2-40B4-BE49-F238E27FC236}">
                <a16:creationId xmlns:a16="http://schemas.microsoft.com/office/drawing/2014/main" id="{0D58FF3E-2EA1-DC03-868B-B1CC0FA1F31C}"/>
              </a:ext>
            </a:extLst>
          </p:cNvPr>
          <p:cNvSpPr/>
          <p:nvPr/>
        </p:nvSpPr>
        <p:spPr>
          <a:xfrm>
            <a:off x="8221321" y="4409918"/>
            <a:ext cx="1787297" cy="1671384"/>
          </a:xfrm>
          <a:prstGeom prst="roundRect">
            <a:avLst>
              <a:gd name="adj" fmla="val 10207"/>
            </a:avLst>
          </a:prstGeom>
          <a:gradFill>
            <a:gsLst>
              <a:gs pos="100000">
                <a:srgbClr val="FFA400"/>
              </a:gs>
              <a:gs pos="0">
                <a:srgbClr val="FF83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9" name="TextBox 8">
            <a:extLst>
              <a:ext uri="{FF2B5EF4-FFF2-40B4-BE49-F238E27FC236}">
                <a16:creationId xmlns:a16="http://schemas.microsoft.com/office/drawing/2014/main" id="{AC303204-08A7-BEAF-CFAF-9957688BC9D2}"/>
              </a:ext>
            </a:extLst>
          </p:cNvPr>
          <p:cNvSpPr txBox="1"/>
          <p:nvPr/>
        </p:nvSpPr>
        <p:spPr>
          <a:xfrm>
            <a:off x="804110" y="2700823"/>
            <a:ext cx="1662030" cy="327232"/>
          </a:xfrm>
          <a:prstGeom prst="rect">
            <a:avLst/>
          </a:prstGeom>
          <a:noFill/>
        </p:spPr>
        <p:txBody>
          <a:bodyPr vert="horz" wrap="square" lIns="48988" tIns="24494" rIns="48988" bIns="24494" rtlCol="0" anchor="t">
            <a:noAutofit/>
          </a:bodyPr>
          <a:lstStyle/>
          <a:p>
            <a:pPr algn="ctr"/>
            <a:r>
              <a:rPr lang="en-US" sz="1100" b="1" noProof="0" dirty="0">
                <a:solidFill>
                  <a:srgbClr val="FF8300"/>
                </a:solidFill>
                <a:latin typeface="Nunito Sans" pitchFamily="2" charset="77"/>
              </a:rPr>
              <a:t>Group assets under </a:t>
            </a:r>
            <a:br>
              <a:rPr lang="en-US" sz="1100" b="1" noProof="0" dirty="0">
                <a:solidFill>
                  <a:srgbClr val="FF8300"/>
                </a:solidFill>
                <a:latin typeface="Nunito Sans" pitchFamily="2" charset="77"/>
              </a:rPr>
            </a:br>
            <a:r>
              <a:rPr lang="en-US" sz="1100" b="1" noProof="0" dirty="0">
                <a:solidFill>
                  <a:srgbClr val="FF8300"/>
                </a:solidFill>
                <a:latin typeface="Nunito Sans" pitchFamily="2" charset="77"/>
              </a:rPr>
              <a:t>management </a:t>
            </a:r>
            <a:r>
              <a:rPr lang="en-US" sz="1100" noProof="0" dirty="0">
                <a:solidFill>
                  <a:srgbClr val="FF8300"/>
                </a:solidFill>
                <a:latin typeface="Nunito Sans" pitchFamily="2" charset="77"/>
              </a:rPr>
              <a:t>(CHF)</a:t>
            </a:r>
            <a:br>
              <a:rPr lang="en-US" sz="1100" noProof="0" dirty="0">
                <a:solidFill>
                  <a:srgbClr val="FFA400"/>
                </a:solidFill>
                <a:latin typeface="Nunito Sans" pitchFamily="2" charset="77"/>
              </a:rPr>
            </a:br>
            <a:endParaRPr lang="en-US" sz="1100" noProof="0" dirty="0">
              <a:solidFill>
                <a:srgbClr val="FFA400"/>
              </a:solidFill>
              <a:latin typeface="Nunito Sans" pitchFamily="2" charset="77"/>
            </a:endParaRPr>
          </a:p>
        </p:txBody>
      </p:sp>
      <p:sp>
        <p:nvSpPr>
          <p:cNvPr id="10" name="TextBox 9">
            <a:extLst>
              <a:ext uri="{FF2B5EF4-FFF2-40B4-BE49-F238E27FC236}">
                <a16:creationId xmlns:a16="http://schemas.microsoft.com/office/drawing/2014/main" id="{754DFC64-B136-6871-0CF8-7B1B5B54C9D1}"/>
              </a:ext>
            </a:extLst>
          </p:cNvPr>
          <p:cNvSpPr txBox="1"/>
          <p:nvPr/>
        </p:nvSpPr>
        <p:spPr>
          <a:xfrm>
            <a:off x="741477" y="3164957"/>
            <a:ext cx="1787298" cy="625943"/>
          </a:xfrm>
          <a:prstGeom prst="rect">
            <a:avLst/>
          </a:prstGeom>
          <a:noFill/>
        </p:spPr>
        <p:txBody>
          <a:bodyPr vert="horz" wrap="square" lIns="0" tIns="0" rIns="0" bIns="0" rtlCol="0" anchor="ctr">
            <a:noAutofit/>
          </a:bodyPr>
          <a:lstStyle/>
          <a:p>
            <a:pPr algn="ctr" defTabSz="685804">
              <a:lnSpc>
                <a:spcPct val="90000"/>
              </a:lnSpc>
              <a:spcBef>
                <a:spcPct val="0"/>
              </a:spcBef>
            </a:pPr>
            <a:r>
              <a:rPr lang="en-US" sz="3200" noProof="0" dirty="0">
                <a:solidFill>
                  <a:srgbClr val="FF8300"/>
                </a:solidFill>
                <a:latin typeface="Nunito Sans Black" panose="00000A00000000000000" pitchFamily="2" charset="0"/>
                <a:ea typeface="+mj-ea"/>
                <a:cs typeface="+mj-cs"/>
              </a:rPr>
              <a:t>27.9</a:t>
            </a:r>
            <a:endParaRPr lang="en-US" sz="2400" noProof="0" dirty="0">
              <a:solidFill>
                <a:srgbClr val="FF8300"/>
              </a:solidFill>
              <a:latin typeface="Nunito Sans Black" panose="00000A00000000000000" pitchFamily="2" charset="0"/>
              <a:ea typeface="+mj-ea"/>
              <a:cs typeface="+mj-cs"/>
            </a:endParaRPr>
          </a:p>
        </p:txBody>
      </p:sp>
      <p:sp>
        <p:nvSpPr>
          <p:cNvPr id="11" name="TextBox 10">
            <a:extLst>
              <a:ext uri="{FF2B5EF4-FFF2-40B4-BE49-F238E27FC236}">
                <a16:creationId xmlns:a16="http://schemas.microsoft.com/office/drawing/2014/main" id="{77379A85-E64C-BDE0-D04B-8E8A010AFA2F}"/>
              </a:ext>
            </a:extLst>
          </p:cNvPr>
          <p:cNvSpPr txBox="1"/>
          <p:nvPr/>
        </p:nvSpPr>
        <p:spPr>
          <a:xfrm>
            <a:off x="804110" y="4570405"/>
            <a:ext cx="1662030" cy="212810"/>
          </a:xfrm>
          <a:prstGeom prst="rect">
            <a:avLst/>
          </a:prstGeom>
          <a:noFill/>
        </p:spPr>
        <p:txBody>
          <a:bodyPr vert="horz" wrap="square" lIns="48988" tIns="24494" rIns="48988" bIns="24494" rtlCol="0" anchor="t">
            <a:noAutofit/>
          </a:bodyPr>
          <a:lstStyle/>
          <a:p>
            <a:pPr algn="ctr"/>
            <a:r>
              <a:rPr lang="en-US" sz="1100" b="1" noProof="0" dirty="0">
                <a:solidFill>
                  <a:srgbClr val="FF8300"/>
                </a:solidFill>
                <a:latin typeface="Nunito Sans" pitchFamily="2" charset="77"/>
              </a:rPr>
              <a:t>CET1 solvency ratio</a:t>
            </a:r>
          </a:p>
        </p:txBody>
      </p:sp>
      <p:sp>
        <p:nvSpPr>
          <p:cNvPr id="12" name="TextBox 11">
            <a:extLst>
              <a:ext uri="{FF2B5EF4-FFF2-40B4-BE49-F238E27FC236}">
                <a16:creationId xmlns:a16="http://schemas.microsoft.com/office/drawing/2014/main" id="{89F9650B-1D66-439D-A065-B5CD199BE43E}"/>
              </a:ext>
            </a:extLst>
          </p:cNvPr>
          <p:cNvSpPr txBox="1"/>
          <p:nvPr/>
        </p:nvSpPr>
        <p:spPr>
          <a:xfrm>
            <a:off x="859009" y="5109297"/>
            <a:ext cx="1787295" cy="327232"/>
          </a:xfrm>
          <a:prstGeom prst="rect">
            <a:avLst/>
          </a:prstGeom>
          <a:noFill/>
        </p:spPr>
        <p:txBody>
          <a:bodyPr vert="horz" wrap="square" lIns="0" tIns="0" rIns="0" bIns="0" rtlCol="0" anchor="ctr">
            <a:noAutofit/>
          </a:bodyPr>
          <a:lstStyle/>
          <a:p>
            <a:pPr algn="ctr" defTabSz="685804">
              <a:lnSpc>
                <a:spcPct val="90000"/>
              </a:lnSpc>
              <a:spcBef>
                <a:spcPct val="0"/>
              </a:spcBef>
            </a:pPr>
            <a:r>
              <a:rPr lang="en-US" sz="3200" noProof="0" dirty="0">
                <a:solidFill>
                  <a:srgbClr val="FF8300"/>
                </a:solidFill>
                <a:latin typeface="Nunito Sans Black" panose="00000A00000000000000" pitchFamily="2" charset="0"/>
                <a:ea typeface="+mj-ea"/>
                <a:cs typeface="+mj-cs"/>
              </a:rPr>
              <a:t>24.6</a:t>
            </a:r>
            <a:r>
              <a:rPr lang="en-US" sz="2400" noProof="0" dirty="0">
                <a:solidFill>
                  <a:schemeClr val="bg1"/>
                </a:solidFill>
                <a:latin typeface="Nunito Sans Black" panose="00000A00000000000000" pitchFamily="2" charset="0"/>
                <a:ea typeface="+mj-ea"/>
                <a:cs typeface="+mj-cs"/>
              </a:rPr>
              <a:t>%</a:t>
            </a:r>
          </a:p>
        </p:txBody>
      </p:sp>
      <p:sp>
        <p:nvSpPr>
          <p:cNvPr id="13" name="TextBox 12">
            <a:extLst>
              <a:ext uri="{FF2B5EF4-FFF2-40B4-BE49-F238E27FC236}">
                <a16:creationId xmlns:a16="http://schemas.microsoft.com/office/drawing/2014/main" id="{52161819-0D58-A255-15FC-F1691D931BB7}"/>
              </a:ext>
            </a:extLst>
          </p:cNvPr>
          <p:cNvSpPr txBox="1"/>
          <p:nvPr/>
        </p:nvSpPr>
        <p:spPr>
          <a:xfrm>
            <a:off x="8283952" y="2700823"/>
            <a:ext cx="1662030" cy="327232"/>
          </a:xfrm>
          <a:prstGeom prst="rect">
            <a:avLst/>
          </a:prstGeom>
          <a:noFill/>
        </p:spPr>
        <p:txBody>
          <a:bodyPr vert="horz" wrap="square" lIns="48988" tIns="24494" rIns="48988" bIns="24494" rtlCol="0" anchor="t">
            <a:noAutofit/>
          </a:bodyPr>
          <a:lstStyle/>
          <a:p>
            <a:pPr algn="ctr"/>
            <a:r>
              <a:rPr lang="en-US" sz="1100" b="1" noProof="0" dirty="0">
                <a:solidFill>
                  <a:srgbClr val="202945"/>
                </a:solidFill>
                <a:latin typeface="Nunito Sans" pitchFamily="2" charset="77"/>
              </a:rPr>
              <a:t>Founded in 1996</a:t>
            </a:r>
            <a:endParaRPr lang="en-US" sz="1100" noProof="0" dirty="0">
              <a:solidFill>
                <a:srgbClr val="202945"/>
              </a:solidFill>
              <a:latin typeface="Nunito Sans" pitchFamily="2" charset="77"/>
            </a:endParaRPr>
          </a:p>
        </p:txBody>
      </p:sp>
      <p:sp>
        <p:nvSpPr>
          <p:cNvPr id="15" name="TextBox 14">
            <a:extLst>
              <a:ext uri="{FF2B5EF4-FFF2-40B4-BE49-F238E27FC236}">
                <a16:creationId xmlns:a16="http://schemas.microsoft.com/office/drawing/2014/main" id="{66147ED4-2E87-8A40-7309-9611E6F68696}"/>
              </a:ext>
            </a:extLst>
          </p:cNvPr>
          <p:cNvSpPr txBox="1"/>
          <p:nvPr/>
        </p:nvSpPr>
        <p:spPr>
          <a:xfrm>
            <a:off x="8535284" y="4549508"/>
            <a:ext cx="1159365" cy="209712"/>
          </a:xfrm>
          <a:prstGeom prst="rect">
            <a:avLst/>
          </a:prstGeom>
          <a:noFill/>
        </p:spPr>
        <p:txBody>
          <a:bodyPr vert="horz" wrap="square" lIns="48988" tIns="24494" rIns="48988" bIns="24494" rtlCol="0" anchor="t">
            <a:noAutofit/>
          </a:bodyPr>
          <a:lstStyle/>
          <a:p>
            <a:pPr algn="ctr"/>
            <a:r>
              <a:rPr lang="en-US" sz="1100" b="1" noProof="0" dirty="0">
                <a:solidFill>
                  <a:srgbClr val="202945"/>
                </a:solidFill>
                <a:latin typeface="Nunito Sans" pitchFamily="2" charset="77"/>
              </a:rPr>
              <a:t>Locations</a:t>
            </a:r>
          </a:p>
        </p:txBody>
      </p:sp>
      <p:sp>
        <p:nvSpPr>
          <p:cNvPr id="16" name="TextBox 15">
            <a:extLst>
              <a:ext uri="{FF2B5EF4-FFF2-40B4-BE49-F238E27FC236}">
                <a16:creationId xmlns:a16="http://schemas.microsoft.com/office/drawing/2014/main" id="{D71C61BF-4BAE-7EBF-ED80-EC4122CA639A}"/>
              </a:ext>
            </a:extLst>
          </p:cNvPr>
          <p:cNvSpPr txBox="1"/>
          <p:nvPr/>
        </p:nvSpPr>
        <p:spPr>
          <a:xfrm>
            <a:off x="8221320" y="5161862"/>
            <a:ext cx="1787295" cy="327232"/>
          </a:xfrm>
          <a:prstGeom prst="rect">
            <a:avLst/>
          </a:prstGeom>
          <a:noFill/>
        </p:spPr>
        <p:txBody>
          <a:bodyPr vert="horz" wrap="square" lIns="0" tIns="0" rIns="0" bIns="0" rtlCol="0" anchor="ctr">
            <a:noAutofit/>
          </a:bodyPr>
          <a:lstStyle/>
          <a:p>
            <a:pPr algn="ctr" defTabSz="685804">
              <a:lnSpc>
                <a:spcPct val="90000"/>
              </a:lnSpc>
              <a:spcBef>
                <a:spcPct val="0"/>
              </a:spcBef>
            </a:pPr>
            <a:r>
              <a:rPr lang="en-US" sz="5400" noProof="0" dirty="0">
                <a:solidFill>
                  <a:schemeClr val="bg1"/>
                </a:solidFill>
                <a:latin typeface="Nunito Sans Black" panose="00000A00000000000000" pitchFamily="2" charset="0"/>
                <a:ea typeface="+mj-ea"/>
                <a:cs typeface="+mj-cs"/>
              </a:rPr>
              <a:t>7</a:t>
            </a:r>
            <a:endParaRPr lang="en-US" sz="2400" noProof="0" dirty="0">
              <a:solidFill>
                <a:schemeClr val="bg1"/>
              </a:solidFill>
              <a:latin typeface="Nunito Sans Black" panose="00000A00000000000000" pitchFamily="2" charset="0"/>
              <a:ea typeface="+mj-ea"/>
              <a:cs typeface="+mj-cs"/>
            </a:endParaRPr>
          </a:p>
        </p:txBody>
      </p:sp>
      <p:sp>
        <p:nvSpPr>
          <p:cNvPr id="17" name="TextBox 16">
            <a:extLst>
              <a:ext uri="{FF2B5EF4-FFF2-40B4-BE49-F238E27FC236}">
                <a16:creationId xmlns:a16="http://schemas.microsoft.com/office/drawing/2014/main" id="{0FDA1A36-FD12-0EDD-46CC-3DF0EF6BA772}"/>
              </a:ext>
            </a:extLst>
          </p:cNvPr>
          <p:cNvSpPr txBox="1"/>
          <p:nvPr/>
        </p:nvSpPr>
        <p:spPr>
          <a:xfrm>
            <a:off x="741477" y="3705631"/>
            <a:ext cx="1787298" cy="223484"/>
          </a:xfrm>
          <a:prstGeom prst="rect">
            <a:avLst/>
          </a:prstGeom>
          <a:noFill/>
        </p:spPr>
        <p:txBody>
          <a:bodyPr vert="horz" wrap="square" lIns="0" tIns="0" rIns="0" bIns="0" rtlCol="0" anchor="ctr">
            <a:noAutofit/>
          </a:bodyPr>
          <a:lstStyle/>
          <a:p>
            <a:pPr algn="ctr" defTabSz="685804">
              <a:lnSpc>
                <a:spcPct val="90000"/>
              </a:lnSpc>
              <a:spcBef>
                <a:spcPct val="0"/>
              </a:spcBef>
            </a:pPr>
            <a:r>
              <a:rPr lang="en-US" sz="1100" b="1" noProof="0" dirty="0">
                <a:solidFill>
                  <a:srgbClr val="FF8300"/>
                </a:solidFill>
                <a:latin typeface="Nunito Sans" pitchFamily="2" charset="77"/>
                <a:ea typeface="+mj-ea"/>
                <a:cs typeface="+mj-cs"/>
              </a:rPr>
              <a:t>billion</a:t>
            </a:r>
            <a:endParaRPr lang="en-US" sz="1000" noProof="0" dirty="0">
              <a:solidFill>
                <a:srgbClr val="FF8300"/>
              </a:solidFill>
              <a:latin typeface="Nunito Sans" pitchFamily="2" charset="77"/>
              <a:ea typeface="+mj-ea"/>
              <a:cs typeface="+mj-cs"/>
            </a:endParaRPr>
          </a:p>
        </p:txBody>
      </p:sp>
      <p:sp>
        <p:nvSpPr>
          <p:cNvPr id="20" name="Oval 19">
            <a:extLst>
              <a:ext uri="{FF2B5EF4-FFF2-40B4-BE49-F238E27FC236}">
                <a16:creationId xmlns:a16="http://schemas.microsoft.com/office/drawing/2014/main" id="{5783BF94-455D-D3BA-DF05-4F30C1153CD9}"/>
              </a:ext>
            </a:extLst>
          </p:cNvPr>
          <p:cNvSpPr/>
          <p:nvPr/>
        </p:nvSpPr>
        <p:spPr>
          <a:xfrm>
            <a:off x="4352176" y="2602977"/>
            <a:ext cx="1649092" cy="1649092"/>
          </a:xfrm>
          <a:prstGeom prst="ellipse">
            <a:avLst/>
          </a:prstGeom>
          <a:solidFill>
            <a:schemeClr val="accent4">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21" name="TextBox 20">
            <a:extLst>
              <a:ext uri="{FF2B5EF4-FFF2-40B4-BE49-F238E27FC236}">
                <a16:creationId xmlns:a16="http://schemas.microsoft.com/office/drawing/2014/main" id="{9FB99637-EB3F-A201-8857-7E89E25C4F20}"/>
              </a:ext>
            </a:extLst>
          </p:cNvPr>
          <p:cNvSpPr txBox="1"/>
          <p:nvPr/>
        </p:nvSpPr>
        <p:spPr>
          <a:xfrm>
            <a:off x="4401917" y="2814023"/>
            <a:ext cx="1549611" cy="1272843"/>
          </a:xfrm>
          <a:prstGeom prst="rect">
            <a:avLst/>
          </a:prstGeom>
          <a:noFill/>
        </p:spPr>
        <p:txBody>
          <a:bodyPr vert="horz" wrap="square" lIns="48988" tIns="24494" rIns="48988" bIns="24494" rtlCol="0" anchor="t">
            <a:noAutofit/>
          </a:bodyPr>
          <a:lstStyle/>
          <a:p>
            <a:pPr algn="ctr"/>
            <a:r>
              <a:rPr lang="en-US" sz="1100" b="1" noProof="0" dirty="0">
                <a:solidFill>
                  <a:srgbClr val="202945"/>
                </a:solidFill>
                <a:latin typeface="Urbane Bold" pitchFamily="2" charset="77"/>
              </a:rPr>
              <a:t>EUROPE</a:t>
            </a:r>
            <a:br>
              <a:rPr lang="en-US" sz="1100" b="1" noProof="0" dirty="0">
                <a:solidFill>
                  <a:srgbClr val="202945"/>
                </a:solidFill>
                <a:latin typeface="Urbane Bold" pitchFamily="2" charset="77"/>
              </a:rPr>
            </a:br>
            <a:endParaRPr lang="en-US" sz="1100" noProof="0" dirty="0">
              <a:solidFill>
                <a:schemeClr val="tx2">
                  <a:lumMod val="95000"/>
                  <a:lumOff val="5000"/>
                </a:schemeClr>
              </a:solidFill>
              <a:effectLst/>
            </a:endParaRPr>
          </a:p>
          <a:p>
            <a:pPr algn="ctr"/>
            <a:r>
              <a:rPr lang="en-US" sz="1100" noProof="0" dirty="0">
                <a:solidFill>
                  <a:schemeClr val="tx2">
                    <a:lumMod val="95000"/>
                    <a:lumOff val="5000"/>
                  </a:schemeClr>
                </a:solidFill>
                <a:effectLst/>
              </a:rPr>
              <a:t>Geneva</a:t>
            </a:r>
          </a:p>
          <a:p>
            <a:pPr algn="ctr"/>
            <a:r>
              <a:rPr lang="en-US" sz="1100" noProof="0" dirty="0">
                <a:solidFill>
                  <a:schemeClr val="tx2">
                    <a:lumMod val="95000"/>
                    <a:lumOff val="5000"/>
                  </a:schemeClr>
                </a:solidFill>
                <a:effectLst/>
              </a:rPr>
              <a:t>Zurich</a:t>
            </a:r>
          </a:p>
          <a:p>
            <a:pPr algn="ctr"/>
            <a:r>
              <a:rPr lang="en-US" sz="1100" noProof="0" dirty="0" err="1">
                <a:solidFill>
                  <a:schemeClr val="tx2">
                    <a:lumMod val="95000"/>
                    <a:lumOff val="5000"/>
                  </a:schemeClr>
                </a:solidFill>
                <a:effectLst/>
              </a:rPr>
              <a:t>Pfäffikon</a:t>
            </a:r>
            <a:endParaRPr lang="en-US" sz="1100" noProof="0" dirty="0">
              <a:solidFill>
                <a:schemeClr val="tx2">
                  <a:lumMod val="95000"/>
                  <a:lumOff val="5000"/>
                </a:schemeClr>
              </a:solidFill>
              <a:effectLst/>
            </a:endParaRPr>
          </a:p>
          <a:p>
            <a:pPr algn="ctr"/>
            <a:r>
              <a:rPr lang="en-US" sz="1100" noProof="0" dirty="0">
                <a:solidFill>
                  <a:schemeClr val="tx2">
                    <a:lumMod val="95000"/>
                    <a:lumOff val="5000"/>
                  </a:schemeClr>
                </a:solidFill>
                <a:effectLst/>
              </a:rPr>
              <a:t>Lugano</a:t>
            </a:r>
          </a:p>
          <a:p>
            <a:pPr algn="ctr"/>
            <a:r>
              <a:rPr lang="en-US" sz="1100" noProof="0" dirty="0">
                <a:solidFill>
                  <a:schemeClr val="tx2">
                    <a:lumMod val="95000"/>
                    <a:lumOff val="5000"/>
                  </a:schemeClr>
                </a:solidFill>
                <a:effectLst/>
              </a:rPr>
              <a:t>Locarno</a:t>
            </a:r>
          </a:p>
        </p:txBody>
      </p:sp>
      <p:sp>
        <p:nvSpPr>
          <p:cNvPr id="23" name="Oval 22">
            <a:extLst>
              <a:ext uri="{FF2B5EF4-FFF2-40B4-BE49-F238E27FC236}">
                <a16:creationId xmlns:a16="http://schemas.microsoft.com/office/drawing/2014/main" id="{E13F1123-00F2-FFB0-7C03-E8A5F1860991}"/>
              </a:ext>
            </a:extLst>
          </p:cNvPr>
          <p:cNvSpPr/>
          <p:nvPr/>
        </p:nvSpPr>
        <p:spPr>
          <a:xfrm>
            <a:off x="5713654" y="3554244"/>
            <a:ext cx="1177926" cy="1177926"/>
          </a:xfrm>
          <a:prstGeom prst="ellipse">
            <a:avLst/>
          </a:prstGeom>
          <a:solidFill>
            <a:srgbClr val="FFA400">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25" name="TextBox 24">
            <a:extLst>
              <a:ext uri="{FF2B5EF4-FFF2-40B4-BE49-F238E27FC236}">
                <a16:creationId xmlns:a16="http://schemas.microsoft.com/office/drawing/2014/main" id="{B8A5A86B-36DB-4433-77DB-F1A38BE9273F}"/>
              </a:ext>
            </a:extLst>
          </p:cNvPr>
          <p:cNvSpPr txBox="1"/>
          <p:nvPr/>
        </p:nvSpPr>
        <p:spPr>
          <a:xfrm>
            <a:off x="5841591" y="3878243"/>
            <a:ext cx="922052" cy="549492"/>
          </a:xfrm>
          <a:prstGeom prst="rect">
            <a:avLst/>
          </a:prstGeom>
          <a:noFill/>
        </p:spPr>
        <p:txBody>
          <a:bodyPr vert="horz" wrap="square" lIns="48988" tIns="24494" rIns="48988" bIns="24494" rtlCol="0" anchor="t">
            <a:noAutofit/>
          </a:bodyPr>
          <a:lstStyle/>
          <a:p>
            <a:pPr algn="ctr"/>
            <a:r>
              <a:rPr lang="en-US" sz="1100" b="1" noProof="0" dirty="0">
                <a:solidFill>
                  <a:srgbClr val="202945"/>
                </a:solidFill>
                <a:latin typeface="Urbane Bold" pitchFamily="2" charset="77"/>
              </a:rPr>
              <a:t>ASIA</a:t>
            </a:r>
            <a:endParaRPr lang="en-US" sz="1100" noProof="0" dirty="0">
              <a:solidFill>
                <a:schemeClr val="tx2">
                  <a:lumMod val="95000"/>
                  <a:lumOff val="5000"/>
                </a:schemeClr>
              </a:solidFill>
              <a:effectLst/>
            </a:endParaRPr>
          </a:p>
          <a:p>
            <a:pPr algn="ctr"/>
            <a:endParaRPr lang="en-US" sz="1100" noProof="0" dirty="0">
              <a:solidFill>
                <a:schemeClr val="tx2">
                  <a:lumMod val="95000"/>
                  <a:lumOff val="5000"/>
                </a:schemeClr>
              </a:solidFill>
            </a:endParaRPr>
          </a:p>
          <a:p>
            <a:pPr algn="ctr"/>
            <a:r>
              <a:rPr lang="en-US" sz="1100" noProof="0" dirty="0">
                <a:solidFill>
                  <a:schemeClr val="tx2">
                    <a:lumMod val="95000"/>
                    <a:lumOff val="5000"/>
                  </a:schemeClr>
                </a:solidFill>
                <a:effectLst/>
              </a:rPr>
              <a:t>Istanbul</a:t>
            </a:r>
          </a:p>
        </p:txBody>
      </p:sp>
      <p:sp>
        <p:nvSpPr>
          <p:cNvPr id="26" name="Oval 25">
            <a:extLst>
              <a:ext uri="{FF2B5EF4-FFF2-40B4-BE49-F238E27FC236}">
                <a16:creationId xmlns:a16="http://schemas.microsoft.com/office/drawing/2014/main" id="{76C05DEC-3A68-4991-0452-F5563B66674F}"/>
              </a:ext>
            </a:extLst>
          </p:cNvPr>
          <p:cNvSpPr/>
          <p:nvPr/>
        </p:nvSpPr>
        <p:spPr>
          <a:xfrm>
            <a:off x="5285948" y="5226013"/>
            <a:ext cx="1177926" cy="1177926"/>
          </a:xfrm>
          <a:prstGeom prst="ellipse">
            <a:avLst/>
          </a:prstGeom>
          <a:solidFill>
            <a:schemeClr val="accent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27" name="TextBox 26">
            <a:extLst>
              <a:ext uri="{FF2B5EF4-FFF2-40B4-BE49-F238E27FC236}">
                <a16:creationId xmlns:a16="http://schemas.microsoft.com/office/drawing/2014/main" id="{39E51C17-E498-2D45-7E96-038BF1E6D2F8}"/>
              </a:ext>
            </a:extLst>
          </p:cNvPr>
          <p:cNvSpPr txBox="1"/>
          <p:nvPr/>
        </p:nvSpPr>
        <p:spPr>
          <a:xfrm>
            <a:off x="5100106" y="5551080"/>
            <a:ext cx="1549611" cy="508942"/>
          </a:xfrm>
          <a:prstGeom prst="rect">
            <a:avLst/>
          </a:prstGeom>
          <a:noFill/>
        </p:spPr>
        <p:txBody>
          <a:bodyPr vert="horz" wrap="square" lIns="48988" tIns="24494" rIns="48988" bIns="24494" rtlCol="0" anchor="t">
            <a:noAutofit/>
          </a:bodyPr>
          <a:lstStyle/>
          <a:p>
            <a:pPr algn="ctr"/>
            <a:r>
              <a:rPr lang="en-US" sz="1100" b="1" noProof="0" dirty="0">
                <a:solidFill>
                  <a:srgbClr val="202945"/>
                </a:solidFill>
                <a:latin typeface="Urbane Bold" pitchFamily="2" charset="77"/>
              </a:rPr>
              <a:t>AFRICA</a:t>
            </a:r>
          </a:p>
          <a:p>
            <a:pPr algn="ctr"/>
            <a:endParaRPr lang="en-US" sz="1100" noProof="0" dirty="0">
              <a:solidFill>
                <a:schemeClr val="tx2">
                  <a:lumMod val="95000"/>
                  <a:lumOff val="5000"/>
                </a:schemeClr>
              </a:solidFill>
            </a:endParaRPr>
          </a:p>
          <a:p>
            <a:pPr algn="ctr"/>
            <a:r>
              <a:rPr lang="en-US" sz="1100" noProof="0" dirty="0">
                <a:solidFill>
                  <a:schemeClr val="tx2">
                    <a:lumMod val="95000"/>
                    <a:lumOff val="5000"/>
                  </a:schemeClr>
                </a:solidFill>
                <a:effectLst/>
              </a:rPr>
              <a:t>Johannesburg</a:t>
            </a:r>
          </a:p>
        </p:txBody>
      </p:sp>
      <p:sp>
        <p:nvSpPr>
          <p:cNvPr id="32" name="Rectangle 31">
            <a:extLst>
              <a:ext uri="{FF2B5EF4-FFF2-40B4-BE49-F238E27FC236}">
                <a16:creationId xmlns:a16="http://schemas.microsoft.com/office/drawing/2014/main" id="{C48D896B-4B6F-AF62-00CE-A89AE5144B7F}"/>
              </a:ext>
            </a:extLst>
          </p:cNvPr>
          <p:cNvSpPr/>
          <p:nvPr/>
        </p:nvSpPr>
        <p:spPr>
          <a:xfrm>
            <a:off x="666000" y="1033200"/>
            <a:ext cx="3278698" cy="419730"/>
          </a:xfrm>
          <a:prstGeom prst="rect">
            <a:avLst/>
          </a:prstGeom>
        </p:spPr>
        <p:txBody>
          <a:bodyPr wrap="square" lIns="0">
            <a:spAutoFit/>
          </a:bodyPr>
          <a:lstStyle/>
          <a:p>
            <a:pPr defTabSz="685804">
              <a:lnSpc>
                <a:spcPct val="90000"/>
              </a:lnSpc>
              <a:spcBef>
                <a:spcPct val="0"/>
              </a:spcBef>
              <a:defRPr/>
            </a:pPr>
            <a:r>
              <a:rPr lang="en-US" sz="2300" b="1" noProof="0" dirty="0" err="1">
                <a:gradFill flip="none" rotWithShape="1">
                  <a:gsLst>
                    <a:gs pos="0">
                      <a:schemeClr val="accent4"/>
                    </a:gs>
                    <a:gs pos="100000">
                      <a:srgbClr val="FFA400"/>
                    </a:gs>
                  </a:gsLst>
                  <a:lin ang="0" scaled="1"/>
                </a:gradFill>
                <a:latin typeface="+mj-lt"/>
                <a:ea typeface="+mj-ea"/>
                <a:cs typeface="+mj-cs"/>
              </a:rPr>
              <a:t>Syz</a:t>
            </a:r>
            <a:r>
              <a:rPr lang="en-US" sz="2300" b="1" noProof="0" dirty="0">
                <a:gradFill flip="none" rotWithShape="1">
                  <a:gsLst>
                    <a:gs pos="0">
                      <a:schemeClr val="accent4"/>
                    </a:gs>
                    <a:gs pos="100000">
                      <a:srgbClr val="FFA400"/>
                    </a:gs>
                  </a:gsLst>
                  <a:lin ang="0" scaled="1"/>
                </a:gradFill>
                <a:latin typeface="+mj-lt"/>
                <a:ea typeface="+mj-ea"/>
                <a:cs typeface="+mj-cs"/>
              </a:rPr>
              <a:t> Group at a Glance</a:t>
            </a:r>
          </a:p>
        </p:txBody>
      </p:sp>
      <p:sp>
        <p:nvSpPr>
          <p:cNvPr id="2" name="TextBox 1">
            <a:extLst>
              <a:ext uri="{FF2B5EF4-FFF2-40B4-BE49-F238E27FC236}">
                <a16:creationId xmlns:a16="http://schemas.microsoft.com/office/drawing/2014/main" id="{3FE4AF1E-5503-CE4E-15C2-5CEEAF5230A2}"/>
              </a:ext>
            </a:extLst>
          </p:cNvPr>
          <p:cNvSpPr txBox="1"/>
          <p:nvPr/>
        </p:nvSpPr>
        <p:spPr>
          <a:xfrm>
            <a:off x="866742" y="6403939"/>
            <a:ext cx="2084801" cy="312704"/>
          </a:xfrm>
          <a:prstGeom prst="rect">
            <a:avLst/>
          </a:prstGeom>
          <a:noFill/>
        </p:spPr>
        <p:txBody>
          <a:bodyPr vert="horz" wrap="square" lIns="0" tIns="0" rIns="0" bIns="0" rtlCol="0">
            <a:noAutofit/>
          </a:bodyPr>
          <a:lstStyle/>
          <a:p>
            <a:pPr algn="l"/>
            <a:r>
              <a:rPr lang="en-US" sz="800" i="1" noProof="0" dirty="0">
                <a:solidFill>
                  <a:srgbClr val="4B5F80"/>
                </a:solidFill>
              </a:rPr>
              <a:t>Audited figures as at 31.12.2025</a:t>
            </a:r>
            <a:endParaRPr lang="en-US" sz="800" noProof="0" dirty="0"/>
          </a:p>
        </p:txBody>
      </p:sp>
      <p:pic>
        <p:nvPicPr>
          <p:cNvPr id="28" name="Picture 27" descr="A black and white logo  AI-generated content may be incorrect.">
            <a:extLst>
              <a:ext uri="{FF2B5EF4-FFF2-40B4-BE49-F238E27FC236}">
                <a16:creationId xmlns:a16="http://schemas.microsoft.com/office/drawing/2014/main" id="{0BBEEE22-32B3-92AB-5F02-8F47F9A65F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35284" y="3189928"/>
            <a:ext cx="1398857" cy="576000"/>
          </a:xfrm>
          <a:prstGeom prst="rect">
            <a:avLst/>
          </a:prstGeom>
        </p:spPr>
      </p:pic>
    </p:spTree>
    <p:extLst>
      <p:ext uri="{BB962C8B-B14F-4D97-AF65-F5344CB8AC3E}">
        <p14:creationId xmlns:p14="http://schemas.microsoft.com/office/powerpoint/2010/main" val="1817707545"/>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The house view: tactical asset allocation</a:t>
            </a:r>
          </a:p>
        </p:txBody>
      </p:sp>
      <p:pic>
        <p:nvPicPr>
          <p:cNvPr id="6" name="Picture 5">
            <a:extLst>
              <a:ext uri="{FF2B5EF4-FFF2-40B4-BE49-F238E27FC236}">
                <a16:creationId xmlns:a16="http://schemas.microsoft.com/office/drawing/2014/main" id="{B81F2021-9A45-4CF0-FD82-CA4F13F9EEFA}"/>
              </a:ext>
            </a:extLst>
          </p:cNvPr>
          <p:cNvPicPr>
            <a:picLocks noChangeAspect="1"/>
          </p:cNvPicPr>
          <p:nvPr/>
        </p:nvPicPr>
        <p:blipFill>
          <a:blip r:embed="rId2"/>
          <a:stretch>
            <a:fillRect/>
          </a:stretch>
        </p:blipFill>
        <p:spPr>
          <a:xfrm>
            <a:off x="1079500" y="2148574"/>
            <a:ext cx="8114717" cy="4836963"/>
          </a:xfrm>
          <a:prstGeom prst="rect">
            <a:avLst/>
          </a:prstGeom>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 name="Group 111">
            <a:extLst>
              <a:ext uri="{FF2B5EF4-FFF2-40B4-BE49-F238E27FC236}">
                <a16:creationId xmlns:a16="http://schemas.microsoft.com/office/drawing/2014/main" id="{B53B42FA-C9E0-E25F-6442-1B3A21D7785E}"/>
              </a:ext>
            </a:extLst>
          </p:cNvPr>
          <p:cNvGrpSpPr/>
          <p:nvPr/>
        </p:nvGrpSpPr>
        <p:grpSpPr>
          <a:xfrm>
            <a:off x="597957" y="2576888"/>
            <a:ext cx="3852000" cy="3895167"/>
            <a:chOff x="560934" y="2293200"/>
            <a:chExt cx="3852000" cy="3895167"/>
          </a:xfrm>
        </p:grpSpPr>
        <p:sp>
          <p:nvSpPr>
            <p:cNvPr id="104" name="Partial Circle 103">
              <a:extLst>
                <a:ext uri="{FF2B5EF4-FFF2-40B4-BE49-F238E27FC236}">
                  <a16:creationId xmlns:a16="http://schemas.microsoft.com/office/drawing/2014/main" id="{76110295-BA64-973D-5B84-26A0A0676C7B}"/>
                </a:ext>
              </a:extLst>
            </p:cNvPr>
            <p:cNvSpPr/>
            <p:nvPr/>
          </p:nvSpPr>
          <p:spPr>
            <a:xfrm>
              <a:off x="560934" y="2293200"/>
              <a:ext cx="3852000" cy="3852000"/>
            </a:xfrm>
            <a:prstGeom prst="pie">
              <a:avLst>
                <a:gd name="adj1" fmla="val 13568700"/>
                <a:gd name="adj2" fmla="val 18748401"/>
              </a:avLst>
            </a:prstGeom>
            <a:solidFill>
              <a:srgbClr val="FFA4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solidFill>
                  <a:schemeClr val="tx1"/>
                </a:solidFill>
              </a:endParaRPr>
            </a:p>
          </p:txBody>
        </p:sp>
        <p:sp>
          <p:nvSpPr>
            <p:cNvPr id="110" name="Partial Circle 109">
              <a:extLst>
                <a:ext uri="{FF2B5EF4-FFF2-40B4-BE49-F238E27FC236}">
                  <a16:creationId xmlns:a16="http://schemas.microsoft.com/office/drawing/2014/main" id="{4357DFB7-D4F9-BE6E-F6FB-D721C6D18933}"/>
                </a:ext>
              </a:extLst>
            </p:cNvPr>
            <p:cNvSpPr/>
            <p:nvPr/>
          </p:nvSpPr>
          <p:spPr>
            <a:xfrm>
              <a:off x="692956" y="2660367"/>
              <a:ext cx="3564000" cy="3528000"/>
            </a:xfrm>
            <a:prstGeom prst="pie">
              <a:avLst>
                <a:gd name="adj1" fmla="val 13406481"/>
                <a:gd name="adj2" fmla="val 186191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solidFill>
                  <a:schemeClr val="tx1"/>
                </a:solidFill>
              </a:endParaRPr>
            </a:p>
          </p:txBody>
        </p:sp>
      </p:grpSp>
      <p:sp>
        <p:nvSpPr>
          <p:cNvPr id="59" name="Partial Circle 58">
            <a:extLst>
              <a:ext uri="{FF2B5EF4-FFF2-40B4-BE49-F238E27FC236}">
                <a16:creationId xmlns:a16="http://schemas.microsoft.com/office/drawing/2014/main" id="{FA881C9D-669F-9545-B5CE-AFD90523989E}"/>
              </a:ext>
            </a:extLst>
          </p:cNvPr>
          <p:cNvSpPr/>
          <p:nvPr/>
        </p:nvSpPr>
        <p:spPr>
          <a:xfrm>
            <a:off x="909979" y="2949187"/>
            <a:ext cx="3204000" cy="3204000"/>
          </a:xfrm>
          <a:prstGeom prst="pie">
            <a:avLst>
              <a:gd name="adj1" fmla="val 14488146"/>
              <a:gd name="adj2" fmla="val 17764186"/>
            </a:avLst>
          </a:prstGeom>
          <a:solidFill>
            <a:schemeClr val="accent3">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solidFill>
                <a:schemeClr val="tx1"/>
              </a:solidFill>
            </a:endParaRPr>
          </a:p>
        </p:txBody>
      </p:sp>
      <p:sp>
        <p:nvSpPr>
          <p:cNvPr id="2" name="Arc 1">
            <a:extLst>
              <a:ext uri="{FF2B5EF4-FFF2-40B4-BE49-F238E27FC236}">
                <a16:creationId xmlns:a16="http://schemas.microsoft.com/office/drawing/2014/main" id="{7DD54C3D-AE8D-6AE0-6ADC-FF33887EA804}"/>
              </a:ext>
            </a:extLst>
          </p:cNvPr>
          <p:cNvSpPr/>
          <p:nvPr/>
        </p:nvSpPr>
        <p:spPr>
          <a:xfrm>
            <a:off x="1703608" y="3937366"/>
            <a:ext cx="1620000" cy="1620000"/>
          </a:xfrm>
          <a:prstGeom prst="arc">
            <a:avLst>
              <a:gd name="adj1" fmla="val 5602225"/>
              <a:gd name="adj2" fmla="val 16023842"/>
            </a:avLst>
          </a:prstGeom>
          <a:ln w="127000">
            <a:solidFill>
              <a:srgbClr val="00CEB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5" name="UpSlide SubSection Marker" hidden="1"/>
          <p:cNvSpPr/>
          <p:nvPr>
            <p:custDataLst>
              <p:tags r:id="rId2"/>
            </p:custDataLst>
          </p:nvPr>
        </p:nvSpPr>
        <p:spPr>
          <a:xfrm>
            <a:off x="0" y="-254000"/>
            <a:ext cx="1270000" cy="12700"/>
          </a:xfrm>
          <a:prstGeom prst="rect">
            <a:avLst/>
          </a:prstGeom>
          <a:solidFill>
            <a:srgbClr val="3AB7C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solidFill>
                <a:srgbClr val="FFFFFF"/>
              </a:solidFill>
              <a:latin typeface="Nunito Sans" pitchFamily="2" charset="77"/>
            </a:endParaRPr>
          </a:p>
        </p:txBody>
      </p:sp>
      <p:sp>
        <p:nvSpPr>
          <p:cNvPr id="10" name="Title 5">
            <a:extLst>
              <a:ext uri="{FF2B5EF4-FFF2-40B4-BE49-F238E27FC236}">
                <a16:creationId xmlns:a16="http://schemas.microsoft.com/office/drawing/2014/main" id="{6B985805-CD77-203E-3375-2B7063C14B6C}"/>
              </a:ext>
            </a:extLst>
          </p:cNvPr>
          <p:cNvSpPr>
            <a:spLocks noGrp="1"/>
          </p:cNvSpPr>
          <p:nvPr>
            <p:ph type="title"/>
          </p:nvPr>
        </p:nvSpPr>
        <p:spPr/>
        <p:txBody>
          <a:bodyPr/>
          <a:lstStyle/>
          <a:p>
            <a:r>
              <a:rPr lang="en-US" noProof="0" dirty="0"/>
              <a:t>Your Virtual team of Experts </a:t>
            </a:r>
          </a:p>
        </p:txBody>
      </p:sp>
      <p:sp>
        <p:nvSpPr>
          <p:cNvPr id="11" name="Rectangle 10">
            <a:extLst>
              <a:ext uri="{FF2B5EF4-FFF2-40B4-BE49-F238E27FC236}">
                <a16:creationId xmlns:a16="http://schemas.microsoft.com/office/drawing/2014/main" id="{B08A5C7B-982E-1653-D606-2DD269AA227E}"/>
              </a:ext>
            </a:extLst>
          </p:cNvPr>
          <p:cNvSpPr/>
          <p:nvPr/>
        </p:nvSpPr>
        <p:spPr>
          <a:xfrm>
            <a:off x="669925" y="1485161"/>
            <a:ext cx="9398000" cy="455056"/>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91440" bIns="45720" numCol="1" spcCol="0" rtlCol="0" fromWordArt="0" anchor="t" anchorCtr="0" forceAA="0" compatLnSpc="1">
            <a:prstTxWarp prst="textNoShape">
              <a:avLst/>
            </a:prstTxWarp>
            <a:noAutofit/>
          </a:bodyPr>
          <a:lstStyle/>
          <a:p>
            <a:pPr algn="just" defTabSz="1007943">
              <a:spcBef>
                <a:spcPts val="300"/>
              </a:spcBef>
              <a:spcAft>
                <a:spcPts val="600"/>
              </a:spcAft>
              <a:buClr>
                <a:schemeClr val="accent3"/>
              </a:buClr>
              <a:buSzPct val="90000"/>
            </a:pPr>
            <a:r>
              <a:rPr lang="en-US" sz="1300" b="1" noProof="0" dirty="0">
                <a:solidFill>
                  <a:schemeClr val="tx2"/>
                </a:solidFill>
                <a:latin typeface="+mj-lt"/>
              </a:rPr>
              <a:t>We Advise, You Decide</a:t>
            </a:r>
          </a:p>
          <a:p>
            <a:pPr algn="just" defTabSz="1007943">
              <a:spcBef>
                <a:spcPts val="300"/>
              </a:spcBef>
              <a:buClr>
                <a:schemeClr val="accent3"/>
              </a:buClr>
              <a:buSzPct val="90000"/>
            </a:pPr>
            <a:r>
              <a:rPr lang="en-US" sz="1300" b="1" noProof="0" dirty="0">
                <a:solidFill>
                  <a:schemeClr val="tx2"/>
                </a:solidFill>
                <a:latin typeface="+mj-lt"/>
              </a:rPr>
              <a:t>With our Advisory service, you are at the heart of our virtual team of experts. While you have full power on investment decisions, we provide you the expertise and insights to manage your portfolio like an investment professional</a:t>
            </a:r>
          </a:p>
          <a:p>
            <a:pPr marL="730800" lvl="1" indent="-273600" algn="just" defTabSz="1007943">
              <a:spcBef>
                <a:spcPts val="300"/>
              </a:spcBef>
              <a:buClr>
                <a:schemeClr val="accent3"/>
              </a:buClr>
              <a:buSzPct val="90000"/>
              <a:buFont typeface="Wingdings 3" panose="05040102010807070707" pitchFamily="18" charset="2"/>
              <a:buChar char=""/>
            </a:pPr>
            <a:endParaRPr lang="en-US" sz="1300" noProof="0" dirty="0">
              <a:solidFill>
                <a:schemeClr val="tx2"/>
              </a:solidFill>
              <a:latin typeface="+mj-lt"/>
            </a:endParaRPr>
          </a:p>
        </p:txBody>
      </p:sp>
      <p:sp>
        <p:nvSpPr>
          <p:cNvPr id="74" name="Rectangle 73">
            <a:extLst>
              <a:ext uri="{FF2B5EF4-FFF2-40B4-BE49-F238E27FC236}">
                <a16:creationId xmlns:a16="http://schemas.microsoft.com/office/drawing/2014/main" id="{BF686385-08D0-B6F5-084F-51BA0B70E9A7}"/>
              </a:ext>
            </a:extLst>
          </p:cNvPr>
          <p:cNvSpPr/>
          <p:nvPr/>
        </p:nvSpPr>
        <p:spPr>
          <a:xfrm>
            <a:off x="4526778" y="3151535"/>
            <a:ext cx="2736000" cy="1620000"/>
          </a:xfrm>
          <a:prstGeom prst="rect">
            <a:avLst/>
          </a:prstGeom>
          <a:solidFill>
            <a:srgbClr val="7C83C7">
              <a:alpha val="8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400" b="1" noProof="0" dirty="0">
                <a:solidFill>
                  <a:schemeClr val="bg1"/>
                </a:solidFill>
                <a:latin typeface="Nunito Sans" pitchFamily="2" charset="77"/>
              </a:rPr>
              <a:t>Portfolio Management</a:t>
            </a:r>
          </a:p>
          <a:p>
            <a:r>
              <a:rPr lang="en-US" sz="1100" noProof="0" dirty="0"/>
              <a:t>Head: Gianluca </a:t>
            </a:r>
            <a:r>
              <a:rPr lang="en-US" sz="1100" noProof="0" dirty="0" err="1"/>
              <a:t>Oderda</a:t>
            </a:r>
            <a:endParaRPr lang="en-US" sz="1100" noProof="0" dirty="0"/>
          </a:p>
          <a:p>
            <a:endParaRPr lang="en-US" sz="1200" noProof="0" dirty="0"/>
          </a:p>
          <a:p>
            <a:endParaRPr lang="en-US" sz="1200" noProof="0" dirty="0"/>
          </a:p>
          <a:p>
            <a:r>
              <a:rPr lang="en-US" sz="1200" noProof="0" dirty="0"/>
              <a:t> </a:t>
            </a:r>
          </a:p>
        </p:txBody>
      </p:sp>
      <p:sp>
        <p:nvSpPr>
          <p:cNvPr id="75" name="Rectangle 74">
            <a:extLst>
              <a:ext uri="{FF2B5EF4-FFF2-40B4-BE49-F238E27FC236}">
                <a16:creationId xmlns:a16="http://schemas.microsoft.com/office/drawing/2014/main" id="{3EAAF61D-C4EF-45DE-3045-534BEE9B9D0C}"/>
              </a:ext>
            </a:extLst>
          </p:cNvPr>
          <p:cNvSpPr/>
          <p:nvPr/>
        </p:nvSpPr>
        <p:spPr>
          <a:xfrm>
            <a:off x="4526779" y="4844615"/>
            <a:ext cx="2736000" cy="162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7938">
              <a:lnSpc>
                <a:spcPct val="100000"/>
              </a:lnSpc>
              <a:spcBef>
                <a:spcPts val="75"/>
              </a:spcBef>
            </a:pPr>
            <a:r>
              <a:rPr lang="en-US" sz="1400" b="1" spc="-5" noProof="0" dirty="0">
                <a:solidFill>
                  <a:schemeClr val="bg1"/>
                </a:solidFill>
                <a:latin typeface="Nunito Sans" pitchFamily="2" charset="77"/>
                <a:cs typeface="StoneSansITCStd SemiBold"/>
              </a:rPr>
              <a:t>Investment Advisory</a:t>
            </a:r>
          </a:p>
          <a:p>
            <a:pPr marL="7938">
              <a:spcBef>
                <a:spcPts val="75"/>
              </a:spcBef>
            </a:pPr>
            <a:r>
              <a:rPr lang="en-US" sz="1100" noProof="0" dirty="0"/>
              <a:t>Head: Gregory </a:t>
            </a:r>
            <a:r>
              <a:rPr lang="en-US" sz="1100" noProof="0" dirty="0" err="1"/>
              <a:t>Diche</a:t>
            </a:r>
            <a:endParaRPr lang="en-US" sz="1100" noProof="0" dirty="0"/>
          </a:p>
        </p:txBody>
      </p:sp>
      <p:sp>
        <p:nvSpPr>
          <p:cNvPr id="79" name="Rectangle 78">
            <a:extLst>
              <a:ext uri="{FF2B5EF4-FFF2-40B4-BE49-F238E27FC236}">
                <a16:creationId xmlns:a16="http://schemas.microsoft.com/office/drawing/2014/main" id="{BA7377E6-9607-5A0D-4BEA-FA08E19E2BD1}"/>
              </a:ext>
            </a:extLst>
          </p:cNvPr>
          <p:cNvSpPr/>
          <p:nvPr/>
        </p:nvSpPr>
        <p:spPr>
          <a:xfrm>
            <a:off x="7347393" y="3151535"/>
            <a:ext cx="2736000" cy="1631282"/>
          </a:xfrm>
          <a:prstGeom prst="rect">
            <a:avLst/>
          </a:prstGeom>
          <a:solidFill>
            <a:srgbClr val="FF6C0E">
              <a:alpha val="8117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400" b="1" noProof="0" dirty="0">
                <a:solidFill>
                  <a:schemeClr val="bg1"/>
                </a:solidFill>
                <a:latin typeface="Nunito Sans" pitchFamily="2" charset="77"/>
              </a:rPr>
              <a:t>Research</a:t>
            </a:r>
          </a:p>
          <a:p>
            <a:r>
              <a:rPr lang="en-US" sz="1100" noProof="0" dirty="0"/>
              <a:t>Asset-Class Head(s)</a:t>
            </a:r>
          </a:p>
          <a:p>
            <a:endParaRPr lang="en-US" sz="1400" b="1" noProof="0" dirty="0">
              <a:solidFill>
                <a:schemeClr val="bg1"/>
              </a:solidFill>
              <a:latin typeface="Nunito Sans" pitchFamily="2" charset="77"/>
            </a:endParaRPr>
          </a:p>
        </p:txBody>
      </p:sp>
      <p:sp>
        <p:nvSpPr>
          <p:cNvPr id="81" name="Rectangle 80">
            <a:extLst>
              <a:ext uri="{FF2B5EF4-FFF2-40B4-BE49-F238E27FC236}">
                <a16:creationId xmlns:a16="http://schemas.microsoft.com/office/drawing/2014/main" id="{4E98BC0F-35C8-96F0-30AC-EDB3F0E973B6}"/>
              </a:ext>
            </a:extLst>
          </p:cNvPr>
          <p:cNvSpPr/>
          <p:nvPr/>
        </p:nvSpPr>
        <p:spPr>
          <a:xfrm>
            <a:off x="7347393" y="4844615"/>
            <a:ext cx="2736000" cy="1620000"/>
          </a:xfrm>
          <a:prstGeom prst="rect">
            <a:avLst/>
          </a:prstGeom>
          <a:solidFill>
            <a:srgbClr val="B35DB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400" b="1" noProof="0" dirty="0">
                <a:solidFill>
                  <a:schemeClr val="bg1"/>
                </a:solidFill>
                <a:latin typeface="Nunito Sans" pitchFamily="2" charset="77"/>
              </a:rPr>
              <a:t>Trading Desk</a:t>
            </a:r>
          </a:p>
          <a:p>
            <a:r>
              <a:rPr lang="en-US" sz="1100" noProof="0" dirty="0"/>
              <a:t>Head: Christian </a:t>
            </a:r>
            <a:r>
              <a:rPr lang="en-US" sz="1100" noProof="0" dirty="0" err="1"/>
              <a:t>Aldenkortt</a:t>
            </a:r>
            <a:endParaRPr lang="en-US" sz="1100" noProof="0" dirty="0"/>
          </a:p>
          <a:p>
            <a:endParaRPr lang="en-US" sz="1400" b="1" noProof="0" dirty="0">
              <a:solidFill>
                <a:schemeClr val="bg1"/>
              </a:solidFill>
              <a:latin typeface="Nunito Sans" pitchFamily="2" charset="77"/>
            </a:endParaRPr>
          </a:p>
        </p:txBody>
      </p:sp>
      <p:sp>
        <p:nvSpPr>
          <p:cNvPr id="19" name="TextBox 18">
            <a:extLst>
              <a:ext uri="{FF2B5EF4-FFF2-40B4-BE49-F238E27FC236}">
                <a16:creationId xmlns:a16="http://schemas.microsoft.com/office/drawing/2014/main" id="{6C99E779-45AE-1C74-0D82-8D5BAD4F21F0}"/>
              </a:ext>
            </a:extLst>
          </p:cNvPr>
          <p:cNvSpPr txBox="1"/>
          <p:nvPr/>
        </p:nvSpPr>
        <p:spPr>
          <a:xfrm>
            <a:off x="4530894" y="3718755"/>
            <a:ext cx="2731884" cy="1052779"/>
          </a:xfrm>
          <a:prstGeom prst="rect">
            <a:avLst/>
          </a:prstGeom>
          <a:noFill/>
        </p:spPr>
        <p:txBody>
          <a:bodyPr vert="horz" wrap="square" lIns="72000" tIns="0" rIns="72000" bIns="0" numCol="2" rtlCol="0">
            <a:noAutofit/>
          </a:bodyPr>
          <a:lstStyle/>
          <a:p>
            <a:pPr marL="171450" indent="-171450">
              <a:spcBef>
                <a:spcPct val="0"/>
              </a:spcBef>
              <a:spcAft>
                <a:spcPts val="300"/>
              </a:spcAft>
              <a:buFont typeface="Arial" panose="020B0604020202020204" pitchFamily="34" charset="0"/>
              <a:buChar char="•"/>
            </a:pPr>
            <a:r>
              <a:rPr lang="en-US" sz="1050" noProof="0" dirty="0">
                <a:solidFill>
                  <a:schemeClr val="bg1"/>
                </a:solidFill>
              </a:rPr>
              <a:t>Portfolio construction</a:t>
            </a:r>
          </a:p>
          <a:p>
            <a:pPr marL="171450" indent="-171450">
              <a:spcBef>
                <a:spcPct val="0"/>
              </a:spcBef>
              <a:spcAft>
                <a:spcPts val="300"/>
              </a:spcAft>
              <a:buFont typeface="Arial" panose="020B0604020202020204" pitchFamily="34" charset="0"/>
              <a:buChar char="•"/>
            </a:pPr>
            <a:r>
              <a:rPr lang="en-US" sz="1050" noProof="0" dirty="0">
                <a:solidFill>
                  <a:schemeClr val="bg1"/>
                </a:solidFill>
              </a:rPr>
              <a:t>Asset allocation</a:t>
            </a:r>
          </a:p>
          <a:p>
            <a:pPr marL="171450" indent="-171450">
              <a:spcBef>
                <a:spcPct val="0"/>
              </a:spcBef>
              <a:spcAft>
                <a:spcPts val="300"/>
              </a:spcAft>
              <a:buFont typeface="Arial" panose="020B0604020202020204" pitchFamily="34" charset="0"/>
              <a:buChar char="•"/>
            </a:pPr>
            <a:r>
              <a:rPr lang="en-US" sz="1050" noProof="0" dirty="0">
                <a:solidFill>
                  <a:schemeClr val="bg1"/>
                </a:solidFill>
              </a:rPr>
              <a:t>Bespoke portfolio management</a:t>
            </a:r>
          </a:p>
          <a:p>
            <a:pPr marL="171450" indent="-171450">
              <a:spcBef>
                <a:spcPct val="0"/>
              </a:spcBef>
              <a:spcAft>
                <a:spcPts val="300"/>
              </a:spcAft>
              <a:buFont typeface="Arial" panose="020B0604020202020204" pitchFamily="34" charset="0"/>
              <a:buChar char="•"/>
            </a:pPr>
            <a:r>
              <a:rPr lang="en-US" sz="1050" noProof="0" dirty="0">
                <a:solidFill>
                  <a:schemeClr val="bg1"/>
                </a:solidFill>
              </a:rPr>
              <a:t>Actively managed certificates and funds  </a:t>
            </a:r>
          </a:p>
          <a:p>
            <a:pPr marL="171450" indent="-171450">
              <a:spcBef>
                <a:spcPct val="0"/>
              </a:spcBef>
              <a:spcAft>
                <a:spcPts val="300"/>
              </a:spcAft>
              <a:buFont typeface="Arial" panose="020B0604020202020204" pitchFamily="34" charset="0"/>
              <a:buChar char="•"/>
            </a:pPr>
            <a:r>
              <a:rPr lang="en-US" sz="1050" noProof="0" dirty="0">
                <a:solidFill>
                  <a:schemeClr val="bg1"/>
                </a:solidFill>
              </a:rPr>
              <a:t>Performance monitoring</a:t>
            </a:r>
          </a:p>
        </p:txBody>
      </p:sp>
      <p:sp>
        <p:nvSpPr>
          <p:cNvPr id="20" name="TextBox 19">
            <a:extLst>
              <a:ext uri="{FF2B5EF4-FFF2-40B4-BE49-F238E27FC236}">
                <a16:creationId xmlns:a16="http://schemas.microsoft.com/office/drawing/2014/main" id="{C014D47F-4C3F-CF73-3776-1F91A6412521}"/>
              </a:ext>
            </a:extLst>
          </p:cNvPr>
          <p:cNvSpPr txBox="1"/>
          <p:nvPr/>
        </p:nvSpPr>
        <p:spPr>
          <a:xfrm>
            <a:off x="4541314" y="5409601"/>
            <a:ext cx="2721464" cy="1052779"/>
          </a:xfrm>
          <a:prstGeom prst="rect">
            <a:avLst/>
          </a:prstGeom>
          <a:noFill/>
        </p:spPr>
        <p:txBody>
          <a:bodyPr vert="horz" wrap="square" lIns="72000" tIns="0" rIns="72000" bIns="0" numCol="2" rtlCol="0">
            <a:noAutofit/>
          </a:bodyPr>
          <a:lstStyle/>
          <a:p>
            <a:pPr marL="171450" indent="-171450">
              <a:spcBef>
                <a:spcPct val="0"/>
              </a:spcBef>
              <a:spcAft>
                <a:spcPts val="300"/>
              </a:spcAft>
              <a:buFont typeface="Arial" panose="020B0604020202020204" pitchFamily="34" charset="0"/>
              <a:buChar char="•"/>
            </a:pPr>
            <a:r>
              <a:rPr lang="en-US" sz="1050" noProof="0" dirty="0">
                <a:solidFill>
                  <a:schemeClr val="bg1"/>
                </a:solidFill>
              </a:rPr>
              <a:t>Multi-asset expertise</a:t>
            </a:r>
          </a:p>
          <a:p>
            <a:pPr marL="171450" indent="-171450">
              <a:spcAft>
                <a:spcPts val="300"/>
              </a:spcAft>
              <a:buFont typeface="Arial" panose="020B0604020202020204" pitchFamily="34" charset="0"/>
              <a:buChar char="•"/>
            </a:pPr>
            <a:r>
              <a:rPr lang="en-US" sz="1050" noProof="0" dirty="0">
                <a:solidFill>
                  <a:schemeClr val="bg1"/>
                </a:solidFill>
              </a:rPr>
              <a:t>Tailored investment strategies</a:t>
            </a:r>
          </a:p>
          <a:p>
            <a:pPr marL="171450" indent="-171450">
              <a:spcBef>
                <a:spcPct val="0"/>
              </a:spcBef>
              <a:spcAft>
                <a:spcPts val="300"/>
              </a:spcAft>
              <a:buFont typeface="Arial" panose="020B0604020202020204" pitchFamily="34" charset="0"/>
              <a:buChar char="•"/>
            </a:pPr>
            <a:endParaRPr lang="en-US" sz="1050" noProof="0" dirty="0">
              <a:solidFill>
                <a:schemeClr val="bg1"/>
              </a:solidFill>
            </a:endParaRPr>
          </a:p>
          <a:p>
            <a:pPr marL="171450" indent="-171450">
              <a:spcBef>
                <a:spcPct val="0"/>
              </a:spcBef>
              <a:spcAft>
                <a:spcPts val="300"/>
              </a:spcAft>
              <a:buFont typeface="Arial" panose="020B0604020202020204" pitchFamily="34" charset="0"/>
              <a:buChar char="•"/>
            </a:pPr>
            <a:r>
              <a:rPr lang="en-US" sz="1050" noProof="0" dirty="0">
                <a:solidFill>
                  <a:schemeClr val="bg1"/>
                </a:solidFill>
              </a:rPr>
              <a:t>Investment convictions </a:t>
            </a:r>
          </a:p>
          <a:p>
            <a:pPr marL="171450" indent="-171450">
              <a:spcBef>
                <a:spcPct val="0"/>
              </a:spcBef>
              <a:spcAft>
                <a:spcPts val="300"/>
              </a:spcAft>
              <a:buFont typeface="Arial" panose="020B0604020202020204" pitchFamily="34" charset="0"/>
              <a:buChar char="•"/>
            </a:pPr>
            <a:r>
              <a:rPr lang="en-US" sz="1050" noProof="0" dirty="0">
                <a:solidFill>
                  <a:schemeClr val="bg1"/>
                </a:solidFill>
              </a:rPr>
              <a:t>Proactive advice</a:t>
            </a:r>
          </a:p>
          <a:p>
            <a:pPr marL="171450" indent="-171450">
              <a:spcBef>
                <a:spcPct val="0"/>
              </a:spcBef>
              <a:spcAft>
                <a:spcPts val="300"/>
              </a:spcAft>
              <a:buFont typeface="Arial" panose="020B0604020202020204" pitchFamily="34" charset="0"/>
              <a:buChar char="•"/>
            </a:pPr>
            <a:r>
              <a:rPr lang="en-US" sz="1050" noProof="0" dirty="0">
                <a:solidFill>
                  <a:schemeClr val="bg1"/>
                </a:solidFill>
              </a:rPr>
              <a:t>Active monitoring</a:t>
            </a:r>
          </a:p>
        </p:txBody>
      </p:sp>
      <p:sp>
        <p:nvSpPr>
          <p:cNvPr id="21" name="TextBox 20">
            <a:extLst>
              <a:ext uri="{FF2B5EF4-FFF2-40B4-BE49-F238E27FC236}">
                <a16:creationId xmlns:a16="http://schemas.microsoft.com/office/drawing/2014/main" id="{65C0A57B-3319-761F-63C2-1D4F595EC14B}"/>
              </a:ext>
            </a:extLst>
          </p:cNvPr>
          <p:cNvSpPr txBox="1"/>
          <p:nvPr/>
        </p:nvSpPr>
        <p:spPr>
          <a:xfrm>
            <a:off x="7347392" y="3717861"/>
            <a:ext cx="2838599" cy="888087"/>
          </a:xfrm>
          <a:prstGeom prst="rect">
            <a:avLst/>
          </a:prstGeom>
          <a:noFill/>
        </p:spPr>
        <p:txBody>
          <a:bodyPr vert="horz" wrap="square" lIns="72000" tIns="0" rIns="72000" bIns="0" numCol="2" spcCol="36000" rtlCol="0">
            <a:noAutofit/>
          </a:bodyPr>
          <a:lstStyle/>
          <a:p>
            <a:pPr marL="171450" indent="-171450">
              <a:spcBef>
                <a:spcPct val="0"/>
              </a:spcBef>
              <a:spcAft>
                <a:spcPts val="300"/>
              </a:spcAft>
              <a:buFont typeface="Arial" panose="020B0604020202020204" pitchFamily="34" charset="0"/>
              <a:buChar char="•"/>
            </a:pPr>
            <a:r>
              <a:rPr lang="en-US" sz="1050" noProof="0" dirty="0">
                <a:solidFill>
                  <a:schemeClr val="bg1"/>
                </a:solidFill>
              </a:rPr>
              <a:t>Macro outlook &amp; thought leadership</a:t>
            </a:r>
          </a:p>
          <a:p>
            <a:pPr marL="171450" indent="-171450">
              <a:spcBef>
                <a:spcPct val="0"/>
              </a:spcBef>
              <a:spcAft>
                <a:spcPts val="300"/>
              </a:spcAft>
              <a:buFont typeface="Arial" panose="020B0604020202020204" pitchFamily="34" charset="0"/>
              <a:buChar char="•"/>
            </a:pPr>
            <a:r>
              <a:rPr lang="en-US" sz="1050" noProof="0" dirty="0">
                <a:solidFill>
                  <a:schemeClr val="bg1"/>
                </a:solidFill>
              </a:rPr>
              <a:t>Core Equites, Fixed Income, &amp; Funds</a:t>
            </a:r>
          </a:p>
          <a:p>
            <a:pPr marL="171450" indent="-171450">
              <a:spcAft>
                <a:spcPts val="300"/>
              </a:spcAft>
              <a:buFont typeface="Arial" panose="020B0604020202020204" pitchFamily="34" charset="0"/>
              <a:buChar char="•"/>
            </a:pPr>
            <a:r>
              <a:rPr lang="en-US" sz="1050" noProof="0" dirty="0">
                <a:solidFill>
                  <a:schemeClr val="bg1"/>
                </a:solidFill>
              </a:rPr>
              <a:t>Crypto-assets </a:t>
            </a:r>
          </a:p>
          <a:p>
            <a:pPr>
              <a:spcBef>
                <a:spcPct val="0"/>
              </a:spcBef>
              <a:spcAft>
                <a:spcPts val="300"/>
              </a:spcAft>
            </a:pPr>
            <a:endParaRPr lang="en-US" sz="1050" noProof="0" dirty="0">
              <a:solidFill>
                <a:schemeClr val="bg1"/>
              </a:solidFill>
            </a:endParaRPr>
          </a:p>
          <a:p>
            <a:pPr marL="171450" indent="-171450">
              <a:spcBef>
                <a:spcPct val="0"/>
              </a:spcBef>
              <a:spcAft>
                <a:spcPts val="300"/>
              </a:spcAft>
              <a:buFont typeface="Arial" panose="020B0604020202020204" pitchFamily="34" charset="0"/>
              <a:buChar char="•"/>
            </a:pPr>
            <a:r>
              <a:rPr lang="en-US" sz="1050" noProof="0" dirty="0">
                <a:solidFill>
                  <a:schemeClr val="bg1"/>
                </a:solidFill>
              </a:rPr>
              <a:t>Alternatives - Private Market, Hedge Funds</a:t>
            </a:r>
          </a:p>
          <a:p>
            <a:pPr marL="171450" indent="-171450">
              <a:spcAft>
                <a:spcPts val="300"/>
              </a:spcAft>
              <a:buFont typeface="Arial" panose="020B0604020202020204" pitchFamily="34" charset="0"/>
              <a:buChar char="•"/>
            </a:pPr>
            <a:r>
              <a:rPr lang="en-US" sz="1050" noProof="0" dirty="0">
                <a:solidFill>
                  <a:schemeClr val="bg1"/>
                </a:solidFill>
              </a:rPr>
              <a:t>Thematic ideas</a:t>
            </a:r>
          </a:p>
          <a:p>
            <a:pPr>
              <a:spcBef>
                <a:spcPct val="0"/>
              </a:spcBef>
              <a:spcAft>
                <a:spcPts val="300"/>
              </a:spcAft>
            </a:pPr>
            <a:endParaRPr lang="en-US" sz="1050" noProof="0" dirty="0">
              <a:solidFill>
                <a:schemeClr val="bg1"/>
              </a:solidFill>
            </a:endParaRPr>
          </a:p>
          <a:p>
            <a:pPr marL="171450" indent="-171450">
              <a:spcBef>
                <a:spcPct val="0"/>
              </a:spcBef>
              <a:spcAft>
                <a:spcPts val="300"/>
              </a:spcAft>
              <a:buFont typeface="Arial" panose="020B0604020202020204" pitchFamily="34" charset="0"/>
              <a:buChar char="•"/>
            </a:pPr>
            <a:endParaRPr lang="en-US" sz="1050" noProof="0" dirty="0">
              <a:solidFill>
                <a:schemeClr val="bg1"/>
              </a:solidFill>
            </a:endParaRPr>
          </a:p>
        </p:txBody>
      </p:sp>
      <p:sp>
        <p:nvSpPr>
          <p:cNvPr id="22" name="TextBox 21">
            <a:extLst>
              <a:ext uri="{FF2B5EF4-FFF2-40B4-BE49-F238E27FC236}">
                <a16:creationId xmlns:a16="http://schemas.microsoft.com/office/drawing/2014/main" id="{7FF2A629-89A6-989C-4440-84B7895474AB}"/>
              </a:ext>
            </a:extLst>
          </p:cNvPr>
          <p:cNvSpPr txBox="1"/>
          <p:nvPr/>
        </p:nvSpPr>
        <p:spPr>
          <a:xfrm>
            <a:off x="7347392" y="5381111"/>
            <a:ext cx="2715772" cy="1026433"/>
          </a:xfrm>
          <a:prstGeom prst="rect">
            <a:avLst/>
          </a:prstGeom>
          <a:noFill/>
        </p:spPr>
        <p:txBody>
          <a:bodyPr vert="horz" wrap="square" lIns="72000" tIns="0" rIns="72000" bIns="0" numCol="2" spcCol="108000" rtlCol="0">
            <a:noAutofit/>
          </a:bodyPr>
          <a:lstStyle/>
          <a:p>
            <a:pPr marL="171450" indent="-171450">
              <a:spcBef>
                <a:spcPct val="0"/>
              </a:spcBef>
              <a:spcAft>
                <a:spcPts val="300"/>
              </a:spcAft>
              <a:buFont typeface="Arial" panose="020B0604020202020204" pitchFamily="34" charset="0"/>
              <a:buChar char="•"/>
            </a:pPr>
            <a:r>
              <a:rPr lang="en-US" sz="1050" noProof="0" dirty="0">
                <a:solidFill>
                  <a:schemeClr val="bg1"/>
                </a:solidFill>
              </a:rPr>
              <a:t>US &amp; UK/Europe Trading hours</a:t>
            </a:r>
          </a:p>
          <a:p>
            <a:pPr marL="171450" indent="-171450">
              <a:spcBef>
                <a:spcPct val="0"/>
              </a:spcBef>
              <a:spcAft>
                <a:spcPts val="300"/>
              </a:spcAft>
              <a:buFont typeface="Arial" panose="020B0604020202020204" pitchFamily="34" charset="0"/>
              <a:buChar char="•"/>
            </a:pPr>
            <a:r>
              <a:rPr lang="en-US" sz="1050" noProof="0" dirty="0">
                <a:solidFill>
                  <a:schemeClr val="bg1"/>
                </a:solidFill>
              </a:rPr>
              <a:t>Direct Access</a:t>
            </a:r>
          </a:p>
          <a:p>
            <a:pPr marL="171450" indent="-171450">
              <a:spcBef>
                <a:spcPct val="0"/>
              </a:spcBef>
              <a:spcAft>
                <a:spcPts val="300"/>
              </a:spcAft>
              <a:buFont typeface="Arial" panose="020B0604020202020204" pitchFamily="34" charset="0"/>
              <a:buChar char="•"/>
            </a:pPr>
            <a:r>
              <a:rPr lang="en-US" sz="1050" noProof="0" dirty="0">
                <a:solidFill>
                  <a:schemeClr val="bg1"/>
                </a:solidFill>
              </a:rPr>
              <a:t>FX expertise &amp; narrow spreads</a:t>
            </a:r>
          </a:p>
          <a:p>
            <a:pPr marL="171450" indent="-171450">
              <a:spcBef>
                <a:spcPct val="0"/>
              </a:spcBef>
              <a:spcAft>
                <a:spcPts val="300"/>
              </a:spcAft>
              <a:buFont typeface="Arial" panose="020B0604020202020204" pitchFamily="34" charset="0"/>
              <a:buChar char="•"/>
            </a:pPr>
            <a:endParaRPr lang="en-US" sz="1050" noProof="0" dirty="0">
              <a:solidFill>
                <a:schemeClr val="bg1"/>
              </a:solidFill>
            </a:endParaRPr>
          </a:p>
          <a:p>
            <a:pPr marL="171450" indent="-171450">
              <a:spcBef>
                <a:spcPct val="0"/>
              </a:spcBef>
              <a:spcAft>
                <a:spcPts val="300"/>
              </a:spcAft>
              <a:buFont typeface="Arial" panose="020B0604020202020204" pitchFamily="34" charset="0"/>
              <a:buChar char="•"/>
            </a:pPr>
            <a:endParaRPr lang="en-US" sz="1050" noProof="0" dirty="0">
              <a:solidFill>
                <a:schemeClr val="bg1"/>
              </a:solidFill>
            </a:endParaRPr>
          </a:p>
          <a:p>
            <a:pPr marL="171450" indent="-171450">
              <a:spcBef>
                <a:spcPct val="0"/>
              </a:spcBef>
              <a:spcAft>
                <a:spcPts val="300"/>
              </a:spcAft>
              <a:buFont typeface="Arial" panose="020B0604020202020204" pitchFamily="34" charset="0"/>
              <a:buChar char="•"/>
            </a:pPr>
            <a:r>
              <a:rPr lang="en-US" sz="1050" noProof="0" dirty="0">
                <a:solidFill>
                  <a:schemeClr val="bg1"/>
                </a:solidFill>
              </a:rPr>
              <a:t>Wide connected  network with brokers</a:t>
            </a:r>
          </a:p>
          <a:p>
            <a:pPr marL="171450" indent="-171450">
              <a:spcBef>
                <a:spcPct val="0"/>
              </a:spcBef>
              <a:spcAft>
                <a:spcPts val="300"/>
              </a:spcAft>
              <a:buFont typeface="Arial" panose="020B0604020202020204" pitchFamily="34" charset="0"/>
              <a:buChar char="•"/>
            </a:pPr>
            <a:r>
              <a:rPr lang="en-US" sz="1050" noProof="0" dirty="0">
                <a:solidFill>
                  <a:schemeClr val="bg1"/>
                </a:solidFill>
              </a:rPr>
              <a:t>New bond issues, IPOs and SPACs</a:t>
            </a:r>
          </a:p>
          <a:p>
            <a:pPr marL="171450" indent="-171450">
              <a:spcBef>
                <a:spcPct val="0"/>
              </a:spcBef>
              <a:spcAft>
                <a:spcPts val="300"/>
              </a:spcAft>
              <a:buFont typeface="Arial" panose="020B0604020202020204" pitchFamily="34" charset="0"/>
              <a:buChar char="•"/>
            </a:pPr>
            <a:endParaRPr lang="en-US" sz="1050" noProof="0" dirty="0">
              <a:solidFill>
                <a:schemeClr val="bg1"/>
              </a:solidFill>
            </a:endParaRPr>
          </a:p>
        </p:txBody>
      </p:sp>
      <p:sp>
        <p:nvSpPr>
          <p:cNvPr id="24" name="Rectangle 23">
            <a:extLst>
              <a:ext uri="{FF2B5EF4-FFF2-40B4-BE49-F238E27FC236}">
                <a16:creationId xmlns:a16="http://schemas.microsoft.com/office/drawing/2014/main" id="{073BFAF9-E804-9F60-DD65-D6CC4B3C5730}"/>
              </a:ext>
            </a:extLst>
          </p:cNvPr>
          <p:cNvSpPr/>
          <p:nvPr/>
        </p:nvSpPr>
        <p:spPr>
          <a:xfrm>
            <a:off x="4526778" y="2603580"/>
            <a:ext cx="5556615" cy="490884"/>
          </a:xfrm>
          <a:prstGeom prst="rect">
            <a:avLst/>
          </a:prstGeom>
          <a:solidFill>
            <a:srgbClr val="FFC54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100000"/>
              </a:lnSpc>
              <a:spcBef>
                <a:spcPts val="100"/>
              </a:spcBef>
            </a:pPr>
            <a:r>
              <a:rPr lang="en-US" sz="1400" b="1" noProof="0" dirty="0">
                <a:solidFill>
                  <a:srgbClr val="FFFFFF"/>
                </a:solidFill>
                <a:latin typeface="Nunito Sans" pitchFamily="2" charset="77"/>
                <a:cs typeface="StoneSansITCStd SemiBold"/>
              </a:rPr>
              <a:t>Charles-Henry Monchau</a:t>
            </a:r>
          </a:p>
          <a:p>
            <a:pPr algn="ctr">
              <a:lnSpc>
                <a:spcPct val="100000"/>
              </a:lnSpc>
              <a:spcBef>
                <a:spcPts val="100"/>
              </a:spcBef>
            </a:pPr>
            <a:r>
              <a:rPr lang="en-US" sz="1100" noProof="0" dirty="0">
                <a:solidFill>
                  <a:srgbClr val="FFFFFF"/>
                </a:solidFill>
                <a:latin typeface="Nunito Sans" pitchFamily="2" charset="77"/>
                <a:cs typeface="StoneSansITCStd SemiBold"/>
              </a:rPr>
              <a:t>Chief Investment Officer</a:t>
            </a:r>
            <a:endParaRPr lang="en-US" sz="1400" noProof="0" dirty="0">
              <a:solidFill>
                <a:srgbClr val="FFFFFF"/>
              </a:solidFill>
              <a:latin typeface="Nunito Sans" pitchFamily="2" charset="77"/>
              <a:cs typeface="StoneSansITCStd SemiBold"/>
            </a:endParaRPr>
          </a:p>
        </p:txBody>
      </p:sp>
      <p:sp>
        <p:nvSpPr>
          <p:cNvPr id="3" name="Arc 2">
            <a:extLst>
              <a:ext uri="{FF2B5EF4-FFF2-40B4-BE49-F238E27FC236}">
                <a16:creationId xmlns:a16="http://schemas.microsoft.com/office/drawing/2014/main" id="{6F355D81-5DFB-BBE1-79DD-9C0544BC4374}"/>
              </a:ext>
            </a:extLst>
          </p:cNvPr>
          <p:cNvSpPr/>
          <p:nvPr/>
        </p:nvSpPr>
        <p:spPr>
          <a:xfrm>
            <a:off x="1690577" y="3937366"/>
            <a:ext cx="1620000" cy="1620000"/>
          </a:xfrm>
          <a:prstGeom prst="arc">
            <a:avLst>
              <a:gd name="adj1" fmla="val 16335625"/>
              <a:gd name="adj2" fmla="val 5284038"/>
            </a:avLst>
          </a:prstGeom>
          <a:ln w="1270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9A1906D2-01B9-4C01-0FB4-96CF3CEF60F9}"/>
              </a:ext>
            </a:extLst>
          </p:cNvPr>
          <p:cNvSpPr/>
          <p:nvPr/>
        </p:nvSpPr>
        <p:spPr>
          <a:xfrm>
            <a:off x="1592167" y="2824241"/>
            <a:ext cx="1837223" cy="748905"/>
          </a:xfrm>
          <a:prstGeom prst="rect">
            <a:avLst/>
          </a:prstGeom>
          <a:noFill/>
        </p:spPr>
        <p:txBody>
          <a:bodyPr wrap="none" lIns="91440" tIns="45720" rIns="91440" bIns="45720">
            <a:prstTxWarp prst="textArchUp">
              <a:avLst>
                <a:gd name="adj" fmla="val 11737872"/>
              </a:avLst>
            </a:prstTxWarp>
            <a:spAutoFit/>
          </a:bodyPr>
          <a:lstStyle/>
          <a:p>
            <a:pPr algn="ctr"/>
            <a:r>
              <a:rPr lang="en-US" sz="1400" b="1" cap="none" spc="0" noProof="0" dirty="0">
                <a:ln w="0"/>
                <a:solidFill>
                  <a:schemeClr val="bg1"/>
                </a:solidFill>
                <a:effectLst>
                  <a:outerShdw blurRad="38100" dist="19050" dir="2700000" algn="tl" rotWithShape="0">
                    <a:schemeClr val="dk1">
                      <a:alpha val="40000"/>
                    </a:schemeClr>
                  </a:outerShdw>
                </a:effectLst>
              </a:rPr>
              <a:t>CIO House View</a:t>
            </a:r>
          </a:p>
        </p:txBody>
      </p:sp>
      <p:grpSp>
        <p:nvGrpSpPr>
          <p:cNvPr id="68" name="Group 67">
            <a:extLst>
              <a:ext uri="{FF2B5EF4-FFF2-40B4-BE49-F238E27FC236}">
                <a16:creationId xmlns:a16="http://schemas.microsoft.com/office/drawing/2014/main" id="{330EC435-20AD-57ED-788D-51B77829F2A3}"/>
              </a:ext>
            </a:extLst>
          </p:cNvPr>
          <p:cNvGrpSpPr/>
          <p:nvPr/>
        </p:nvGrpSpPr>
        <p:grpSpPr>
          <a:xfrm>
            <a:off x="2136277" y="4512305"/>
            <a:ext cx="759080" cy="783882"/>
            <a:chOff x="2099254" y="4178377"/>
            <a:chExt cx="759080" cy="783882"/>
          </a:xfrm>
        </p:grpSpPr>
        <p:grpSp>
          <p:nvGrpSpPr>
            <p:cNvPr id="67" name="Group 66">
              <a:extLst>
                <a:ext uri="{FF2B5EF4-FFF2-40B4-BE49-F238E27FC236}">
                  <a16:creationId xmlns:a16="http://schemas.microsoft.com/office/drawing/2014/main" id="{844EBF41-9CDE-780E-AF62-85CE229D4C82}"/>
                </a:ext>
              </a:extLst>
            </p:cNvPr>
            <p:cNvGrpSpPr/>
            <p:nvPr/>
          </p:nvGrpSpPr>
          <p:grpSpPr>
            <a:xfrm>
              <a:off x="2262794" y="4178377"/>
              <a:ext cx="432000" cy="462775"/>
              <a:chOff x="2262794" y="4178377"/>
              <a:chExt cx="432000" cy="462775"/>
            </a:xfrm>
          </p:grpSpPr>
          <p:sp>
            <p:nvSpPr>
              <p:cNvPr id="66" name="Oval 65">
                <a:extLst>
                  <a:ext uri="{FF2B5EF4-FFF2-40B4-BE49-F238E27FC236}">
                    <a16:creationId xmlns:a16="http://schemas.microsoft.com/office/drawing/2014/main" id="{4B661A49-9A98-520E-73F1-A3428076CA0C}"/>
                  </a:ext>
                </a:extLst>
              </p:cNvPr>
              <p:cNvSpPr/>
              <p:nvPr/>
            </p:nvSpPr>
            <p:spPr>
              <a:xfrm>
                <a:off x="2298794" y="4178377"/>
                <a:ext cx="360000" cy="36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9" name="object 19">
                <a:extLst>
                  <a:ext uri="{FF2B5EF4-FFF2-40B4-BE49-F238E27FC236}">
                    <a16:creationId xmlns:a16="http://schemas.microsoft.com/office/drawing/2014/main" id="{9076CDBE-397B-E367-6EB2-B4A2E88B3847}"/>
                  </a:ext>
                </a:extLst>
              </p:cNvPr>
              <p:cNvPicPr/>
              <p:nvPr/>
            </p:nvPicPr>
            <p:blipFill>
              <a:blip r:embed="rId5"/>
              <a:stretch>
                <a:fillRect/>
              </a:stretch>
            </p:blipFill>
            <p:spPr>
              <a:xfrm>
                <a:off x="2262794" y="4209152"/>
                <a:ext cx="432000" cy="432000"/>
              </a:xfrm>
              <a:prstGeom prst="rect">
                <a:avLst/>
              </a:prstGeom>
              <a:noFill/>
            </p:spPr>
          </p:pic>
        </p:grpSp>
        <p:sp>
          <p:nvSpPr>
            <p:cNvPr id="18" name="TextBox 17">
              <a:extLst>
                <a:ext uri="{FF2B5EF4-FFF2-40B4-BE49-F238E27FC236}">
                  <a16:creationId xmlns:a16="http://schemas.microsoft.com/office/drawing/2014/main" id="{3964325D-73AD-1099-7B29-270D94DAEFD9}"/>
                </a:ext>
              </a:extLst>
            </p:cNvPr>
            <p:cNvSpPr txBox="1"/>
            <p:nvPr/>
          </p:nvSpPr>
          <p:spPr>
            <a:xfrm>
              <a:off x="2099254" y="4652105"/>
              <a:ext cx="759080" cy="310154"/>
            </a:xfrm>
            <a:prstGeom prst="rect">
              <a:avLst/>
            </a:prstGeom>
            <a:noFill/>
          </p:spPr>
          <p:txBody>
            <a:bodyPr vert="horz" wrap="square" lIns="0" tIns="0" rIns="0" bIns="0" rtlCol="0">
              <a:noAutofit/>
            </a:bodyPr>
            <a:lstStyle/>
            <a:p>
              <a:pPr algn="ctr"/>
              <a:r>
                <a:rPr lang="en-US" sz="1000" b="1" noProof="0" dirty="0">
                  <a:solidFill>
                    <a:srgbClr val="FF8300"/>
                  </a:solidFill>
                </a:rPr>
                <a:t>You</a:t>
              </a:r>
            </a:p>
          </p:txBody>
        </p:sp>
      </p:grpSp>
      <p:grpSp>
        <p:nvGrpSpPr>
          <p:cNvPr id="65" name="Group 64">
            <a:extLst>
              <a:ext uri="{FF2B5EF4-FFF2-40B4-BE49-F238E27FC236}">
                <a16:creationId xmlns:a16="http://schemas.microsoft.com/office/drawing/2014/main" id="{1EE1B88E-D547-12BD-F81A-CC99304E4D73}"/>
              </a:ext>
            </a:extLst>
          </p:cNvPr>
          <p:cNvGrpSpPr/>
          <p:nvPr/>
        </p:nvGrpSpPr>
        <p:grpSpPr>
          <a:xfrm>
            <a:off x="1374100" y="4440305"/>
            <a:ext cx="759080" cy="704947"/>
            <a:chOff x="1337077" y="4106377"/>
            <a:chExt cx="759080" cy="704947"/>
          </a:xfrm>
        </p:grpSpPr>
        <p:grpSp>
          <p:nvGrpSpPr>
            <p:cNvPr id="64" name="Group 63">
              <a:extLst>
                <a:ext uri="{FF2B5EF4-FFF2-40B4-BE49-F238E27FC236}">
                  <a16:creationId xmlns:a16="http://schemas.microsoft.com/office/drawing/2014/main" id="{69ED6D15-486E-49FF-BFF4-44ED78F64F29}"/>
                </a:ext>
              </a:extLst>
            </p:cNvPr>
            <p:cNvGrpSpPr/>
            <p:nvPr/>
          </p:nvGrpSpPr>
          <p:grpSpPr>
            <a:xfrm>
              <a:off x="1500617" y="4106377"/>
              <a:ext cx="432000" cy="432000"/>
              <a:chOff x="1500617" y="4106377"/>
              <a:chExt cx="432000" cy="432000"/>
            </a:xfrm>
          </p:grpSpPr>
          <p:sp>
            <p:nvSpPr>
              <p:cNvPr id="53" name="Oval 52">
                <a:extLst>
                  <a:ext uri="{FF2B5EF4-FFF2-40B4-BE49-F238E27FC236}">
                    <a16:creationId xmlns:a16="http://schemas.microsoft.com/office/drawing/2014/main" id="{1A96322A-9ABB-D9EF-EC8C-1065DA988AB9}"/>
                  </a:ext>
                </a:extLst>
              </p:cNvPr>
              <p:cNvSpPr/>
              <p:nvPr/>
            </p:nvSpPr>
            <p:spPr>
              <a:xfrm>
                <a:off x="1500617" y="4106377"/>
                <a:ext cx="432000" cy="43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grpSp>
            <p:nvGrpSpPr>
              <p:cNvPr id="54" name="Graphic 16" descr="User with solid fill">
                <a:extLst>
                  <a:ext uri="{FF2B5EF4-FFF2-40B4-BE49-F238E27FC236}">
                    <a16:creationId xmlns:a16="http://schemas.microsoft.com/office/drawing/2014/main" id="{2178F2A0-9F85-50D9-A83B-233A8595BD4E}"/>
                  </a:ext>
                </a:extLst>
              </p:cNvPr>
              <p:cNvGrpSpPr/>
              <p:nvPr/>
            </p:nvGrpSpPr>
            <p:grpSpPr>
              <a:xfrm>
                <a:off x="1572617" y="4178377"/>
                <a:ext cx="288000" cy="288000"/>
                <a:chOff x="3230775" y="4182439"/>
                <a:chExt cx="303371" cy="322332"/>
              </a:xfrm>
              <a:solidFill>
                <a:schemeClr val="accent2"/>
              </a:solidFill>
            </p:grpSpPr>
            <p:sp>
              <p:nvSpPr>
                <p:cNvPr id="55" name="Freeform: Shape 54">
                  <a:extLst>
                    <a:ext uri="{FF2B5EF4-FFF2-40B4-BE49-F238E27FC236}">
                      <a16:creationId xmlns:a16="http://schemas.microsoft.com/office/drawing/2014/main" id="{BD85997E-3645-AA02-3FE4-2759F5F81D7B}"/>
                    </a:ext>
                  </a:extLst>
                </p:cNvPr>
                <p:cNvSpPr/>
                <p:nvPr/>
              </p:nvSpPr>
              <p:spPr>
                <a:xfrm>
                  <a:off x="3306618" y="4182439"/>
                  <a:ext cx="151685" cy="151685"/>
                </a:xfrm>
                <a:custGeom>
                  <a:avLst/>
                  <a:gdLst>
                    <a:gd name="connsiteX0" fmla="*/ 151686 w 151685"/>
                    <a:gd name="connsiteY0" fmla="*/ 75843 h 151685"/>
                    <a:gd name="connsiteX1" fmla="*/ 75843 w 151685"/>
                    <a:gd name="connsiteY1" fmla="*/ 151686 h 151685"/>
                    <a:gd name="connsiteX2" fmla="*/ 0 w 151685"/>
                    <a:gd name="connsiteY2" fmla="*/ 75843 h 151685"/>
                    <a:gd name="connsiteX3" fmla="*/ 75843 w 151685"/>
                    <a:gd name="connsiteY3" fmla="*/ 0 h 151685"/>
                    <a:gd name="connsiteX4" fmla="*/ 151686 w 151685"/>
                    <a:gd name="connsiteY4" fmla="*/ 75843 h 1516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685" h="151685">
                      <a:moveTo>
                        <a:pt x="151686" y="75843"/>
                      </a:moveTo>
                      <a:cubicBezTo>
                        <a:pt x="151686" y="117730"/>
                        <a:pt x="117730" y="151686"/>
                        <a:pt x="75843" y="151686"/>
                      </a:cubicBezTo>
                      <a:cubicBezTo>
                        <a:pt x="33956" y="151686"/>
                        <a:pt x="0" y="117730"/>
                        <a:pt x="0" y="75843"/>
                      </a:cubicBezTo>
                      <a:cubicBezTo>
                        <a:pt x="0" y="33956"/>
                        <a:pt x="33956" y="0"/>
                        <a:pt x="75843" y="0"/>
                      </a:cubicBezTo>
                      <a:cubicBezTo>
                        <a:pt x="117730" y="0"/>
                        <a:pt x="151686" y="33956"/>
                        <a:pt x="151686" y="75843"/>
                      </a:cubicBezTo>
                      <a:close/>
                    </a:path>
                  </a:pathLst>
                </a:custGeom>
                <a:solidFill>
                  <a:srgbClr val="00CEB0"/>
                </a:solidFill>
                <a:ln w="4663" cap="flat">
                  <a:noFill/>
                  <a:prstDash val="solid"/>
                  <a:miter/>
                </a:ln>
              </p:spPr>
              <p:txBody>
                <a:bodyPr rtlCol="0" anchor="ctr"/>
                <a:lstStyle/>
                <a:p>
                  <a:endParaRPr lang="en-US" noProof="0" dirty="0"/>
                </a:p>
              </p:txBody>
            </p:sp>
            <p:sp>
              <p:nvSpPr>
                <p:cNvPr id="56" name="Freeform: Shape 55">
                  <a:extLst>
                    <a:ext uri="{FF2B5EF4-FFF2-40B4-BE49-F238E27FC236}">
                      <a16:creationId xmlns:a16="http://schemas.microsoft.com/office/drawing/2014/main" id="{3BB99D00-AE02-0E85-D58A-5700CE9AB002}"/>
                    </a:ext>
                  </a:extLst>
                </p:cNvPr>
                <p:cNvSpPr/>
                <p:nvPr/>
              </p:nvSpPr>
              <p:spPr>
                <a:xfrm>
                  <a:off x="3230775" y="4353085"/>
                  <a:ext cx="303371" cy="151685"/>
                </a:xfrm>
                <a:custGeom>
                  <a:avLst/>
                  <a:gdLst>
                    <a:gd name="connsiteX0" fmla="*/ 303371 w 303371"/>
                    <a:gd name="connsiteY0" fmla="*/ 151686 h 151685"/>
                    <a:gd name="connsiteX1" fmla="*/ 303371 w 303371"/>
                    <a:gd name="connsiteY1" fmla="*/ 75843 h 151685"/>
                    <a:gd name="connsiteX2" fmla="*/ 288203 w 303371"/>
                    <a:gd name="connsiteY2" fmla="*/ 45506 h 151685"/>
                    <a:gd name="connsiteX3" fmla="*/ 214256 w 303371"/>
                    <a:gd name="connsiteY3" fmla="*/ 9480 h 151685"/>
                    <a:gd name="connsiteX4" fmla="*/ 151686 w 303371"/>
                    <a:gd name="connsiteY4" fmla="*/ 0 h 151685"/>
                    <a:gd name="connsiteX5" fmla="*/ 89115 w 303371"/>
                    <a:gd name="connsiteY5" fmla="*/ 9480 h 151685"/>
                    <a:gd name="connsiteX6" fmla="*/ 15169 w 303371"/>
                    <a:gd name="connsiteY6" fmla="*/ 45506 h 151685"/>
                    <a:gd name="connsiteX7" fmla="*/ 0 w 303371"/>
                    <a:gd name="connsiteY7" fmla="*/ 75843 h 151685"/>
                    <a:gd name="connsiteX8" fmla="*/ 0 w 303371"/>
                    <a:gd name="connsiteY8" fmla="*/ 151686 h 151685"/>
                    <a:gd name="connsiteX9" fmla="*/ 303371 w 303371"/>
                    <a:gd name="connsiteY9" fmla="*/ 151686 h 151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371" h="151685">
                      <a:moveTo>
                        <a:pt x="303371" y="151686"/>
                      </a:moveTo>
                      <a:lnTo>
                        <a:pt x="303371" y="75843"/>
                      </a:lnTo>
                      <a:cubicBezTo>
                        <a:pt x="303371" y="64466"/>
                        <a:pt x="297683" y="53090"/>
                        <a:pt x="288203" y="45506"/>
                      </a:cubicBezTo>
                      <a:cubicBezTo>
                        <a:pt x="267346" y="28441"/>
                        <a:pt x="240801" y="17065"/>
                        <a:pt x="214256" y="9480"/>
                      </a:cubicBezTo>
                      <a:cubicBezTo>
                        <a:pt x="195295" y="3792"/>
                        <a:pt x="174439" y="0"/>
                        <a:pt x="151686" y="0"/>
                      </a:cubicBezTo>
                      <a:cubicBezTo>
                        <a:pt x="130829" y="0"/>
                        <a:pt x="109972" y="3792"/>
                        <a:pt x="89115" y="9480"/>
                      </a:cubicBezTo>
                      <a:cubicBezTo>
                        <a:pt x="62570" y="17065"/>
                        <a:pt x="36025" y="30337"/>
                        <a:pt x="15169" y="45506"/>
                      </a:cubicBezTo>
                      <a:cubicBezTo>
                        <a:pt x="5688" y="53090"/>
                        <a:pt x="0" y="64466"/>
                        <a:pt x="0" y="75843"/>
                      </a:cubicBezTo>
                      <a:lnTo>
                        <a:pt x="0" y="151686"/>
                      </a:lnTo>
                      <a:lnTo>
                        <a:pt x="303371" y="151686"/>
                      </a:lnTo>
                      <a:close/>
                    </a:path>
                  </a:pathLst>
                </a:custGeom>
                <a:solidFill>
                  <a:srgbClr val="00CEB0"/>
                </a:solidFill>
                <a:ln w="4663" cap="flat">
                  <a:noFill/>
                  <a:prstDash val="solid"/>
                  <a:miter/>
                </a:ln>
              </p:spPr>
              <p:txBody>
                <a:bodyPr rtlCol="0" anchor="ctr"/>
                <a:lstStyle/>
                <a:p>
                  <a:endParaRPr lang="en-US" noProof="0" dirty="0"/>
                </a:p>
              </p:txBody>
            </p:sp>
          </p:grpSp>
        </p:grpSp>
        <p:sp>
          <p:nvSpPr>
            <p:cNvPr id="14" name="TextBox 13">
              <a:extLst>
                <a:ext uri="{FF2B5EF4-FFF2-40B4-BE49-F238E27FC236}">
                  <a16:creationId xmlns:a16="http://schemas.microsoft.com/office/drawing/2014/main" id="{B61868B7-B084-8741-7A07-058E31954950}"/>
                </a:ext>
              </a:extLst>
            </p:cNvPr>
            <p:cNvSpPr txBox="1"/>
            <p:nvPr/>
          </p:nvSpPr>
          <p:spPr>
            <a:xfrm>
              <a:off x="1337077" y="4501170"/>
              <a:ext cx="759080" cy="310154"/>
            </a:xfrm>
            <a:prstGeom prst="rect">
              <a:avLst/>
            </a:prstGeom>
            <a:solidFill>
              <a:schemeClr val="bg1"/>
            </a:solidFill>
          </p:spPr>
          <p:txBody>
            <a:bodyPr vert="horz" wrap="square" lIns="0" tIns="0" rIns="0" bIns="0" rtlCol="0">
              <a:noAutofit/>
            </a:bodyPr>
            <a:lstStyle/>
            <a:p>
              <a:pPr algn="ctr"/>
              <a:r>
                <a:rPr lang="en-US" sz="800" b="1" noProof="0" dirty="0">
                  <a:solidFill>
                    <a:srgbClr val="00CEB0"/>
                  </a:solidFill>
                </a:rPr>
                <a:t>Relationship Manager</a:t>
              </a:r>
            </a:p>
          </p:txBody>
        </p:sp>
      </p:grpSp>
      <p:grpSp>
        <p:nvGrpSpPr>
          <p:cNvPr id="61" name="Group 60">
            <a:extLst>
              <a:ext uri="{FF2B5EF4-FFF2-40B4-BE49-F238E27FC236}">
                <a16:creationId xmlns:a16="http://schemas.microsoft.com/office/drawing/2014/main" id="{6AEB82F2-CC16-A22D-5CDD-C599CB83E9E4}"/>
              </a:ext>
            </a:extLst>
          </p:cNvPr>
          <p:cNvGrpSpPr/>
          <p:nvPr/>
        </p:nvGrpSpPr>
        <p:grpSpPr>
          <a:xfrm>
            <a:off x="2893305" y="4431986"/>
            <a:ext cx="759080" cy="704947"/>
            <a:chOff x="2856282" y="4098058"/>
            <a:chExt cx="759080" cy="704947"/>
          </a:xfrm>
        </p:grpSpPr>
        <p:grpSp>
          <p:nvGrpSpPr>
            <p:cNvPr id="51" name="Group 50">
              <a:extLst>
                <a:ext uri="{FF2B5EF4-FFF2-40B4-BE49-F238E27FC236}">
                  <a16:creationId xmlns:a16="http://schemas.microsoft.com/office/drawing/2014/main" id="{2A5261B3-F8DA-F0F1-D929-3369123B0808}"/>
                </a:ext>
              </a:extLst>
            </p:cNvPr>
            <p:cNvGrpSpPr/>
            <p:nvPr/>
          </p:nvGrpSpPr>
          <p:grpSpPr>
            <a:xfrm>
              <a:off x="3019822" y="4098058"/>
              <a:ext cx="432000" cy="432000"/>
              <a:chOff x="6577112" y="3042950"/>
              <a:chExt cx="432000" cy="432000"/>
            </a:xfrm>
          </p:grpSpPr>
          <p:sp>
            <p:nvSpPr>
              <p:cNvPr id="41" name="Oval 40">
                <a:extLst>
                  <a:ext uri="{FF2B5EF4-FFF2-40B4-BE49-F238E27FC236}">
                    <a16:creationId xmlns:a16="http://schemas.microsoft.com/office/drawing/2014/main" id="{9C85547E-DB92-2079-FEB3-4BCDD7310263}"/>
                  </a:ext>
                </a:extLst>
              </p:cNvPr>
              <p:cNvSpPr/>
              <p:nvPr/>
            </p:nvSpPr>
            <p:spPr>
              <a:xfrm>
                <a:off x="6577112" y="3042950"/>
                <a:ext cx="432000" cy="43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grpSp>
            <p:nvGrpSpPr>
              <p:cNvPr id="44" name="Graphic 16" descr="User with solid fill">
                <a:extLst>
                  <a:ext uri="{FF2B5EF4-FFF2-40B4-BE49-F238E27FC236}">
                    <a16:creationId xmlns:a16="http://schemas.microsoft.com/office/drawing/2014/main" id="{279B3456-4218-9D92-E5DA-F031F82D1DDC}"/>
                  </a:ext>
                </a:extLst>
              </p:cNvPr>
              <p:cNvGrpSpPr/>
              <p:nvPr/>
            </p:nvGrpSpPr>
            <p:grpSpPr>
              <a:xfrm>
                <a:off x="6649112" y="3114950"/>
                <a:ext cx="288000" cy="288000"/>
                <a:chOff x="3230775" y="4182439"/>
                <a:chExt cx="303371" cy="322332"/>
              </a:xfrm>
              <a:solidFill>
                <a:schemeClr val="accent2"/>
              </a:solidFill>
            </p:grpSpPr>
            <p:sp>
              <p:nvSpPr>
                <p:cNvPr id="47" name="Freeform: Shape 46">
                  <a:extLst>
                    <a:ext uri="{FF2B5EF4-FFF2-40B4-BE49-F238E27FC236}">
                      <a16:creationId xmlns:a16="http://schemas.microsoft.com/office/drawing/2014/main" id="{B3E694A9-17FD-BE59-997F-E3E641511073}"/>
                    </a:ext>
                  </a:extLst>
                </p:cNvPr>
                <p:cNvSpPr/>
                <p:nvPr/>
              </p:nvSpPr>
              <p:spPr>
                <a:xfrm>
                  <a:off x="3306618" y="4182439"/>
                  <a:ext cx="151685" cy="151685"/>
                </a:xfrm>
                <a:custGeom>
                  <a:avLst/>
                  <a:gdLst>
                    <a:gd name="connsiteX0" fmla="*/ 151686 w 151685"/>
                    <a:gd name="connsiteY0" fmla="*/ 75843 h 151685"/>
                    <a:gd name="connsiteX1" fmla="*/ 75843 w 151685"/>
                    <a:gd name="connsiteY1" fmla="*/ 151686 h 151685"/>
                    <a:gd name="connsiteX2" fmla="*/ 0 w 151685"/>
                    <a:gd name="connsiteY2" fmla="*/ 75843 h 151685"/>
                    <a:gd name="connsiteX3" fmla="*/ 75843 w 151685"/>
                    <a:gd name="connsiteY3" fmla="*/ 0 h 151685"/>
                    <a:gd name="connsiteX4" fmla="*/ 151686 w 151685"/>
                    <a:gd name="connsiteY4" fmla="*/ 75843 h 1516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685" h="151685">
                      <a:moveTo>
                        <a:pt x="151686" y="75843"/>
                      </a:moveTo>
                      <a:cubicBezTo>
                        <a:pt x="151686" y="117730"/>
                        <a:pt x="117730" y="151686"/>
                        <a:pt x="75843" y="151686"/>
                      </a:cubicBezTo>
                      <a:cubicBezTo>
                        <a:pt x="33956" y="151686"/>
                        <a:pt x="0" y="117730"/>
                        <a:pt x="0" y="75843"/>
                      </a:cubicBezTo>
                      <a:cubicBezTo>
                        <a:pt x="0" y="33956"/>
                        <a:pt x="33956" y="0"/>
                        <a:pt x="75843" y="0"/>
                      </a:cubicBezTo>
                      <a:cubicBezTo>
                        <a:pt x="117730" y="0"/>
                        <a:pt x="151686" y="33956"/>
                        <a:pt x="151686" y="75843"/>
                      </a:cubicBezTo>
                      <a:close/>
                    </a:path>
                  </a:pathLst>
                </a:custGeom>
                <a:solidFill>
                  <a:schemeClr val="accent2"/>
                </a:solidFill>
                <a:ln w="4663" cap="flat">
                  <a:noFill/>
                  <a:prstDash val="solid"/>
                  <a:miter/>
                </a:ln>
              </p:spPr>
              <p:txBody>
                <a:bodyPr rtlCol="0" anchor="ctr"/>
                <a:lstStyle/>
                <a:p>
                  <a:endParaRPr lang="en-US" noProof="0" dirty="0"/>
                </a:p>
              </p:txBody>
            </p:sp>
            <p:sp>
              <p:nvSpPr>
                <p:cNvPr id="48" name="Freeform: Shape 47">
                  <a:extLst>
                    <a:ext uri="{FF2B5EF4-FFF2-40B4-BE49-F238E27FC236}">
                      <a16:creationId xmlns:a16="http://schemas.microsoft.com/office/drawing/2014/main" id="{E27FF33B-CA92-14DB-EFA4-1703E0D74DA6}"/>
                    </a:ext>
                  </a:extLst>
                </p:cNvPr>
                <p:cNvSpPr/>
                <p:nvPr/>
              </p:nvSpPr>
              <p:spPr>
                <a:xfrm>
                  <a:off x="3230775" y="4353085"/>
                  <a:ext cx="303371" cy="151685"/>
                </a:xfrm>
                <a:custGeom>
                  <a:avLst/>
                  <a:gdLst>
                    <a:gd name="connsiteX0" fmla="*/ 303371 w 303371"/>
                    <a:gd name="connsiteY0" fmla="*/ 151686 h 151685"/>
                    <a:gd name="connsiteX1" fmla="*/ 303371 w 303371"/>
                    <a:gd name="connsiteY1" fmla="*/ 75843 h 151685"/>
                    <a:gd name="connsiteX2" fmla="*/ 288203 w 303371"/>
                    <a:gd name="connsiteY2" fmla="*/ 45506 h 151685"/>
                    <a:gd name="connsiteX3" fmla="*/ 214256 w 303371"/>
                    <a:gd name="connsiteY3" fmla="*/ 9480 h 151685"/>
                    <a:gd name="connsiteX4" fmla="*/ 151686 w 303371"/>
                    <a:gd name="connsiteY4" fmla="*/ 0 h 151685"/>
                    <a:gd name="connsiteX5" fmla="*/ 89115 w 303371"/>
                    <a:gd name="connsiteY5" fmla="*/ 9480 h 151685"/>
                    <a:gd name="connsiteX6" fmla="*/ 15169 w 303371"/>
                    <a:gd name="connsiteY6" fmla="*/ 45506 h 151685"/>
                    <a:gd name="connsiteX7" fmla="*/ 0 w 303371"/>
                    <a:gd name="connsiteY7" fmla="*/ 75843 h 151685"/>
                    <a:gd name="connsiteX8" fmla="*/ 0 w 303371"/>
                    <a:gd name="connsiteY8" fmla="*/ 151686 h 151685"/>
                    <a:gd name="connsiteX9" fmla="*/ 303371 w 303371"/>
                    <a:gd name="connsiteY9" fmla="*/ 151686 h 151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371" h="151685">
                      <a:moveTo>
                        <a:pt x="303371" y="151686"/>
                      </a:moveTo>
                      <a:lnTo>
                        <a:pt x="303371" y="75843"/>
                      </a:lnTo>
                      <a:cubicBezTo>
                        <a:pt x="303371" y="64466"/>
                        <a:pt x="297683" y="53090"/>
                        <a:pt x="288203" y="45506"/>
                      </a:cubicBezTo>
                      <a:cubicBezTo>
                        <a:pt x="267346" y="28441"/>
                        <a:pt x="240801" y="17065"/>
                        <a:pt x="214256" y="9480"/>
                      </a:cubicBezTo>
                      <a:cubicBezTo>
                        <a:pt x="195295" y="3792"/>
                        <a:pt x="174439" y="0"/>
                        <a:pt x="151686" y="0"/>
                      </a:cubicBezTo>
                      <a:cubicBezTo>
                        <a:pt x="130829" y="0"/>
                        <a:pt x="109972" y="3792"/>
                        <a:pt x="89115" y="9480"/>
                      </a:cubicBezTo>
                      <a:cubicBezTo>
                        <a:pt x="62570" y="17065"/>
                        <a:pt x="36025" y="30337"/>
                        <a:pt x="15169" y="45506"/>
                      </a:cubicBezTo>
                      <a:cubicBezTo>
                        <a:pt x="5688" y="53090"/>
                        <a:pt x="0" y="64466"/>
                        <a:pt x="0" y="75843"/>
                      </a:cubicBezTo>
                      <a:lnTo>
                        <a:pt x="0" y="151686"/>
                      </a:lnTo>
                      <a:lnTo>
                        <a:pt x="303371" y="151686"/>
                      </a:lnTo>
                      <a:close/>
                    </a:path>
                  </a:pathLst>
                </a:custGeom>
                <a:solidFill>
                  <a:schemeClr val="accent2"/>
                </a:solidFill>
                <a:ln w="4663" cap="flat">
                  <a:noFill/>
                  <a:prstDash val="solid"/>
                  <a:miter/>
                </a:ln>
              </p:spPr>
              <p:txBody>
                <a:bodyPr rtlCol="0" anchor="ctr"/>
                <a:lstStyle/>
                <a:p>
                  <a:endParaRPr lang="en-US" noProof="0" dirty="0"/>
                </a:p>
              </p:txBody>
            </p:sp>
          </p:grpSp>
        </p:grpSp>
        <p:sp>
          <p:nvSpPr>
            <p:cNvPr id="15" name="TextBox 14">
              <a:extLst>
                <a:ext uri="{FF2B5EF4-FFF2-40B4-BE49-F238E27FC236}">
                  <a16:creationId xmlns:a16="http://schemas.microsoft.com/office/drawing/2014/main" id="{67ABB538-D481-19C9-EF52-DD3DD069F0C7}"/>
                </a:ext>
              </a:extLst>
            </p:cNvPr>
            <p:cNvSpPr txBox="1"/>
            <p:nvPr/>
          </p:nvSpPr>
          <p:spPr>
            <a:xfrm>
              <a:off x="2856282" y="4492851"/>
              <a:ext cx="759080" cy="310154"/>
            </a:xfrm>
            <a:prstGeom prst="rect">
              <a:avLst/>
            </a:prstGeom>
            <a:solidFill>
              <a:schemeClr val="bg1"/>
            </a:solidFill>
          </p:spPr>
          <p:txBody>
            <a:bodyPr vert="horz" wrap="square" lIns="0" tIns="0" rIns="0" bIns="0" rtlCol="0">
              <a:noAutofit/>
            </a:bodyPr>
            <a:lstStyle/>
            <a:p>
              <a:pPr algn="ctr"/>
              <a:r>
                <a:rPr lang="en-US" sz="800" b="1" noProof="0" dirty="0">
                  <a:solidFill>
                    <a:schemeClr val="accent2"/>
                  </a:solidFill>
                </a:rPr>
                <a:t>Investment Advisor</a:t>
              </a:r>
            </a:p>
          </p:txBody>
        </p:sp>
      </p:grpSp>
      <p:sp>
        <p:nvSpPr>
          <p:cNvPr id="57" name="Arc 56">
            <a:extLst>
              <a:ext uri="{FF2B5EF4-FFF2-40B4-BE49-F238E27FC236}">
                <a16:creationId xmlns:a16="http://schemas.microsoft.com/office/drawing/2014/main" id="{8B046BFF-3CD0-0CEB-4B59-301225BEDC8E}"/>
              </a:ext>
            </a:extLst>
          </p:cNvPr>
          <p:cNvSpPr/>
          <p:nvPr/>
        </p:nvSpPr>
        <p:spPr>
          <a:xfrm>
            <a:off x="1161979" y="3449673"/>
            <a:ext cx="2700000" cy="2700000"/>
          </a:xfrm>
          <a:prstGeom prst="arc">
            <a:avLst>
              <a:gd name="adj1" fmla="val 18278719"/>
              <a:gd name="adj2" fmla="val 2623679"/>
            </a:avLst>
          </a:prstGeom>
          <a:ln w="127000">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58" name="Arc 57">
            <a:extLst>
              <a:ext uri="{FF2B5EF4-FFF2-40B4-BE49-F238E27FC236}">
                <a16:creationId xmlns:a16="http://schemas.microsoft.com/office/drawing/2014/main" id="{1001E0D5-A629-E063-AB3E-0E232A94F9ED}"/>
              </a:ext>
            </a:extLst>
          </p:cNvPr>
          <p:cNvSpPr/>
          <p:nvPr/>
        </p:nvSpPr>
        <p:spPr>
          <a:xfrm>
            <a:off x="746779" y="2960220"/>
            <a:ext cx="3528000" cy="3528000"/>
          </a:xfrm>
          <a:prstGeom prst="arc">
            <a:avLst>
              <a:gd name="adj1" fmla="val 11109425"/>
              <a:gd name="adj2" fmla="val 21118039"/>
            </a:avLst>
          </a:prstGeom>
          <a:ln w="57150">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60" name="TextBox 59">
            <a:extLst>
              <a:ext uri="{FF2B5EF4-FFF2-40B4-BE49-F238E27FC236}">
                <a16:creationId xmlns:a16="http://schemas.microsoft.com/office/drawing/2014/main" id="{BA1D810D-8138-323D-1B7B-9057AB6A43CA}"/>
              </a:ext>
            </a:extLst>
          </p:cNvPr>
          <p:cNvSpPr txBox="1"/>
          <p:nvPr/>
        </p:nvSpPr>
        <p:spPr>
          <a:xfrm>
            <a:off x="2040266" y="3307264"/>
            <a:ext cx="920621" cy="255834"/>
          </a:xfrm>
          <a:prstGeom prst="rect">
            <a:avLst/>
          </a:prstGeom>
          <a:noFill/>
        </p:spPr>
        <p:txBody>
          <a:bodyPr vert="horz" wrap="square" lIns="0" tIns="0" rIns="0" bIns="0" rtlCol="0">
            <a:noAutofit/>
          </a:bodyPr>
          <a:lstStyle/>
          <a:p>
            <a:pPr algn="ctr"/>
            <a:r>
              <a:rPr lang="en-US" sz="1100" b="1" noProof="0" dirty="0">
                <a:solidFill>
                  <a:schemeClr val="accent4"/>
                </a:solidFill>
              </a:rPr>
              <a:t>Investment Ideas</a:t>
            </a:r>
          </a:p>
        </p:txBody>
      </p:sp>
      <p:grpSp>
        <p:nvGrpSpPr>
          <p:cNvPr id="86" name="Group 85">
            <a:extLst>
              <a:ext uri="{FF2B5EF4-FFF2-40B4-BE49-F238E27FC236}">
                <a16:creationId xmlns:a16="http://schemas.microsoft.com/office/drawing/2014/main" id="{823F185C-58DC-A9EF-2340-9A2F713E840C}"/>
              </a:ext>
            </a:extLst>
          </p:cNvPr>
          <p:cNvGrpSpPr/>
          <p:nvPr/>
        </p:nvGrpSpPr>
        <p:grpSpPr>
          <a:xfrm>
            <a:off x="3257800" y="3727611"/>
            <a:ext cx="612000" cy="620206"/>
            <a:chOff x="3220777" y="3393683"/>
            <a:chExt cx="612000" cy="620206"/>
          </a:xfrm>
        </p:grpSpPr>
        <p:grpSp>
          <p:nvGrpSpPr>
            <p:cNvPr id="85" name="Group 84">
              <a:extLst>
                <a:ext uri="{FF2B5EF4-FFF2-40B4-BE49-F238E27FC236}">
                  <a16:creationId xmlns:a16="http://schemas.microsoft.com/office/drawing/2014/main" id="{F5903E7D-8E31-23CC-5F5E-62E0664F2C1E}"/>
                </a:ext>
              </a:extLst>
            </p:cNvPr>
            <p:cNvGrpSpPr/>
            <p:nvPr/>
          </p:nvGrpSpPr>
          <p:grpSpPr>
            <a:xfrm>
              <a:off x="3220777" y="3393683"/>
              <a:ext cx="612000" cy="620206"/>
              <a:chOff x="3220777" y="3393683"/>
              <a:chExt cx="612000" cy="620206"/>
            </a:xfrm>
          </p:grpSpPr>
          <p:sp>
            <p:nvSpPr>
              <p:cNvPr id="69" name="Oval 68">
                <a:extLst>
                  <a:ext uri="{FF2B5EF4-FFF2-40B4-BE49-F238E27FC236}">
                    <a16:creationId xmlns:a16="http://schemas.microsoft.com/office/drawing/2014/main" id="{B7D117E4-ACAE-3EC4-65EE-C72B2EE720BF}"/>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28" name="Graphic 27" descr="Users with solid fill">
                <a:extLst>
                  <a:ext uri="{FF2B5EF4-FFF2-40B4-BE49-F238E27FC236}">
                    <a16:creationId xmlns:a16="http://schemas.microsoft.com/office/drawing/2014/main" id="{965B6167-E9DC-AEE0-9281-845187B1EBD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92777" y="3393683"/>
                <a:ext cx="468000" cy="468000"/>
              </a:xfrm>
              <a:prstGeom prst="rect">
                <a:avLst/>
              </a:prstGeom>
            </p:spPr>
          </p:pic>
        </p:grpSp>
        <p:sp>
          <p:nvSpPr>
            <p:cNvPr id="33" name="TextBox 32">
              <a:extLst>
                <a:ext uri="{FF2B5EF4-FFF2-40B4-BE49-F238E27FC236}">
                  <a16:creationId xmlns:a16="http://schemas.microsoft.com/office/drawing/2014/main" id="{E80E42F1-8865-889F-E8DE-23BE09BD7984}"/>
                </a:ext>
              </a:extLst>
            </p:cNvPr>
            <p:cNvSpPr txBox="1"/>
            <p:nvPr/>
          </p:nvSpPr>
          <p:spPr>
            <a:xfrm>
              <a:off x="3281178" y="3714514"/>
              <a:ext cx="494192" cy="208763"/>
            </a:xfrm>
            <a:prstGeom prst="ellipse">
              <a:avLst/>
            </a:prstGeom>
            <a:solidFill>
              <a:schemeClr val="bg1"/>
            </a:solidFill>
          </p:spPr>
          <p:txBody>
            <a:bodyPr vert="horz" wrap="none" lIns="0" tIns="0" rIns="0" bIns="0" rtlCol="0">
              <a:noAutofit/>
            </a:bodyPr>
            <a:lstStyle/>
            <a:p>
              <a:pPr algn="ctr"/>
              <a:r>
                <a:rPr lang="en-US" sz="800" b="1" noProof="0" dirty="0">
                  <a:solidFill>
                    <a:schemeClr val="accent4"/>
                  </a:solidFill>
                </a:rPr>
                <a:t>Research</a:t>
              </a:r>
              <a:endParaRPr lang="en-US" sz="900" b="1" noProof="0" dirty="0">
                <a:solidFill>
                  <a:schemeClr val="accent4"/>
                </a:solidFill>
              </a:endParaRPr>
            </a:p>
          </p:txBody>
        </p:sp>
      </p:grpSp>
      <p:sp>
        <p:nvSpPr>
          <p:cNvPr id="72" name="Arc 71">
            <a:extLst>
              <a:ext uri="{FF2B5EF4-FFF2-40B4-BE49-F238E27FC236}">
                <a16:creationId xmlns:a16="http://schemas.microsoft.com/office/drawing/2014/main" id="{5AA14E7B-E177-6FC5-92DE-7FAD624A0B41}"/>
              </a:ext>
            </a:extLst>
          </p:cNvPr>
          <p:cNvSpPr/>
          <p:nvPr/>
        </p:nvSpPr>
        <p:spPr>
          <a:xfrm>
            <a:off x="1164831" y="3441358"/>
            <a:ext cx="2700000" cy="2700000"/>
          </a:xfrm>
          <a:prstGeom prst="arc">
            <a:avLst>
              <a:gd name="adj1" fmla="val 3010337"/>
              <a:gd name="adj2" fmla="val 7852776"/>
            </a:avLst>
          </a:prstGeom>
          <a:ln w="127000">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grpSp>
        <p:nvGrpSpPr>
          <p:cNvPr id="87" name="Group 86">
            <a:extLst>
              <a:ext uri="{FF2B5EF4-FFF2-40B4-BE49-F238E27FC236}">
                <a16:creationId xmlns:a16="http://schemas.microsoft.com/office/drawing/2014/main" id="{844840B7-61B6-4AD0-5CCF-09D0DD9AD570}"/>
              </a:ext>
            </a:extLst>
          </p:cNvPr>
          <p:cNvGrpSpPr/>
          <p:nvPr/>
        </p:nvGrpSpPr>
        <p:grpSpPr>
          <a:xfrm>
            <a:off x="2217957" y="5803817"/>
            <a:ext cx="612000" cy="702666"/>
            <a:chOff x="3220777" y="3393683"/>
            <a:chExt cx="612000" cy="702666"/>
          </a:xfrm>
        </p:grpSpPr>
        <p:grpSp>
          <p:nvGrpSpPr>
            <p:cNvPr id="88" name="Group 87">
              <a:extLst>
                <a:ext uri="{FF2B5EF4-FFF2-40B4-BE49-F238E27FC236}">
                  <a16:creationId xmlns:a16="http://schemas.microsoft.com/office/drawing/2014/main" id="{5EE2E414-22F2-1F3D-A147-994285293BDA}"/>
                </a:ext>
              </a:extLst>
            </p:cNvPr>
            <p:cNvGrpSpPr/>
            <p:nvPr/>
          </p:nvGrpSpPr>
          <p:grpSpPr>
            <a:xfrm>
              <a:off x="3220777" y="3393683"/>
              <a:ext cx="612000" cy="620206"/>
              <a:chOff x="3220777" y="3393683"/>
              <a:chExt cx="612000" cy="620206"/>
            </a:xfrm>
          </p:grpSpPr>
          <p:sp>
            <p:nvSpPr>
              <p:cNvPr id="90" name="Oval 89">
                <a:extLst>
                  <a:ext uri="{FF2B5EF4-FFF2-40B4-BE49-F238E27FC236}">
                    <a16:creationId xmlns:a16="http://schemas.microsoft.com/office/drawing/2014/main" id="{4178E33B-5305-D9E3-481E-E6EC821697A6}"/>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91" name="Graphic 90" descr="Users with solid fill">
                <a:extLst>
                  <a:ext uri="{FF2B5EF4-FFF2-40B4-BE49-F238E27FC236}">
                    <a16:creationId xmlns:a16="http://schemas.microsoft.com/office/drawing/2014/main" id="{82B7CB3F-828B-9113-D281-57D461F2F3D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292777" y="3393683"/>
                <a:ext cx="468000" cy="468000"/>
              </a:xfrm>
              <a:prstGeom prst="rect">
                <a:avLst/>
              </a:prstGeom>
            </p:spPr>
          </p:pic>
        </p:grpSp>
        <p:sp>
          <p:nvSpPr>
            <p:cNvPr id="89" name="TextBox 88">
              <a:extLst>
                <a:ext uri="{FF2B5EF4-FFF2-40B4-BE49-F238E27FC236}">
                  <a16:creationId xmlns:a16="http://schemas.microsoft.com/office/drawing/2014/main" id="{166E183B-78BA-6BF0-8EF9-612A18388361}"/>
                </a:ext>
              </a:extLst>
            </p:cNvPr>
            <p:cNvSpPr txBox="1"/>
            <p:nvPr/>
          </p:nvSpPr>
          <p:spPr>
            <a:xfrm>
              <a:off x="3279681" y="3786195"/>
              <a:ext cx="494192" cy="310154"/>
            </a:xfrm>
            <a:prstGeom prst="rect">
              <a:avLst/>
            </a:prstGeom>
            <a:noFill/>
          </p:spPr>
          <p:txBody>
            <a:bodyPr vert="horz" wrap="square" lIns="0" tIns="0" rIns="0" bIns="0" rtlCol="0">
              <a:noAutofit/>
            </a:bodyPr>
            <a:lstStyle/>
            <a:p>
              <a:pPr algn="ctr"/>
              <a:r>
                <a:rPr lang="en-US" sz="800" b="1" noProof="0" dirty="0">
                  <a:solidFill>
                    <a:schemeClr val="accent5"/>
                  </a:solidFill>
                </a:rPr>
                <a:t>Trading</a:t>
              </a:r>
            </a:p>
            <a:p>
              <a:pPr algn="ctr"/>
              <a:r>
                <a:rPr lang="en-US" sz="800" b="1" noProof="0" dirty="0">
                  <a:solidFill>
                    <a:schemeClr val="accent5"/>
                  </a:solidFill>
                </a:rPr>
                <a:t>Desk</a:t>
              </a:r>
              <a:endParaRPr lang="en-US" sz="900" b="1" noProof="0" dirty="0">
                <a:solidFill>
                  <a:schemeClr val="accent5"/>
                </a:solidFill>
              </a:endParaRPr>
            </a:p>
          </p:txBody>
        </p:sp>
      </p:grpSp>
      <p:sp>
        <p:nvSpPr>
          <p:cNvPr id="92" name="Arc 91">
            <a:extLst>
              <a:ext uri="{FF2B5EF4-FFF2-40B4-BE49-F238E27FC236}">
                <a16:creationId xmlns:a16="http://schemas.microsoft.com/office/drawing/2014/main" id="{8E8EB995-2EC0-D13C-AEF6-F2FB4D84BD29}"/>
              </a:ext>
            </a:extLst>
          </p:cNvPr>
          <p:cNvSpPr/>
          <p:nvPr/>
        </p:nvSpPr>
        <p:spPr>
          <a:xfrm>
            <a:off x="1164831" y="3443263"/>
            <a:ext cx="2700000" cy="2700000"/>
          </a:xfrm>
          <a:prstGeom prst="arc">
            <a:avLst>
              <a:gd name="adj1" fmla="val 8201012"/>
              <a:gd name="adj2" fmla="val 14068405"/>
            </a:avLst>
          </a:prstGeom>
          <a:ln w="1270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grpSp>
        <p:nvGrpSpPr>
          <p:cNvPr id="93" name="Group 92">
            <a:extLst>
              <a:ext uri="{FF2B5EF4-FFF2-40B4-BE49-F238E27FC236}">
                <a16:creationId xmlns:a16="http://schemas.microsoft.com/office/drawing/2014/main" id="{F5AED825-9799-C128-E937-9BDDF03CADBC}"/>
              </a:ext>
            </a:extLst>
          </p:cNvPr>
          <p:cNvGrpSpPr/>
          <p:nvPr/>
        </p:nvGrpSpPr>
        <p:grpSpPr>
          <a:xfrm>
            <a:off x="1075377" y="3737774"/>
            <a:ext cx="612000" cy="690398"/>
            <a:chOff x="3220777" y="3393683"/>
            <a:chExt cx="612000" cy="690398"/>
          </a:xfrm>
        </p:grpSpPr>
        <p:grpSp>
          <p:nvGrpSpPr>
            <p:cNvPr id="94" name="Group 93">
              <a:extLst>
                <a:ext uri="{FF2B5EF4-FFF2-40B4-BE49-F238E27FC236}">
                  <a16:creationId xmlns:a16="http://schemas.microsoft.com/office/drawing/2014/main" id="{D650536D-E2AC-D97F-D306-6696052C5342}"/>
                </a:ext>
              </a:extLst>
            </p:cNvPr>
            <p:cNvGrpSpPr/>
            <p:nvPr/>
          </p:nvGrpSpPr>
          <p:grpSpPr>
            <a:xfrm>
              <a:off x="3220777" y="3393683"/>
              <a:ext cx="612000" cy="620206"/>
              <a:chOff x="3220777" y="3393683"/>
              <a:chExt cx="612000" cy="620206"/>
            </a:xfrm>
          </p:grpSpPr>
          <p:sp>
            <p:nvSpPr>
              <p:cNvPr id="96" name="Oval 95">
                <a:extLst>
                  <a:ext uri="{FF2B5EF4-FFF2-40B4-BE49-F238E27FC236}">
                    <a16:creationId xmlns:a16="http://schemas.microsoft.com/office/drawing/2014/main" id="{FE4F16F3-5F85-FF7B-53CB-C02181F9F412}"/>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97" name="Graphic 96" descr="Users with solid fill">
                <a:extLst>
                  <a:ext uri="{FF2B5EF4-FFF2-40B4-BE49-F238E27FC236}">
                    <a16:creationId xmlns:a16="http://schemas.microsoft.com/office/drawing/2014/main" id="{91B74DEB-9ECD-4DA4-EF43-AF2AA9EBF8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292777" y="3393683"/>
                <a:ext cx="468000" cy="468000"/>
              </a:xfrm>
              <a:prstGeom prst="rect">
                <a:avLst/>
              </a:prstGeom>
            </p:spPr>
          </p:pic>
        </p:grpSp>
        <p:sp>
          <p:nvSpPr>
            <p:cNvPr id="95" name="TextBox 94">
              <a:extLst>
                <a:ext uri="{FF2B5EF4-FFF2-40B4-BE49-F238E27FC236}">
                  <a16:creationId xmlns:a16="http://schemas.microsoft.com/office/drawing/2014/main" id="{BDB2EDE7-5DF1-4DDD-E7EB-B1C20602A4C3}"/>
                </a:ext>
              </a:extLst>
            </p:cNvPr>
            <p:cNvSpPr txBox="1"/>
            <p:nvPr/>
          </p:nvSpPr>
          <p:spPr>
            <a:xfrm>
              <a:off x="3247840" y="3716796"/>
              <a:ext cx="576925" cy="367285"/>
            </a:xfrm>
            <a:prstGeom prst="ellipse">
              <a:avLst/>
            </a:prstGeom>
            <a:solidFill>
              <a:schemeClr val="bg1"/>
            </a:solidFill>
          </p:spPr>
          <p:txBody>
            <a:bodyPr vert="horz" wrap="none" lIns="0" tIns="0" rIns="0" bIns="0" rtlCol="0">
              <a:noAutofit/>
            </a:bodyPr>
            <a:lstStyle/>
            <a:p>
              <a:pPr algn="ctr"/>
              <a:r>
                <a:rPr lang="en-US" sz="800" b="1" noProof="0" dirty="0">
                  <a:solidFill>
                    <a:schemeClr val="tx1">
                      <a:lumMod val="50000"/>
                      <a:lumOff val="50000"/>
                    </a:schemeClr>
                  </a:solidFill>
                </a:rPr>
                <a:t>Portfolio</a:t>
              </a:r>
            </a:p>
            <a:p>
              <a:pPr algn="ctr"/>
              <a:r>
                <a:rPr lang="en-US" sz="800" b="1" noProof="0" dirty="0">
                  <a:solidFill>
                    <a:schemeClr val="tx1">
                      <a:lumMod val="50000"/>
                      <a:lumOff val="50000"/>
                    </a:schemeClr>
                  </a:solidFill>
                </a:rPr>
                <a:t>Management</a:t>
              </a:r>
            </a:p>
            <a:p>
              <a:pPr algn="ctr"/>
              <a:endParaRPr lang="en-US" sz="900" b="1" noProof="0" dirty="0">
                <a:solidFill>
                  <a:schemeClr val="tx1">
                    <a:lumMod val="50000"/>
                    <a:lumOff val="50000"/>
                  </a:schemeClr>
                </a:solidFill>
              </a:endParaRPr>
            </a:p>
          </p:txBody>
        </p:sp>
      </p:grpSp>
      <p:sp>
        <p:nvSpPr>
          <p:cNvPr id="98" name="Arc 97">
            <a:extLst>
              <a:ext uri="{FF2B5EF4-FFF2-40B4-BE49-F238E27FC236}">
                <a16:creationId xmlns:a16="http://schemas.microsoft.com/office/drawing/2014/main" id="{914F3F8B-F87E-EFFD-FC7C-93FE0155EF37}"/>
              </a:ext>
            </a:extLst>
          </p:cNvPr>
          <p:cNvSpPr/>
          <p:nvPr/>
        </p:nvSpPr>
        <p:spPr>
          <a:xfrm>
            <a:off x="746779" y="3065546"/>
            <a:ext cx="3528000" cy="3528000"/>
          </a:xfrm>
          <a:prstGeom prst="arc">
            <a:avLst>
              <a:gd name="adj1" fmla="val 115883"/>
              <a:gd name="adj2" fmla="val 10375677"/>
            </a:avLst>
          </a:prstGeom>
          <a:ln w="57150">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grpSp>
        <p:nvGrpSpPr>
          <p:cNvPr id="99" name="Group 98">
            <a:extLst>
              <a:ext uri="{FF2B5EF4-FFF2-40B4-BE49-F238E27FC236}">
                <a16:creationId xmlns:a16="http://schemas.microsoft.com/office/drawing/2014/main" id="{57F58F42-7BC8-C607-69F0-8FE8063057D1}"/>
              </a:ext>
            </a:extLst>
          </p:cNvPr>
          <p:cNvGrpSpPr/>
          <p:nvPr/>
        </p:nvGrpSpPr>
        <p:grpSpPr>
          <a:xfrm>
            <a:off x="3437116" y="5815958"/>
            <a:ext cx="612000" cy="730651"/>
            <a:chOff x="3220777" y="3383574"/>
            <a:chExt cx="612000" cy="730651"/>
          </a:xfrm>
        </p:grpSpPr>
        <p:grpSp>
          <p:nvGrpSpPr>
            <p:cNvPr id="100" name="Group 99">
              <a:extLst>
                <a:ext uri="{FF2B5EF4-FFF2-40B4-BE49-F238E27FC236}">
                  <a16:creationId xmlns:a16="http://schemas.microsoft.com/office/drawing/2014/main" id="{43B03A79-06BD-7BC5-C909-AEFD82E180E2}"/>
                </a:ext>
              </a:extLst>
            </p:cNvPr>
            <p:cNvGrpSpPr/>
            <p:nvPr/>
          </p:nvGrpSpPr>
          <p:grpSpPr>
            <a:xfrm>
              <a:off x="3220777" y="3383574"/>
              <a:ext cx="612000" cy="630315"/>
              <a:chOff x="3220777" y="3383574"/>
              <a:chExt cx="612000" cy="630315"/>
            </a:xfrm>
          </p:grpSpPr>
          <p:sp>
            <p:nvSpPr>
              <p:cNvPr id="102" name="Oval 101">
                <a:extLst>
                  <a:ext uri="{FF2B5EF4-FFF2-40B4-BE49-F238E27FC236}">
                    <a16:creationId xmlns:a16="http://schemas.microsoft.com/office/drawing/2014/main" id="{4493E13F-22DB-CA7D-A212-FD939DF26A62}"/>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103" name="Graphic 102" descr="Users with solid fill">
                <a:extLst>
                  <a:ext uri="{FF2B5EF4-FFF2-40B4-BE49-F238E27FC236}">
                    <a16:creationId xmlns:a16="http://schemas.microsoft.com/office/drawing/2014/main" id="{DFF41298-17A2-4F92-20BC-AB37B3E594F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272111" y="3383574"/>
                <a:ext cx="504000" cy="504000"/>
              </a:xfrm>
              <a:prstGeom prst="rect">
                <a:avLst/>
              </a:prstGeom>
            </p:spPr>
          </p:pic>
        </p:grpSp>
        <p:sp>
          <p:nvSpPr>
            <p:cNvPr id="101" name="TextBox 100">
              <a:extLst>
                <a:ext uri="{FF2B5EF4-FFF2-40B4-BE49-F238E27FC236}">
                  <a16:creationId xmlns:a16="http://schemas.microsoft.com/office/drawing/2014/main" id="{F07E3C7C-07C1-8E72-37F8-33F4032ABB2D}"/>
                </a:ext>
              </a:extLst>
            </p:cNvPr>
            <p:cNvSpPr txBox="1"/>
            <p:nvPr/>
          </p:nvSpPr>
          <p:spPr>
            <a:xfrm>
              <a:off x="3247840" y="3746940"/>
              <a:ext cx="576925" cy="367285"/>
            </a:xfrm>
            <a:prstGeom prst="ellipse">
              <a:avLst/>
            </a:prstGeom>
            <a:solidFill>
              <a:schemeClr val="bg1"/>
            </a:solidFill>
          </p:spPr>
          <p:txBody>
            <a:bodyPr vert="horz" wrap="none" lIns="0" tIns="0" rIns="0" bIns="0" rtlCol="0">
              <a:noAutofit/>
            </a:bodyPr>
            <a:lstStyle/>
            <a:p>
              <a:pPr algn="ctr"/>
              <a:r>
                <a:rPr lang="en-US" sz="800" b="1" noProof="0" dirty="0">
                  <a:solidFill>
                    <a:schemeClr val="accent6">
                      <a:lumMod val="50000"/>
                    </a:schemeClr>
                  </a:solidFill>
                </a:rPr>
                <a:t>Risk </a:t>
              </a:r>
            </a:p>
            <a:p>
              <a:pPr algn="ctr"/>
              <a:r>
                <a:rPr lang="en-US" sz="800" b="1" noProof="0" dirty="0">
                  <a:solidFill>
                    <a:schemeClr val="accent6">
                      <a:lumMod val="50000"/>
                    </a:schemeClr>
                  </a:solidFill>
                </a:rPr>
                <a:t>Management</a:t>
              </a:r>
            </a:p>
            <a:p>
              <a:pPr algn="ctr"/>
              <a:endParaRPr lang="en-US" sz="900" b="1" noProof="0" dirty="0">
                <a:solidFill>
                  <a:schemeClr val="accent6">
                    <a:lumMod val="50000"/>
                  </a:schemeClr>
                </a:solidFill>
              </a:endParaRPr>
            </a:p>
          </p:txBody>
        </p:sp>
      </p:grpSp>
    </p:spTree>
    <p:custDataLst>
      <p:tags r:id="rId1"/>
    </p:custDataLst>
    <p:extLst>
      <p:ext uri="{BB962C8B-B14F-4D97-AF65-F5344CB8AC3E}">
        <p14:creationId xmlns:p14="http://schemas.microsoft.com/office/powerpoint/2010/main" val="12979906"/>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Isosceles Triangle 24">
            <a:extLst>
              <a:ext uri="{FF2B5EF4-FFF2-40B4-BE49-F238E27FC236}">
                <a16:creationId xmlns:a16="http://schemas.microsoft.com/office/drawing/2014/main" id="{DB32B0BA-6698-C8F6-6CE8-B857B67396B3}"/>
              </a:ext>
            </a:extLst>
          </p:cNvPr>
          <p:cNvSpPr/>
          <p:nvPr/>
        </p:nvSpPr>
        <p:spPr>
          <a:xfrm rot="10800000">
            <a:off x="2906633" y="2645447"/>
            <a:ext cx="4878539" cy="469414"/>
          </a:xfrm>
          <a:prstGeom prst="triangle">
            <a:avLst/>
          </a:prstGeom>
          <a:solidFill>
            <a:schemeClr val="accent1">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2" name="Title 1">
            <a:extLst>
              <a:ext uri="{FF2B5EF4-FFF2-40B4-BE49-F238E27FC236}">
                <a16:creationId xmlns:a16="http://schemas.microsoft.com/office/drawing/2014/main" id="{907CBAF5-5D17-ADB7-79E0-A532376AEF4E}"/>
              </a:ext>
            </a:extLst>
          </p:cNvPr>
          <p:cNvSpPr>
            <a:spLocks noGrp="1"/>
          </p:cNvSpPr>
          <p:nvPr>
            <p:ph type="title"/>
          </p:nvPr>
        </p:nvSpPr>
        <p:spPr/>
        <p:txBody>
          <a:bodyPr/>
          <a:lstStyle/>
          <a:p>
            <a:r>
              <a:rPr lang="en-US" noProof="0" dirty="0"/>
              <a:t>Our Investment Universe</a:t>
            </a:r>
          </a:p>
        </p:txBody>
      </p:sp>
      <p:sp>
        <p:nvSpPr>
          <p:cNvPr id="4" name="Text Placeholder 3">
            <a:extLst>
              <a:ext uri="{FF2B5EF4-FFF2-40B4-BE49-F238E27FC236}">
                <a16:creationId xmlns:a16="http://schemas.microsoft.com/office/drawing/2014/main" id="{D4BA43B4-7A33-CFC3-C9CC-9947CBF483E8}"/>
              </a:ext>
            </a:extLst>
          </p:cNvPr>
          <p:cNvSpPr>
            <a:spLocks noGrp="1"/>
          </p:cNvSpPr>
          <p:nvPr>
            <p:ph type="body" sz="quarter" idx="10"/>
          </p:nvPr>
        </p:nvSpPr>
        <p:spPr>
          <a:xfrm>
            <a:off x="665163" y="1713419"/>
            <a:ext cx="9398001" cy="251512"/>
          </a:xfrm>
        </p:spPr>
        <p:txBody>
          <a:bodyPr anchor="t"/>
          <a:lstStyle/>
          <a:p>
            <a:r>
              <a:rPr lang="en-US" noProof="0" dirty="0"/>
              <a:t>We carefully select and curate Investment Universe for our clients, presenting diverse range of opportunities to </a:t>
            </a:r>
            <a:r>
              <a:rPr lang="en-US" noProof="0" dirty="0" err="1"/>
              <a:t>maximise</a:t>
            </a:r>
            <a:r>
              <a:rPr lang="en-US" noProof="0" dirty="0"/>
              <a:t> your growth and security</a:t>
            </a:r>
          </a:p>
        </p:txBody>
      </p:sp>
      <p:sp>
        <p:nvSpPr>
          <p:cNvPr id="5" name="Rectangle 4">
            <a:extLst>
              <a:ext uri="{FF2B5EF4-FFF2-40B4-BE49-F238E27FC236}">
                <a16:creationId xmlns:a16="http://schemas.microsoft.com/office/drawing/2014/main" id="{B9D0A9A5-BC6F-F14E-18A8-F0AAC2994354}"/>
              </a:ext>
            </a:extLst>
          </p:cNvPr>
          <p:cNvSpPr/>
          <p:nvPr/>
        </p:nvSpPr>
        <p:spPr>
          <a:xfrm>
            <a:off x="665162" y="2253891"/>
            <a:ext cx="9361487" cy="68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spcBef>
                <a:spcPts val="300"/>
              </a:spcBef>
            </a:pPr>
            <a:r>
              <a:rPr lang="en-US" sz="1200" b="1" noProof="0" dirty="0">
                <a:solidFill>
                  <a:schemeClr val="bg1"/>
                </a:solidFill>
                <a:latin typeface="Nunito Sans" pitchFamily="2" charset="77"/>
              </a:rPr>
              <a:t>Macro-economic</a:t>
            </a:r>
          </a:p>
          <a:p>
            <a:pPr>
              <a:spcBef>
                <a:spcPts val="300"/>
              </a:spcBef>
            </a:pPr>
            <a:r>
              <a:rPr lang="en-US" sz="1100" noProof="0" dirty="0">
                <a:solidFill>
                  <a:schemeClr val="bg1"/>
                </a:solidFill>
              </a:rPr>
              <a:t>We closely monitor and leverage macroeconomic trends in building our investment strategies</a:t>
            </a:r>
          </a:p>
          <a:p>
            <a:pPr>
              <a:spcBef>
                <a:spcPts val="300"/>
              </a:spcBef>
            </a:pPr>
            <a:r>
              <a:rPr lang="en-US" sz="1100" noProof="0" dirty="0">
                <a:solidFill>
                  <a:schemeClr val="bg1"/>
                </a:solidFill>
              </a:rPr>
              <a:t>Stay ahead and </a:t>
            </a:r>
            <a:r>
              <a:rPr lang="en-US" sz="1100" noProof="0" dirty="0" err="1">
                <a:solidFill>
                  <a:schemeClr val="bg1"/>
                </a:solidFill>
              </a:rPr>
              <a:t>capitalise</a:t>
            </a:r>
            <a:r>
              <a:rPr lang="en-US" sz="1100" noProof="0" dirty="0">
                <a:solidFill>
                  <a:schemeClr val="bg1"/>
                </a:solidFill>
              </a:rPr>
              <a:t> on emerging trends to safeguard and grow your wealth </a:t>
            </a:r>
            <a:endParaRPr lang="en-US" sz="1200" noProof="0" dirty="0"/>
          </a:p>
        </p:txBody>
      </p:sp>
      <p:sp>
        <p:nvSpPr>
          <p:cNvPr id="14" name="Rectangle 13">
            <a:extLst>
              <a:ext uri="{FF2B5EF4-FFF2-40B4-BE49-F238E27FC236}">
                <a16:creationId xmlns:a16="http://schemas.microsoft.com/office/drawing/2014/main" id="{97FAFAA0-94CC-D573-9301-BC4533EA4206}"/>
              </a:ext>
            </a:extLst>
          </p:cNvPr>
          <p:cNvSpPr/>
          <p:nvPr/>
        </p:nvSpPr>
        <p:spPr>
          <a:xfrm>
            <a:off x="665163" y="6074871"/>
            <a:ext cx="9361487" cy="628590"/>
          </a:xfrm>
          <a:prstGeom prst="rect">
            <a:avLst/>
          </a:prstGeom>
          <a:solidFill>
            <a:srgbClr val="EB3F8E">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200" b="1" noProof="0" dirty="0">
                <a:solidFill>
                  <a:schemeClr val="bg1"/>
                </a:solidFill>
                <a:latin typeface="Nunito Sans" pitchFamily="2" charset="77"/>
              </a:rPr>
              <a:t>Thematic Investments</a:t>
            </a:r>
          </a:p>
          <a:p>
            <a:pPr>
              <a:spcBef>
                <a:spcPts val="600"/>
              </a:spcBef>
            </a:pPr>
            <a:r>
              <a:rPr lang="en-US" sz="1100" noProof="0" dirty="0">
                <a:solidFill>
                  <a:schemeClr val="bg1"/>
                </a:solidFill>
                <a:latin typeface="Nunito Sans" pitchFamily="2" charset="77"/>
              </a:rPr>
              <a:t>Invest in themes shaping the future - ranging from technology to healthcare, ensuring your investments stay relevant</a:t>
            </a:r>
            <a:endParaRPr lang="en-US" sz="1100" noProof="0" dirty="0"/>
          </a:p>
        </p:txBody>
      </p:sp>
      <p:sp>
        <p:nvSpPr>
          <p:cNvPr id="20" name="Rectangle 19">
            <a:extLst>
              <a:ext uri="{FF2B5EF4-FFF2-40B4-BE49-F238E27FC236}">
                <a16:creationId xmlns:a16="http://schemas.microsoft.com/office/drawing/2014/main" id="{4E6B0A4A-BF66-A798-B777-A5E8DC5B6406}"/>
              </a:ext>
            </a:extLst>
          </p:cNvPr>
          <p:cNvSpPr/>
          <p:nvPr/>
        </p:nvSpPr>
        <p:spPr>
          <a:xfrm>
            <a:off x="2663905" y="3160584"/>
            <a:ext cx="2520000" cy="6480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r>
              <a:rPr lang="en-US" sz="1100" b="1" noProof="0" dirty="0">
                <a:solidFill>
                  <a:schemeClr val="bg1"/>
                </a:solidFill>
                <a:latin typeface="Nunito Sans" pitchFamily="2" charset="77"/>
              </a:rPr>
              <a:t>Equities – </a:t>
            </a:r>
            <a:r>
              <a:rPr lang="en-US" sz="1100" noProof="0" dirty="0">
                <a:solidFill>
                  <a:schemeClr val="bg1"/>
                </a:solidFill>
                <a:latin typeface="Nunito Sans" pitchFamily="2" charset="77"/>
              </a:rPr>
              <a:t>Explore and </a:t>
            </a:r>
            <a:r>
              <a:rPr lang="en-US" sz="1100" noProof="0" dirty="0" err="1">
                <a:solidFill>
                  <a:schemeClr val="bg1"/>
                </a:solidFill>
                <a:latin typeface="Nunito Sans" pitchFamily="2" charset="77"/>
              </a:rPr>
              <a:t>c</a:t>
            </a:r>
            <a:r>
              <a:rPr lang="en-US" sz="1100" noProof="0" dirty="0" err="1"/>
              <a:t>apitalise</a:t>
            </a:r>
            <a:r>
              <a:rPr lang="en-US" sz="1100" noProof="0" dirty="0"/>
              <a:t> growth in our core markets </a:t>
            </a:r>
          </a:p>
        </p:txBody>
      </p:sp>
      <p:sp>
        <p:nvSpPr>
          <p:cNvPr id="26" name="Rectangle 25">
            <a:extLst>
              <a:ext uri="{FF2B5EF4-FFF2-40B4-BE49-F238E27FC236}">
                <a16:creationId xmlns:a16="http://schemas.microsoft.com/office/drawing/2014/main" id="{9730E52F-5A8C-8522-F559-1EB10C7919B4}"/>
              </a:ext>
            </a:extLst>
          </p:cNvPr>
          <p:cNvSpPr/>
          <p:nvPr/>
        </p:nvSpPr>
        <p:spPr>
          <a:xfrm>
            <a:off x="2663905" y="3849153"/>
            <a:ext cx="2520000" cy="6480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r>
              <a:rPr lang="en-US" sz="1100" b="1" noProof="0" dirty="0">
                <a:solidFill>
                  <a:schemeClr val="bg1"/>
                </a:solidFill>
                <a:latin typeface="Nunito Sans" pitchFamily="2" charset="77"/>
              </a:rPr>
              <a:t>Fixed Income – </a:t>
            </a:r>
            <a:r>
              <a:rPr lang="en-US" sz="1100" noProof="0" dirty="0">
                <a:solidFill>
                  <a:schemeClr val="bg1"/>
                </a:solidFill>
                <a:latin typeface="Nunito Sans" pitchFamily="2" charset="77"/>
              </a:rPr>
              <a:t>Secure income stream with potential for growth</a:t>
            </a:r>
            <a:endParaRPr lang="en-US" sz="1100" noProof="0" dirty="0"/>
          </a:p>
          <a:p>
            <a:endParaRPr lang="en-US" sz="1100" noProof="0" dirty="0"/>
          </a:p>
          <a:p>
            <a:endParaRPr lang="en-US" sz="1100" noProof="0" dirty="0"/>
          </a:p>
          <a:p>
            <a:r>
              <a:rPr lang="en-US" sz="1100" noProof="0" dirty="0"/>
              <a:t> 12</a:t>
            </a:r>
          </a:p>
          <a:p>
            <a:r>
              <a:rPr lang="en-US" sz="1100" noProof="0" dirty="0"/>
              <a:t>12</a:t>
            </a:r>
          </a:p>
          <a:p>
            <a:endParaRPr lang="en-US" sz="1100" noProof="0" dirty="0"/>
          </a:p>
        </p:txBody>
      </p:sp>
      <p:sp>
        <p:nvSpPr>
          <p:cNvPr id="27" name="Rectangle 26">
            <a:extLst>
              <a:ext uri="{FF2B5EF4-FFF2-40B4-BE49-F238E27FC236}">
                <a16:creationId xmlns:a16="http://schemas.microsoft.com/office/drawing/2014/main" id="{3CAB43BF-BCF5-777A-F0FD-7336EC995ECE}"/>
              </a:ext>
            </a:extLst>
          </p:cNvPr>
          <p:cNvSpPr/>
          <p:nvPr/>
        </p:nvSpPr>
        <p:spPr>
          <a:xfrm>
            <a:off x="665163" y="3160583"/>
            <a:ext cx="1980000" cy="2713708"/>
          </a:xfrm>
          <a:prstGeom prst="rect">
            <a:avLst/>
          </a:prstGeom>
          <a:solidFill>
            <a:srgbClr val="4B5F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200" b="1" noProof="0" dirty="0">
                <a:solidFill>
                  <a:schemeClr val="bg1"/>
                </a:solidFill>
                <a:latin typeface="Nunito Sans" pitchFamily="2" charset="77"/>
              </a:rPr>
              <a:t>Liquid Assets</a:t>
            </a:r>
          </a:p>
          <a:p>
            <a:r>
              <a:rPr lang="en-US" sz="1200" b="1" noProof="0" dirty="0">
                <a:solidFill>
                  <a:schemeClr val="bg1"/>
                </a:solidFill>
                <a:latin typeface="Nunito Sans" pitchFamily="2" charset="77"/>
              </a:rPr>
              <a:t>– Core Universe</a:t>
            </a:r>
            <a:endParaRPr lang="en-US" sz="1200" noProof="0" dirty="0"/>
          </a:p>
          <a:p>
            <a:endParaRPr lang="en-US" sz="1200" noProof="0" dirty="0"/>
          </a:p>
          <a:p>
            <a:endParaRPr lang="en-US" sz="1200" noProof="0" dirty="0"/>
          </a:p>
          <a:p>
            <a:r>
              <a:rPr lang="en-US" sz="1200" noProof="0" dirty="0"/>
              <a:t> </a:t>
            </a:r>
          </a:p>
        </p:txBody>
      </p:sp>
      <p:sp>
        <p:nvSpPr>
          <p:cNvPr id="28" name="Rectangle 27">
            <a:extLst>
              <a:ext uri="{FF2B5EF4-FFF2-40B4-BE49-F238E27FC236}">
                <a16:creationId xmlns:a16="http://schemas.microsoft.com/office/drawing/2014/main" id="{E732559E-C59B-5191-300C-E5F680981297}"/>
              </a:ext>
            </a:extLst>
          </p:cNvPr>
          <p:cNvSpPr/>
          <p:nvPr/>
        </p:nvSpPr>
        <p:spPr>
          <a:xfrm>
            <a:off x="5501969" y="4080655"/>
            <a:ext cx="1980000" cy="864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200" b="1" noProof="0" dirty="0">
                <a:solidFill>
                  <a:schemeClr val="bg1"/>
                </a:solidFill>
                <a:latin typeface="Nunito Sans" pitchFamily="2" charset="77"/>
              </a:rPr>
              <a:t>Alternatives</a:t>
            </a:r>
            <a:endParaRPr lang="en-US" sz="1200" noProof="0" dirty="0"/>
          </a:p>
          <a:p>
            <a:endParaRPr lang="en-US" sz="1200" noProof="0" dirty="0"/>
          </a:p>
          <a:p>
            <a:endParaRPr lang="en-US" sz="1200" noProof="0" dirty="0"/>
          </a:p>
          <a:p>
            <a:r>
              <a:rPr lang="en-US" sz="1200" noProof="0" dirty="0"/>
              <a:t> </a:t>
            </a:r>
          </a:p>
        </p:txBody>
      </p:sp>
      <p:sp>
        <p:nvSpPr>
          <p:cNvPr id="29" name="Rectangle 28">
            <a:extLst>
              <a:ext uri="{FF2B5EF4-FFF2-40B4-BE49-F238E27FC236}">
                <a16:creationId xmlns:a16="http://schemas.microsoft.com/office/drawing/2014/main" id="{4640AD82-B043-F382-09CC-59B25044B075}"/>
              </a:ext>
            </a:extLst>
          </p:cNvPr>
          <p:cNvSpPr/>
          <p:nvPr/>
        </p:nvSpPr>
        <p:spPr>
          <a:xfrm>
            <a:off x="5501969" y="5010291"/>
            <a:ext cx="1980000" cy="864000"/>
          </a:xfrm>
          <a:prstGeom prst="rect">
            <a:avLst/>
          </a:prstGeom>
          <a:solidFill>
            <a:srgbClr val="00CEB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200" b="1" noProof="0" dirty="0">
                <a:solidFill>
                  <a:schemeClr val="bg1"/>
                </a:solidFill>
                <a:latin typeface="Nunito Sans" pitchFamily="2" charset="77"/>
              </a:rPr>
              <a:t>Digital</a:t>
            </a:r>
            <a:endParaRPr lang="en-US" sz="1200" noProof="0" dirty="0"/>
          </a:p>
          <a:p>
            <a:endParaRPr lang="en-US" sz="1200" noProof="0" dirty="0"/>
          </a:p>
          <a:p>
            <a:endParaRPr lang="en-US" sz="1200" noProof="0" dirty="0"/>
          </a:p>
          <a:p>
            <a:r>
              <a:rPr lang="en-US" sz="1200" noProof="0" dirty="0"/>
              <a:t> </a:t>
            </a:r>
          </a:p>
        </p:txBody>
      </p:sp>
      <p:sp>
        <p:nvSpPr>
          <p:cNvPr id="30" name="Rectangle 29">
            <a:extLst>
              <a:ext uri="{FF2B5EF4-FFF2-40B4-BE49-F238E27FC236}">
                <a16:creationId xmlns:a16="http://schemas.microsoft.com/office/drawing/2014/main" id="{ED4C7966-A355-241D-FDC6-73A1041281F1}"/>
              </a:ext>
            </a:extLst>
          </p:cNvPr>
          <p:cNvSpPr/>
          <p:nvPr/>
        </p:nvSpPr>
        <p:spPr>
          <a:xfrm>
            <a:off x="5501969" y="3157663"/>
            <a:ext cx="1980000" cy="864000"/>
          </a:xfrm>
          <a:prstGeom prst="rect">
            <a:avLst/>
          </a:prstGeom>
          <a:solidFill>
            <a:srgbClr val="FFA4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200" b="1" noProof="0" dirty="0">
                <a:solidFill>
                  <a:schemeClr val="bg1"/>
                </a:solidFill>
                <a:latin typeface="Nunito Sans" pitchFamily="2" charset="77"/>
              </a:rPr>
              <a:t>Structured Products &amp; Derivatives</a:t>
            </a:r>
            <a:endParaRPr lang="en-US" sz="1200" noProof="0" dirty="0"/>
          </a:p>
          <a:p>
            <a:endParaRPr lang="en-US" sz="1200" noProof="0" dirty="0"/>
          </a:p>
          <a:p>
            <a:r>
              <a:rPr lang="en-US" sz="1200" noProof="0" dirty="0"/>
              <a:t> </a:t>
            </a:r>
          </a:p>
        </p:txBody>
      </p:sp>
      <p:sp>
        <p:nvSpPr>
          <p:cNvPr id="31" name="Rectangle 30">
            <a:extLst>
              <a:ext uri="{FF2B5EF4-FFF2-40B4-BE49-F238E27FC236}">
                <a16:creationId xmlns:a16="http://schemas.microsoft.com/office/drawing/2014/main" id="{82D17B69-D730-2315-0ED4-5B1A4819AC8D}"/>
              </a:ext>
            </a:extLst>
          </p:cNvPr>
          <p:cNvSpPr/>
          <p:nvPr/>
        </p:nvSpPr>
        <p:spPr>
          <a:xfrm>
            <a:off x="2663905" y="4537722"/>
            <a:ext cx="2520000" cy="6480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r>
              <a:rPr lang="en-US" sz="1100" b="1" noProof="0" dirty="0">
                <a:solidFill>
                  <a:schemeClr val="bg1"/>
                </a:solidFill>
                <a:latin typeface="Nunito Sans" pitchFamily="2" charset="77"/>
              </a:rPr>
              <a:t>Funds – </a:t>
            </a:r>
            <a:r>
              <a:rPr lang="en-US" sz="1100" noProof="0" dirty="0">
                <a:solidFill>
                  <a:schemeClr val="bg1"/>
                </a:solidFill>
                <a:latin typeface="Nunito Sans" pitchFamily="2" charset="77"/>
              </a:rPr>
              <a:t>professionally managed funds to diversify and grow</a:t>
            </a:r>
            <a:endParaRPr lang="en-US" sz="1100" noProof="0" dirty="0"/>
          </a:p>
          <a:p>
            <a:endParaRPr lang="en-US" sz="1100" noProof="0" dirty="0"/>
          </a:p>
          <a:p>
            <a:endParaRPr lang="en-US" sz="1100" noProof="0" dirty="0"/>
          </a:p>
          <a:p>
            <a:r>
              <a:rPr lang="en-US" sz="1100" noProof="0" dirty="0"/>
              <a:t> </a:t>
            </a:r>
          </a:p>
        </p:txBody>
      </p:sp>
      <p:sp>
        <p:nvSpPr>
          <p:cNvPr id="32" name="Rectangle 31">
            <a:extLst>
              <a:ext uri="{FF2B5EF4-FFF2-40B4-BE49-F238E27FC236}">
                <a16:creationId xmlns:a16="http://schemas.microsoft.com/office/drawing/2014/main" id="{F54FC821-E25B-97FF-02F9-D8CF940F5BA3}"/>
              </a:ext>
            </a:extLst>
          </p:cNvPr>
          <p:cNvSpPr/>
          <p:nvPr/>
        </p:nvSpPr>
        <p:spPr>
          <a:xfrm>
            <a:off x="2663905" y="5226291"/>
            <a:ext cx="2520000" cy="6480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r>
              <a:rPr lang="en-US" sz="1100" b="1" noProof="0" dirty="0">
                <a:solidFill>
                  <a:schemeClr val="bg1"/>
                </a:solidFill>
                <a:latin typeface="Nunito Sans" pitchFamily="2" charset="77"/>
              </a:rPr>
              <a:t>FX &amp; Commodities – </a:t>
            </a:r>
            <a:r>
              <a:rPr lang="en-US" sz="1100" noProof="0" dirty="0">
                <a:solidFill>
                  <a:schemeClr val="bg1"/>
                </a:solidFill>
                <a:latin typeface="Nunito Sans" pitchFamily="2" charset="77"/>
              </a:rPr>
              <a:t>navigate through global markets to </a:t>
            </a:r>
            <a:r>
              <a:rPr lang="en-US" sz="1100" noProof="0" dirty="0" err="1">
                <a:solidFill>
                  <a:schemeClr val="bg1"/>
                </a:solidFill>
                <a:latin typeface="Nunito Sans" pitchFamily="2" charset="77"/>
              </a:rPr>
              <a:t>optimise</a:t>
            </a:r>
            <a:r>
              <a:rPr lang="en-US" sz="1100" noProof="0" dirty="0">
                <a:solidFill>
                  <a:schemeClr val="bg1"/>
                </a:solidFill>
                <a:latin typeface="Nunito Sans" pitchFamily="2" charset="77"/>
              </a:rPr>
              <a:t> your portfolios</a:t>
            </a:r>
            <a:endParaRPr lang="en-US" sz="1100" noProof="0" dirty="0"/>
          </a:p>
          <a:p>
            <a:endParaRPr lang="en-US" sz="1100" noProof="0" dirty="0"/>
          </a:p>
          <a:p>
            <a:endParaRPr lang="en-US" sz="1100" noProof="0" dirty="0"/>
          </a:p>
          <a:p>
            <a:r>
              <a:rPr lang="en-US" sz="1100" noProof="0" dirty="0"/>
              <a:t> </a:t>
            </a:r>
          </a:p>
        </p:txBody>
      </p:sp>
      <p:sp>
        <p:nvSpPr>
          <p:cNvPr id="33" name="Rectangle 32">
            <a:extLst>
              <a:ext uri="{FF2B5EF4-FFF2-40B4-BE49-F238E27FC236}">
                <a16:creationId xmlns:a16="http://schemas.microsoft.com/office/drawing/2014/main" id="{E038A816-ECA8-8DB2-4B4D-DF6BDEFF1832}"/>
              </a:ext>
            </a:extLst>
          </p:cNvPr>
          <p:cNvSpPr/>
          <p:nvPr/>
        </p:nvSpPr>
        <p:spPr>
          <a:xfrm>
            <a:off x="7506647" y="4080655"/>
            <a:ext cx="2520000" cy="864000"/>
          </a:xfrm>
          <a:prstGeom prst="rect">
            <a:avLst/>
          </a:prstGeom>
          <a:solidFill>
            <a:schemeClr val="accent4">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r>
              <a:rPr lang="en-US" sz="1100" noProof="0" dirty="0">
                <a:solidFill>
                  <a:schemeClr val="bg1"/>
                </a:solidFill>
                <a:latin typeface="Nunito Sans" pitchFamily="2" charset="77"/>
              </a:rPr>
              <a:t>Venture beyond the conventional with alternative investments, access our exclusive private market opportunities</a:t>
            </a:r>
            <a:endParaRPr lang="en-US" sz="1100" noProof="0" dirty="0"/>
          </a:p>
          <a:p>
            <a:endParaRPr lang="en-US" sz="1100" noProof="0" dirty="0"/>
          </a:p>
          <a:p>
            <a:endParaRPr lang="en-US" sz="1100" noProof="0" dirty="0"/>
          </a:p>
          <a:p>
            <a:r>
              <a:rPr lang="en-US" sz="1100" noProof="0" dirty="0"/>
              <a:t> </a:t>
            </a:r>
          </a:p>
        </p:txBody>
      </p:sp>
      <p:sp>
        <p:nvSpPr>
          <p:cNvPr id="34" name="Rectangle 33">
            <a:extLst>
              <a:ext uri="{FF2B5EF4-FFF2-40B4-BE49-F238E27FC236}">
                <a16:creationId xmlns:a16="http://schemas.microsoft.com/office/drawing/2014/main" id="{A1B2DA92-BFAE-34F5-2C9C-2768CD31CEBF}"/>
              </a:ext>
            </a:extLst>
          </p:cNvPr>
          <p:cNvSpPr/>
          <p:nvPr/>
        </p:nvSpPr>
        <p:spPr>
          <a:xfrm>
            <a:off x="7506647" y="5010291"/>
            <a:ext cx="2520000" cy="864000"/>
          </a:xfrm>
          <a:prstGeom prst="rect">
            <a:avLst/>
          </a:prstGeom>
          <a:solidFill>
            <a:srgbClr val="00CEB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pPr>
              <a:spcBef>
                <a:spcPts val="300"/>
              </a:spcBef>
            </a:pPr>
            <a:r>
              <a:rPr lang="en-US" sz="1100" noProof="0" dirty="0">
                <a:solidFill>
                  <a:schemeClr val="bg1"/>
                </a:solidFill>
                <a:latin typeface="Nunito Sans" pitchFamily="2" charset="77"/>
              </a:rPr>
              <a:t>Position yourself for financial innovation</a:t>
            </a:r>
          </a:p>
          <a:p>
            <a:pPr>
              <a:spcBef>
                <a:spcPts val="300"/>
              </a:spcBef>
            </a:pPr>
            <a:r>
              <a:rPr lang="en-US" sz="1100" noProof="0" dirty="0">
                <a:solidFill>
                  <a:schemeClr val="bg1"/>
                </a:solidFill>
                <a:latin typeface="Nunito Sans" pitchFamily="2" charset="77"/>
              </a:rPr>
              <a:t>Embrace the future with digital assets like Bitcoin and Ethereum</a:t>
            </a:r>
            <a:endParaRPr lang="en-US" sz="1100" noProof="0" dirty="0"/>
          </a:p>
          <a:p>
            <a:pPr>
              <a:spcBef>
                <a:spcPts val="300"/>
              </a:spcBef>
            </a:pPr>
            <a:endParaRPr lang="en-US" sz="1100" noProof="0" dirty="0"/>
          </a:p>
          <a:p>
            <a:pPr>
              <a:spcBef>
                <a:spcPts val="300"/>
              </a:spcBef>
            </a:pPr>
            <a:endParaRPr lang="en-US" sz="1100" noProof="0" dirty="0"/>
          </a:p>
          <a:p>
            <a:pPr>
              <a:spcBef>
                <a:spcPts val="300"/>
              </a:spcBef>
            </a:pPr>
            <a:r>
              <a:rPr lang="en-US" sz="1100" noProof="0" dirty="0"/>
              <a:t> </a:t>
            </a:r>
          </a:p>
        </p:txBody>
      </p:sp>
      <p:sp>
        <p:nvSpPr>
          <p:cNvPr id="35" name="Rectangle 34">
            <a:extLst>
              <a:ext uri="{FF2B5EF4-FFF2-40B4-BE49-F238E27FC236}">
                <a16:creationId xmlns:a16="http://schemas.microsoft.com/office/drawing/2014/main" id="{588DE45E-D160-9628-C357-794C49C05103}"/>
              </a:ext>
            </a:extLst>
          </p:cNvPr>
          <p:cNvSpPr/>
          <p:nvPr/>
        </p:nvSpPr>
        <p:spPr>
          <a:xfrm>
            <a:off x="7506647" y="3157663"/>
            <a:ext cx="2520000" cy="864000"/>
          </a:xfrm>
          <a:prstGeom prst="rect">
            <a:avLst/>
          </a:prstGeom>
          <a:solidFill>
            <a:srgbClr val="FFA40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r>
              <a:rPr lang="en-US" sz="1100" noProof="0" dirty="0">
                <a:solidFill>
                  <a:schemeClr val="bg1"/>
                </a:solidFill>
                <a:latin typeface="Nunito Sans" pitchFamily="2" charset="77"/>
              </a:rPr>
              <a:t>Explore sophisticated financial instruments tailored for your needs – such as options, futures, structured products</a:t>
            </a:r>
            <a:endParaRPr lang="en-US" sz="1100" noProof="0" dirty="0"/>
          </a:p>
          <a:p>
            <a:endParaRPr lang="en-US" sz="1100" noProof="0" dirty="0"/>
          </a:p>
          <a:p>
            <a:r>
              <a:rPr lang="en-US" sz="1100" noProof="0" dirty="0"/>
              <a:t> </a:t>
            </a:r>
          </a:p>
        </p:txBody>
      </p:sp>
      <p:sp>
        <p:nvSpPr>
          <p:cNvPr id="36" name="Oval 35">
            <a:extLst>
              <a:ext uri="{FF2B5EF4-FFF2-40B4-BE49-F238E27FC236}">
                <a16:creationId xmlns:a16="http://schemas.microsoft.com/office/drawing/2014/main" id="{A2244394-A55C-4B54-BE29-FB8CE4A695B6}"/>
              </a:ext>
            </a:extLst>
          </p:cNvPr>
          <p:cNvSpPr/>
          <p:nvPr/>
        </p:nvSpPr>
        <p:spPr>
          <a:xfrm>
            <a:off x="5147905" y="5876871"/>
            <a:ext cx="396000" cy="39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000" b="1" noProof="0" dirty="0">
                <a:solidFill>
                  <a:srgbClr val="EB3F8E"/>
                </a:solidFill>
              </a:rPr>
              <a:t>+</a:t>
            </a:r>
          </a:p>
        </p:txBody>
      </p:sp>
    </p:spTree>
    <p:extLst>
      <p:ext uri="{BB962C8B-B14F-4D97-AF65-F5344CB8AC3E}">
        <p14:creationId xmlns:p14="http://schemas.microsoft.com/office/powerpoint/2010/main" val="8996814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18AE7-B966-9DA2-CC56-D1C07D377A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88428F-CC0C-803B-D8D1-E8BE6F51561C}"/>
              </a:ext>
            </a:extLst>
          </p:cNvPr>
          <p:cNvSpPr>
            <a:spLocks noGrp="1"/>
          </p:cNvSpPr>
          <p:nvPr>
            <p:ph type="title"/>
          </p:nvPr>
        </p:nvSpPr>
        <p:spPr/>
        <p:txBody>
          <a:bodyPr/>
          <a:lstStyle/>
          <a:p>
            <a:r>
              <a:rPr lang="en-US">
                <a:gradFill flip="none" rotWithShape="1">
                  <a:gsLst>
                    <a:gs pos="0">
                      <a:srgbClr val="FFA400"/>
                    </a:gs>
                    <a:gs pos="100000">
                      <a:srgbClr val="FF6C0E"/>
                    </a:gs>
                  </a:gsLst>
                  <a:path path="circle">
                    <a:fillToRect l="100000" t="100000"/>
                  </a:path>
                  <a:tileRect r="-100000" b="-100000"/>
                </a:gradFill>
                <a:latin typeface="Nunito Sans ExtraBold" pitchFamily="2" charset="77"/>
              </a:rPr>
              <a:t>Alternative Investments Opportunities </a:t>
            </a:r>
            <a:endParaRPr lang="en-CH" b="0">
              <a:solidFill>
                <a:srgbClr val="FFA400"/>
              </a:solidFill>
            </a:endParaRPr>
          </a:p>
        </p:txBody>
      </p:sp>
      <p:sp>
        <p:nvSpPr>
          <p:cNvPr id="31" name="Text Placeholder 47">
            <a:extLst>
              <a:ext uri="{FF2B5EF4-FFF2-40B4-BE49-F238E27FC236}">
                <a16:creationId xmlns:a16="http://schemas.microsoft.com/office/drawing/2014/main" id="{56129C8D-2D69-682A-75B1-319495380B6B}"/>
              </a:ext>
            </a:extLst>
          </p:cNvPr>
          <p:cNvSpPr>
            <a:spLocks noGrp="1"/>
          </p:cNvSpPr>
          <p:nvPr>
            <p:ph type="body" sz="quarter" idx="10"/>
          </p:nvPr>
        </p:nvSpPr>
        <p:spPr>
          <a:xfrm>
            <a:off x="665163" y="1764000"/>
            <a:ext cx="9398001" cy="251512"/>
          </a:xfrm>
        </p:spPr>
        <p:txBody>
          <a:bodyPr/>
          <a:lstStyle/>
          <a:p>
            <a:r>
              <a:rPr lang="en-US" sz="1400">
                <a:solidFill>
                  <a:schemeClr val="tx2"/>
                </a:solidFill>
                <a:latin typeface="+mn-lt"/>
              </a:rPr>
              <a:t>Alternative investments offer strategies with distinct time horizons, risk profiles, and return expectations</a:t>
            </a:r>
            <a:endParaRPr lang="en-GB" sz="1400">
              <a:solidFill>
                <a:schemeClr val="tx2"/>
              </a:solidFill>
              <a:latin typeface="+mn-lt"/>
            </a:endParaRPr>
          </a:p>
        </p:txBody>
      </p:sp>
      <p:sp>
        <p:nvSpPr>
          <p:cNvPr id="16" name="Title 1">
            <a:extLst>
              <a:ext uri="{FF2B5EF4-FFF2-40B4-BE49-F238E27FC236}">
                <a16:creationId xmlns:a16="http://schemas.microsoft.com/office/drawing/2014/main" id="{5C4EB385-3BAF-6748-4771-F63F9C73F7B3}"/>
              </a:ext>
            </a:extLst>
          </p:cNvPr>
          <p:cNvSpPr txBox="1">
            <a:spLocks/>
          </p:cNvSpPr>
          <p:nvPr/>
        </p:nvSpPr>
        <p:spPr>
          <a:xfrm>
            <a:off x="817563" y="1184838"/>
            <a:ext cx="9398001" cy="864586"/>
          </a:xfrm>
          <a:prstGeom prst="rect">
            <a:avLst/>
          </a:prstGeom>
        </p:spPr>
        <p:txBody>
          <a:bodyPr vert="horz" lIns="0" tIns="0" rIns="0" bIns="0" rtlCol="0" anchor="t" anchorCtr="0">
            <a:noAutofit/>
          </a:bodyPr>
          <a:lstStyle>
            <a:lvl1pPr algn="l" defTabSz="1007943" rtl="0" eaLnBrk="1" latinLnBrk="0" hangingPunct="1">
              <a:lnSpc>
                <a:spcPct val="90000"/>
              </a:lnSpc>
              <a:spcBef>
                <a:spcPct val="0"/>
              </a:spcBef>
              <a:buNone/>
              <a:defRPr sz="2300" b="1" kern="1200">
                <a:gradFill flip="none" rotWithShape="1">
                  <a:gsLst>
                    <a:gs pos="0">
                      <a:schemeClr val="accent4"/>
                    </a:gs>
                    <a:gs pos="100000">
                      <a:srgbClr val="FFA400"/>
                    </a:gs>
                  </a:gsLst>
                  <a:lin ang="0" scaled="1"/>
                  <a:tileRect/>
                </a:gradFill>
                <a:latin typeface="+mj-lt"/>
                <a:ea typeface="+mj-ea"/>
                <a:cs typeface="+mj-cs"/>
              </a:defRPr>
            </a:lvl1pPr>
          </a:lstStyle>
          <a:p>
            <a:endParaRPr lang="en-CH" b="0">
              <a:solidFill>
                <a:srgbClr val="FFA400"/>
              </a:solidFill>
            </a:endParaRPr>
          </a:p>
        </p:txBody>
      </p:sp>
      <p:sp>
        <p:nvSpPr>
          <p:cNvPr id="3" name="Rectangle 2">
            <a:extLst>
              <a:ext uri="{FF2B5EF4-FFF2-40B4-BE49-F238E27FC236}">
                <a16:creationId xmlns:a16="http://schemas.microsoft.com/office/drawing/2014/main" id="{DBEA7080-5156-E76F-06B9-AD42073BA840}"/>
              </a:ext>
            </a:extLst>
          </p:cNvPr>
          <p:cNvSpPr/>
          <p:nvPr/>
        </p:nvSpPr>
        <p:spPr>
          <a:xfrm>
            <a:off x="665163" y="2718000"/>
            <a:ext cx="2046506" cy="630620"/>
          </a:xfrm>
          <a:prstGeom prst="rect">
            <a:avLst/>
          </a:prstGeom>
          <a:solidFill>
            <a:schemeClr val="bg1"/>
          </a:solidFill>
          <a:ln>
            <a:noFill/>
          </a:ln>
          <a:effectLst>
            <a:outerShdw blurRad="63500" sx="102000" sy="102000" algn="ctr" rotWithShape="0">
              <a:schemeClr val="accent6">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1">
                <a:solidFill>
                  <a:srgbClr val="3BAF90"/>
                </a:solidFill>
              </a:rPr>
              <a:t>Hedge Funds </a:t>
            </a:r>
            <a:endParaRPr lang="en-CH" sz="1400" b="1">
              <a:solidFill>
                <a:srgbClr val="3BAF90"/>
              </a:solidFill>
            </a:endParaRPr>
          </a:p>
        </p:txBody>
      </p:sp>
      <p:sp>
        <p:nvSpPr>
          <p:cNvPr id="5" name="Rectangle 4">
            <a:extLst>
              <a:ext uri="{FF2B5EF4-FFF2-40B4-BE49-F238E27FC236}">
                <a16:creationId xmlns:a16="http://schemas.microsoft.com/office/drawing/2014/main" id="{FEA2857D-D79F-4BE3-6531-15BD0F763E9C}"/>
              </a:ext>
            </a:extLst>
          </p:cNvPr>
          <p:cNvSpPr/>
          <p:nvPr/>
        </p:nvSpPr>
        <p:spPr>
          <a:xfrm>
            <a:off x="3115781" y="2718000"/>
            <a:ext cx="2046506" cy="630620"/>
          </a:xfrm>
          <a:prstGeom prst="rect">
            <a:avLst/>
          </a:prstGeom>
          <a:solidFill>
            <a:schemeClr val="bg1"/>
          </a:solidFill>
          <a:ln>
            <a:noFill/>
          </a:ln>
          <a:effectLst>
            <a:outerShdw blurRad="63500" sx="102000" sy="102000" algn="ctr" rotWithShape="0">
              <a:schemeClr val="accent6">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1">
                <a:solidFill>
                  <a:schemeClr val="tx2"/>
                </a:solidFill>
              </a:rPr>
              <a:t>Private Debt </a:t>
            </a:r>
            <a:endParaRPr lang="en-CH" sz="1400" b="1">
              <a:solidFill>
                <a:schemeClr val="tx2"/>
              </a:solidFill>
            </a:endParaRPr>
          </a:p>
        </p:txBody>
      </p:sp>
      <p:sp>
        <p:nvSpPr>
          <p:cNvPr id="7" name="Rectangle 6">
            <a:extLst>
              <a:ext uri="{FF2B5EF4-FFF2-40B4-BE49-F238E27FC236}">
                <a16:creationId xmlns:a16="http://schemas.microsoft.com/office/drawing/2014/main" id="{855E8DF0-62CD-2380-6765-B2E4C5A68223}"/>
              </a:ext>
            </a:extLst>
          </p:cNvPr>
          <p:cNvSpPr/>
          <p:nvPr/>
        </p:nvSpPr>
        <p:spPr>
          <a:xfrm>
            <a:off x="5566399" y="2718000"/>
            <a:ext cx="2046506" cy="630620"/>
          </a:xfrm>
          <a:prstGeom prst="rect">
            <a:avLst/>
          </a:prstGeom>
          <a:solidFill>
            <a:schemeClr val="bg1"/>
          </a:solidFill>
          <a:ln>
            <a:noFill/>
          </a:ln>
          <a:effectLst>
            <a:outerShdw blurRad="63500" sx="102000" sy="102000" algn="ctr" rotWithShape="0">
              <a:schemeClr val="accent6">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1">
                <a:solidFill>
                  <a:srgbClr val="79D6FF"/>
                </a:solidFill>
              </a:rPr>
              <a:t>Private Equity </a:t>
            </a:r>
            <a:endParaRPr lang="en-CH" sz="1400" b="1">
              <a:solidFill>
                <a:srgbClr val="79D6FF"/>
              </a:solidFill>
            </a:endParaRPr>
          </a:p>
        </p:txBody>
      </p:sp>
      <p:cxnSp>
        <p:nvCxnSpPr>
          <p:cNvPr id="14" name="Straight Arrow Connector 13">
            <a:extLst>
              <a:ext uri="{FF2B5EF4-FFF2-40B4-BE49-F238E27FC236}">
                <a16:creationId xmlns:a16="http://schemas.microsoft.com/office/drawing/2014/main" id="{A8B4A93B-C67A-D0B7-58CC-AD0769BD0DA5}"/>
              </a:ext>
            </a:extLst>
          </p:cNvPr>
          <p:cNvCxnSpPr>
            <a:cxnSpLocks/>
          </p:cNvCxnSpPr>
          <p:nvPr/>
        </p:nvCxnSpPr>
        <p:spPr>
          <a:xfrm flipV="1">
            <a:off x="665163" y="2439664"/>
            <a:ext cx="9472065" cy="4340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 name="Text Placeholder 2">
            <a:extLst>
              <a:ext uri="{FF2B5EF4-FFF2-40B4-BE49-F238E27FC236}">
                <a16:creationId xmlns:a16="http://schemas.microsoft.com/office/drawing/2014/main" id="{66B0D49E-EB11-E676-CF75-BDC23EF7FF77}"/>
              </a:ext>
            </a:extLst>
          </p:cNvPr>
          <p:cNvSpPr txBox="1">
            <a:spLocks/>
          </p:cNvSpPr>
          <p:nvPr/>
        </p:nvSpPr>
        <p:spPr>
          <a:xfrm>
            <a:off x="665163" y="3639841"/>
            <a:ext cx="2046506" cy="830997"/>
          </a:xfrm>
          <a:prstGeom prst="rect">
            <a:avLst/>
          </a:prstGeom>
          <a:no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Wingdings 3" panose="05040102010807070707" pitchFamily="18" charset="2"/>
              <a:buChar char=""/>
            </a:pPr>
            <a:r>
              <a:rPr lang="en-US" sz="1100" b="1">
                <a:solidFill>
                  <a:schemeClr val="tx2"/>
                </a:solidFill>
                <a:latin typeface="Nunito Sans" panose="00000500000000000000" pitchFamily="2" charset="0"/>
                <a:ea typeface="MS Mincho"/>
                <a:cs typeface="Times New Roman"/>
              </a:rPr>
              <a:t>Funds-of-funds &amp; White label</a:t>
            </a:r>
          </a:p>
          <a:p>
            <a:pPr marL="285750" indent="-285750">
              <a:buFont typeface="Wingdings 3" panose="05040102010807070707" pitchFamily="18" charset="2"/>
              <a:buChar char=""/>
            </a:pPr>
            <a:r>
              <a:rPr lang="en-US" sz="1100" b="1">
                <a:solidFill>
                  <a:schemeClr val="tx2"/>
                </a:solidFill>
                <a:latin typeface="Nunito Sans" panose="00000500000000000000" pitchFamily="2" charset="0"/>
                <a:ea typeface="MS Mincho"/>
                <a:cs typeface="Times New Roman"/>
              </a:rPr>
              <a:t>Advisory</a:t>
            </a:r>
            <a:r>
              <a:rPr lang="en-US" sz="1100">
                <a:solidFill>
                  <a:schemeClr val="tx2"/>
                </a:solidFill>
                <a:latin typeface="Nunito Sans" panose="00000500000000000000" pitchFamily="2" charset="0"/>
                <a:ea typeface="MS Mincho"/>
                <a:cs typeface="Times New Roman"/>
              </a:rPr>
              <a:t> (customized single HF portfolios) </a:t>
            </a:r>
            <a:endParaRPr lang="en-US" sz="1200">
              <a:solidFill>
                <a:schemeClr val="tx2"/>
              </a:solidFill>
              <a:latin typeface="Nunito Sans" panose="00000500000000000000" pitchFamily="2" charset="0"/>
              <a:ea typeface="MS Mincho"/>
              <a:cs typeface="Times New Roman"/>
            </a:endParaRPr>
          </a:p>
        </p:txBody>
      </p:sp>
      <p:sp>
        <p:nvSpPr>
          <p:cNvPr id="21" name="Text Placeholder 2">
            <a:extLst>
              <a:ext uri="{FF2B5EF4-FFF2-40B4-BE49-F238E27FC236}">
                <a16:creationId xmlns:a16="http://schemas.microsoft.com/office/drawing/2014/main" id="{01979194-C581-149F-6966-B4286FE42012}"/>
              </a:ext>
            </a:extLst>
          </p:cNvPr>
          <p:cNvSpPr txBox="1">
            <a:spLocks/>
          </p:cNvSpPr>
          <p:nvPr/>
        </p:nvSpPr>
        <p:spPr>
          <a:xfrm>
            <a:off x="3115781" y="3639841"/>
            <a:ext cx="2046506" cy="1646605"/>
          </a:xfrm>
          <a:prstGeom prst="rect">
            <a:avLst/>
          </a:prstGeom>
          <a:no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Wingdings 3" panose="05040102010807070707" pitchFamily="18" charset="2"/>
              <a:buChar char=""/>
            </a:pPr>
            <a:r>
              <a:rPr lang="en-US" sz="1100" b="1">
                <a:solidFill>
                  <a:schemeClr val="tx2"/>
                </a:solidFill>
                <a:latin typeface="Nunito Sans" panose="00000500000000000000" pitchFamily="2" charset="0"/>
                <a:ea typeface="MS Mincho"/>
                <a:cs typeface="Times New Roman"/>
              </a:rPr>
              <a:t>Direct lending</a:t>
            </a:r>
            <a:r>
              <a:rPr lang="en-US" sz="1100">
                <a:solidFill>
                  <a:schemeClr val="tx2"/>
                </a:solidFill>
                <a:latin typeface="Nunito Sans" panose="00000500000000000000" pitchFamily="2" charset="0"/>
                <a:ea typeface="MS Mincho"/>
                <a:cs typeface="Times New Roman"/>
              </a:rPr>
              <a:t> to private companies, primarily through senior secured loans </a:t>
            </a:r>
          </a:p>
          <a:p>
            <a:endParaRPr lang="en-US" sz="1100">
              <a:solidFill>
                <a:schemeClr val="tx2"/>
              </a:solidFill>
              <a:latin typeface="Nunito Sans" panose="00000500000000000000" pitchFamily="2" charset="0"/>
              <a:ea typeface="MS Mincho"/>
              <a:cs typeface="Times New Roman"/>
            </a:endParaRPr>
          </a:p>
          <a:p>
            <a:pPr marL="285750" indent="-285750">
              <a:buFont typeface="Wingdings 3" panose="05040102010807070707" pitchFamily="18" charset="2"/>
              <a:buChar char=""/>
            </a:pPr>
            <a:endParaRPr lang="en-US" sz="1100" b="1">
              <a:solidFill>
                <a:schemeClr val="tx2"/>
              </a:solidFill>
              <a:latin typeface="Nunito Sans" panose="00000500000000000000" pitchFamily="2" charset="0"/>
              <a:ea typeface="MS Mincho"/>
              <a:cs typeface="Times New Roman"/>
            </a:endParaRPr>
          </a:p>
          <a:p>
            <a:r>
              <a:rPr lang="en-US" sz="1100" b="1">
                <a:solidFill>
                  <a:schemeClr val="tx2"/>
                </a:solidFill>
                <a:latin typeface="Nunito Sans" panose="00000500000000000000" pitchFamily="2" charset="0"/>
                <a:ea typeface="MS Mincho"/>
                <a:cs typeface="Times New Roman"/>
              </a:rPr>
              <a:t> </a:t>
            </a:r>
          </a:p>
        </p:txBody>
      </p:sp>
      <p:sp>
        <p:nvSpPr>
          <p:cNvPr id="22" name="Text Placeholder 2">
            <a:extLst>
              <a:ext uri="{FF2B5EF4-FFF2-40B4-BE49-F238E27FC236}">
                <a16:creationId xmlns:a16="http://schemas.microsoft.com/office/drawing/2014/main" id="{C3430266-C028-1C47-3F5C-302287ED2B2B}"/>
              </a:ext>
            </a:extLst>
          </p:cNvPr>
          <p:cNvSpPr txBox="1">
            <a:spLocks/>
          </p:cNvSpPr>
          <p:nvPr/>
        </p:nvSpPr>
        <p:spPr>
          <a:xfrm>
            <a:off x="5566399" y="3639841"/>
            <a:ext cx="2046506" cy="1000274"/>
          </a:xfrm>
          <a:prstGeom prst="rect">
            <a:avLst/>
          </a:prstGeom>
          <a:no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Wingdings 3" panose="05040102010807070707" pitchFamily="18" charset="2"/>
              <a:buChar char=""/>
            </a:pPr>
            <a:r>
              <a:rPr lang="en-US" sz="1100" b="1">
                <a:solidFill>
                  <a:schemeClr val="tx2"/>
                </a:solidFill>
                <a:latin typeface="Nunito Sans" panose="00000500000000000000" pitchFamily="2" charset="0"/>
                <a:ea typeface="MS Mincho"/>
                <a:cs typeface="Times New Roman"/>
              </a:rPr>
              <a:t>Deal-by-deal access </a:t>
            </a:r>
            <a:r>
              <a:rPr lang="en-US" sz="1100">
                <a:solidFill>
                  <a:schemeClr val="tx2"/>
                </a:solidFill>
                <a:latin typeface="Nunito Sans" panose="00000500000000000000" pitchFamily="2" charset="0"/>
                <a:ea typeface="MS Mincho"/>
                <a:cs typeface="Times New Roman"/>
              </a:rPr>
              <a:t>(majority investment)</a:t>
            </a:r>
          </a:p>
          <a:p>
            <a:pPr marL="285750" indent="-285750">
              <a:buFont typeface="Wingdings 3" panose="05040102010807070707" pitchFamily="18" charset="2"/>
              <a:buChar char=""/>
            </a:pPr>
            <a:r>
              <a:rPr lang="en-US" sz="1100" b="1">
                <a:solidFill>
                  <a:schemeClr val="tx2"/>
                </a:solidFill>
                <a:latin typeface="Nunito Sans" panose="00000500000000000000" pitchFamily="2" charset="0"/>
                <a:ea typeface="MS Mincho"/>
                <a:cs typeface="Times New Roman"/>
              </a:rPr>
              <a:t>European Buyout program </a:t>
            </a:r>
            <a:r>
              <a:rPr lang="en-US" sz="1100">
                <a:solidFill>
                  <a:schemeClr val="tx2"/>
                </a:solidFill>
                <a:latin typeface="Nunito Sans" panose="00000500000000000000" pitchFamily="2" charset="0"/>
                <a:ea typeface="MS Mincho"/>
                <a:cs typeface="Times New Roman"/>
              </a:rPr>
              <a:t>(primaries &amp; co-investments)  </a:t>
            </a:r>
            <a:endParaRPr lang="en-US" sz="1200">
              <a:solidFill>
                <a:schemeClr val="tx2"/>
              </a:solidFill>
              <a:latin typeface="Nunito Sans" panose="00000500000000000000" pitchFamily="2" charset="0"/>
              <a:ea typeface="MS Mincho"/>
              <a:cs typeface="Times New Roman"/>
            </a:endParaRPr>
          </a:p>
        </p:txBody>
      </p:sp>
      <p:cxnSp>
        <p:nvCxnSpPr>
          <p:cNvPr id="28" name="Straight Connector 27">
            <a:extLst>
              <a:ext uri="{FF2B5EF4-FFF2-40B4-BE49-F238E27FC236}">
                <a16:creationId xmlns:a16="http://schemas.microsoft.com/office/drawing/2014/main" id="{D095A4A3-52C5-6D42-19AC-8AF652CFB2A6}"/>
              </a:ext>
            </a:extLst>
          </p:cNvPr>
          <p:cNvCxnSpPr>
            <a:cxnSpLocks/>
          </p:cNvCxnSpPr>
          <p:nvPr/>
        </p:nvCxnSpPr>
        <p:spPr>
          <a:xfrm>
            <a:off x="7980363" y="4763806"/>
            <a:ext cx="2156865" cy="0"/>
          </a:xfrm>
          <a:prstGeom prst="line">
            <a:avLst/>
          </a:prstGeom>
          <a:ln w="19050">
            <a:solidFill>
              <a:schemeClr val="accent6">
                <a:lumMod val="60000"/>
                <a:lumOff val="40000"/>
              </a:schemeClr>
            </a:solidFill>
          </a:ln>
        </p:spPr>
        <p:style>
          <a:lnRef idx="3">
            <a:schemeClr val="accent6"/>
          </a:lnRef>
          <a:fillRef idx="0">
            <a:schemeClr val="accent6"/>
          </a:fillRef>
          <a:effectRef idx="2">
            <a:schemeClr val="accent6"/>
          </a:effectRef>
          <a:fontRef idx="minor">
            <a:schemeClr val="tx1"/>
          </a:fontRef>
        </p:style>
      </p:cxnSp>
      <p:cxnSp>
        <p:nvCxnSpPr>
          <p:cNvPr id="32" name="Straight Connector 31">
            <a:extLst>
              <a:ext uri="{FF2B5EF4-FFF2-40B4-BE49-F238E27FC236}">
                <a16:creationId xmlns:a16="http://schemas.microsoft.com/office/drawing/2014/main" id="{F1BB6955-B9E9-3E7A-40F9-802744BA56C7}"/>
              </a:ext>
            </a:extLst>
          </p:cNvPr>
          <p:cNvCxnSpPr>
            <a:cxnSpLocks/>
          </p:cNvCxnSpPr>
          <p:nvPr/>
        </p:nvCxnSpPr>
        <p:spPr>
          <a:xfrm>
            <a:off x="3029990" y="4763806"/>
            <a:ext cx="2156865" cy="0"/>
          </a:xfrm>
          <a:prstGeom prst="line">
            <a:avLst/>
          </a:prstGeom>
          <a:ln w="19050">
            <a:solidFill>
              <a:schemeClr val="accent6">
                <a:lumMod val="60000"/>
                <a:lumOff val="40000"/>
              </a:schemeClr>
            </a:solidFill>
          </a:ln>
        </p:spPr>
        <p:style>
          <a:lnRef idx="3">
            <a:schemeClr val="accent6"/>
          </a:lnRef>
          <a:fillRef idx="0">
            <a:schemeClr val="accent6"/>
          </a:fillRef>
          <a:effectRef idx="2">
            <a:schemeClr val="accent6"/>
          </a:effectRef>
          <a:fontRef idx="minor">
            <a:schemeClr val="tx1"/>
          </a:fontRef>
        </p:style>
      </p:cxnSp>
      <p:cxnSp>
        <p:nvCxnSpPr>
          <p:cNvPr id="33" name="Straight Connector 32">
            <a:extLst>
              <a:ext uri="{FF2B5EF4-FFF2-40B4-BE49-F238E27FC236}">
                <a16:creationId xmlns:a16="http://schemas.microsoft.com/office/drawing/2014/main" id="{2D06F13F-400D-F293-0052-06B1DBEB4C64}"/>
              </a:ext>
            </a:extLst>
          </p:cNvPr>
          <p:cNvCxnSpPr>
            <a:cxnSpLocks/>
          </p:cNvCxnSpPr>
          <p:nvPr/>
        </p:nvCxnSpPr>
        <p:spPr>
          <a:xfrm>
            <a:off x="554804" y="4763806"/>
            <a:ext cx="2156865" cy="0"/>
          </a:xfrm>
          <a:prstGeom prst="line">
            <a:avLst/>
          </a:prstGeom>
          <a:ln w="19050">
            <a:solidFill>
              <a:schemeClr val="accent6">
                <a:lumMod val="60000"/>
                <a:lumOff val="40000"/>
              </a:schemeClr>
            </a:solidFill>
          </a:ln>
        </p:spPr>
        <p:style>
          <a:lnRef idx="3">
            <a:schemeClr val="accent6"/>
          </a:lnRef>
          <a:fillRef idx="0">
            <a:schemeClr val="accent6"/>
          </a:fillRef>
          <a:effectRef idx="2">
            <a:schemeClr val="accent6"/>
          </a:effectRef>
          <a:fontRef idx="minor">
            <a:schemeClr val="tx1"/>
          </a:fontRef>
        </p:style>
      </p:cxnSp>
      <p:sp>
        <p:nvSpPr>
          <p:cNvPr id="4" name="Text Placeholder 2">
            <a:extLst>
              <a:ext uri="{FF2B5EF4-FFF2-40B4-BE49-F238E27FC236}">
                <a16:creationId xmlns:a16="http://schemas.microsoft.com/office/drawing/2014/main" id="{8FF08A51-089F-4973-5D2D-A17A89ECCE62}"/>
              </a:ext>
            </a:extLst>
          </p:cNvPr>
          <p:cNvSpPr txBox="1">
            <a:spLocks/>
          </p:cNvSpPr>
          <p:nvPr/>
        </p:nvSpPr>
        <p:spPr>
          <a:xfrm>
            <a:off x="665163" y="4980322"/>
            <a:ext cx="2046506" cy="1000274"/>
          </a:xfrm>
          <a:prstGeom prst="rect">
            <a:avLst/>
          </a:prstGeom>
          <a:solidFill>
            <a:schemeClr val="bg1">
              <a:lumMod val="95000"/>
            </a:schemeClr>
          </a:solid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Access to hard-to-reach managers and emerging talent</a:t>
            </a:r>
          </a:p>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Downside protection and performance resilience  </a:t>
            </a:r>
            <a:endParaRPr lang="en-US" sz="1200">
              <a:solidFill>
                <a:schemeClr val="tx2"/>
              </a:solidFill>
              <a:latin typeface="Nunito Sans" panose="00000500000000000000" pitchFamily="2" charset="0"/>
              <a:ea typeface="MS Mincho"/>
              <a:cs typeface="Times New Roman"/>
            </a:endParaRPr>
          </a:p>
        </p:txBody>
      </p:sp>
      <p:sp>
        <p:nvSpPr>
          <p:cNvPr id="6" name="Text Placeholder 2">
            <a:extLst>
              <a:ext uri="{FF2B5EF4-FFF2-40B4-BE49-F238E27FC236}">
                <a16:creationId xmlns:a16="http://schemas.microsoft.com/office/drawing/2014/main" id="{2998F7A4-45C3-8ECC-E111-3E4EB3E7798E}"/>
              </a:ext>
            </a:extLst>
          </p:cNvPr>
          <p:cNvSpPr txBox="1">
            <a:spLocks/>
          </p:cNvSpPr>
          <p:nvPr/>
        </p:nvSpPr>
        <p:spPr>
          <a:xfrm>
            <a:off x="3118616" y="4980322"/>
            <a:ext cx="2046506" cy="1169551"/>
          </a:xfrm>
          <a:prstGeom prst="rect">
            <a:avLst/>
          </a:prstGeom>
          <a:solidFill>
            <a:schemeClr val="bg1">
              <a:lumMod val="95000"/>
            </a:schemeClr>
          </a:solid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High returns with lower volatility and downside protection</a:t>
            </a:r>
          </a:p>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Monthly or quarterly income distribution potential</a:t>
            </a:r>
          </a:p>
        </p:txBody>
      </p:sp>
      <p:sp>
        <p:nvSpPr>
          <p:cNvPr id="8" name="Text Placeholder 2">
            <a:extLst>
              <a:ext uri="{FF2B5EF4-FFF2-40B4-BE49-F238E27FC236}">
                <a16:creationId xmlns:a16="http://schemas.microsoft.com/office/drawing/2014/main" id="{EEF89DF0-6AFA-08F9-6357-59ADAD3554EB}"/>
              </a:ext>
            </a:extLst>
          </p:cNvPr>
          <p:cNvSpPr txBox="1">
            <a:spLocks/>
          </p:cNvSpPr>
          <p:nvPr/>
        </p:nvSpPr>
        <p:spPr>
          <a:xfrm>
            <a:off x="5572069" y="4980322"/>
            <a:ext cx="2046506" cy="1154162"/>
          </a:xfrm>
          <a:prstGeom prst="rect">
            <a:avLst/>
          </a:prstGeom>
          <a:solidFill>
            <a:schemeClr val="bg1">
              <a:lumMod val="95000"/>
            </a:schemeClr>
          </a:solid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Focus on lower mid-market B2B sectors </a:t>
            </a:r>
          </a:p>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Disciplined, low-leverage investment approach</a:t>
            </a:r>
          </a:p>
          <a:p>
            <a:pPr marL="285750" indent="-285750">
              <a:buFont typeface="Arial" panose="020B0604020202020204" pitchFamily="34" charset="0"/>
              <a:buChar char="•"/>
            </a:pPr>
            <a:endParaRPr lang="en-US" sz="1100">
              <a:solidFill>
                <a:schemeClr val="tx2"/>
              </a:solidFill>
              <a:latin typeface="Nunito Sans" panose="00000500000000000000" pitchFamily="2" charset="0"/>
              <a:ea typeface="MS Mincho"/>
              <a:cs typeface="Times New Roman"/>
            </a:endParaRPr>
          </a:p>
        </p:txBody>
      </p:sp>
      <p:sp>
        <p:nvSpPr>
          <p:cNvPr id="9" name="TextBox 8">
            <a:extLst>
              <a:ext uri="{FF2B5EF4-FFF2-40B4-BE49-F238E27FC236}">
                <a16:creationId xmlns:a16="http://schemas.microsoft.com/office/drawing/2014/main" id="{10A9D906-9E27-7394-A082-F0C227C6DBA3}"/>
              </a:ext>
            </a:extLst>
          </p:cNvPr>
          <p:cNvSpPr txBox="1"/>
          <p:nvPr/>
        </p:nvSpPr>
        <p:spPr>
          <a:xfrm>
            <a:off x="1292772" y="2126018"/>
            <a:ext cx="1773621" cy="268107"/>
          </a:xfrm>
          <a:prstGeom prst="rect">
            <a:avLst/>
          </a:prstGeom>
          <a:noFill/>
        </p:spPr>
        <p:txBody>
          <a:bodyPr vert="horz" wrap="square" lIns="0" tIns="0" rIns="0" bIns="0" rtlCol="0">
            <a:noAutofit/>
          </a:bodyPr>
          <a:lstStyle/>
          <a:p>
            <a:pPr algn="l"/>
            <a:r>
              <a:rPr lang="en-US" sz="1200" b="1">
                <a:solidFill>
                  <a:schemeClr val="accent4"/>
                </a:solidFill>
              </a:rPr>
              <a:t>&gt;3 years </a:t>
            </a:r>
            <a:endParaRPr lang="en-CH" sz="1200" b="1" err="1">
              <a:solidFill>
                <a:schemeClr val="accent4"/>
              </a:solidFill>
            </a:endParaRPr>
          </a:p>
        </p:txBody>
      </p:sp>
      <p:sp>
        <p:nvSpPr>
          <p:cNvPr id="10" name="TextBox 9">
            <a:extLst>
              <a:ext uri="{FF2B5EF4-FFF2-40B4-BE49-F238E27FC236}">
                <a16:creationId xmlns:a16="http://schemas.microsoft.com/office/drawing/2014/main" id="{451677CD-2F2B-58FA-B654-93D5B018BB1A}"/>
              </a:ext>
            </a:extLst>
          </p:cNvPr>
          <p:cNvSpPr txBox="1"/>
          <p:nvPr/>
        </p:nvSpPr>
        <p:spPr>
          <a:xfrm>
            <a:off x="3780226" y="2126018"/>
            <a:ext cx="1773621" cy="268107"/>
          </a:xfrm>
          <a:prstGeom prst="rect">
            <a:avLst/>
          </a:prstGeom>
          <a:noFill/>
        </p:spPr>
        <p:txBody>
          <a:bodyPr vert="horz" wrap="square" lIns="0" tIns="0" rIns="0" bIns="0" rtlCol="0">
            <a:noAutofit/>
          </a:bodyPr>
          <a:lstStyle/>
          <a:p>
            <a:pPr algn="l"/>
            <a:r>
              <a:rPr lang="en-US" sz="1200" b="1">
                <a:solidFill>
                  <a:schemeClr val="accent4"/>
                </a:solidFill>
              </a:rPr>
              <a:t>3 - 7 years </a:t>
            </a:r>
            <a:endParaRPr lang="en-CH" sz="1200" b="1">
              <a:solidFill>
                <a:schemeClr val="accent4"/>
              </a:solidFill>
            </a:endParaRPr>
          </a:p>
        </p:txBody>
      </p:sp>
      <p:sp>
        <p:nvSpPr>
          <p:cNvPr id="11" name="TextBox 10">
            <a:extLst>
              <a:ext uri="{FF2B5EF4-FFF2-40B4-BE49-F238E27FC236}">
                <a16:creationId xmlns:a16="http://schemas.microsoft.com/office/drawing/2014/main" id="{12DE2AAC-70A2-E7D6-C8E3-027DAB2F121C}"/>
              </a:ext>
            </a:extLst>
          </p:cNvPr>
          <p:cNvSpPr txBox="1"/>
          <p:nvPr/>
        </p:nvSpPr>
        <p:spPr>
          <a:xfrm>
            <a:off x="6267680" y="2126018"/>
            <a:ext cx="1773621" cy="268107"/>
          </a:xfrm>
          <a:prstGeom prst="rect">
            <a:avLst/>
          </a:prstGeom>
          <a:noFill/>
        </p:spPr>
        <p:txBody>
          <a:bodyPr vert="horz" wrap="square" lIns="0" tIns="0" rIns="0" bIns="0" rtlCol="0">
            <a:noAutofit/>
          </a:bodyPr>
          <a:lstStyle/>
          <a:p>
            <a:pPr algn="l"/>
            <a:r>
              <a:rPr lang="en-US" sz="1200" b="1">
                <a:solidFill>
                  <a:schemeClr val="accent4"/>
                </a:solidFill>
              </a:rPr>
              <a:t>5-10 years </a:t>
            </a:r>
            <a:endParaRPr lang="en-CH" sz="1200" b="1">
              <a:solidFill>
                <a:schemeClr val="accent4"/>
              </a:solidFill>
            </a:endParaRPr>
          </a:p>
        </p:txBody>
      </p:sp>
      <p:sp>
        <p:nvSpPr>
          <p:cNvPr id="13" name="TextBox 12">
            <a:extLst>
              <a:ext uri="{FF2B5EF4-FFF2-40B4-BE49-F238E27FC236}">
                <a16:creationId xmlns:a16="http://schemas.microsoft.com/office/drawing/2014/main" id="{5A7FFB48-ABA7-644C-BE70-CAE191A65DA5}"/>
              </a:ext>
            </a:extLst>
          </p:cNvPr>
          <p:cNvSpPr txBox="1"/>
          <p:nvPr/>
        </p:nvSpPr>
        <p:spPr>
          <a:xfrm>
            <a:off x="725214" y="6256798"/>
            <a:ext cx="2156865" cy="282285"/>
          </a:xfrm>
          <a:prstGeom prst="rect">
            <a:avLst/>
          </a:prstGeom>
          <a:noFill/>
        </p:spPr>
        <p:txBody>
          <a:bodyPr vert="horz" wrap="square" lIns="0" tIns="0" rIns="0" bIns="0" rtlCol="0">
            <a:noAutofit/>
          </a:bodyPr>
          <a:lstStyle/>
          <a:p>
            <a:pPr algn="ctr"/>
            <a:r>
              <a:rPr lang="en-US" sz="1400" b="1">
                <a:solidFill>
                  <a:srgbClr val="3BAF90"/>
                </a:solidFill>
              </a:rPr>
              <a:t>Cash +3% to +15%</a:t>
            </a:r>
            <a:endParaRPr lang="en-CH" sz="1400" b="1">
              <a:solidFill>
                <a:srgbClr val="3BAF90"/>
              </a:solidFill>
            </a:endParaRPr>
          </a:p>
        </p:txBody>
      </p:sp>
      <p:sp>
        <p:nvSpPr>
          <p:cNvPr id="15" name="TextBox 14">
            <a:extLst>
              <a:ext uri="{FF2B5EF4-FFF2-40B4-BE49-F238E27FC236}">
                <a16:creationId xmlns:a16="http://schemas.microsoft.com/office/drawing/2014/main" id="{D03FFDDB-4ADE-607A-4EBB-16ACA624BBF4}"/>
              </a:ext>
            </a:extLst>
          </p:cNvPr>
          <p:cNvSpPr txBox="1"/>
          <p:nvPr/>
        </p:nvSpPr>
        <p:spPr>
          <a:xfrm>
            <a:off x="3125131" y="6256798"/>
            <a:ext cx="2156865" cy="304282"/>
          </a:xfrm>
          <a:prstGeom prst="rect">
            <a:avLst/>
          </a:prstGeom>
          <a:noFill/>
        </p:spPr>
        <p:txBody>
          <a:bodyPr vert="horz" wrap="square" lIns="0" tIns="0" rIns="0" bIns="0" rtlCol="0">
            <a:noAutofit/>
          </a:bodyPr>
          <a:lstStyle/>
          <a:p>
            <a:pPr algn="ctr"/>
            <a:r>
              <a:rPr lang="fi-FI" sz="1400" b="1">
                <a:solidFill>
                  <a:schemeClr val="tx2"/>
                </a:solidFill>
              </a:rPr>
              <a:t>7-11 % </a:t>
            </a:r>
            <a:endParaRPr lang="en-CH" sz="1400" b="1">
              <a:solidFill>
                <a:schemeClr val="tx2"/>
              </a:solidFill>
            </a:endParaRPr>
          </a:p>
        </p:txBody>
      </p:sp>
      <p:sp>
        <p:nvSpPr>
          <p:cNvPr id="17" name="TextBox 16">
            <a:extLst>
              <a:ext uri="{FF2B5EF4-FFF2-40B4-BE49-F238E27FC236}">
                <a16:creationId xmlns:a16="http://schemas.microsoft.com/office/drawing/2014/main" id="{E1C752E6-54BB-115A-D078-C107BBB66FB0}"/>
              </a:ext>
            </a:extLst>
          </p:cNvPr>
          <p:cNvSpPr txBox="1"/>
          <p:nvPr/>
        </p:nvSpPr>
        <p:spPr>
          <a:xfrm>
            <a:off x="5465526" y="6256798"/>
            <a:ext cx="2156865" cy="246507"/>
          </a:xfrm>
          <a:prstGeom prst="rect">
            <a:avLst/>
          </a:prstGeom>
          <a:noFill/>
        </p:spPr>
        <p:txBody>
          <a:bodyPr vert="horz" wrap="square" lIns="0" tIns="0" rIns="0" bIns="0" rtlCol="0">
            <a:noAutofit/>
          </a:bodyPr>
          <a:lstStyle>
            <a:defPPr>
              <a:defRPr lang="en-US"/>
            </a:defPPr>
            <a:lvl1pPr>
              <a:defRPr sz="1400" b="1"/>
            </a:lvl1pPr>
          </a:lstStyle>
          <a:p>
            <a:pPr algn="ctr"/>
            <a:r>
              <a:rPr lang="fi-FI">
                <a:solidFill>
                  <a:srgbClr val="79D6FF"/>
                </a:solidFill>
              </a:rPr>
              <a:t>&gt; 3x MOIC</a:t>
            </a:r>
            <a:endParaRPr lang="en-CH">
              <a:solidFill>
                <a:srgbClr val="79D6FF"/>
              </a:solidFill>
            </a:endParaRPr>
          </a:p>
        </p:txBody>
      </p:sp>
      <p:cxnSp>
        <p:nvCxnSpPr>
          <p:cNvPr id="20" name="Straight Connector 19">
            <a:extLst>
              <a:ext uri="{FF2B5EF4-FFF2-40B4-BE49-F238E27FC236}">
                <a16:creationId xmlns:a16="http://schemas.microsoft.com/office/drawing/2014/main" id="{7A1093C9-31FF-7449-1F84-2E9A3864B669}"/>
              </a:ext>
            </a:extLst>
          </p:cNvPr>
          <p:cNvCxnSpPr>
            <a:cxnSpLocks/>
          </p:cNvCxnSpPr>
          <p:nvPr/>
        </p:nvCxnSpPr>
        <p:spPr>
          <a:xfrm flipV="1">
            <a:off x="665163" y="6690961"/>
            <a:ext cx="9361487" cy="17266"/>
          </a:xfrm>
          <a:prstGeom prst="line">
            <a:avLst/>
          </a:prstGeom>
        </p:spPr>
        <p:style>
          <a:lnRef idx="3">
            <a:schemeClr val="accent6"/>
          </a:lnRef>
          <a:fillRef idx="0">
            <a:schemeClr val="accent6"/>
          </a:fillRef>
          <a:effectRef idx="2">
            <a:schemeClr val="accent6"/>
          </a:effectRef>
          <a:fontRef idx="minor">
            <a:schemeClr val="tx1"/>
          </a:fontRef>
        </p:style>
      </p:cxnSp>
      <p:cxnSp>
        <p:nvCxnSpPr>
          <p:cNvPr id="25" name="Straight Connector 24">
            <a:extLst>
              <a:ext uri="{FF2B5EF4-FFF2-40B4-BE49-F238E27FC236}">
                <a16:creationId xmlns:a16="http://schemas.microsoft.com/office/drawing/2014/main" id="{2215DB96-D898-46B0-541B-6F14C4BBC3CF}"/>
              </a:ext>
            </a:extLst>
          </p:cNvPr>
          <p:cNvCxnSpPr/>
          <p:nvPr/>
        </p:nvCxnSpPr>
        <p:spPr>
          <a:xfrm flipV="1">
            <a:off x="665163" y="6437619"/>
            <a:ext cx="0" cy="270608"/>
          </a:xfrm>
          <a:prstGeom prst="line">
            <a:avLst/>
          </a:prstGeom>
        </p:spPr>
        <p:style>
          <a:lnRef idx="3">
            <a:schemeClr val="accent6"/>
          </a:lnRef>
          <a:fillRef idx="0">
            <a:schemeClr val="accent6"/>
          </a:fillRef>
          <a:effectRef idx="2">
            <a:schemeClr val="accent6"/>
          </a:effectRef>
          <a:fontRef idx="minor">
            <a:schemeClr val="tx1"/>
          </a:fontRef>
        </p:style>
      </p:cxnSp>
      <p:cxnSp>
        <p:nvCxnSpPr>
          <p:cNvPr id="27" name="Straight Connector 26">
            <a:extLst>
              <a:ext uri="{FF2B5EF4-FFF2-40B4-BE49-F238E27FC236}">
                <a16:creationId xmlns:a16="http://schemas.microsoft.com/office/drawing/2014/main" id="{B67B5E6C-A583-BC28-2230-6099CB4C9C96}"/>
              </a:ext>
            </a:extLst>
          </p:cNvPr>
          <p:cNvCxnSpPr/>
          <p:nvPr/>
        </p:nvCxnSpPr>
        <p:spPr>
          <a:xfrm>
            <a:off x="5139559" y="6699594"/>
            <a:ext cx="0" cy="220719"/>
          </a:xfrm>
          <a:prstGeom prst="line">
            <a:avLst/>
          </a:prstGeom>
        </p:spPr>
        <p:style>
          <a:lnRef idx="3">
            <a:schemeClr val="accent6"/>
          </a:lnRef>
          <a:fillRef idx="0">
            <a:schemeClr val="accent6"/>
          </a:fillRef>
          <a:effectRef idx="2">
            <a:schemeClr val="accent6"/>
          </a:effectRef>
          <a:fontRef idx="minor">
            <a:schemeClr val="tx1"/>
          </a:fontRef>
        </p:style>
      </p:cxnSp>
      <p:cxnSp>
        <p:nvCxnSpPr>
          <p:cNvPr id="30" name="Straight Connector 29">
            <a:extLst>
              <a:ext uri="{FF2B5EF4-FFF2-40B4-BE49-F238E27FC236}">
                <a16:creationId xmlns:a16="http://schemas.microsoft.com/office/drawing/2014/main" id="{6360A527-8483-4716-B67C-13E716D2E432}"/>
              </a:ext>
            </a:extLst>
          </p:cNvPr>
          <p:cNvCxnSpPr>
            <a:cxnSpLocks/>
          </p:cNvCxnSpPr>
          <p:nvPr/>
        </p:nvCxnSpPr>
        <p:spPr>
          <a:xfrm flipV="1">
            <a:off x="10026650" y="6416568"/>
            <a:ext cx="0" cy="270000"/>
          </a:xfrm>
          <a:prstGeom prst="line">
            <a:avLst/>
          </a:prstGeom>
        </p:spPr>
        <p:style>
          <a:lnRef idx="3">
            <a:schemeClr val="accent6"/>
          </a:lnRef>
          <a:fillRef idx="0">
            <a:schemeClr val="accent6"/>
          </a:fillRef>
          <a:effectRef idx="2">
            <a:schemeClr val="accent6"/>
          </a:effectRef>
          <a:fontRef idx="minor">
            <a:schemeClr val="tx1"/>
          </a:fontRef>
        </p:style>
      </p:cxnSp>
      <p:sp>
        <p:nvSpPr>
          <p:cNvPr id="37" name="Rectangle 36">
            <a:extLst>
              <a:ext uri="{FF2B5EF4-FFF2-40B4-BE49-F238E27FC236}">
                <a16:creationId xmlns:a16="http://schemas.microsoft.com/office/drawing/2014/main" id="{ECC7CC73-F81B-C80D-2770-1ADB1324A9E6}"/>
              </a:ext>
            </a:extLst>
          </p:cNvPr>
          <p:cNvSpPr/>
          <p:nvPr/>
        </p:nvSpPr>
        <p:spPr>
          <a:xfrm>
            <a:off x="1929768" y="6903793"/>
            <a:ext cx="6419581" cy="33906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b="1">
                <a:solidFill>
                  <a:schemeClr val="tx1"/>
                </a:solidFill>
              </a:rPr>
              <a:t>Alternatives portfolios can be tailored to the preference of clients through the horizon mandate</a:t>
            </a:r>
            <a:endParaRPr lang="en-CH" sz="1100" b="1">
              <a:solidFill>
                <a:schemeClr val="tx1"/>
              </a:solidFill>
            </a:endParaRPr>
          </a:p>
        </p:txBody>
      </p:sp>
      <p:pic>
        <p:nvPicPr>
          <p:cNvPr id="39" name="Graphic 38" descr="Lights On outline">
            <a:extLst>
              <a:ext uri="{FF2B5EF4-FFF2-40B4-BE49-F238E27FC236}">
                <a16:creationId xmlns:a16="http://schemas.microsoft.com/office/drawing/2014/main" id="{4D9AD121-66AE-19DC-37EA-7DB986E8B0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39794" y="6785661"/>
            <a:ext cx="457200" cy="457200"/>
          </a:xfrm>
          <a:prstGeom prst="rect">
            <a:avLst/>
          </a:prstGeom>
        </p:spPr>
      </p:pic>
      <p:cxnSp>
        <p:nvCxnSpPr>
          <p:cNvPr id="23" name="Straight Connector 22">
            <a:extLst>
              <a:ext uri="{FF2B5EF4-FFF2-40B4-BE49-F238E27FC236}">
                <a16:creationId xmlns:a16="http://schemas.microsoft.com/office/drawing/2014/main" id="{7C925832-8106-84DF-564F-92EB475D2C19}"/>
              </a:ext>
            </a:extLst>
          </p:cNvPr>
          <p:cNvCxnSpPr>
            <a:cxnSpLocks/>
          </p:cNvCxnSpPr>
          <p:nvPr/>
        </p:nvCxnSpPr>
        <p:spPr>
          <a:xfrm>
            <a:off x="5505176" y="4763806"/>
            <a:ext cx="2156865" cy="0"/>
          </a:xfrm>
          <a:prstGeom prst="line">
            <a:avLst/>
          </a:prstGeom>
          <a:ln w="19050">
            <a:solidFill>
              <a:schemeClr val="accent6">
                <a:lumMod val="60000"/>
                <a:lumOff val="40000"/>
              </a:schemeClr>
            </a:solidFill>
          </a:ln>
        </p:spPr>
        <p:style>
          <a:lnRef idx="3">
            <a:schemeClr val="accent6"/>
          </a:lnRef>
          <a:fillRef idx="0">
            <a:schemeClr val="accent6"/>
          </a:fillRef>
          <a:effectRef idx="2">
            <a:schemeClr val="accent6"/>
          </a:effectRef>
          <a:fontRef idx="minor">
            <a:schemeClr val="tx1"/>
          </a:fontRef>
        </p:style>
      </p:cxnSp>
      <p:sp>
        <p:nvSpPr>
          <p:cNvPr id="41" name="Rectangle 40">
            <a:extLst>
              <a:ext uri="{FF2B5EF4-FFF2-40B4-BE49-F238E27FC236}">
                <a16:creationId xmlns:a16="http://schemas.microsoft.com/office/drawing/2014/main" id="{9373C197-8664-C120-B4F0-0B07CFDC25DA}"/>
              </a:ext>
            </a:extLst>
          </p:cNvPr>
          <p:cNvSpPr/>
          <p:nvPr/>
        </p:nvSpPr>
        <p:spPr>
          <a:xfrm>
            <a:off x="8017018" y="2718000"/>
            <a:ext cx="2046506" cy="630620"/>
          </a:xfrm>
          <a:prstGeom prst="rect">
            <a:avLst/>
          </a:prstGeom>
          <a:solidFill>
            <a:schemeClr val="bg1"/>
          </a:solidFill>
          <a:ln>
            <a:noFill/>
          </a:ln>
          <a:effectLst>
            <a:outerShdw blurRad="63500" sx="102000" sy="102000" algn="ctr" rotWithShape="0">
              <a:schemeClr val="accent6">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1">
                <a:solidFill>
                  <a:srgbClr val="AC5D85"/>
                </a:solidFill>
              </a:rPr>
              <a:t>Litigation Finance </a:t>
            </a:r>
            <a:endParaRPr lang="en-CH" sz="1400" b="1">
              <a:solidFill>
                <a:srgbClr val="AC5D85"/>
              </a:solidFill>
            </a:endParaRPr>
          </a:p>
        </p:txBody>
      </p:sp>
      <p:sp>
        <p:nvSpPr>
          <p:cNvPr id="42" name="Text Placeholder 2">
            <a:extLst>
              <a:ext uri="{FF2B5EF4-FFF2-40B4-BE49-F238E27FC236}">
                <a16:creationId xmlns:a16="http://schemas.microsoft.com/office/drawing/2014/main" id="{4D241FE6-701F-7BC8-8CCB-928BBDCD806C}"/>
              </a:ext>
            </a:extLst>
          </p:cNvPr>
          <p:cNvSpPr txBox="1">
            <a:spLocks/>
          </p:cNvSpPr>
          <p:nvPr/>
        </p:nvSpPr>
        <p:spPr>
          <a:xfrm>
            <a:off x="7930238" y="3616167"/>
            <a:ext cx="2046506" cy="846386"/>
          </a:xfrm>
          <a:prstGeom prst="rect">
            <a:avLst/>
          </a:prstGeom>
          <a:no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Wingdings 3" panose="05040102010807070707" pitchFamily="18" charset="2"/>
              <a:buChar char=""/>
            </a:pPr>
            <a:r>
              <a:rPr lang="en-US" sz="1100" b="1">
                <a:solidFill>
                  <a:srgbClr val="202945"/>
                </a:solidFill>
                <a:latin typeface="Nunito Sans" panose="00000500000000000000" pitchFamily="2" charset="0"/>
                <a:ea typeface="MS Mincho"/>
                <a:cs typeface="Times New Roman"/>
              </a:rPr>
              <a:t>Lending</a:t>
            </a:r>
            <a:r>
              <a:rPr lang="en-US" sz="1100">
                <a:solidFill>
                  <a:srgbClr val="202945"/>
                </a:solidFill>
                <a:latin typeface="Nunito Sans" panose="00000500000000000000" pitchFamily="2" charset="0"/>
                <a:ea typeface="MS Mincho"/>
                <a:cs typeface="Times New Roman"/>
              </a:rPr>
              <a:t> to a party involved in a legal dispute in exchange for a portion of the potential financial recovery. </a:t>
            </a:r>
          </a:p>
        </p:txBody>
      </p:sp>
      <p:sp>
        <p:nvSpPr>
          <p:cNvPr id="43" name="Text Placeholder 2">
            <a:extLst>
              <a:ext uri="{FF2B5EF4-FFF2-40B4-BE49-F238E27FC236}">
                <a16:creationId xmlns:a16="http://schemas.microsoft.com/office/drawing/2014/main" id="{47241F86-24CD-62A5-9586-C1D5B259A985}"/>
              </a:ext>
            </a:extLst>
          </p:cNvPr>
          <p:cNvSpPr txBox="1">
            <a:spLocks/>
          </p:cNvSpPr>
          <p:nvPr/>
        </p:nvSpPr>
        <p:spPr>
          <a:xfrm>
            <a:off x="8025522" y="4980322"/>
            <a:ext cx="2046506" cy="1154162"/>
          </a:xfrm>
          <a:prstGeom prst="rect">
            <a:avLst/>
          </a:prstGeom>
          <a:solidFill>
            <a:schemeClr val="bg1">
              <a:lumMod val="95000"/>
            </a:schemeClr>
          </a:solid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Returns are independent of capital markets.</a:t>
            </a:r>
          </a:p>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Exits achievable even during downturns.</a:t>
            </a:r>
          </a:p>
          <a:p>
            <a:pPr marL="285750" indent="-285750">
              <a:buFont typeface="Arial" panose="020B0604020202020204" pitchFamily="34" charset="0"/>
              <a:buChar char="•"/>
            </a:pPr>
            <a:endParaRPr lang="en-US" sz="1100">
              <a:solidFill>
                <a:schemeClr val="tx2"/>
              </a:solidFill>
              <a:latin typeface="Nunito Sans" panose="00000500000000000000" pitchFamily="2" charset="0"/>
              <a:ea typeface="MS Mincho"/>
              <a:cs typeface="Times New Roman"/>
            </a:endParaRPr>
          </a:p>
        </p:txBody>
      </p:sp>
      <p:sp>
        <p:nvSpPr>
          <p:cNvPr id="44" name="TextBox 43">
            <a:extLst>
              <a:ext uri="{FF2B5EF4-FFF2-40B4-BE49-F238E27FC236}">
                <a16:creationId xmlns:a16="http://schemas.microsoft.com/office/drawing/2014/main" id="{61646D25-3D1D-FCC7-6738-E8C2590205E7}"/>
              </a:ext>
            </a:extLst>
          </p:cNvPr>
          <p:cNvSpPr txBox="1"/>
          <p:nvPr/>
        </p:nvSpPr>
        <p:spPr>
          <a:xfrm>
            <a:off x="8755135" y="2126018"/>
            <a:ext cx="1773621" cy="268107"/>
          </a:xfrm>
          <a:prstGeom prst="rect">
            <a:avLst/>
          </a:prstGeom>
          <a:noFill/>
        </p:spPr>
        <p:txBody>
          <a:bodyPr vert="horz" wrap="square" lIns="0" tIns="0" rIns="0" bIns="0" rtlCol="0">
            <a:noAutofit/>
          </a:bodyPr>
          <a:lstStyle/>
          <a:p>
            <a:pPr algn="l"/>
            <a:r>
              <a:rPr lang="en-US" sz="1200" b="1">
                <a:solidFill>
                  <a:schemeClr val="accent4"/>
                </a:solidFill>
              </a:rPr>
              <a:t>8 - 10 years </a:t>
            </a:r>
            <a:endParaRPr lang="en-CH" sz="1200" b="1">
              <a:solidFill>
                <a:schemeClr val="accent4"/>
              </a:solidFill>
            </a:endParaRPr>
          </a:p>
        </p:txBody>
      </p:sp>
      <p:sp>
        <p:nvSpPr>
          <p:cNvPr id="45" name="TextBox 44">
            <a:extLst>
              <a:ext uri="{FF2B5EF4-FFF2-40B4-BE49-F238E27FC236}">
                <a16:creationId xmlns:a16="http://schemas.microsoft.com/office/drawing/2014/main" id="{BB6365A6-26AD-0943-1376-C2FD32B8AE94}"/>
              </a:ext>
            </a:extLst>
          </p:cNvPr>
          <p:cNvSpPr txBox="1"/>
          <p:nvPr/>
        </p:nvSpPr>
        <p:spPr>
          <a:xfrm>
            <a:off x="8000249" y="6256798"/>
            <a:ext cx="2156865" cy="304282"/>
          </a:xfrm>
          <a:prstGeom prst="rect">
            <a:avLst/>
          </a:prstGeom>
          <a:noFill/>
        </p:spPr>
        <p:txBody>
          <a:bodyPr vert="horz" wrap="square" lIns="0" tIns="0" rIns="0" bIns="0" rtlCol="0">
            <a:noAutofit/>
          </a:bodyPr>
          <a:lstStyle/>
          <a:p>
            <a:pPr algn="ctr"/>
            <a:r>
              <a:rPr lang="fi-FI" sz="1400" b="1">
                <a:solidFill>
                  <a:srgbClr val="AC5D85"/>
                </a:solidFill>
              </a:rPr>
              <a:t>15-20 % </a:t>
            </a:r>
            <a:endParaRPr lang="en-CH" sz="1400" b="1">
              <a:solidFill>
                <a:srgbClr val="AC5D85"/>
              </a:solidFill>
            </a:endParaRPr>
          </a:p>
        </p:txBody>
      </p:sp>
    </p:spTree>
    <p:extLst>
      <p:ext uri="{BB962C8B-B14F-4D97-AF65-F5344CB8AC3E}">
        <p14:creationId xmlns:p14="http://schemas.microsoft.com/office/powerpoint/2010/main" val="12872694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4C8C67-106A-41B6-BBD3-EE59A7DF301B}"/>
              </a:ext>
            </a:extLst>
          </p:cNvPr>
          <p:cNvSpPr/>
          <p:nvPr/>
        </p:nvSpPr>
        <p:spPr>
          <a:xfrm>
            <a:off x="1853183" y="2141986"/>
            <a:ext cx="4563367" cy="216000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1007943">
              <a:spcBef>
                <a:spcPts val="600"/>
              </a:spcBef>
              <a:spcAft>
                <a:spcPts val="600"/>
              </a:spcAft>
              <a:buClr>
                <a:srgbClr val="FFA400"/>
              </a:buClr>
              <a:buSzPct val="90000"/>
            </a:pPr>
            <a:r>
              <a:rPr lang="en-US" sz="1200" b="1" noProof="0" dirty="0">
                <a:solidFill>
                  <a:schemeClr val="accent4"/>
                </a:solidFill>
              </a:rPr>
              <a:t>Advisory Expert</a:t>
            </a:r>
            <a:endParaRPr lang="en-US" sz="1200" b="1" noProof="0" dirty="0">
              <a:solidFill>
                <a:schemeClr val="tx1"/>
              </a:solidFill>
            </a:endParaRPr>
          </a:p>
          <a:p>
            <a:pPr marL="273600" indent="-273600" defTabSz="1007943">
              <a:spcBef>
                <a:spcPts val="600"/>
              </a:spcBef>
              <a:spcAft>
                <a:spcPts val="600"/>
              </a:spcAft>
              <a:buClr>
                <a:srgbClr val="FFA400"/>
              </a:buClr>
              <a:buSzPct val="90000"/>
              <a:buFont typeface="Wingdings 3" panose="05040102010807070707" pitchFamily="18" charset="2"/>
              <a:buChar char=""/>
            </a:pPr>
            <a:r>
              <a:rPr lang="en-US" sz="1100" b="1" noProof="0" dirty="0">
                <a:solidFill>
                  <a:schemeClr val="tx1"/>
                </a:solidFill>
              </a:rPr>
              <a:t>Expert: </a:t>
            </a:r>
            <a:r>
              <a:rPr lang="en-US" sz="1100" noProof="0" dirty="0">
                <a:solidFill>
                  <a:schemeClr val="tx1"/>
                </a:solidFill>
              </a:rPr>
              <a:t>your dedicated Investment Advisor brings you personalized advice, and second opinion when you need it</a:t>
            </a:r>
          </a:p>
          <a:p>
            <a:pPr marL="273600" indent="-273600" defTabSz="1007943">
              <a:spcBef>
                <a:spcPts val="600"/>
              </a:spcBef>
              <a:spcAft>
                <a:spcPts val="600"/>
              </a:spcAft>
              <a:buClr>
                <a:srgbClr val="FFA400"/>
              </a:buClr>
              <a:buSzPct val="90000"/>
              <a:buFont typeface="Wingdings 3" panose="05040102010807070707" pitchFamily="18" charset="2"/>
              <a:buChar char=""/>
            </a:pPr>
            <a:r>
              <a:rPr lang="en-US" sz="1100" b="1" noProof="0" dirty="0">
                <a:solidFill>
                  <a:schemeClr val="tx1"/>
                </a:solidFill>
              </a:rPr>
              <a:t>Proactive: </a:t>
            </a:r>
            <a:r>
              <a:rPr lang="en-US" sz="1100" noProof="0" dirty="0">
                <a:solidFill>
                  <a:schemeClr val="tx1"/>
                </a:solidFill>
              </a:rPr>
              <a:t>we stay on top of your portfolios thanks to active monitoring of risk, performance, and untapped opportunities</a:t>
            </a:r>
          </a:p>
          <a:p>
            <a:pPr marL="273600" indent="-273600" defTabSz="1007943">
              <a:spcBef>
                <a:spcPts val="600"/>
              </a:spcBef>
              <a:spcAft>
                <a:spcPts val="600"/>
              </a:spcAft>
              <a:buClr>
                <a:srgbClr val="FFA400"/>
              </a:buClr>
              <a:buSzPct val="90000"/>
              <a:buFont typeface="Wingdings 3" panose="05040102010807070707" pitchFamily="18" charset="2"/>
              <a:buChar char=""/>
            </a:pPr>
            <a:r>
              <a:rPr lang="en-US" sz="1100" b="1" noProof="0" dirty="0">
                <a:solidFill>
                  <a:schemeClr val="tx1"/>
                </a:solidFill>
              </a:rPr>
              <a:t>Customized: </a:t>
            </a:r>
            <a:r>
              <a:rPr lang="en-US" sz="1100" noProof="0" dirty="0">
                <a:solidFill>
                  <a:schemeClr val="tx1"/>
                </a:solidFill>
              </a:rPr>
              <a:t>share your convictions, ideas, areas of interest or opportunities you want us to look for, and we will formulate tailor-made investment strategies</a:t>
            </a:r>
          </a:p>
        </p:txBody>
      </p:sp>
      <p:sp>
        <p:nvSpPr>
          <p:cNvPr id="9" name="Rectangle 8">
            <a:extLst>
              <a:ext uri="{FF2B5EF4-FFF2-40B4-BE49-F238E27FC236}">
                <a16:creationId xmlns:a16="http://schemas.microsoft.com/office/drawing/2014/main" id="{856B146C-B49F-4E7B-A0FA-371C09821FC2}"/>
              </a:ext>
            </a:extLst>
          </p:cNvPr>
          <p:cNvSpPr/>
          <p:nvPr/>
        </p:nvSpPr>
        <p:spPr>
          <a:xfrm>
            <a:off x="871842" y="4606901"/>
            <a:ext cx="4556745" cy="21600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1007943">
              <a:spcBef>
                <a:spcPts val="600"/>
              </a:spcBef>
              <a:spcAft>
                <a:spcPts val="600"/>
              </a:spcAft>
              <a:buClr>
                <a:srgbClr val="FFA400"/>
              </a:buClr>
              <a:buSzPct val="90000"/>
            </a:pPr>
            <a:r>
              <a:rPr lang="en-US" sz="1200" b="1" noProof="0" dirty="0">
                <a:solidFill>
                  <a:schemeClr val="accent4"/>
                </a:solidFill>
              </a:rPr>
              <a:t>Advisory Select</a:t>
            </a:r>
            <a:endParaRPr lang="en-US" sz="1200" b="1" noProof="0" dirty="0">
              <a:solidFill>
                <a:schemeClr val="tx1"/>
              </a:solidFill>
            </a:endParaRPr>
          </a:p>
          <a:p>
            <a:pPr marL="273600" indent="-273600" defTabSz="1007943">
              <a:spcBef>
                <a:spcPts val="600"/>
              </a:spcBef>
              <a:spcAft>
                <a:spcPts val="600"/>
              </a:spcAft>
              <a:buClr>
                <a:srgbClr val="FFA400"/>
              </a:buClr>
              <a:buSzPct val="90000"/>
              <a:buFont typeface="Wingdings 3" panose="05040102010807070707" pitchFamily="18" charset="2"/>
              <a:buChar char=""/>
            </a:pPr>
            <a:r>
              <a:rPr lang="en-US" sz="1100" b="1" noProof="0" dirty="0">
                <a:solidFill>
                  <a:schemeClr val="tx1"/>
                </a:solidFill>
              </a:rPr>
              <a:t>Trusted Advisor: </a:t>
            </a:r>
            <a:r>
              <a:rPr lang="en-US" sz="1100" noProof="0" dirty="0">
                <a:solidFill>
                  <a:schemeClr val="tx1"/>
                </a:solidFill>
              </a:rPr>
              <a:t>your relationship manager guides you through every step on your investment journey </a:t>
            </a:r>
            <a:endParaRPr lang="en-US" sz="1100" b="1" noProof="0" dirty="0">
              <a:solidFill>
                <a:schemeClr val="tx1"/>
              </a:solidFill>
            </a:endParaRPr>
          </a:p>
          <a:p>
            <a:pPr marL="273600" indent="-273600" defTabSz="1007943">
              <a:spcBef>
                <a:spcPts val="600"/>
              </a:spcBef>
              <a:spcAft>
                <a:spcPts val="600"/>
              </a:spcAft>
              <a:buClr>
                <a:srgbClr val="FFA400"/>
              </a:buClr>
              <a:buSzPct val="90000"/>
              <a:buFont typeface="Wingdings 3" panose="05040102010807070707" pitchFamily="18" charset="2"/>
              <a:buChar char=""/>
            </a:pPr>
            <a:r>
              <a:rPr lang="en-US" sz="1100" b="1" noProof="0" dirty="0">
                <a:solidFill>
                  <a:schemeClr val="tx1"/>
                </a:solidFill>
              </a:rPr>
              <a:t>On-demand: </a:t>
            </a:r>
            <a:r>
              <a:rPr lang="en-US" sz="1100" noProof="0" dirty="0">
                <a:solidFill>
                  <a:schemeClr val="tx1"/>
                </a:solidFill>
              </a:rPr>
              <a:t>advice from your relationship manager to meet your investment needs</a:t>
            </a:r>
          </a:p>
          <a:p>
            <a:pPr marL="273600" indent="-273600" defTabSz="1007943">
              <a:spcBef>
                <a:spcPts val="600"/>
              </a:spcBef>
              <a:spcAft>
                <a:spcPts val="600"/>
              </a:spcAft>
              <a:buClr>
                <a:srgbClr val="FFA400"/>
              </a:buClr>
              <a:buSzPct val="90000"/>
              <a:buFont typeface="Wingdings 3" panose="05040102010807070707" pitchFamily="18" charset="2"/>
              <a:buChar char=""/>
            </a:pPr>
            <a:r>
              <a:rPr lang="en-US" sz="1100" b="1" noProof="0" dirty="0">
                <a:solidFill>
                  <a:schemeClr val="tx1"/>
                </a:solidFill>
              </a:rPr>
              <a:t>Access: </a:t>
            </a:r>
            <a:r>
              <a:rPr lang="en-US" sz="1100" noProof="0" dirty="0">
                <a:solidFill>
                  <a:schemeClr val="tx1"/>
                </a:solidFill>
              </a:rPr>
              <a:t>to all exclusive </a:t>
            </a:r>
            <a:r>
              <a:rPr lang="en-US" sz="1100" noProof="0" dirty="0" err="1">
                <a:solidFill>
                  <a:schemeClr val="tx1"/>
                </a:solidFill>
              </a:rPr>
              <a:t>Syz</a:t>
            </a:r>
            <a:r>
              <a:rPr lang="en-US" sz="1100" noProof="0" dirty="0">
                <a:solidFill>
                  <a:schemeClr val="tx1"/>
                </a:solidFill>
              </a:rPr>
              <a:t> investment insights and ideas, along with selection of </a:t>
            </a:r>
            <a:r>
              <a:rPr lang="en-US" sz="1100" noProof="0" dirty="0" err="1">
                <a:solidFill>
                  <a:schemeClr val="tx1"/>
                </a:solidFill>
              </a:rPr>
              <a:t>Syz</a:t>
            </a:r>
            <a:r>
              <a:rPr lang="en-US" sz="1100" noProof="0" dirty="0">
                <a:solidFill>
                  <a:schemeClr val="tx1"/>
                </a:solidFill>
              </a:rPr>
              <a:t> investment strategies matching your risk appetite and investment goals</a:t>
            </a:r>
          </a:p>
        </p:txBody>
      </p:sp>
      <p:sp>
        <p:nvSpPr>
          <p:cNvPr id="2" name="Title 1">
            <a:extLst>
              <a:ext uri="{FF2B5EF4-FFF2-40B4-BE49-F238E27FC236}">
                <a16:creationId xmlns:a16="http://schemas.microsoft.com/office/drawing/2014/main" id="{EF3F413F-07CB-44BB-B286-48D92AEB8587}"/>
              </a:ext>
            </a:extLst>
          </p:cNvPr>
          <p:cNvSpPr>
            <a:spLocks noGrp="1"/>
          </p:cNvSpPr>
          <p:nvPr>
            <p:ph type="title"/>
          </p:nvPr>
        </p:nvSpPr>
        <p:spPr>
          <a:xfrm>
            <a:off x="665163" y="1032438"/>
            <a:ext cx="9398001" cy="864586"/>
          </a:xfrm>
        </p:spPr>
        <p:txBody>
          <a:bodyPr/>
          <a:lstStyle/>
          <a:p>
            <a:r>
              <a:rPr lang="en-US" noProof="0" dirty="0" err="1"/>
              <a:t>Syz</a:t>
            </a:r>
            <a:r>
              <a:rPr lang="en-US" noProof="0" dirty="0"/>
              <a:t> Advisory Services : Our offering for your needs  </a:t>
            </a:r>
          </a:p>
        </p:txBody>
      </p:sp>
      <p:sp>
        <p:nvSpPr>
          <p:cNvPr id="10" name="Person">
            <a:extLst>
              <a:ext uri="{FF2B5EF4-FFF2-40B4-BE49-F238E27FC236}">
                <a16:creationId xmlns:a16="http://schemas.microsoft.com/office/drawing/2014/main" id="{B01D87B5-8619-4CC3-8EA6-BF145167153C}"/>
              </a:ext>
            </a:extLst>
          </p:cNvPr>
          <p:cNvSpPr>
            <a:spLocks noChangeAspect="1" noEditPoints="1"/>
          </p:cNvSpPr>
          <p:nvPr>
            <p:custDataLst>
              <p:tags r:id="rId1"/>
            </p:custDataLst>
          </p:nvPr>
        </p:nvSpPr>
        <p:spPr bwMode="auto">
          <a:xfrm>
            <a:off x="871843" y="4174181"/>
            <a:ext cx="406400" cy="406400"/>
          </a:xfrm>
          <a:custGeom>
            <a:avLst/>
            <a:gdLst>
              <a:gd name="T0" fmla="*/ 1196 w 2304"/>
              <a:gd name="T1" fmla="*/ 1441 h 2304"/>
              <a:gd name="T2" fmla="*/ 1292 w 2304"/>
              <a:gd name="T3" fmla="*/ 1447 h 2304"/>
              <a:gd name="T4" fmla="*/ 1398 w 2304"/>
              <a:gd name="T5" fmla="*/ 1460 h 2304"/>
              <a:gd name="T6" fmla="*/ 1508 w 2304"/>
              <a:gd name="T7" fmla="*/ 1479 h 2304"/>
              <a:gd name="T8" fmla="*/ 1621 w 2304"/>
              <a:gd name="T9" fmla="*/ 1504 h 2304"/>
              <a:gd name="T10" fmla="*/ 1735 w 2304"/>
              <a:gd name="T11" fmla="*/ 1536 h 2304"/>
              <a:gd name="T12" fmla="*/ 1845 w 2304"/>
              <a:gd name="T13" fmla="*/ 1574 h 2304"/>
              <a:gd name="T14" fmla="*/ 1950 w 2304"/>
              <a:gd name="T15" fmla="*/ 1618 h 2304"/>
              <a:gd name="T16" fmla="*/ 2046 w 2304"/>
              <a:gd name="T17" fmla="*/ 1668 h 2304"/>
              <a:gd name="T18" fmla="*/ 2132 w 2304"/>
              <a:gd name="T19" fmla="*/ 1726 h 2304"/>
              <a:gd name="T20" fmla="*/ 2202 w 2304"/>
              <a:gd name="T21" fmla="*/ 1789 h 2304"/>
              <a:gd name="T22" fmla="*/ 2257 w 2304"/>
              <a:gd name="T23" fmla="*/ 1858 h 2304"/>
              <a:gd name="T24" fmla="*/ 2291 w 2304"/>
              <a:gd name="T25" fmla="*/ 1934 h 2304"/>
              <a:gd name="T26" fmla="*/ 2304 w 2304"/>
              <a:gd name="T27" fmla="*/ 2016 h 2304"/>
              <a:gd name="T28" fmla="*/ 0 w 2304"/>
              <a:gd name="T29" fmla="*/ 2304 h 2304"/>
              <a:gd name="T30" fmla="*/ 3 w 2304"/>
              <a:gd name="T31" fmla="*/ 1974 h 2304"/>
              <a:gd name="T32" fmla="*/ 27 w 2304"/>
              <a:gd name="T33" fmla="*/ 1896 h 2304"/>
              <a:gd name="T34" fmla="*/ 71 w 2304"/>
              <a:gd name="T35" fmla="*/ 1822 h 2304"/>
              <a:gd name="T36" fmla="*/ 135 w 2304"/>
              <a:gd name="T37" fmla="*/ 1756 h 2304"/>
              <a:gd name="T38" fmla="*/ 214 w 2304"/>
              <a:gd name="T39" fmla="*/ 1697 h 2304"/>
              <a:gd name="T40" fmla="*/ 305 w 2304"/>
              <a:gd name="T41" fmla="*/ 1643 h 2304"/>
              <a:gd name="T42" fmla="*/ 405 w 2304"/>
              <a:gd name="T43" fmla="*/ 1595 h 2304"/>
              <a:gd name="T44" fmla="*/ 513 w 2304"/>
              <a:gd name="T45" fmla="*/ 1554 h 2304"/>
              <a:gd name="T46" fmla="*/ 625 w 2304"/>
              <a:gd name="T47" fmla="*/ 1520 h 2304"/>
              <a:gd name="T48" fmla="*/ 739 w 2304"/>
              <a:gd name="T49" fmla="*/ 1490 h 2304"/>
              <a:gd name="T50" fmla="*/ 851 w 2304"/>
              <a:gd name="T51" fmla="*/ 1468 h 2304"/>
              <a:gd name="T52" fmla="*/ 959 w 2304"/>
              <a:gd name="T53" fmla="*/ 1453 h 2304"/>
              <a:gd name="T54" fmla="*/ 1061 w 2304"/>
              <a:gd name="T55" fmla="*/ 1443 h 2304"/>
              <a:gd name="T56" fmla="*/ 1152 w 2304"/>
              <a:gd name="T57" fmla="*/ 1440 h 2304"/>
              <a:gd name="T58" fmla="*/ 1211 w 2304"/>
              <a:gd name="T59" fmla="*/ 3 h 2304"/>
              <a:gd name="T60" fmla="*/ 1324 w 2304"/>
              <a:gd name="T61" fmla="*/ 26 h 2304"/>
              <a:gd name="T62" fmla="*/ 1426 w 2304"/>
              <a:gd name="T63" fmla="*/ 69 h 2304"/>
              <a:gd name="T64" fmla="*/ 1519 w 2304"/>
              <a:gd name="T65" fmla="*/ 132 h 2304"/>
              <a:gd name="T66" fmla="*/ 1596 w 2304"/>
              <a:gd name="T67" fmla="*/ 209 h 2304"/>
              <a:gd name="T68" fmla="*/ 1659 w 2304"/>
              <a:gd name="T69" fmla="*/ 302 h 2304"/>
              <a:gd name="T70" fmla="*/ 1702 w 2304"/>
              <a:gd name="T71" fmla="*/ 404 h 2304"/>
              <a:gd name="T72" fmla="*/ 1725 w 2304"/>
              <a:gd name="T73" fmla="*/ 517 h 2304"/>
              <a:gd name="T74" fmla="*/ 1725 w 2304"/>
              <a:gd name="T75" fmla="*/ 635 h 2304"/>
              <a:gd name="T76" fmla="*/ 1702 w 2304"/>
              <a:gd name="T77" fmla="*/ 748 h 2304"/>
              <a:gd name="T78" fmla="*/ 1659 w 2304"/>
              <a:gd name="T79" fmla="*/ 850 h 2304"/>
              <a:gd name="T80" fmla="*/ 1596 w 2304"/>
              <a:gd name="T81" fmla="*/ 943 h 2304"/>
              <a:gd name="T82" fmla="*/ 1519 w 2304"/>
              <a:gd name="T83" fmla="*/ 1020 h 2304"/>
              <a:gd name="T84" fmla="*/ 1426 w 2304"/>
              <a:gd name="T85" fmla="*/ 1083 h 2304"/>
              <a:gd name="T86" fmla="*/ 1324 w 2304"/>
              <a:gd name="T87" fmla="*/ 1126 h 2304"/>
              <a:gd name="T88" fmla="*/ 1211 w 2304"/>
              <a:gd name="T89" fmla="*/ 1149 h 2304"/>
              <a:gd name="T90" fmla="*/ 1093 w 2304"/>
              <a:gd name="T91" fmla="*/ 1149 h 2304"/>
              <a:gd name="T92" fmla="*/ 980 w 2304"/>
              <a:gd name="T93" fmla="*/ 1126 h 2304"/>
              <a:gd name="T94" fmla="*/ 878 w 2304"/>
              <a:gd name="T95" fmla="*/ 1083 h 2304"/>
              <a:gd name="T96" fmla="*/ 785 w 2304"/>
              <a:gd name="T97" fmla="*/ 1020 h 2304"/>
              <a:gd name="T98" fmla="*/ 708 w 2304"/>
              <a:gd name="T99" fmla="*/ 943 h 2304"/>
              <a:gd name="T100" fmla="*/ 645 w 2304"/>
              <a:gd name="T101" fmla="*/ 850 h 2304"/>
              <a:gd name="T102" fmla="*/ 602 w 2304"/>
              <a:gd name="T103" fmla="*/ 748 h 2304"/>
              <a:gd name="T104" fmla="*/ 579 w 2304"/>
              <a:gd name="T105" fmla="*/ 635 h 2304"/>
              <a:gd name="T106" fmla="*/ 579 w 2304"/>
              <a:gd name="T107" fmla="*/ 517 h 2304"/>
              <a:gd name="T108" fmla="*/ 602 w 2304"/>
              <a:gd name="T109" fmla="*/ 404 h 2304"/>
              <a:gd name="T110" fmla="*/ 645 w 2304"/>
              <a:gd name="T111" fmla="*/ 302 h 2304"/>
              <a:gd name="T112" fmla="*/ 708 w 2304"/>
              <a:gd name="T113" fmla="*/ 209 h 2304"/>
              <a:gd name="T114" fmla="*/ 785 w 2304"/>
              <a:gd name="T115" fmla="*/ 132 h 2304"/>
              <a:gd name="T116" fmla="*/ 878 w 2304"/>
              <a:gd name="T117" fmla="*/ 69 h 2304"/>
              <a:gd name="T118" fmla="*/ 980 w 2304"/>
              <a:gd name="T119" fmla="*/ 26 h 2304"/>
              <a:gd name="T120" fmla="*/ 1093 w 2304"/>
              <a:gd name="T121" fmla="*/ 3 h 2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04" h="2304">
                <a:moveTo>
                  <a:pt x="1152" y="1440"/>
                </a:moveTo>
                <a:lnTo>
                  <a:pt x="1196" y="1441"/>
                </a:lnTo>
                <a:lnTo>
                  <a:pt x="1243" y="1443"/>
                </a:lnTo>
                <a:lnTo>
                  <a:pt x="1292" y="1447"/>
                </a:lnTo>
                <a:lnTo>
                  <a:pt x="1345" y="1453"/>
                </a:lnTo>
                <a:lnTo>
                  <a:pt x="1398" y="1460"/>
                </a:lnTo>
                <a:lnTo>
                  <a:pt x="1453" y="1468"/>
                </a:lnTo>
                <a:lnTo>
                  <a:pt x="1508" y="1479"/>
                </a:lnTo>
                <a:lnTo>
                  <a:pt x="1565" y="1490"/>
                </a:lnTo>
                <a:lnTo>
                  <a:pt x="1621" y="1504"/>
                </a:lnTo>
                <a:lnTo>
                  <a:pt x="1679" y="1520"/>
                </a:lnTo>
                <a:lnTo>
                  <a:pt x="1735" y="1536"/>
                </a:lnTo>
                <a:lnTo>
                  <a:pt x="1791" y="1554"/>
                </a:lnTo>
                <a:lnTo>
                  <a:pt x="1845" y="1574"/>
                </a:lnTo>
                <a:lnTo>
                  <a:pt x="1899" y="1595"/>
                </a:lnTo>
                <a:lnTo>
                  <a:pt x="1950" y="1618"/>
                </a:lnTo>
                <a:lnTo>
                  <a:pt x="1999" y="1643"/>
                </a:lnTo>
                <a:lnTo>
                  <a:pt x="2046" y="1668"/>
                </a:lnTo>
                <a:lnTo>
                  <a:pt x="2090" y="1697"/>
                </a:lnTo>
                <a:lnTo>
                  <a:pt x="2132" y="1726"/>
                </a:lnTo>
                <a:lnTo>
                  <a:pt x="2169" y="1756"/>
                </a:lnTo>
                <a:lnTo>
                  <a:pt x="2202" y="1789"/>
                </a:lnTo>
                <a:lnTo>
                  <a:pt x="2233" y="1822"/>
                </a:lnTo>
                <a:lnTo>
                  <a:pt x="2257" y="1858"/>
                </a:lnTo>
                <a:lnTo>
                  <a:pt x="2277" y="1896"/>
                </a:lnTo>
                <a:lnTo>
                  <a:pt x="2291" y="1934"/>
                </a:lnTo>
                <a:lnTo>
                  <a:pt x="2301" y="1974"/>
                </a:lnTo>
                <a:lnTo>
                  <a:pt x="2304" y="2016"/>
                </a:lnTo>
                <a:lnTo>
                  <a:pt x="2304" y="2304"/>
                </a:lnTo>
                <a:lnTo>
                  <a:pt x="0" y="2304"/>
                </a:lnTo>
                <a:lnTo>
                  <a:pt x="0" y="2016"/>
                </a:lnTo>
                <a:lnTo>
                  <a:pt x="3" y="1974"/>
                </a:lnTo>
                <a:lnTo>
                  <a:pt x="13" y="1934"/>
                </a:lnTo>
                <a:lnTo>
                  <a:pt x="27" y="1896"/>
                </a:lnTo>
                <a:lnTo>
                  <a:pt x="47" y="1858"/>
                </a:lnTo>
                <a:lnTo>
                  <a:pt x="71" y="1822"/>
                </a:lnTo>
                <a:lnTo>
                  <a:pt x="102" y="1789"/>
                </a:lnTo>
                <a:lnTo>
                  <a:pt x="135" y="1756"/>
                </a:lnTo>
                <a:lnTo>
                  <a:pt x="172" y="1726"/>
                </a:lnTo>
                <a:lnTo>
                  <a:pt x="214" y="1697"/>
                </a:lnTo>
                <a:lnTo>
                  <a:pt x="258" y="1668"/>
                </a:lnTo>
                <a:lnTo>
                  <a:pt x="305" y="1643"/>
                </a:lnTo>
                <a:lnTo>
                  <a:pt x="354" y="1618"/>
                </a:lnTo>
                <a:lnTo>
                  <a:pt x="405" y="1595"/>
                </a:lnTo>
                <a:lnTo>
                  <a:pt x="459" y="1574"/>
                </a:lnTo>
                <a:lnTo>
                  <a:pt x="513" y="1554"/>
                </a:lnTo>
                <a:lnTo>
                  <a:pt x="569" y="1536"/>
                </a:lnTo>
                <a:lnTo>
                  <a:pt x="625" y="1520"/>
                </a:lnTo>
                <a:lnTo>
                  <a:pt x="683" y="1504"/>
                </a:lnTo>
                <a:lnTo>
                  <a:pt x="739" y="1490"/>
                </a:lnTo>
                <a:lnTo>
                  <a:pt x="796" y="1479"/>
                </a:lnTo>
                <a:lnTo>
                  <a:pt x="851" y="1468"/>
                </a:lnTo>
                <a:lnTo>
                  <a:pt x="906" y="1460"/>
                </a:lnTo>
                <a:lnTo>
                  <a:pt x="959" y="1453"/>
                </a:lnTo>
                <a:lnTo>
                  <a:pt x="1012" y="1447"/>
                </a:lnTo>
                <a:lnTo>
                  <a:pt x="1061" y="1443"/>
                </a:lnTo>
                <a:lnTo>
                  <a:pt x="1108" y="1441"/>
                </a:lnTo>
                <a:lnTo>
                  <a:pt x="1152" y="1440"/>
                </a:lnTo>
                <a:close/>
                <a:moveTo>
                  <a:pt x="1152" y="0"/>
                </a:moveTo>
                <a:lnTo>
                  <a:pt x="1211" y="3"/>
                </a:lnTo>
                <a:lnTo>
                  <a:pt x="1268" y="12"/>
                </a:lnTo>
                <a:lnTo>
                  <a:pt x="1324" y="26"/>
                </a:lnTo>
                <a:lnTo>
                  <a:pt x="1376" y="45"/>
                </a:lnTo>
                <a:lnTo>
                  <a:pt x="1426" y="69"/>
                </a:lnTo>
                <a:lnTo>
                  <a:pt x="1475" y="98"/>
                </a:lnTo>
                <a:lnTo>
                  <a:pt x="1519" y="132"/>
                </a:lnTo>
                <a:lnTo>
                  <a:pt x="1559" y="169"/>
                </a:lnTo>
                <a:lnTo>
                  <a:pt x="1596" y="209"/>
                </a:lnTo>
                <a:lnTo>
                  <a:pt x="1630" y="253"/>
                </a:lnTo>
                <a:lnTo>
                  <a:pt x="1659" y="302"/>
                </a:lnTo>
                <a:lnTo>
                  <a:pt x="1683" y="352"/>
                </a:lnTo>
                <a:lnTo>
                  <a:pt x="1702" y="404"/>
                </a:lnTo>
                <a:lnTo>
                  <a:pt x="1716" y="460"/>
                </a:lnTo>
                <a:lnTo>
                  <a:pt x="1725" y="517"/>
                </a:lnTo>
                <a:lnTo>
                  <a:pt x="1728" y="576"/>
                </a:lnTo>
                <a:lnTo>
                  <a:pt x="1725" y="635"/>
                </a:lnTo>
                <a:lnTo>
                  <a:pt x="1716" y="692"/>
                </a:lnTo>
                <a:lnTo>
                  <a:pt x="1702" y="748"/>
                </a:lnTo>
                <a:lnTo>
                  <a:pt x="1683" y="800"/>
                </a:lnTo>
                <a:lnTo>
                  <a:pt x="1659" y="850"/>
                </a:lnTo>
                <a:lnTo>
                  <a:pt x="1630" y="899"/>
                </a:lnTo>
                <a:lnTo>
                  <a:pt x="1596" y="943"/>
                </a:lnTo>
                <a:lnTo>
                  <a:pt x="1559" y="983"/>
                </a:lnTo>
                <a:lnTo>
                  <a:pt x="1519" y="1020"/>
                </a:lnTo>
                <a:lnTo>
                  <a:pt x="1475" y="1054"/>
                </a:lnTo>
                <a:lnTo>
                  <a:pt x="1426" y="1083"/>
                </a:lnTo>
                <a:lnTo>
                  <a:pt x="1376" y="1107"/>
                </a:lnTo>
                <a:lnTo>
                  <a:pt x="1324" y="1126"/>
                </a:lnTo>
                <a:lnTo>
                  <a:pt x="1268" y="1140"/>
                </a:lnTo>
                <a:lnTo>
                  <a:pt x="1211" y="1149"/>
                </a:lnTo>
                <a:lnTo>
                  <a:pt x="1152" y="1152"/>
                </a:lnTo>
                <a:lnTo>
                  <a:pt x="1093" y="1149"/>
                </a:lnTo>
                <a:lnTo>
                  <a:pt x="1036" y="1140"/>
                </a:lnTo>
                <a:lnTo>
                  <a:pt x="980" y="1126"/>
                </a:lnTo>
                <a:lnTo>
                  <a:pt x="928" y="1107"/>
                </a:lnTo>
                <a:lnTo>
                  <a:pt x="878" y="1083"/>
                </a:lnTo>
                <a:lnTo>
                  <a:pt x="829" y="1054"/>
                </a:lnTo>
                <a:lnTo>
                  <a:pt x="785" y="1020"/>
                </a:lnTo>
                <a:lnTo>
                  <a:pt x="745" y="983"/>
                </a:lnTo>
                <a:lnTo>
                  <a:pt x="708" y="943"/>
                </a:lnTo>
                <a:lnTo>
                  <a:pt x="674" y="899"/>
                </a:lnTo>
                <a:lnTo>
                  <a:pt x="645" y="850"/>
                </a:lnTo>
                <a:lnTo>
                  <a:pt x="621" y="800"/>
                </a:lnTo>
                <a:lnTo>
                  <a:pt x="602" y="748"/>
                </a:lnTo>
                <a:lnTo>
                  <a:pt x="588" y="692"/>
                </a:lnTo>
                <a:lnTo>
                  <a:pt x="579" y="635"/>
                </a:lnTo>
                <a:lnTo>
                  <a:pt x="576" y="576"/>
                </a:lnTo>
                <a:lnTo>
                  <a:pt x="579" y="517"/>
                </a:lnTo>
                <a:lnTo>
                  <a:pt x="588" y="460"/>
                </a:lnTo>
                <a:lnTo>
                  <a:pt x="602" y="404"/>
                </a:lnTo>
                <a:lnTo>
                  <a:pt x="621" y="352"/>
                </a:lnTo>
                <a:lnTo>
                  <a:pt x="645" y="302"/>
                </a:lnTo>
                <a:lnTo>
                  <a:pt x="674" y="253"/>
                </a:lnTo>
                <a:lnTo>
                  <a:pt x="708" y="209"/>
                </a:lnTo>
                <a:lnTo>
                  <a:pt x="745" y="169"/>
                </a:lnTo>
                <a:lnTo>
                  <a:pt x="785" y="132"/>
                </a:lnTo>
                <a:lnTo>
                  <a:pt x="829" y="98"/>
                </a:lnTo>
                <a:lnTo>
                  <a:pt x="878" y="69"/>
                </a:lnTo>
                <a:lnTo>
                  <a:pt x="928" y="45"/>
                </a:lnTo>
                <a:lnTo>
                  <a:pt x="980" y="26"/>
                </a:lnTo>
                <a:lnTo>
                  <a:pt x="1036" y="12"/>
                </a:lnTo>
                <a:lnTo>
                  <a:pt x="1093" y="3"/>
                </a:lnTo>
                <a:lnTo>
                  <a:pt x="1152" y="0"/>
                </a:lnTo>
                <a:close/>
              </a:path>
            </a:pathLst>
          </a:custGeom>
          <a:solidFill>
            <a:schemeClr val="accent4"/>
          </a:solidFill>
          <a:ln w="0">
            <a:noFill/>
            <a:prstDash val="solid"/>
            <a:round/>
          </a:ln>
        </p:spPr>
        <p:txBody>
          <a:bodyPr vert="horz" wrap="square" lIns="91440" tIns="45720" rIns="91440" bIns="45720" numCol="1" anchor="t" anchorCtr="0" compatLnSpc="1">
            <a:prstTxWarp prst="textNoShape">
              <a:avLst/>
            </a:prstTxWarp>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p>
        </p:txBody>
      </p:sp>
      <p:sp>
        <p:nvSpPr>
          <p:cNvPr id="12" name="Group add">
            <a:extLst>
              <a:ext uri="{FF2B5EF4-FFF2-40B4-BE49-F238E27FC236}">
                <a16:creationId xmlns:a16="http://schemas.microsoft.com/office/drawing/2014/main" id="{306B04B3-C706-4192-B86F-5908DE03045E}"/>
              </a:ext>
            </a:extLst>
          </p:cNvPr>
          <p:cNvSpPr>
            <a:spLocks noChangeAspect="1" noEditPoints="1"/>
          </p:cNvSpPr>
          <p:nvPr>
            <p:custDataLst>
              <p:tags r:id="rId2"/>
            </p:custDataLst>
          </p:nvPr>
        </p:nvSpPr>
        <p:spPr bwMode="auto">
          <a:xfrm>
            <a:off x="1846564" y="1707745"/>
            <a:ext cx="750277" cy="406400"/>
          </a:xfrm>
          <a:custGeom>
            <a:avLst/>
            <a:gdLst>
              <a:gd name="T0" fmla="*/ 2972 w 3456"/>
              <a:gd name="T1" fmla="*/ 1206 h 1871"/>
              <a:gd name="T2" fmla="*/ 3164 w 3456"/>
              <a:gd name="T3" fmla="*/ 1272 h 1871"/>
              <a:gd name="T4" fmla="*/ 3324 w 3456"/>
              <a:gd name="T5" fmla="*/ 1363 h 1871"/>
              <a:gd name="T6" fmla="*/ 3430 w 3456"/>
              <a:gd name="T7" fmla="*/ 1479 h 1871"/>
              <a:gd name="T8" fmla="*/ 3456 w 3456"/>
              <a:gd name="T9" fmla="*/ 1871 h 1871"/>
              <a:gd name="T10" fmla="*/ 3015 w 3456"/>
              <a:gd name="T11" fmla="*/ 1486 h 1871"/>
              <a:gd name="T12" fmla="*/ 2947 w 3456"/>
              <a:gd name="T13" fmla="*/ 1315 h 1871"/>
              <a:gd name="T14" fmla="*/ 2826 w 3456"/>
              <a:gd name="T15" fmla="*/ 1175 h 1871"/>
              <a:gd name="T16" fmla="*/ 1997 w 3456"/>
              <a:gd name="T17" fmla="*/ 1159 h 1871"/>
              <a:gd name="T18" fmla="*/ 2191 w 3456"/>
              <a:gd name="T19" fmla="*/ 1191 h 1871"/>
              <a:gd name="T20" fmla="*/ 2389 w 3456"/>
              <a:gd name="T21" fmla="*/ 1250 h 1871"/>
              <a:gd name="T22" fmla="*/ 2564 w 3456"/>
              <a:gd name="T23" fmla="*/ 1335 h 1871"/>
              <a:gd name="T24" fmla="*/ 2688 w 3456"/>
              <a:gd name="T25" fmla="*/ 1446 h 1871"/>
              <a:gd name="T26" fmla="*/ 2737 w 3456"/>
              <a:gd name="T27" fmla="*/ 1583 h 1871"/>
              <a:gd name="T28" fmla="*/ 1012 w 3456"/>
              <a:gd name="T29" fmla="*/ 1546 h 1871"/>
              <a:gd name="T30" fmla="*/ 1081 w 3456"/>
              <a:gd name="T31" fmla="*/ 1415 h 1871"/>
              <a:gd name="T32" fmla="*/ 1221 w 3456"/>
              <a:gd name="T33" fmla="*/ 1311 h 1871"/>
              <a:gd name="T34" fmla="*/ 1404 w 3456"/>
              <a:gd name="T35" fmla="*/ 1232 h 1871"/>
              <a:gd name="T36" fmla="*/ 1603 w 3456"/>
              <a:gd name="T37" fmla="*/ 1181 h 1871"/>
              <a:gd name="T38" fmla="*/ 1791 w 3456"/>
              <a:gd name="T39" fmla="*/ 1155 h 1871"/>
              <a:gd name="T40" fmla="*/ 721 w 3456"/>
              <a:gd name="T41" fmla="*/ 288 h 1871"/>
              <a:gd name="T42" fmla="*/ 721 w 3456"/>
              <a:gd name="T43" fmla="*/ 1007 h 1871"/>
              <a:gd name="T44" fmla="*/ 0 w 3456"/>
              <a:gd name="T45" fmla="*/ 1007 h 1871"/>
              <a:gd name="T46" fmla="*/ 2592 w 3456"/>
              <a:gd name="T47" fmla="*/ 0 h 1871"/>
              <a:gd name="T48" fmla="*/ 2782 w 3456"/>
              <a:gd name="T49" fmla="*/ 42 h 1871"/>
              <a:gd name="T50" fmla="*/ 2928 w 3456"/>
              <a:gd name="T51" fmla="*/ 161 h 1871"/>
              <a:gd name="T52" fmla="*/ 3011 w 3456"/>
              <a:gd name="T53" fmla="*/ 332 h 1871"/>
              <a:gd name="T54" fmla="*/ 3011 w 3456"/>
              <a:gd name="T55" fmla="*/ 530 h 1871"/>
              <a:gd name="T56" fmla="*/ 2928 w 3456"/>
              <a:gd name="T57" fmla="*/ 701 h 1871"/>
              <a:gd name="T58" fmla="*/ 2782 w 3456"/>
              <a:gd name="T59" fmla="*/ 820 h 1871"/>
              <a:gd name="T60" fmla="*/ 2592 w 3456"/>
              <a:gd name="T61" fmla="*/ 864 h 1871"/>
              <a:gd name="T62" fmla="*/ 2494 w 3456"/>
              <a:gd name="T63" fmla="*/ 791 h 1871"/>
              <a:gd name="T64" fmla="*/ 2579 w 3456"/>
              <a:gd name="T65" fmla="*/ 560 h 1871"/>
              <a:gd name="T66" fmla="*/ 2579 w 3456"/>
              <a:gd name="T67" fmla="*/ 302 h 1871"/>
              <a:gd name="T68" fmla="*/ 2494 w 3456"/>
              <a:gd name="T69" fmla="*/ 71 h 1871"/>
              <a:gd name="T70" fmla="*/ 2592 w 3456"/>
              <a:gd name="T71" fmla="*/ 0 h 1871"/>
              <a:gd name="T72" fmla="*/ 2018 w 3456"/>
              <a:gd name="T73" fmla="*/ 25 h 1871"/>
              <a:gd name="T74" fmla="*/ 2177 w 3456"/>
              <a:gd name="T75" fmla="*/ 125 h 1871"/>
              <a:gd name="T76" fmla="*/ 2278 w 3456"/>
              <a:gd name="T77" fmla="*/ 285 h 1871"/>
              <a:gd name="T78" fmla="*/ 2300 w 3456"/>
              <a:gd name="T79" fmla="*/ 481 h 1871"/>
              <a:gd name="T80" fmla="*/ 2236 w 3456"/>
              <a:gd name="T81" fmla="*/ 662 h 1871"/>
              <a:gd name="T82" fmla="*/ 2103 w 3456"/>
              <a:gd name="T83" fmla="*/ 795 h 1871"/>
              <a:gd name="T84" fmla="*/ 1923 w 3456"/>
              <a:gd name="T85" fmla="*/ 860 h 1871"/>
              <a:gd name="T86" fmla="*/ 1726 w 3456"/>
              <a:gd name="T87" fmla="*/ 837 h 1871"/>
              <a:gd name="T88" fmla="*/ 1567 w 3456"/>
              <a:gd name="T89" fmla="*/ 737 h 1871"/>
              <a:gd name="T90" fmla="*/ 1465 w 3456"/>
              <a:gd name="T91" fmla="*/ 577 h 1871"/>
              <a:gd name="T92" fmla="*/ 1443 w 3456"/>
              <a:gd name="T93" fmla="*/ 381 h 1871"/>
              <a:gd name="T94" fmla="*/ 1507 w 3456"/>
              <a:gd name="T95" fmla="*/ 200 h 1871"/>
              <a:gd name="T96" fmla="*/ 1640 w 3456"/>
              <a:gd name="T97" fmla="*/ 67 h 1871"/>
              <a:gd name="T98" fmla="*/ 1821 w 3456"/>
              <a:gd name="T99" fmla="*/ 2 h 18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456" h="1870">
                <a:moveTo>
                  <a:pt x="2826" y="1175"/>
                </a:moveTo>
                <a:lnTo>
                  <a:pt x="2874" y="1183"/>
                </a:lnTo>
                <a:lnTo>
                  <a:pt x="2923" y="1194"/>
                </a:lnTo>
                <a:lnTo>
                  <a:pt x="2972" y="1206"/>
                </a:lnTo>
                <a:lnTo>
                  <a:pt x="3021" y="1221"/>
                </a:lnTo>
                <a:lnTo>
                  <a:pt x="3070" y="1236"/>
                </a:lnTo>
                <a:lnTo>
                  <a:pt x="3118" y="1253"/>
                </a:lnTo>
                <a:lnTo>
                  <a:pt x="3164" y="1272"/>
                </a:lnTo>
                <a:lnTo>
                  <a:pt x="3208" y="1292"/>
                </a:lnTo>
                <a:lnTo>
                  <a:pt x="3250" y="1314"/>
                </a:lnTo>
                <a:lnTo>
                  <a:pt x="3288" y="1338"/>
                </a:lnTo>
                <a:lnTo>
                  <a:pt x="3324" y="1363"/>
                </a:lnTo>
                <a:lnTo>
                  <a:pt x="3357" y="1389"/>
                </a:lnTo>
                <a:lnTo>
                  <a:pt x="3386" y="1418"/>
                </a:lnTo>
                <a:lnTo>
                  <a:pt x="3410" y="1448"/>
                </a:lnTo>
                <a:lnTo>
                  <a:pt x="3430" y="1479"/>
                </a:lnTo>
                <a:lnTo>
                  <a:pt x="3443" y="1512"/>
                </a:lnTo>
                <a:lnTo>
                  <a:pt x="3453" y="1546"/>
                </a:lnTo>
                <a:lnTo>
                  <a:pt x="3456" y="1583"/>
                </a:lnTo>
                <a:lnTo>
                  <a:pt x="3456" y="1871"/>
                </a:lnTo>
                <a:lnTo>
                  <a:pt x="3025" y="1871"/>
                </a:lnTo>
                <a:lnTo>
                  <a:pt x="3025" y="1583"/>
                </a:lnTo>
                <a:lnTo>
                  <a:pt x="3021" y="1533"/>
                </a:lnTo>
                <a:lnTo>
                  <a:pt x="3015" y="1486"/>
                </a:lnTo>
                <a:lnTo>
                  <a:pt x="3004" y="1440"/>
                </a:lnTo>
                <a:lnTo>
                  <a:pt x="2989" y="1396"/>
                </a:lnTo>
                <a:lnTo>
                  <a:pt x="2969" y="1355"/>
                </a:lnTo>
                <a:lnTo>
                  <a:pt x="2947" y="1315"/>
                </a:lnTo>
                <a:lnTo>
                  <a:pt x="2921" y="1276"/>
                </a:lnTo>
                <a:lnTo>
                  <a:pt x="2892" y="1241"/>
                </a:lnTo>
                <a:lnTo>
                  <a:pt x="2860" y="1206"/>
                </a:lnTo>
                <a:lnTo>
                  <a:pt x="2826" y="1175"/>
                </a:lnTo>
                <a:close/>
                <a:moveTo>
                  <a:pt x="1873" y="1152"/>
                </a:moveTo>
                <a:lnTo>
                  <a:pt x="1911" y="1152"/>
                </a:lnTo>
                <a:lnTo>
                  <a:pt x="1953" y="1155"/>
                </a:lnTo>
                <a:lnTo>
                  <a:pt x="1997" y="1159"/>
                </a:lnTo>
                <a:lnTo>
                  <a:pt x="2044" y="1164"/>
                </a:lnTo>
                <a:lnTo>
                  <a:pt x="2091" y="1171"/>
                </a:lnTo>
                <a:lnTo>
                  <a:pt x="2141" y="1181"/>
                </a:lnTo>
                <a:lnTo>
                  <a:pt x="2191" y="1191"/>
                </a:lnTo>
                <a:lnTo>
                  <a:pt x="2241" y="1203"/>
                </a:lnTo>
                <a:lnTo>
                  <a:pt x="2290" y="1218"/>
                </a:lnTo>
                <a:lnTo>
                  <a:pt x="2340" y="1232"/>
                </a:lnTo>
                <a:lnTo>
                  <a:pt x="2389" y="1250"/>
                </a:lnTo>
                <a:lnTo>
                  <a:pt x="2435" y="1269"/>
                </a:lnTo>
                <a:lnTo>
                  <a:pt x="2480" y="1289"/>
                </a:lnTo>
                <a:lnTo>
                  <a:pt x="2523" y="1311"/>
                </a:lnTo>
                <a:lnTo>
                  <a:pt x="2564" y="1335"/>
                </a:lnTo>
                <a:lnTo>
                  <a:pt x="2600" y="1360"/>
                </a:lnTo>
                <a:lnTo>
                  <a:pt x="2634" y="1387"/>
                </a:lnTo>
                <a:lnTo>
                  <a:pt x="2663" y="1415"/>
                </a:lnTo>
                <a:lnTo>
                  <a:pt x="2688" y="1446"/>
                </a:lnTo>
                <a:lnTo>
                  <a:pt x="2708" y="1477"/>
                </a:lnTo>
                <a:lnTo>
                  <a:pt x="2724" y="1511"/>
                </a:lnTo>
                <a:lnTo>
                  <a:pt x="2732" y="1546"/>
                </a:lnTo>
                <a:lnTo>
                  <a:pt x="2737" y="1583"/>
                </a:lnTo>
                <a:lnTo>
                  <a:pt x="2737" y="1871"/>
                </a:lnTo>
                <a:lnTo>
                  <a:pt x="1009" y="1871"/>
                </a:lnTo>
                <a:lnTo>
                  <a:pt x="1009" y="1583"/>
                </a:lnTo>
                <a:lnTo>
                  <a:pt x="1012" y="1546"/>
                </a:lnTo>
                <a:lnTo>
                  <a:pt x="1020" y="1511"/>
                </a:lnTo>
                <a:lnTo>
                  <a:pt x="1036" y="1477"/>
                </a:lnTo>
                <a:lnTo>
                  <a:pt x="1056" y="1446"/>
                </a:lnTo>
                <a:lnTo>
                  <a:pt x="1081" y="1415"/>
                </a:lnTo>
                <a:lnTo>
                  <a:pt x="1110" y="1387"/>
                </a:lnTo>
                <a:lnTo>
                  <a:pt x="1144" y="1360"/>
                </a:lnTo>
                <a:lnTo>
                  <a:pt x="1180" y="1335"/>
                </a:lnTo>
                <a:lnTo>
                  <a:pt x="1221" y="1311"/>
                </a:lnTo>
                <a:lnTo>
                  <a:pt x="1264" y="1289"/>
                </a:lnTo>
                <a:lnTo>
                  <a:pt x="1309" y="1269"/>
                </a:lnTo>
                <a:lnTo>
                  <a:pt x="1355" y="1250"/>
                </a:lnTo>
                <a:lnTo>
                  <a:pt x="1404" y="1232"/>
                </a:lnTo>
                <a:lnTo>
                  <a:pt x="1454" y="1218"/>
                </a:lnTo>
                <a:lnTo>
                  <a:pt x="1503" y="1203"/>
                </a:lnTo>
                <a:lnTo>
                  <a:pt x="1553" y="1191"/>
                </a:lnTo>
                <a:lnTo>
                  <a:pt x="1603" y="1181"/>
                </a:lnTo>
                <a:lnTo>
                  <a:pt x="1653" y="1171"/>
                </a:lnTo>
                <a:lnTo>
                  <a:pt x="1700" y="1164"/>
                </a:lnTo>
                <a:lnTo>
                  <a:pt x="1747" y="1159"/>
                </a:lnTo>
                <a:lnTo>
                  <a:pt x="1791" y="1155"/>
                </a:lnTo>
                <a:lnTo>
                  <a:pt x="1833" y="1152"/>
                </a:lnTo>
                <a:lnTo>
                  <a:pt x="1873" y="1152"/>
                </a:lnTo>
                <a:close/>
                <a:moveTo>
                  <a:pt x="431" y="288"/>
                </a:moveTo>
                <a:lnTo>
                  <a:pt x="721" y="288"/>
                </a:lnTo>
                <a:lnTo>
                  <a:pt x="721" y="719"/>
                </a:lnTo>
                <a:lnTo>
                  <a:pt x="1152" y="719"/>
                </a:lnTo>
                <a:lnTo>
                  <a:pt x="1152" y="1007"/>
                </a:lnTo>
                <a:lnTo>
                  <a:pt x="721" y="1007"/>
                </a:lnTo>
                <a:lnTo>
                  <a:pt x="721" y="1440"/>
                </a:lnTo>
                <a:lnTo>
                  <a:pt x="431" y="1440"/>
                </a:lnTo>
                <a:lnTo>
                  <a:pt x="431" y="1007"/>
                </a:lnTo>
                <a:lnTo>
                  <a:pt x="0" y="1007"/>
                </a:lnTo>
                <a:lnTo>
                  <a:pt x="0" y="719"/>
                </a:lnTo>
                <a:lnTo>
                  <a:pt x="431" y="719"/>
                </a:lnTo>
                <a:lnTo>
                  <a:pt x="431" y="288"/>
                </a:lnTo>
                <a:close/>
                <a:moveTo>
                  <a:pt x="2592" y="0"/>
                </a:moveTo>
                <a:lnTo>
                  <a:pt x="2642" y="2"/>
                </a:lnTo>
                <a:lnTo>
                  <a:pt x="2691" y="10"/>
                </a:lnTo>
                <a:lnTo>
                  <a:pt x="2738" y="25"/>
                </a:lnTo>
                <a:lnTo>
                  <a:pt x="2782" y="42"/>
                </a:lnTo>
                <a:lnTo>
                  <a:pt x="2823" y="67"/>
                </a:lnTo>
                <a:lnTo>
                  <a:pt x="2862" y="94"/>
                </a:lnTo>
                <a:lnTo>
                  <a:pt x="2897" y="125"/>
                </a:lnTo>
                <a:lnTo>
                  <a:pt x="2928" y="161"/>
                </a:lnTo>
                <a:lnTo>
                  <a:pt x="2955" y="200"/>
                </a:lnTo>
                <a:lnTo>
                  <a:pt x="2979" y="240"/>
                </a:lnTo>
                <a:lnTo>
                  <a:pt x="2997" y="285"/>
                </a:lnTo>
                <a:lnTo>
                  <a:pt x="3011" y="332"/>
                </a:lnTo>
                <a:lnTo>
                  <a:pt x="3019" y="381"/>
                </a:lnTo>
                <a:lnTo>
                  <a:pt x="3022" y="431"/>
                </a:lnTo>
                <a:lnTo>
                  <a:pt x="3019" y="481"/>
                </a:lnTo>
                <a:lnTo>
                  <a:pt x="3011" y="530"/>
                </a:lnTo>
                <a:lnTo>
                  <a:pt x="2997" y="577"/>
                </a:lnTo>
                <a:lnTo>
                  <a:pt x="2979" y="622"/>
                </a:lnTo>
                <a:lnTo>
                  <a:pt x="2955" y="662"/>
                </a:lnTo>
                <a:lnTo>
                  <a:pt x="2928" y="701"/>
                </a:lnTo>
                <a:lnTo>
                  <a:pt x="2897" y="737"/>
                </a:lnTo>
                <a:lnTo>
                  <a:pt x="2862" y="768"/>
                </a:lnTo>
                <a:lnTo>
                  <a:pt x="2823" y="795"/>
                </a:lnTo>
                <a:lnTo>
                  <a:pt x="2782" y="820"/>
                </a:lnTo>
                <a:lnTo>
                  <a:pt x="2738" y="837"/>
                </a:lnTo>
                <a:lnTo>
                  <a:pt x="2691" y="852"/>
                </a:lnTo>
                <a:lnTo>
                  <a:pt x="2642" y="860"/>
                </a:lnTo>
                <a:lnTo>
                  <a:pt x="2592" y="864"/>
                </a:lnTo>
                <a:lnTo>
                  <a:pt x="2547" y="860"/>
                </a:lnTo>
                <a:lnTo>
                  <a:pt x="2503" y="854"/>
                </a:lnTo>
                <a:lnTo>
                  <a:pt x="2461" y="843"/>
                </a:lnTo>
                <a:lnTo>
                  <a:pt x="2494" y="791"/>
                </a:lnTo>
                <a:lnTo>
                  <a:pt x="2522" y="737"/>
                </a:lnTo>
                <a:lnTo>
                  <a:pt x="2546" y="679"/>
                </a:lnTo>
                <a:lnTo>
                  <a:pt x="2565" y="621"/>
                </a:lnTo>
                <a:lnTo>
                  <a:pt x="2579" y="560"/>
                </a:lnTo>
                <a:lnTo>
                  <a:pt x="2588" y="496"/>
                </a:lnTo>
                <a:lnTo>
                  <a:pt x="2591" y="431"/>
                </a:lnTo>
                <a:lnTo>
                  <a:pt x="2588" y="366"/>
                </a:lnTo>
                <a:lnTo>
                  <a:pt x="2579" y="302"/>
                </a:lnTo>
                <a:lnTo>
                  <a:pt x="2566" y="241"/>
                </a:lnTo>
                <a:lnTo>
                  <a:pt x="2546" y="182"/>
                </a:lnTo>
                <a:lnTo>
                  <a:pt x="2523" y="125"/>
                </a:lnTo>
                <a:lnTo>
                  <a:pt x="2494" y="71"/>
                </a:lnTo>
                <a:lnTo>
                  <a:pt x="2461" y="19"/>
                </a:lnTo>
                <a:lnTo>
                  <a:pt x="2503" y="8"/>
                </a:lnTo>
                <a:lnTo>
                  <a:pt x="2547" y="2"/>
                </a:lnTo>
                <a:lnTo>
                  <a:pt x="2592" y="0"/>
                </a:lnTo>
                <a:close/>
                <a:moveTo>
                  <a:pt x="1873" y="0"/>
                </a:moveTo>
                <a:lnTo>
                  <a:pt x="1923" y="2"/>
                </a:lnTo>
                <a:lnTo>
                  <a:pt x="1971" y="10"/>
                </a:lnTo>
                <a:lnTo>
                  <a:pt x="2018" y="25"/>
                </a:lnTo>
                <a:lnTo>
                  <a:pt x="2062" y="42"/>
                </a:lnTo>
                <a:lnTo>
                  <a:pt x="2103" y="67"/>
                </a:lnTo>
                <a:lnTo>
                  <a:pt x="2142" y="94"/>
                </a:lnTo>
                <a:lnTo>
                  <a:pt x="2177" y="125"/>
                </a:lnTo>
                <a:lnTo>
                  <a:pt x="2209" y="161"/>
                </a:lnTo>
                <a:lnTo>
                  <a:pt x="2236" y="200"/>
                </a:lnTo>
                <a:lnTo>
                  <a:pt x="2259" y="240"/>
                </a:lnTo>
                <a:lnTo>
                  <a:pt x="2278" y="285"/>
                </a:lnTo>
                <a:lnTo>
                  <a:pt x="2291" y="332"/>
                </a:lnTo>
                <a:lnTo>
                  <a:pt x="2300" y="381"/>
                </a:lnTo>
                <a:lnTo>
                  <a:pt x="2303" y="431"/>
                </a:lnTo>
                <a:lnTo>
                  <a:pt x="2300" y="481"/>
                </a:lnTo>
                <a:lnTo>
                  <a:pt x="2291" y="530"/>
                </a:lnTo>
                <a:lnTo>
                  <a:pt x="2278" y="577"/>
                </a:lnTo>
                <a:lnTo>
                  <a:pt x="2259" y="622"/>
                </a:lnTo>
                <a:lnTo>
                  <a:pt x="2236" y="662"/>
                </a:lnTo>
                <a:lnTo>
                  <a:pt x="2209" y="701"/>
                </a:lnTo>
                <a:lnTo>
                  <a:pt x="2177" y="737"/>
                </a:lnTo>
                <a:lnTo>
                  <a:pt x="2142" y="768"/>
                </a:lnTo>
                <a:lnTo>
                  <a:pt x="2103" y="795"/>
                </a:lnTo>
                <a:lnTo>
                  <a:pt x="2062" y="820"/>
                </a:lnTo>
                <a:lnTo>
                  <a:pt x="2018" y="837"/>
                </a:lnTo>
                <a:lnTo>
                  <a:pt x="1971" y="852"/>
                </a:lnTo>
                <a:lnTo>
                  <a:pt x="1923" y="860"/>
                </a:lnTo>
                <a:lnTo>
                  <a:pt x="1873" y="864"/>
                </a:lnTo>
                <a:lnTo>
                  <a:pt x="1821" y="860"/>
                </a:lnTo>
                <a:lnTo>
                  <a:pt x="1773" y="852"/>
                </a:lnTo>
                <a:lnTo>
                  <a:pt x="1726" y="837"/>
                </a:lnTo>
                <a:lnTo>
                  <a:pt x="1682" y="820"/>
                </a:lnTo>
                <a:lnTo>
                  <a:pt x="1640" y="795"/>
                </a:lnTo>
                <a:lnTo>
                  <a:pt x="1601" y="768"/>
                </a:lnTo>
                <a:lnTo>
                  <a:pt x="1567" y="737"/>
                </a:lnTo>
                <a:lnTo>
                  <a:pt x="1534" y="701"/>
                </a:lnTo>
                <a:lnTo>
                  <a:pt x="1507" y="662"/>
                </a:lnTo>
                <a:lnTo>
                  <a:pt x="1484" y="622"/>
                </a:lnTo>
                <a:lnTo>
                  <a:pt x="1465" y="577"/>
                </a:lnTo>
                <a:lnTo>
                  <a:pt x="1452" y="530"/>
                </a:lnTo>
                <a:lnTo>
                  <a:pt x="1443" y="481"/>
                </a:lnTo>
                <a:lnTo>
                  <a:pt x="1440" y="431"/>
                </a:lnTo>
                <a:lnTo>
                  <a:pt x="1443" y="381"/>
                </a:lnTo>
                <a:lnTo>
                  <a:pt x="1452" y="332"/>
                </a:lnTo>
                <a:lnTo>
                  <a:pt x="1465" y="285"/>
                </a:lnTo>
                <a:lnTo>
                  <a:pt x="1484" y="240"/>
                </a:lnTo>
                <a:lnTo>
                  <a:pt x="1507" y="200"/>
                </a:lnTo>
                <a:lnTo>
                  <a:pt x="1534" y="161"/>
                </a:lnTo>
                <a:lnTo>
                  <a:pt x="1567" y="125"/>
                </a:lnTo>
                <a:lnTo>
                  <a:pt x="1601" y="94"/>
                </a:lnTo>
                <a:lnTo>
                  <a:pt x="1640" y="67"/>
                </a:lnTo>
                <a:lnTo>
                  <a:pt x="1682" y="42"/>
                </a:lnTo>
                <a:lnTo>
                  <a:pt x="1726" y="25"/>
                </a:lnTo>
                <a:lnTo>
                  <a:pt x="1773" y="10"/>
                </a:lnTo>
                <a:lnTo>
                  <a:pt x="1821" y="2"/>
                </a:lnTo>
                <a:lnTo>
                  <a:pt x="1873" y="0"/>
                </a:lnTo>
                <a:close/>
              </a:path>
            </a:pathLst>
          </a:custGeom>
          <a:solidFill>
            <a:schemeClr val="accent4"/>
          </a:solidFill>
          <a:ln w="0">
            <a:noFill/>
            <a:prstDash val="solid"/>
            <a:round/>
          </a:ln>
        </p:spPr>
        <p:txBody>
          <a:bodyPr vert="horz" wrap="square" lIns="91440" tIns="45720" rIns="91440" bIns="45720" numCol="1" anchor="t" anchorCtr="0" compatLnSpc="1">
            <a:prstTxWarp prst="textNoShape">
              <a:avLst/>
            </a:prstTxWarp>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p>
        </p:txBody>
      </p:sp>
      <p:cxnSp>
        <p:nvCxnSpPr>
          <p:cNvPr id="6" name="Straight Arrow Connector 5">
            <a:extLst>
              <a:ext uri="{FF2B5EF4-FFF2-40B4-BE49-F238E27FC236}">
                <a16:creationId xmlns:a16="http://schemas.microsoft.com/office/drawing/2014/main" id="{EC7C74B2-200C-E272-A03F-72F805C3691D}"/>
              </a:ext>
            </a:extLst>
          </p:cNvPr>
          <p:cNvCxnSpPr>
            <a:endCxn id="9" idx="3"/>
          </p:cNvCxnSpPr>
          <p:nvPr/>
        </p:nvCxnSpPr>
        <p:spPr>
          <a:xfrm flipH="1">
            <a:off x="5428587" y="5686901"/>
            <a:ext cx="2072262" cy="0"/>
          </a:xfrm>
          <a:prstGeom prst="straightConnector1">
            <a:avLst/>
          </a:prstGeom>
          <a:ln>
            <a:solidFill>
              <a:srgbClr val="FFA400"/>
            </a:solidFill>
            <a:tailEnd type="oval"/>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B7B21388-238D-07C2-2623-D3A8B2BB8E50}"/>
              </a:ext>
            </a:extLst>
          </p:cNvPr>
          <p:cNvCxnSpPr>
            <a:endCxn id="8" idx="3"/>
          </p:cNvCxnSpPr>
          <p:nvPr/>
        </p:nvCxnSpPr>
        <p:spPr>
          <a:xfrm flipH="1">
            <a:off x="6416550" y="3203986"/>
            <a:ext cx="1261356" cy="0"/>
          </a:xfrm>
          <a:prstGeom prst="straightConnector1">
            <a:avLst/>
          </a:prstGeom>
          <a:ln>
            <a:solidFill>
              <a:srgbClr val="FFA400"/>
            </a:solidFill>
            <a:tailEnd type="oval"/>
          </a:ln>
        </p:spPr>
        <p:style>
          <a:lnRef idx="1">
            <a:schemeClr val="accent1"/>
          </a:lnRef>
          <a:fillRef idx="0">
            <a:schemeClr val="accent1"/>
          </a:fillRef>
          <a:effectRef idx="0">
            <a:schemeClr val="accent1"/>
          </a:effectRef>
          <a:fontRef idx="minor">
            <a:schemeClr val="tx1"/>
          </a:fontRef>
        </p:style>
      </p:cxnSp>
      <p:sp>
        <p:nvSpPr>
          <p:cNvPr id="15" name="Isosceles Triangle 14">
            <a:extLst>
              <a:ext uri="{FF2B5EF4-FFF2-40B4-BE49-F238E27FC236}">
                <a16:creationId xmlns:a16="http://schemas.microsoft.com/office/drawing/2014/main" id="{E2FC7F74-311A-8660-8E3D-8B360E63D60B}"/>
              </a:ext>
            </a:extLst>
          </p:cNvPr>
          <p:cNvSpPr/>
          <p:nvPr/>
        </p:nvSpPr>
        <p:spPr>
          <a:xfrm>
            <a:off x="7406640" y="1900973"/>
            <a:ext cx="748975" cy="4953233"/>
          </a:xfrm>
          <a:prstGeom prst="triangle">
            <a:avLst/>
          </a:prstGeom>
          <a:gradFill flip="none" rotWithShape="1">
            <a:gsLst>
              <a:gs pos="0">
                <a:schemeClr val="accent4"/>
              </a:gs>
              <a:gs pos="50000">
                <a:schemeClr val="accent3"/>
              </a:gs>
              <a:gs pos="100000">
                <a:schemeClr val="accent3"/>
              </a:gs>
            </a:gsLst>
            <a:lin ang="5400000" scaled="1"/>
          </a:gradFill>
          <a:ln>
            <a:solidFill>
              <a:schemeClr val="bg1"/>
            </a:solid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16" name="Isosceles Triangle 15">
            <a:extLst>
              <a:ext uri="{FF2B5EF4-FFF2-40B4-BE49-F238E27FC236}">
                <a16:creationId xmlns:a16="http://schemas.microsoft.com/office/drawing/2014/main" id="{A9087265-FCFA-DDD1-BF82-01D056B62973}"/>
              </a:ext>
            </a:extLst>
          </p:cNvPr>
          <p:cNvSpPr/>
          <p:nvPr/>
        </p:nvSpPr>
        <p:spPr>
          <a:xfrm rot="10800000">
            <a:off x="7791743" y="1972518"/>
            <a:ext cx="748975" cy="4953233"/>
          </a:xfrm>
          <a:prstGeom prst="triangle">
            <a:avLst/>
          </a:prstGeom>
          <a:gradFill>
            <a:gsLst>
              <a:gs pos="0">
                <a:schemeClr val="accent4"/>
              </a:gs>
              <a:gs pos="50000">
                <a:schemeClr val="accent3"/>
              </a:gs>
              <a:gs pos="100000">
                <a:schemeClr val="accent3"/>
              </a:gs>
            </a:gsLst>
            <a:lin ang="16200000" scaled="1"/>
          </a:gra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17" name="TextBox 16">
            <a:extLst>
              <a:ext uri="{FF2B5EF4-FFF2-40B4-BE49-F238E27FC236}">
                <a16:creationId xmlns:a16="http://schemas.microsoft.com/office/drawing/2014/main" id="{EE7E6730-7E96-2711-458A-455616118D35}"/>
              </a:ext>
            </a:extLst>
          </p:cNvPr>
          <p:cNvSpPr txBox="1"/>
          <p:nvPr/>
        </p:nvSpPr>
        <p:spPr>
          <a:xfrm>
            <a:off x="7830963" y="2018968"/>
            <a:ext cx="715413" cy="322761"/>
          </a:xfrm>
          <a:prstGeom prst="rect">
            <a:avLst/>
          </a:prstGeom>
          <a:noFill/>
        </p:spPr>
        <p:txBody>
          <a:bodyPr vert="horz" wrap="square" lIns="0" tIns="0" rIns="0" bIns="0" rtlCol="0">
            <a:noAutofit/>
          </a:bodyPr>
          <a:lstStyle/>
          <a:p>
            <a:pPr algn="ctr"/>
            <a:r>
              <a:rPr lang="en-US" sz="1200" b="1" noProof="0" dirty="0">
                <a:solidFill>
                  <a:schemeClr val="bg1"/>
                </a:solidFill>
              </a:rPr>
              <a:t>Us</a:t>
            </a:r>
          </a:p>
        </p:txBody>
      </p:sp>
      <p:sp>
        <p:nvSpPr>
          <p:cNvPr id="18" name="TextBox 17">
            <a:extLst>
              <a:ext uri="{FF2B5EF4-FFF2-40B4-BE49-F238E27FC236}">
                <a16:creationId xmlns:a16="http://schemas.microsoft.com/office/drawing/2014/main" id="{94613233-52A7-C4CE-10C6-0FD6BD2FBEF1}"/>
              </a:ext>
            </a:extLst>
          </p:cNvPr>
          <p:cNvSpPr txBox="1"/>
          <p:nvPr/>
        </p:nvSpPr>
        <p:spPr>
          <a:xfrm>
            <a:off x="7423420" y="6625274"/>
            <a:ext cx="715413" cy="322761"/>
          </a:xfrm>
          <a:prstGeom prst="rect">
            <a:avLst/>
          </a:prstGeom>
          <a:noFill/>
        </p:spPr>
        <p:txBody>
          <a:bodyPr vert="horz" wrap="square" lIns="0" tIns="0" rIns="0" bIns="0" rtlCol="0">
            <a:noAutofit/>
          </a:bodyPr>
          <a:lstStyle/>
          <a:p>
            <a:pPr algn="ctr"/>
            <a:r>
              <a:rPr lang="en-US" sz="1200" b="1" noProof="0" dirty="0">
                <a:solidFill>
                  <a:schemeClr val="bg1"/>
                </a:solidFill>
              </a:rPr>
              <a:t>You</a:t>
            </a:r>
          </a:p>
        </p:txBody>
      </p:sp>
    </p:spTree>
    <p:extLst>
      <p:ext uri="{BB962C8B-B14F-4D97-AF65-F5344CB8AC3E}">
        <p14:creationId xmlns:p14="http://schemas.microsoft.com/office/powerpoint/2010/main" val="1412001127"/>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5" name="Table 54">
            <a:extLst>
              <a:ext uri="{FF2B5EF4-FFF2-40B4-BE49-F238E27FC236}">
                <a16:creationId xmlns:a16="http://schemas.microsoft.com/office/drawing/2014/main" id="{910651F9-D7E0-6B31-3F9F-232E30A61FE2}"/>
              </a:ext>
            </a:extLst>
          </p:cNvPr>
          <p:cNvGraphicFramePr>
            <a:graphicFrameLocks noGrp="1"/>
          </p:cNvGraphicFramePr>
          <p:nvPr>
            <p:extLst>
              <p:ext uri="{D42A27DB-BD31-4B8C-83A1-F6EECF244321}">
                <p14:modId xmlns:p14="http://schemas.microsoft.com/office/powerpoint/2010/main" val="536942246"/>
              </p:ext>
            </p:extLst>
          </p:nvPr>
        </p:nvGraphicFramePr>
        <p:xfrm>
          <a:off x="4545364" y="1851299"/>
          <a:ext cx="5480377" cy="1672548"/>
        </p:xfrm>
        <a:graphic>
          <a:graphicData uri="http://schemas.openxmlformats.org/drawingml/2006/table">
            <a:tbl>
              <a:tblPr firstRow="1" bandRow="1">
                <a:tableStyleId>{2D5ABB26-0587-4C30-8999-92F81FD0307C}</a:tableStyleId>
              </a:tblPr>
              <a:tblGrid>
                <a:gridCol w="1730645">
                  <a:extLst>
                    <a:ext uri="{9D8B030D-6E8A-4147-A177-3AD203B41FA5}">
                      <a16:colId xmlns:a16="http://schemas.microsoft.com/office/drawing/2014/main" val="20000"/>
                    </a:ext>
                  </a:extLst>
                </a:gridCol>
                <a:gridCol w="1581802">
                  <a:extLst>
                    <a:ext uri="{9D8B030D-6E8A-4147-A177-3AD203B41FA5}">
                      <a16:colId xmlns:a16="http://schemas.microsoft.com/office/drawing/2014/main" val="20002"/>
                    </a:ext>
                  </a:extLst>
                </a:gridCol>
                <a:gridCol w="2167930">
                  <a:extLst>
                    <a:ext uri="{9D8B030D-6E8A-4147-A177-3AD203B41FA5}">
                      <a16:colId xmlns:a16="http://schemas.microsoft.com/office/drawing/2014/main" val="546537676"/>
                    </a:ext>
                  </a:extLst>
                </a:gridCol>
              </a:tblGrid>
              <a:tr h="278758">
                <a:tc>
                  <a:txBody>
                    <a:bodyPr/>
                    <a:lstStyle/>
                    <a:p>
                      <a:pPr marL="0" marR="0" lvl="0" indent="0" algn="l" defTabSz="1007943" rtl="0" eaLnBrk="1" fontAlgn="auto" latinLnBrk="0" hangingPunct="1">
                        <a:lnSpc>
                          <a:spcPct val="100000"/>
                        </a:lnSpc>
                        <a:spcBef>
                          <a:spcPct val="0"/>
                        </a:spcBef>
                        <a:spcAft>
                          <a:spcPct val="0"/>
                        </a:spcAft>
                        <a:buClrTx/>
                        <a:buSzTx/>
                        <a:buFontTx/>
                        <a:buNone/>
                        <a:defRPr/>
                      </a:pPr>
                      <a:r>
                        <a:rPr lang="en-US" sz="1100" b="1" noProof="0" dirty="0">
                          <a:solidFill>
                            <a:schemeClr val="tx1"/>
                          </a:solidFill>
                        </a:rPr>
                        <a:t>At you service…</a:t>
                      </a:r>
                    </a:p>
                  </a:txBody>
                  <a:tcPr anchor="ctr">
                    <a:lnB w="12700" cap="flat" cmpd="sng" algn="ctr">
                      <a:solidFill>
                        <a:schemeClr val="tx1"/>
                      </a:solidFill>
                      <a:prstDash val="solid"/>
                      <a:round/>
                      <a:headEnd type="none" w="med" len="med"/>
                      <a:tailEnd type="none" w="med" len="med"/>
                    </a:lnB>
                  </a:tcPr>
                </a:tc>
                <a:tc>
                  <a:txBody>
                    <a:bodyPr/>
                    <a:lstStyle/>
                    <a:p>
                      <a:pPr algn="ctr"/>
                      <a:r>
                        <a:rPr lang="en-US" sz="1100" noProof="0" dirty="0">
                          <a:solidFill>
                            <a:schemeClr val="accent5"/>
                          </a:solidFill>
                        </a:rPr>
                        <a:t>SELECT</a:t>
                      </a: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100" noProof="0" dirty="0">
                          <a:solidFill>
                            <a:schemeClr val="accent2">
                              <a:lumMod val="75000"/>
                            </a:schemeClr>
                          </a:solidFill>
                        </a:rPr>
                        <a:t>EXPERT</a:t>
                      </a:r>
                    </a:p>
                  </a:txBody>
                  <a:tcPr anchor="ctr">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241643081"/>
                  </a:ext>
                </a:extLst>
              </a:tr>
              <a:tr h="278758">
                <a:tc>
                  <a:txBody>
                    <a:bodyPr/>
                    <a:lstStyle/>
                    <a:p>
                      <a:r>
                        <a:rPr lang="en-US" sz="1100" b="1" noProof="0" dirty="0"/>
                        <a:t>Primary</a:t>
                      </a:r>
                      <a:r>
                        <a:rPr lang="en-US" sz="1100" b="1" baseline="0" noProof="0" dirty="0"/>
                        <a:t> contact</a:t>
                      </a:r>
                      <a:endParaRPr lang="en-US" sz="1100" b="1" noProof="0" dirty="0">
                        <a:solidFill>
                          <a:srgbClr val="FFFFFF"/>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a:t>Relationship manager</a:t>
                      </a:r>
                      <a:endParaRPr lang="en-US" sz="1100" noProof="0" dirty="0">
                        <a:solidFill>
                          <a:srgbClr val="FFFFFF"/>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a:solidFill>
                            <a:schemeClr val="accent2">
                              <a:lumMod val="75000"/>
                            </a:schemeClr>
                          </a:solidFill>
                        </a:rPr>
                        <a:t>Investment</a:t>
                      </a:r>
                      <a:r>
                        <a:rPr lang="en-US" sz="1100" baseline="0" noProof="0" dirty="0">
                          <a:solidFill>
                            <a:schemeClr val="accent2">
                              <a:lumMod val="75000"/>
                            </a:schemeClr>
                          </a:solidFill>
                        </a:rPr>
                        <a:t> </a:t>
                      </a:r>
                      <a:r>
                        <a:rPr lang="en-US" sz="1100" noProof="0" dirty="0">
                          <a:solidFill>
                            <a:schemeClr val="accent2">
                              <a:lumMod val="75000"/>
                            </a:schemeClr>
                          </a:solidFill>
                        </a:rPr>
                        <a:t>Advisor</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78758">
                <a:tc>
                  <a:txBody>
                    <a:bodyPr/>
                    <a:lstStyle/>
                    <a:p>
                      <a:r>
                        <a:rPr lang="en-US" sz="1100" b="1" noProof="0" dirty="0"/>
                        <a:t>Interaction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a:t>On-demand</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a:solidFill>
                            <a:schemeClr val="accent2">
                              <a:lumMod val="75000"/>
                            </a:schemeClr>
                          </a:solidFill>
                        </a:rPr>
                        <a:t>Proactive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78758">
                <a:tc>
                  <a:txBody>
                    <a:bodyPr/>
                    <a:lstStyle/>
                    <a:p>
                      <a:r>
                        <a:rPr lang="en-US" sz="1100" b="1" noProof="0" dirty="0" err="1"/>
                        <a:t>Syz</a:t>
                      </a:r>
                      <a:r>
                        <a:rPr lang="en-US" sz="1100" b="1" noProof="0" dirty="0"/>
                        <a:t> Research &amp; insights</a:t>
                      </a:r>
                      <a:endParaRPr lang="en-US" sz="1100" b="0" noProof="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Clr>
                          <a:schemeClr val="accent4"/>
                        </a:buClr>
                        <a:buFontTx/>
                        <a:buNone/>
                      </a:pPr>
                      <a:r>
                        <a:rPr lang="en-US" sz="1100" noProof="0" dirty="0">
                          <a:solidFill>
                            <a:schemeClr val="tx1"/>
                          </a:solidFill>
                        </a:rPr>
                        <a:t> Regular</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Clr>
                          <a:schemeClr val="accent4"/>
                        </a:buClr>
                        <a:buFontTx/>
                        <a:buNone/>
                      </a:pPr>
                      <a:r>
                        <a:rPr lang="en-US" sz="1100" noProof="0" dirty="0">
                          <a:solidFill>
                            <a:schemeClr val="accent2">
                              <a:lumMod val="75000"/>
                            </a:schemeClr>
                          </a:solidFill>
                        </a:rPr>
                        <a:t>Regular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78758">
                <a:tc>
                  <a:txBody>
                    <a:bodyPr/>
                    <a:lstStyle/>
                    <a:p>
                      <a:r>
                        <a:rPr lang="en-US" sz="1100" b="1" noProof="0" dirty="0"/>
                        <a:t>Investment ideas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err="1"/>
                        <a:t>Syz</a:t>
                      </a:r>
                      <a:r>
                        <a:rPr lang="en-US" sz="1100" noProof="0" dirty="0"/>
                        <a:t> convictions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err="1">
                          <a:solidFill>
                            <a:schemeClr val="accent2">
                              <a:lumMod val="75000"/>
                            </a:schemeClr>
                          </a:solidFill>
                        </a:rPr>
                        <a:t>Personalised</a:t>
                      </a:r>
                      <a:r>
                        <a:rPr lang="en-US" sz="1100" noProof="0" dirty="0">
                          <a:solidFill>
                            <a:schemeClr val="accent2">
                              <a:lumMod val="75000"/>
                            </a:schemeClr>
                          </a:solidFill>
                        </a:rPr>
                        <a:t> recommendations</a:t>
                      </a:r>
                    </a:p>
                  </a:txBody>
                  <a:tcPr marL="72000" marR="720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78758">
                <a:tc>
                  <a:txBody>
                    <a:bodyPr/>
                    <a:lstStyle/>
                    <a:p>
                      <a:r>
                        <a:rPr lang="en-US" sz="1100" b="1" noProof="0" dirty="0"/>
                        <a:t>Portfolio review</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a:t>Annually</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a:solidFill>
                            <a:schemeClr val="accent2">
                              <a:lumMod val="75000"/>
                            </a:schemeClr>
                          </a:solidFill>
                        </a:rPr>
                        <a:t>You decide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 name="Title 1">
            <a:extLst>
              <a:ext uri="{FF2B5EF4-FFF2-40B4-BE49-F238E27FC236}">
                <a16:creationId xmlns:a16="http://schemas.microsoft.com/office/drawing/2014/main" id="{9F0EA69C-7284-4340-35CE-791E7DC36261}"/>
              </a:ext>
            </a:extLst>
          </p:cNvPr>
          <p:cNvSpPr>
            <a:spLocks noGrp="1"/>
          </p:cNvSpPr>
          <p:nvPr>
            <p:ph type="title"/>
          </p:nvPr>
        </p:nvSpPr>
        <p:spPr>
          <a:xfrm>
            <a:off x="665163" y="1032438"/>
            <a:ext cx="9398001" cy="864586"/>
          </a:xfrm>
        </p:spPr>
        <p:txBody>
          <a:bodyPr/>
          <a:lstStyle/>
          <a:p>
            <a:r>
              <a:rPr lang="en-US" noProof="0" dirty="0"/>
              <a:t>Our Value Proposition</a:t>
            </a:r>
            <a:br>
              <a:rPr lang="en-US" noProof="0" dirty="0"/>
            </a:br>
            <a:r>
              <a:rPr lang="en-US" noProof="0" dirty="0"/>
              <a:t>- Advisory Expert</a:t>
            </a:r>
          </a:p>
        </p:txBody>
      </p:sp>
      <p:graphicFrame>
        <p:nvGraphicFramePr>
          <p:cNvPr id="9" name="Table 9">
            <a:extLst>
              <a:ext uri="{FF2B5EF4-FFF2-40B4-BE49-F238E27FC236}">
                <a16:creationId xmlns:a16="http://schemas.microsoft.com/office/drawing/2014/main" id="{BBE8CD02-37EB-13ED-E168-B3B22D6093B5}"/>
              </a:ext>
            </a:extLst>
          </p:cNvPr>
          <p:cNvGraphicFramePr>
            <a:graphicFrameLocks noGrp="1"/>
          </p:cNvGraphicFramePr>
          <p:nvPr>
            <p:extLst>
              <p:ext uri="{D42A27DB-BD31-4B8C-83A1-F6EECF244321}">
                <p14:modId xmlns:p14="http://schemas.microsoft.com/office/powerpoint/2010/main" val="330235490"/>
              </p:ext>
            </p:extLst>
          </p:nvPr>
        </p:nvGraphicFramePr>
        <p:xfrm>
          <a:off x="4545365" y="3714949"/>
          <a:ext cx="5480378" cy="3089637"/>
        </p:xfrm>
        <a:graphic>
          <a:graphicData uri="http://schemas.openxmlformats.org/drawingml/2006/table">
            <a:tbl>
              <a:tblPr firstCol="1">
                <a:tableStyleId>{5C22544A-7EE6-4342-B048-85BDC9FD1C3A}</a:tableStyleId>
              </a:tblPr>
              <a:tblGrid>
                <a:gridCol w="1080000">
                  <a:extLst>
                    <a:ext uri="{9D8B030D-6E8A-4147-A177-3AD203B41FA5}">
                      <a16:colId xmlns:a16="http://schemas.microsoft.com/office/drawing/2014/main" val="988985580"/>
                    </a:ext>
                  </a:extLst>
                </a:gridCol>
                <a:gridCol w="4400378">
                  <a:extLst>
                    <a:ext uri="{9D8B030D-6E8A-4147-A177-3AD203B41FA5}">
                      <a16:colId xmlns:a16="http://schemas.microsoft.com/office/drawing/2014/main" val="3075069410"/>
                    </a:ext>
                  </a:extLst>
                </a:gridCol>
              </a:tblGrid>
              <a:tr h="1505637">
                <a:tc>
                  <a:txBody>
                    <a:bodyPr/>
                    <a:lstStyle/>
                    <a:p>
                      <a:pPr marL="0" indent="0">
                        <a:buFont typeface="Arial" panose="020B0604020202020204" pitchFamily="34" charset="0"/>
                        <a:buNone/>
                      </a:pPr>
                      <a:r>
                        <a:rPr lang="en-US" sz="1200" b="1" noProof="0" dirty="0"/>
                        <a:t>Your Needs</a:t>
                      </a:r>
                    </a:p>
                  </a:txBody>
                  <a:tcPr anchor="ctr">
                    <a:solidFill>
                      <a:schemeClr val="accent2"/>
                    </a:solidFill>
                  </a:tcPr>
                </a:tc>
                <a:tc>
                  <a:txBody>
                    <a:bodyPr/>
                    <a:lstStyle/>
                    <a:p>
                      <a:pPr marL="180975" indent="-180975">
                        <a:spcBef>
                          <a:spcPts val="600"/>
                        </a:spcBef>
                        <a:spcAft>
                          <a:spcPts val="600"/>
                        </a:spcAft>
                        <a:buFont typeface="Arial" panose="020B0604020202020204" pitchFamily="34" charset="0"/>
                        <a:buChar char="•"/>
                      </a:pPr>
                      <a:r>
                        <a:rPr lang="en-US" sz="1200" noProof="0" dirty="0"/>
                        <a:t>You seek for </a:t>
                      </a:r>
                      <a:r>
                        <a:rPr lang="en-US" sz="1200" b="1" noProof="0" dirty="0"/>
                        <a:t>dynamic support </a:t>
                      </a:r>
                      <a:r>
                        <a:rPr lang="en-US" sz="1200" noProof="0" dirty="0"/>
                        <a:t>and </a:t>
                      </a:r>
                      <a:r>
                        <a:rPr lang="en-US" sz="1200" b="1" noProof="0" dirty="0"/>
                        <a:t>exchange with investment experts </a:t>
                      </a:r>
                      <a:r>
                        <a:rPr lang="en-US" sz="1200" noProof="0" dirty="0"/>
                        <a:t>to craft </a:t>
                      </a:r>
                      <a:r>
                        <a:rPr lang="en-US" sz="1200" b="1" noProof="0" dirty="0" err="1"/>
                        <a:t>personalised</a:t>
                      </a:r>
                      <a:r>
                        <a:rPr lang="en-US" sz="1200" noProof="0" dirty="0"/>
                        <a:t> investment strategies</a:t>
                      </a:r>
                    </a:p>
                    <a:p>
                      <a:pPr marL="180975" indent="-180975">
                        <a:spcBef>
                          <a:spcPts val="600"/>
                        </a:spcBef>
                        <a:spcAft>
                          <a:spcPts val="600"/>
                        </a:spcAft>
                        <a:buFont typeface="Arial" panose="020B0604020202020204" pitchFamily="34" charset="0"/>
                        <a:buChar char="•"/>
                      </a:pPr>
                      <a:r>
                        <a:rPr lang="en-US" sz="1200" noProof="0" dirty="0"/>
                        <a:t>You enjoy </a:t>
                      </a:r>
                      <a:r>
                        <a:rPr lang="en-US" sz="1200" b="1" noProof="0" dirty="0"/>
                        <a:t>exploring investment opportunities, </a:t>
                      </a:r>
                      <a:r>
                        <a:rPr lang="en-US" sz="1200" b="0" noProof="0" dirty="0"/>
                        <a:t>and </a:t>
                      </a:r>
                      <a:r>
                        <a:rPr lang="en-US" sz="1200" noProof="0" dirty="0"/>
                        <a:t>desire a </a:t>
                      </a:r>
                      <a:r>
                        <a:rPr lang="en-US" sz="1200" b="1" noProof="0" dirty="0"/>
                        <a:t>higher level of </a:t>
                      </a:r>
                      <a:r>
                        <a:rPr lang="en-US" sz="1200" b="1" noProof="0" dirty="0">
                          <a:solidFill>
                            <a:schemeClr val="tx1"/>
                          </a:solidFill>
                        </a:rPr>
                        <a:t>support</a:t>
                      </a:r>
                      <a:r>
                        <a:rPr lang="en-US" sz="1200" b="1" noProof="0" dirty="0">
                          <a:solidFill>
                            <a:srgbClr val="FF0000"/>
                          </a:solidFill>
                        </a:rPr>
                        <a:t> </a:t>
                      </a:r>
                      <a:r>
                        <a:rPr lang="en-US" sz="1200" noProof="0" dirty="0"/>
                        <a:t>through </a:t>
                      </a:r>
                      <a:r>
                        <a:rPr lang="en-US" sz="1200" b="1" noProof="0" dirty="0"/>
                        <a:t>active portfolio monitoring </a:t>
                      </a:r>
                      <a:r>
                        <a:rPr lang="en-US" sz="1200" noProof="0" dirty="0"/>
                        <a:t>by your </a:t>
                      </a:r>
                      <a:r>
                        <a:rPr lang="en-US" sz="1200" b="1" noProof="0" dirty="0"/>
                        <a:t>dedicated advisor</a:t>
                      </a:r>
                      <a:endParaRPr lang="en-US" sz="1200" noProof="0" dirty="0"/>
                    </a:p>
                  </a:txBody>
                  <a:tcPr anchor="ctr">
                    <a:solidFill>
                      <a:schemeClr val="accent2">
                        <a:lumMod val="20000"/>
                        <a:lumOff val="80000"/>
                      </a:schemeClr>
                    </a:solidFill>
                  </a:tcPr>
                </a:tc>
                <a:extLst>
                  <a:ext uri="{0D108BD9-81ED-4DB2-BD59-A6C34878D82A}">
                    <a16:rowId xmlns:a16="http://schemas.microsoft.com/office/drawing/2014/main" val="3835578771"/>
                  </a:ext>
                </a:extLst>
              </a:tr>
              <a:tr h="1584000">
                <a:tc>
                  <a:txBody>
                    <a:bodyPr/>
                    <a:lstStyle/>
                    <a:p>
                      <a:pPr marL="0" indent="0">
                        <a:buFont typeface="Arial" panose="020B0604020202020204" pitchFamily="34" charset="0"/>
                        <a:buNone/>
                      </a:pPr>
                      <a:r>
                        <a:rPr lang="en-US" sz="1200" b="1" noProof="0" dirty="0"/>
                        <a:t>Our Offering</a:t>
                      </a:r>
                    </a:p>
                  </a:txBody>
                  <a:tcPr anchor="ctr">
                    <a:solidFill>
                      <a:schemeClr val="accent2"/>
                    </a:solidFill>
                  </a:tcPr>
                </a:tc>
                <a:tc>
                  <a:txBody>
                    <a:bodyPr/>
                    <a:lstStyle/>
                    <a:p>
                      <a:pPr marL="180975" marR="0" lvl="0" indent="-180975" algn="l" defTabSz="1007943" rtl="0" eaLnBrk="1" fontAlgn="auto" latinLnBrk="0" hangingPunct="1">
                        <a:lnSpc>
                          <a:spcPct val="100000"/>
                        </a:lnSpc>
                        <a:spcBef>
                          <a:spcPts val="600"/>
                        </a:spcBef>
                        <a:spcAft>
                          <a:spcPts val="600"/>
                        </a:spcAft>
                        <a:buClrTx/>
                        <a:buSzTx/>
                        <a:buFont typeface="Arial" panose="020B0604020202020204" pitchFamily="34" charset="0"/>
                        <a:buChar char="•"/>
                        <a:defRPr/>
                      </a:pPr>
                      <a:r>
                        <a:rPr lang="en-US" sz="1200" b="1" noProof="0" dirty="0"/>
                        <a:t>Dedicated advisor </a:t>
                      </a:r>
                      <a:r>
                        <a:rPr lang="en-US" sz="1200" noProof="0" dirty="0"/>
                        <a:t>for your portfolio, providing </a:t>
                      </a:r>
                      <a:r>
                        <a:rPr lang="en-US" sz="1200" b="1" noProof="0" dirty="0"/>
                        <a:t>proactive tailored advice </a:t>
                      </a:r>
                      <a:r>
                        <a:rPr lang="en-US" sz="1200" noProof="0" dirty="0"/>
                        <a:t>and </a:t>
                      </a:r>
                      <a:r>
                        <a:rPr lang="en-US" sz="1200" b="1" noProof="0" dirty="0"/>
                        <a:t>handpicking</a:t>
                      </a:r>
                      <a:r>
                        <a:rPr lang="en-US" sz="1200" noProof="0" dirty="0"/>
                        <a:t> opportunities for your needs</a:t>
                      </a:r>
                    </a:p>
                    <a:p>
                      <a:pPr marL="180975" indent="-180975">
                        <a:spcBef>
                          <a:spcPts val="600"/>
                        </a:spcBef>
                        <a:spcAft>
                          <a:spcPts val="600"/>
                        </a:spcAft>
                        <a:buFont typeface="Arial" panose="020B0604020202020204" pitchFamily="34" charset="0"/>
                        <a:buChar char="•"/>
                      </a:pPr>
                      <a:r>
                        <a:rPr lang="en-US" sz="1200" noProof="0" dirty="0"/>
                        <a:t>Access to </a:t>
                      </a:r>
                      <a:r>
                        <a:rPr lang="en-US" sz="1200" b="1" noProof="0" dirty="0"/>
                        <a:t>asset-class and investment experts </a:t>
                      </a:r>
                      <a:r>
                        <a:rPr lang="en-US" sz="1200" noProof="0" dirty="0"/>
                        <a:t>to deep dive on investment topics</a:t>
                      </a:r>
                    </a:p>
                    <a:p>
                      <a:pPr marL="180975" indent="-180975">
                        <a:spcBef>
                          <a:spcPts val="600"/>
                        </a:spcBef>
                        <a:spcAft>
                          <a:spcPts val="600"/>
                        </a:spcAft>
                        <a:buFont typeface="Arial" panose="020B0604020202020204" pitchFamily="34" charset="0"/>
                        <a:buChar char="•"/>
                      </a:pPr>
                      <a:r>
                        <a:rPr lang="en-US" sz="1200" b="1" noProof="0" dirty="0"/>
                        <a:t>Active portfolio monitoring </a:t>
                      </a:r>
                      <a:r>
                        <a:rPr lang="en-US" sz="1200" noProof="0" dirty="0"/>
                        <a:t>and alerts</a:t>
                      </a:r>
                    </a:p>
                  </a:txBody>
                  <a:tcPr anchor="ctr">
                    <a:solidFill>
                      <a:schemeClr val="accent2">
                        <a:lumMod val="20000"/>
                        <a:lumOff val="80000"/>
                      </a:schemeClr>
                    </a:solidFill>
                  </a:tcPr>
                </a:tc>
                <a:extLst>
                  <a:ext uri="{0D108BD9-81ED-4DB2-BD59-A6C34878D82A}">
                    <a16:rowId xmlns:a16="http://schemas.microsoft.com/office/drawing/2014/main" val="878091863"/>
                  </a:ext>
                </a:extLst>
              </a:tr>
            </a:tbl>
          </a:graphicData>
        </a:graphic>
      </p:graphicFrame>
      <p:sp>
        <p:nvSpPr>
          <p:cNvPr id="24" name="Rectangle 23">
            <a:extLst>
              <a:ext uri="{FF2B5EF4-FFF2-40B4-BE49-F238E27FC236}">
                <a16:creationId xmlns:a16="http://schemas.microsoft.com/office/drawing/2014/main" id="{B8BA49EC-988A-182B-5885-F528D3DCAF69}"/>
              </a:ext>
            </a:extLst>
          </p:cNvPr>
          <p:cNvSpPr/>
          <p:nvPr/>
        </p:nvSpPr>
        <p:spPr>
          <a:xfrm>
            <a:off x="7857811" y="1795989"/>
            <a:ext cx="2167929" cy="1811358"/>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grpSp>
        <p:nvGrpSpPr>
          <p:cNvPr id="26" name="Group 25">
            <a:extLst>
              <a:ext uri="{FF2B5EF4-FFF2-40B4-BE49-F238E27FC236}">
                <a16:creationId xmlns:a16="http://schemas.microsoft.com/office/drawing/2014/main" id="{CD6EDA3D-58E0-2B41-5E49-EB85A0AAF4E5}"/>
              </a:ext>
            </a:extLst>
          </p:cNvPr>
          <p:cNvGrpSpPr/>
          <p:nvPr/>
        </p:nvGrpSpPr>
        <p:grpSpPr>
          <a:xfrm>
            <a:off x="655940" y="2273480"/>
            <a:ext cx="3852000" cy="3895167"/>
            <a:chOff x="560934" y="2293200"/>
            <a:chExt cx="3852000" cy="3895167"/>
          </a:xfrm>
        </p:grpSpPr>
        <p:sp>
          <p:nvSpPr>
            <p:cNvPr id="27" name="Partial Circle 26">
              <a:extLst>
                <a:ext uri="{FF2B5EF4-FFF2-40B4-BE49-F238E27FC236}">
                  <a16:creationId xmlns:a16="http://schemas.microsoft.com/office/drawing/2014/main" id="{6BBB90BE-3317-F97F-2D98-225FD75B0087}"/>
                </a:ext>
              </a:extLst>
            </p:cNvPr>
            <p:cNvSpPr/>
            <p:nvPr/>
          </p:nvSpPr>
          <p:spPr>
            <a:xfrm>
              <a:off x="560934" y="2293200"/>
              <a:ext cx="3852000" cy="3852000"/>
            </a:xfrm>
            <a:prstGeom prst="pie">
              <a:avLst>
                <a:gd name="adj1" fmla="val 13568700"/>
                <a:gd name="adj2" fmla="val 18748401"/>
              </a:avLst>
            </a:prstGeom>
            <a:solidFill>
              <a:srgbClr val="FFA4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solidFill>
                  <a:schemeClr val="tx1"/>
                </a:solidFill>
              </a:endParaRPr>
            </a:p>
          </p:txBody>
        </p:sp>
        <p:sp>
          <p:nvSpPr>
            <p:cNvPr id="28" name="Partial Circle 27">
              <a:extLst>
                <a:ext uri="{FF2B5EF4-FFF2-40B4-BE49-F238E27FC236}">
                  <a16:creationId xmlns:a16="http://schemas.microsoft.com/office/drawing/2014/main" id="{8A412A8E-9A1D-43FF-56DB-D6C53E44C495}"/>
                </a:ext>
              </a:extLst>
            </p:cNvPr>
            <p:cNvSpPr/>
            <p:nvPr/>
          </p:nvSpPr>
          <p:spPr>
            <a:xfrm>
              <a:off x="692956" y="2660367"/>
              <a:ext cx="3564000" cy="3528000"/>
            </a:xfrm>
            <a:prstGeom prst="pie">
              <a:avLst>
                <a:gd name="adj1" fmla="val 13406481"/>
                <a:gd name="adj2" fmla="val 186191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solidFill>
                  <a:schemeClr val="tx1"/>
                </a:solidFill>
              </a:endParaRPr>
            </a:p>
          </p:txBody>
        </p:sp>
      </p:grpSp>
      <p:sp>
        <p:nvSpPr>
          <p:cNvPr id="29" name="Partial Circle 28">
            <a:extLst>
              <a:ext uri="{FF2B5EF4-FFF2-40B4-BE49-F238E27FC236}">
                <a16:creationId xmlns:a16="http://schemas.microsoft.com/office/drawing/2014/main" id="{EA43B179-C956-19C9-4AC9-5288F4F169F0}"/>
              </a:ext>
            </a:extLst>
          </p:cNvPr>
          <p:cNvSpPr/>
          <p:nvPr/>
        </p:nvSpPr>
        <p:spPr>
          <a:xfrm>
            <a:off x="967962" y="2645779"/>
            <a:ext cx="3204000" cy="3204000"/>
          </a:xfrm>
          <a:prstGeom prst="pie">
            <a:avLst>
              <a:gd name="adj1" fmla="val 14488146"/>
              <a:gd name="adj2" fmla="val 17764186"/>
            </a:avLst>
          </a:prstGeom>
          <a:solidFill>
            <a:schemeClr val="accent3">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solidFill>
                <a:schemeClr val="tx1"/>
              </a:solidFill>
            </a:endParaRPr>
          </a:p>
        </p:txBody>
      </p:sp>
      <p:sp>
        <p:nvSpPr>
          <p:cNvPr id="30" name="Arc 29">
            <a:extLst>
              <a:ext uri="{FF2B5EF4-FFF2-40B4-BE49-F238E27FC236}">
                <a16:creationId xmlns:a16="http://schemas.microsoft.com/office/drawing/2014/main" id="{619C2123-D32C-A314-B026-2F68FC923401}"/>
              </a:ext>
            </a:extLst>
          </p:cNvPr>
          <p:cNvSpPr/>
          <p:nvPr/>
        </p:nvSpPr>
        <p:spPr>
          <a:xfrm>
            <a:off x="1761591" y="3633958"/>
            <a:ext cx="1620000" cy="1620000"/>
          </a:xfrm>
          <a:prstGeom prst="arc">
            <a:avLst>
              <a:gd name="adj1" fmla="val 5602225"/>
              <a:gd name="adj2" fmla="val 16023842"/>
            </a:avLst>
          </a:prstGeom>
          <a:ln w="127000">
            <a:solidFill>
              <a:srgbClr val="00CEB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34" name="Arc 33">
            <a:extLst>
              <a:ext uri="{FF2B5EF4-FFF2-40B4-BE49-F238E27FC236}">
                <a16:creationId xmlns:a16="http://schemas.microsoft.com/office/drawing/2014/main" id="{55A7C6C8-D1E1-2F50-169F-E8CAC7392117}"/>
              </a:ext>
            </a:extLst>
          </p:cNvPr>
          <p:cNvSpPr/>
          <p:nvPr/>
        </p:nvSpPr>
        <p:spPr>
          <a:xfrm>
            <a:off x="1748560" y="3633958"/>
            <a:ext cx="1620000" cy="1620000"/>
          </a:xfrm>
          <a:prstGeom prst="arc">
            <a:avLst>
              <a:gd name="adj1" fmla="val 16335625"/>
              <a:gd name="adj2" fmla="val 5284038"/>
            </a:avLst>
          </a:prstGeom>
          <a:ln w="1270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35" name="Rectangle 34">
            <a:extLst>
              <a:ext uri="{FF2B5EF4-FFF2-40B4-BE49-F238E27FC236}">
                <a16:creationId xmlns:a16="http://schemas.microsoft.com/office/drawing/2014/main" id="{BA000969-59D7-FA29-8502-444042E29A44}"/>
              </a:ext>
            </a:extLst>
          </p:cNvPr>
          <p:cNvSpPr/>
          <p:nvPr/>
        </p:nvSpPr>
        <p:spPr>
          <a:xfrm>
            <a:off x="1650150" y="2520834"/>
            <a:ext cx="1837223" cy="573950"/>
          </a:xfrm>
          <a:prstGeom prst="rect">
            <a:avLst/>
          </a:prstGeom>
          <a:noFill/>
        </p:spPr>
        <p:txBody>
          <a:bodyPr wrap="none" lIns="91440" tIns="45720" rIns="91440" bIns="45720">
            <a:prstTxWarp prst="textArchUp">
              <a:avLst>
                <a:gd name="adj" fmla="val 11737872"/>
              </a:avLst>
            </a:prstTxWarp>
            <a:spAutoFit/>
          </a:bodyPr>
          <a:lstStyle/>
          <a:p>
            <a:pPr algn="ctr"/>
            <a:r>
              <a:rPr lang="en-US" sz="1400" b="1" cap="none" spc="0" noProof="0" dirty="0">
                <a:ln w="0"/>
                <a:solidFill>
                  <a:schemeClr val="bg1"/>
                </a:solidFill>
                <a:effectLst>
                  <a:outerShdw blurRad="38100" dist="19050" dir="2700000" algn="tl" rotWithShape="0">
                    <a:schemeClr val="dk1">
                      <a:alpha val="40000"/>
                    </a:schemeClr>
                  </a:outerShdw>
                </a:effectLst>
              </a:rPr>
              <a:t>CIO House View</a:t>
            </a:r>
          </a:p>
        </p:txBody>
      </p:sp>
      <p:grpSp>
        <p:nvGrpSpPr>
          <p:cNvPr id="36" name="Group 35">
            <a:extLst>
              <a:ext uri="{FF2B5EF4-FFF2-40B4-BE49-F238E27FC236}">
                <a16:creationId xmlns:a16="http://schemas.microsoft.com/office/drawing/2014/main" id="{060CE9C0-39E7-0C6C-78F8-52AE940B46A8}"/>
              </a:ext>
            </a:extLst>
          </p:cNvPr>
          <p:cNvGrpSpPr/>
          <p:nvPr/>
        </p:nvGrpSpPr>
        <p:grpSpPr>
          <a:xfrm>
            <a:off x="2194260" y="4208897"/>
            <a:ext cx="759080" cy="783882"/>
            <a:chOff x="2099254" y="4178377"/>
            <a:chExt cx="759080" cy="783882"/>
          </a:xfrm>
        </p:grpSpPr>
        <p:grpSp>
          <p:nvGrpSpPr>
            <p:cNvPr id="37" name="Group 36">
              <a:extLst>
                <a:ext uri="{FF2B5EF4-FFF2-40B4-BE49-F238E27FC236}">
                  <a16:creationId xmlns:a16="http://schemas.microsoft.com/office/drawing/2014/main" id="{168BDBDD-8031-6FFB-ABBF-B79D845BD5D1}"/>
                </a:ext>
              </a:extLst>
            </p:cNvPr>
            <p:cNvGrpSpPr/>
            <p:nvPr/>
          </p:nvGrpSpPr>
          <p:grpSpPr>
            <a:xfrm>
              <a:off x="2262794" y="4178377"/>
              <a:ext cx="432000" cy="462775"/>
              <a:chOff x="2262794" y="4178377"/>
              <a:chExt cx="432000" cy="462775"/>
            </a:xfrm>
          </p:grpSpPr>
          <p:sp>
            <p:nvSpPr>
              <p:cNvPr id="42" name="Oval 41">
                <a:extLst>
                  <a:ext uri="{FF2B5EF4-FFF2-40B4-BE49-F238E27FC236}">
                    <a16:creationId xmlns:a16="http://schemas.microsoft.com/office/drawing/2014/main" id="{8F5B7FD8-A6A7-6FA1-6CF7-84F349B689ED}"/>
                  </a:ext>
                </a:extLst>
              </p:cNvPr>
              <p:cNvSpPr/>
              <p:nvPr/>
            </p:nvSpPr>
            <p:spPr>
              <a:xfrm>
                <a:off x="2298794" y="4178377"/>
                <a:ext cx="360000" cy="36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43" name="object 19">
                <a:extLst>
                  <a:ext uri="{FF2B5EF4-FFF2-40B4-BE49-F238E27FC236}">
                    <a16:creationId xmlns:a16="http://schemas.microsoft.com/office/drawing/2014/main" id="{7A8D2277-5D30-0F6F-FB4D-559B6AE57CCB}"/>
                  </a:ext>
                </a:extLst>
              </p:cNvPr>
              <p:cNvPicPr/>
              <p:nvPr/>
            </p:nvPicPr>
            <p:blipFill>
              <a:blip r:embed="rId3"/>
              <a:stretch>
                <a:fillRect/>
              </a:stretch>
            </p:blipFill>
            <p:spPr>
              <a:xfrm>
                <a:off x="2262794" y="4209152"/>
                <a:ext cx="432000" cy="432000"/>
              </a:xfrm>
              <a:prstGeom prst="rect">
                <a:avLst/>
              </a:prstGeom>
              <a:noFill/>
            </p:spPr>
          </p:pic>
        </p:grpSp>
        <p:sp>
          <p:nvSpPr>
            <p:cNvPr id="39" name="TextBox 38">
              <a:extLst>
                <a:ext uri="{FF2B5EF4-FFF2-40B4-BE49-F238E27FC236}">
                  <a16:creationId xmlns:a16="http://schemas.microsoft.com/office/drawing/2014/main" id="{DD26E5B1-D383-01C7-AE3D-E357C1102547}"/>
                </a:ext>
              </a:extLst>
            </p:cNvPr>
            <p:cNvSpPr txBox="1"/>
            <p:nvPr/>
          </p:nvSpPr>
          <p:spPr>
            <a:xfrm>
              <a:off x="2099254" y="4652105"/>
              <a:ext cx="759080" cy="310154"/>
            </a:xfrm>
            <a:prstGeom prst="rect">
              <a:avLst/>
            </a:prstGeom>
            <a:noFill/>
          </p:spPr>
          <p:txBody>
            <a:bodyPr vert="horz" wrap="square" lIns="0" tIns="0" rIns="0" bIns="0" rtlCol="0">
              <a:noAutofit/>
            </a:bodyPr>
            <a:lstStyle/>
            <a:p>
              <a:pPr algn="ctr"/>
              <a:r>
                <a:rPr lang="en-US" sz="1000" b="1" noProof="0" dirty="0">
                  <a:solidFill>
                    <a:srgbClr val="FF8300"/>
                  </a:solidFill>
                </a:rPr>
                <a:t>You</a:t>
              </a:r>
            </a:p>
          </p:txBody>
        </p:sp>
      </p:grpSp>
      <p:grpSp>
        <p:nvGrpSpPr>
          <p:cNvPr id="45" name="Group 44">
            <a:extLst>
              <a:ext uri="{FF2B5EF4-FFF2-40B4-BE49-F238E27FC236}">
                <a16:creationId xmlns:a16="http://schemas.microsoft.com/office/drawing/2014/main" id="{151B4B2B-F21E-E8A9-8F35-47A14B9CA3FC}"/>
              </a:ext>
            </a:extLst>
          </p:cNvPr>
          <p:cNvGrpSpPr/>
          <p:nvPr/>
        </p:nvGrpSpPr>
        <p:grpSpPr>
          <a:xfrm>
            <a:off x="1432083" y="4136897"/>
            <a:ext cx="759080" cy="704947"/>
            <a:chOff x="1337077" y="4106377"/>
            <a:chExt cx="759080" cy="704947"/>
          </a:xfrm>
        </p:grpSpPr>
        <p:grpSp>
          <p:nvGrpSpPr>
            <p:cNvPr id="46" name="Group 45">
              <a:extLst>
                <a:ext uri="{FF2B5EF4-FFF2-40B4-BE49-F238E27FC236}">
                  <a16:creationId xmlns:a16="http://schemas.microsoft.com/office/drawing/2014/main" id="{EBAB9569-965E-0812-4BEE-97D058CA10AC}"/>
                </a:ext>
              </a:extLst>
            </p:cNvPr>
            <p:cNvGrpSpPr/>
            <p:nvPr/>
          </p:nvGrpSpPr>
          <p:grpSpPr>
            <a:xfrm>
              <a:off x="1500617" y="4106377"/>
              <a:ext cx="432000" cy="432000"/>
              <a:chOff x="1500617" y="4106377"/>
              <a:chExt cx="432000" cy="432000"/>
            </a:xfrm>
          </p:grpSpPr>
          <p:sp>
            <p:nvSpPr>
              <p:cNvPr id="51" name="Oval 50">
                <a:extLst>
                  <a:ext uri="{FF2B5EF4-FFF2-40B4-BE49-F238E27FC236}">
                    <a16:creationId xmlns:a16="http://schemas.microsoft.com/office/drawing/2014/main" id="{411715C7-8AAB-418B-F8B8-D0692A0DB0C6}"/>
                  </a:ext>
                </a:extLst>
              </p:cNvPr>
              <p:cNvSpPr/>
              <p:nvPr/>
            </p:nvSpPr>
            <p:spPr>
              <a:xfrm>
                <a:off x="1500617" y="4106377"/>
                <a:ext cx="432000" cy="43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grpSp>
            <p:nvGrpSpPr>
              <p:cNvPr id="52" name="Graphic 16" descr="User with solid fill">
                <a:extLst>
                  <a:ext uri="{FF2B5EF4-FFF2-40B4-BE49-F238E27FC236}">
                    <a16:creationId xmlns:a16="http://schemas.microsoft.com/office/drawing/2014/main" id="{7C01A91C-0568-CC72-932E-7D8F6C67F242}"/>
                  </a:ext>
                </a:extLst>
              </p:cNvPr>
              <p:cNvGrpSpPr/>
              <p:nvPr/>
            </p:nvGrpSpPr>
            <p:grpSpPr>
              <a:xfrm>
                <a:off x="1572617" y="4178377"/>
                <a:ext cx="288000" cy="288000"/>
                <a:chOff x="3230775" y="4182439"/>
                <a:chExt cx="303371" cy="322332"/>
              </a:xfrm>
              <a:solidFill>
                <a:schemeClr val="accent2"/>
              </a:solidFill>
            </p:grpSpPr>
            <p:sp>
              <p:nvSpPr>
                <p:cNvPr id="53" name="Freeform: Shape 52">
                  <a:extLst>
                    <a:ext uri="{FF2B5EF4-FFF2-40B4-BE49-F238E27FC236}">
                      <a16:creationId xmlns:a16="http://schemas.microsoft.com/office/drawing/2014/main" id="{A9DEE5B7-C1A1-6D45-3095-5A1572AF628F}"/>
                    </a:ext>
                  </a:extLst>
                </p:cNvPr>
                <p:cNvSpPr/>
                <p:nvPr/>
              </p:nvSpPr>
              <p:spPr>
                <a:xfrm>
                  <a:off x="3306618" y="4182439"/>
                  <a:ext cx="151685" cy="151685"/>
                </a:xfrm>
                <a:custGeom>
                  <a:avLst/>
                  <a:gdLst>
                    <a:gd name="connsiteX0" fmla="*/ 151686 w 151685"/>
                    <a:gd name="connsiteY0" fmla="*/ 75843 h 151685"/>
                    <a:gd name="connsiteX1" fmla="*/ 75843 w 151685"/>
                    <a:gd name="connsiteY1" fmla="*/ 151686 h 151685"/>
                    <a:gd name="connsiteX2" fmla="*/ 0 w 151685"/>
                    <a:gd name="connsiteY2" fmla="*/ 75843 h 151685"/>
                    <a:gd name="connsiteX3" fmla="*/ 75843 w 151685"/>
                    <a:gd name="connsiteY3" fmla="*/ 0 h 151685"/>
                    <a:gd name="connsiteX4" fmla="*/ 151686 w 151685"/>
                    <a:gd name="connsiteY4" fmla="*/ 75843 h 1516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685" h="151685">
                      <a:moveTo>
                        <a:pt x="151686" y="75843"/>
                      </a:moveTo>
                      <a:cubicBezTo>
                        <a:pt x="151686" y="117730"/>
                        <a:pt x="117730" y="151686"/>
                        <a:pt x="75843" y="151686"/>
                      </a:cubicBezTo>
                      <a:cubicBezTo>
                        <a:pt x="33956" y="151686"/>
                        <a:pt x="0" y="117730"/>
                        <a:pt x="0" y="75843"/>
                      </a:cubicBezTo>
                      <a:cubicBezTo>
                        <a:pt x="0" y="33956"/>
                        <a:pt x="33956" y="0"/>
                        <a:pt x="75843" y="0"/>
                      </a:cubicBezTo>
                      <a:cubicBezTo>
                        <a:pt x="117730" y="0"/>
                        <a:pt x="151686" y="33956"/>
                        <a:pt x="151686" y="75843"/>
                      </a:cubicBezTo>
                      <a:close/>
                    </a:path>
                  </a:pathLst>
                </a:custGeom>
                <a:solidFill>
                  <a:srgbClr val="00CEB0"/>
                </a:solidFill>
                <a:ln w="4663" cap="flat">
                  <a:noFill/>
                  <a:prstDash val="solid"/>
                  <a:miter/>
                </a:ln>
              </p:spPr>
              <p:txBody>
                <a:bodyPr rtlCol="0" anchor="ctr"/>
                <a:lstStyle/>
                <a:p>
                  <a:endParaRPr lang="en-US" noProof="0" dirty="0"/>
                </a:p>
              </p:txBody>
            </p:sp>
            <p:sp>
              <p:nvSpPr>
                <p:cNvPr id="54" name="Freeform: Shape 53">
                  <a:extLst>
                    <a:ext uri="{FF2B5EF4-FFF2-40B4-BE49-F238E27FC236}">
                      <a16:creationId xmlns:a16="http://schemas.microsoft.com/office/drawing/2014/main" id="{DBDFCA9F-E357-E027-0519-30AC19538B39}"/>
                    </a:ext>
                  </a:extLst>
                </p:cNvPr>
                <p:cNvSpPr/>
                <p:nvPr/>
              </p:nvSpPr>
              <p:spPr>
                <a:xfrm>
                  <a:off x="3230775" y="4353085"/>
                  <a:ext cx="303371" cy="151685"/>
                </a:xfrm>
                <a:custGeom>
                  <a:avLst/>
                  <a:gdLst>
                    <a:gd name="connsiteX0" fmla="*/ 303371 w 303371"/>
                    <a:gd name="connsiteY0" fmla="*/ 151686 h 151685"/>
                    <a:gd name="connsiteX1" fmla="*/ 303371 w 303371"/>
                    <a:gd name="connsiteY1" fmla="*/ 75843 h 151685"/>
                    <a:gd name="connsiteX2" fmla="*/ 288203 w 303371"/>
                    <a:gd name="connsiteY2" fmla="*/ 45506 h 151685"/>
                    <a:gd name="connsiteX3" fmla="*/ 214256 w 303371"/>
                    <a:gd name="connsiteY3" fmla="*/ 9480 h 151685"/>
                    <a:gd name="connsiteX4" fmla="*/ 151686 w 303371"/>
                    <a:gd name="connsiteY4" fmla="*/ 0 h 151685"/>
                    <a:gd name="connsiteX5" fmla="*/ 89115 w 303371"/>
                    <a:gd name="connsiteY5" fmla="*/ 9480 h 151685"/>
                    <a:gd name="connsiteX6" fmla="*/ 15169 w 303371"/>
                    <a:gd name="connsiteY6" fmla="*/ 45506 h 151685"/>
                    <a:gd name="connsiteX7" fmla="*/ 0 w 303371"/>
                    <a:gd name="connsiteY7" fmla="*/ 75843 h 151685"/>
                    <a:gd name="connsiteX8" fmla="*/ 0 w 303371"/>
                    <a:gd name="connsiteY8" fmla="*/ 151686 h 151685"/>
                    <a:gd name="connsiteX9" fmla="*/ 303371 w 303371"/>
                    <a:gd name="connsiteY9" fmla="*/ 151686 h 151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371" h="151685">
                      <a:moveTo>
                        <a:pt x="303371" y="151686"/>
                      </a:moveTo>
                      <a:lnTo>
                        <a:pt x="303371" y="75843"/>
                      </a:lnTo>
                      <a:cubicBezTo>
                        <a:pt x="303371" y="64466"/>
                        <a:pt x="297683" y="53090"/>
                        <a:pt x="288203" y="45506"/>
                      </a:cubicBezTo>
                      <a:cubicBezTo>
                        <a:pt x="267346" y="28441"/>
                        <a:pt x="240801" y="17065"/>
                        <a:pt x="214256" y="9480"/>
                      </a:cubicBezTo>
                      <a:cubicBezTo>
                        <a:pt x="195295" y="3792"/>
                        <a:pt x="174439" y="0"/>
                        <a:pt x="151686" y="0"/>
                      </a:cubicBezTo>
                      <a:cubicBezTo>
                        <a:pt x="130829" y="0"/>
                        <a:pt x="109972" y="3792"/>
                        <a:pt x="89115" y="9480"/>
                      </a:cubicBezTo>
                      <a:cubicBezTo>
                        <a:pt x="62570" y="17065"/>
                        <a:pt x="36025" y="30337"/>
                        <a:pt x="15169" y="45506"/>
                      </a:cubicBezTo>
                      <a:cubicBezTo>
                        <a:pt x="5688" y="53090"/>
                        <a:pt x="0" y="64466"/>
                        <a:pt x="0" y="75843"/>
                      </a:cubicBezTo>
                      <a:lnTo>
                        <a:pt x="0" y="151686"/>
                      </a:lnTo>
                      <a:lnTo>
                        <a:pt x="303371" y="151686"/>
                      </a:lnTo>
                      <a:close/>
                    </a:path>
                  </a:pathLst>
                </a:custGeom>
                <a:solidFill>
                  <a:srgbClr val="00CEB0"/>
                </a:solidFill>
                <a:ln w="4663" cap="flat">
                  <a:noFill/>
                  <a:prstDash val="solid"/>
                  <a:miter/>
                </a:ln>
              </p:spPr>
              <p:txBody>
                <a:bodyPr rtlCol="0" anchor="ctr"/>
                <a:lstStyle/>
                <a:p>
                  <a:endParaRPr lang="en-US" noProof="0" dirty="0"/>
                </a:p>
              </p:txBody>
            </p:sp>
          </p:grpSp>
        </p:grpSp>
        <p:sp>
          <p:nvSpPr>
            <p:cNvPr id="47" name="TextBox 46">
              <a:extLst>
                <a:ext uri="{FF2B5EF4-FFF2-40B4-BE49-F238E27FC236}">
                  <a16:creationId xmlns:a16="http://schemas.microsoft.com/office/drawing/2014/main" id="{C5044E5A-74F3-0CCA-5668-F67D40BB0AC3}"/>
                </a:ext>
              </a:extLst>
            </p:cNvPr>
            <p:cNvSpPr txBox="1"/>
            <p:nvPr/>
          </p:nvSpPr>
          <p:spPr>
            <a:xfrm>
              <a:off x="1337077" y="4501170"/>
              <a:ext cx="759080" cy="310154"/>
            </a:xfrm>
            <a:prstGeom prst="rect">
              <a:avLst/>
            </a:prstGeom>
            <a:solidFill>
              <a:schemeClr val="bg1"/>
            </a:solidFill>
          </p:spPr>
          <p:txBody>
            <a:bodyPr vert="horz" wrap="square" lIns="0" tIns="0" rIns="0" bIns="0" rtlCol="0">
              <a:noAutofit/>
            </a:bodyPr>
            <a:lstStyle/>
            <a:p>
              <a:pPr algn="ctr"/>
              <a:r>
                <a:rPr lang="en-US" sz="800" b="1" noProof="0" dirty="0">
                  <a:solidFill>
                    <a:srgbClr val="00CEB0"/>
                  </a:solidFill>
                </a:rPr>
                <a:t>Relationship Manager</a:t>
              </a:r>
            </a:p>
          </p:txBody>
        </p:sp>
      </p:grpSp>
      <p:grpSp>
        <p:nvGrpSpPr>
          <p:cNvPr id="56" name="Group 55">
            <a:extLst>
              <a:ext uri="{FF2B5EF4-FFF2-40B4-BE49-F238E27FC236}">
                <a16:creationId xmlns:a16="http://schemas.microsoft.com/office/drawing/2014/main" id="{E8138892-6D11-79E8-690A-27CAE7840661}"/>
              </a:ext>
            </a:extLst>
          </p:cNvPr>
          <p:cNvGrpSpPr/>
          <p:nvPr/>
        </p:nvGrpSpPr>
        <p:grpSpPr>
          <a:xfrm>
            <a:off x="2951288" y="4128578"/>
            <a:ext cx="759080" cy="704947"/>
            <a:chOff x="2856282" y="4098058"/>
            <a:chExt cx="759080" cy="704947"/>
          </a:xfrm>
        </p:grpSpPr>
        <p:grpSp>
          <p:nvGrpSpPr>
            <p:cNvPr id="57" name="Group 56">
              <a:extLst>
                <a:ext uri="{FF2B5EF4-FFF2-40B4-BE49-F238E27FC236}">
                  <a16:creationId xmlns:a16="http://schemas.microsoft.com/office/drawing/2014/main" id="{81CE4ED1-C33F-3A94-B4A1-C7E6EFCC898E}"/>
                </a:ext>
              </a:extLst>
            </p:cNvPr>
            <p:cNvGrpSpPr/>
            <p:nvPr/>
          </p:nvGrpSpPr>
          <p:grpSpPr>
            <a:xfrm>
              <a:off x="3019822" y="4098058"/>
              <a:ext cx="432000" cy="432000"/>
              <a:chOff x="6577112" y="3042950"/>
              <a:chExt cx="432000" cy="432000"/>
            </a:xfrm>
          </p:grpSpPr>
          <p:sp>
            <p:nvSpPr>
              <p:cNvPr id="59" name="Oval 58">
                <a:extLst>
                  <a:ext uri="{FF2B5EF4-FFF2-40B4-BE49-F238E27FC236}">
                    <a16:creationId xmlns:a16="http://schemas.microsoft.com/office/drawing/2014/main" id="{01C27E0B-44A3-122A-8696-301A32EBE431}"/>
                  </a:ext>
                </a:extLst>
              </p:cNvPr>
              <p:cNvSpPr/>
              <p:nvPr/>
            </p:nvSpPr>
            <p:spPr>
              <a:xfrm>
                <a:off x="6577112" y="3042950"/>
                <a:ext cx="432000" cy="43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grpSp>
            <p:nvGrpSpPr>
              <p:cNvPr id="60" name="Graphic 16" descr="User with solid fill">
                <a:extLst>
                  <a:ext uri="{FF2B5EF4-FFF2-40B4-BE49-F238E27FC236}">
                    <a16:creationId xmlns:a16="http://schemas.microsoft.com/office/drawing/2014/main" id="{8CB2C0F0-E4C1-4810-F717-77567CCB7848}"/>
                  </a:ext>
                </a:extLst>
              </p:cNvPr>
              <p:cNvGrpSpPr/>
              <p:nvPr/>
            </p:nvGrpSpPr>
            <p:grpSpPr>
              <a:xfrm>
                <a:off x="6649112" y="3114950"/>
                <a:ext cx="288000" cy="288000"/>
                <a:chOff x="3230775" y="4182439"/>
                <a:chExt cx="303371" cy="322332"/>
              </a:xfrm>
              <a:solidFill>
                <a:schemeClr val="accent2"/>
              </a:solidFill>
            </p:grpSpPr>
            <p:sp>
              <p:nvSpPr>
                <p:cNvPr id="61" name="Freeform: Shape 60">
                  <a:extLst>
                    <a:ext uri="{FF2B5EF4-FFF2-40B4-BE49-F238E27FC236}">
                      <a16:creationId xmlns:a16="http://schemas.microsoft.com/office/drawing/2014/main" id="{F8C7932A-EC4C-ACFB-E33E-E985FBF86DC9}"/>
                    </a:ext>
                  </a:extLst>
                </p:cNvPr>
                <p:cNvSpPr/>
                <p:nvPr/>
              </p:nvSpPr>
              <p:spPr>
                <a:xfrm>
                  <a:off x="3306618" y="4182439"/>
                  <a:ext cx="151685" cy="151685"/>
                </a:xfrm>
                <a:custGeom>
                  <a:avLst/>
                  <a:gdLst>
                    <a:gd name="connsiteX0" fmla="*/ 151686 w 151685"/>
                    <a:gd name="connsiteY0" fmla="*/ 75843 h 151685"/>
                    <a:gd name="connsiteX1" fmla="*/ 75843 w 151685"/>
                    <a:gd name="connsiteY1" fmla="*/ 151686 h 151685"/>
                    <a:gd name="connsiteX2" fmla="*/ 0 w 151685"/>
                    <a:gd name="connsiteY2" fmla="*/ 75843 h 151685"/>
                    <a:gd name="connsiteX3" fmla="*/ 75843 w 151685"/>
                    <a:gd name="connsiteY3" fmla="*/ 0 h 151685"/>
                    <a:gd name="connsiteX4" fmla="*/ 151686 w 151685"/>
                    <a:gd name="connsiteY4" fmla="*/ 75843 h 1516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685" h="151685">
                      <a:moveTo>
                        <a:pt x="151686" y="75843"/>
                      </a:moveTo>
                      <a:cubicBezTo>
                        <a:pt x="151686" y="117730"/>
                        <a:pt x="117730" y="151686"/>
                        <a:pt x="75843" y="151686"/>
                      </a:cubicBezTo>
                      <a:cubicBezTo>
                        <a:pt x="33956" y="151686"/>
                        <a:pt x="0" y="117730"/>
                        <a:pt x="0" y="75843"/>
                      </a:cubicBezTo>
                      <a:cubicBezTo>
                        <a:pt x="0" y="33956"/>
                        <a:pt x="33956" y="0"/>
                        <a:pt x="75843" y="0"/>
                      </a:cubicBezTo>
                      <a:cubicBezTo>
                        <a:pt x="117730" y="0"/>
                        <a:pt x="151686" y="33956"/>
                        <a:pt x="151686" y="75843"/>
                      </a:cubicBezTo>
                      <a:close/>
                    </a:path>
                  </a:pathLst>
                </a:custGeom>
                <a:solidFill>
                  <a:schemeClr val="accent2"/>
                </a:solidFill>
                <a:ln w="4663" cap="flat">
                  <a:noFill/>
                  <a:prstDash val="solid"/>
                  <a:miter/>
                </a:ln>
              </p:spPr>
              <p:txBody>
                <a:bodyPr rtlCol="0" anchor="ctr"/>
                <a:lstStyle/>
                <a:p>
                  <a:endParaRPr lang="en-US" noProof="0" dirty="0"/>
                </a:p>
              </p:txBody>
            </p:sp>
            <p:sp>
              <p:nvSpPr>
                <p:cNvPr id="62" name="Freeform: Shape 61">
                  <a:extLst>
                    <a:ext uri="{FF2B5EF4-FFF2-40B4-BE49-F238E27FC236}">
                      <a16:creationId xmlns:a16="http://schemas.microsoft.com/office/drawing/2014/main" id="{AB2086AD-2DD4-4E8E-A997-73854A5B083B}"/>
                    </a:ext>
                  </a:extLst>
                </p:cNvPr>
                <p:cNvSpPr/>
                <p:nvPr/>
              </p:nvSpPr>
              <p:spPr>
                <a:xfrm>
                  <a:off x="3230775" y="4353085"/>
                  <a:ext cx="303371" cy="151685"/>
                </a:xfrm>
                <a:custGeom>
                  <a:avLst/>
                  <a:gdLst>
                    <a:gd name="connsiteX0" fmla="*/ 303371 w 303371"/>
                    <a:gd name="connsiteY0" fmla="*/ 151686 h 151685"/>
                    <a:gd name="connsiteX1" fmla="*/ 303371 w 303371"/>
                    <a:gd name="connsiteY1" fmla="*/ 75843 h 151685"/>
                    <a:gd name="connsiteX2" fmla="*/ 288203 w 303371"/>
                    <a:gd name="connsiteY2" fmla="*/ 45506 h 151685"/>
                    <a:gd name="connsiteX3" fmla="*/ 214256 w 303371"/>
                    <a:gd name="connsiteY3" fmla="*/ 9480 h 151685"/>
                    <a:gd name="connsiteX4" fmla="*/ 151686 w 303371"/>
                    <a:gd name="connsiteY4" fmla="*/ 0 h 151685"/>
                    <a:gd name="connsiteX5" fmla="*/ 89115 w 303371"/>
                    <a:gd name="connsiteY5" fmla="*/ 9480 h 151685"/>
                    <a:gd name="connsiteX6" fmla="*/ 15169 w 303371"/>
                    <a:gd name="connsiteY6" fmla="*/ 45506 h 151685"/>
                    <a:gd name="connsiteX7" fmla="*/ 0 w 303371"/>
                    <a:gd name="connsiteY7" fmla="*/ 75843 h 151685"/>
                    <a:gd name="connsiteX8" fmla="*/ 0 w 303371"/>
                    <a:gd name="connsiteY8" fmla="*/ 151686 h 151685"/>
                    <a:gd name="connsiteX9" fmla="*/ 303371 w 303371"/>
                    <a:gd name="connsiteY9" fmla="*/ 151686 h 151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371" h="151685">
                      <a:moveTo>
                        <a:pt x="303371" y="151686"/>
                      </a:moveTo>
                      <a:lnTo>
                        <a:pt x="303371" y="75843"/>
                      </a:lnTo>
                      <a:cubicBezTo>
                        <a:pt x="303371" y="64466"/>
                        <a:pt x="297683" y="53090"/>
                        <a:pt x="288203" y="45506"/>
                      </a:cubicBezTo>
                      <a:cubicBezTo>
                        <a:pt x="267346" y="28441"/>
                        <a:pt x="240801" y="17065"/>
                        <a:pt x="214256" y="9480"/>
                      </a:cubicBezTo>
                      <a:cubicBezTo>
                        <a:pt x="195295" y="3792"/>
                        <a:pt x="174439" y="0"/>
                        <a:pt x="151686" y="0"/>
                      </a:cubicBezTo>
                      <a:cubicBezTo>
                        <a:pt x="130829" y="0"/>
                        <a:pt x="109972" y="3792"/>
                        <a:pt x="89115" y="9480"/>
                      </a:cubicBezTo>
                      <a:cubicBezTo>
                        <a:pt x="62570" y="17065"/>
                        <a:pt x="36025" y="30337"/>
                        <a:pt x="15169" y="45506"/>
                      </a:cubicBezTo>
                      <a:cubicBezTo>
                        <a:pt x="5688" y="53090"/>
                        <a:pt x="0" y="64466"/>
                        <a:pt x="0" y="75843"/>
                      </a:cubicBezTo>
                      <a:lnTo>
                        <a:pt x="0" y="151686"/>
                      </a:lnTo>
                      <a:lnTo>
                        <a:pt x="303371" y="151686"/>
                      </a:lnTo>
                      <a:close/>
                    </a:path>
                  </a:pathLst>
                </a:custGeom>
                <a:solidFill>
                  <a:schemeClr val="accent2"/>
                </a:solidFill>
                <a:ln w="4663" cap="flat">
                  <a:noFill/>
                  <a:prstDash val="solid"/>
                  <a:miter/>
                </a:ln>
              </p:spPr>
              <p:txBody>
                <a:bodyPr rtlCol="0" anchor="ctr"/>
                <a:lstStyle/>
                <a:p>
                  <a:endParaRPr lang="en-US" noProof="0" dirty="0"/>
                </a:p>
              </p:txBody>
            </p:sp>
          </p:grpSp>
        </p:grpSp>
        <p:sp>
          <p:nvSpPr>
            <p:cNvPr id="58" name="TextBox 57">
              <a:extLst>
                <a:ext uri="{FF2B5EF4-FFF2-40B4-BE49-F238E27FC236}">
                  <a16:creationId xmlns:a16="http://schemas.microsoft.com/office/drawing/2014/main" id="{B1FA33AC-DCE2-89F6-D409-728A9B135565}"/>
                </a:ext>
              </a:extLst>
            </p:cNvPr>
            <p:cNvSpPr txBox="1"/>
            <p:nvPr/>
          </p:nvSpPr>
          <p:spPr>
            <a:xfrm>
              <a:off x="2856282" y="4492851"/>
              <a:ext cx="759080" cy="310154"/>
            </a:xfrm>
            <a:prstGeom prst="rect">
              <a:avLst/>
            </a:prstGeom>
            <a:solidFill>
              <a:schemeClr val="bg1"/>
            </a:solidFill>
          </p:spPr>
          <p:txBody>
            <a:bodyPr vert="horz" wrap="square" lIns="0" tIns="0" rIns="0" bIns="0" rtlCol="0">
              <a:noAutofit/>
            </a:bodyPr>
            <a:lstStyle/>
            <a:p>
              <a:pPr algn="ctr"/>
              <a:r>
                <a:rPr lang="en-US" sz="800" b="1" noProof="0" dirty="0">
                  <a:solidFill>
                    <a:schemeClr val="accent2"/>
                  </a:solidFill>
                </a:rPr>
                <a:t>Investment Advisor</a:t>
              </a:r>
            </a:p>
          </p:txBody>
        </p:sp>
      </p:grpSp>
      <p:sp>
        <p:nvSpPr>
          <p:cNvPr id="63" name="Arc 62">
            <a:extLst>
              <a:ext uri="{FF2B5EF4-FFF2-40B4-BE49-F238E27FC236}">
                <a16:creationId xmlns:a16="http://schemas.microsoft.com/office/drawing/2014/main" id="{7940DF03-E6A0-9036-8017-1DA528622493}"/>
              </a:ext>
            </a:extLst>
          </p:cNvPr>
          <p:cNvSpPr/>
          <p:nvPr/>
        </p:nvSpPr>
        <p:spPr>
          <a:xfrm>
            <a:off x="1219962" y="3146265"/>
            <a:ext cx="2700000" cy="2700000"/>
          </a:xfrm>
          <a:prstGeom prst="arc">
            <a:avLst>
              <a:gd name="adj1" fmla="val 18278719"/>
              <a:gd name="adj2" fmla="val 2623679"/>
            </a:avLst>
          </a:prstGeom>
          <a:ln w="127000">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64" name="Arc 63">
            <a:extLst>
              <a:ext uri="{FF2B5EF4-FFF2-40B4-BE49-F238E27FC236}">
                <a16:creationId xmlns:a16="http://schemas.microsoft.com/office/drawing/2014/main" id="{7E835DE5-9FB9-D2FA-0F1C-7CCC42A5FB7C}"/>
              </a:ext>
            </a:extLst>
          </p:cNvPr>
          <p:cNvSpPr/>
          <p:nvPr/>
        </p:nvSpPr>
        <p:spPr>
          <a:xfrm>
            <a:off x="804762" y="2656812"/>
            <a:ext cx="3528000" cy="3528000"/>
          </a:xfrm>
          <a:prstGeom prst="arc">
            <a:avLst>
              <a:gd name="adj1" fmla="val 11109425"/>
              <a:gd name="adj2" fmla="val 21118039"/>
            </a:avLst>
          </a:prstGeom>
          <a:ln w="57150">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65" name="TextBox 64">
            <a:extLst>
              <a:ext uri="{FF2B5EF4-FFF2-40B4-BE49-F238E27FC236}">
                <a16:creationId xmlns:a16="http://schemas.microsoft.com/office/drawing/2014/main" id="{6D1F1231-DDAA-692C-9999-33FC2C354B8D}"/>
              </a:ext>
            </a:extLst>
          </p:cNvPr>
          <p:cNvSpPr txBox="1"/>
          <p:nvPr/>
        </p:nvSpPr>
        <p:spPr>
          <a:xfrm>
            <a:off x="2098249" y="3035755"/>
            <a:ext cx="920621" cy="255834"/>
          </a:xfrm>
          <a:prstGeom prst="rect">
            <a:avLst/>
          </a:prstGeom>
          <a:noFill/>
        </p:spPr>
        <p:txBody>
          <a:bodyPr vert="horz" wrap="square" lIns="0" tIns="0" rIns="0" bIns="0" rtlCol="0">
            <a:noAutofit/>
          </a:bodyPr>
          <a:lstStyle/>
          <a:p>
            <a:pPr algn="ctr"/>
            <a:r>
              <a:rPr lang="en-US" sz="1100" b="1" noProof="0" dirty="0" err="1">
                <a:solidFill>
                  <a:schemeClr val="accent4"/>
                </a:solidFill>
              </a:rPr>
              <a:t>Personalised</a:t>
            </a:r>
            <a:endParaRPr lang="en-US" sz="1100" b="1" noProof="0" dirty="0">
              <a:solidFill>
                <a:schemeClr val="accent4"/>
              </a:solidFill>
            </a:endParaRPr>
          </a:p>
          <a:p>
            <a:pPr algn="ctr"/>
            <a:r>
              <a:rPr lang="en-US" sz="1100" b="1" noProof="0" dirty="0">
                <a:solidFill>
                  <a:schemeClr val="accent4"/>
                </a:solidFill>
              </a:rPr>
              <a:t>Ideas</a:t>
            </a:r>
          </a:p>
        </p:txBody>
      </p:sp>
      <p:grpSp>
        <p:nvGrpSpPr>
          <p:cNvPr id="66" name="Group 65">
            <a:extLst>
              <a:ext uri="{FF2B5EF4-FFF2-40B4-BE49-F238E27FC236}">
                <a16:creationId xmlns:a16="http://schemas.microsoft.com/office/drawing/2014/main" id="{60A739BF-CE8E-EDCD-93F4-234407083599}"/>
              </a:ext>
            </a:extLst>
          </p:cNvPr>
          <p:cNvGrpSpPr/>
          <p:nvPr/>
        </p:nvGrpSpPr>
        <p:grpSpPr>
          <a:xfrm>
            <a:off x="3315783" y="3424203"/>
            <a:ext cx="612000" cy="620206"/>
            <a:chOff x="3220777" y="3393683"/>
            <a:chExt cx="612000" cy="620206"/>
          </a:xfrm>
        </p:grpSpPr>
        <p:grpSp>
          <p:nvGrpSpPr>
            <p:cNvPr id="67" name="Group 66">
              <a:extLst>
                <a:ext uri="{FF2B5EF4-FFF2-40B4-BE49-F238E27FC236}">
                  <a16:creationId xmlns:a16="http://schemas.microsoft.com/office/drawing/2014/main" id="{395AD743-E61F-61C9-72E9-FD729FE95E26}"/>
                </a:ext>
              </a:extLst>
            </p:cNvPr>
            <p:cNvGrpSpPr/>
            <p:nvPr/>
          </p:nvGrpSpPr>
          <p:grpSpPr>
            <a:xfrm>
              <a:off x="3220777" y="3393683"/>
              <a:ext cx="612000" cy="620206"/>
              <a:chOff x="3220777" y="3393683"/>
              <a:chExt cx="612000" cy="620206"/>
            </a:xfrm>
          </p:grpSpPr>
          <p:sp>
            <p:nvSpPr>
              <p:cNvPr id="69" name="Oval 68">
                <a:extLst>
                  <a:ext uri="{FF2B5EF4-FFF2-40B4-BE49-F238E27FC236}">
                    <a16:creationId xmlns:a16="http://schemas.microsoft.com/office/drawing/2014/main" id="{BFA3FF94-7C8E-8DAE-EDE7-A62417C78027}"/>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70" name="Graphic 69" descr="Users with solid fill">
                <a:extLst>
                  <a:ext uri="{FF2B5EF4-FFF2-40B4-BE49-F238E27FC236}">
                    <a16:creationId xmlns:a16="http://schemas.microsoft.com/office/drawing/2014/main" id="{DFEE8DC5-C0AC-88F8-778D-FB404C70F3C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92777" y="3393683"/>
                <a:ext cx="468000" cy="468000"/>
              </a:xfrm>
              <a:prstGeom prst="rect">
                <a:avLst/>
              </a:prstGeom>
            </p:spPr>
          </p:pic>
        </p:grpSp>
        <p:sp>
          <p:nvSpPr>
            <p:cNvPr id="68" name="TextBox 67">
              <a:extLst>
                <a:ext uri="{FF2B5EF4-FFF2-40B4-BE49-F238E27FC236}">
                  <a16:creationId xmlns:a16="http://schemas.microsoft.com/office/drawing/2014/main" id="{3B8E15F6-3B75-7A51-FDD3-F19F0C09653A}"/>
                </a:ext>
              </a:extLst>
            </p:cNvPr>
            <p:cNvSpPr txBox="1"/>
            <p:nvPr/>
          </p:nvSpPr>
          <p:spPr>
            <a:xfrm>
              <a:off x="3281178" y="3714514"/>
              <a:ext cx="494192" cy="208763"/>
            </a:xfrm>
            <a:prstGeom prst="ellipse">
              <a:avLst/>
            </a:prstGeom>
            <a:solidFill>
              <a:schemeClr val="bg1"/>
            </a:solidFill>
          </p:spPr>
          <p:txBody>
            <a:bodyPr vert="horz" wrap="none" lIns="0" tIns="0" rIns="0" bIns="0" rtlCol="0">
              <a:noAutofit/>
            </a:bodyPr>
            <a:lstStyle/>
            <a:p>
              <a:pPr algn="ctr"/>
              <a:r>
                <a:rPr lang="en-US" sz="800" b="1" noProof="0" dirty="0">
                  <a:solidFill>
                    <a:schemeClr val="accent4"/>
                  </a:solidFill>
                </a:rPr>
                <a:t>Research</a:t>
              </a:r>
              <a:endParaRPr lang="en-US" sz="900" b="1" noProof="0" dirty="0">
                <a:solidFill>
                  <a:schemeClr val="accent4"/>
                </a:solidFill>
              </a:endParaRPr>
            </a:p>
          </p:txBody>
        </p:sp>
      </p:grpSp>
      <p:sp>
        <p:nvSpPr>
          <p:cNvPr id="71" name="Arc 70">
            <a:extLst>
              <a:ext uri="{FF2B5EF4-FFF2-40B4-BE49-F238E27FC236}">
                <a16:creationId xmlns:a16="http://schemas.microsoft.com/office/drawing/2014/main" id="{18F35427-A5F7-62D2-7D0B-2E562C248641}"/>
              </a:ext>
            </a:extLst>
          </p:cNvPr>
          <p:cNvSpPr/>
          <p:nvPr/>
        </p:nvSpPr>
        <p:spPr>
          <a:xfrm>
            <a:off x="1222814" y="3137950"/>
            <a:ext cx="2700000" cy="2700000"/>
          </a:xfrm>
          <a:prstGeom prst="arc">
            <a:avLst>
              <a:gd name="adj1" fmla="val 3010337"/>
              <a:gd name="adj2" fmla="val 7852776"/>
            </a:avLst>
          </a:prstGeom>
          <a:ln w="127000">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grpSp>
        <p:nvGrpSpPr>
          <p:cNvPr id="72" name="Group 71">
            <a:extLst>
              <a:ext uri="{FF2B5EF4-FFF2-40B4-BE49-F238E27FC236}">
                <a16:creationId xmlns:a16="http://schemas.microsoft.com/office/drawing/2014/main" id="{3C6B6D59-8C4E-7770-CFEB-8B36AEC7CDE9}"/>
              </a:ext>
            </a:extLst>
          </p:cNvPr>
          <p:cNvGrpSpPr/>
          <p:nvPr/>
        </p:nvGrpSpPr>
        <p:grpSpPr>
          <a:xfrm>
            <a:off x="2275940" y="5500409"/>
            <a:ext cx="612000" cy="702666"/>
            <a:chOff x="3220777" y="3393683"/>
            <a:chExt cx="612000" cy="702666"/>
          </a:xfrm>
        </p:grpSpPr>
        <p:grpSp>
          <p:nvGrpSpPr>
            <p:cNvPr id="73" name="Group 72">
              <a:extLst>
                <a:ext uri="{FF2B5EF4-FFF2-40B4-BE49-F238E27FC236}">
                  <a16:creationId xmlns:a16="http://schemas.microsoft.com/office/drawing/2014/main" id="{F5383743-2440-4E39-C4B6-83A2CD49B537}"/>
                </a:ext>
              </a:extLst>
            </p:cNvPr>
            <p:cNvGrpSpPr/>
            <p:nvPr/>
          </p:nvGrpSpPr>
          <p:grpSpPr>
            <a:xfrm>
              <a:off x="3220777" y="3393683"/>
              <a:ext cx="612000" cy="620206"/>
              <a:chOff x="3220777" y="3393683"/>
              <a:chExt cx="612000" cy="620206"/>
            </a:xfrm>
          </p:grpSpPr>
          <p:sp>
            <p:nvSpPr>
              <p:cNvPr id="75" name="Oval 74">
                <a:extLst>
                  <a:ext uri="{FF2B5EF4-FFF2-40B4-BE49-F238E27FC236}">
                    <a16:creationId xmlns:a16="http://schemas.microsoft.com/office/drawing/2014/main" id="{E28512A5-8075-505D-1F77-EA40B33CEA6A}"/>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76" name="Graphic 75" descr="Users with solid fill">
                <a:extLst>
                  <a:ext uri="{FF2B5EF4-FFF2-40B4-BE49-F238E27FC236}">
                    <a16:creationId xmlns:a16="http://schemas.microsoft.com/office/drawing/2014/main" id="{5FFDF728-D01A-9A37-EB6A-146FE58BD92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292777" y="3393683"/>
                <a:ext cx="468000" cy="468000"/>
              </a:xfrm>
              <a:prstGeom prst="rect">
                <a:avLst/>
              </a:prstGeom>
            </p:spPr>
          </p:pic>
        </p:grpSp>
        <p:sp>
          <p:nvSpPr>
            <p:cNvPr id="74" name="TextBox 73">
              <a:extLst>
                <a:ext uri="{FF2B5EF4-FFF2-40B4-BE49-F238E27FC236}">
                  <a16:creationId xmlns:a16="http://schemas.microsoft.com/office/drawing/2014/main" id="{16A71876-1A97-6D6F-D2E0-DE1789104319}"/>
                </a:ext>
              </a:extLst>
            </p:cNvPr>
            <p:cNvSpPr txBox="1"/>
            <p:nvPr/>
          </p:nvSpPr>
          <p:spPr>
            <a:xfrm>
              <a:off x="3279681" y="3786195"/>
              <a:ext cx="494192" cy="310154"/>
            </a:xfrm>
            <a:prstGeom prst="rect">
              <a:avLst/>
            </a:prstGeom>
            <a:noFill/>
          </p:spPr>
          <p:txBody>
            <a:bodyPr vert="horz" wrap="square" lIns="0" tIns="0" rIns="0" bIns="0" rtlCol="0">
              <a:noAutofit/>
            </a:bodyPr>
            <a:lstStyle/>
            <a:p>
              <a:pPr algn="ctr"/>
              <a:r>
                <a:rPr lang="en-US" sz="800" b="1" noProof="0" dirty="0">
                  <a:solidFill>
                    <a:schemeClr val="accent5"/>
                  </a:solidFill>
                </a:rPr>
                <a:t>Trading</a:t>
              </a:r>
            </a:p>
            <a:p>
              <a:pPr algn="ctr"/>
              <a:r>
                <a:rPr lang="en-US" sz="800" b="1" noProof="0" dirty="0">
                  <a:solidFill>
                    <a:schemeClr val="accent5"/>
                  </a:solidFill>
                </a:rPr>
                <a:t>Desk</a:t>
              </a:r>
              <a:endParaRPr lang="en-US" sz="900" b="1" noProof="0" dirty="0">
                <a:solidFill>
                  <a:schemeClr val="accent5"/>
                </a:solidFill>
              </a:endParaRPr>
            </a:p>
          </p:txBody>
        </p:sp>
      </p:grpSp>
      <p:sp>
        <p:nvSpPr>
          <p:cNvPr id="77" name="Arc 76">
            <a:extLst>
              <a:ext uri="{FF2B5EF4-FFF2-40B4-BE49-F238E27FC236}">
                <a16:creationId xmlns:a16="http://schemas.microsoft.com/office/drawing/2014/main" id="{C6ED463D-9FB2-A86A-23FC-904EE1EFFFAA}"/>
              </a:ext>
            </a:extLst>
          </p:cNvPr>
          <p:cNvSpPr/>
          <p:nvPr/>
        </p:nvSpPr>
        <p:spPr>
          <a:xfrm>
            <a:off x="1222814" y="3139855"/>
            <a:ext cx="2700000" cy="2700000"/>
          </a:xfrm>
          <a:prstGeom prst="arc">
            <a:avLst>
              <a:gd name="adj1" fmla="val 8201012"/>
              <a:gd name="adj2" fmla="val 14068405"/>
            </a:avLst>
          </a:prstGeom>
          <a:ln w="1270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grpSp>
        <p:nvGrpSpPr>
          <p:cNvPr id="78" name="Group 77">
            <a:extLst>
              <a:ext uri="{FF2B5EF4-FFF2-40B4-BE49-F238E27FC236}">
                <a16:creationId xmlns:a16="http://schemas.microsoft.com/office/drawing/2014/main" id="{CC266B9F-D0FA-1049-B867-629A9151A298}"/>
              </a:ext>
            </a:extLst>
          </p:cNvPr>
          <p:cNvGrpSpPr/>
          <p:nvPr/>
        </p:nvGrpSpPr>
        <p:grpSpPr>
          <a:xfrm>
            <a:off x="1133360" y="3434366"/>
            <a:ext cx="612000" cy="690398"/>
            <a:chOff x="3220777" y="3393683"/>
            <a:chExt cx="612000" cy="690398"/>
          </a:xfrm>
        </p:grpSpPr>
        <p:grpSp>
          <p:nvGrpSpPr>
            <p:cNvPr id="79" name="Group 78">
              <a:extLst>
                <a:ext uri="{FF2B5EF4-FFF2-40B4-BE49-F238E27FC236}">
                  <a16:creationId xmlns:a16="http://schemas.microsoft.com/office/drawing/2014/main" id="{217FC900-49C6-FC45-0B28-A8023A89D231}"/>
                </a:ext>
              </a:extLst>
            </p:cNvPr>
            <p:cNvGrpSpPr/>
            <p:nvPr/>
          </p:nvGrpSpPr>
          <p:grpSpPr>
            <a:xfrm>
              <a:off x="3220777" y="3393683"/>
              <a:ext cx="612000" cy="620206"/>
              <a:chOff x="3220777" y="3393683"/>
              <a:chExt cx="612000" cy="620206"/>
            </a:xfrm>
          </p:grpSpPr>
          <p:sp>
            <p:nvSpPr>
              <p:cNvPr id="81" name="Oval 80">
                <a:extLst>
                  <a:ext uri="{FF2B5EF4-FFF2-40B4-BE49-F238E27FC236}">
                    <a16:creationId xmlns:a16="http://schemas.microsoft.com/office/drawing/2014/main" id="{5A770FD9-FADF-FA4A-21CC-8F12BF934B11}"/>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82" name="Graphic 81" descr="Users with solid fill">
                <a:extLst>
                  <a:ext uri="{FF2B5EF4-FFF2-40B4-BE49-F238E27FC236}">
                    <a16:creationId xmlns:a16="http://schemas.microsoft.com/office/drawing/2014/main" id="{95EAE5AE-FF47-7B08-918F-5E587EF6060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92777" y="3393683"/>
                <a:ext cx="468000" cy="468000"/>
              </a:xfrm>
              <a:prstGeom prst="rect">
                <a:avLst/>
              </a:prstGeom>
            </p:spPr>
          </p:pic>
        </p:grpSp>
        <p:sp>
          <p:nvSpPr>
            <p:cNvPr id="80" name="TextBox 79">
              <a:extLst>
                <a:ext uri="{FF2B5EF4-FFF2-40B4-BE49-F238E27FC236}">
                  <a16:creationId xmlns:a16="http://schemas.microsoft.com/office/drawing/2014/main" id="{68783AB0-3B31-898C-9322-1BD7AF31D7EB}"/>
                </a:ext>
              </a:extLst>
            </p:cNvPr>
            <p:cNvSpPr txBox="1"/>
            <p:nvPr/>
          </p:nvSpPr>
          <p:spPr>
            <a:xfrm>
              <a:off x="3247840" y="3716796"/>
              <a:ext cx="576925" cy="367285"/>
            </a:xfrm>
            <a:prstGeom prst="ellipse">
              <a:avLst/>
            </a:prstGeom>
            <a:solidFill>
              <a:schemeClr val="bg1"/>
            </a:solidFill>
          </p:spPr>
          <p:txBody>
            <a:bodyPr vert="horz" wrap="none" lIns="0" tIns="0" rIns="0" bIns="0" rtlCol="0">
              <a:noAutofit/>
            </a:bodyPr>
            <a:lstStyle/>
            <a:p>
              <a:pPr algn="ctr"/>
              <a:r>
                <a:rPr lang="en-US" sz="800" b="1" noProof="0" dirty="0">
                  <a:solidFill>
                    <a:schemeClr val="tx1">
                      <a:lumMod val="50000"/>
                      <a:lumOff val="50000"/>
                    </a:schemeClr>
                  </a:solidFill>
                </a:rPr>
                <a:t>Portfolio</a:t>
              </a:r>
            </a:p>
            <a:p>
              <a:pPr algn="ctr"/>
              <a:r>
                <a:rPr lang="en-US" sz="800" b="1" noProof="0" dirty="0">
                  <a:solidFill>
                    <a:schemeClr val="tx1">
                      <a:lumMod val="50000"/>
                      <a:lumOff val="50000"/>
                    </a:schemeClr>
                  </a:solidFill>
                </a:rPr>
                <a:t>Management</a:t>
              </a:r>
            </a:p>
            <a:p>
              <a:pPr algn="ctr"/>
              <a:endParaRPr lang="en-US" sz="900" b="1" noProof="0" dirty="0">
                <a:solidFill>
                  <a:schemeClr val="tx1">
                    <a:lumMod val="50000"/>
                    <a:lumOff val="50000"/>
                  </a:schemeClr>
                </a:solidFill>
              </a:endParaRPr>
            </a:p>
          </p:txBody>
        </p:sp>
      </p:grpSp>
      <p:sp>
        <p:nvSpPr>
          <p:cNvPr id="83" name="Arc 82">
            <a:extLst>
              <a:ext uri="{FF2B5EF4-FFF2-40B4-BE49-F238E27FC236}">
                <a16:creationId xmlns:a16="http://schemas.microsoft.com/office/drawing/2014/main" id="{4F5CBEFB-049C-EC7E-B035-FC45C7512D77}"/>
              </a:ext>
            </a:extLst>
          </p:cNvPr>
          <p:cNvSpPr/>
          <p:nvPr/>
        </p:nvSpPr>
        <p:spPr>
          <a:xfrm>
            <a:off x="804762" y="2762138"/>
            <a:ext cx="3528000" cy="3528000"/>
          </a:xfrm>
          <a:prstGeom prst="arc">
            <a:avLst>
              <a:gd name="adj1" fmla="val 115883"/>
              <a:gd name="adj2" fmla="val 10375677"/>
            </a:avLst>
          </a:prstGeom>
          <a:ln w="57150">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grpSp>
        <p:nvGrpSpPr>
          <p:cNvPr id="84" name="Group 83">
            <a:extLst>
              <a:ext uri="{FF2B5EF4-FFF2-40B4-BE49-F238E27FC236}">
                <a16:creationId xmlns:a16="http://schemas.microsoft.com/office/drawing/2014/main" id="{DCDE70EA-F1F6-64E4-ED70-9D4175A85FD0}"/>
              </a:ext>
            </a:extLst>
          </p:cNvPr>
          <p:cNvGrpSpPr/>
          <p:nvPr/>
        </p:nvGrpSpPr>
        <p:grpSpPr>
          <a:xfrm>
            <a:off x="3495099" y="5512550"/>
            <a:ext cx="612000" cy="730651"/>
            <a:chOff x="3220777" y="3383574"/>
            <a:chExt cx="612000" cy="730651"/>
          </a:xfrm>
        </p:grpSpPr>
        <p:grpSp>
          <p:nvGrpSpPr>
            <p:cNvPr id="85" name="Group 84">
              <a:extLst>
                <a:ext uri="{FF2B5EF4-FFF2-40B4-BE49-F238E27FC236}">
                  <a16:creationId xmlns:a16="http://schemas.microsoft.com/office/drawing/2014/main" id="{24083894-D9C8-9637-B280-2D3D105769A0}"/>
                </a:ext>
              </a:extLst>
            </p:cNvPr>
            <p:cNvGrpSpPr/>
            <p:nvPr/>
          </p:nvGrpSpPr>
          <p:grpSpPr>
            <a:xfrm>
              <a:off x="3220777" y="3383574"/>
              <a:ext cx="612000" cy="630315"/>
              <a:chOff x="3220777" y="3383574"/>
              <a:chExt cx="612000" cy="630315"/>
            </a:xfrm>
          </p:grpSpPr>
          <p:sp>
            <p:nvSpPr>
              <p:cNvPr id="87" name="Oval 86">
                <a:extLst>
                  <a:ext uri="{FF2B5EF4-FFF2-40B4-BE49-F238E27FC236}">
                    <a16:creationId xmlns:a16="http://schemas.microsoft.com/office/drawing/2014/main" id="{CA72AEBE-A19F-640C-749A-F3C304FAC8DD}"/>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88" name="Graphic 87" descr="Users with solid fill">
                <a:extLst>
                  <a:ext uri="{FF2B5EF4-FFF2-40B4-BE49-F238E27FC236}">
                    <a16:creationId xmlns:a16="http://schemas.microsoft.com/office/drawing/2014/main" id="{A3D6773E-5A95-E621-5878-EF2AB3615BB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272111" y="3383574"/>
                <a:ext cx="504000" cy="504000"/>
              </a:xfrm>
              <a:prstGeom prst="rect">
                <a:avLst/>
              </a:prstGeom>
            </p:spPr>
          </p:pic>
        </p:grpSp>
        <p:sp>
          <p:nvSpPr>
            <p:cNvPr id="86" name="TextBox 85">
              <a:extLst>
                <a:ext uri="{FF2B5EF4-FFF2-40B4-BE49-F238E27FC236}">
                  <a16:creationId xmlns:a16="http://schemas.microsoft.com/office/drawing/2014/main" id="{94600680-F1B5-7DB1-D77B-CCFA40A1E64F}"/>
                </a:ext>
              </a:extLst>
            </p:cNvPr>
            <p:cNvSpPr txBox="1"/>
            <p:nvPr/>
          </p:nvSpPr>
          <p:spPr>
            <a:xfrm>
              <a:off x="3247840" y="3746940"/>
              <a:ext cx="576925" cy="367285"/>
            </a:xfrm>
            <a:prstGeom prst="ellipse">
              <a:avLst/>
            </a:prstGeom>
            <a:solidFill>
              <a:schemeClr val="bg1"/>
            </a:solidFill>
          </p:spPr>
          <p:txBody>
            <a:bodyPr vert="horz" wrap="none" lIns="0" tIns="0" rIns="0" bIns="0" rtlCol="0">
              <a:noAutofit/>
            </a:bodyPr>
            <a:lstStyle/>
            <a:p>
              <a:pPr algn="ctr"/>
              <a:r>
                <a:rPr lang="en-US" sz="800" b="1" noProof="0" dirty="0">
                  <a:solidFill>
                    <a:schemeClr val="accent6">
                      <a:lumMod val="50000"/>
                    </a:schemeClr>
                  </a:solidFill>
                </a:rPr>
                <a:t>Risk </a:t>
              </a:r>
            </a:p>
            <a:p>
              <a:pPr algn="ctr"/>
              <a:r>
                <a:rPr lang="en-US" sz="800" b="1" noProof="0" dirty="0">
                  <a:solidFill>
                    <a:schemeClr val="accent6">
                      <a:lumMod val="50000"/>
                    </a:schemeClr>
                  </a:solidFill>
                </a:rPr>
                <a:t>Management</a:t>
              </a:r>
            </a:p>
            <a:p>
              <a:pPr algn="ctr"/>
              <a:endParaRPr lang="en-US" sz="900" b="1" noProof="0" dirty="0">
                <a:solidFill>
                  <a:schemeClr val="accent6">
                    <a:lumMod val="50000"/>
                  </a:schemeClr>
                </a:solidFill>
              </a:endParaRPr>
            </a:p>
          </p:txBody>
        </p:sp>
      </p:grpSp>
    </p:spTree>
    <p:extLst>
      <p:ext uri="{BB962C8B-B14F-4D97-AF65-F5344CB8AC3E}">
        <p14:creationId xmlns:p14="http://schemas.microsoft.com/office/powerpoint/2010/main" val="1819042599"/>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Proposed portfolio: full holdings list</a:t>
            </a:r>
          </a:p>
        </p:txBody>
      </p:sp>
      <p:sp>
        <p:nvSpPr>
          <p:cNvPr id="3" name="Text Placeholder 2"/>
          <p:cNvSpPr txBox="1"/>
          <p:nvPr/>
        </p:nvSpPr>
        <p:spPr>
          <a:xfrm>
            <a:off x="665163" y="1728947"/>
            <a:ext cx="9398001" cy="560000"/>
          </a:xfrm>
          <a:prstGeom prst="rect">
            <a:avLst/>
          </a:prstGeom>
          <a:noFill/>
        </p:spPr>
        <p:txBody>
          <a:bodyPr wrap="square" anchor="t" lIns="0" rIns="0" tIns="0" bIns="0">
            <a:spAutoFit/>
          </a:bodyPr>
          <a:lstStyle/>
          <a:p>
            <a:r>
              <a:rPr sz="1200">
                <a:solidFill>
                  <a:srgbClr val="202945"/>
                </a:solidFill>
              </a:rPr>
              <a:t>All positions of the proposed EUR 21.1m allocation, part 3 of 4. Weights as at 4 September 2026.</a:t>
            </a:r>
          </a:p>
        </p:txBody>
      </p:sp>
      <p:graphicFrame>
        <p:nvGraphicFramePr>
          <p:cNvPr id="4" name="Table 3"/>
          <p:cNvGraphicFramePr>
            <a:graphicFrameLocks noGrp="1"/>
          </p:cNvGraphicFramePr>
          <p:nvPr/>
        </p:nvGraphicFramePr>
        <p:xfrm>
          <a:off x="665163" y="2140000"/>
          <a:ext cx="9398001" cy="4305000"/>
        </p:xfrm>
        <a:graphic>
          <a:graphicData uri="http://schemas.openxmlformats.org/drawingml/2006/table">
            <a:tbl>
              <a:tblPr>
                <a:tableStyleId>{5C22544A-7EE6-4342-B048-85BDC9FD1C3A}</a:tableStyleId>
              </a:tblPr>
              <a:tblGrid>
                <a:gridCol w="1900000"/>
                <a:gridCol w="1500000"/>
                <a:gridCol w="4573001"/>
                <a:gridCol w="1425000"/>
              </a:tblGrid>
              <a:tr h="205000">
                <a:tc>
                  <a:txBody>
                    <a:bodyPr wrap="square"/>
                    <a:lstStyle/>
                    <a:p>
                      <a:pPr algn="l"/>
                      <a:r>
                        <a:rPr sz="1000" b="1">
                          <a:solidFill>
                            <a:srgbClr val="202945"/>
                          </a:solidFill>
                          <a:latin typeface="Nunito Sans ExtraBold"/>
                        </a:rPr>
                        <a:t>Asset Allocation</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ISIN</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Instrument</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Weight</a:t>
                      </a:r>
                    </a:p>
                  </a:txBody>
                  <a:tcPr marL="45720" marR="45720" marT="9144" marB="9144" anchor="ctr">
                    <a:solidFill>
                      <a:srgbClr val="FFFFFF"/>
                    </a:solidFill>
                  </a:tcPr>
                </a:tc>
              </a:tr>
              <a:tr h="205000">
                <a:tc>
                  <a:txBody>
                    <a:bodyPr wrap="square"/>
                    <a:lstStyle/>
                    <a:p>
                      <a:pPr algn="l"/>
                      <a:r>
                        <a:rPr sz="1050" b="1">
                          <a:solidFill>
                            <a:srgbClr val="FFFFFF"/>
                          </a:solidFill>
                          <a:latin typeface="Nunito Sans ExtraBold"/>
                        </a:rPr>
                        <a:t>Equities</a:t>
                      </a:r>
                    </a:p>
                  </a:txBody>
                  <a:tcPr marL="45720" marR="45720" marT="9144" marB="9144" anchor="ctr">
                    <a:solidFill>
                      <a:srgbClr val="79D6FF"/>
                    </a:solidFill>
                  </a:tcPr>
                </a:tc>
                <a:tc>
                  <a:txBody>
                    <a:bodyPr wrap="square"/>
                    <a:lstStyle/>
                    <a:p>
                      <a:pPr algn="l"/>
                      <a:r>
                        <a:rPr sz="1050" b="1">
                          <a:solidFill>
                            <a:srgbClr val="FFFFFF"/>
                          </a:solidFill>
                          <a:latin typeface="Nunito Sans ExtraBold"/>
                        </a:rPr>
                        <a:t/>
                      </a:r>
                    </a:p>
                  </a:txBody>
                  <a:tcPr marL="45720" marR="45720" marT="9144" marB="9144" anchor="ctr">
                    <a:solidFill>
                      <a:srgbClr val="79D6FF"/>
                    </a:solidFill>
                  </a:tcPr>
                </a:tc>
                <a:tc>
                  <a:txBody>
                    <a:bodyPr wrap="square"/>
                    <a:lstStyle/>
                    <a:p>
                      <a:pPr algn="l"/>
                      <a:r>
                        <a:rPr sz="1050" b="1">
                          <a:solidFill>
                            <a:srgbClr val="FFFFFF"/>
                          </a:solidFill>
                          <a:latin typeface="Nunito Sans ExtraBold"/>
                        </a:rPr>
                        <a:t/>
                      </a:r>
                    </a:p>
                  </a:txBody>
                  <a:tcPr marL="45720" marR="45720" marT="9144" marB="9144" anchor="ctr">
                    <a:solidFill>
                      <a:srgbClr val="79D6FF"/>
                    </a:solidFill>
                  </a:tcPr>
                </a:tc>
                <a:tc>
                  <a:txBody>
                    <a:bodyPr wrap="square"/>
                    <a:lstStyle/>
                    <a:p>
                      <a:pPr algn="r"/>
                      <a:r>
                        <a:rPr sz="1050" b="1">
                          <a:solidFill>
                            <a:srgbClr val="FFFFFF"/>
                          </a:solidFill>
                          <a:latin typeface="Nunito Sans ExtraBold"/>
                        </a:rPr>
                        <a:t>34.0%</a:t>
                      </a:r>
                    </a:p>
                  </a:txBody>
                  <a:tcPr marL="45720" marR="45720" marT="9144" marB="9144" anchor="ctr">
                    <a:solidFill>
                      <a:srgbClr val="79D6FF"/>
                    </a:solidFill>
                  </a:tcPr>
                </a:tc>
              </a:tr>
              <a:tr h="205000">
                <a:tc rowSpan="12">
                  <a:txBody>
                    <a:bodyPr wrap="square"/>
                    <a:lstStyle/>
                    <a:p>
                      <a:pPr algn="l"/>
                      <a:r>
                        <a:rPr sz="950" b="1">
                          <a:solidFill>
                            <a:srgbClr val="202945"/>
                          </a:solidFill>
                          <a:latin typeface="Calibri"/>
                        </a:rPr>
                        <a:t>Global / thematic</a:t>
                      </a:r>
                    </a:p>
                  </a:txBody>
                  <a:tcPr marL="45720" marR="45720" marT="9144" marB="9144" anchor="ctr">
                    <a:noFill/>
                  </a:tcPr>
                </a:tc>
                <a:tc>
                  <a:txBody>
                    <a:bodyPr wrap="square"/>
                    <a:lstStyle/>
                    <a:p>
                      <a:pPr algn="l"/>
                      <a:r>
                        <a:rPr sz="950" b="0">
                          <a:solidFill>
                            <a:srgbClr val="202945"/>
                          </a:solidFill>
                          <a:latin typeface="Calibri"/>
                        </a:rPr>
                        <a:t>IE000YYE6WK5</a:t>
                      </a:r>
                    </a:p>
                  </a:txBody>
                  <a:tcPr marL="45720" marR="45720" marT="9144" marB="9144" anchor="ctr">
                    <a:noFill/>
                  </a:tcPr>
                </a:tc>
                <a:tc>
                  <a:txBody>
                    <a:bodyPr wrap="square"/>
                    <a:lstStyle/>
                    <a:p>
                      <a:pPr algn="l"/>
                      <a:r>
                        <a:rPr sz="950" b="0">
                          <a:solidFill>
                            <a:srgbClr val="202945"/>
                          </a:solidFill>
                          <a:latin typeface="Calibri"/>
                        </a:rPr>
                        <a:t>VANECK VECTORS DEF A ETF</a:t>
                      </a:r>
                    </a:p>
                  </a:txBody>
                  <a:tcPr marL="45720" marR="45720" marT="9144" marB="9144" anchor="ctr">
                    <a:noFill/>
                  </a:tcPr>
                </a:tc>
                <a:tc>
                  <a:txBody>
                    <a:bodyPr wrap="square"/>
                    <a:lstStyle/>
                    <a:p>
                      <a:pPr algn="r"/>
                      <a:r>
                        <a:rPr sz="950" b="0">
                          <a:solidFill>
                            <a:srgbClr val="202945"/>
                          </a:solidFill>
                          <a:latin typeface="Calibri"/>
                        </a:rPr>
                        <a:t>2.4%</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LU0075056555</a:t>
                      </a:r>
                    </a:p>
                  </a:txBody>
                  <a:tcPr marL="45720" marR="45720" marT="9144" marB="9144" anchor="ctr">
                    <a:noFill/>
                  </a:tcPr>
                </a:tc>
                <a:tc>
                  <a:txBody>
                    <a:bodyPr wrap="square"/>
                    <a:lstStyle/>
                    <a:p>
                      <a:pPr algn="l"/>
                      <a:r>
                        <a:rPr sz="950" b="0">
                          <a:solidFill>
                            <a:srgbClr val="202945"/>
                          </a:solidFill>
                          <a:latin typeface="Calibri"/>
                        </a:rPr>
                        <a:t>BRGF WORLD MINING(REG)A2</a:t>
                      </a:r>
                    </a:p>
                  </a:txBody>
                  <a:tcPr marL="45720" marR="45720" marT="9144" marB="9144" anchor="ctr">
                    <a:noFill/>
                  </a:tcPr>
                </a:tc>
                <a:tc>
                  <a:txBody>
                    <a:bodyPr wrap="square"/>
                    <a:lstStyle/>
                    <a:p>
                      <a:pPr algn="r"/>
                      <a:r>
                        <a:rPr sz="950" b="0">
                          <a:solidFill>
                            <a:srgbClr val="202945"/>
                          </a:solidFill>
                          <a:latin typeface="Calibri"/>
                        </a:rPr>
                        <a:t>2.3%</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LU0127786431</a:t>
                      </a:r>
                    </a:p>
                  </a:txBody>
                  <a:tcPr marL="45720" marR="45720" marT="9144" marB="9144" anchor="ctr">
                    <a:noFill/>
                  </a:tcPr>
                </a:tc>
                <a:tc>
                  <a:txBody>
                    <a:bodyPr wrap="square"/>
                    <a:lstStyle/>
                    <a:p>
                      <a:pPr algn="l"/>
                      <a:r>
                        <a:rPr sz="950" b="0">
                          <a:solidFill>
                            <a:srgbClr val="202945"/>
                          </a:solidFill>
                          <a:latin typeface="Calibri"/>
                        </a:rPr>
                        <a:t>GOLDMAN EU HIGH DIV P CAP</a:t>
                      </a:r>
                    </a:p>
                  </a:txBody>
                  <a:tcPr marL="45720" marR="45720" marT="9144" marB="9144" anchor="ctr">
                    <a:noFill/>
                  </a:tcPr>
                </a:tc>
                <a:tc>
                  <a:txBody>
                    <a:bodyPr wrap="square"/>
                    <a:lstStyle/>
                    <a:p>
                      <a:pPr algn="r"/>
                      <a:r>
                        <a:rPr sz="950" b="0">
                          <a:solidFill>
                            <a:srgbClr val="202945"/>
                          </a:solidFill>
                          <a:latin typeface="Calibri"/>
                        </a:rPr>
                        <a:t>2.1%</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IE00BG0J4C88</a:t>
                      </a:r>
                    </a:p>
                  </a:txBody>
                  <a:tcPr marL="45720" marR="45720" marT="9144" marB="9144" anchor="ctr">
                    <a:noFill/>
                  </a:tcPr>
                </a:tc>
                <a:tc>
                  <a:txBody>
                    <a:bodyPr wrap="square"/>
                    <a:lstStyle/>
                    <a:p>
                      <a:pPr algn="l"/>
                      <a:r>
                        <a:rPr sz="950" b="0">
                          <a:solidFill>
                            <a:srgbClr val="202945"/>
                          </a:solidFill>
                          <a:latin typeface="Calibri"/>
                        </a:rPr>
                        <a:t>ISHS DIGITAL SECURITY ETF</a:t>
                      </a:r>
                    </a:p>
                  </a:txBody>
                  <a:tcPr marL="45720" marR="45720" marT="9144" marB="9144" anchor="ctr">
                    <a:noFill/>
                  </a:tcPr>
                </a:tc>
                <a:tc>
                  <a:txBody>
                    <a:bodyPr wrap="square"/>
                    <a:lstStyle/>
                    <a:p>
                      <a:pPr algn="r"/>
                      <a:r>
                        <a:rPr sz="950" b="0">
                          <a:solidFill>
                            <a:srgbClr val="202945"/>
                          </a:solidFill>
                          <a:latin typeface="Calibri"/>
                        </a:rPr>
                        <a:t>1.4%</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IE00BDBBPZ26</a:t>
                      </a:r>
                    </a:p>
                  </a:txBody>
                  <a:tcPr marL="45720" marR="45720" marT="9144" marB="9144" anchor="ctr">
                    <a:noFill/>
                  </a:tcPr>
                </a:tc>
                <a:tc>
                  <a:txBody>
                    <a:bodyPr wrap="square"/>
                    <a:lstStyle/>
                    <a:p>
                      <a:pPr algn="l"/>
                      <a:r>
                        <a:rPr sz="950" b="0">
                          <a:solidFill>
                            <a:srgbClr val="202945"/>
                          </a:solidFill>
                          <a:latin typeface="Calibri"/>
                        </a:rPr>
                        <a:t>FTGF CB INF VAL X DIST Q</a:t>
                      </a:r>
                    </a:p>
                  </a:txBody>
                  <a:tcPr marL="45720" marR="45720" marT="9144" marB="9144" anchor="ctr">
                    <a:noFill/>
                  </a:tcPr>
                </a:tc>
                <a:tc>
                  <a:txBody>
                    <a:bodyPr wrap="square"/>
                    <a:lstStyle/>
                    <a:p>
                      <a:pPr algn="r"/>
                      <a:r>
                        <a:rPr sz="950" b="0">
                          <a:solidFill>
                            <a:srgbClr val="202945"/>
                          </a:solidFill>
                          <a:latin typeface="Calibri"/>
                        </a:rPr>
                        <a:t>1.3%</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IE000KHX9DX6</a:t>
                      </a:r>
                    </a:p>
                  </a:txBody>
                  <a:tcPr marL="45720" marR="45720" marT="9144" marB="9144" anchor="ctr">
                    <a:noFill/>
                  </a:tcPr>
                </a:tc>
                <a:tc>
                  <a:txBody>
                    <a:bodyPr wrap="square"/>
                    <a:lstStyle/>
                    <a:p>
                      <a:pPr algn="l"/>
                      <a:r>
                        <a:rPr sz="950" b="0">
                          <a:solidFill>
                            <a:srgbClr val="202945"/>
                          </a:solidFill>
                          <a:latin typeface="Calibri"/>
                        </a:rPr>
                        <a:t>WISD STRAT M&amp;R EARTHS ETF</a:t>
                      </a:r>
                    </a:p>
                  </a:txBody>
                  <a:tcPr marL="45720" marR="45720" marT="9144" marB="9144" anchor="ctr">
                    <a:noFill/>
                  </a:tcPr>
                </a:tc>
                <a:tc>
                  <a:txBody>
                    <a:bodyPr wrap="square"/>
                    <a:lstStyle/>
                    <a:p>
                      <a:pPr algn="r"/>
                      <a:r>
                        <a:rPr sz="950" b="0">
                          <a:solidFill>
                            <a:srgbClr val="202945"/>
                          </a:solidFill>
                          <a:latin typeface="Calibri"/>
                        </a:rPr>
                        <a:t>1.1%</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SE0021921269</a:t>
                      </a:r>
                    </a:p>
                  </a:txBody>
                  <a:tcPr marL="45720" marR="45720" marT="9144" marB="9144" anchor="ctr">
                    <a:noFill/>
                  </a:tcPr>
                </a:tc>
                <a:tc>
                  <a:txBody>
                    <a:bodyPr wrap="square"/>
                    <a:lstStyle/>
                    <a:p>
                      <a:pPr algn="l"/>
                      <a:r>
                        <a:rPr sz="950" b="0">
                          <a:solidFill>
                            <a:srgbClr val="202945"/>
                          </a:solidFill>
                          <a:latin typeface="Calibri"/>
                        </a:rPr>
                        <a:t>SAAB AB B</a:t>
                      </a:r>
                    </a:p>
                  </a:txBody>
                  <a:tcPr marL="45720" marR="45720" marT="9144" marB="9144" anchor="ctr">
                    <a:noFill/>
                  </a:tcPr>
                </a:tc>
                <a:tc>
                  <a:txBody>
                    <a:bodyPr wrap="square"/>
                    <a:lstStyle/>
                    <a:p>
                      <a:pPr algn="r"/>
                      <a:r>
                        <a:rPr sz="950" b="0">
                          <a:solidFill>
                            <a:srgbClr val="202945"/>
                          </a:solidFill>
                          <a:latin typeface="Calibri"/>
                        </a:rPr>
                        <a:t>0.9%</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US92189F1066</a:t>
                      </a:r>
                    </a:p>
                  </a:txBody>
                  <a:tcPr marL="45720" marR="45720" marT="9144" marB="9144" anchor="ctr">
                    <a:noFill/>
                  </a:tcPr>
                </a:tc>
                <a:tc>
                  <a:txBody>
                    <a:bodyPr wrap="square"/>
                    <a:lstStyle/>
                    <a:p>
                      <a:pPr algn="l"/>
                      <a:r>
                        <a:rPr sz="950" b="0">
                          <a:solidFill>
                            <a:srgbClr val="202945"/>
                          </a:solidFill>
                          <a:latin typeface="Calibri"/>
                        </a:rPr>
                        <a:t>VANECK GOLD MINERS ETF</a:t>
                      </a:r>
                    </a:p>
                  </a:txBody>
                  <a:tcPr marL="45720" marR="45720" marT="9144" marB="9144" anchor="ctr">
                    <a:noFill/>
                  </a:tcPr>
                </a:tc>
                <a:tc>
                  <a:txBody>
                    <a:bodyPr wrap="square"/>
                    <a:lstStyle/>
                    <a:p>
                      <a:pPr algn="r"/>
                      <a:r>
                        <a:rPr sz="950" b="0">
                          <a:solidFill>
                            <a:srgbClr val="202945"/>
                          </a:solidFill>
                          <a:latin typeface="Calibri"/>
                        </a:rPr>
                        <a:t>0.9%</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IE00B3VXGD32</a:t>
                      </a:r>
                    </a:p>
                  </a:txBody>
                  <a:tcPr marL="45720" marR="45720" marT="9144" marB="9144" anchor="ctr">
                    <a:noFill/>
                  </a:tcPr>
                </a:tc>
                <a:tc>
                  <a:txBody>
                    <a:bodyPr wrap="square"/>
                    <a:lstStyle/>
                    <a:p>
                      <a:pPr algn="l"/>
                      <a:r>
                        <a:rPr sz="950" b="0">
                          <a:solidFill>
                            <a:srgbClr val="202945"/>
                          </a:solidFill>
                          <a:latin typeface="Calibri"/>
                        </a:rPr>
                        <a:t>POLAR BIOTECHNOLOGY R EUR</a:t>
                      </a:r>
                    </a:p>
                  </a:txBody>
                  <a:tcPr marL="45720" marR="45720" marT="9144" marB="9144" anchor="ctr">
                    <a:noFill/>
                  </a:tcPr>
                </a:tc>
                <a:tc>
                  <a:txBody>
                    <a:bodyPr wrap="square"/>
                    <a:lstStyle/>
                    <a:p>
                      <a:pPr algn="r"/>
                      <a:r>
                        <a:rPr sz="950" b="0">
                          <a:solidFill>
                            <a:srgbClr val="202945"/>
                          </a:solidFill>
                          <a:latin typeface="Calibri"/>
                        </a:rPr>
                        <a:t>0.9%</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IE00BF20LF40</a:t>
                      </a:r>
                    </a:p>
                  </a:txBody>
                  <a:tcPr marL="45720" marR="45720" marT="9144" marB="9144" anchor="ctr">
                    <a:noFill/>
                  </a:tcPr>
                </a:tc>
                <a:tc>
                  <a:txBody>
                    <a:bodyPr wrap="square"/>
                    <a:lstStyle/>
                    <a:p>
                      <a:pPr algn="l"/>
                      <a:r>
                        <a:rPr sz="950" b="0">
                          <a:solidFill>
                            <a:srgbClr val="202945"/>
                          </a:solidFill>
                          <a:latin typeface="Calibri"/>
                        </a:rPr>
                        <a:t>ISHS VI MSCI EUROP MC ETF</a:t>
                      </a:r>
                    </a:p>
                  </a:txBody>
                  <a:tcPr marL="45720" marR="45720" marT="9144" marB="9144" anchor="ctr">
                    <a:noFill/>
                  </a:tcPr>
                </a:tc>
                <a:tc>
                  <a:txBody>
                    <a:bodyPr wrap="square"/>
                    <a:lstStyle/>
                    <a:p>
                      <a:pPr algn="r"/>
                      <a:r>
                        <a:rPr sz="950" b="0">
                          <a:solidFill>
                            <a:srgbClr val="202945"/>
                          </a:solidFill>
                          <a:latin typeface="Calibri"/>
                        </a:rPr>
                        <a:t>0.8%</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LU3269411313</a:t>
                      </a:r>
                    </a:p>
                  </a:txBody>
                  <a:tcPr marL="45720" marR="45720" marT="9144" marB="9144" anchor="ctr">
                    <a:noFill/>
                  </a:tcPr>
                </a:tc>
                <a:tc>
                  <a:txBody>
                    <a:bodyPr wrap="square"/>
                    <a:lstStyle/>
                    <a:p>
                      <a:pPr algn="l"/>
                      <a:r>
                        <a:rPr sz="950" b="0">
                          <a:solidFill>
                            <a:srgbClr val="202945"/>
                          </a:solidFill>
                          <a:latin typeface="Calibri"/>
                        </a:rPr>
                        <a:t>DECALIA AEGIS DEFENSE A1</a:t>
                      </a:r>
                    </a:p>
                  </a:txBody>
                  <a:tcPr marL="45720" marR="45720" marT="9144" marB="9144" anchor="ctr">
                    <a:noFill/>
                  </a:tcPr>
                </a:tc>
                <a:tc>
                  <a:txBody>
                    <a:bodyPr wrap="square"/>
                    <a:lstStyle/>
                    <a:p>
                      <a:pPr algn="r"/>
                      <a:r>
                        <a:rPr sz="950" b="0">
                          <a:solidFill>
                            <a:srgbClr val="202945"/>
                          </a:solidFill>
                          <a:latin typeface="Calibri"/>
                        </a:rPr>
                        <a:t>0.7%</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LU0234576444</a:t>
                      </a:r>
                    </a:p>
                  </a:txBody>
                  <a:tcPr marL="45720" marR="45720" marT="9144" marB="9144" anchor="ctr">
                    <a:noFill/>
                  </a:tcPr>
                </a:tc>
                <a:tc>
                  <a:txBody>
                    <a:bodyPr wrap="square"/>
                    <a:lstStyle/>
                    <a:p>
                      <a:pPr algn="l"/>
                      <a:r>
                        <a:rPr sz="950" b="0">
                          <a:solidFill>
                            <a:srgbClr val="202945"/>
                          </a:solidFill>
                          <a:latin typeface="Calibri"/>
                        </a:rPr>
                        <a:t>G SACHS US SMALL CAP CORE</a:t>
                      </a:r>
                    </a:p>
                  </a:txBody>
                  <a:tcPr marL="45720" marR="45720" marT="9144" marB="9144" anchor="ctr">
                    <a:noFill/>
                  </a:tcPr>
                </a:tc>
                <a:tc>
                  <a:txBody>
                    <a:bodyPr wrap="square"/>
                    <a:lstStyle/>
                    <a:p>
                      <a:pPr algn="r"/>
                      <a:r>
                        <a:rPr sz="950" b="0">
                          <a:solidFill>
                            <a:srgbClr val="202945"/>
                          </a:solidFill>
                          <a:latin typeface="Calibri"/>
                        </a:rPr>
                        <a:t>0.6%</a:t>
                      </a:r>
                    </a:p>
                  </a:txBody>
                  <a:tcPr marL="45720" marR="45720" marT="9144" marB="9144" anchor="ctr">
                    <a:noFill/>
                  </a:tcPr>
                </a:tc>
              </a:tr>
              <a:tr h="205000">
                <a:tc>
                  <a:txBody>
                    <a:bodyPr wrap="square"/>
                    <a:lstStyle/>
                    <a:p>
                      <a:pPr algn="l"/>
                      <a:r>
                        <a:rPr sz="1050" b="1">
                          <a:solidFill>
                            <a:srgbClr val="FFFFFF"/>
                          </a:solidFill>
                          <a:latin typeface="Nunito Sans ExtraBold"/>
                        </a:rPr>
                        <a:t>Structured Products</a:t>
                      </a:r>
                    </a:p>
                  </a:txBody>
                  <a:tcPr marL="45720" marR="45720" marT="9144" marB="9144" anchor="ctr">
                    <a:solidFill>
                      <a:srgbClr val="E6A4AD"/>
                    </a:solidFill>
                  </a:tcPr>
                </a:tc>
                <a:tc>
                  <a:txBody>
                    <a:bodyPr wrap="square"/>
                    <a:lstStyle/>
                    <a:p>
                      <a:pPr algn="l"/>
                      <a:r>
                        <a:rPr sz="1050" b="1">
                          <a:solidFill>
                            <a:srgbClr val="FFFFFF"/>
                          </a:solidFill>
                          <a:latin typeface="Nunito Sans ExtraBold"/>
                        </a:rPr>
                        <a:t/>
                      </a:r>
                    </a:p>
                  </a:txBody>
                  <a:tcPr marL="45720" marR="45720" marT="9144" marB="9144" anchor="ctr">
                    <a:solidFill>
                      <a:srgbClr val="E6A4AD"/>
                    </a:solidFill>
                  </a:tcPr>
                </a:tc>
                <a:tc>
                  <a:txBody>
                    <a:bodyPr wrap="square"/>
                    <a:lstStyle/>
                    <a:p>
                      <a:pPr algn="l"/>
                      <a:r>
                        <a:rPr sz="1050" b="1">
                          <a:solidFill>
                            <a:srgbClr val="FFFFFF"/>
                          </a:solidFill>
                          <a:latin typeface="Nunito Sans ExtraBold"/>
                        </a:rPr>
                        <a:t/>
                      </a:r>
                    </a:p>
                  </a:txBody>
                  <a:tcPr marL="45720" marR="45720" marT="9144" marB="9144" anchor="ctr">
                    <a:solidFill>
                      <a:srgbClr val="E6A4AD"/>
                    </a:solidFill>
                  </a:tcPr>
                </a:tc>
                <a:tc>
                  <a:txBody>
                    <a:bodyPr wrap="square"/>
                    <a:lstStyle/>
                    <a:p>
                      <a:pPr algn="r"/>
                      <a:r>
                        <a:rPr sz="1050" b="1">
                          <a:solidFill>
                            <a:srgbClr val="FFFFFF"/>
                          </a:solidFill>
                          <a:latin typeface="Nunito Sans ExtraBold"/>
                        </a:rPr>
                        <a:t>5.5%</a:t>
                      </a:r>
                    </a:p>
                  </a:txBody>
                  <a:tcPr marL="45720" marR="45720" marT="9144" marB="9144" anchor="ctr">
                    <a:solidFill>
                      <a:srgbClr val="E6A4AD"/>
                    </a:solidFill>
                  </a:tcPr>
                </a:tc>
              </a:tr>
              <a:tr h="205000">
                <a:tc rowSpan="6">
                  <a:txBody>
                    <a:bodyPr wrap="square"/>
                    <a:lstStyle/>
                    <a:p>
                      <a:pPr algn="l"/>
                      <a:r>
                        <a:rPr sz="950" b="1">
                          <a:solidFill>
                            <a:srgbClr val="202945"/>
                          </a:solidFill>
                          <a:latin typeface="Calibri"/>
                        </a:rPr>
                        <a:t>Structured Products</a:t>
                      </a:r>
                    </a:p>
                  </a:txBody>
                  <a:tcPr marL="45720" marR="45720" marT="9144" marB="9144" anchor="ctr">
                    <a:noFill/>
                  </a:tcPr>
                </a:tc>
                <a:tc>
                  <a:txBody>
                    <a:bodyPr wrap="square"/>
                    <a:lstStyle/>
                    <a:p>
                      <a:pPr algn="l"/>
                      <a:r>
                        <a:rPr sz="950" b="0">
                          <a:solidFill>
                            <a:srgbClr val="202945"/>
                          </a:solidFill>
                          <a:latin typeface="Calibri"/>
                        </a:rPr>
                        <a:t>XS3164745351</a:t>
                      </a:r>
                    </a:p>
                  </a:txBody>
                  <a:tcPr marL="45720" marR="45720" marT="9144" marB="9144" anchor="ctr">
                    <a:noFill/>
                  </a:tcPr>
                </a:tc>
                <a:tc>
                  <a:txBody>
                    <a:bodyPr wrap="square"/>
                    <a:lstStyle/>
                    <a:p>
                      <a:pPr algn="l"/>
                      <a:r>
                        <a:rPr sz="950" b="0">
                          <a:solidFill>
                            <a:srgbClr val="202945"/>
                          </a:solidFill>
                          <a:latin typeface="Calibri"/>
                        </a:rPr>
                        <a:t>CITIBTB11.3%ABBN-GALD-UBS  15.06.2027</a:t>
                      </a:r>
                    </a:p>
                  </a:txBody>
                  <a:tcPr marL="45720" marR="45720" marT="9144" marB="9144" anchor="ctr">
                    <a:noFill/>
                  </a:tcPr>
                </a:tc>
                <a:tc>
                  <a:txBody>
                    <a:bodyPr wrap="square"/>
                    <a:lstStyle/>
                    <a:p>
                      <a:pPr algn="r"/>
                      <a:r>
                        <a:rPr sz="950" b="0">
                          <a:solidFill>
                            <a:srgbClr val="202945"/>
                          </a:solidFill>
                          <a:latin typeface="Calibri"/>
                        </a:rPr>
                        <a:t>1.2%</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CH1476717926</a:t>
                      </a:r>
                    </a:p>
                  </a:txBody>
                  <a:tcPr marL="45720" marR="45720" marT="9144" marB="9144" anchor="ctr">
                    <a:noFill/>
                  </a:tcPr>
                </a:tc>
                <a:tc>
                  <a:txBody>
                    <a:bodyPr wrap="square"/>
                    <a:lstStyle/>
                    <a:p>
                      <a:pPr algn="l"/>
                      <a:r>
                        <a:rPr sz="950" b="0">
                          <a:solidFill>
                            <a:srgbClr val="202945"/>
                          </a:solidFill>
                          <a:latin typeface="Calibri"/>
                        </a:rPr>
                        <a:t>TCM 100% CPN 125% LEONAI1  25.08.2028</a:t>
                      </a:r>
                    </a:p>
                  </a:txBody>
                  <a:tcPr marL="45720" marR="45720" marT="9144" marB="9144" anchor="ctr">
                    <a:noFill/>
                  </a:tcPr>
                </a:tc>
                <a:tc>
                  <a:txBody>
                    <a:bodyPr wrap="square"/>
                    <a:lstStyle/>
                    <a:p>
                      <a:pPr algn="r"/>
                      <a:r>
                        <a:rPr sz="950" b="0">
                          <a:solidFill>
                            <a:srgbClr val="202945"/>
                          </a:solidFill>
                          <a:latin typeface="Calibri"/>
                        </a:rPr>
                        <a:t>1.0%</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XS3180169339</a:t>
                      </a:r>
                    </a:p>
                  </a:txBody>
                  <a:tcPr marL="45720" marR="45720" marT="9144" marB="9144" anchor="ctr">
                    <a:noFill/>
                  </a:tcPr>
                </a:tc>
                <a:tc>
                  <a:txBody>
                    <a:bodyPr wrap="square"/>
                    <a:lstStyle/>
                    <a:p>
                      <a:pPr algn="l"/>
                      <a:r>
                        <a:rPr sz="950" b="0">
                          <a:solidFill>
                            <a:srgbClr val="202945"/>
                          </a:solidFill>
                          <a:latin typeface="Calibri"/>
                        </a:rPr>
                        <a:t>BNP CPN 8% ENI-TTE-CVX  10.11.2027</a:t>
                      </a:r>
                    </a:p>
                  </a:txBody>
                  <a:tcPr marL="45720" marR="45720" marT="9144" marB="9144" anchor="ctr">
                    <a:noFill/>
                  </a:tcPr>
                </a:tc>
                <a:tc>
                  <a:txBody>
                    <a:bodyPr wrap="square"/>
                    <a:lstStyle/>
                    <a:p>
                      <a:pPr algn="r"/>
                      <a:r>
                        <a:rPr sz="950" b="0">
                          <a:solidFill>
                            <a:srgbClr val="202945"/>
                          </a:solidFill>
                          <a:latin typeface="Calibri"/>
                        </a:rPr>
                        <a:t>0.9%</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CH1511301322</a:t>
                      </a:r>
                    </a:p>
                  </a:txBody>
                  <a:tcPr marL="45720" marR="45720" marT="9144" marB="9144" anchor="ctr">
                    <a:noFill/>
                  </a:tcPr>
                </a:tc>
                <a:tc>
                  <a:txBody>
                    <a:bodyPr wrap="square"/>
                    <a:lstStyle/>
                    <a:p>
                      <a:pPr algn="l"/>
                      <a:r>
                        <a:rPr sz="950" b="0">
                          <a:solidFill>
                            <a:srgbClr val="202945"/>
                          </a:solidFill>
                          <a:latin typeface="Calibri"/>
                        </a:rPr>
                        <a:t>RAF 9.45% GOOGL-AMZN-MSFT  24.12.2026</a:t>
                      </a:r>
                    </a:p>
                  </a:txBody>
                  <a:tcPr marL="45720" marR="45720" marT="9144" marB="9144" anchor="ctr">
                    <a:noFill/>
                  </a:tcPr>
                </a:tc>
                <a:tc>
                  <a:txBody>
                    <a:bodyPr wrap="square"/>
                    <a:lstStyle/>
                    <a:p>
                      <a:pPr algn="r"/>
                      <a:r>
                        <a:rPr sz="950" b="0">
                          <a:solidFill>
                            <a:srgbClr val="202945"/>
                          </a:solidFill>
                          <a:latin typeface="Calibri"/>
                        </a:rPr>
                        <a:t>0.8%</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CH1600459676</a:t>
                      </a:r>
                    </a:p>
                  </a:txBody>
                  <a:tcPr marL="45720" marR="45720" marT="9144" marB="9144" anchor="ctr">
                    <a:noFill/>
                  </a:tcPr>
                </a:tc>
                <a:tc>
                  <a:txBody>
                    <a:bodyPr wrap="square"/>
                    <a:lstStyle/>
                    <a:p>
                      <a:pPr algn="l"/>
                      <a:r>
                        <a:rPr sz="950" b="0">
                          <a:solidFill>
                            <a:srgbClr val="202945"/>
                          </a:solidFill>
                          <a:latin typeface="Calibri"/>
                        </a:rPr>
                        <a:t>7%DCI XAGUSD 57.80 UBS 26  24.09.2026</a:t>
                      </a:r>
                    </a:p>
                  </a:txBody>
                  <a:tcPr marL="45720" marR="45720" marT="9144" marB="9144" anchor="ctr">
                    <a:noFill/>
                  </a:tcPr>
                </a:tc>
                <a:tc>
                  <a:txBody>
                    <a:bodyPr wrap="square"/>
                    <a:lstStyle/>
                    <a:p>
                      <a:pPr algn="r"/>
                      <a:r>
                        <a:rPr sz="950" b="0">
                          <a:solidFill>
                            <a:srgbClr val="202945"/>
                          </a:solidFill>
                          <a:latin typeface="Calibri"/>
                        </a:rPr>
                        <a:t>0.8%</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CH1384269176</a:t>
                      </a:r>
                    </a:p>
                  </a:txBody>
                  <a:tcPr marL="45720" marR="45720" marT="9144" marB="9144" anchor="ctr">
                    <a:noFill/>
                  </a:tcPr>
                </a:tc>
                <a:tc>
                  <a:txBody>
                    <a:bodyPr wrap="square"/>
                    <a:lstStyle/>
                    <a:p>
                      <a:pPr algn="l"/>
                      <a:r>
                        <a:rPr sz="950" b="0">
                          <a:solidFill>
                            <a:srgbClr val="202945"/>
                          </a:solidFill>
                          <a:latin typeface="Calibri"/>
                        </a:rPr>
                        <a:t>BIL OC 211.5% NESN  13.12.2027</a:t>
                      </a:r>
                    </a:p>
                  </a:txBody>
                  <a:tcPr marL="45720" marR="45720" marT="9144" marB="9144" anchor="ctr">
                    <a:noFill/>
                  </a:tcPr>
                </a:tc>
                <a:tc>
                  <a:txBody>
                    <a:bodyPr wrap="square"/>
                    <a:lstStyle/>
                    <a:p>
                      <a:pPr algn="r"/>
                      <a:r>
                        <a:rPr sz="950" b="0">
                          <a:solidFill>
                            <a:srgbClr val="202945"/>
                          </a:solidFill>
                          <a:latin typeface="Calibri"/>
                        </a:rPr>
                        <a:t>0.8%</a:t>
                      </a:r>
                    </a:p>
                  </a:txBody>
                  <a:tcPr marL="45720" marR="45720" marT="9144" marB="9144" anchor="ctr">
                    <a:no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Proposed portfolio: full holdings list</a:t>
            </a:r>
          </a:p>
        </p:txBody>
      </p:sp>
      <p:sp>
        <p:nvSpPr>
          <p:cNvPr id="3" name="Text Placeholder 2"/>
          <p:cNvSpPr txBox="1"/>
          <p:nvPr/>
        </p:nvSpPr>
        <p:spPr>
          <a:xfrm>
            <a:off x="665163" y="1728947"/>
            <a:ext cx="9398001" cy="560000"/>
          </a:xfrm>
          <a:prstGeom prst="rect">
            <a:avLst/>
          </a:prstGeom>
          <a:noFill/>
        </p:spPr>
        <p:txBody>
          <a:bodyPr wrap="square" anchor="t" lIns="0" rIns="0" tIns="0" bIns="0">
            <a:spAutoFit/>
          </a:bodyPr>
          <a:lstStyle/>
          <a:p>
            <a:r>
              <a:rPr sz="1200">
                <a:solidFill>
                  <a:srgbClr val="202945"/>
                </a:solidFill>
              </a:rPr>
              <a:t>All positions of the proposed EUR 21.1m allocation, part 4 of 4. Weights as at 4 September 2026.</a:t>
            </a:r>
          </a:p>
        </p:txBody>
      </p:sp>
      <p:graphicFrame>
        <p:nvGraphicFramePr>
          <p:cNvPr id="4" name="Table 3"/>
          <p:cNvGraphicFramePr>
            <a:graphicFrameLocks noGrp="1"/>
          </p:cNvGraphicFramePr>
          <p:nvPr/>
        </p:nvGraphicFramePr>
        <p:xfrm>
          <a:off x="665163" y="2140000"/>
          <a:ext cx="9398001" cy="4305000"/>
        </p:xfrm>
        <a:graphic>
          <a:graphicData uri="http://schemas.openxmlformats.org/drawingml/2006/table">
            <a:tbl>
              <a:tblPr>
                <a:tableStyleId>{5C22544A-7EE6-4342-B048-85BDC9FD1C3A}</a:tableStyleId>
              </a:tblPr>
              <a:tblGrid>
                <a:gridCol w="1900000"/>
                <a:gridCol w="1500000"/>
                <a:gridCol w="4573001"/>
                <a:gridCol w="1425000"/>
              </a:tblGrid>
              <a:tr h="205000">
                <a:tc>
                  <a:txBody>
                    <a:bodyPr wrap="square"/>
                    <a:lstStyle/>
                    <a:p>
                      <a:pPr algn="l"/>
                      <a:r>
                        <a:rPr sz="1000" b="1">
                          <a:solidFill>
                            <a:srgbClr val="202945"/>
                          </a:solidFill>
                          <a:latin typeface="Nunito Sans ExtraBold"/>
                        </a:rPr>
                        <a:t>Asset Allocation</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ISIN</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Instrument</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Weight</a:t>
                      </a:r>
                    </a:p>
                  </a:txBody>
                  <a:tcPr marL="45720" marR="45720" marT="9144" marB="9144" anchor="ctr">
                    <a:solidFill>
                      <a:srgbClr val="FFFFFF"/>
                    </a:solidFill>
                  </a:tcPr>
                </a:tc>
              </a:tr>
              <a:tr h="205000">
                <a:tc>
                  <a:txBody>
                    <a:bodyPr wrap="square"/>
                    <a:lstStyle/>
                    <a:p>
                      <a:pPr algn="l"/>
                      <a:r>
                        <a:rPr sz="1050" b="1">
                          <a:solidFill>
                            <a:srgbClr val="FFFFFF"/>
                          </a:solidFill>
                          <a:latin typeface="Nunito Sans ExtraBold"/>
                        </a:rPr>
                        <a:t>Private Assets</a:t>
                      </a:r>
                    </a:p>
                  </a:txBody>
                  <a:tcPr marL="45720" marR="45720" marT="9144" marB="9144" anchor="ctr">
                    <a:solidFill>
                      <a:srgbClr val="AC5D85"/>
                    </a:solidFill>
                  </a:tcPr>
                </a:tc>
                <a:tc>
                  <a:txBody>
                    <a:bodyPr wrap="square"/>
                    <a:lstStyle/>
                    <a:p>
                      <a:pPr algn="l"/>
                      <a:r>
                        <a:rPr sz="1050" b="1">
                          <a:solidFill>
                            <a:srgbClr val="FFFFFF"/>
                          </a:solidFill>
                          <a:latin typeface="Nunito Sans ExtraBold"/>
                        </a:rPr>
                        <a:t/>
                      </a:r>
                    </a:p>
                  </a:txBody>
                  <a:tcPr marL="45720" marR="45720" marT="9144" marB="9144" anchor="ctr">
                    <a:solidFill>
                      <a:srgbClr val="AC5D85"/>
                    </a:solidFill>
                  </a:tcPr>
                </a:tc>
                <a:tc>
                  <a:txBody>
                    <a:bodyPr wrap="square"/>
                    <a:lstStyle/>
                    <a:p>
                      <a:pPr algn="l"/>
                      <a:r>
                        <a:rPr sz="1050" b="1">
                          <a:solidFill>
                            <a:srgbClr val="FFFFFF"/>
                          </a:solidFill>
                          <a:latin typeface="Nunito Sans ExtraBold"/>
                        </a:rPr>
                        <a:t/>
                      </a:r>
                    </a:p>
                  </a:txBody>
                  <a:tcPr marL="45720" marR="45720" marT="9144" marB="9144" anchor="ctr">
                    <a:solidFill>
                      <a:srgbClr val="AC5D85"/>
                    </a:solidFill>
                  </a:tcPr>
                </a:tc>
                <a:tc>
                  <a:txBody>
                    <a:bodyPr wrap="square"/>
                    <a:lstStyle/>
                    <a:p>
                      <a:pPr algn="r"/>
                      <a:r>
                        <a:rPr sz="1050" b="1">
                          <a:solidFill>
                            <a:srgbClr val="FFFFFF"/>
                          </a:solidFill>
                          <a:latin typeface="Nunito Sans ExtraBold"/>
                        </a:rPr>
                        <a:t>16.6%</a:t>
                      </a:r>
                    </a:p>
                  </a:txBody>
                  <a:tcPr marL="45720" marR="45720" marT="9144" marB="9144" anchor="ctr">
                    <a:solidFill>
                      <a:srgbClr val="AC5D85"/>
                    </a:solidFill>
                  </a:tcPr>
                </a:tc>
              </a:tr>
              <a:tr h="205000">
                <a:tc rowSpan="7">
                  <a:txBody>
                    <a:bodyPr wrap="square"/>
                    <a:lstStyle/>
                    <a:p>
                      <a:pPr algn="l"/>
                      <a:r>
                        <a:rPr sz="950" b="1">
                          <a:solidFill>
                            <a:srgbClr val="202945"/>
                          </a:solidFill>
                          <a:latin typeface="Calibri"/>
                        </a:rPr>
                        <a:t>Private Assets</a:t>
                      </a:r>
                    </a:p>
                  </a:txBody>
                  <a:tcPr marL="45720" marR="45720" marT="9144" marB="9144" anchor="ctr">
                    <a:noFill/>
                  </a:tcPr>
                </a:tc>
                <a:tc>
                  <a:txBody>
                    <a:bodyPr wrap="square"/>
                    <a:lstStyle/>
                    <a:p>
                      <a:pPr algn="l"/>
                      <a:r>
                        <a:rPr sz="950" b="0">
                          <a:solidFill>
                            <a:srgbClr val="202945"/>
                          </a:solidFill>
                          <a:latin typeface="Calibri"/>
                        </a:rPr>
                        <a:t>XX0009936591</a:t>
                      </a:r>
                    </a:p>
                  </a:txBody>
                  <a:tcPr marL="45720" marR="45720" marT="9144" marB="9144" anchor="ctr">
                    <a:noFill/>
                  </a:tcPr>
                </a:tc>
                <a:tc>
                  <a:txBody>
                    <a:bodyPr wrap="square"/>
                    <a:lstStyle/>
                    <a:p>
                      <a:pPr algn="l"/>
                      <a:r>
                        <a:rPr sz="950" b="0">
                          <a:solidFill>
                            <a:srgbClr val="202945"/>
                          </a:solidFill>
                          <a:latin typeface="Calibri"/>
                        </a:rPr>
                        <a:t>COA KONA III REF3 LP</a:t>
                      </a:r>
                    </a:p>
                  </a:txBody>
                  <a:tcPr marL="45720" marR="45720" marT="9144" marB="9144" anchor="ctr">
                    <a:noFill/>
                  </a:tcPr>
                </a:tc>
                <a:tc>
                  <a:txBody>
                    <a:bodyPr wrap="square"/>
                    <a:lstStyle/>
                    <a:p>
                      <a:pPr algn="r"/>
                      <a:r>
                        <a:rPr sz="950" b="0">
                          <a:solidFill>
                            <a:srgbClr val="202945"/>
                          </a:solidFill>
                          <a:latin typeface="Calibri"/>
                        </a:rPr>
                        <a:t>6.7%</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XX9970157841</a:t>
                      </a:r>
                    </a:p>
                  </a:txBody>
                  <a:tcPr marL="45720" marR="45720" marT="9144" marB="9144" anchor="ctr">
                    <a:noFill/>
                  </a:tcPr>
                </a:tc>
                <a:tc>
                  <a:txBody>
                    <a:bodyPr wrap="square"/>
                    <a:lstStyle/>
                    <a:p>
                      <a:pPr algn="l"/>
                      <a:r>
                        <a:rPr sz="950" b="0">
                          <a:solidFill>
                            <a:srgbClr val="202945"/>
                          </a:solidFill>
                          <a:latin typeface="Calibri"/>
                        </a:rPr>
                        <a:t>LEFT LANE CP II CLT2</a:t>
                      </a:r>
                    </a:p>
                  </a:txBody>
                  <a:tcPr marL="45720" marR="45720" marT="9144" marB="9144" anchor="ctr">
                    <a:noFill/>
                  </a:tcPr>
                </a:tc>
                <a:tc>
                  <a:txBody>
                    <a:bodyPr wrap="square"/>
                    <a:lstStyle/>
                    <a:p>
                      <a:pPr algn="r"/>
                      <a:r>
                        <a:rPr sz="950" b="0">
                          <a:solidFill>
                            <a:srgbClr val="202945"/>
                          </a:solidFill>
                          <a:latin typeface="Calibri"/>
                        </a:rPr>
                        <a:t>6.3%</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XX0009936523</a:t>
                      </a:r>
                    </a:p>
                  </a:txBody>
                  <a:tcPr marL="45720" marR="45720" marT="9144" marB="9144" anchor="ctr">
                    <a:noFill/>
                  </a:tcPr>
                </a:tc>
                <a:tc>
                  <a:txBody>
                    <a:bodyPr wrap="square"/>
                    <a:lstStyle/>
                    <a:p>
                      <a:pPr algn="l"/>
                      <a:r>
                        <a:rPr sz="950" b="0">
                          <a:solidFill>
                            <a:srgbClr val="202945"/>
                          </a:solidFill>
                          <a:latin typeface="Calibri"/>
                        </a:rPr>
                        <a:t>ACE BUYOUT III SPC A</a:t>
                      </a:r>
                    </a:p>
                  </a:txBody>
                  <a:tcPr marL="45720" marR="45720" marT="9144" marB="9144" anchor="ctr">
                    <a:noFill/>
                  </a:tcPr>
                </a:tc>
                <a:tc>
                  <a:txBody>
                    <a:bodyPr wrap="square"/>
                    <a:lstStyle/>
                    <a:p>
                      <a:pPr algn="r"/>
                      <a:r>
                        <a:rPr sz="950" b="0">
                          <a:solidFill>
                            <a:srgbClr val="202945"/>
                          </a:solidFill>
                          <a:latin typeface="Calibri"/>
                        </a:rPr>
                        <a:t>1.8%</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XX0009947993</a:t>
                      </a:r>
                    </a:p>
                  </a:txBody>
                  <a:tcPr marL="45720" marR="45720" marT="9144" marB="9144" anchor="ctr">
                    <a:noFill/>
                  </a:tcPr>
                </a:tc>
                <a:tc>
                  <a:txBody>
                    <a:bodyPr wrap="square"/>
                    <a:lstStyle/>
                    <a:p>
                      <a:pPr algn="l"/>
                      <a:r>
                        <a:rPr sz="950" b="0">
                          <a:solidFill>
                            <a:srgbClr val="202945"/>
                          </a:solidFill>
                          <a:latin typeface="Calibri"/>
                        </a:rPr>
                        <a:t>ECHO FUND SCSP</a:t>
                      </a:r>
                    </a:p>
                  </a:txBody>
                  <a:tcPr marL="45720" marR="45720" marT="9144" marB="9144" anchor="ctr">
                    <a:noFill/>
                  </a:tcPr>
                </a:tc>
                <a:tc>
                  <a:txBody>
                    <a:bodyPr wrap="square"/>
                    <a:lstStyle/>
                    <a:p>
                      <a:pPr algn="r"/>
                      <a:r>
                        <a:rPr sz="950" b="0">
                          <a:solidFill>
                            <a:srgbClr val="202945"/>
                          </a:solidFill>
                          <a:latin typeface="Calibri"/>
                        </a:rPr>
                        <a:t>1.3%</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XX0009959644</a:t>
                      </a:r>
                    </a:p>
                  </a:txBody>
                  <a:tcPr marL="45720" marR="45720" marT="9144" marB="9144" anchor="ctr">
                    <a:noFill/>
                  </a:tcPr>
                </a:tc>
                <a:tc>
                  <a:txBody>
                    <a:bodyPr wrap="square"/>
                    <a:lstStyle/>
                    <a:p>
                      <a:pPr algn="l"/>
                      <a:r>
                        <a:rPr sz="950" b="0">
                          <a:solidFill>
                            <a:srgbClr val="202945"/>
                          </a:solidFill>
                          <a:latin typeface="Calibri"/>
                        </a:rPr>
                        <a:t>THEMIS FUND REF2 SCSP</a:t>
                      </a:r>
                    </a:p>
                  </a:txBody>
                  <a:tcPr marL="45720" marR="45720" marT="9144" marB="9144" anchor="ctr">
                    <a:noFill/>
                  </a:tcPr>
                </a:tc>
                <a:tc>
                  <a:txBody>
                    <a:bodyPr wrap="square"/>
                    <a:lstStyle/>
                    <a:p>
                      <a:pPr algn="r"/>
                      <a:r>
                        <a:rPr sz="950" b="0">
                          <a:solidFill>
                            <a:srgbClr val="202945"/>
                          </a:solidFill>
                          <a:latin typeface="Calibri"/>
                        </a:rPr>
                        <a:t>0.4%</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XX0009959643</a:t>
                      </a:r>
                    </a:p>
                  </a:txBody>
                  <a:tcPr marL="45720" marR="45720" marT="9144" marB="9144" anchor="ctr">
                    <a:noFill/>
                  </a:tcPr>
                </a:tc>
                <a:tc>
                  <a:txBody>
                    <a:bodyPr wrap="square"/>
                    <a:lstStyle/>
                    <a:p>
                      <a:pPr algn="l"/>
                      <a:r>
                        <a:rPr sz="950" b="0">
                          <a:solidFill>
                            <a:srgbClr val="202945"/>
                          </a:solidFill>
                          <a:latin typeface="Calibri"/>
                        </a:rPr>
                        <a:t>THEMIS FD REF2 CC</a:t>
                      </a:r>
                    </a:p>
                  </a:txBody>
                  <a:tcPr marL="45720" marR="45720" marT="9144" marB="9144" anchor="ctr">
                    <a:noFill/>
                  </a:tcPr>
                </a:tc>
                <a:tc>
                  <a:txBody>
                    <a:bodyPr wrap="square"/>
                    <a:lstStyle/>
                    <a:p>
                      <a:pPr algn="r"/>
                      <a:r>
                        <a:rPr sz="950" b="0">
                          <a:solidFill>
                            <a:srgbClr val="202945"/>
                          </a:solidFill>
                          <a:latin typeface="Calibri"/>
                        </a:rPr>
                        <a:t>&lt;0.1%</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ACE BUYOUT III A CC</a:t>
                      </a:r>
                    </a:p>
                  </a:txBody>
                  <a:tcPr marL="45720" marR="45720" marT="9144" marB="9144" anchor="ctr">
                    <a:noFill/>
                  </a:tcPr>
                </a:tc>
                <a:tc>
                  <a:txBody>
                    <a:bodyPr wrap="square"/>
                    <a:lstStyle/>
                    <a:p>
                      <a:pPr algn="r"/>
                      <a:r>
                        <a:rPr sz="950" b="0">
                          <a:solidFill>
                            <a:srgbClr val="202945"/>
                          </a:solidFill>
                          <a:latin typeface="Calibri"/>
                        </a:rPr>
                        <a:t>&lt;0.1%</a:t>
                      </a:r>
                    </a:p>
                  </a:txBody>
                  <a:tcPr marL="45720" marR="45720" marT="9144" marB="9144" anchor="ctr">
                    <a:noFill/>
                  </a:tcPr>
                </a:tc>
              </a:tr>
              <a:tr h="205000">
                <a:tc>
                  <a:txBody>
                    <a:bodyPr wrap="square"/>
                    <a:lstStyle/>
                    <a:p>
                      <a:pPr algn="l"/>
                      <a:r>
                        <a:rPr sz="1050" b="1">
                          <a:solidFill>
                            <a:srgbClr val="FFFFFF"/>
                          </a:solidFill>
                          <a:latin typeface="Nunito Sans ExtraBold"/>
                        </a:rPr>
                        <a:t>Commodities</a:t>
                      </a:r>
                    </a:p>
                  </a:txBody>
                  <a:tcPr marL="45720" marR="45720" marT="9144" marB="9144" anchor="ctr">
                    <a:solidFill>
                      <a:srgbClr val="3BAF90"/>
                    </a:solidFill>
                  </a:tcPr>
                </a:tc>
                <a:tc>
                  <a:txBody>
                    <a:bodyPr wrap="square"/>
                    <a:lstStyle/>
                    <a:p>
                      <a:pPr algn="l"/>
                      <a:r>
                        <a:rPr sz="1050" b="1">
                          <a:solidFill>
                            <a:srgbClr val="FFFFFF"/>
                          </a:solidFill>
                          <a:latin typeface="Nunito Sans ExtraBold"/>
                        </a:rPr>
                        <a:t/>
                      </a:r>
                    </a:p>
                  </a:txBody>
                  <a:tcPr marL="45720" marR="45720" marT="9144" marB="9144" anchor="ctr">
                    <a:solidFill>
                      <a:srgbClr val="3BAF90"/>
                    </a:solidFill>
                  </a:tcPr>
                </a:tc>
                <a:tc>
                  <a:txBody>
                    <a:bodyPr wrap="square"/>
                    <a:lstStyle/>
                    <a:p>
                      <a:pPr algn="l"/>
                      <a:r>
                        <a:rPr sz="1050" b="1">
                          <a:solidFill>
                            <a:srgbClr val="FFFFFF"/>
                          </a:solidFill>
                          <a:latin typeface="Nunito Sans ExtraBold"/>
                        </a:rPr>
                        <a:t/>
                      </a:r>
                    </a:p>
                  </a:txBody>
                  <a:tcPr marL="45720" marR="45720" marT="9144" marB="9144" anchor="ctr">
                    <a:solidFill>
                      <a:srgbClr val="3BAF90"/>
                    </a:solidFill>
                  </a:tcPr>
                </a:tc>
                <a:tc>
                  <a:txBody>
                    <a:bodyPr wrap="square"/>
                    <a:lstStyle/>
                    <a:p>
                      <a:pPr algn="r"/>
                      <a:r>
                        <a:rPr sz="1050" b="1">
                          <a:solidFill>
                            <a:srgbClr val="FFFFFF"/>
                          </a:solidFill>
                          <a:latin typeface="Nunito Sans ExtraBold"/>
                        </a:rPr>
                        <a:t>27.4%</a:t>
                      </a:r>
                    </a:p>
                  </a:txBody>
                  <a:tcPr marL="45720" marR="45720" marT="9144" marB="9144" anchor="ctr">
                    <a:solidFill>
                      <a:srgbClr val="3BAF90"/>
                    </a:solidFill>
                  </a:tcPr>
                </a:tc>
              </a:tr>
              <a:tr h="205000">
                <a:tc rowSpan="8">
                  <a:txBody>
                    <a:bodyPr wrap="square"/>
                    <a:lstStyle/>
                    <a:p>
                      <a:pPr algn="l"/>
                      <a:r>
                        <a:rPr sz="950" b="1">
                          <a:solidFill>
                            <a:srgbClr val="202945"/>
                          </a:solidFill>
                          <a:latin typeface="Calibri"/>
                        </a:rPr>
                        <a:t>Commodities</a:t>
                      </a:r>
                    </a:p>
                  </a:txBody>
                  <a:tcPr marL="45720" marR="45720" marT="9144" marB="9144" anchor="ctr">
                    <a:noFill/>
                  </a:tcPr>
                </a:tc>
                <a:tc>
                  <a:txBody>
                    <a:bodyPr wrap="square"/>
                    <a:lstStyle/>
                    <a:p>
                      <a:pPr algn="l"/>
                      <a:r>
                        <a:rPr sz="950" b="0">
                          <a:solidFill>
                            <a:srgbClr val="202945"/>
                          </a:solidFill>
                          <a:latin typeface="Calibri"/>
                        </a:rPr>
                        <a:t>CH0002811286</a:t>
                      </a:r>
                    </a:p>
                  </a:txBody>
                  <a:tcPr marL="45720" marR="45720" marT="9144" marB="9144" anchor="ctr">
                    <a:noFill/>
                  </a:tcPr>
                </a:tc>
                <a:tc>
                  <a:txBody>
                    <a:bodyPr wrap="square"/>
                    <a:lstStyle/>
                    <a:p>
                      <a:pPr algn="l"/>
                      <a:r>
                        <a:rPr sz="950" b="0">
                          <a:solidFill>
                            <a:srgbClr val="202945"/>
                          </a:solidFill>
                          <a:latin typeface="Calibri"/>
                        </a:rPr>
                        <a:t>GOLD KG 1 999.9 CHF</a:t>
                      </a:r>
                    </a:p>
                  </a:txBody>
                  <a:tcPr marL="45720" marR="45720" marT="9144" marB="9144" anchor="ctr">
                    <a:noFill/>
                  </a:tcPr>
                </a:tc>
                <a:tc>
                  <a:txBody>
                    <a:bodyPr wrap="square"/>
                    <a:lstStyle/>
                    <a:p>
                      <a:pPr algn="r"/>
                      <a:r>
                        <a:rPr sz="950" b="0">
                          <a:solidFill>
                            <a:srgbClr val="202945"/>
                          </a:solidFill>
                          <a:latin typeface="Calibri"/>
                        </a:rPr>
                        <a:t>20.1%</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ZAE000003950</a:t>
                      </a:r>
                    </a:p>
                  </a:txBody>
                  <a:tcPr marL="45720" marR="45720" marT="9144" marB="9144" anchor="ctr">
                    <a:noFill/>
                  </a:tcPr>
                </a:tc>
                <a:tc>
                  <a:txBody>
                    <a:bodyPr wrap="square"/>
                    <a:lstStyle/>
                    <a:p>
                      <a:pPr algn="l"/>
                      <a:r>
                        <a:rPr sz="950" b="0">
                          <a:solidFill>
                            <a:srgbClr val="202945"/>
                          </a:solidFill>
                          <a:latin typeface="Calibri"/>
                        </a:rPr>
                        <a:t>OR KRUGERRAND(PCE)1OZ USD</a:t>
                      </a:r>
                    </a:p>
                  </a:txBody>
                  <a:tcPr marL="45720" marR="45720" marT="9144" marB="9144" anchor="ctr">
                    <a:noFill/>
                  </a:tcPr>
                </a:tc>
                <a:tc>
                  <a:txBody>
                    <a:bodyPr wrap="square"/>
                    <a:lstStyle/>
                    <a:p>
                      <a:pPr algn="r"/>
                      <a:r>
                        <a:rPr sz="950" b="0">
                          <a:solidFill>
                            <a:srgbClr val="202945"/>
                          </a:solidFill>
                          <a:latin typeface="Calibri"/>
                        </a:rPr>
                        <a:t>1.2%</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CURRENT ACCOUNT IN XAG</a:t>
                      </a:r>
                    </a:p>
                  </a:txBody>
                  <a:tcPr marL="45720" marR="45720" marT="9144" marB="9144" anchor="ctr">
                    <a:noFill/>
                  </a:tcPr>
                </a:tc>
                <a:tc>
                  <a:txBody>
                    <a:bodyPr wrap="square"/>
                    <a:lstStyle/>
                    <a:p>
                      <a:pPr algn="r"/>
                      <a:r>
                        <a:rPr sz="950" b="0">
                          <a:solidFill>
                            <a:srgbClr val="202945"/>
                          </a:solidFill>
                          <a:latin typeface="Calibri"/>
                        </a:rPr>
                        <a:t>1.1%</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CURRENT ACCOUNT IN XPT</a:t>
                      </a:r>
                    </a:p>
                  </a:txBody>
                  <a:tcPr marL="45720" marR="45720" marT="9144" marB="9144" anchor="ctr">
                    <a:noFill/>
                  </a:tcPr>
                </a:tc>
                <a:tc>
                  <a:txBody>
                    <a:bodyPr wrap="square"/>
                    <a:lstStyle/>
                    <a:p>
                      <a:pPr algn="r"/>
                      <a:r>
                        <a:rPr sz="950" b="0">
                          <a:solidFill>
                            <a:srgbClr val="202945"/>
                          </a:solidFill>
                          <a:latin typeface="Calibri"/>
                        </a:rPr>
                        <a:t>1.0%</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CH0183136057</a:t>
                      </a:r>
                    </a:p>
                  </a:txBody>
                  <a:tcPr marL="45720" marR="45720" marT="9144" marB="9144" anchor="ctr">
                    <a:noFill/>
                  </a:tcPr>
                </a:tc>
                <a:tc>
                  <a:txBody>
                    <a:bodyPr wrap="square"/>
                    <a:lstStyle/>
                    <a:p>
                      <a:pPr algn="l"/>
                      <a:r>
                        <a:rPr sz="950" b="0">
                          <a:solidFill>
                            <a:srgbClr val="202945"/>
                          </a:solidFill>
                          <a:latin typeface="Calibri"/>
                        </a:rPr>
                        <a:t>SWC(CH)PLATINUM ETF EACHF</a:t>
                      </a:r>
                    </a:p>
                  </a:txBody>
                  <a:tcPr marL="45720" marR="45720" marT="9144" marB="9144" anchor="ctr">
                    <a:noFill/>
                  </a:tcPr>
                </a:tc>
                <a:tc>
                  <a:txBody>
                    <a:bodyPr wrap="square"/>
                    <a:lstStyle/>
                    <a:p>
                      <a:pPr algn="r"/>
                      <a:r>
                        <a:rPr sz="950" b="0">
                          <a:solidFill>
                            <a:srgbClr val="202945"/>
                          </a:solidFill>
                          <a:latin typeface="Calibri"/>
                        </a:rPr>
                        <a:t>1.0%</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GB00B15KXQ89</a:t>
                      </a:r>
                    </a:p>
                  </a:txBody>
                  <a:tcPr marL="45720" marR="45720" marT="9144" marB="9144" anchor="ctr">
                    <a:noFill/>
                  </a:tcPr>
                </a:tc>
                <a:tc>
                  <a:txBody>
                    <a:bodyPr wrap="square"/>
                    <a:lstStyle/>
                    <a:p>
                      <a:pPr algn="l"/>
                      <a:r>
                        <a:rPr sz="950" b="0">
                          <a:solidFill>
                            <a:srgbClr val="202945"/>
                          </a:solidFill>
                          <a:latin typeface="Calibri"/>
                        </a:rPr>
                        <a:t>WISDOMT.ETC-COPPER COM ID</a:t>
                      </a:r>
                    </a:p>
                  </a:txBody>
                  <a:tcPr marL="45720" marR="45720" marT="9144" marB="9144" anchor="ctr">
                    <a:noFill/>
                  </a:tcPr>
                </a:tc>
                <a:tc>
                  <a:txBody>
                    <a:bodyPr wrap="square"/>
                    <a:lstStyle/>
                    <a:p>
                      <a:pPr algn="r"/>
                      <a:r>
                        <a:rPr sz="950" b="0">
                          <a:solidFill>
                            <a:srgbClr val="202945"/>
                          </a:solidFill>
                          <a:latin typeface="Calibri"/>
                        </a:rPr>
                        <a:t>1.0%</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GB00B15KXN58</a:t>
                      </a:r>
                    </a:p>
                  </a:txBody>
                  <a:tcPr marL="45720" marR="45720" marT="9144" marB="9144" anchor="ctr">
                    <a:noFill/>
                  </a:tcPr>
                </a:tc>
                <a:tc>
                  <a:txBody>
                    <a:bodyPr wrap="square"/>
                    <a:lstStyle/>
                    <a:p>
                      <a:pPr algn="l"/>
                      <a:r>
                        <a:rPr sz="950" b="0">
                          <a:solidFill>
                            <a:srgbClr val="202945"/>
                          </a:solidFill>
                          <a:latin typeface="Calibri"/>
                        </a:rPr>
                        <a:t>WISDOMTREE-ETC-ALUMIN PER</a:t>
                      </a:r>
                    </a:p>
                  </a:txBody>
                  <a:tcPr marL="45720" marR="45720" marT="9144" marB="9144" anchor="ctr">
                    <a:noFill/>
                  </a:tcPr>
                </a:tc>
                <a:tc>
                  <a:txBody>
                    <a:bodyPr wrap="square"/>
                    <a:lstStyle/>
                    <a:p>
                      <a:pPr algn="r"/>
                      <a:r>
                        <a:rPr sz="950" b="0">
                          <a:solidFill>
                            <a:srgbClr val="202945"/>
                          </a:solidFill>
                          <a:latin typeface="Calibri"/>
                        </a:rPr>
                        <a:t>1.0%</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GB00B15KYH63</a:t>
                      </a:r>
                    </a:p>
                  </a:txBody>
                  <a:tcPr marL="45720" marR="45720" marT="9144" marB="9144" anchor="ctr">
                    <a:noFill/>
                  </a:tcPr>
                </a:tc>
                <a:tc>
                  <a:txBody>
                    <a:bodyPr wrap="square"/>
                    <a:lstStyle/>
                    <a:p>
                      <a:pPr algn="l"/>
                      <a:r>
                        <a:rPr sz="950" b="0">
                          <a:solidFill>
                            <a:srgbClr val="202945"/>
                          </a:solidFill>
                          <a:latin typeface="Calibri"/>
                        </a:rPr>
                        <a:t>WISDOMTREE-ETC-AIGCI(LDN)</a:t>
                      </a:r>
                    </a:p>
                  </a:txBody>
                  <a:tcPr marL="45720" marR="45720" marT="9144" marB="9144" anchor="ctr">
                    <a:noFill/>
                  </a:tcPr>
                </a:tc>
                <a:tc>
                  <a:txBody>
                    <a:bodyPr wrap="square"/>
                    <a:lstStyle/>
                    <a:p>
                      <a:pPr algn="r"/>
                      <a:r>
                        <a:rPr sz="950" b="0">
                          <a:solidFill>
                            <a:srgbClr val="202945"/>
                          </a:solidFill>
                          <a:latin typeface="Calibri"/>
                        </a:rPr>
                        <a:t>0.9%</a:t>
                      </a:r>
                    </a:p>
                  </a:txBody>
                  <a:tcPr marL="45720" marR="45720" marT="9144" marB="9144" anchor="ctr">
                    <a:noFill/>
                  </a:tcPr>
                </a:tc>
              </a:tr>
              <a:tr h="205000">
                <a:tc>
                  <a:txBody>
                    <a:bodyPr wrap="square"/>
                    <a:lstStyle/>
                    <a:p>
                      <a:pPr algn="l"/>
                      <a:r>
                        <a:rPr sz="1050" b="1">
                          <a:solidFill>
                            <a:srgbClr val="FFFFFF"/>
                          </a:solidFill>
                          <a:latin typeface="Nunito Sans ExtraBold"/>
                        </a:rPr>
                        <a:t>Other</a:t>
                      </a:r>
                    </a:p>
                  </a:txBody>
                  <a:tcPr marL="45720" marR="45720" marT="9144" marB="9144" anchor="ctr">
                    <a:solidFill>
                      <a:srgbClr val="FFA400"/>
                    </a:solidFill>
                  </a:tcPr>
                </a:tc>
                <a:tc>
                  <a:txBody>
                    <a:bodyPr wrap="square"/>
                    <a:lstStyle/>
                    <a:p>
                      <a:pPr algn="l"/>
                      <a:r>
                        <a:rPr sz="1050" b="1">
                          <a:solidFill>
                            <a:srgbClr val="FFFFFF"/>
                          </a:solidFill>
                          <a:latin typeface="Nunito Sans ExtraBold"/>
                        </a:rPr>
                        <a:t/>
                      </a:r>
                    </a:p>
                  </a:txBody>
                  <a:tcPr marL="45720" marR="45720" marT="9144" marB="9144" anchor="ctr">
                    <a:solidFill>
                      <a:srgbClr val="FFA400"/>
                    </a:solidFill>
                  </a:tcPr>
                </a:tc>
                <a:tc>
                  <a:txBody>
                    <a:bodyPr wrap="square"/>
                    <a:lstStyle/>
                    <a:p>
                      <a:pPr algn="l"/>
                      <a:r>
                        <a:rPr sz="1050" b="1">
                          <a:solidFill>
                            <a:srgbClr val="FFFFFF"/>
                          </a:solidFill>
                          <a:latin typeface="Nunito Sans ExtraBold"/>
                        </a:rPr>
                        <a:t/>
                      </a:r>
                    </a:p>
                  </a:txBody>
                  <a:tcPr marL="45720" marR="45720" marT="9144" marB="9144" anchor="ctr">
                    <a:solidFill>
                      <a:srgbClr val="FFA400"/>
                    </a:solidFill>
                  </a:tcPr>
                </a:tc>
                <a:tc>
                  <a:txBody>
                    <a:bodyPr wrap="square"/>
                    <a:lstStyle/>
                    <a:p>
                      <a:pPr algn="r"/>
                      <a:r>
                        <a:rPr sz="1050" b="1">
                          <a:solidFill>
                            <a:srgbClr val="FFFFFF"/>
                          </a:solidFill>
                          <a:latin typeface="Nunito Sans ExtraBold"/>
                        </a:rPr>
                        <a:t>0.7%</a:t>
                      </a:r>
                    </a:p>
                  </a:txBody>
                  <a:tcPr marL="45720" marR="45720" marT="9144" marB="9144" anchor="ctr">
                    <a:solidFill>
                      <a:srgbClr val="FFA400"/>
                    </a:solidFill>
                  </a:tcPr>
                </a:tc>
              </a:tr>
              <a:tr h="205000">
                <a:tc>
                  <a:txBody>
                    <a:bodyPr wrap="square"/>
                    <a:lstStyle/>
                    <a:p>
                      <a:pPr algn="l"/>
                      <a:r>
                        <a:rPr sz="950" b="1">
                          <a:solidFill>
                            <a:srgbClr val="202945"/>
                          </a:solidFill>
                          <a:latin typeface="Calibri"/>
                        </a:rPr>
                        <a:t>Other</a:t>
                      </a:r>
                    </a:p>
                  </a:txBody>
                  <a:tcPr marL="45720" marR="45720" marT="9144" marB="9144" anchor="ctr">
                    <a:noFill/>
                  </a:tcPr>
                </a:tc>
                <a:tc>
                  <a:txBody>
                    <a:bodyPr wrap="square"/>
                    <a:lstStyle/>
                    <a:p>
                      <a:pPr algn="l"/>
                      <a:r>
                        <a:rPr sz="950" b="0">
                          <a:solidFill>
                            <a:srgbClr val="202945"/>
                          </a:solidFill>
                          <a:latin typeface="Calibri"/>
                        </a:rPr>
                        <a:t>US46438F1012</a:t>
                      </a:r>
                    </a:p>
                  </a:txBody>
                  <a:tcPr marL="45720" marR="45720" marT="9144" marB="9144" anchor="ctr">
                    <a:noFill/>
                  </a:tcPr>
                </a:tc>
                <a:tc>
                  <a:txBody>
                    <a:bodyPr wrap="square"/>
                    <a:lstStyle/>
                    <a:p>
                      <a:pPr algn="l"/>
                      <a:r>
                        <a:rPr sz="950" b="0">
                          <a:solidFill>
                            <a:srgbClr val="202945"/>
                          </a:solidFill>
                          <a:latin typeface="Calibri"/>
                        </a:rPr>
                        <a:t>ISHARES BITCOIN ETF</a:t>
                      </a:r>
                    </a:p>
                  </a:txBody>
                  <a:tcPr marL="45720" marR="45720" marT="9144" marB="9144" anchor="ctr">
                    <a:noFill/>
                  </a:tcPr>
                </a:tc>
                <a:tc>
                  <a:txBody>
                    <a:bodyPr wrap="square"/>
                    <a:lstStyle/>
                    <a:p>
                      <a:pPr algn="r"/>
                      <a:r>
                        <a:rPr sz="950" b="0">
                          <a:solidFill>
                            <a:srgbClr val="202945"/>
                          </a:solidFill>
                          <a:latin typeface="Calibri"/>
                        </a:rPr>
                        <a:t>0.7%</a:t>
                      </a:r>
                    </a:p>
                  </a:txBody>
                  <a:tcPr marL="45720" marR="45720" marT="9144" marB="9144" anchor="ctr">
                    <a:noFill/>
                  </a:tcPr>
                </a:tc>
              </a:tr>
              <a:tr h="205000">
                <a:tc>
                  <a:txBody>
                    <a:bodyPr wrap="square"/>
                    <a:lstStyle/>
                    <a:p>
                      <a:pPr algn="l"/>
                      <a:r>
                        <a:rPr sz="1000" b="1">
                          <a:solidFill>
                            <a:srgbClr val="FFFFFF"/>
                          </a:solidFill>
                          <a:latin typeface="Nunito Sans ExtraBold"/>
                        </a:rPr>
                        <a:t>Total</a:t>
                      </a:r>
                    </a:p>
                  </a:txBody>
                  <a:tcPr marL="45720" marR="45720" marT="9144" marB="9144" anchor="ctr">
                    <a:solidFill>
                      <a:srgbClr val="202945"/>
                    </a:solidFill>
                  </a:tcPr>
                </a:tc>
                <a:tc>
                  <a:txBody>
                    <a:bodyPr wrap="square"/>
                    <a:lstStyle/>
                    <a:p>
                      <a:pPr algn="l"/>
                      <a:r>
                        <a:rPr sz="1000" b="1">
                          <a:solidFill>
                            <a:srgbClr val="FFFFFF"/>
                          </a:solidFill>
                          <a:latin typeface="Nunito Sans ExtraBold"/>
                        </a:rPr>
                        <a:t/>
                      </a:r>
                    </a:p>
                  </a:txBody>
                  <a:tcPr marL="45720" marR="45720" marT="9144" marB="9144" anchor="ctr">
                    <a:solidFill>
                      <a:srgbClr val="202945"/>
                    </a:solidFill>
                  </a:tcPr>
                </a:tc>
                <a:tc>
                  <a:txBody>
                    <a:bodyPr wrap="square"/>
                    <a:lstStyle/>
                    <a:p>
                      <a:pPr algn="l"/>
                      <a:r>
                        <a:rPr sz="1000" b="1">
                          <a:solidFill>
                            <a:srgbClr val="FFFFFF"/>
                          </a:solidFill>
                          <a:latin typeface="Nunito Sans ExtraBold"/>
                        </a:rPr>
                        <a:t/>
                      </a:r>
                    </a:p>
                  </a:txBody>
                  <a:tcPr marL="45720" marR="45720" marT="9144" marB="9144" anchor="ctr">
                    <a:solidFill>
                      <a:srgbClr val="202945"/>
                    </a:solidFill>
                  </a:tcPr>
                </a:tc>
                <a:tc>
                  <a:txBody>
                    <a:bodyPr wrap="square"/>
                    <a:lstStyle/>
                    <a:p>
                      <a:pPr algn="r"/>
                      <a:r>
                        <a:rPr sz="1000" b="1">
                          <a:solidFill>
                            <a:srgbClr val="FFFFFF"/>
                          </a:solidFill>
                          <a:latin typeface="Nunito Sans ExtraBold"/>
                        </a:rPr>
                        <a:t>100.0%</a:t>
                      </a:r>
                    </a:p>
                  </a:txBody>
                  <a:tcPr marL="45720" marR="45720" marT="9144" marB="9144" anchor="ctr">
                    <a:solidFill>
                      <a:srgbClr val="202945"/>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Private equity: fund-by-fund review</a:t>
            </a:r>
          </a:p>
        </p:txBody>
      </p:sp>
      <p:sp>
        <p:nvSpPr>
          <p:cNvPr id="12" name="TextBox 11"/>
          <p:cNvSpPr txBox="1"/>
          <p:nvPr/>
        </p:nvSpPr>
        <p:spPr>
          <a:xfrm>
            <a:off x="666000" y="6983999"/>
            <a:ext cx="9396000" cy="432000"/>
          </a:xfrm>
          <a:prstGeom prst="rect">
            <a:avLst/>
          </a:prstGeom>
          <a:noFill/>
        </p:spPr>
        <p:txBody>
          <a:bodyPr wrap="square" anchor="t">
            <a:spAutoFit/>
          </a:bodyPr>
          <a:lstStyle/>
          <a:p>
            <a:pPr algn="l"/>
            <a:r>
              <a:rPr lang="en-US" sz="900" b="0" noProof="0">
                <a:solidFill>
                  <a:srgbClr val="4B5F80"/>
                </a:solidFill>
                <a:latin typeface="Nunito Sans"/>
              </a:rPr>
              <a:t/>
            </a:r>
          </a:p>
        </p:txBody>
      </p:sp>
      <p:sp>
        <p:nvSpPr>
          <p:cNvPr id="13" name="Oval 12">
            <a:extLst>
              <a:ext uri="{FF2B5EF4-FFF2-40B4-BE49-F238E27FC236}">
                <a16:creationId xmlns:a16="http://schemas.microsoft.com/office/drawing/2014/main" id="{210A7196-A286-66F6-DADB-4B8030D461C7}"/>
              </a:ext>
            </a:extLst>
          </p:cNvPr>
          <p:cNvSpPr/>
          <p:nvPr/>
        </p:nvSpPr>
        <p:spPr>
          <a:xfrm>
            <a:off x="9966508" y="935038"/>
            <a:ext cx="540000" cy="540000"/>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H" sz="1400"/>
          </a:p>
        </p:txBody>
      </p:sp>
      <p:pic>
        <p:nvPicPr>
          <p:cNvPr id="21" name="Graphic 20" descr="Presentation with org chart with solid fill">
            <a:extLst>
              <a:ext uri="{FF2B5EF4-FFF2-40B4-BE49-F238E27FC236}">
                <a16:creationId xmlns:a16="http://schemas.microsoft.com/office/drawing/2014/main" id="{FE7851E1-3AB3-2B0A-D447-C942B0C6D10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992820" y="987662"/>
            <a:ext cx="487376" cy="487376"/>
          </a:xfrm>
          <a:prstGeom prst="rect">
            <a:avLst/>
          </a:prstGeom>
        </p:spPr>
      </p:pic>
      <p:sp>
        <p:nvSpPr>
          <p:cNvPr id="22" name="Text Placeholder 2"/>
          <p:cNvSpPr txBox="1"/>
          <p:nvPr/>
        </p:nvSpPr>
        <p:spPr>
          <a:xfrm>
            <a:off x="665163" y="1728947"/>
            <a:ext cx="9398001" cy="560000"/>
          </a:xfrm>
          <a:prstGeom prst="rect">
            <a:avLst/>
          </a:prstGeom>
          <a:noFill/>
        </p:spPr>
        <p:txBody>
          <a:bodyPr wrap="square" anchor="t" lIns="0" rIns="0" tIns="0" bIns="0">
            <a:spAutoFit/>
          </a:bodyPr>
          <a:lstStyle/>
          <a:p>
            <a:r>
              <a:rPr sz="1200">
                <a:solidFill>
                  <a:srgbClr val="202945"/>
                </a:solidFill>
              </a:rPr>
              <a:t>Manager-reported metrics for the four private-market funds held in the portfolio, as at Q1 2026 — ECHO as at Q1 2025, the latest reporting available.</a:t>
            </a:r>
          </a:p>
        </p:txBody>
      </p:sp>
      <p:graphicFrame>
        <p:nvGraphicFramePr>
          <p:cNvPr id="23" name="Table 22"/>
          <p:cNvGraphicFramePr>
            <a:graphicFrameLocks noGrp="1"/>
          </p:cNvGraphicFramePr>
          <p:nvPr/>
        </p:nvGraphicFramePr>
        <p:xfrm>
          <a:off x="665163" y="2232000"/>
          <a:ext cx="9399600" cy="1710000"/>
        </p:xfrm>
        <a:graphic>
          <a:graphicData uri="http://schemas.openxmlformats.org/drawingml/2006/table">
            <a:tbl>
              <a:tblPr firstRow="1" bandRow="1">
                <a:tableStyleId>{5C22544A-7EE6-4342-B048-85BDC9FD1C3A}</a:tableStyleId>
              </a:tblPr>
              <a:tblGrid>
                <a:gridCol w="1440000"/>
                <a:gridCol w="540000"/>
                <a:gridCol w="468000"/>
                <a:gridCol w="360000"/>
                <a:gridCol w="648000"/>
                <a:gridCol w="1332000"/>
                <a:gridCol w="468000"/>
                <a:gridCol w="540000"/>
                <a:gridCol w="1440000"/>
                <a:gridCol w="2163600"/>
              </a:tblGrid>
              <a:tr h="342000">
                <a:tc>
                  <a:txBody>
                    <a:bodyPr wrap="square"/>
                    <a:lstStyle/>
                    <a:p>
                      <a:pPr algn="l"/>
                      <a:r>
                        <a:rPr sz="900" b="1">
                          <a:solidFill>
                            <a:srgbClr val="202945"/>
                          </a:solidFill>
                        </a:rPr>
                        <a:t>Fund</a:t>
                      </a:r>
                    </a:p>
                  </a:txBody>
                  <a:tcPr marL="45720" marR="45720" anchor="ctr">
                    <a:solidFill>
                      <a:srgbClr val="FFC545"/>
                    </a:solidFill>
                  </a:tcPr>
                </a:tc>
                <a:tc>
                  <a:txBody>
                    <a:bodyPr wrap="square"/>
                    <a:lstStyle/>
                    <a:p>
                      <a:pPr algn="l"/>
                      <a:r>
                        <a:rPr sz="900" b="1">
                          <a:solidFill>
                            <a:srgbClr val="202945"/>
                          </a:solidFill>
                        </a:rPr>
                        <a:t>Vintage</a:t>
                      </a:r>
                    </a:p>
                  </a:txBody>
                  <a:tcPr marL="45720" marR="45720" anchor="ctr">
                    <a:solidFill>
                      <a:srgbClr val="FFC545"/>
                    </a:solidFill>
                  </a:tcPr>
                </a:tc>
                <a:tc>
                  <a:txBody>
                    <a:bodyPr wrap="square"/>
                    <a:lstStyle/>
                    <a:p>
                      <a:pPr algn="l"/>
                      <a:r>
                        <a:rPr sz="900" b="1">
                          <a:solidFill>
                            <a:srgbClr val="202945"/>
                          </a:solidFill>
                        </a:rPr>
                        <a:t>Term</a:t>
                      </a:r>
                    </a:p>
                  </a:txBody>
                  <a:tcPr marL="45720" marR="45720" anchor="ctr">
                    <a:solidFill>
                      <a:srgbClr val="FFC545"/>
                    </a:solidFill>
                  </a:tcPr>
                </a:tc>
                <a:tc>
                  <a:txBody>
                    <a:bodyPr wrap="square"/>
                    <a:lstStyle/>
                    <a:p>
                      <a:pPr algn="l"/>
                      <a:r>
                        <a:rPr sz="900" b="1">
                          <a:solidFill>
                            <a:srgbClr val="202945"/>
                          </a:solidFill>
                        </a:rPr>
                        <a:t>Ccy</a:t>
                      </a:r>
                    </a:p>
                  </a:txBody>
                  <a:tcPr marL="45720" marR="45720" anchor="ctr">
                    <a:solidFill>
                      <a:srgbClr val="FFC545"/>
                    </a:solidFill>
                  </a:tcPr>
                </a:tc>
                <a:tc>
                  <a:txBody>
                    <a:bodyPr wrap="square"/>
                    <a:lstStyle/>
                    <a:p>
                      <a:pPr algn="l"/>
                      <a:r>
                        <a:rPr sz="900" b="1">
                          <a:solidFill>
                            <a:srgbClr val="202945"/>
                          </a:solidFill>
                        </a:rPr>
                        <a:t>As of</a:t>
                      </a:r>
                    </a:p>
                  </a:txBody>
                  <a:tcPr marL="45720" marR="45720" anchor="ctr">
                    <a:solidFill>
                      <a:srgbClr val="FFC545"/>
                    </a:solidFill>
                  </a:tcPr>
                </a:tc>
                <a:tc>
                  <a:txBody>
                    <a:bodyPr wrap="square"/>
                    <a:lstStyle/>
                    <a:p>
                      <a:pPr algn="l"/>
                      <a:r>
                        <a:rPr sz="900" b="1">
                          <a:solidFill>
                            <a:srgbClr val="202945"/>
                          </a:solidFill>
                        </a:rPr>
                        <a:t>TVPI / MOIC</a:t>
                      </a:r>
                    </a:p>
                  </a:txBody>
                  <a:tcPr marL="45720" marR="45720" anchor="ctr">
                    <a:solidFill>
                      <a:srgbClr val="FFC545"/>
                    </a:solidFill>
                  </a:tcPr>
                </a:tc>
                <a:tc>
                  <a:txBody>
                    <a:bodyPr wrap="square"/>
                    <a:lstStyle/>
                    <a:p>
                      <a:pPr algn="l"/>
                      <a:r>
                        <a:rPr sz="900" b="1">
                          <a:solidFill>
                            <a:srgbClr val="202945"/>
                          </a:solidFill>
                        </a:rPr>
                        <a:t>DPI</a:t>
                      </a:r>
                    </a:p>
                  </a:txBody>
                  <a:tcPr marL="45720" marR="45720" anchor="ctr">
                    <a:solidFill>
                      <a:srgbClr val="FFC545"/>
                    </a:solidFill>
                  </a:tcPr>
                </a:tc>
                <a:tc>
                  <a:txBody>
                    <a:bodyPr wrap="square"/>
                    <a:lstStyle/>
                    <a:p>
                      <a:pPr algn="l"/>
                      <a:r>
                        <a:rPr sz="900" b="1">
                          <a:solidFill>
                            <a:srgbClr val="202945"/>
                          </a:solidFill>
                        </a:rPr>
                        <a:t>Called</a:t>
                      </a:r>
                    </a:p>
                  </a:txBody>
                  <a:tcPr marL="45720" marR="45720" anchor="ctr">
                    <a:solidFill>
                      <a:srgbClr val="FFC545"/>
                    </a:solidFill>
                  </a:tcPr>
                </a:tc>
                <a:tc>
                  <a:txBody>
                    <a:bodyPr wrap="square"/>
                    <a:lstStyle/>
                    <a:p>
                      <a:pPr algn="l"/>
                      <a:r>
                        <a:rPr sz="900" b="1">
                          <a:solidFill>
                            <a:srgbClr val="202945"/>
                          </a:solidFill>
                        </a:rPr>
                        <a:t>Expected calls (4Q)</a:t>
                      </a:r>
                    </a:p>
                  </a:txBody>
                  <a:tcPr marL="45720" marR="45720" anchor="ctr">
                    <a:solidFill>
                      <a:srgbClr val="FFC545"/>
                    </a:solidFill>
                  </a:tcPr>
                </a:tc>
                <a:tc>
                  <a:txBody>
                    <a:bodyPr wrap="square"/>
                    <a:lstStyle/>
                    <a:p>
                      <a:pPr algn="l"/>
                      <a:r>
                        <a:rPr sz="900" b="1">
                          <a:solidFill>
                            <a:srgbClr val="202945"/>
                          </a:solidFill>
                        </a:rPr>
                        <a:t>Expected distrib. (4Q)</a:t>
                      </a:r>
                    </a:p>
                  </a:txBody>
                  <a:tcPr marL="45720" marR="45720" anchor="ctr">
                    <a:solidFill>
                      <a:srgbClr val="FFC545"/>
                    </a:solidFill>
                  </a:tcPr>
                </a:tc>
              </a:tr>
              <a:tr h="342000">
                <a:tc>
                  <a:txBody>
                    <a:bodyPr wrap="square"/>
                    <a:lstStyle/>
                    <a:p>
                      <a:pPr algn="l"/>
                      <a:r>
                        <a:rPr sz="900" b="1">
                          <a:solidFill>
                            <a:srgbClr val="202945"/>
                          </a:solidFill>
                        </a:rPr>
                        <a:t>Themis I</a:t>
                      </a:r>
                    </a:p>
                  </a:txBody>
                  <a:tcPr marL="45720" marR="45720" anchor="ctr">
                    <a:noFill/>
                  </a:tcPr>
                </a:tc>
                <a:tc>
                  <a:txBody>
                    <a:bodyPr wrap="square"/>
                    <a:lstStyle/>
                    <a:p>
                      <a:pPr algn="l"/>
                      <a:r>
                        <a:rPr sz="900" b="0">
                          <a:solidFill>
                            <a:srgbClr val="202945"/>
                          </a:solidFill>
                        </a:rPr>
                        <a:t>2020</a:t>
                      </a:r>
                    </a:p>
                  </a:txBody>
                  <a:tcPr marL="45720" marR="45720" anchor="ctr">
                    <a:noFill/>
                  </a:tcPr>
                </a:tc>
                <a:tc>
                  <a:txBody>
                    <a:bodyPr wrap="square"/>
                    <a:lstStyle/>
                    <a:p>
                      <a:pPr algn="l"/>
                      <a:r>
                        <a:rPr sz="900" b="0">
                          <a:solidFill>
                            <a:srgbClr val="202945"/>
                          </a:solidFill>
                        </a:rPr>
                        <a:t>2028</a:t>
                      </a:r>
                    </a:p>
                  </a:txBody>
                  <a:tcPr marL="45720" marR="45720" anchor="ctr">
                    <a:noFill/>
                  </a:tcPr>
                </a:tc>
                <a:tc>
                  <a:txBody>
                    <a:bodyPr wrap="square"/>
                    <a:lstStyle/>
                    <a:p>
                      <a:pPr algn="l"/>
                      <a:r>
                        <a:rPr sz="900" b="0">
                          <a:solidFill>
                            <a:srgbClr val="202945"/>
                          </a:solidFill>
                        </a:rPr>
                        <a:t>$</a:t>
                      </a:r>
                    </a:p>
                  </a:txBody>
                  <a:tcPr marL="45720" marR="45720" anchor="ctr">
                    <a:noFill/>
                  </a:tcPr>
                </a:tc>
                <a:tc>
                  <a:txBody>
                    <a:bodyPr wrap="square"/>
                    <a:lstStyle/>
                    <a:p>
                      <a:pPr algn="l"/>
                      <a:r>
                        <a:rPr sz="900" b="0">
                          <a:solidFill>
                            <a:srgbClr val="202945"/>
                          </a:solidFill>
                        </a:rPr>
                        <a:t>2026 Q1</a:t>
                      </a:r>
                    </a:p>
                  </a:txBody>
                  <a:tcPr marL="45720" marR="45720" anchor="ctr">
                    <a:noFill/>
                  </a:tcPr>
                </a:tc>
                <a:tc>
                  <a:txBody>
                    <a:bodyPr wrap="square"/>
                    <a:lstStyle/>
                    <a:p>
                      <a:pPr algn="l"/>
                      <a:r>
                        <a:rPr sz="900" b="0">
                          <a:solidFill>
                            <a:srgbClr val="202945"/>
                          </a:solidFill>
                        </a:rPr>
                        <a:t>0.98x Net TVPI</a:t>
                      </a:r>
                    </a:p>
                  </a:txBody>
                  <a:tcPr marL="45720" marR="45720" anchor="ctr">
                    <a:noFill/>
                  </a:tcPr>
                </a:tc>
                <a:tc>
                  <a:txBody>
                    <a:bodyPr wrap="square"/>
                    <a:lstStyle/>
                    <a:p>
                      <a:pPr algn="l"/>
                      <a:r>
                        <a:rPr sz="900" b="0">
                          <a:solidFill>
                            <a:srgbClr val="202945"/>
                          </a:solidFill>
                        </a:rPr>
                        <a:t>0.33x</a:t>
                      </a:r>
                    </a:p>
                  </a:txBody>
                  <a:tcPr marL="45720" marR="45720" anchor="ctr">
                    <a:noFill/>
                  </a:tcPr>
                </a:tc>
                <a:tc>
                  <a:txBody>
                    <a:bodyPr wrap="square"/>
                    <a:lstStyle/>
                    <a:p>
                      <a:pPr algn="l"/>
                      <a:r>
                        <a:rPr sz="900" b="0">
                          <a:solidFill>
                            <a:srgbClr val="202945"/>
                          </a:solidFill>
                        </a:rPr>
                        <a:t>70%</a:t>
                      </a:r>
                    </a:p>
                  </a:txBody>
                  <a:tcPr marL="45720" marR="45720" anchor="ctr">
                    <a:noFill/>
                  </a:tcPr>
                </a:tc>
                <a:tc>
                  <a:txBody>
                    <a:bodyPr wrap="square"/>
                    <a:lstStyle/>
                    <a:p>
                      <a:pPr algn="l"/>
                      <a:r>
                        <a:rPr sz="900" b="0">
                          <a:solidFill>
                            <a:srgbClr val="202945"/>
                          </a:solidFill>
                        </a:rPr>
                        <a:t>10-20%</a:t>
                      </a:r>
                    </a:p>
                  </a:txBody>
                  <a:tcPr marL="45720" marR="45720" anchor="ctr">
                    <a:noFill/>
                  </a:tcPr>
                </a:tc>
                <a:tc>
                  <a:txBody>
                    <a:bodyPr wrap="square"/>
                    <a:lstStyle/>
                    <a:p>
                      <a:pPr algn="l"/>
                      <a:r>
                        <a:rPr sz="900" b="0">
                          <a:solidFill>
                            <a:srgbClr val="202945"/>
                          </a:solidFill>
                        </a:rPr>
                        <a:t>10-20%</a:t>
                      </a:r>
                    </a:p>
                  </a:txBody>
                  <a:tcPr marL="45720" marR="45720" anchor="ctr">
                    <a:noFill/>
                  </a:tcPr>
                </a:tc>
              </a:tr>
              <a:tr h="342000">
                <a:tc>
                  <a:txBody>
                    <a:bodyPr wrap="square"/>
                    <a:lstStyle/>
                    <a:p>
                      <a:pPr algn="l"/>
                      <a:r>
                        <a:rPr sz="900" b="1">
                          <a:solidFill>
                            <a:srgbClr val="202945"/>
                          </a:solidFill>
                        </a:rPr>
                        <a:t>Left Lane CP II LP 2</a:t>
                      </a:r>
                    </a:p>
                  </a:txBody>
                  <a:tcPr marL="45720" marR="45720" anchor="ctr">
                    <a:noFill/>
                  </a:tcPr>
                </a:tc>
                <a:tc>
                  <a:txBody>
                    <a:bodyPr wrap="square"/>
                    <a:lstStyle/>
                    <a:p>
                      <a:pPr algn="l"/>
                      <a:r>
                        <a:rPr sz="900" b="0">
                          <a:solidFill>
                            <a:srgbClr val="202945"/>
                          </a:solidFill>
                        </a:rPr>
                        <a:t>2021</a:t>
                      </a:r>
                    </a:p>
                  </a:txBody>
                  <a:tcPr marL="45720" marR="45720" anchor="ctr">
                    <a:noFill/>
                  </a:tcPr>
                </a:tc>
                <a:tc>
                  <a:txBody>
                    <a:bodyPr wrap="square"/>
                    <a:lstStyle/>
                    <a:p>
                      <a:pPr algn="l"/>
                      <a:r>
                        <a:rPr sz="900" b="0">
                          <a:solidFill>
                            <a:srgbClr val="202945"/>
                          </a:solidFill>
                        </a:rPr>
                        <a:t>—</a:t>
                      </a:r>
                    </a:p>
                  </a:txBody>
                  <a:tcPr marL="45720" marR="45720" anchor="ctr">
                    <a:noFill/>
                  </a:tcPr>
                </a:tc>
                <a:tc>
                  <a:txBody>
                    <a:bodyPr wrap="square"/>
                    <a:lstStyle/>
                    <a:p>
                      <a:pPr algn="l"/>
                      <a:r>
                        <a:rPr sz="900" b="0">
                          <a:solidFill>
                            <a:srgbClr val="202945"/>
                          </a:solidFill>
                        </a:rPr>
                        <a:t>$</a:t>
                      </a:r>
                    </a:p>
                  </a:txBody>
                  <a:tcPr marL="45720" marR="45720" anchor="ctr">
                    <a:noFill/>
                  </a:tcPr>
                </a:tc>
                <a:tc>
                  <a:txBody>
                    <a:bodyPr wrap="square"/>
                    <a:lstStyle/>
                    <a:p>
                      <a:pPr algn="l"/>
                      <a:r>
                        <a:rPr sz="900" b="0">
                          <a:solidFill>
                            <a:srgbClr val="202945"/>
                          </a:solidFill>
                        </a:rPr>
                        <a:t>2026 Q1</a:t>
                      </a:r>
                    </a:p>
                  </a:txBody>
                  <a:tcPr marL="45720" marR="45720" anchor="ctr">
                    <a:noFill/>
                  </a:tcPr>
                </a:tc>
                <a:tc>
                  <a:txBody>
                    <a:bodyPr wrap="square"/>
                    <a:lstStyle/>
                    <a:p>
                      <a:pPr algn="l"/>
                      <a:r>
                        <a:rPr sz="900" b="0">
                          <a:solidFill>
                            <a:srgbClr val="202945"/>
                          </a:solidFill>
                        </a:rPr>
                        <a:t>1.60x Net MOIC</a:t>
                      </a:r>
                    </a:p>
                  </a:txBody>
                  <a:tcPr marL="45720" marR="45720" anchor="ctr">
                    <a:noFill/>
                  </a:tcPr>
                </a:tc>
                <a:tc>
                  <a:txBody>
                    <a:bodyPr wrap="square"/>
                    <a:lstStyle/>
                    <a:p>
                      <a:pPr algn="l"/>
                      <a:r>
                        <a:rPr sz="900" b="0">
                          <a:solidFill>
                            <a:srgbClr val="202945"/>
                          </a:solidFill>
                        </a:rPr>
                        <a:t>0.00x</a:t>
                      </a:r>
                    </a:p>
                  </a:txBody>
                  <a:tcPr marL="45720" marR="45720" anchor="ctr">
                    <a:noFill/>
                  </a:tcPr>
                </a:tc>
                <a:tc>
                  <a:txBody>
                    <a:bodyPr wrap="square"/>
                    <a:lstStyle/>
                    <a:p>
                      <a:pPr algn="l"/>
                      <a:r>
                        <a:rPr sz="900" b="0">
                          <a:solidFill>
                            <a:srgbClr val="202945"/>
                          </a:solidFill>
                        </a:rPr>
                        <a:t>88%</a:t>
                      </a:r>
                    </a:p>
                  </a:txBody>
                  <a:tcPr marL="45720" marR="45720" anchor="ctr">
                    <a:noFill/>
                  </a:tcPr>
                </a:tc>
                <a:tc>
                  <a:txBody>
                    <a:bodyPr wrap="square"/>
                    <a:lstStyle/>
                    <a:p>
                      <a:pPr algn="l"/>
                      <a:r>
                        <a:rPr sz="900" b="0">
                          <a:solidFill>
                            <a:srgbClr val="202945"/>
                          </a:solidFill>
                        </a:rPr>
                        <a:t>3-4% (April 2026)</a:t>
                      </a:r>
                    </a:p>
                  </a:txBody>
                  <a:tcPr marL="45720" marR="45720" anchor="ctr">
                    <a:noFill/>
                  </a:tcPr>
                </a:tc>
                <a:tc>
                  <a:txBody>
                    <a:bodyPr wrap="square"/>
                    <a:lstStyle/>
                    <a:p>
                      <a:pPr algn="l"/>
                      <a:r>
                        <a:rPr sz="900" b="0">
                          <a:solidFill>
                            <a:srgbClr val="202945"/>
                          </a:solidFill>
                        </a:rPr>
                        <a:t>Not indicated</a:t>
                      </a:r>
                    </a:p>
                  </a:txBody>
                  <a:tcPr marL="45720" marR="45720" anchor="ctr">
                    <a:noFill/>
                  </a:tcPr>
                </a:tc>
              </a:tr>
              <a:tr h="342000">
                <a:tc>
                  <a:txBody>
                    <a:bodyPr wrap="square"/>
                    <a:lstStyle/>
                    <a:p>
                      <a:pPr algn="l"/>
                      <a:r>
                        <a:rPr sz="900" b="1">
                          <a:solidFill>
                            <a:srgbClr val="202945"/>
                          </a:solidFill>
                        </a:rPr>
                        <a:t>ACE Buyout III</a:t>
                      </a:r>
                    </a:p>
                  </a:txBody>
                  <a:tcPr marL="45720" marR="45720" anchor="ctr">
                    <a:noFill/>
                  </a:tcPr>
                </a:tc>
                <a:tc>
                  <a:txBody>
                    <a:bodyPr wrap="square"/>
                    <a:lstStyle/>
                    <a:p>
                      <a:pPr algn="l"/>
                      <a:r>
                        <a:rPr sz="900" b="0">
                          <a:solidFill>
                            <a:srgbClr val="202945"/>
                          </a:solidFill>
                        </a:rPr>
                        <a:t>2017</a:t>
                      </a:r>
                    </a:p>
                  </a:txBody>
                  <a:tcPr marL="45720" marR="45720" anchor="ctr">
                    <a:noFill/>
                  </a:tcPr>
                </a:tc>
                <a:tc>
                  <a:txBody>
                    <a:bodyPr wrap="square"/>
                    <a:lstStyle/>
                    <a:p>
                      <a:pPr algn="l"/>
                      <a:r>
                        <a:rPr sz="900" b="0">
                          <a:solidFill>
                            <a:srgbClr val="202945"/>
                          </a:solidFill>
                        </a:rPr>
                        <a:t>2027</a:t>
                      </a:r>
                    </a:p>
                  </a:txBody>
                  <a:tcPr marL="45720" marR="45720" anchor="ctr">
                    <a:noFill/>
                  </a:tcPr>
                </a:tc>
                <a:tc>
                  <a:txBody>
                    <a:bodyPr wrap="square"/>
                    <a:lstStyle/>
                    <a:p>
                      <a:pPr algn="l"/>
                      <a:r>
                        <a:rPr sz="900" b="0">
                          <a:solidFill>
                            <a:srgbClr val="202945"/>
                          </a:solidFill>
                        </a:rPr>
                        <a:t>$</a:t>
                      </a:r>
                    </a:p>
                  </a:txBody>
                  <a:tcPr marL="45720" marR="45720" anchor="ctr">
                    <a:noFill/>
                  </a:tcPr>
                </a:tc>
                <a:tc>
                  <a:txBody>
                    <a:bodyPr wrap="square"/>
                    <a:lstStyle/>
                    <a:p>
                      <a:pPr algn="l"/>
                      <a:r>
                        <a:rPr sz="900" b="0">
                          <a:solidFill>
                            <a:srgbClr val="202945"/>
                          </a:solidFill>
                        </a:rPr>
                        <a:t>2026 Q1</a:t>
                      </a:r>
                    </a:p>
                  </a:txBody>
                  <a:tcPr marL="45720" marR="45720" anchor="ctr">
                    <a:noFill/>
                  </a:tcPr>
                </a:tc>
                <a:tc>
                  <a:txBody>
                    <a:bodyPr wrap="square"/>
                    <a:lstStyle/>
                    <a:p>
                      <a:pPr algn="l"/>
                      <a:r>
                        <a:rPr sz="900" b="0">
                          <a:solidFill>
                            <a:srgbClr val="202945"/>
                          </a:solidFill>
                        </a:rPr>
                        <a:t>1.9x Gross MOIC</a:t>
                      </a:r>
                    </a:p>
                  </a:txBody>
                  <a:tcPr marL="45720" marR="45720" anchor="ctr">
                    <a:noFill/>
                  </a:tcPr>
                </a:tc>
                <a:tc>
                  <a:txBody>
                    <a:bodyPr wrap="square"/>
                    <a:lstStyle/>
                    <a:p>
                      <a:pPr algn="l"/>
                      <a:r>
                        <a:rPr sz="900" b="0">
                          <a:solidFill>
                            <a:srgbClr val="202945"/>
                          </a:solidFill>
                        </a:rPr>
                        <a:t>0.98x</a:t>
                      </a:r>
                    </a:p>
                  </a:txBody>
                  <a:tcPr marL="45720" marR="45720" anchor="ctr">
                    <a:noFill/>
                  </a:tcPr>
                </a:tc>
                <a:tc>
                  <a:txBody>
                    <a:bodyPr wrap="square"/>
                    <a:lstStyle/>
                    <a:p>
                      <a:pPr algn="l"/>
                      <a:r>
                        <a:rPr sz="900" b="0">
                          <a:solidFill>
                            <a:srgbClr val="202945"/>
                          </a:solidFill>
                        </a:rPr>
                        <a:t>98%</a:t>
                      </a:r>
                    </a:p>
                  </a:txBody>
                  <a:tcPr marL="45720" marR="45720" anchor="ctr">
                    <a:noFill/>
                  </a:tcPr>
                </a:tc>
                <a:tc>
                  <a:txBody>
                    <a:bodyPr wrap="square"/>
                    <a:lstStyle/>
                    <a:p>
                      <a:pPr algn="l"/>
                      <a:r>
                        <a:rPr sz="900" b="0">
                          <a:solidFill>
                            <a:srgbClr val="202945"/>
                          </a:solidFill>
                        </a:rPr>
                        <a:t>0%</a:t>
                      </a:r>
                    </a:p>
                  </a:txBody>
                  <a:tcPr marL="45720" marR="45720" anchor="ctr">
                    <a:noFill/>
                  </a:tcPr>
                </a:tc>
                <a:tc>
                  <a:txBody>
                    <a:bodyPr wrap="square"/>
                    <a:lstStyle/>
                    <a:p>
                      <a:pPr algn="l"/>
                      <a:r>
                        <a:rPr sz="900" b="0">
                          <a:solidFill>
                            <a:srgbClr val="202945"/>
                          </a:solidFill>
                        </a:rPr>
                        <a:t>Expected, size not indicated</a:t>
                      </a:r>
                    </a:p>
                  </a:txBody>
                  <a:tcPr marL="45720" marR="45720" anchor="ctr">
                    <a:noFill/>
                  </a:tcPr>
                </a:tc>
              </a:tr>
              <a:tr h="342000">
                <a:tc>
                  <a:txBody>
                    <a:bodyPr wrap="square"/>
                    <a:lstStyle/>
                    <a:p>
                      <a:pPr algn="l"/>
                      <a:r>
                        <a:rPr sz="900" b="1">
                          <a:solidFill>
                            <a:srgbClr val="202945"/>
                          </a:solidFill>
                        </a:rPr>
                        <a:t>ECHO</a:t>
                      </a:r>
                    </a:p>
                  </a:txBody>
                  <a:tcPr marL="45720" marR="45720" anchor="ctr">
                    <a:noFill/>
                  </a:tcPr>
                </a:tc>
                <a:tc>
                  <a:txBody>
                    <a:bodyPr wrap="square"/>
                    <a:lstStyle/>
                    <a:p>
                      <a:pPr algn="l"/>
                      <a:r>
                        <a:rPr sz="900" b="0">
                          <a:solidFill>
                            <a:srgbClr val="202945"/>
                          </a:solidFill>
                        </a:rPr>
                        <a:t>2019</a:t>
                      </a:r>
                    </a:p>
                  </a:txBody>
                  <a:tcPr marL="45720" marR="45720" anchor="ctr">
                    <a:noFill/>
                  </a:tcPr>
                </a:tc>
                <a:tc>
                  <a:txBody>
                    <a:bodyPr wrap="square"/>
                    <a:lstStyle/>
                    <a:p>
                      <a:pPr algn="l"/>
                      <a:r>
                        <a:rPr sz="900" b="0">
                          <a:solidFill>
                            <a:srgbClr val="202945"/>
                          </a:solidFill>
                        </a:rPr>
                        <a:t>2026</a:t>
                      </a:r>
                    </a:p>
                  </a:txBody>
                  <a:tcPr marL="45720" marR="45720" anchor="ctr">
                    <a:noFill/>
                  </a:tcPr>
                </a:tc>
                <a:tc>
                  <a:txBody>
                    <a:bodyPr wrap="square"/>
                    <a:lstStyle/>
                    <a:p>
                      <a:pPr algn="l"/>
                      <a:r>
                        <a:rPr sz="900" b="0">
                          <a:solidFill>
                            <a:srgbClr val="202945"/>
                          </a:solidFill>
                        </a:rPr>
                        <a:t>€</a:t>
                      </a:r>
                    </a:p>
                  </a:txBody>
                  <a:tcPr marL="45720" marR="45720" anchor="ctr">
                    <a:noFill/>
                  </a:tcPr>
                </a:tc>
                <a:tc>
                  <a:txBody>
                    <a:bodyPr wrap="square"/>
                    <a:lstStyle/>
                    <a:p>
                      <a:pPr algn="l"/>
                      <a:r>
                        <a:rPr sz="900" b="0">
                          <a:solidFill>
                            <a:srgbClr val="202945"/>
                          </a:solidFill>
                        </a:rPr>
                        <a:t>2025 Q1</a:t>
                      </a:r>
                    </a:p>
                  </a:txBody>
                  <a:tcPr marL="45720" marR="45720" anchor="ctr">
                    <a:noFill/>
                  </a:tcPr>
                </a:tc>
                <a:tc>
                  <a:txBody>
                    <a:bodyPr wrap="square"/>
                    <a:lstStyle/>
                    <a:p>
                      <a:pPr algn="l"/>
                      <a:r>
                        <a:rPr sz="900" b="0">
                          <a:solidFill>
                            <a:srgbClr val="202945"/>
                          </a:solidFill>
                        </a:rPr>
                        <a:t>0.95x Net TVPI</a:t>
                      </a:r>
                    </a:p>
                  </a:txBody>
                  <a:tcPr marL="45720" marR="45720" anchor="ctr">
                    <a:noFill/>
                  </a:tcPr>
                </a:tc>
                <a:tc>
                  <a:txBody>
                    <a:bodyPr wrap="square"/>
                    <a:lstStyle/>
                    <a:p>
                      <a:pPr algn="l"/>
                      <a:r>
                        <a:rPr sz="900" b="0">
                          <a:solidFill>
                            <a:srgbClr val="202945"/>
                          </a:solidFill>
                        </a:rPr>
                        <a:t>0.30x</a:t>
                      </a:r>
                    </a:p>
                  </a:txBody>
                  <a:tcPr marL="45720" marR="45720" anchor="ctr">
                    <a:noFill/>
                  </a:tcPr>
                </a:tc>
                <a:tc>
                  <a:txBody>
                    <a:bodyPr wrap="square"/>
                    <a:lstStyle/>
                    <a:p>
                      <a:pPr algn="l"/>
                      <a:r>
                        <a:rPr sz="900" b="0">
                          <a:solidFill>
                            <a:srgbClr val="202945"/>
                          </a:solidFill>
                        </a:rPr>
                        <a:t>66%</a:t>
                      </a:r>
                    </a:p>
                  </a:txBody>
                  <a:tcPr marL="45720" marR="45720" anchor="ctr">
                    <a:noFill/>
                  </a:tcPr>
                </a:tc>
                <a:tc>
                  <a:txBody>
                    <a:bodyPr wrap="square"/>
                    <a:lstStyle/>
                    <a:p>
                      <a:pPr algn="l"/>
                      <a:r>
                        <a:rPr sz="900" b="0">
                          <a:solidFill>
                            <a:srgbClr val="202945"/>
                          </a:solidFill>
                        </a:rPr>
                        <a:t>0%</a:t>
                      </a:r>
                    </a:p>
                  </a:txBody>
                  <a:tcPr marL="45720" marR="45720" anchor="ctr">
                    <a:noFill/>
                  </a:tcPr>
                </a:tc>
                <a:tc>
                  <a:txBody>
                    <a:bodyPr wrap="square"/>
                    <a:lstStyle/>
                    <a:p>
                      <a:pPr algn="l"/>
                      <a:r>
                        <a:rPr sz="900" b="0">
                          <a:solidFill>
                            <a:srgbClr val="202945"/>
                          </a:solidFill>
                        </a:rPr>
                        <a:t>Full distribution in 2026</a:t>
                      </a:r>
                    </a:p>
                  </a:txBody>
                  <a:tcPr marL="45720" marR="45720" anchor="ctr">
                    <a:noFill/>
                  </a:tcPr>
                </a:tc>
              </a:tr>
            </a:tbl>
          </a:graphicData>
        </a:graphic>
      </p:graphicFrame>
      <p:sp>
        <p:nvSpPr>
          <p:cNvPr id="24" name="PE Card 1"/>
          <p:cNvSpPr txBox="1"/>
          <p:nvPr/>
        </p:nvSpPr>
        <p:spPr>
          <a:xfrm>
            <a:off x="665163" y="4031999"/>
            <a:ext cx="4626000" cy="1386000"/>
          </a:xfrm>
          <a:prstGeom prst="rect">
            <a:avLst/>
          </a:prstGeom>
          <a:solidFill>
            <a:srgbClr val="F2F4F7"/>
          </a:solidFill>
          <a:ln>
            <a:noFill/>
          </a:ln>
        </p:spPr>
        <p:txBody>
          <a:bodyPr wrap="square" lIns="144000" rIns="144000" tIns="108000" bIns="108000">
            <a:spAutoFit/>
          </a:bodyPr>
          <a:lstStyle/>
          <a:p>
            <a:pPr>
              <a:spcAft>
                <a:spcPts val="300"/>
              </a:spcAft>
            </a:pPr>
            <a:r>
              <a:rPr sz="1000" b="1">
                <a:solidFill>
                  <a:srgbClr val="202945"/>
                </a:solidFill>
              </a:rPr>
              <a:t>Themis I</a:t>
            </a:r>
          </a:p>
          <a:p>
            <a:pPr>
              <a:spcAft>
                <a:spcPts val="200"/>
              </a:spcAft>
            </a:pPr>
            <a:r>
              <a:rPr sz="800" b="0">
                <a:solidFill>
                  <a:srgbClr val="202945"/>
                </a:solidFill>
              </a:rPr>
              <a:t>- 69.9% of commitments paid in at Q1-26, with a further 5% called in April. Next distribution expected Q3/Q4 2026.</a:t>
            </a:r>
          </a:p>
          <a:p>
            <a:pPr>
              <a:spcAft>
                <a:spcPts val="200"/>
              </a:spcAft>
            </a:pPr>
            <a:r>
              <a:rPr sz="800" b="0">
                <a:solidFill>
                  <a:srgbClr val="202945"/>
                </a:solidFill>
              </a:rPr>
              <a:t>- Diversified across 107 cases, 74 still ongoing — competition, commercial, class action and litigation finance in Europe, the US and Australia.</a:t>
            </a:r>
          </a:p>
          <a:p>
            <a:pPr>
              <a:spcAft>
                <a:spcPts val="200"/>
              </a:spcAft>
            </a:pPr>
            <a:r>
              <a:rPr sz="800" b="0">
                <a:solidFill>
                  <a:srgbClr val="202945"/>
                </a:solidFill>
              </a:rPr>
              <a:t>- 20 wins against 13 losses, ~$19.7m cumulative profit from resolved matters. Still largely in the maturation phase.</a:t>
            </a:r>
          </a:p>
        </p:txBody>
      </p:sp>
      <p:sp>
        <p:nvSpPr>
          <p:cNvPr id="25" name="PE Card 2"/>
          <p:cNvSpPr txBox="1"/>
          <p:nvPr/>
        </p:nvSpPr>
        <p:spPr>
          <a:xfrm>
            <a:off x="5438763" y="4031999"/>
            <a:ext cx="4626000" cy="1386000"/>
          </a:xfrm>
          <a:prstGeom prst="rect">
            <a:avLst/>
          </a:prstGeom>
          <a:solidFill>
            <a:srgbClr val="F2F4F7"/>
          </a:solidFill>
          <a:ln>
            <a:noFill/>
          </a:ln>
        </p:spPr>
        <p:txBody>
          <a:bodyPr wrap="square" lIns="144000" rIns="144000" tIns="108000" bIns="108000">
            <a:spAutoFit/>
          </a:bodyPr>
          <a:lstStyle/>
          <a:p>
            <a:pPr>
              <a:spcAft>
                <a:spcPts val="300"/>
              </a:spcAft>
            </a:pPr>
            <a:r>
              <a:rPr sz="1000" b="1">
                <a:solidFill>
                  <a:srgbClr val="202945"/>
                </a:solidFill>
              </a:rPr>
              <a:t>Left Lane CP II LP 2</a:t>
            </a:r>
          </a:p>
          <a:p>
            <a:pPr>
              <a:spcAft>
                <a:spcPts val="200"/>
              </a:spcAft>
            </a:pPr>
            <a:r>
              <a:rPr sz="800" b="0">
                <a:solidFill>
                  <a:srgbClr val="202945"/>
                </a:solidFill>
              </a:rPr>
              <a:t>- 29.6% Gross IRR / 2.0x Gross MOIC; 20.8% Net IRR / 1.6x Net MOIC.</a:t>
            </a:r>
          </a:p>
          <a:p>
            <a:pPr>
              <a:spcAft>
                <a:spcPts val="200"/>
              </a:spcAft>
            </a:pPr>
            <a:r>
              <a:rPr sz="800" b="0">
                <a:solidFill>
                  <a:srgbClr val="202945"/>
                </a:solidFill>
              </a:rPr>
              <a:t>- $1.16bn invested across 70 companies, ~$70m dry powder. $27.7m of Q1 follow-ons into 11 existing positions.</a:t>
            </a:r>
          </a:p>
          <a:p>
            <a:pPr>
              <a:spcAft>
                <a:spcPts val="200"/>
              </a:spcAft>
            </a:pPr>
            <a:r>
              <a:rPr sz="800" b="0">
                <a:solidFill>
                  <a:srgbClr val="202945"/>
                </a:solidFill>
              </a:rPr>
              <a:t>- DPI still zero; only 39 of 68 unrealised positions above cost. First exits building — Steno secondary at 2.7x, Composer acquired, Rei Do Pitaco pending.</a:t>
            </a:r>
          </a:p>
        </p:txBody>
      </p:sp>
      <p:sp>
        <p:nvSpPr>
          <p:cNvPr id="26" name="PE Card 3"/>
          <p:cNvSpPr txBox="1"/>
          <p:nvPr/>
        </p:nvSpPr>
        <p:spPr>
          <a:xfrm>
            <a:off x="665163" y="5543998"/>
            <a:ext cx="4626000" cy="1386000"/>
          </a:xfrm>
          <a:prstGeom prst="rect">
            <a:avLst/>
          </a:prstGeom>
          <a:solidFill>
            <a:srgbClr val="F2F4F7"/>
          </a:solidFill>
          <a:ln>
            <a:noFill/>
          </a:ln>
        </p:spPr>
        <p:txBody>
          <a:bodyPr wrap="square" lIns="144000" rIns="144000" tIns="108000" bIns="108000">
            <a:spAutoFit/>
          </a:bodyPr>
          <a:lstStyle/>
          <a:p>
            <a:pPr>
              <a:spcAft>
                <a:spcPts val="300"/>
              </a:spcAft>
            </a:pPr>
            <a:r>
              <a:rPr sz="1000" b="1">
                <a:solidFill>
                  <a:srgbClr val="202945"/>
                </a:solidFill>
              </a:rPr>
              <a:t>ACE Buyout III</a:t>
            </a:r>
          </a:p>
          <a:p>
            <a:pPr>
              <a:spcAft>
                <a:spcPts val="200"/>
              </a:spcAft>
            </a:pPr>
            <a:r>
              <a:rPr sz="800" b="0">
                <a:solidFill>
                  <a:srgbClr val="202945"/>
                </a:solidFill>
              </a:rPr>
              <a:t>- 1.9x Gross MOIC on $161.9m invested; $174m distributed against $177m contributed after a 6% distribution in May.</a:t>
            </a:r>
          </a:p>
          <a:p>
            <a:pPr>
              <a:spcAft>
                <a:spcPts val="200"/>
              </a:spcAft>
            </a:pPr>
            <a:r>
              <a:rPr sz="800" b="0">
                <a:solidFill>
                  <a:srgbClr val="202945"/>
                </a:solidFill>
              </a:rPr>
              <a:t>- Wide dispersion: Osaic 5.5x, Clarios 4.9x, GFL 2.7x against GoHealth 0.5x and Vesta 0.3x (in forbearance).</a:t>
            </a:r>
          </a:p>
          <a:p>
            <a:pPr>
              <a:spcAft>
                <a:spcPts val="200"/>
              </a:spcAft>
            </a:pPr>
            <a:r>
              <a:rPr sz="800" b="0">
                <a:solidFill>
                  <a:srgbClr val="202945"/>
                </a:solidFill>
              </a:rPr>
              <a:t>- Osaic continuation vehicle in process, targeting up to 50% liquidity at the 5.5x mark — the near-term catalyst.</a:t>
            </a:r>
          </a:p>
        </p:txBody>
      </p:sp>
      <p:sp>
        <p:nvSpPr>
          <p:cNvPr id="27" name="PE Card 4"/>
          <p:cNvSpPr txBox="1"/>
          <p:nvPr/>
        </p:nvSpPr>
        <p:spPr>
          <a:xfrm>
            <a:off x="5438763" y="5543998"/>
            <a:ext cx="4626000" cy="1386000"/>
          </a:xfrm>
          <a:prstGeom prst="rect">
            <a:avLst/>
          </a:prstGeom>
          <a:solidFill>
            <a:srgbClr val="F2F4F7"/>
          </a:solidFill>
          <a:ln>
            <a:noFill/>
          </a:ln>
        </p:spPr>
        <p:txBody>
          <a:bodyPr wrap="square" lIns="144000" rIns="144000" tIns="108000" bIns="108000">
            <a:spAutoFit/>
          </a:bodyPr>
          <a:lstStyle/>
          <a:p>
            <a:pPr>
              <a:spcAft>
                <a:spcPts val="300"/>
              </a:spcAft>
            </a:pPr>
            <a:r>
              <a:rPr sz="1000" b="1">
                <a:solidFill>
                  <a:srgbClr val="202945"/>
                </a:solidFill>
              </a:rPr>
              <a:t>ECHO</a:t>
            </a:r>
          </a:p>
          <a:p>
            <a:pPr>
              <a:spcAft>
                <a:spcPts val="200"/>
              </a:spcAft>
            </a:pPr>
            <a:r>
              <a:rPr sz="800" b="0">
                <a:solidFill>
                  <a:srgbClr val="202945"/>
                </a:solidFill>
              </a:rPr>
              <a:t>- Two hotels left in the portfolio, in Vienna and Amsterdam. Both will probably sell below NAV.</a:t>
            </a:r>
          </a:p>
          <a:p>
            <a:pPr>
              <a:spcAft>
                <a:spcPts val="200"/>
              </a:spcAft>
            </a:pPr>
            <a:r>
              <a:rPr sz="800" b="0">
                <a:solidFill>
                  <a:srgbClr val="202945"/>
                </a:solidFill>
              </a:rPr>
              <a:t>- Full distribution expected in 2026; the fund reaches the end of its term this year.</a:t>
            </a:r>
          </a:p>
          <a:p>
            <a:pPr>
              <a:spcAft>
                <a:spcPts val="200"/>
              </a:spcAft>
            </a:pPr>
            <a:r>
              <a:rPr sz="800" b="0">
                <a:solidFill>
                  <a:srgbClr val="202945"/>
                </a:solidFill>
              </a:rPr>
              <a:t>- Awaiting information from the liquidator. Figures are as at Q1 2025, a year older than the other three funds.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10.0.17763.0"/>
  <p:tag name="AS_RELEASE_DATE" val="2022.02.14"/>
  <p:tag name="AS_TITLE" val="Aspose.Slides for .NET 4.0"/>
  <p:tag name="AS_VERSION" val="22.2"/>
  <p:tag name="BOTTOMMARGIN" val="41,3"/>
  <p:tag name="COLUMNSGUTTER" val="5,4"/>
  <p:tag name="COLUMNSNUMBER" val="1"/>
  <p:tag name="LEFTMARGIN" val="18,5"/>
  <p:tag name="MARGINSIZEUNIT" val="mm"/>
  <p:tag name="RIGHTMARGIN" val="17,3"/>
  <p:tag name="ROWSGUTTER" val="5,4"/>
  <p:tag name="ROWSNUMBER" val="1"/>
  <p:tag name="TEMPLATEFULLNAMETAG" val="Syz Template Selector"/>
  <p:tag name="TEMPLATESHORTNAMETAG" val="Syz Template Selector"/>
  <p:tag name="THINKCELLUNDODONOTDELETE" val="0"/>
  <p:tag name="TOPMARGIN" val="77,8"/>
  <p:tag name="UNIQUEMARGIN" val="False"/>
  <p:tag name="UPSLIDE" val="Ban02538_Syz_05-30-2022"/>
  <p:tag name="UPSLIDEPRINTFACINGPAGESDESIGN" val="SYZ"/>
  <p:tag name="UPSLIDEPRINTFACINGPAGESLAYOUT" val="Cover"/>
  <p:tag name="UPSLIDETOCALGOID" val="Standard"/>
  <p:tag name="UPSLIDETOCMASTERID" val="SYZ - New Branding 202112 16 2020"/>
  <p:tag name="UPSLIDETOCMASTERLASTEDITIONDATE" val="637515950111483232"/>
  <p:tag name="UPSLIDETOCMASTERNAME" val="SYZ - New Branding 2021"/>
  <p:tag name="UPSLIDETOCOPTIONS" val="&lt;?xml version=&quot;1.0&quot; encoding=&quot;utf-16&quot;?&gt;&#10;&lt;TocContentOptions xmlns:xsd=&quot;http://www.w3.org/2001/XMLSchema&quot; xmlns:xsi=&quot;http://www.w3.org/2001/XMLSchema-instance&quot;&gt;&#10;  &lt;TocSlidesOptions&gt;&#10;    &lt;ContainsSubSectionTitles&gt;true&lt;/ContainsSubSectionTitles&gt;&#10;    &lt;ContainsSlideTitles&gt;false&lt;/ContainsSlideTitles&gt;&#10;    &lt;ContainsParentLessSlidesTitles&gt;false&lt;/ContainsParentLessSlidesTitles&gt;&#10;    &lt;ContainsPrentLessSubsections&gt;false&lt;/ContainsPrentLessSubsections&gt;&#10;    &lt;ContainsAppendix&gt;true&lt;/ContainsAppendix&gt;&#10;    &lt;ContainsUnNumberedSections&gt;true&lt;/ContainsUnNumberedSections&gt;&#10;    &lt;SlideTitle /&gt;&#10;  &lt;/TocSlidesOptions&gt;&#10;  &lt;SectionSlideOptions&gt;&#10;    &lt;ContainsOwnSubSection&gt;true&lt;/ContainsOwnSubSection&gt;&#10;    &lt;ContainsOwnSlide&gt;false&lt;/ContainsOwnSlide&gt;&#10;    &lt;ContainsOtherSections&gt;true&lt;/ContainsOtherSections&gt;&#10;    &lt;ContainsOthersSubsection&gt;false&lt;/ContainsOthersSubsection&gt;&#10;    &lt;containsAppendix&gt;true&lt;/containsAppendix&gt;&#10;    &lt;containsUnnumberedSections&gt;true&lt;/containsUnnumberedSections&gt;&#10;    &lt;SlideTitle /&gt;&#10;  &lt;/SectionSlideOptions&gt;&#10;  &lt;SubSectionSlideOptions&gt;&#10;    &lt;ContainsOtherSubsections&gt;false&lt;/ContainsOtherSubsections&gt;&#10;    &lt;ContainsOwnSlides&gt;false&lt;/ContainsOwnSlides&gt;&#10;    &lt;ContainsParentSection&gt;false&lt;/ContainsParentSection&gt;&#10;    &lt;ContainsOtherSections&gt;false&lt;/ContainsOtherSections&gt;&#10;    &lt;containsAppendix&gt;false&lt;/containsAppendix&gt;&#10;    &lt;containsUnnumberedSections&gt;false&lt;/containsUnnumberedSections&gt;&#10;    &lt;SlideTitle /&gt;&#10;  &lt;/SubSectionSlideOptions&gt;&#10;  &lt;UsedSlideLayouts&gt;&#10;    &lt;TocSlidesLayout&gt;&#10;      &lt;DesignName&gt;SYZ&lt;/DesignName&gt;&#10;      &lt;LayoutName&gt;Agenda&lt;/LayoutName&gt;&#10;    &lt;/TocSlidesLayout&gt;&#10;    &lt;SectionLayout&gt;&#10;      &lt;DesignName&gt;SYZ&lt;/DesignName&gt;&#10;      &lt;LayoutName&gt;Agenda&lt;/LayoutName&gt;&#10;    &lt;/SectionLayout&gt;&#10;    &lt;SubsectionLayout&gt;&#10;      &lt;DesignName&gt;SYZ&lt;/DesignName&gt;&#10;      &lt;LayoutName&gt;Agenda&lt;/LayoutName&gt;&#10;    &lt;/SubsectionLayout&gt;&#10;    &lt;AppendixLayout&gt;&#10;      &lt;DesignName /&gt;&#10;      &lt;LayoutName /&gt;&#10;    &lt;/AppendixLayout&gt;&#10;    &lt;TitleSliLayout&gt;&#10;      &lt;DesignName&gt;SYZ&lt;/DesignName&gt;&#10;      &lt;LayoutName&gt;Cover (Default)&lt;/LayoutName&gt;&#10;    &lt;/TitleSliLayout&gt;&#10;  &lt;/UsedSlideLayouts&gt;&#10;  &lt;ActiveReminders&gt;&#10;    &lt;MigrationVersion&gt;6.8.22.1&lt;/MigrationVersion&gt;&#10;  &lt;/ActiveReminders&gt;&#10;  &lt;HardRefreshRequired&gt;true&lt;/HardRefreshRequired&gt;&#10;  &lt;CustomAlgoOptions&gt;&#10;    &lt;CustomBaseAlgoOptions&gt;&#10;      &lt;UseSlideTitleAsSubSectionMarker&gt;false&lt;/UseSlideTitleAsSubSectionMarker&gt;&#10;      &lt;SlideTitleAsSectionMarker&gt;&#10;        &lt;UseTitleAsReminder&gt;false&lt;/UseTitleAsReminder&gt;&#10;      &lt;/SlideTitleAsSectionMarker&gt;&#10;      &lt;ShowSectionNums&gt;true&lt;/ShowSectionNums&gt;&#10;      &lt;ShowSlideIndex&gt;false&lt;/ShowSlideIndex&gt;&#10;      &lt;myColorOfNonCurrentItems&gt;&#10;        &lt;UseFixedColor&gt;true&lt;/UseFixedColor&gt;&#10;        &lt;R&gt;167&lt;/R&gt;&#10;        &lt;G&gt;168&lt;/G&gt;&#10;        &lt;B&gt;169&lt;/B&gt;&#10;      &lt;/myColorOfNonCurrentItems&gt;&#10;      &lt;currentItemFormat&gt;&#10;        &lt;UseBanner&gt;false&lt;/UseBanner&gt;&#10;        &lt;BannerFillR&gt;0&lt;/BannerFillR&gt;&#10;        &lt;BannerFillG&gt;0&lt;/BannerFillG&gt;&#10;        &lt;BannerFillB&gt;0&lt;/BannerFillB&gt;&#10;        &lt;ForceBold&gt;true&lt;/ForceBold&gt;&#10;        &lt;ApplyToSubSections&gt;true&lt;/ApplyToSubSections&gt;&#10;        &lt;ApplyToSectionsOnSubSectionDividers&gt;true&lt;/ApplyToSectionsOnSubSectionDividers&gt;&#10;        &lt;UseSubSecSpecificBanner&gt;false&lt;/UseSubSecSpecificBanner&gt;&#10;        &lt;SubSecBannerFillR&gt;0&lt;/SubSecBannerFillR&gt;&#10;        &lt;SubSecBannerFillG&gt;0&lt;/SubSecBannerFillG&gt;&#10;        &lt;SubSecBannerFillB&gt;0&lt;/SubSecBannerFillB&gt;&#10;      &lt;/currentItemFormat&gt;&#10;      &lt;nonCurrentItemAttenuation&gt;&#10;        &lt;Shading&gt;0&lt;/Shading&gt;&#10;      &lt;/nonCurrentItemAttenuation&gt;&#10;      &lt;ForceDisplayTOCOnTwocolumns&gt;false&lt;/ForceDisplayTOCOnTwocolumns&gt;&#10;      &lt;DisplayTOCOnTwocolumns&gt;false&lt;/DisplayTOCOnTwocolumns&gt;&#10;      &lt;Scripts&gt;&#10;        &lt;BeforeSubSecTitle /&gt;&#10;        &lt;BeforeSlideIndex /&gt;&#10;        &lt;AfterSecNum /&gt;&#10;        &lt;BeforeSecNum&gt;0&lt;/BeforeSecNum&gt;&#10;        &lt;AfterSubSecNum /&gt;&#10;        &lt;BeforeSubSecNum&gt;0&lt;/BeforeSubSecNum&gt;&#10;      &lt;/Scripts&gt;&#10;      &lt;Lines&gt;&#10;        &lt;UseLineBelowSections&gt;false&lt;/UseLineBelowSections&gt;&#10;        &lt;LineBelowSection&gt;&#10;          &lt;XOffset&gt;0&lt;/XOffset&gt;&#10;          &lt;YOffset&gt;0&lt;/YOffset&gt;&#10;          &lt;Weight&gt;0&lt;/Weight&gt;&#10;          &lt;R&gt;0&lt;/R&gt;&#10;          &lt;G&gt;0&lt;/G&gt;&#10;          &lt;B&gt;0&lt;/B&gt;&#10;          &lt;LineStyle&gt;1&lt;/LineStyle&gt;&#10;        &lt;/LineBelowSection&gt;&#10;      &lt;/Lines&gt;&#10;      &lt;ManVerticalSpacing&gt;&#10;        &lt;UseManualSpacing&gt;true&lt;/UseManualSpacing&gt;&#10;        &lt;ManualSpacing&gt;&#10;          &lt;SpaceBeforeSections&gt;4.25&lt;/SpaceBeforeSections&gt;&#10;          &lt;SpaceBeforeSubSections&gt;3&lt;/SpaceBeforeSubSections&gt;&#10;          &lt;SpaceBeforeSlides&gt;3&lt;/SpaceBeforeSlides&gt;&#10;        &lt;/ManualSpacing&gt;&#10;        &lt;ManualSpacingSections&gt;&#10;          &lt;SpaceBeforeSections&gt;4.25&lt;/SpaceBeforeSections&gt;&#10;          &lt;SpaceBeforeSubSections&gt;3&lt;/SpaceBeforeSubSections&gt;&#10;          &lt;SpaceBeforeSlides&gt;3&lt;/SpaceBeforeSlides&gt;&#10;        &lt;/ManualSpacingSections&gt;&#10;        &lt;ManualSpacingSubSections&gt;&#10;          &lt;SpaceBeforeSections&gt;18.1855736&lt;/SpaceBeforeSections&gt;&#10;          &lt;SpaceBeforeSubSections&gt;12.1237164&lt;/SpaceBeforeSubSections&gt;&#10;          &lt;SpaceBeforeSlides&gt;6.061858&lt;/SpaceBeforeSlides&gt;&#10;        &lt;/ManualSpacingSubSections&gt;&#10;        &lt;UseSpecificSpacingForSecDivider&gt;true&lt;/UseSpecificSpacingForSecDivider&gt;&#10;        &lt;UseSpecificSpacingForSubSecDivider&gt;false&lt;/UseSpecificSpacingForSubSecDivider&gt;&#10;      &lt;/ManVerticalSpacing&gt;&#10;    &lt;/CustomBaseAlgoOptions&gt;&#10;  &lt;/CustomAlgoOptions&gt;&#10;  &lt;UserPresentationOptions&gt;&#10;    &lt;SubSectionsHaveSlide xsi:nil=&quot;true&quot; /&gt;&#10;    &lt;SectionDividersContainOwnSubSections xsi:nil=&quot;true&quot; /&gt;&#10;    &lt;SectionDividersContainOwnSlideTitles xsi:nil=&quot;true&quot; /&gt;&#10;    &lt;SubSectionDividersContainOwnSlideTitles xsi:nil=&quot;true&quot; /&gt;&#10;    &lt;TOCSlidesContainSubsectionTitles xsi:nil=&quot;true&quot; /&gt;&#10;    &lt;TOCSlidesContainSlideTitles xsi:nil=&quot;true&quot; /&gt;&#10;    &lt;DisplayRemindersOnSlides&gt;true&lt;/DisplayRemindersOnSlides&gt;&#10;    &lt;SectionsHaveSlide&gt;true&lt;/SectionsHaveSlide&gt;&#10;    &lt;DoNotCountHiddenSlidesInPagination&gt;false&lt;/DoNotCountHiddenSlidesInPagination&gt;&#10;  &lt;/UserPresentationOptions&gt;&#10;  &lt;XmlSubSectionsHaveSlide&gt;false&lt;/XmlSubSectionsHaveSlide&gt;&#10;  &lt;AllowDuplicateTitleSlides&gt;true&lt;/AllowDuplicateTitleSlides&gt;&#10;  &lt;ShowEmptySlideTitles&gt;false&lt;/ShowEmptySlideTitles&gt;&#10;  &lt;NumberingOption&gt;&#10;    &lt;NumType&gt;FullArabic&lt;/NumType&gt;&#10;  &lt;/NumberingOption&gt;&#10;  &lt;NumberingOptionForAppendix&gt;&#10;    &lt;NumType&gt;FullArabic&lt;/NumType&gt;&#10;  &lt;/NumberingOptionForAppendix&gt;&#10;&lt;/TocContentOptions&gt;"/>
  <p:tag name="UPSLIDEVERSION" val="6.8.22.1"/>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AFSPANMODE" val="span"/>
</p:tagLst>
</file>

<file path=ppt/tags/tag4.xml><?xml version="1.0" encoding="utf-8"?>
<p:tagLst xmlns:a="http://schemas.openxmlformats.org/drawingml/2006/main" xmlns:r="http://schemas.openxmlformats.org/officeDocument/2006/relationships" xmlns:p="http://schemas.openxmlformats.org/presentationml/2006/main">
  <p:tag name="AFSPANMODE" val="span"/>
</p:tagLst>
</file>

<file path=ppt/tags/tag5.xml><?xml version="1.0" encoding="utf-8"?>
<p:tagLst xmlns:a="http://schemas.openxmlformats.org/drawingml/2006/main" xmlns:r="http://schemas.openxmlformats.org/officeDocument/2006/relationships" xmlns:p="http://schemas.openxmlformats.org/presentationml/2006/main">
  <p:tag name="AFSPANMODE" val="span"/>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UPSLIDESLIDELIBITEMEDITIONDATE" val="637880173275917213"/>
  <p:tag name="UPSLIDESLIDELIBITEMINSERTIONID" val="1f21fdea-9d2c-4c07-bdd5-97533c8dc00f"/>
  <p:tag name="UPSLIDESLIDELIBITEMLASTCREATOR" val="pbaldauf"/>
  <p:tag name="UPSLIDESLIDELIBITEMNAME" val="Syz as a Service"/>
  <p:tag name="UPSLIDESLIDELIBRARYITEMID" val="e7743891-734a-492d-9569-7fbcce3068e4"/>
  <p:tag name="UPSLIDESLIDELIBRARYITEMPARTINDEX" val="11"/>
  <p:tag name="UPSLIDESTOREDSLIDELOCATION" val="\\fangio.intrasyz.org\newdistrib\upslide\library\Independent Managers\SaaS OCIO - May 2022.pptlib"/>
</p:tagLst>
</file>

<file path=ppt/tags/tag8.xml><?xml version="1.0" encoding="utf-8"?>
<p:tagLst xmlns:a="http://schemas.openxmlformats.org/drawingml/2006/main" xmlns:r="http://schemas.openxmlformats.org/officeDocument/2006/relationships" xmlns:p="http://schemas.openxmlformats.org/presentationml/2006/main">
  <p:tag name="NAME" val="1"/>
</p:tagLst>
</file>

<file path=ppt/tags/tag9.xml><?xml version="1.0" encoding="utf-8"?>
<p:tagLst xmlns:a="http://schemas.openxmlformats.org/drawingml/2006/main" xmlns:r="http://schemas.openxmlformats.org/officeDocument/2006/relationships" xmlns:p="http://schemas.openxmlformats.org/presentationml/2006/main">
  <p:tag name="UPSLIDESHAPELIBITEMEDITIONDATE" val="636989849337108269"/>
  <p:tag name="UPSLIDESHAPELIBITEMID" val="7cc08c91-0d5e-46f4-aa4f-c478997526c5"/>
  <p:tag name="UPSLIDESHAPELIBITEMLASTCREATOR" val="mateer"/>
  <p:tag name="UPSLIDESHAPELIBITEMNAME" val="Person"/>
  <p:tag name="UPSLIDESTOREDSHAPELOCATION" val="\\fscap01\courrier\upslide\library\_Branding\Icons\People.lib"/>
</p:tagLst>
</file>

<file path=ppt/tags/tag10.xml><?xml version="1.0" encoding="utf-8"?>
<p:tagLst xmlns:a="http://schemas.openxmlformats.org/drawingml/2006/main" xmlns:r="http://schemas.openxmlformats.org/officeDocument/2006/relationships" xmlns:p="http://schemas.openxmlformats.org/presentationml/2006/main">
  <p:tag name="UPSLIDESHAPELIBITEMEDITIONDATE" val="636989849336848969"/>
  <p:tag name="UPSLIDESHAPELIBITEMID" val="8764d29a-946e-44b3-8266-865cc6597a9e"/>
  <p:tag name="UPSLIDESHAPELIBITEMLASTCREATOR" val="mateer"/>
  <p:tag name="UPSLIDESHAPELIBITEMNAME" val="Group add"/>
  <p:tag name="UPSLIDESTOREDSHAPELOCATION" val="\\fscap01\courrier\upslide\library\_Branding\Icons\People.lib"/>
</p:tagLst>
</file>

<file path=ppt/theme/theme1.xml><?xml version="1.0" encoding="utf-8"?>
<a:theme xmlns:a="http://schemas.openxmlformats.org/drawingml/2006/main" name="SYZ">
  <a:themeElements>
    <a:clrScheme name="Syz 2024">
      <a:dk1>
        <a:srgbClr val="000000"/>
      </a:dk1>
      <a:lt1>
        <a:srgbClr val="FFFFFF"/>
      </a:lt1>
      <a:dk2>
        <a:srgbClr val="202945"/>
      </a:dk2>
      <a:lt2>
        <a:srgbClr val="FFC545"/>
      </a:lt2>
      <a:accent1>
        <a:srgbClr val="79D6FF"/>
      </a:accent1>
      <a:accent2>
        <a:srgbClr val="3BAF90"/>
      </a:accent2>
      <a:accent3>
        <a:srgbClr val="FFA400"/>
      </a:accent3>
      <a:accent4>
        <a:srgbClr val="FF6C0E"/>
      </a:accent4>
      <a:accent5>
        <a:srgbClr val="AC5D85"/>
      </a:accent5>
      <a:accent6>
        <a:srgbClr val="4B5F80"/>
      </a:accent6>
      <a:hlink>
        <a:srgbClr val="FF6C0E"/>
      </a:hlink>
      <a:folHlink>
        <a:srgbClr val="79D6FF"/>
      </a:folHlink>
    </a:clrScheme>
    <a:fontScheme name="SYZ 2021">
      <a:majorFont>
        <a:latin typeface="Nunito Sans ExtraBold"/>
        <a:ea typeface="Nunito Sans ExtraBold"/>
        <a:cs typeface="Arial"/>
      </a:majorFont>
      <a:minorFont>
        <a:latin typeface="Nunito Sans"/>
        <a:ea typeface="Nunito Sans"/>
        <a:cs typeface="Arial"/>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vert="horz" wrap="square" lIns="0" tIns="0" rIns="0" bIns="0" rtlCol="0">
        <a:noAutofit/>
      </a:bodyPr>
      <a:lstStyle>
        <a:defPPr algn="l">
          <a:defRPr sz="1400" dirty="0" err="1" smtClean="0"/>
        </a:defPPr>
      </a:lstStyle>
    </a:txDef>
  </a:objectDefaults>
  <a:extraClrSchemeLst/>
  <a:custClrLst>
    <a:custClr name="Yellow">
      <a:srgbClr val="FFA400"/>
    </a:custClr>
    <a:custClr name="Grey Blue">
      <a:srgbClr val="4B5F80"/>
    </a:custClr>
    <a:custClr name="Light Orange">
      <a:srgbClr val="FF8300"/>
    </a:custClr>
    <a:custClr name="Red">
      <a:srgbClr val="EE3B2A"/>
    </a:custClr>
    <a:custClr name="Pink">
      <a:srgbClr val="EB3F8E"/>
    </a:custClr>
    <a:custClr name="Blue Violet">
      <a:srgbClr val="7C83C7"/>
    </a:custClr>
    <a:custClr name="Mint">
      <a:srgbClr val="00CEB0"/>
    </a:custClr>
    <a:custClr name="Gold">
      <a:srgbClr val="AA9561"/>
    </a:custClr>
  </a:custClrLst>
  <a:extLst>
    <a:ext uri="{05A4C25C-085E-4340-85A3-A5531E510DB2}">
      <thm15:themeFamily xmlns:thm15="http://schemas.microsoft.com/office/thememl/2012/main" name="Presentation1" id="{B3B8F48F-1018-4A2D-8D2B-9C960F482D4D}" vid="{D40E8840-519A-42E4-95FC-493740DADA0F}"/>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Calibri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Calibri"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Calibri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Calibri"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dd2fe0a4-d3ef-4bed-b6e7-3a585006b1c3">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6D1D05210C2F64187D216D26E3F0B6F" ma:contentTypeVersion="14" ma:contentTypeDescription="Create a new document." ma:contentTypeScope="" ma:versionID="b4cfa6d9fdd4a2e4307bb8fd413d16ec">
  <xsd:schema xmlns:xsd="http://www.w3.org/2001/XMLSchema" xmlns:xs="http://www.w3.org/2001/XMLSchema" xmlns:p="http://schemas.microsoft.com/office/2006/metadata/properties" xmlns:ns1="http://schemas.microsoft.com/sharepoint/v3" xmlns:ns2="dd2fe0a4-d3ef-4bed-b6e7-3a585006b1c3" targetNamespace="http://schemas.microsoft.com/office/2006/metadata/properties" ma:root="true" ma:fieldsID="1f886a3054b7d63501bf347a79a4f3df" ns1:_="" ns2:_="">
    <xsd:import namespace="http://schemas.microsoft.com/sharepoint/v3"/>
    <xsd:import namespace="dd2fe0a4-d3ef-4bed-b6e7-3a585006b1c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ServiceOCR" minOccurs="0"/>
                <xsd:element ref="ns2:MediaLengthInSeconds" minOccurs="0"/>
                <xsd:element ref="ns1:_ip_UnifiedCompliancePolicyProperties" minOccurs="0"/>
                <xsd:element ref="ns1:_ip_UnifiedCompliancePolicyUIAction" minOccurs="0"/>
                <xsd:element ref="ns2:MediaServiceLocation" minOccurs="0"/>
                <xsd:element ref="ns2:lcf76f155ced4ddcb4097134ff3c332f"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d2fe0a4-d3ef-4bed-b6e7-3a585006b1c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5" nillable="true" ma:displayName="MediaLengthInSeconds" ma:hidden="true" ma:internalName="MediaLengthInSeconds" ma:readOnly="true">
      <xsd:simpleType>
        <xsd:restriction base="dms:Unknown"/>
      </xsd:simpleType>
    </xsd:element>
    <xsd:element name="MediaServiceLocation" ma:index="18" nillable="true" ma:displayName="Location" ma:description="" ma:indexed="true" ma:internalName="MediaServiceLocation"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7db05547-f467-46b2-afe8-b2299a9b6da0" ma:termSetId="09814cd3-568e-fe90-9814-8d621ff8fb84" ma:anchorId="fba54fb3-c3e1-fe81-a776-ca4b69148c4d" ma:open="tru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79325FC-7DD1-46F3-BA35-F1155CED6762}">
  <ds:schemaRefs>
    <ds:schemaRef ds:uri="http://schemas.microsoft.com/sharepoint/v3/contenttype/forms"/>
  </ds:schemaRefs>
</ds:datastoreItem>
</file>

<file path=customXml/itemProps2.xml><?xml version="1.0" encoding="utf-8"?>
<ds:datastoreItem xmlns:ds="http://schemas.openxmlformats.org/officeDocument/2006/customXml" ds:itemID="{94C4076E-6B4E-457A-9634-0B8020DC6A3B}">
  <ds:schemaRefs>
    <ds:schemaRef ds:uri="http://schemas.microsoft.com/office/2006/documentManagement/types"/>
    <ds:schemaRef ds:uri="dd2fe0a4-d3ef-4bed-b6e7-3a585006b1c3"/>
    <ds:schemaRef ds:uri="http://schemas.microsoft.com/office/2006/metadata/properties"/>
    <ds:schemaRef ds:uri="http://schemas.openxmlformats.org/package/2006/metadata/core-properties"/>
    <ds:schemaRef ds:uri="http://schemas.microsoft.com/office/infopath/2007/PartnerControls"/>
    <ds:schemaRef ds:uri="http://purl.org/dc/terms/"/>
    <ds:schemaRef ds:uri="http://purl.org/dc/elements/1.1/"/>
    <ds:schemaRef ds:uri="http://schemas.microsoft.com/sharepoint/v3"/>
    <ds:schemaRef ds:uri="http://www.w3.org/XML/1998/namespace"/>
    <ds:schemaRef ds:uri="http://purl.org/dc/dcmitype/"/>
  </ds:schemaRefs>
</ds:datastoreItem>
</file>

<file path=customXml/itemProps3.xml><?xml version="1.0" encoding="utf-8"?>
<ds:datastoreItem xmlns:ds="http://schemas.openxmlformats.org/officeDocument/2006/customXml" ds:itemID="{CE8252FF-B06B-43A8-8AF6-570744A2869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dd2fe0a4-d3ef-4bed-b6e7-3a585006b1c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d026e4c1-5892-497a-b9da-ee493c9f0364}" enabled="0" method="" siteId="{d026e4c1-5892-497a-b9da-ee493c9f0364}" removed="1"/>
</clbl:labelList>
</file>

<file path=docProps/app.xml><?xml version="1.0" encoding="utf-8"?>
<Properties xmlns="http://schemas.openxmlformats.org/officeDocument/2006/extended-properties" xmlns:vt="http://schemas.openxmlformats.org/officeDocument/2006/docPropsVTypes">
  <Template>blank</Template>
  <TotalTime>0</TotalTime>
  <Words>4939</Words>
  <Application>Microsoft Office PowerPoint</Application>
  <PresentationFormat>Custom</PresentationFormat>
  <Paragraphs>1054</Paragraphs>
  <Slides>36</Slides>
  <Notes>9</Notes>
  <HiddenSlides>0</HiddenSlides>
  <MMClips>0</MMClips>
  <ScaleCrop>false</ScaleCrop>
  <HeadingPairs>
    <vt:vector size="8" baseType="variant">
      <vt:variant>
        <vt:lpstr>Fonts Used</vt:lpstr>
      </vt:variant>
      <vt:variant>
        <vt:i4>14</vt:i4>
      </vt:variant>
      <vt:variant>
        <vt:lpstr>Theme</vt:lpstr>
      </vt:variant>
      <vt:variant>
        <vt:i4>1</vt:i4>
      </vt:variant>
      <vt:variant>
        <vt:lpstr>Embedded OLE Servers</vt:lpstr>
      </vt:variant>
      <vt:variant>
        <vt:i4>1</vt:i4>
      </vt:variant>
      <vt:variant>
        <vt:lpstr>Slide Titles</vt:lpstr>
      </vt:variant>
      <vt:variant>
        <vt:i4>36</vt:i4>
      </vt:variant>
    </vt:vector>
  </HeadingPairs>
  <TitlesOfParts>
    <vt:vector size="52" baseType="lpstr">
      <vt:lpstr>DengXian</vt:lpstr>
      <vt:lpstr>Lucida</vt:lpstr>
      <vt:lpstr>Maison Neue Light Italic</vt:lpstr>
      <vt:lpstr>Urbane Bold</vt:lpstr>
      <vt:lpstr>Aptos</vt:lpstr>
      <vt:lpstr>Arial</vt:lpstr>
      <vt:lpstr>Calibri</vt:lpstr>
      <vt:lpstr>Cambria</vt:lpstr>
      <vt:lpstr>Lucida Sans</vt:lpstr>
      <vt:lpstr>Nunito</vt:lpstr>
      <vt:lpstr>Nunito Sans</vt:lpstr>
      <vt:lpstr>Nunito Sans Black</vt:lpstr>
      <vt:lpstr>Nunito Sans ExtraBold</vt:lpstr>
      <vt:lpstr>Wingdings 3</vt:lpstr>
      <vt:lpstr>SYZ</vt:lpstr>
      <vt:lpstr>think-cell Slide</vt:lpstr>
      <vt:lpstr>Investment Proposal </vt:lpstr>
      <vt:lpstr>PowerPoint Presentation</vt:lpstr>
      <vt:lpstr>How markets moved last week</vt:lpstr>
      <vt:lpstr>What drove the move: four forces</vt:lpstr>
      <vt:lpstr>Our economic scenario</vt:lpstr>
      <vt:lpstr>Our current investment views</vt:lpstr>
      <vt:lpstr>PowerPoint Presentation</vt:lpstr>
      <vt:lpstr>Portfolio strategies across the (risk - return) trade-off</vt:lpstr>
      <vt:lpstr>Proposed portfolio: cash and fixed income</vt:lpstr>
      <vt:lpstr>Proposed portfolio: equity, alternatives and commodities</vt:lpstr>
      <vt:lpstr>Portfolio overview</vt:lpstr>
      <vt:lpstr>Geographic &amp; sector exposure</vt:lpstr>
      <vt:lpstr>Fixed Income: income-type specifics</vt:lpstr>
      <vt:lpstr>PowerPoint Presentation</vt:lpstr>
      <vt:lpstr>Equities: income-type specifics</vt:lpstr>
      <vt:lpstr>PowerPoint Presentation</vt:lpstr>
      <vt:lpstr>Alternatives: income-type specifics</vt:lpstr>
      <vt:lpstr>Commodities</vt:lpstr>
      <vt:lpstr>Structured products</vt:lpstr>
      <vt:lpstr>Liquidity profile</vt:lpstr>
      <vt:lpstr>Concentration &amp; top holdings</vt:lpstr>
      <vt:lpstr>Income &amp; interest-rate sensitivity</vt:lpstr>
      <vt:lpstr>Appendix</vt:lpstr>
      <vt:lpstr>PowerPoint Presentation</vt:lpstr>
      <vt:lpstr>The house view: tactical asset allocation</vt:lpstr>
      <vt:lpstr>Your Virtual team of Experts </vt:lpstr>
      <vt:lpstr>Our Investment Universe</vt:lpstr>
      <vt:lpstr>Alternative Investments Opportunities </vt:lpstr>
      <vt:lpstr>Syz Advisory Services : Our offering for your needs  </vt:lpstr>
      <vt:lpstr>Our Value Proposition - Advisory Expert</vt:lpstr>
      <vt:lpstr>Fixed Income – BNY Mellon Global Short Dated High Yield Fund </vt:lpstr>
      <vt:lpstr>Introducing the UBS Swiss Income Equity Fund (CHF)</vt:lpstr>
      <vt:lpstr>Fund’s characteristics </vt:lpstr>
      <vt:lpstr>Introducing the Schroder US Large Cap Fund (USD)</vt:lpstr>
      <vt:lpstr>Fund’s characteristics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Vincent Lambert</dc:creator>
  <cp:lastModifiedBy>Assia Driss</cp:lastModifiedBy>
  <cp:revision>3</cp:revision>
  <cp:lastPrinted>2024-09-04T14:35:26Z</cp:lastPrinted>
  <dcterms:created xsi:type="dcterms:W3CDTF">2026-08-13T09:29:30Z</dcterms:created>
  <dcterms:modified xsi:type="dcterms:W3CDTF">2026-08-18T07:57:33Z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0x01010036D1D05210C2F64187D216D26E3F0B6F</vt:lpwstr>
  </property>
  <property fmtid="{D5CDD505-2E9C-101B-9397-08002B2CF9AE}" pid="3" name="LINKTEK-CHUNK-1">
    <vt:lpwstr>010021{"F":2,"I":"51FC-251D-9A34-0BAC"}</vt:lpwstr>
  </property>
  <property fmtid="{D5CDD505-2E9C-101B-9397-08002B2CF9AE}" pid="4" name="MediaServiceImageTags">
    <vt:lpwstr/>
  </property>
  <property fmtid="{D5CDD505-2E9C-101B-9397-08002B2CF9AE}" pid="5" name="MSIP_Label_0a1a20d1-d9ec-454a-bae3-fbfdced94e84_ActionId">
    <vt:lpwstr>99d58f59-bc11-4a83-9639-92b884b394e5</vt:lpwstr>
  </property>
  <property fmtid="{D5CDD505-2E9C-101B-9397-08002B2CF9AE}" pid="6" name="MSIP_Label_0a1a20d1-d9ec-454a-bae3-fbfdced94e84_ContentBits">
    <vt:lpwstr>0</vt:lpwstr>
  </property>
  <property fmtid="{D5CDD505-2E9C-101B-9397-08002B2CF9AE}" pid="7" name="MSIP_Label_0a1a20d1-d9ec-454a-bae3-fbfdced94e84_Enabled">
    <vt:lpwstr>true</vt:lpwstr>
  </property>
  <property fmtid="{D5CDD505-2E9C-101B-9397-08002B2CF9AE}" pid="8" name="MSIP_Label_0a1a20d1-d9ec-454a-bae3-fbfdced94e84_Method">
    <vt:lpwstr>Privileged</vt:lpwstr>
  </property>
  <property fmtid="{D5CDD505-2E9C-101B-9397-08002B2CF9AE}" pid="9" name="MSIP_Label_0a1a20d1-d9ec-454a-bae3-fbfdced94e84_Name">
    <vt:lpwstr>C0-Public</vt:lpwstr>
  </property>
  <property fmtid="{D5CDD505-2E9C-101B-9397-08002B2CF9AE}" pid="10" name="MSIP_Label_0a1a20d1-d9ec-454a-bae3-fbfdced94e84_SetDate">
    <vt:lpwstr>2024-11-06T14:01:58Z</vt:lpwstr>
  </property>
  <property fmtid="{D5CDD505-2E9C-101B-9397-08002B2CF9AE}" pid="11" name="MSIP_Label_0a1a20d1-d9ec-454a-bae3-fbfdced94e84_SiteId">
    <vt:lpwstr>00137d3d-3556-4d89-bdd6-8cf30cc386e2</vt:lpwstr>
  </property>
  <property fmtid="{D5CDD505-2E9C-101B-9397-08002B2CF9AE}" pid="12" name="MSIP_Label_c4f60076-b082-445a-b1ef-a2dfddfd9d55_ActionId">
    <vt:lpwstr>91272aa2-e663-4e06-96ff-f506c65a425d</vt:lpwstr>
  </property>
  <property fmtid="{D5CDD505-2E9C-101B-9397-08002B2CF9AE}" pid="13" name="MSIP_Label_c4f60076-b082-445a-b1ef-a2dfddfd9d55_ContentBits">
    <vt:lpwstr>0</vt:lpwstr>
  </property>
  <property fmtid="{D5CDD505-2E9C-101B-9397-08002B2CF9AE}" pid="14" name="MSIP_Label_c4f60076-b082-445a-b1ef-a2dfddfd9d55_Enabled">
    <vt:lpwstr>true</vt:lpwstr>
  </property>
  <property fmtid="{D5CDD505-2E9C-101B-9397-08002B2CF9AE}" pid="15" name="MSIP_Label_c4f60076-b082-445a-b1ef-a2dfddfd9d55_Method">
    <vt:lpwstr>Standard</vt:lpwstr>
  </property>
  <property fmtid="{D5CDD505-2E9C-101B-9397-08002B2CF9AE}" pid="16" name="MSIP_Label_c4f60076-b082-445a-b1ef-a2dfddfd9d55_Name">
    <vt:lpwstr>C2-Confidential</vt:lpwstr>
  </property>
  <property fmtid="{D5CDD505-2E9C-101B-9397-08002B2CF9AE}" pid="17" name="MSIP_Label_c4f60076-b082-445a-b1ef-a2dfddfd9d55_SetDate">
    <vt:lpwstr>2023-03-14T08:09:43Z</vt:lpwstr>
  </property>
  <property fmtid="{D5CDD505-2E9C-101B-9397-08002B2CF9AE}" pid="18" name="MSIP_Label_c4f60076-b082-445a-b1ef-a2dfddfd9d55_SiteId">
    <vt:lpwstr>7460684c-d2b3-4e8d-b436-2d0df6ff5988</vt:lpwstr>
  </property>
  <property fmtid="{D5CDD505-2E9C-101B-9397-08002B2CF9AE}" pid="19" name="Order">
    <vt:r8>100</vt:r8>
  </property>
</Properties>
</file>