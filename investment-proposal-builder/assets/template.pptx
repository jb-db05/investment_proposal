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147377579" r:id="rId35"/>
    <p:sldId id="3162" r:id="rId36"/>
    <p:sldId id="2147377546" r:id="rId37"/>
    <p:sldId id="2147377580" r:id="rId38"/>
    <p:sldId id="3161" r:id="rId39"/>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fscap01.ad.syzgroup.com\dept\WM\INVS\Team\Nevine\222.xlsx" TargetMode="External"/></Relationships>
</file>

<file path=ppt/charts/_rels/chart19.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7.xlsx"/></Relationships>
</file>

<file path=ppt/charts/_rels/chart20.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oleObject" Target="https://syzerland.sharepoint.com/sites/DEPT-Investment/Shared%20Documents/General/Team/Nevine/swiss%20income%20.xlsx" TargetMode="External"/></Relationships>
</file>

<file path=ppt/charts/_rels/chart21.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themeOverride" Target="../theme/themeOverride1.xml"/><Relationship Id="rId4" Type="http://schemas.openxmlformats.org/officeDocument/2006/relationships/package" Target="../embeddings/Microsoft_Excel_Worksheet18.xlsx"/><Relationship Id="rId5" Type="http://schemas.openxmlformats.org/officeDocument/2006/relationships/chartUserShapes" Target="../drawings/drawing1.xml"/></Relationships>
</file>

<file path=ppt/charts/_rels/chart22.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oleObject" Target="../embeddings/oleObject3.bin"/></Relationships>
</file>

<file path=ppt/charts/_rels/chart23.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oleObject" Target="https://syzerland.sharepoint.com/sites/DEPT-Investment/Shared%20Documents/General/Team/Nevine/Book1.xlsx" TargetMode="External"/></Relationships>
</file>

<file path=ppt/charts/_rels/chart24.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themeOverride" Target="../theme/themeOverride2.xml"/><Relationship Id="rId4" Type="http://schemas.openxmlformats.org/officeDocument/2006/relationships/package" Target="../embeddings/Microsoft_Excel_Worksheet19.xlsx"/><Relationship Id="rId5" Type="http://schemas.openxmlformats.org/officeDocument/2006/relationships/chartUserShapes" Target="../drawings/drawing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Sheet1!$A$2:$A$6</c:f>
              <c:strCache>
                <c:ptCount val="5"/>
                <c:pt idx="0">
                  <c:v>Fixed Income  55%</c:v>
                </c:pt>
                <c:pt idx="1">
                  <c:v>Equities  26%</c:v>
                </c:pt>
                <c:pt idx="2">
                  <c:v>Alternatives  8%</c:v>
                </c:pt>
                <c:pt idx="3">
                  <c:v>Cash  5%</c:v>
                </c:pt>
                <c:pt idx="4">
                  <c:v>Commodities  5%</c:v>
                </c:pt>
              </c:strCache>
            </c:strRef>
          </c:cat>
          <c:val>
            <c:numRef>
              <c:f>Sheet1!$B$2:$B$6</c:f>
              <c:numCache>
                <c:formatCode>General</c:formatCode>
                <c:ptCount val="5"/>
                <c:pt idx="0">
                  <c:v>0.55440767206902586</c:v>
                </c:pt>
                <c:pt idx="1">
                  <c:v>0.2628036999846402</c:v>
                </c:pt>
                <c:pt idx="2">
                  <c:v>7.9000004577186547E-2</c:v>
                </c:pt>
                <c:pt idx="3">
                  <c:v>5.3788620472193828E-2</c:v>
                </c:pt>
                <c:pt idx="4">
                  <c:v>5.0000002896953499E-2</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Sheet1!$A$2:$A$5</c:f>
              <c:strCache>
                <c:ptCount val="4"/>
                <c:pt idx="0">
                  <c:v>USD  94%</c:v>
                </c:pt>
                <c:pt idx="1">
                  <c:v>EUR  3%</c:v>
                </c:pt>
                <c:pt idx="2">
                  <c:v>CHF  2%</c:v>
                </c:pt>
                <c:pt idx="3">
                  <c:v>JPY  1%</c:v>
                </c:pt>
              </c:strCache>
            </c:strRef>
          </c:cat>
          <c:val>
            <c:numRef>
              <c:f>Sheet1!$B$2:$B$5</c:f>
              <c:numCache>
                <c:formatCode>General</c:formatCode>
                <c:ptCount val="4"/>
                <c:pt idx="0">
                  <c:v>0.94267385742594012</c:v>
                </c:pt>
                <c:pt idx="1">
                  <c:v>2.5153268131258073E-2</c:v>
                </c:pt>
                <c:pt idx="2">
                  <c:v>2.0127667942303078E-2</c:v>
                </c:pt>
                <c:pt idx="3">
                  <c:v>1.2045206500498638E-2</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Global</c:v>
                </c:pt>
                <c:pt idx="1">
                  <c:v>MEA EM</c:v>
                </c:pt>
                <c:pt idx="2">
                  <c:v>US</c:v>
                </c:pt>
                <c:pt idx="3">
                  <c:v>Europe DM</c:v>
                </c:pt>
                <c:pt idx="4">
                  <c:v>Japan</c:v>
                </c:pt>
              </c:strCache>
            </c:strRef>
          </c:cat>
          <c:val>
            <c:numRef>
              <c:f>Sheet1!$B$2:$B$6</c:f>
              <c:numCache>
                <c:formatCode>General</c:formatCode>
                <c:ptCount val="5"/>
                <c:pt idx="0">
                  <c:v>0.31327594252215857</c:v>
                </c:pt>
                <c:pt idx="1">
                  <c:v>0.27518859723836719</c:v>
                </c:pt>
                <c:pt idx="2">
                  <c:v>0.25450730046020115</c:v>
                </c:pt>
                <c:pt idx="3">
                  <c:v>0.14498295327877442</c:v>
                </c:pt>
                <c:pt idx="4">
                  <c:v>1.2045206500498638E-2</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Diversified</c:v>
                </c:pt>
                <c:pt idx="1">
                  <c:v>Financials</c:v>
                </c:pt>
                <c:pt idx="2">
                  <c:v>Materials</c:v>
                </c:pt>
                <c:pt idx="3">
                  <c:v>Consumer Disc</c:v>
                </c:pt>
                <c:pt idx="4">
                  <c:v>Energy</c:v>
                </c:pt>
                <c:pt idx="5">
                  <c:v>Utilities</c:v>
                </c:pt>
                <c:pt idx="6">
                  <c:v>Commodities</c:v>
                </c:pt>
                <c:pt idx="7">
                  <c:v>Health Care</c:v>
                </c:pt>
              </c:strCache>
            </c:strRef>
          </c:cat>
          <c:val>
            <c:numRef>
              <c:f>Sheet1!$B$2:$B$9</c:f>
              <c:numCache>
                <c:formatCode>General</c:formatCode>
                <c:ptCount val="8"/>
                <c:pt idx="0">
                  <c:v>0.42237638939016992</c:v>
                </c:pt>
                <c:pt idx="1">
                  <c:v>0.11160719789498831</c:v>
                </c:pt>
                <c:pt idx="2">
                  <c:v>6.1891432157360385E-2</c:v>
                </c:pt>
                <c:pt idx="3">
                  <c:v>5.6725860429500556E-2</c:v>
                </c:pt>
                <c:pt idx="4">
                  <c:v>5.6382817552482103E-2</c:v>
                </c:pt>
                <c:pt idx="5">
                  <c:v>5.5823717520088377E-2</c:v>
                </c:pt>
                <c:pt idx="6">
                  <c:v>5.0000002896953499E-2</c:v>
                </c:pt>
                <c:pt idx="7">
                  <c:v>4.7750002766590596E-2</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52%</c:v>
                </c:pt>
                <c:pt idx="1">
                  <c:v>Fund  33%</c:v>
                </c:pt>
                <c:pt idx="2">
                  <c:v>Structured / AMC  15%</c:v>
                </c:pt>
              </c:strCache>
            </c:strRef>
          </c:cat>
          <c:val>
            <c:numRef>
              <c:f>Sheet1!$B$2:$B$4</c:f>
              <c:numCache>
                <c:formatCode>General</c:formatCode>
                <c:ptCount val="3"/>
                <c:pt idx="0">
                  <c:v>0.52324777801029698</c:v>
                </c:pt>
                <c:pt idx="1">
                  <c:v>0.32630897744983961</c:v>
                </c:pt>
                <c:pt idx="2">
                  <c:v>0.15044324453986341</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geography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cat>
            <c:strRef>
              <c:f>Sheet1!$A$2:$A$7</c:f>
              <c:strCache>
                <c:ptCount val="6"/>
                <c:pt idx="0">
                  <c:v>United States</c:v>
                </c:pt>
                <c:pt idx="1">
                  <c:v>France</c:v>
                </c:pt>
                <c:pt idx="2">
                  <c:v>Luxembourg</c:v>
                </c:pt>
                <c:pt idx="3">
                  <c:v>Ireland</c:v>
                </c:pt>
                <c:pt idx="4">
                  <c:v>Japan</c:v>
                </c:pt>
                <c:pt idx="5">
                  <c:v>United Kingdom</c:v>
                </c:pt>
              </c:strCache>
            </c:strRef>
          </c:cat>
          <c:val>
            <c:numRef>
              <c:f>Sheet1!$B$2:$B$7</c:f>
              <c:numCache>
                <c:formatCode>General</c:formatCode>
                <c:ptCount val="6"/>
                <c:pt idx="0">
                  <c:v>16.666699999999999</c:v>
                </c:pt>
                <c:pt idx="1">
                  <c:v>16.666699999999999</c:v>
                </c:pt>
                <c:pt idx="2">
                  <c:v>16.666699999999999</c:v>
                </c:pt>
                <c:pt idx="3">
                  <c:v>16.666699999999999</c:v>
                </c:pt>
                <c:pt idx="4">
                  <c:v>16.666699999999999</c:v>
                </c:pt>
                <c:pt idx="5">
                  <c:v>16.666699999999999</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sector</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Sheet1!$A$2:$A$4</c:f>
              <c:strCache>
                <c:ptCount val="3"/>
                <c:pt idx="0">
                  <c:v>Finance</c:v>
                </c:pt>
                <c:pt idx="1">
                  <c:v>Non-Energy Minerals</c:v>
                </c:pt>
                <c:pt idx="2">
                  <c:v>Communications</c:v>
                </c:pt>
              </c:strCache>
            </c:strRef>
          </c:cat>
          <c:val>
            <c:numRef>
              <c:f>Sheet1!$B$2:$B$4</c:f>
              <c:numCache>
                <c:formatCode>General</c:formatCode>
                <c:ptCount val="3"/>
                <c:pt idx="0">
                  <c:v>66.666700000000006</c:v>
                </c:pt>
                <c:pt idx="1">
                  <c:v>16.666699999999999</c:v>
                </c:pt>
                <c:pt idx="2">
                  <c:v>16.666699999999999</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maturity</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cat>
            <c:strRef>
              <c:f>Sheet1!$A$2:$A$4</c:f>
              <c:strCache>
                <c:ptCount val="3"/>
                <c:pt idx="0">
                  <c:v>0 - 3 years</c:v>
                </c:pt>
                <c:pt idx="1">
                  <c:v>3 - 5 years</c:v>
                </c:pt>
                <c:pt idx="2">
                  <c:v>5 - 7 years</c:v>
                </c:pt>
              </c:strCache>
            </c:strRef>
          </c:cat>
          <c:val>
            <c:numRef>
              <c:f>Sheet1!$B$2:$B$4</c:f>
              <c:numCache>
                <c:formatCode>General</c:formatCode>
                <c:ptCount val="3"/>
                <c:pt idx="0">
                  <c:v>16.666699999999999</c:v>
                </c:pt>
                <c:pt idx="1">
                  <c:v>66.666700000000006</c:v>
                </c:pt>
                <c:pt idx="2">
                  <c:v>16.666699999999999</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credit quality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cat>
            <c:strRef>
              <c:f>Sheet1!$A$2:$A$6</c:f>
              <c:strCache>
                <c:ptCount val="5"/>
                <c:pt idx="0">
                  <c:v>A+</c:v>
                </c:pt>
                <c:pt idx="1">
                  <c:v>A-</c:v>
                </c:pt>
                <c:pt idx="2">
                  <c:v>BBB+</c:v>
                </c:pt>
                <c:pt idx="3">
                  <c:v>BBB</c:v>
                </c:pt>
                <c:pt idx="4">
                  <c:v>BB+</c:v>
                </c:pt>
              </c:strCache>
            </c:strRef>
          </c:cat>
          <c:val>
            <c:numRef>
              <c:f>Sheet1!$B$2:$B$6</c:f>
              <c:numCache>
                <c:formatCode>General</c:formatCode>
                <c:ptCount val="5"/>
                <c:pt idx="0">
                  <c:v>16.666699999999999</c:v>
                </c:pt>
                <c:pt idx="1">
                  <c:v>16.666699999999999</c:v>
                </c:pt>
                <c:pt idx="2">
                  <c:v>33.333300000000001</c:v>
                </c:pt>
                <c:pt idx="3">
                  <c:v>16.666699999999999</c:v>
                </c:pt>
                <c:pt idx="4">
                  <c:v>16.666699999999999</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ETF  6%</c:v>
                </c:pt>
              </c:strCache>
            </c:strRef>
          </c:cat>
          <c:val>
            <c:numRef>
              <c:f>Sheet1!$B$2:$B$3</c:f>
              <c:numCache>
                <c:formatCode>General</c:formatCode>
                <c:ptCount val="2"/>
                <c:pt idx="0">
                  <c:v>0.94491117763918775</c:v>
                </c:pt>
                <c:pt idx="1">
                  <c:v>5.5088822360812188E-2</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geography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Europe ex-Switzerland</c:v>
                </c:pt>
                <c:pt idx="1">
                  <c:v>Global / thematic</c:v>
                </c:pt>
                <c:pt idx="2">
                  <c:v>Switzerland</c:v>
                </c:pt>
                <c:pt idx="3">
                  <c:v>United States</c:v>
                </c:pt>
                <c:pt idx="4">
                  <c:v>China</c:v>
                </c:pt>
              </c:strCache>
            </c:strRef>
          </c:cat>
          <c:val>
            <c:numRef>
              <c:f>Sheet1!$B$2:$B$6</c:f>
              <c:numCache>
                <c:formatCode>General</c:formatCode>
                <c:ptCount val="5"/>
                <c:pt idx="0">
                  <c:v>38.076999999999998</c:v>
                </c:pt>
                <c:pt idx="1">
                  <c:v>30.248000000000001</c:v>
                </c:pt>
                <c:pt idx="2">
                  <c:v>18.984000000000002</c:v>
                </c:pt>
                <c:pt idx="3">
                  <c:v>6.6379999999999999</c:v>
                </c:pt>
                <c:pt idx="4">
                  <c:v>6.0529999999999999</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sector</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Sheet1!$A$2:$A$6</c:f>
              <c:strCache>
                <c:ptCount val="5"/>
                <c:pt idx="0">
                  <c:v>Electronic Technology</c:v>
                </c:pt>
                <c:pt idx="1">
                  <c:v>Multi-sector funds</c:v>
                </c:pt>
                <c:pt idx="2">
                  <c:v>Finance</c:v>
                </c:pt>
                <c:pt idx="3">
                  <c:v>Non-Energy Minerals</c:v>
                </c:pt>
                <c:pt idx="4">
                  <c:v>Other</c:v>
                </c:pt>
              </c:strCache>
            </c:strRef>
          </c:cat>
          <c:val>
            <c:numRef>
              <c:f>Sheet1!$B$2:$B$6</c:f>
              <c:numCache>
                <c:formatCode>General</c:formatCode>
                <c:ptCount val="5"/>
                <c:pt idx="0">
                  <c:v>27.869</c:v>
                </c:pt>
                <c:pt idx="1">
                  <c:v>24.521999999999998</c:v>
                </c:pt>
                <c:pt idx="2">
                  <c:v>22.504000000000001</c:v>
                </c:pt>
                <c:pt idx="3">
                  <c:v>12.253</c:v>
                </c:pt>
                <c:pt idx="4">
                  <c:v>12.852</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market cap</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Sheet1!$A$2:$A$4</c:f>
              <c:strCache>
                <c:ptCount val="3"/>
                <c:pt idx="0">
                  <c:v>Large cap</c:v>
                </c:pt>
                <c:pt idx="1">
                  <c:v>Mid cap</c:v>
                </c:pt>
                <c:pt idx="2">
                  <c:v>Small cap</c:v>
                </c:pt>
              </c:strCache>
            </c:strRef>
          </c:cat>
          <c:val>
            <c:numRef>
              <c:f>Sheet1!$B$2:$B$4</c:f>
              <c:numCache>
                <c:formatCode>General</c:formatCode>
                <c:ptCount val="3"/>
                <c:pt idx="0">
                  <c:v>88.495000000000005</c:v>
                </c:pt>
                <c:pt idx="1">
                  <c:v>9.76</c:v>
                </c:pt>
                <c:pt idx="2">
                  <c:v>1.7450000000000001</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Structured / AMC  100%</c:v>
                </c:pt>
              </c:strCache>
            </c:strRef>
          </c:cat>
          <c:val>
            <c:numRef>
              <c:f>Sheet1!$B$2:$B$2</c:f>
              <c:numCache>
                <c:formatCode>General</c:formatCode>
                <c:ptCount val="1"/>
                <c:pt idx="0">
                  <c:v>1</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Structured / AMC  100%</c:v>
                </c:pt>
              </c:strCache>
            </c:strRef>
          </c:cat>
          <c:val>
            <c:numRef>
              <c:f>Sheet1!$B$2:$B$2</c:f>
              <c:numCache>
                <c:formatCode>General</c:formatCode>
                <c:ptCount val="1"/>
                <c:pt idx="0">
                  <c:v>1</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Listed  45%</c:v>
                </c:pt>
                <c:pt idx="1">
                  <c:v>Daily-liquid fund  41%</c:v>
                </c:pt>
                <c:pt idx="2">
                  <c:v>Illiquid (lock-up)  13%</c:v>
                </c:pt>
              </c:strCache>
            </c:strRef>
          </c:cat>
          <c:val>
            <c:numRef>
              <c:f>Sheet1!$B$2:$B$4</c:f>
              <c:numCache>
                <c:formatCode>General</c:formatCode>
                <c:ptCount val="3"/>
                <c:pt idx="0">
                  <c:v>0.45224988906007935</c:v>
                </c:pt>
                <c:pt idx="1">
                  <c:v>0.41385208760208309</c:v>
                </c:pt>
                <c:pt idx="2">
                  <c:v>0.13389802333783751</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900" b="1" i="0" u="none" strike="noStrike" kern="1200" spc="0" baseline="0">
                <a:solidFill>
                  <a:schemeClr val="accent2"/>
                </a:solidFill>
                <a:latin typeface="+mn-lt"/>
                <a:ea typeface="+mn-ea"/>
                <a:cs typeface="+mn-cs"/>
              </a:defRPr>
            </a:pPr>
            <a:r>
              <a:rPr lang="en-US" sz="900" b="1" kern="1200" noProof="0" dirty="0">
                <a:solidFill>
                  <a:schemeClr val="accent2"/>
                </a:solidFill>
                <a:latin typeface="+mn-lt"/>
                <a:ea typeface="+mn-ea"/>
                <a:cs typeface="+mn-cs"/>
              </a:rPr>
              <a:t>JPM Global Select  12-month performance</a:t>
            </a:r>
          </a:p>
        </c:rich>
      </c:tx>
      <c:overlay val="0"/>
      <c:spPr>
        <a:noFill/>
        <a:ln>
          <a:noFill/>
        </a:ln>
        <a:effectLst/>
      </c:spPr>
      <c:txPr>
        <a:bodyPr rot="0" spcFirstLastPara="1" vertOverflow="ellipsis" vert="horz" wrap="square" anchor="ctr" anchorCtr="1"/>
        <a:lstStyle/>
        <a:p>
          <a:pPr>
            <a:defRPr lang="en-US" sz="900" b="1" i="0" u="none" strike="noStrike" kern="1200" spc="0" baseline="0">
              <a:solidFill>
                <a:schemeClr val="accent2"/>
              </a:solidFill>
              <a:latin typeface="+mn-lt"/>
              <a:ea typeface="+mn-ea"/>
              <a:cs typeface="+mn-cs"/>
            </a:defRPr>
          </a:pPr>
          <a:endParaRPr lang="fr-FR"/>
        </a:p>
      </c:txPr>
    </c:title>
    <c:autoTitleDeleted val="0"/>
    <c:plotArea>
      <c:layout/>
      <c:lineChart>
        <c:grouping val="standard"/>
        <c:varyColors val="0"/>
        <c:dLbls>
          <c:showLegendKey val="0"/>
          <c:showVal val="0"/>
          <c:showCatName val="0"/>
          <c:showSerName val="0"/>
          <c:showPercent val="0"/>
          <c:showBubbleSize val="0"/>
        </c:dLbls>
        <c:marker val="1"/>
        <c:smooth val="0"/>
        <c:axId val="35404319"/>
        <c:axId val="35399999"/>
      </c:lineChart>
      <c:catAx>
        <c:axId val="35404319"/>
        <c:scaling>
          <c:orientation val="minMax"/>
        </c:scaling>
        <c:delete val="0"/>
        <c:axPos val="b"/>
        <c:numFmt formatCode="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fr-FR"/>
          </a:p>
        </c:txPr>
        <c:crossAx val="35399999"/>
        <c:crosses val="autoZero"/>
        <c:auto val="1"/>
        <c:lblAlgn val="ctr"/>
        <c:lblOffset val="100"/>
        <c:noMultiLvlLbl val="1"/>
      </c:catAx>
      <c:valAx>
        <c:axId val="35399999"/>
        <c:scaling>
          <c:orientation val="minMax"/>
          <c:min val="5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fr-FR"/>
          </a:p>
        </c:txPr>
        <c:crossAx val="3540431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accent2"/>
                </a:solidFill>
                <a:latin typeface="+mn-lt"/>
                <a:ea typeface="+mn-ea"/>
                <a:cs typeface="+mn-cs"/>
              </a:defRPr>
            </a:pPr>
            <a:r>
              <a:rPr lang="en-US" sz="1200" b="1" i="0" u="none" strike="noStrike" kern="1200" spc="0" baseline="0" noProof="0" dirty="0">
                <a:solidFill>
                  <a:schemeClr val="accent2"/>
                </a:solidFill>
              </a:rPr>
              <a:t>BNY Mellon Global Short Dated High Yield - annualized return  </a:t>
            </a:r>
            <a:endParaRPr lang="en-US" sz="1200" b="1" noProof="0" dirty="0">
              <a:solidFill>
                <a:schemeClr val="accent2"/>
              </a:solidFill>
            </a:endParaRPr>
          </a:p>
        </c:rich>
      </c:tx>
      <c:overlay val="0"/>
      <c:spPr>
        <a:noFill/>
        <a:ln>
          <a:noFill/>
        </a:ln>
        <a:effectLst/>
      </c:spPr>
      <c:txPr>
        <a:bodyPr rot="0" spcFirstLastPara="1" vertOverflow="ellipsis" vert="horz" wrap="square" anchor="ctr" anchorCtr="1"/>
        <a:lstStyle/>
        <a:p>
          <a:pPr>
            <a:defRPr sz="1200" b="1" i="0" u="none" strike="noStrike" kern="1200" spc="0" baseline="0">
              <a:solidFill>
                <a:schemeClr val="accent2"/>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Series 1</c:v>
                </c:pt>
              </c:strCache>
            </c:strRef>
          </c:tx>
          <c:spPr>
            <a:ln w="28575" cap="rnd">
              <a:solidFill>
                <a:schemeClr val="accent1"/>
              </a:solidFill>
              <a:round/>
            </a:ln>
            <a:effectLst/>
          </c:spPr>
          <c:marker>
            <c:symbol val="none"/>
          </c:marker>
          <c:cat>
            <c:numRef>
              <c:f>Sheet1!$A$2:$A$1233</c:f>
              <c:numCache>
                <c:formatCode>m/d/yyyy</c:formatCode>
                <c:ptCount val="1232"/>
                <c:pt idx="0">
                  <c:v>44012</c:v>
                </c:pt>
                <c:pt idx="1">
                  <c:v>44013</c:v>
                </c:pt>
                <c:pt idx="2">
                  <c:v>44014</c:v>
                </c:pt>
                <c:pt idx="3">
                  <c:v>44015</c:v>
                </c:pt>
                <c:pt idx="4">
                  <c:v>44018</c:v>
                </c:pt>
                <c:pt idx="5">
                  <c:v>44019</c:v>
                </c:pt>
                <c:pt idx="6">
                  <c:v>44020</c:v>
                </c:pt>
                <c:pt idx="7">
                  <c:v>44021</c:v>
                </c:pt>
                <c:pt idx="8">
                  <c:v>44022</c:v>
                </c:pt>
                <c:pt idx="9">
                  <c:v>44025</c:v>
                </c:pt>
                <c:pt idx="10">
                  <c:v>44026</c:v>
                </c:pt>
                <c:pt idx="11">
                  <c:v>44027</c:v>
                </c:pt>
                <c:pt idx="12">
                  <c:v>44028</c:v>
                </c:pt>
                <c:pt idx="13">
                  <c:v>44029</c:v>
                </c:pt>
                <c:pt idx="14">
                  <c:v>44032</c:v>
                </c:pt>
                <c:pt idx="15">
                  <c:v>44033</c:v>
                </c:pt>
                <c:pt idx="16">
                  <c:v>44034</c:v>
                </c:pt>
                <c:pt idx="17">
                  <c:v>44035</c:v>
                </c:pt>
                <c:pt idx="18">
                  <c:v>44036</c:v>
                </c:pt>
                <c:pt idx="19">
                  <c:v>44039</c:v>
                </c:pt>
                <c:pt idx="20">
                  <c:v>44040</c:v>
                </c:pt>
                <c:pt idx="21">
                  <c:v>44041</c:v>
                </c:pt>
                <c:pt idx="22">
                  <c:v>44042</c:v>
                </c:pt>
                <c:pt idx="23">
                  <c:v>44043</c:v>
                </c:pt>
                <c:pt idx="24">
                  <c:v>44047</c:v>
                </c:pt>
                <c:pt idx="25">
                  <c:v>44048</c:v>
                </c:pt>
                <c:pt idx="26">
                  <c:v>44049</c:v>
                </c:pt>
                <c:pt idx="27">
                  <c:v>44050</c:v>
                </c:pt>
                <c:pt idx="28">
                  <c:v>44053</c:v>
                </c:pt>
                <c:pt idx="29">
                  <c:v>44054</c:v>
                </c:pt>
                <c:pt idx="30">
                  <c:v>44055</c:v>
                </c:pt>
                <c:pt idx="31">
                  <c:v>44056</c:v>
                </c:pt>
                <c:pt idx="32">
                  <c:v>44057</c:v>
                </c:pt>
                <c:pt idx="33">
                  <c:v>44060</c:v>
                </c:pt>
                <c:pt idx="34">
                  <c:v>44061</c:v>
                </c:pt>
                <c:pt idx="35">
                  <c:v>44062</c:v>
                </c:pt>
                <c:pt idx="36">
                  <c:v>44063</c:v>
                </c:pt>
                <c:pt idx="37">
                  <c:v>44064</c:v>
                </c:pt>
                <c:pt idx="38">
                  <c:v>44067</c:v>
                </c:pt>
                <c:pt idx="39">
                  <c:v>44068</c:v>
                </c:pt>
                <c:pt idx="40">
                  <c:v>44069</c:v>
                </c:pt>
                <c:pt idx="41">
                  <c:v>44070</c:v>
                </c:pt>
                <c:pt idx="42">
                  <c:v>44071</c:v>
                </c:pt>
                <c:pt idx="43">
                  <c:v>44074</c:v>
                </c:pt>
                <c:pt idx="44">
                  <c:v>44075</c:v>
                </c:pt>
                <c:pt idx="45">
                  <c:v>44076</c:v>
                </c:pt>
                <c:pt idx="46">
                  <c:v>44077</c:v>
                </c:pt>
                <c:pt idx="47">
                  <c:v>44078</c:v>
                </c:pt>
                <c:pt idx="48">
                  <c:v>44081</c:v>
                </c:pt>
                <c:pt idx="49">
                  <c:v>44082</c:v>
                </c:pt>
                <c:pt idx="50">
                  <c:v>44083</c:v>
                </c:pt>
                <c:pt idx="51">
                  <c:v>44084</c:v>
                </c:pt>
                <c:pt idx="52">
                  <c:v>44085</c:v>
                </c:pt>
                <c:pt idx="53">
                  <c:v>44088</c:v>
                </c:pt>
                <c:pt idx="54">
                  <c:v>44089</c:v>
                </c:pt>
                <c:pt idx="55">
                  <c:v>44090</c:v>
                </c:pt>
                <c:pt idx="56">
                  <c:v>44091</c:v>
                </c:pt>
                <c:pt idx="57">
                  <c:v>44092</c:v>
                </c:pt>
                <c:pt idx="58">
                  <c:v>44095</c:v>
                </c:pt>
                <c:pt idx="59">
                  <c:v>44096</c:v>
                </c:pt>
                <c:pt idx="60">
                  <c:v>44097</c:v>
                </c:pt>
                <c:pt idx="61">
                  <c:v>44098</c:v>
                </c:pt>
                <c:pt idx="62">
                  <c:v>44099</c:v>
                </c:pt>
                <c:pt idx="63">
                  <c:v>44102</c:v>
                </c:pt>
                <c:pt idx="64">
                  <c:v>44103</c:v>
                </c:pt>
                <c:pt idx="65">
                  <c:v>44104</c:v>
                </c:pt>
                <c:pt idx="66">
                  <c:v>44105</c:v>
                </c:pt>
                <c:pt idx="67">
                  <c:v>44106</c:v>
                </c:pt>
                <c:pt idx="68">
                  <c:v>44109</c:v>
                </c:pt>
                <c:pt idx="69">
                  <c:v>44110</c:v>
                </c:pt>
                <c:pt idx="70">
                  <c:v>44111</c:v>
                </c:pt>
                <c:pt idx="71">
                  <c:v>44112</c:v>
                </c:pt>
                <c:pt idx="72">
                  <c:v>44113</c:v>
                </c:pt>
                <c:pt idx="73">
                  <c:v>44116</c:v>
                </c:pt>
                <c:pt idx="74">
                  <c:v>44117</c:v>
                </c:pt>
                <c:pt idx="75">
                  <c:v>44118</c:v>
                </c:pt>
                <c:pt idx="76">
                  <c:v>44119</c:v>
                </c:pt>
                <c:pt idx="77">
                  <c:v>44120</c:v>
                </c:pt>
                <c:pt idx="78">
                  <c:v>44123</c:v>
                </c:pt>
                <c:pt idx="79">
                  <c:v>44124</c:v>
                </c:pt>
                <c:pt idx="80">
                  <c:v>44125</c:v>
                </c:pt>
                <c:pt idx="81">
                  <c:v>44126</c:v>
                </c:pt>
                <c:pt idx="82">
                  <c:v>44127</c:v>
                </c:pt>
                <c:pt idx="83">
                  <c:v>44131</c:v>
                </c:pt>
                <c:pt idx="84">
                  <c:v>44132</c:v>
                </c:pt>
                <c:pt idx="85">
                  <c:v>44133</c:v>
                </c:pt>
                <c:pt idx="86">
                  <c:v>44134</c:v>
                </c:pt>
                <c:pt idx="87">
                  <c:v>44137</c:v>
                </c:pt>
                <c:pt idx="88">
                  <c:v>44138</c:v>
                </c:pt>
                <c:pt idx="89">
                  <c:v>44139</c:v>
                </c:pt>
                <c:pt idx="90">
                  <c:v>44140</c:v>
                </c:pt>
                <c:pt idx="91">
                  <c:v>44141</c:v>
                </c:pt>
                <c:pt idx="92">
                  <c:v>44144</c:v>
                </c:pt>
                <c:pt idx="93">
                  <c:v>44145</c:v>
                </c:pt>
                <c:pt idx="94">
                  <c:v>44146</c:v>
                </c:pt>
                <c:pt idx="95">
                  <c:v>44147</c:v>
                </c:pt>
                <c:pt idx="96">
                  <c:v>44148</c:v>
                </c:pt>
                <c:pt idx="97">
                  <c:v>44151</c:v>
                </c:pt>
                <c:pt idx="98">
                  <c:v>44152</c:v>
                </c:pt>
                <c:pt idx="99">
                  <c:v>44153</c:v>
                </c:pt>
                <c:pt idx="100">
                  <c:v>44154</c:v>
                </c:pt>
                <c:pt idx="101">
                  <c:v>44155</c:v>
                </c:pt>
                <c:pt idx="102">
                  <c:v>44158</c:v>
                </c:pt>
                <c:pt idx="103">
                  <c:v>44159</c:v>
                </c:pt>
                <c:pt idx="104">
                  <c:v>44160</c:v>
                </c:pt>
                <c:pt idx="105">
                  <c:v>44161</c:v>
                </c:pt>
                <c:pt idx="106">
                  <c:v>44162</c:v>
                </c:pt>
                <c:pt idx="107">
                  <c:v>44165</c:v>
                </c:pt>
                <c:pt idx="108">
                  <c:v>44166</c:v>
                </c:pt>
                <c:pt idx="109">
                  <c:v>44167</c:v>
                </c:pt>
                <c:pt idx="110">
                  <c:v>44168</c:v>
                </c:pt>
                <c:pt idx="111">
                  <c:v>44169</c:v>
                </c:pt>
                <c:pt idx="112">
                  <c:v>44172</c:v>
                </c:pt>
                <c:pt idx="113">
                  <c:v>44173</c:v>
                </c:pt>
                <c:pt idx="114">
                  <c:v>44174</c:v>
                </c:pt>
                <c:pt idx="115">
                  <c:v>44175</c:v>
                </c:pt>
                <c:pt idx="116">
                  <c:v>44176</c:v>
                </c:pt>
                <c:pt idx="117">
                  <c:v>44179</c:v>
                </c:pt>
                <c:pt idx="118">
                  <c:v>44180</c:v>
                </c:pt>
                <c:pt idx="119">
                  <c:v>44181</c:v>
                </c:pt>
                <c:pt idx="120">
                  <c:v>44182</c:v>
                </c:pt>
                <c:pt idx="121">
                  <c:v>44183</c:v>
                </c:pt>
                <c:pt idx="122">
                  <c:v>44186</c:v>
                </c:pt>
                <c:pt idx="123">
                  <c:v>44187</c:v>
                </c:pt>
                <c:pt idx="124">
                  <c:v>44188</c:v>
                </c:pt>
                <c:pt idx="125">
                  <c:v>44189</c:v>
                </c:pt>
                <c:pt idx="126">
                  <c:v>44194</c:v>
                </c:pt>
                <c:pt idx="127">
                  <c:v>44195</c:v>
                </c:pt>
                <c:pt idx="128">
                  <c:v>44196</c:v>
                </c:pt>
                <c:pt idx="129">
                  <c:v>44200</c:v>
                </c:pt>
                <c:pt idx="130">
                  <c:v>44201</c:v>
                </c:pt>
                <c:pt idx="131">
                  <c:v>44202</c:v>
                </c:pt>
                <c:pt idx="132">
                  <c:v>44203</c:v>
                </c:pt>
                <c:pt idx="133">
                  <c:v>44204</c:v>
                </c:pt>
                <c:pt idx="134">
                  <c:v>44207</c:v>
                </c:pt>
                <c:pt idx="135">
                  <c:v>44208</c:v>
                </c:pt>
                <c:pt idx="136">
                  <c:v>44209</c:v>
                </c:pt>
                <c:pt idx="137">
                  <c:v>44210</c:v>
                </c:pt>
                <c:pt idx="138">
                  <c:v>44211</c:v>
                </c:pt>
                <c:pt idx="139">
                  <c:v>44214</c:v>
                </c:pt>
                <c:pt idx="140">
                  <c:v>44215</c:v>
                </c:pt>
                <c:pt idx="141">
                  <c:v>44216</c:v>
                </c:pt>
                <c:pt idx="142">
                  <c:v>44217</c:v>
                </c:pt>
                <c:pt idx="143">
                  <c:v>44218</c:v>
                </c:pt>
                <c:pt idx="144">
                  <c:v>44221</c:v>
                </c:pt>
                <c:pt idx="145">
                  <c:v>44222</c:v>
                </c:pt>
                <c:pt idx="146">
                  <c:v>44223</c:v>
                </c:pt>
                <c:pt idx="147">
                  <c:v>44224</c:v>
                </c:pt>
                <c:pt idx="148">
                  <c:v>44225</c:v>
                </c:pt>
                <c:pt idx="149">
                  <c:v>44228</c:v>
                </c:pt>
                <c:pt idx="150">
                  <c:v>44229</c:v>
                </c:pt>
                <c:pt idx="151">
                  <c:v>44230</c:v>
                </c:pt>
                <c:pt idx="152">
                  <c:v>44231</c:v>
                </c:pt>
                <c:pt idx="153">
                  <c:v>44232</c:v>
                </c:pt>
                <c:pt idx="154">
                  <c:v>44235</c:v>
                </c:pt>
                <c:pt idx="155">
                  <c:v>44236</c:v>
                </c:pt>
                <c:pt idx="156">
                  <c:v>44237</c:v>
                </c:pt>
                <c:pt idx="157">
                  <c:v>44238</c:v>
                </c:pt>
                <c:pt idx="158">
                  <c:v>44239</c:v>
                </c:pt>
                <c:pt idx="159">
                  <c:v>44242</c:v>
                </c:pt>
                <c:pt idx="160">
                  <c:v>44243</c:v>
                </c:pt>
                <c:pt idx="161">
                  <c:v>44244</c:v>
                </c:pt>
                <c:pt idx="162">
                  <c:v>44245</c:v>
                </c:pt>
                <c:pt idx="163">
                  <c:v>44246</c:v>
                </c:pt>
                <c:pt idx="164">
                  <c:v>44249</c:v>
                </c:pt>
                <c:pt idx="165">
                  <c:v>44250</c:v>
                </c:pt>
                <c:pt idx="166">
                  <c:v>44251</c:v>
                </c:pt>
                <c:pt idx="167">
                  <c:v>44252</c:v>
                </c:pt>
                <c:pt idx="168">
                  <c:v>44253</c:v>
                </c:pt>
                <c:pt idx="169">
                  <c:v>44256</c:v>
                </c:pt>
                <c:pt idx="170">
                  <c:v>44257</c:v>
                </c:pt>
                <c:pt idx="171">
                  <c:v>44258</c:v>
                </c:pt>
                <c:pt idx="172">
                  <c:v>44259</c:v>
                </c:pt>
                <c:pt idx="173">
                  <c:v>44260</c:v>
                </c:pt>
                <c:pt idx="174">
                  <c:v>44263</c:v>
                </c:pt>
                <c:pt idx="175">
                  <c:v>44264</c:v>
                </c:pt>
                <c:pt idx="176">
                  <c:v>44265</c:v>
                </c:pt>
                <c:pt idx="177">
                  <c:v>44266</c:v>
                </c:pt>
                <c:pt idx="178">
                  <c:v>44267</c:v>
                </c:pt>
                <c:pt idx="179">
                  <c:v>44270</c:v>
                </c:pt>
                <c:pt idx="180">
                  <c:v>44271</c:v>
                </c:pt>
                <c:pt idx="181">
                  <c:v>44273</c:v>
                </c:pt>
                <c:pt idx="182">
                  <c:v>44274</c:v>
                </c:pt>
                <c:pt idx="183">
                  <c:v>44277</c:v>
                </c:pt>
                <c:pt idx="184">
                  <c:v>44278</c:v>
                </c:pt>
                <c:pt idx="185">
                  <c:v>44279</c:v>
                </c:pt>
                <c:pt idx="186">
                  <c:v>44280</c:v>
                </c:pt>
                <c:pt idx="187">
                  <c:v>44281</c:v>
                </c:pt>
                <c:pt idx="188">
                  <c:v>44284</c:v>
                </c:pt>
                <c:pt idx="189">
                  <c:v>44285</c:v>
                </c:pt>
                <c:pt idx="190">
                  <c:v>44286</c:v>
                </c:pt>
                <c:pt idx="191">
                  <c:v>44287</c:v>
                </c:pt>
                <c:pt idx="192">
                  <c:v>44292</c:v>
                </c:pt>
                <c:pt idx="193">
                  <c:v>44293</c:v>
                </c:pt>
                <c:pt idx="194">
                  <c:v>44294</c:v>
                </c:pt>
                <c:pt idx="195">
                  <c:v>44295</c:v>
                </c:pt>
                <c:pt idx="196">
                  <c:v>44298</c:v>
                </c:pt>
                <c:pt idx="197">
                  <c:v>44299</c:v>
                </c:pt>
                <c:pt idx="198">
                  <c:v>44300</c:v>
                </c:pt>
                <c:pt idx="199">
                  <c:v>44301</c:v>
                </c:pt>
                <c:pt idx="200">
                  <c:v>44302</c:v>
                </c:pt>
                <c:pt idx="201">
                  <c:v>44305</c:v>
                </c:pt>
                <c:pt idx="202">
                  <c:v>44306</c:v>
                </c:pt>
                <c:pt idx="203">
                  <c:v>44307</c:v>
                </c:pt>
                <c:pt idx="204">
                  <c:v>44308</c:v>
                </c:pt>
                <c:pt idx="205">
                  <c:v>44309</c:v>
                </c:pt>
                <c:pt idx="206">
                  <c:v>44312</c:v>
                </c:pt>
                <c:pt idx="207">
                  <c:v>44313</c:v>
                </c:pt>
                <c:pt idx="208">
                  <c:v>44314</c:v>
                </c:pt>
                <c:pt idx="209">
                  <c:v>44315</c:v>
                </c:pt>
                <c:pt idx="210">
                  <c:v>44316</c:v>
                </c:pt>
                <c:pt idx="211">
                  <c:v>44320</c:v>
                </c:pt>
                <c:pt idx="212">
                  <c:v>44321</c:v>
                </c:pt>
                <c:pt idx="213">
                  <c:v>44322</c:v>
                </c:pt>
                <c:pt idx="214">
                  <c:v>44323</c:v>
                </c:pt>
                <c:pt idx="215">
                  <c:v>44326</c:v>
                </c:pt>
                <c:pt idx="216">
                  <c:v>44327</c:v>
                </c:pt>
                <c:pt idx="217">
                  <c:v>44328</c:v>
                </c:pt>
                <c:pt idx="218">
                  <c:v>44329</c:v>
                </c:pt>
                <c:pt idx="219">
                  <c:v>44330</c:v>
                </c:pt>
                <c:pt idx="220">
                  <c:v>44333</c:v>
                </c:pt>
                <c:pt idx="221">
                  <c:v>44334</c:v>
                </c:pt>
                <c:pt idx="222">
                  <c:v>44335</c:v>
                </c:pt>
                <c:pt idx="223">
                  <c:v>44336</c:v>
                </c:pt>
                <c:pt idx="224">
                  <c:v>44337</c:v>
                </c:pt>
                <c:pt idx="225">
                  <c:v>44340</c:v>
                </c:pt>
                <c:pt idx="226">
                  <c:v>44341</c:v>
                </c:pt>
                <c:pt idx="227">
                  <c:v>44342</c:v>
                </c:pt>
                <c:pt idx="228">
                  <c:v>44343</c:v>
                </c:pt>
                <c:pt idx="229">
                  <c:v>44344</c:v>
                </c:pt>
                <c:pt idx="230">
                  <c:v>44347</c:v>
                </c:pt>
                <c:pt idx="231">
                  <c:v>44348</c:v>
                </c:pt>
                <c:pt idx="232">
                  <c:v>44349</c:v>
                </c:pt>
                <c:pt idx="233">
                  <c:v>44350</c:v>
                </c:pt>
                <c:pt idx="234">
                  <c:v>44351</c:v>
                </c:pt>
                <c:pt idx="235">
                  <c:v>44355</c:v>
                </c:pt>
                <c:pt idx="236">
                  <c:v>44356</c:v>
                </c:pt>
                <c:pt idx="237">
                  <c:v>44357</c:v>
                </c:pt>
                <c:pt idx="238">
                  <c:v>44358</c:v>
                </c:pt>
                <c:pt idx="239">
                  <c:v>44361</c:v>
                </c:pt>
                <c:pt idx="240">
                  <c:v>44362</c:v>
                </c:pt>
                <c:pt idx="241">
                  <c:v>44363</c:v>
                </c:pt>
                <c:pt idx="242">
                  <c:v>44364</c:v>
                </c:pt>
                <c:pt idx="243">
                  <c:v>44365</c:v>
                </c:pt>
                <c:pt idx="244">
                  <c:v>44368</c:v>
                </c:pt>
                <c:pt idx="245">
                  <c:v>44369</c:v>
                </c:pt>
                <c:pt idx="246">
                  <c:v>44370</c:v>
                </c:pt>
                <c:pt idx="247">
                  <c:v>44371</c:v>
                </c:pt>
                <c:pt idx="248">
                  <c:v>44372</c:v>
                </c:pt>
                <c:pt idx="249">
                  <c:v>44375</c:v>
                </c:pt>
                <c:pt idx="250">
                  <c:v>44376</c:v>
                </c:pt>
                <c:pt idx="251">
                  <c:v>44377</c:v>
                </c:pt>
                <c:pt idx="252">
                  <c:v>44378</c:v>
                </c:pt>
                <c:pt idx="253">
                  <c:v>44379</c:v>
                </c:pt>
                <c:pt idx="254">
                  <c:v>44382</c:v>
                </c:pt>
                <c:pt idx="255">
                  <c:v>44383</c:v>
                </c:pt>
                <c:pt idx="256">
                  <c:v>44384</c:v>
                </c:pt>
                <c:pt idx="257">
                  <c:v>44385</c:v>
                </c:pt>
                <c:pt idx="258">
                  <c:v>44386</c:v>
                </c:pt>
                <c:pt idx="259">
                  <c:v>44389</c:v>
                </c:pt>
                <c:pt idx="260">
                  <c:v>44390</c:v>
                </c:pt>
                <c:pt idx="261">
                  <c:v>44391</c:v>
                </c:pt>
                <c:pt idx="262">
                  <c:v>44392</c:v>
                </c:pt>
                <c:pt idx="263">
                  <c:v>44393</c:v>
                </c:pt>
                <c:pt idx="264">
                  <c:v>44396</c:v>
                </c:pt>
                <c:pt idx="265">
                  <c:v>44397</c:v>
                </c:pt>
                <c:pt idx="266">
                  <c:v>44398</c:v>
                </c:pt>
                <c:pt idx="267">
                  <c:v>44399</c:v>
                </c:pt>
                <c:pt idx="268">
                  <c:v>44400</c:v>
                </c:pt>
                <c:pt idx="269">
                  <c:v>44403</c:v>
                </c:pt>
                <c:pt idx="270">
                  <c:v>44404</c:v>
                </c:pt>
                <c:pt idx="271">
                  <c:v>44405</c:v>
                </c:pt>
                <c:pt idx="272">
                  <c:v>44406</c:v>
                </c:pt>
                <c:pt idx="273">
                  <c:v>44407</c:v>
                </c:pt>
                <c:pt idx="274">
                  <c:v>44411</c:v>
                </c:pt>
                <c:pt idx="275">
                  <c:v>44412</c:v>
                </c:pt>
                <c:pt idx="276">
                  <c:v>44413</c:v>
                </c:pt>
                <c:pt idx="277">
                  <c:v>44414</c:v>
                </c:pt>
                <c:pt idx="278">
                  <c:v>44417</c:v>
                </c:pt>
                <c:pt idx="279">
                  <c:v>44418</c:v>
                </c:pt>
                <c:pt idx="280">
                  <c:v>44419</c:v>
                </c:pt>
                <c:pt idx="281">
                  <c:v>44420</c:v>
                </c:pt>
                <c:pt idx="282">
                  <c:v>44421</c:v>
                </c:pt>
                <c:pt idx="283">
                  <c:v>44424</c:v>
                </c:pt>
                <c:pt idx="284">
                  <c:v>44425</c:v>
                </c:pt>
                <c:pt idx="285">
                  <c:v>44426</c:v>
                </c:pt>
                <c:pt idx="286">
                  <c:v>44427</c:v>
                </c:pt>
                <c:pt idx="287">
                  <c:v>44428</c:v>
                </c:pt>
                <c:pt idx="288">
                  <c:v>44431</c:v>
                </c:pt>
                <c:pt idx="289">
                  <c:v>44432</c:v>
                </c:pt>
                <c:pt idx="290">
                  <c:v>44433</c:v>
                </c:pt>
                <c:pt idx="291">
                  <c:v>44434</c:v>
                </c:pt>
                <c:pt idx="292">
                  <c:v>44435</c:v>
                </c:pt>
                <c:pt idx="293">
                  <c:v>44438</c:v>
                </c:pt>
                <c:pt idx="294">
                  <c:v>44439</c:v>
                </c:pt>
                <c:pt idx="295">
                  <c:v>44440</c:v>
                </c:pt>
                <c:pt idx="296">
                  <c:v>44441</c:v>
                </c:pt>
                <c:pt idx="297">
                  <c:v>44442</c:v>
                </c:pt>
                <c:pt idx="298">
                  <c:v>44445</c:v>
                </c:pt>
                <c:pt idx="299">
                  <c:v>44446</c:v>
                </c:pt>
                <c:pt idx="300">
                  <c:v>44447</c:v>
                </c:pt>
                <c:pt idx="301">
                  <c:v>44448</c:v>
                </c:pt>
                <c:pt idx="302">
                  <c:v>44449</c:v>
                </c:pt>
                <c:pt idx="303">
                  <c:v>44452</c:v>
                </c:pt>
                <c:pt idx="304">
                  <c:v>44453</c:v>
                </c:pt>
                <c:pt idx="305">
                  <c:v>44454</c:v>
                </c:pt>
                <c:pt idx="306">
                  <c:v>44455</c:v>
                </c:pt>
                <c:pt idx="307">
                  <c:v>44456</c:v>
                </c:pt>
                <c:pt idx="308">
                  <c:v>44459</c:v>
                </c:pt>
                <c:pt idx="309">
                  <c:v>44460</c:v>
                </c:pt>
                <c:pt idx="310">
                  <c:v>44461</c:v>
                </c:pt>
                <c:pt idx="311">
                  <c:v>44462</c:v>
                </c:pt>
                <c:pt idx="312">
                  <c:v>44463</c:v>
                </c:pt>
                <c:pt idx="313">
                  <c:v>44466</c:v>
                </c:pt>
                <c:pt idx="314">
                  <c:v>44467</c:v>
                </c:pt>
                <c:pt idx="315">
                  <c:v>44468</c:v>
                </c:pt>
                <c:pt idx="316">
                  <c:v>44469</c:v>
                </c:pt>
                <c:pt idx="317">
                  <c:v>44470</c:v>
                </c:pt>
                <c:pt idx="318">
                  <c:v>44473</c:v>
                </c:pt>
                <c:pt idx="319">
                  <c:v>44474</c:v>
                </c:pt>
                <c:pt idx="320">
                  <c:v>44475</c:v>
                </c:pt>
                <c:pt idx="321">
                  <c:v>44476</c:v>
                </c:pt>
                <c:pt idx="322">
                  <c:v>44477</c:v>
                </c:pt>
                <c:pt idx="323">
                  <c:v>44480</c:v>
                </c:pt>
                <c:pt idx="324">
                  <c:v>44481</c:v>
                </c:pt>
                <c:pt idx="325">
                  <c:v>44482</c:v>
                </c:pt>
                <c:pt idx="326">
                  <c:v>44483</c:v>
                </c:pt>
                <c:pt idx="327">
                  <c:v>44484</c:v>
                </c:pt>
                <c:pt idx="328">
                  <c:v>44487</c:v>
                </c:pt>
                <c:pt idx="329">
                  <c:v>44488</c:v>
                </c:pt>
                <c:pt idx="330">
                  <c:v>44489</c:v>
                </c:pt>
                <c:pt idx="331">
                  <c:v>44490</c:v>
                </c:pt>
                <c:pt idx="332">
                  <c:v>44491</c:v>
                </c:pt>
                <c:pt idx="333">
                  <c:v>44495</c:v>
                </c:pt>
                <c:pt idx="334">
                  <c:v>44496</c:v>
                </c:pt>
                <c:pt idx="335">
                  <c:v>44497</c:v>
                </c:pt>
                <c:pt idx="336">
                  <c:v>44498</c:v>
                </c:pt>
                <c:pt idx="337">
                  <c:v>44501</c:v>
                </c:pt>
                <c:pt idx="338">
                  <c:v>44502</c:v>
                </c:pt>
                <c:pt idx="339">
                  <c:v>44503</c:v>
                </c:pt>
                <c:pt idx="340">
                  <c:v>44504</c:v>
                </c:pt>
                <c:pt idx="341">
                  <c:v>44505</c:v>
                </c:pt>
                <c:pt idx="342">
                  <c:v>44508</c:v>
                </c:pt>
                <c:pt idx="343">
                  <c:v>44509</c:v>
                </c:pt>
                <c:pt idx="344">
                  <c:v>44510</c:v>
                </c:pt>
                <c:pt idx="345">
                  <c:v>44511</c:v>
                </c:pt>
                <c:pt idx="346">
                  <c:v>44512</c:v>
                </c:pt>
                <c:pt idx="347">
                  <c:v>44515</c:v>
                </c:pt>
                <c:pt idx="348">
                  <c:v>44516</c:v>
                </c:pt>
                <c:pt idx="349">
                  <c:v>44517</c:v>
                </c:pt>
                <c:pt idx="350">
                  <c:v>44518</c:v>
                </c:pt>
                <c:pt idx="351">
                  <c:v>44519</c:v>
                </c:pt>
                <c:pt idx="352">
                  <c:v>44522</c:v>
                </c:pt>
                <c:pt idx="353">
                  <c:v>44523</c:v>
                </c:pt>
                <c:pt idx="354">
                  <c:v>44524</c:v>
                </c:pt>
                <c:pt idx="355">
                  <c:v>44525</c:v>
                </c:pt>
                <c:pt idx="356">
                  <c:v>44526</c:v>
                </c:pt>
                <c:pt idx="357">
                  <c:v>44529</c:v>
                </c:pt>
                <c:pt idx="358">
                  <c:v>44530</c:v>
                </c:pt>
                <c:pt idx="359">
                  <c:v>44531</c:v>
                </c:pt>
                <c:pt idx="360">
                  <c:v>44532</c:v>
                </c:pt>
                <c:pt idx="361">
                  <c:v>44533</c:v>
                </c:pt>
                <c:pt idx="362">
                  <c:v>44536</c:v>
                </c:pt>
                <c:pt idx="363">
                  <c:v>44537</c:v>
                </c:pt>
                <c:pt idx="364">
                  <c:v>44538</c:v>
                </c:pt>
                <c:pt idx="365">
                  <c:v>44539</c:v>
                </c:pt>
                <c:pt idx="366">
                  <c:v>44540</c:v>
                </c:pt>
                <c:pt idx="367">
                  <c:v>44543</c:v>
                </c:pt>
                <c:pt idx="368">
                  <c:v>44544</c:v>
                </c:pt>
                <c:pt idx="369">
                  <c:v>44545</c:v>
                </c:pt>
                <c:pt idx="370">
                  <c:v>44546</c:v>
                </c:pt>
                <c:pt idx="371">
                  <c:v>44547</c:v>
                </c:pt>
                <c:pt idx="372">
                  <c:v>44550</c:v>
                </c:pt>
                <c:pt idx="373">
                  <c:v>44551</c:v>
                </c:pt>
                <c:pt idx="374">
                  <c:v>44552</c:v>
                </c:pt>
                <c:pt idx="375">
                  <c:v>44553</c:v>
                </c:pt>
                <c:pt idx="376">
                  <c:v>44554</c:v>
                </c:pt>
                <c:pt idx="377">
                  <c:v>44559</c:v>
                </c:pt>
                <c:pt idx="378">
                  <c:v>44560</c:v>
                </c:pt>
                <c:pt idx="379">
                  <c:v>44561</c:v>
                </c:pt>
                <c:pt idx="380">
                  <c:v>44565</c:v>
                </c:pt>
                <c:pt idx="381">
                  <c:v>44566</c:v>
                </c:pt>
                <c:pt idx="382">
                  <c:v>44567</c:v>
                </c:pt>
                <c:pt idx="383">
                  <c:v>44568</c:v>
                </c:pt>
                <c:pt idx="384">
                  <c:v>44571</c:v>
                </c:pt>
                <c:pt idx="385">
                  <c:v>44572</c:v>
                </c:pt>
                <c:pt idx="386">
                  <c:v>44573</c:v>
                </c:pt>
                <c:pt idx="387">
                  <c:v>44574</c:v>
                </c:pt>
                <c:pt idx="388">
                  <c:v>44575</c:v>
                </c:pt>
                <c:pt idx="389">
                  <c:v>44578</c:v>
                </c:pt>
                <c:pt idx="390">
                  <c:v>44579</c:v>
                </c:pt>
                <c:pt idx="391">
                  <c:v>44580</c:v>
                </c:pt>
                <c:pt idx="392">
                  <c:v>44581</c:v>
                </c:pt>
                <c:pt idx="393">
                  <c:v>44582</c:v>
                </c:pt>
                <c:pt idx="394">
                  <c:v>44585</c:v>
                </c:pt>
                <c:pt idx="395">
                  <c:v>44586</c:v>
                </c:pt>
                <c:pt idx="396">
                  <c:v>44587</c:v>
                </c:pt>
                <c:pt idx="397">
                  <c:v>44588</c:v>
                </c:pt>
                <c:pt idx="398">
                  <c:v>44589</c:v>
                </c:pt>
                <c:pt idx="399">
                  <c:v>44592</c:v>
                </c:pt>
                <c:pt idx="400">
                  <c:v>44593</c:v>
                </c:pt>
                <c:pt idx="401">
                  <c:v>44594</c:v>
                </c:pt>
                <c:pt idx="402">
                  <c:v>44595</c:v>
                </c:pt>
                <c:pt idx="403">
                  <c:v>44596</c:v>
                </c:pt>
                <c:pt idx="404">
                  <c:v>44599</c:v>
                </c:pt>
                <c:pt idx="405">
                  <c:v>44600</c:v>
                </c:pt>
                <c:pt idx="406">
                  <c:v>44601</c:v>
                </c:pt>
                <c:pt idx="407">
                  <c:v>44602</c:v>
                </c:pt>
                <c:pt idx="408">
                  <c:v>44603</c:v>
                </c:pt>
                <c:pt idx="409">
                  <c:v>44606</c:v>
                </c:pt>
                <c:pt idx="410">
                  <c:v>44607</c:v>
                </c:pt>
                <c:pt idx="411">
                  <c:v>44608</c:v>
                </c:pt>
                <c:pt idx="412">
                  <c:v>44609</c:v>
                </c:pt>
                <c:pt idx="413">
                  <c:v>44610</c:v>
                </c:pt>
                <c:pt idx="414">
                  <c:v>44613</c:v>
                </c:pt>
                <c:pt idx="415">
                  <c:v>44614</c:v>
                </c:pt>
                <c:pt idx="416">
                  <c:v>44615</c:v>
                </c:pt>
                <c:pt idx="417">
                  <c:v>44616</c:v>
                </c:pt>
                <c:pt idx="418">
                  <c:v>44617</c:v>
                </c:pt>
                <c:pt idx="419">
                  <c:v>44620</c:v>
                </c:pt>
                <c:pt idx="420">
                  <c:v>44621</c:v>
                </c:pt>
                <c:pt idx="421">
                  <c:v>44622</c:v>
                </c:pt>
                <c:pt idx="422">
                  <c:v>44623</c:v>
                </c:pt>
                <c:pt idx="423">
                  <c:v>44624</c:v>
                </c:pt>
                <c:pt idx="424">
                  <c:v>44627</c:v>
                </c:pt>
                <c:pt idx="425">
                  <c:v>44628</c:v>
                </c:pt>
                <c:pt idx="426">
                  <c:v>44629</c:v>
                </c:pt>
                <c:pt idx="427">
                  <c:v>44630</c:v>
                </c:pt>
                <c:pt idx="428">
                  <c:v>44631</c:v>
                </c:pt>
                <c:pt idx="429">
                  <c:v>44634</c:v>
                </c:pt>
                <c:pt idx="430">
                  <c:v>44635</c:v>
                </c:pt>
                <c:pt idx="431">
                  <c:v>44636</c:v>
                </c:pt>
                <c:pt idx="432">
                  <c:v>44641</c:v>
                </c:pt>
                <c:pt idx="433">
                  <c:v>44642</c:v>
                </c:pt>
                <c:pt idx="434">
                  <c:v>44643</c:v>
                </c:pt>
                <c:pt idx="435">
                  <c:v>44644</c:v>
                </c:pt>
                <c:pt idx="436">
                  <c:v>44645</c:v>
                </c:pt>
                <c:pt idx="437">
                  <c:v>44648</c:v>
                </c:pt>
                <c:pt idx="438">
                  <c:v>44649</c:v>
                </c:pt>
                <c:pt idx="439">
                  <c:v>44650</c:v>
                </c:pt>
                <c:pt idx="440">
                  <c:v>44651</c:v>
                </c:pt>
                <c:pt idx="441">
                  <c:v>44652</c:v>
                </c:pt>
                <c:pt idx="442">
                  <c:v>44655</c:v>
                </c:pt>
                <c:pt idx="443">
                  <c:v>44656</c:v>
                </c:pt>
                <c:pt idx="444">
                  <c:v>44657</c:v>
                </c:pt>
                <c:pt idx="445">
                  <c:v>44658</c:v>
                </c:pt>
                <c:pt idx="446">
                  <c:v>44659</c:v>
                </c:pt>
                <c:pt idx="447">
                  <c:v>44662</c:v>
                </c:pt>
                <c:pt idx="448">
                  <c:v>44663</c:v>
                </c:pt>
                <c:pt idx="449">
                  <c:v>44664</c:v>
                </c:pt>
                <c:pt idx="450">
                  <c:v>44665</c:v>
                </c:pt>
                <c:pt idx="451">
                  <c:v>44670</c:v>
                </c:pt>
                <c:pt idx="452">
                  <c:v>44671</c:v>
                </c:pt>
                <c:pt idx="453">
                  <c:v>44672</c:v>
                </c:pt>
                <c:pt idx="454">
                  <c:v>44673</c:v>
                </c:pt>
                <c:pt idx="455">
                  <c:v>44676</c:v>
                </c:pt>
                <c:pt idx="456">
                  <c:v>44677</c:v>
                </c:pt>
                <c:pt idx="457">
                  <c:v>44678</c:v>
                </c:pt>
                <c:pt idx="458">
                  <c:v>44679</c:v>
                </c:pt>
                <c:pt idx="459">
                  <c:v>44680</c:v>
                </c:pt>
                <c:pt idx="460">
                  <c:v>44684</c:v>
                </c:pt>
                <c:pt idx="461">
                  <c:v>44685</c:v>
                </c:pt>
                <c:pt idx="462">
                  <c:v>44686</c:v>
                </c:pt>
                <c:pt idx="463">
                  <c:v>44687</c:v>
                </c:pt>
                <c:pt idx="464">
                  <c:v>44690</c:v>
                </c:pt>
                <c:pt idx="465">
                  <c:v>44691</c:v>
                </c:pt>
                <c:pt idx="466">
                  <c:v>44692</c:v>
                </c:pt>
                <c:pt idx="467">
                  <c:v>44693</c:v>
                </c:pt>
                <c:pt idx="468">
                  <c:v>44694</c:v>
                </c:pt>
                <c:pt idx="469">
                  <c:v>44697</c:v>
                </c:pt>
                <c:pt idx="470">
                  <c:v>44698</c:v>
                </c:pt>
                <c:pt idx="471">
                  <c:v>44699</c:v>
                </c:pt>
                <c:pt idx="472">
                  <c:v>44700</c:v>
                </c:pt>
                <c:pt idx="473">
                  <c:v>44701</c:v>
                </c:pt>
                <c:pt idx="474">
                  <c:v>44704</c:v>
                </c:pt>
                <c:pt idx="475">
                  <c:v>44705</c:v>
                </c:pt>
                <c:pt idx="476">
                  <c:v>44706</c:v>
                </c:pt>
                <c:pt idx="477">
                  <c:v>44707</c:v>
                </c:pt>
                <c:pt idx="478">
                  <c:v>44708</c:v>
                </c:pt>
                <c:pt idx="479">
                  <c:v>44711</c:v>
                </c:pt>
                <c:pt idx="480">
                  <c:v>44712</c:v>
                </c:pt>
                <c:pt idx="481">
                  <c:v>44713</c:v>
                </c:pt>
                <c:pt idx="482">
                  <c:v>44714</c:v>
                </c:pt>
                <c:pt idx="483">
                  <c:v>44715</c:v>
                </c:pt>
                <c:pt idx="484">
                  <c:v>44719</c:v>
                </c:pt>
                <c:pt idx="485">
                  <c:v>44720</c:v>
                </c:pt>
                <c:pt idx="486">
                  <c:v>44721</c:v>
                </c:pt>
                <c:pt idx="487">
                  <c:v>44722</c:v>
                </c:pt>
                <c:pt idx="488">
                  <c:v>44725</c:v>
                </c:pt>
                <c:pt idx="489">
                  <c:v>44726</c:v>
                </c:pt>
                <c:pt idx="490">
                  <c:v>44727</c:v>
                </c:pt>
                <c:pt idx="491">
                  <c:v>44728</c:v>
                </c:pt>
                <c:pt idx="492">
                  <c:v>44729</c:v>
                </c:pt>
                <c:pt idx="493">
                  <c:v>44732</c:v>
                </c:pt>
                <c:pt idx="494">
                  <c:v>44733</c:v>
                </c:pt>
                <c:pt idx="495">
                  <c:v>44734</c:v>
                </c:pt>
                <c:pt idx="496">
                  <c:v>44735</c:v>
                </c:pt>
                <c:pt idx="497">
                  <c:v>44736</c:v>
                </c:pt>
                <c:pt idx="498">
                  <c:v>44739</c:v>
                </c:pt>
                <c:pt idx="499">
                  <c:v>44740</c:v>
                </c:pt>
                <c:pt idx="500">
                  <c:v>44741</c:v>
                </c:pt>
                <c:pt idx="501">
                  <c:v>44742</c:v>
                </c:pt>
                <c:pt idx="502">
                  <c:v>44743</c:v>
                </c:pt>
                <c:pt idx="503">
                  <c:v>44746</c:v>
                </c:pt>
                <c:pt idx="504">
                  <c:v>44747</c:v>
                </c:pt>
                <c:pt idx="505">
                  <c:v>44748</c:v>
                </c:pt>
                <c:pt idx="506">
                  <c:v>44749</c:v>
                </c:pt>
                <c:pt idx="507">
                  <c:v>44750</c:v>
                </c:pt>
                <c:pt idx="508">
                  <c:v>44753</c:v>
                </c:pt>
                <c:pt idx="509">
                  <c:v>44754</c:v>
                </c:pt>
                <c:pt idx="510">
                  <c:v>44755</c:v>
                </c:pt>
                <c:pt idx="511">
                  <c:v>44756</c:v>
                </c:pt>
                <c:pt idx="512">
                  <c:v>44757</c:v>
                </c:pt>
                <c:pt idx="513">
                  <c:v>44760</c:v>
                </c:pt>
                <c:pt idx="514">
                  <c:v>44761</c:v>
                </c:pt>
                <c:pt idx="515">
                  <c:v>44762</c:v>
                </c:pt>
                <c:pt idx="516">
                  <c:v>44763</c:v>
                </c:pt>
                <c:pt idx="517">
                  <c:v>44764</c:v>
                </c:pt>
                <c:pt idx="518">
                  <c:v>44767</c:v>
                </c:pt>
                <c:pt idx="519">
                  <c:v>44768</c:v>
                </c:pt>
                <c:pt idx="520">
                  <c:v>44769</c:v>
                </c:pt>
                <c:pt idx="521">
                  <c:v>44770</c:v>
                </c:pt>
                <c:pt idx="522">
                  <c:v>44771</c:v>
                </c:pt>
                <c:pt idx="523">
                  <c:v>44775</c:v>
                </c:pt>
                <c:pt idx="524">
                  <c:v>44776</c:v>
                </c:pt>
                <c:pt idx="525">
                  <c:v>44777</c:v>
                </c:pt>
                <c:pt idx="526">
                  <c:v>44778</c:v>
                </c:pt>
                <c:pt idx="527">
                  <c:v>44781</c:v>
                </c:pt>
                <c:pt idx="528">
                  <c:v>44782</c:v>
                </c:pt>
                <c:pt idx="529">
                  <c:v>44783</c:v>
                </c:pt>
                <c:pt idx="530">
                  <c:v>44784</c:v>
                </c:pt>
                <c:pt idx="531">
                  <c:v>44785</c:v>
                </c:pt>
                <c:pt idx="532">
                  <c:v>44788</c:v>
                </c:pt>
                <c:pt idx="533">
                  <c:v>44789</c:v>
                </c:pt>
                <c:pt idx="534">
                  <c:v>44790</c:v>
                </c:pt>
                <c:pt idx="535">
                  <c:v>44791</c:v>
                </c:pt>
                <c:pt idx="536">
                  <c:v>44792</c:v>
                </c:pt>
                <c:pt idx="537">
                  <c:v>44795</c:v>
                </c:pt>
                <c:pt idx="538">
                  <c:v>44796</c:v>
                </c:pt>
                <c:pt idx="539">
                  <c:v>44797</c:v>
                </c:pt>
                <c:pt idx="540">
                  <c:v>44798</c:v>
                </c:pt>
                <c:pt idx="541">
                  <c:v>44799</c:v>
                </c:pt>
                <c:pt idx="542">
                  <c:v>44802</c:v>
                </c:pt>
                <c:pt idx="543">
                  <c:v>44803</c:v>
                </c:pt>
                <c:pt idx="544">
                  <c:v>44804</c:v>
                </c:pt>
                <c:pt idx="545">
                  <c:v>44805</c:v>
                </c:pt>
                <c:pt idx="546">
                  <c:v>44806</c:v>
                </c:pt>
                <c:pt idx="547">
                  <c:v>44809</c:v>
                </c:pt>
                <c:pt idx="548">
                  <c:v>44810</c:v>
                </c:pt>
                <c:pt idx="549">
                  <c:v>44811</c:v>
                </c:pt>
                <c:pt idx="550">
                  <c:v>44812</c:v>
                </c:pt>
                <c:pt idx="551">
                  <c:v>44813</c:v>
                </c:pt>
                <c:pt idx="552">
                  <c:v>44816</c:v>
                </c:pt>
                <c:pt idx="553">
                  <c:v>44817</c:v>
                </c:pt>
                <c:pt idx="554">
                  <c:v>44818</c:v>
                </c:pt>
                <c:pt idx="555">
                  <c:v>44819</c:v>
                </c:pt>
                <c:pt idx="556">
                  <c:v>44820</c:v>
                </c:pt>
                <c:pt idx="557">
                  <c:v>44823</c:v>
                </c:pt>
                <c:pt idx="558">
                  <c:v>44824</c:v>
                </c:pt>
                <c:pt idx="559">
                  <c:v>44825</c:v>
                </c:pt>
                <c:pt idx="560">
                  <c:v>44826</c:v>
                </c:pt>
                <c:pt idx="561">
                  <c:v>44827</c:v>
                </c:pt>
                <c:pt idx="562">
                  <c:v>44830</c:v>
                </c:pt>
                <c:pt idx="563">
                  <c:v>44831</c:v>
                </c:pt>
                <c:pt idx="564">
                  <c:v>44832</c:v>
                </c:pt>
                <c:pt idx="565">
                  <c:v>44833</c:v>
                </c:pt>
                <c:pt idx="566">
                  <c:v>44834</c:v>
                </c:pt>
                <c:pt idx="567">
                  <c:v>44837</c:v>
                </c:pt>
                <c:pt idx="568">
                  <c:v>44838</c:v>
                </c:pt>
                <c:pt idx="569">
                  <c:v>44839</c:v>
                </c:pt>
                <c:pt idx="570">
                  <c:v>44840</c:v>
                </c:pt>
                <c:pt idx="571">
                  <c:v>44841</c:v>
                </c:pt>
                <c:pt idx="572">
                  <c:v>44844</c:v>
                </c:pt>
                <c:pt idx="573">
                  <c:v>44845</c:v>
                </c:pt>
                <c:pt idx="574">
                  <c:v>44846</c:v>
                </c:pt>
                <c:pt idx="575">
                  <c:v>44847</c:v>
                </c:pt>
                <c:pt idx="576">
                  <c:v>44848</c:v>
                </c:pt>
                <c:pt idx="577">
                  <c:v>44851</c:v>
                </c:pt>
                <c:pt idx="578">
                  <c:v>44852</c:v>
                </c:pt>
                <c:pt idx="579">
                  <c:v>44853</c:v>
                </c:pt>
                <c:pt idx="580">
                  <c:v>44854</c:v>
                </c:pt>
                <c:pt idx="581">
                  <c:v>44855</c:v>
                </c:pt>
                <c:pt idx="582">
                  <c:v>44858</c:v>
                </c:pt>
                <c:pt idx="583">
                  <c:v>44859</c:v>
                </c:pt>
                <c:pt idx="584">
                  <c:v>44860</c:v>
                </c:pt>
                <c:pt idx="585">
                  <c:v>44861</c:v>
                </c:pt>
                <c:pt idx="586">
                  <c:v>44862</c:v>
                </c:pt>
                <c:pt idx="587">
                  <c:v>44866</c:v>
                </c:pt>
                <c:pt idx="588">
                  <c:v>44867</c:v>
                </c:pt>
                <c:pt idx="589">
                  <c:v>44868</c:v>
                </c:pt>
                <c:pt idx="590">
                  <c:v>44869</c:v>
                </c:pt>
                <c:pt idx="591">
                  <c:v>44872</c:v>
                </c:pt>
                <c:pt idx="592">
                  <c:v>44873</c:v>
                </c:pt>
                <c:pt idx="593">
                  <c:v>44874</c:v>
                </c:pt>
                <c:pt idx="594">
                  <c:v>44875</c:v>
                </c:pt>
                <c:pt idx="595">
                  <c:v>44876</c:v>
                </c:pt>
                <c:pt idx="596">
                  <c:v>44879</c:v>
                </c:pt>
                <c:pt idx="597">
                  <c:v>44880</c:v>
                </c:pt>
                <c:pt idx="598">
                  <c:v>44881</c:v>
                </c:pt>
                <c:pt idx="599">
                  <c:v>44882</c:v>
                </c:pt>
                <c:pt idx="600">
                  <c:v>44883</c:v>
                </c:pt>
                <c:pt idx="601">
                  <c:v>44886</c:v>
                </c:pt>
                <c:pt idx="602">
                  <c:v>44887</c:v>
                </c:pt>
                <c:pt idx="603">
                  <c:v>44888</c:v>
                </c:pt>
                <c:pt idx="604">
                  <c:v>44889</c:v>
                </c:pt>
                <c:pt idx="605">
                  <c:v>44890</c:v>
                </c:pt>
                <c:pt idx="606">
                  <c:v>44893</c:v>
                </c:pt>
                <c:pt idx="607">
                  <c:v>44894</c:v>
                </c:pt>
                <c:pt idx="608">
                  <c:v>44895</c:v>
                </c:pt>
                <c:pt idx="609">
                  <c:v>44896</c:v>
                </c:pt>
                <c:pt idx="610">
                  <c:v>44897</c:v>
                </c:pt>
                <c:pt idx="611">
                  <c:v>44900</c:v>
                </c:pt>
                <c:pt idx="612">
                  <c:v>44901</c:v>
                </c:pt>
                <c:pt idx="613">
                  <c:v>44902</c:v>
                </c:pt>
                <c:pt idx="614">
                  <c:v>44903</c:v>
                </c:pt>
                <c:pt idx="615">
                  <c:v>44904</c:v>
                </c:pt>
                <c:pt idx="616">
                  <c:v>44907</c:v>
                </c:pt>
                <c:pt idx="617">
                  <c:v>44908</c:v>
                </c:pt>
                <c:pt idx="618">
                  <c:v>44909</c:v>
                </c:pt>
                <c:pt idx="619">
                  <c:v>44910</c:v>
                </c:pt>
                <c:pt idx="620">
                  <c:v>44911</c:v>
                </c:pt>
                <c:pt idx="621">
                  <c:v>44914</c:v>
                </c:pt>
                <c:pt idx="622">
                  <c:v>44915</c:v>
                </c:pt>
                <c:pt idx="623">
                  <c:v>44916</c:v>
                </c:pt>
                <c:pt idx="624">
                  <c:v>44917</c:v>
                </c:pt>
                <c:pt idx="625">
                  <c:v>44918</c:v>
                </c:pt>
                <c:pt idx="626">
                  <c:v>44923</c:v>
                </c:pt>
                <c:pt idx="627">
                  <c:v>44924</c:v>
                </c:pt>
                <c:pt idx="628">
                  <c:v>44925</c:v>
                </c:pt>
                <c:pt idx="629">
                  <c:v>44929</c:v>
                </c:pt>
                <c:pt idx="630">
                  <c:v>44930</c:v>
                </c:pt>
                <c:pt idx="631">
                  <c:v>44931</c:v>
                </c:pt>
                <c:pt idx="632">
                  <c:v>44932</c:v>
                </c:pt>
                <c:pt idx="633">
                  <c:v>44935</c:v>
                </c:pt>
                <c:pt idx="634">
                  <c:v>44936</c:v>
                </c:pt>
                <c:pt idx="635">
                  <c:v>44937</c:v>
                </c:pt>
                <c:pt idx="636">
                  <c:v>44938</c:v>
                </c:pt>
                <c:pt idx="637">
                  <c:v>44939</c:v>
                </c:pt>
                <c:pt idx="638">
                  <c:v>44942</c:v>
                </c:pt>
                <c:pt idx="639">
                  <c:v>44943</c:v>
                </c:pt>
                <c:pt idx="640">
                  <c:v>44944</c:v>
                </c:pt>
                <c:pt idx="641">
                  <c:v>44945</c:v>
                </c:pt>
                <c:pt idx="642">
                  <c:v>44946</c:v>
                </c:pt>
                <c:pt idx="643">
                  <c:v>44949</c:v>
                </c:pt>
                <c:pt idx="644">
                  <c:v>44950</c:v>
                </c:pt>
                <c:pt idx="645">
                  <c:v>44951</c:v>
                </c:pt>
                <c:pt idx="646">
                  <c:v>44952</c:v>
                </c:pt>
                <c:pt idx="647">
                  <c:v>44953</c:v>
                </c:pt>
                <c:pt idx="648">
                  <c:v>44956</c:v>
                </c:pt>
                <c:pt idx="649">
                  <c:v>44957</c:v>
                </c:pt>
                <c:pt idx="650">
                  <c:v>44958</c:v>
                </c:pt>
                <c:pt idx="651">
                  <c:v>44959</c:v>
                </c:pt>
                <c:pt idx="652">
                  <c:v>44960</c:v>
                </c:pt>
                <c:pt idx="653">
                  <c:v>44964</c:v>
                </c:pt>
                <c:pt idx="654">
                  <c:v>44965</c:v>
                </c:pt>
                <c:pt idx="655">
                  <c:v>44966</c:v>
                </c:pt>
                <c:pt idx="656">
                  <c:v>44967</c:v>
                </c:pt>
                <c:pt idx="657">
                  <c:v>44970</c:v>
                </c:pt>
                <c:pt idx="658">
                  <c:v>44971</c:v>
                </c:pt>
                <c:pt idx="659">
                  <c:v>44972</c:v>
                </c:pt>
                <c:pt idx="660">
                  <c:v>44973</c:v>
                </c:pt>
                <c:pt idx="661">
                  <c:v>44974</c:v>
                </c:pt>
                <c:pt idx="662">
                  <c:v>44977</c:v>
                </c:pt>
                <c:pt idx="663">
                  <c:v>44978</c:v>
                </c:pt>
                <c:pt idx="664">
                  <c:v>44979</c:v>
                </c:pt>
                <c:pt idx="665">
                  <c:v>44980</c:v>
                </c:pt>
                <c:pt idx="666">
                  <c:v>44981</c:v>
                </c:pt>
                <c:pt idx="667">
                  <c:v>44984</c:v>
                </c:pt>
                <c:pt idx="668">
                  <c:v>44985</c:v>
                </c:pt>
                <c:pt idx="669">
                  <c:v>44986</c:v>
                </c:pt>
                <c:pt idx="670">
                  <c:v>44987</c:v>
                </c:pt>
                <c:pt idx="671">
                  <c:v>44988</c:v>
                </c:pt>
                <c:pt idx="672">
                  <c:v>44991</c:v>
                </c:pt>
                <c:pt idx="673">
                  <c:v>44992</c:v>
                </c:pt>
                <c:pt idx="674">
                  <c:v>44993</c:v>
                </c:pt>
                <c:pt idx="675">
                  <c:v>44994</c:v>
                </c:pt>
                <c:pt idx="676">
                  <c:v>44995</c:v>
                </c:pt>
                <c:pt idx="677">
                  <c:v>44998</c:v>
                </c:pt>
                <c:pt idx="678">
                  <c:v>44999</c:v>
                </c:pt>
                <c:pt idx="679">
                  <c:v>45000</c:v>
                </c:pt>
                <c:pt idx="680">
                  <c:v>45001</c:v>
                </c:pt>
                <c:pt idx="681">
                  <c:v>45005</c:v>
                </c:pt>
                <c:pt idx="682">
                  <c:v>45006</c:v>
                </c:pt>
                <c:pt idx="683">
                  <c:v>45007</c:v>
                </c:pt>
                <c:pt idx="684">
                  <c:v>45008</c:v>
                </c:pt>
                <c:pt idx="685">
                  <c:v>45009</c:v>
                </c:pt>
                <c:pt idx="686">
                  <c:v>45012</c:v>
                </c:pt>
                <c:pt idx="687">
                  <c:v>45013</c:v>
                </c:pt>
                <c:pt idx="688">
                  <c:v>45014</c:v>
                </c:pt>
                <c:pt idx="689">
                  <c:v>45015</c:v>
                </c:pt>
                <c:pt idx="690">
                  <c:v>45016</c:v>
                </c:pt>
                <c:pt idx="691">
                  <c:v>45019</c:v>
                </c:pt>
                <c:pt idx="692">
                  <c:v>45020</c:v>
                </c:pt>
                <c:pt idx="693">
                  <c:v>45021</c:v>
                </c:pt>
                <c:pt idx="694">
                  <c:v>45022</c:v>
                </c:pt>
                <c:pt idx="695">
                  <c:v>45027</c:v>
                </c:pt>
                <c:pt idx="696">
                  <c:v>45028</c:v>
                </c:pt>
                <c:pt idx="697">
                  <c:v>45029</c:v>
                </c:pt>
                <c:pt idx="698">
                  <c:v>45030</c:v>
                </c:pt>
                <c:pt idx="699">
                  <c:v>45033</c:v>
                </c:pt>
                <c:pt idx="700">
                  <c:v>45034</c:v>
                </c:pt>
                <c:pt idx="701">
                  <c:v>45035</c:v>
                </c:pt>
                <c:pt idx="702">
                  <c:v>45036</c:v>
                </c:pt>
                <c:pt idx="703">
                  <c:v>45037</c:v>
                </c:pt>
                <c:pt idx="704">
                  <c:v>45040</c:v>
                </c:pt>
                <c:pt idx="705">
                  <c:v>45041</c:v>
                </c:pt>
                <c:pt idx="706">
                  <c:v>45042</c:v>
                </c:pt>
                <c:pt idx="707">
                  <c:v>45043</c:v>
                </c:pt>
                <c:pt idx="708">
                  <c:v>45044</c:v>
                </c:pt>
                <c:pt idx="709">
                  <c:v>45048</c:v>
                </c:pt>
                <c:pt idx="710">
                  <c:v>45049</c:v>
                </c:pt>
                <c:pt idx="711">
                  <c:v>45050</c:v>
                </c:pt>
                <c:pt idx="712">
                  <c:v>45051</c:v>
                </c:pt>
                <c:pt idx="713">
                  <c:v>45054</c:v>
                </c:pt>
                <c:pt idx="714">
                  <c:v>45055</c:v>
                </c:pt>
                <c:pt idx="715">
                  <c:v>45056</c:v>
                </c:pt>
                <c:pt idx="716">
                  <c:v>45057</c:v>
                </c:pt>
                <c:pt idx="717">
                  <c:v>45058</c:v>
                </c:pt>
                <c:pt idx="718">
                  <c:v>45061</c:v>
                </c:pt>
                <c:pt idx="719">
                  <c:v>45062</c:v>
                </c:pt>
                <c:pt idx="720">
                  <c:v>45063</c:v>
                </c:pt>
                <c:pt idx="721">
                  <c:v>45064</c:v>
                </c:pt>
                <c:pt idx="722">
                  <c:v>45065</c:v>
                </c:pt>
                <c:pt idx="723">
                  <c:v>45068</c:v>
                </c:pt>
                <c:pt idx="724">
                  <c:v>45069</c:v>
                </c:pt>
                <c:pt idx="725">
                  <c:v>45070</c:v>
                </c:pt>
                <c:pt idx="726">
                  <c:v>45071</c:v>
                </c:pt>
                <c:pt idx="727">
                  <c:v>45072</c:v>
                </c:pt>
                <c:pt idx="728">
                  <c:v>45075</c:v>
                </c:pt>
                <c:pt idx="729">
                  <c:v>45076</c:v>
                </c:pt>
                <c:pt idx="730">
                  <c:v>45077</c:v>
                </c:pt>
                <c:pt idx="731">
                  <c:v>45078</c:v>
                </c:pt>
                <c:pt idx="732">
                  <c:v>45079</c:v>
                </c:pt>
                <c:pt idx="733">
                  <c:v>45083</c:v>
                </c:pt>
                <c:pt idx="734">
                  <c:v>45084</c:v>
                </c:pt>
                <c:pt idx="735">
                  <c:v>45085</c:v>
                </c:pt>
                <c:pt idx="736">
                  <c:v>45086</c:v>
                </c:pt>
                <c:pt idx="737">
                  <c:v>45089</c:v>
                </c:pt>
                <c:pt idx="738">
                  <c:v>45090</c:v>
                </c:pt>
                <c:pt idx="739">
                  <c:v>45091</c:v>
                </c:pt>
                <c:pt idx="740">
                  <c:v>45092</c:v>
                </c:pt>
                <c:pt idx="741">
                  <c:v>45093</c:v>
                </c:pt>
                <c:pt idx="742">
                  <c:v>45096</c:v>
                </c:pt>
                <c:pt idx="743">
                  <c:v>45097</c:v>
                </c:pt>
                <c:pt idx="744">
                  <c:v>45098</c:v>
                </c:pt>
                <c:pt idx="745">
                  <c:v>45099</c:v>
                </c:pt>
                <c:pt idx="746">
                  <c:v>45100</c:v>
                </c:pt>
                <c:pt idx="747">
                  <c:v>45103</c:v>
                </c:pt>
                <c:pt idx="748">
                  <c:v>45104</c:v>
                </c:pt>
                <c:pt idx="749">
                  <c:v>45105</c:v>
                </c:pt>
                <c:pt idx="750">
                  <c:v>45106</c:v>
                </c:pt>
                <c:pt idx="751">
                  <c:v>45107</c:v>
                </c:pt>
                <c:pt idx="752">
                  <c:v>45110</c:v>
                </c:pt>
                <c:pt idx="753">
                  <c:v>45111</c:v>
                </c:pt>
                <c:pt idx="754">
                  <c:v>45112</c:v>
                </c:pt>
                <c:pt idx="755">
                  <c:v>45113</c:v>
                </c:pt>
                <c:pt idx="756">
                  <c:v>45114</c:v>
                </c:pt>
                <c:pt idx="757">
                  <c:v>45117</c:v>
                </c:pt>
                <c:pt idx="758">
                  <c:v>45118</c:v>
                </c:pt>
                <c:pt idx="759">
                  <c:v>45119</c:v>
                </c:pt>
                <c:pt idx="760">
                  <c:v>45120</c:v>
                </c:pt>
                <c:pt idx="761">
                  <c:v>45121</c:v>
                </c:pt>
                <c:pt idx="762">
                  <c:v>45124</c:v>
                </c:pt>
                <c:pt idx="763">
                  <c:v>45125</c:v>
                </c:pt>
                <c:pt idx="764">
                  <c:v>45126</c:v>
                </c:pt>
                <c:pt idx="765">
                  <c:v>45127</c:v>
                </c:pt>
                <c:pt idx="766">
                  <c:v>45128</c:v>
                </c:pt>
                <c:pt idx="767">
                  <c:v>45131</c:v>
                </c:pt>
                <c:pt idx="768">
                  <c:v>45132</c:v>
                </c:pt>
                <c:pt idx="769">
                  <c:v>45133</c:v>
                </c:pt>
                <c:pt idx="770">
                  <c:v>45134</c:v>
                </c:pt>
                <c:pt idx="771">
                  <c:v>45135</c:v>
                </c:pt>
                <c:pt idx="772">
                  <c:v>45138</c:v>
                </c:pt>
                <c:pt idx="773">
                  <c:v>45139</c:v>
                </c:pt>
                <c:pt idx="774">
                  <c:v>45140</c:v>
                </c:pt>
                <c:pt idx="775">
                  <c:v>45141</c:v>
                </c:pt>
                <c:pt idx="776">
                  <c:v>45142</c:v>
                </c:pt>
                <c:pt idx="777">
                  <c:v>45146</c:v>
                </c:pt>
                <c:pt idx="778">
                  <c:v>45147</c:v>
                </c:pt>
                <c:pt idx="779">
                  <c:v>45148</c:v>
                </c:pt>
                <c:pt idx="780">
                  <c:v>45149</c:v>
                </c:pt>
                <c:pt idx="781">
                  <c:v>45152</c:v>
                </c:pt>
                <c:pt idx="782">
                  <c:v>45153</c:v>
                </c:pt>
                <c:pt idx="783">
                  <c:v>45154</c:v>
                </c:pt>
                <c:pt idx="784">
                  <c:v>45155</c:v>
                </c:pt>
                <c:pt idx="785">
                  <c:v>45156</c:v>
                </c:pt>
                <c:pt idx="786">
                  <c:v>45159</c:v>
                </c:pt>
                <c:pt idx="787">
                  <c:v>45160</c:v>
                </c:pt>
                <c:pt idx="788">
                  <c:v>45161</c:v>
                </c:pt>
                <c:pt idx="789">
                  <c:v>45162</c:v>
                </c:pt>
                <c:pt idx="790">
                  <c:v>45163</c:v>
                </c:pt>
                <c:pt idx="791">
                  <c:v>45166</c:v>
                </c:pt>
                <c:pt idx="792">
                  <c:v>45167</c:v>
                </c:pt>
                <c:pt idx="793">
                  <c:v>45168</c:v>
                </c:pt>
                <c:pt idx="794">
                  <c:v>45169</c:v>
                </c:pt>
                <c:pt idx="795">
                  <c:v>45170</c:v>
                </c:pt>
                <c:pt idx="796">
                  <c:v>45173</c:v>
                </c:pt>
                <c:pt idx="797">
                  <c:v>45174</c:v>
                </c:pt>
                <c:pt idx="798">
                  <c:v>45175</c:v>
                </c:pt>
                <c:pt idx="799">
                  <c:v>45176</c:v>
                </c:pt>
                <c:pt idx="800">
                  <c:v>45177</c:v>
                </c:pt>
                <c:pt idx="801">
                  <c:v>45180</c:v>
                </c:pt>
                <c:pt idx="802">
                  <c:v>45181</c:v>
                </c:pt>
                <c:pt idx="803">
                  <c:v>45182</c:v>
                </c:pt>
                <c:pt idx="804">
                  <c:v>45183</c:v>
                </c:pt>
                <c:pt idx="805">
                  <c:v>45184</c:v>
                </c:pt>
                <c:pt idx="806">
                  <c:v>45187</c:v>
                </c:pt>
                <c:pt idx="807">
                  <c:v>45188</c:v>
                </c:pt>
                <c:pt idx="808">
                  <c:v>45189</c:v>
                </c:pt>
                <c:pt idx="809">
                  <c:v>45190</c:v>
                </c:pt>
                <c:pt idx="810">
                  <c:v>45191</c:v>
                </c:pt>
                <c:pt idx="811">
                  <c:v>45194</c:v>
                </c:pt>
                <c:pt idx="812">
                  <c:v>45195</c:v>
                </c:pt>
                <c:pt idx="813">
                  <c:v>45196</c:v>
                </c:pt>
                <c:pt idx="814">
                  <c:v>45197</c:v>
                </c:pt>
                <c:pt idx="815">
                  <c:v>45198</c:v>
                </c:pt>
                <c:pt idx="816">
                  <c:v>45201</c:v>
                </c:pt>
                <c:pt idx="817">
                  <c:v>45202</c:v>
                </c:pt>
                <c:pt idx="818">
                  <c:v>45203</c:v>
                </c:pt>
                <c:pt idx="819">
                  <c:v>45204</c:v>
                </c:pt>
                <c:pt idx="820">
                  <c:v>45205</c:v>
                </c:pt>
                <c:pt idx="821">
                  <c:v>45208</c:v>
                </c:pt>
                <c:pt idx="822">
                  <c:v>45209</c:v>
                </c:pt>
                <c:pt idx="823">
                  <c:v>45210</c:v>
                </c:pt>
                <c:pt idx="824">
                  <c:v>45211</c:v>
                </c:pt>
                <c:pt idx="825">
                  <c:v>45212</c:v>
                </c:pt>
                <c:pt idx="826">
                  <c:v>45215</c:v>
                </c:pt>
                <c:pt idx="827">
                  <c:v>45216</c:v>
                </c:pt>
                <c:pt idx="828">
                  <c:v>45217</c:v>
                </c:pt>
                <c:pt idx="829">
                  <c:v>45218</c:v>
                </c:pt>
                <c:pt idx="830">
                  <c:v>45219</c:v>
                </c:pt>
                <c:pt idx="831">
                  <c:v>45222</c:v>
                </c:pt>
                <c:pt idx="832">
                  <c:v>45223</c:v>
                </c:pt>
                <c:pt idx="833">
                  <c:v>45224</c:v>
                </c:pt>
                <c:pt idx="834">
                  <c:v>45225</c:v>
                </c:pt>
                <c:pt idx="835">
                  <c:v>45226</c:v>
                </c:pt>
                <c:pt idx="836">
                  <c:v>45230</c:v>
                </c:pt>
                <c:pt idx="837">
                  <c:v>45231</c:v>
                </c:pt>
                <c:pt idx="838">
                  <c:v>45232</c:v>
                </c:pt>
                <c:pt idx="839">
                  <c:v>45233</c:v>
                </c:pt>
                <c:pt idx="840">
                  <c:v>45236</c:v>
                </c:pt>
                <c:pt idx="841">
                  <c:v>45237</c:v>
                </c:pt>
                <c:pt idx="842">
                  <c:v>45238</c:v>
                </c:pt>
                <c:pt idx="843">
                  <c:v>45239</c:v>
                </c:pt>
                <c:pt idx="844">
                  <c:v>45240</c:v>
                </c:pt>
                <c:pt idx="845">
                  <c:v>45243</c:v>
                </c:pt>
                <c:pt idx="846">
                  <c:v>45244</c:v>
                </c:pt>
                <c:pt idx="847">
                  <c:v>45245</c:v>
                </c:pt>
                <c:pt idx="848">
                  <c:v>45246</c:v>
                </c:pt>
                <c:pt idx="849">
                  <c:v>45247</c:v>
                </c:pt>
                <c:pt idx="850">
                  <c:v>45250</c:v>
                </c:pt>
                <c:pt idx="851">
                  <c:v>45251</c:v>
                </c:pt>
                <c:pt idx="852">
                  <c:v>45252</c:v>
                </c:pt>
                <c:pt idx="853">
                  <c:v>45253</c:v>
                </c:pt>
                <c:pt idx="854">
                  <c:v>45254</c:v>
                </c:pt>
                <c:pt idx="855">
                  <c:v>45257</c:v>
                </c:pt>
                <c:pt idx="856">
                  <c:v>45258</c:v>
                </c:pt>
                <c:pt idx="857">
                  <c:v>45259</c:v>
                </c:pt>
                <c:pt idx="858">
                  <c:v>45260</c:v>
                </c:pt>
                <c:pt idx="859">
                  <c:v>45261</c:v>
                </c:pt>
                <c:pt idx="860">
                  <c:v>45264</c:v>
                </c:pt>
                <c:pt idx="861">
                  <c:v>45265</c:v>
                </c:pt>
                <c:pt idx="862">
                  <c:v>45266</c:v>
                </c:pt>
                <c:pt idx="863">
                  <c:v>45267</c:v>
                </c:pt>
                <c:pt idx="864">
                  <c:v>45268</c:v>
                </c:pt>
                <c:pt idx="865">
                  <c:v>45271</c:v>
                </c:pt>
                <c:pt idx="866">
                  <c:v>45272</c:v>
                </c:pt>
                <c:pt idx="867">
                  <c:v>45273</c:v>
                </c:pt>
                <c:pt idx="868">
                  <c:v>45274</c:v>
                </c:pt>
                <c:pt idx="869">
                  <c:v>45275</c:v>
                </c:pt>
                <c:pt idx="870">
                  <c:v>45278</c:v>
                </c:pt>
                <c:pt idx="871">
                  <c:v>45279</c:v>
                </c:pt>
                <c:pt idx="872">
                  <c:v>45280</c:v>
                </c:pt>
                <c:pt idx="873">
                  <c:v>45281</c:v>
                </c:pt>
                <c:pt idx="874">
                  <c:v>45282</c:v>
                </c:pt>
                <c:pt idx="875">
                  <c:v>45287</c:v>
                </c:pt>
                <c:pt idx="876">
                  <c:v>45288</c:v>
                </c:pt>
                <c:pt idx="877">
                  <c:v>45289</c:v>
                </c:pt>
                <c:pt idx="878">
                  <c:v>45293</c:v>
                </c:pt>
                <c:pt idx="879">
                  <c:v>45294</c:v>
                </c:pt>
                <c:pt idx="880">
                  <c:v>45295</c:v>
                </c:pt>
                <c:pt idx="881">
                  <c:v>45296</c:v>
                </c:pt>
                <c:pt idx="882">
                  <c:v>45299</c:v>
                </c:pt>
                <c:pt idx="883">
                  <c:v>45300</c:v>
                </c:pt>
                <c:pt idx="884">
                  <c:v>45301</c:v>
                </c:pt>
                <c:pt idx="885">
                  <c:v>45302</c:v>
                </c:pt>
                <c:pt idx="886">
                  <c:v>45303</c:v>
                </c:pt>
                <c:pt idx="887">
                  <c:v>45306</c:v>
                </c:pt>
                <c:pt idx="888">
                  <c:v>45307</c:v>
                </c:pt>
                <c:pt idx="889">
                  <c:v>45308</c:v>
                </c:pt>
                <c:pt idx="890">
                  <c:v>45309</c:v>
                </c:pt>
                <c:pt idx="891">
                  <c:v>45310</c:v>
                </c:pt>
                <c:pt idx="892">
                  <c:v>45313</c:v>
                </c:pt>
                <c:pt idx="893">
                  <c:v>45314</c:v>
                </c:pt>
                <c:pt idx="894">
                  <c:v>45315</c:v>
                </c:pt>
                <c:pt idx="895">
                  <c:v>45316</c:v>
                </c:pt>
                <c:pt idx="896">
                  <c:v>45317</c:v>
                </c:pt>
                <c:pt idx="897">
                  <c:v>45320</c:v>
                </c:pt>
                <c:pt idx="898">
                  <c:v>45321</c:v>
                </c:pt>
                <c:pt idx="899">
                  <c:v>45322</c:v>
                </c:pt>
                <c:pt idx="900">
                  <c:v>45323</c:v>
                </c:pt>
                <c:pt idx="901">
                  <c:v>45324</c:v>
                </c:pt>
                <c:pt idx="902">
                  <c:v>45328</c:v>
                </c:pt>
                <c:pt idx="903">
                  <c:v>45329</c:v>
                </c:pt>
                <c:pt idx="904">
                  <c:v>45330</c:v>
                </c:pt>
                <c:pt idx="905">
                  <c:v>45331</c:v>
                </c:pt>
                <c:pt idx="906">
                  <c:v>45334</c:v>
                </c:pt>
                <c:pt idx="907">
                  <c:v>45335</c:v>
                </c:pt>
                <c:pt idx="908">
                  <c:v>45336</c:v>
                </c:pt>
                <c:pt idx="909">
                  <c:v>45337</c:v>
                </c:pt>
                <c:pt idx="910">
                  <c:v>45338</c:v>
                </c:pt>
                <c:pt idx="911">
                  <c:v>45341</c:v>
                </c:pt>
                <c:pt idx="912">
                  <c:v>45342</c:v>
                </c:pt>
                <c:pt idx="913">
                  <c:v>45343</c:v>
                </c:pt>
                <c:pt idx="914">
                  <c:v>45344</c:v>
                </c:pt>
                <c:pt idx="915">
                  <c:v>45345</c:v>
                </c:pt>
                <c:pt idx="916">
                  <c:v>45348</c:v>
                </c:pt>
                <c:pt idx="917">
                  <c:v>45349</c:v>
                </c:pt>
                <c:pt idx="918">
                  <c:v>45350</c:v>
                </c:pt>
                <c:pt idx="919">
                  <c:v>45351</c:v>
                </c:pt>
                <c:pt idx="920">
                  <c:v>45352</c:v>
                </c:pt>
                <c:pt idx="921">
                  <c:v>45355</c:v>
                </c:pt>
                <c:pt idx="922">
                  <c:v>45356</c:v>
                </c:pt>
                <c:pt idx="923">
                  <c:v>45357</c:v>
                </c:pt>
                <c:pt idx="924">
                  <c:v>45358</c:v>
                </c:pt>
                <c:pt idx="925">
                  <c:v>45359</c:v>
                </c:pt>
                <c:pt idx="926">
                  <c:v>45362</c:v>
                </c:pt>
                <c:pt idx="927">
                  <c:v>45363</c:v>
                </c:pt>
                <c:pt idx="928">
                  <c:v>45364</c:v>
                </c:pt>
                <c:pt idx="929">
                  <c:v>45365</c:v>
                </c:pt>
                <c:pt idx="930">
                  <c:v>45366</c:v>
                </c:pt>
                <c:pt idx="931">
                  <c:v>45370</c:v>
                </c:pt>
                <c:pt idx="932">
                  <c:v>45371</c:v>
                </c:pt>
                <c:pt idx="933">
                  <c:v>45372</c:v>
                </c:pt>
                <c:pt idx="934">
                  <c:v>45373</c:v>
                </c:pt>
                <c:pt idx="935">
                  <c:v>45376</c:v>
                </c:pt>
                <c:pt idx="936">
                  <c:v>45377</c:v>
                </c:pt>
                <c:pt idx="937">
                  <c:v>45378</c:v>
                </c:pt>
                <c:pt idx="938">
                  <c:v>45379</c:v>
                </c:pt>
                <c:pt idx="939">
                  <c:v>45384</c:v>
                </c:pt>
                <c:pt idx="940">
                  <c:v>45385</c:v>
                </c:pt>
                <c:pt idx="941">
                  <c:v>45386</c:v>
                </c:pt>
                <c:pt idx="942">
                  <c:v>45387</c:v>
                </c:pt>
                <c:pt idx="943">
                  <c:v>45390</c:v>
                </c:pt>
                <c:pt idx="944">
                  <c:v>45391</c:v>
                </c:pt>
                <c:pt idx="945">
                  <c:v>45392</c:v>
                </c:pt>
                <c:pt idx="946">
                  <c:v>45393</c:v>
                </c:pt>
                <c:pt idx="947">
                  <c:v>45394</c:v>
                </c:pt>
                <c:pt idx="948">
                  <c:v>45397</c:v>
                </c:pt>
                <c:pt idx="949">
                  <c:v>45398</c:v>
                </c:pt>
                <c:pt idx="950">
                  <c:v>45399</c:v>
                </c:pt>
                <c:pt idx="951">
                  <c:v>45400</c:v>
                </c:pt>
                <c:pt idx="952">
                  <c:v>45401</c:v>
                </c:pt>
                <c:pt idx="953">
                  <c:v>45404</c:v>
                </c:pt>
                <c:pt idx="954">
                  <c:v>45405</c:v>
                </c:pt>
                <c:pt idx="955">
                  <c:v>45406</c:v>
                </c:pt>
                <c:pt idx="956">
                  <c:v>45407</c:v>
                </c:pt>
                <c:pt idx="957">
                  <c:v>45408</c:v>
                </c:pt>
                <c:pt idx="958">
                  <c:v>45411</c:v>
                </c:pt>
                <c:pt idx="959">
                  <c:v>45412</c:v>
                </c:pt>
                <c:pt idx="960">
                  <c:v>45413</c:v>
                </c:pt>
                <c:pt idx="961">
                  <c:v>45414</c:v>
                </c:pt>
                <c:pt idx="962">
                  <c:v>45415</c:v>
                </c:pt>
                <c:pt idx="963">
                  <c:v>45419</c:v>
                </c:pt>
                <c:pt idx="964">
                  <c:v>45420</c:v>
                </c:pt>
                <c:pt idx="965">
                  <c:v>45421</c:v>
                </c:pt>
                <c:pt idx="966">
                  <c:v>45422</c:v>
                </c:pt>
                <c:pt idx="967">
                  <c:v>45425</c:v>
                </c:pt>
                <c:pt idx="968">
                  <c:v>45426</c:v>
                </c:pt>
                <c:pt idx="969">
                  <c:v>45427</c:v>
                </c:pt>
                <c:pt idx="970">
                  <c:v>45428</c:v>
                </c:pt>
                <c:pt idx="971">
                  <c:v>45429</c:v>
                </c:pt>
                <c:pt idx="972">
                  <c:v>45432</c:v>
                </c:pt>
                <c:pt idx="973">
                  <c:v>45433</c:v>
                </c:pt>
                <c:pt idx="974">
                  <c:v>45434</c:v>
                </c:pt>
                <c:pt idx="975">
                  <c:v>45435</c:v>
                </c:pt>
                <c:pt idx="976">
                  <c:v>45436</c:v>
                </c:pt>
                <c:pt idx="977">
                  <c:v>45439</c:v>
                </c:pt>
                <c:pt idx="978">
                  <c:v>45440</c:v>
                </c:pt>
                <c:pt idx="979">
                  <c:v>45441</c:v>
                </c:pt>
                <c:pt idx="980">
                  <c:v>45442</c:v>
                </c:pt>
                <c:pt idx="981">
                  <c:v>45443</c:v>
                </c:pt>
                <c:pt idx="982">
                  <c:v>45447</c:v>
                </c:pt>
                <c:pt idx="983">
                  <c:v>45448</c:v>
                </c:pt>
                <c:pt idx="984">
                  <c:v>45449</c:v>
                </c:pt>
                <c:pt idx="985">
                  <c:v>45450</c:v>
                </c:pt>
                <c:pt idx="986">
                  <c:v>45453</c:v>
                </c:pt>
                <c:pt idx="987">
                  <c:v>45454</c:v>
                </c:pt>
                <c:pt idx="988">
                  <c:v>45455</c:v>
                </c:pt>
                <c:pt idx="989">
                  <c:v>45456</c:v>
                </c:pt>
                <c:pt idx="990">
                  <c:v>45457</c:v>
                </c:pt>
                <c:pt idx="991">
                  <c:v>45460</c:v>
                </c:pt>
                <c:pt idx="992">
                  <c:v>45461</c:v>
                </c:pt>
                <c:pt idx="993">
                  <c:v>45462</c:v>
                </c:pt>
                <c:pt idx="994">
                  <c:v>45463</c:v>
                </c:pt>
                <c:pt idx="995">
                  <c:v>45464</c:v>
                </c:pt>
                <c:pt idx="996">
                  <c:v>45467</c:v>
                </c:pt>
                <c:pt idx="997">
                  <c:v>45468</c:v>
                </c:pt>
                <c:pt idx="998">
                  <c:v>45469</c:v>
                </c:pt>
                <c:pt idx="999">
                  <c:v>45470</c:v>
                </c:pt>
                <c:pt idx="1000">
                  <c:v>45471</c:v>
                </c:pt>
                <c:pt idx="1001">
                  <c:v>45474</c:v>
                </c:pt>
                <c:pt idx="1002">
                  <c:v>45475</c:v>
                </c:pt>
                <c:pt idx="1003">
                  <c:v>45476</c:v>
                </c:pt>
                <c:pt idx="1004">
                  <c:v>45477</c:v>
                </c:pt>
                <c:pt idx="1005">
                  <c:v>45478</c:v>
                </c:pt>
                <c:pt idx="1006">
                  <c:v>45481</c:v>
                </c:pt>
                <c:pt idx="1007">
                  <c:v>45482</c:v>
                </c:pt>
                <c:pt idx="1008">
                  <c:v>45483</c:v>
                </c:pt>
                <c:pt idx="1009">
                  <c:v>45484</c:v>
                </c:pt>
                <c:pt idx="1010">
                  <c:v>45485</c:v>
                </c:pt>
                <c:pt idx="1011">
                  <c:v>45488</c:v>
                </c:pt>
                <c:pt idx="1012">
                  <c:v>45489</c:v>
                </c:pt>
                <c:pt idx="1013">
                  <c:v>45490</c:v>
                </c:pt>
                <c:pt idx="1014">
                  <c:v>45491</c:v>
                </c:pt>
                <c:pt idx="1015">
                  <c:v>45492</c:v>
                </c:pt>
                <c:pt idx="1016">
                  <c:v>45495</c:v>
                </c:pt>
                <c:pt idx="1017">
                  <c:v>45496</c:v>
                </c:pt>
                <c:pt idx="1018">
                  <c:v>45497</c:v>
                </c:pt>
                <c:pt idx="1019">
                  <c:v>45498</c:v>
                </c:pt>
                <c:pt idx="1020">
                  <c:v>45499</c:v>
                </c:pt>
                <c:pt idx="1021">
                  <c:v>45502</c:v>
                </c:pt>
                <c:pt idx="1022">
                  <c:v>45503</c:v>
                </c:pt>
                <c:pt idx="1023">
                  <c:v>45504</c:v>
                </c:pt>
                <c:pt idx="1024">
                  <c:v>45505</c:v>
                </c:pt>
                <c:pt idx="1025">
                  <c:v>45506</c:v>
                </c:pt>
                <c:pt idx="1026">
                  <c:v>45510</c:v>
                </c:pt>
                <c:pt idx="1027">
                  <c:v>45511</c:v>
                </c:pt>
                <c:pt idx="1028">
                  <c:v>45512</c:v>
                </c:pt>
                <c:pt idx="1029">
                  <c:v>45513</c:v>
                </c:pt>
                <c:pt idx="1030">
                  <c:v>45516</c:v>
                </c:pt>
                <c:pt idx="1031">
                  <c:v>45517</c:v>
                </c:pt>
                <c:pt idx="1032">
                  <c:v>45518</c:v>
                </c:pt>
                <c:pt idx="1033">
                  <c:v>45519</c:v>
                </c:pt>
                <c:pt idx="1034">
                  <c:v>45520</c:v>
                </c:pt>
                <c:pt idx="1035">
                  <c:v>45523</c:v>
                </c:pt>
                <c:pt idx="1036">
                  <c:v>45524</c:v>
                </c:pt>
                <c:pt idx="1037">
                  <c:v>45525</c:v>
                </c:pt>
                <c:pt idx="1038">
                  <c:v>45526</c:v>
                </c:pt>
                <c:pt idx="1039">
                  <c:v>45527</c:v>
                </c:pt>
                <c:pt idx="1040">
                  <c:v>45530</c:v>
                </c:pt>
                <c:pt idx="1041">
                  <c:v>45531</c:v>
                </c:pt>
                <c:pt idx="1042">
                  <c:v>45532</c:v>
                </c:pt>
                <c:pt idx="1043">
                  <c:v>45533</c:v>
                </c:pt>
                <c:pt idx="1044">
                  <c:v>45534</c:v>
                </c:pt>
                <c:pt idx="1045">
                  <c:v>45537</c:v>
                </c:pt>
                <c:pt idx="1046">
                  <c:v>45538</c:v>
                </c:pt>
                <c:pt idx="1047">
                  <c:v>45539</c:v>
                </c:pt>
                <c:pt idx="1048">
                  <c:v>45540</c:v>
                </c:pt>
                <c:pt idx="1049">
                  <c:v>45541</c:v>
                </c:pt>
                <c:pt idx="1050">
                  <c:v>45544</c:v>
                </c:pt>
                <c:pt idx="1051">
                  <c:v>45545</c:v>
                </c:pt>
                <c:pt idx="1052">
                  <c:v>45546</c:v>
                </c:pt>
                <c:pt idx="1053">
                  <c:v>45547</c:v>
                </c:pt>
                <c:pt idx="1054">
                  <c:v>45548</c:v>
                </c:pt>
                <c:pt idx="1055">
                  <c:v>45551</c:v>
                </c:pt>
                <c:pt idx="1056">
                  <c:v>45552</c:v>
                </c:pt>
                <c:pt idx="1057">
                  <c:v>45553</c:v>
                </c:pt>
                <c:pt idx="1058">
                  <c:v>45554</c:v>
                </c:pt>
                <c:pt idx="1059">
                  <c:v>45555</c:v>
                </c:pt>
                <c:pt idx="1060">
                  <c:v>45558</c:v>
                </c:pt>
                <c:pt idx="1061">
                  <c:v>45559</c:v>
                </c:pt>
                <c:pt idx="1062">
                  <c:v>45560</c:v>
                </c:pt>
                <c:pt idx="1063">
                  <c:v>45561</c:v>
                </c:pt>
                <c:pt idx="1064">
                  <c:v>45562</c:v>
                </c:pt>
                <c:pt idx="1065">
                  <c:v>45565</c:v>
                </c:pt>
                <c:pt idx="1066">
                  <c:v>45566</c:v>
                </c:pt>
                <c:pt idx="1067">
                  <c:v>45567</c:v>
                </c:pt>
                <c:pt idx="1068">
                  <c:v>45568</c:v>
                </c:pt>
                <c:pt idx="1069">
                  <c:v>45569</c:v>
                </c:pt>
                <c:pt idx="1070">
                  <c:v>45572</c:v>
                </c:pt>
                <c:pt idx="1071">
                  <c:v>45573</c:v>
                </c:pt>
                <c:pt idx="1072">
                  <c:v>45574</c:v>
                </c:pt>
                <c:pt idx="1073">
                  <c:v>45575</c:v>
                </c:pt>
                <c:pt idx="1074">
                  <c:v>45576</c:v>
                </c:pt>
                <c:pt idx="1075">
                  <c:v>45579</c:v>
                </c:pt>
                <c:pt idx="1076">
                  <c:v>45580</c:v>
                </c:pt>
                <c:pt idx="1077">
                  <c:v>45581</c:v>
                </c:pt>
                <c:pt idx="1078">
                  <c:v>45582</c:v>
                </c:pt>
                <c:pt idx="1079">
                  <c:v>45583</c:v>
                </c:pt>
                <c:pt idx="1080">
                  <c:v>45586</c:v>
                </c:pt>
                <c:pt idx="1081">
                  <c:v>45587</c:v>
                </c:pt>
                <c:pt idx="1082">
                  <c:v>45588</c:v>
                </c:pt>
                <c:pt idx="1083">
                  <c:v>45589</c:v>
                </c:pt>
                <c:pt idx="1084">
                  <c:v>45590</c:v>
                </c:pt>
                <c:pt idx="1085">
                  <c:v>45594</c:v>
                </c:pt>
                <c:pt idx="1086">
                  <c:v>45595</c:v>
                </c:pt>
                <c:pt idx="1087">
                  <c:v>45596</c:v>
                </c:pt>
                <c:pt idx="1088">
                  <c:v>45597</c:v>
                </c:pt>
                <c:pt idx="1089">
                  <c:v>45600</c:v>
                </c:pt>
                <c:pt idx="1090">
                  <c:v>45601</c:v>
                </c:pt>
                <c:pt idx="1091">
                  <c:v>45602</c:v>
                </c:pt>
                <c:pt idx="1092">
                  <c:v>45603</c:v>
                </c:pt>
                <c:pt idx="1093">
                  <c:v>45604</c:v>
                </c:pt>
                <c:pt idx="1094">
                  <c:v>45607</c:v>
                </c:pt>
                <c:pt idx="1095">
                  <c:v>45608</c:v>
                </c:pt>
                <c:pt idx="1096">
                  <c:v>45609</c:v>
                </c:pt>
                <c:pt idx="1097">
                  <c:v>45610</c:v>
                </c:pt>
                <c:pt idx="1098">
                  <c:v>45611</c:v>
                </c:pt>
                <c:pt idx="1099">
                  <c:v>45614</c:v>
                </c:pt>
                <c:pt idx="1100">
                  <c:v>45615</c:v>
                </c:pt>
                <c:pt idx="1101">
                  <c:v>45616</c:v>
                </c:pt>
                <c:pt idx="1102">
                  <c:v>45617</c:v>
                </c:pt>
                <c:pt idx="1103">
                  <c:v>45618</c:v>
                </c:pt>
                <c:pt idx="1104">
                  <c:v>45621</c:v>
                </c:pt>
                <c:pt idx="1105">
                  <c:v>45622</c:v>
                </c:pt>
                <c:pt idx="1106">
                  <c:v>45623</c:v>
                </c:pt>
                <c:pt idx="1107">
                  <c:v>45624</c:v>
                </c:pt>
                <c:pt idx="1108">
                  <c:v>45625</c:v>
                </c:pt>
                <c:pt idx="1109">
                  <c:v>45628</c:v>
                </c:pt>
                <c:pt idx="1110">
                  <c:v>45629</c:v>
                </c:pt>
                <c:pt idx="1111">
                  <c:v>45630</c:v>
                </c:pt>
                <c:pt idx="1112">
                  <c:v>45631</c:v>
                </c:pt>
                <c:pt idx="1113">
                  <c:v>45632</c:v>
                </c:pt>
                <c:pt idx="1114">
                  <c:v>45635</c:v>
                </c:pt>
                <c:pt idx="1115">
                  <c:v>45636</c:v>
                </c:pt>
                <c:pt idx="1116">
                  <c:v>45637</c:v>
                </c:pt>
                <c:pt idx="1117">
                  <c:v>45638</c:v>
                </c:pt>
                <c:pt idx="1118">
                  <c:v>45639</c:v>
                </c:pt>
                <c:pt idx="1119">
                  <c:v>45642</c:v>
                </c:pt>
                <c:pt idx="1120">
                  <c:v>45643</c:v>
                </c:pt>
                <c:pt idx="1121">
                  <c:v>45644</c:v>
                </c:pt>
                <c:pt idx="1122">
                  <c:v>45645</c:v>
                </c:pt>
                <c:pt idx="1123">
                  <c:v>45646</c:v>
                </c:pt>
                <c:pt idx="1124">
                  <c:v>45649</c:v>
                </c:pt>
                <c:pt idx="1125">
                  <c:v>45650</c:v>
                </c:pt>
                <c:pt idx="1126">
                  <c:v>45653</c:v>
                </c:pt>
                <c:pt idx="1127">
                  <c:v>45656</c:v>
                </c:pt>
                <c:pt idx="1128">
                  <c:v>45657</c:v>
                </c:pt>
                <c:pt idx="1129">
                  <c:v>45659</c:v>
                </c:pt>
                <c:pt idx="1130">
                  <c:v>45660</c:v>
                </c:pt>
                <c:pt idx="1131">
                  <c:v>45663</c:v>
                </c:pt>
                <c:pt idx="1132">
                  <c:v>45664</c:v>
                </c:pt>
                <c:pt idx="1133">
                  <c:v>45665</c:v>
                </c:pt>
                <c:pt idx="1134">
                  <c:v>45666</c:v>
                </c:pt>
                <c:pt idx="1135">
                  <c:v>45667</c:v>
                </c:pt>
                <c:pt idx="1136">
                  <c:v>45670</c:v>
                </c:pt>
                <c:pt idx="1137">
                  <c:v>45671</c:v>
                </c:pt>
                <c:pt idx="1138">
                  <c:v>45672</c:v>
                </c:pt>
                <c:pt idx="1139">
                  <c:v>45673</c:v>
                </c:pt>
                <c:pt idx="1140">
                  <c:v>45674</c:v>
                </c:pt>
                <c:pt idx="1141">
                  <c:v>45677</c:v>
                </c:pt>
                <c:pt idx="1142">
                  <c:v>45678</c:v>
                </c:pt>
                <c:pt idx="1143">
                  <c:v>45679</c:v>
                </c:pt>
                <c:pt idx="1144">
                  <c:v>45680</c:v>
                </c:pt>
                <c:pt idx="1145">
                  <c:v>45681</c:v>
                </c:pt>
                <c:pt idx="1146">
                  <c:v>45684</c:v>
                </c:pt>
                <c:pt idx="1147">
                  <c:v>45685</c:v>
                </c:pt>
                <c:pt idx="1148">
                  <c:v>45686</c:v>
                </c:pt>
                <c:pt idx="1149">
                  <c:v>45687</c:v>
                </c:pt>
                <c:pt idx="1150">
                  <c:v>45688</c:v>
                </c:pt>
                <c:pt idx="1151">
                  <c:v>45692</c:v>
                </c:pt>
                <c:pt idx="1152">
                  <c:v>45693</c:v>
                </c:pt>
                <c:pt idx="1153">
                  <c:v>45694</c:v>
                </c:pt>
                <c:pt idx="1154">
                  <c:v>45695</c:v>
                </c:pt>
                <c:pt idx="1155">
                  <c:v>45698</c:v>
                </c:pt>
                <c:pt idx="1156">
                  <c:v>45699</c:v>
                </c:pt>
                <c:pt idx="1157">
                  <c:v>45700</c:v>
                </c:pt>
                <c:pt idx="1158">
                  <c:v>45701</c:v>
                </c:pt>
                <c:pt idx="1159">
                  <c:v>45702</c:v>
                </c:pt>
                <c:pt idx="1160">
                  <c:v>45705</c:v>
                </c:pt>
                <c:pt idx="1161">
                  <c:v>45706</c:v>
                </c:pt>
                <c:pt idx="1162">
                  <c:v>45707</c:v>
                </c:pt>
                <c:pt idx="1163">
                  <c:v>45708</c:v>
                </c:pt>
                <c:pt idx="1164">
                  <c:v>45709</c:v>
                </c:pt>
                <c:pt idx="1165">
                  <c:v>45712</c:v>
                </c:pt>
                <c:pt idx="1166">
                  <c:v>45713</c:v>
                </c:pt>
                <c:pt idx="1167">
                  <c:v>45714</c:v>
                </c:pt>
                <c:pt idx="1168">
                  <c:v>45715</c:v>
                </c:pt>
                <c:pt idx="1169">
                  <c:v>45716</c:v>
                </c:pt>
                <c:pt idx="1170">
                  <c:v>45719</c:v>
                </c:pt>
                <c:pt idx="1171">
                  <c:v>45720</c:v>
                </c:pt>
                <c:pt idx="1172">
                  <c:v>45721</c:v>
                </c:pt>
                <c:pt idx="1173">
                  <c:v>45722</c:v>
                </c:pt>
                <c:pt idx="1174">
                  <c:v>45723</c:v>
                </c:pt>
                <c:pt idx="1175">
                  <c:v>45726</c:v>
                </c:pt>
                <c:pt idx="1176">
                  <c:v>45727</c:v>
                </c:pt>
                <c:pt idx="1177">
                  <c:v>45728</c:v>
                </c:pt>
                <c:pt idx="1178">
                  <c:v>45729</c:v>
                </c:pt>
                <c:pt idx="1179">
                  <c:v>45730</c:v>
                </c:pt>
                <c:pt idx="1180">
                  <c:v>45734</c:v>
                </c:pt>
                <c:pt idx="1181">
                  <c:v>45735</c:v>
                </c:pt>
                <c:pt idx="1182">
                  <c:v>45736</c:v>
                </c:pt>
                <c:pt idx="1183">
                  <c:v>45737</c:v>
                </c:pt>
                <c:pt idx="1184">
                  <c:v>45740</c:v>
                </c:pt>
                <c:pt idx="1185">
                  <c:v>45741</c:v>
                </c:pt>
                <c:pt idx="1186">
                  <c:v>45742</c:v>
                </c:pt>
                <c:pt idx="1187">
                  <c:v>45743</c:v>
                </c:pt>
                <c:pt idx="1188">
                  <c:v>45744</c:v>
                </c:pt>
                <c:pt idx="1189">
                  <c:v>45747</c:v>
                </c:pt>
                <c:pt idx="1190">
                  <c:v>45748</c:v>
                </c:pt>
                <c:pt idx="1191">
                  <c:v>45749</c:v>
                </c:pt>
                <c:pt idx="1192">
                  <c:v>45750</c:v>
                </c:pt>
                <c:pt idx="1193">
                  <c:v>45751</c:v>
                </c:pt>
                <c:pt idx="1194">
                  <c:v>45754</c:v>
                </c:pt>
                <c:pt idx="1195">
                  <c:v>45755</c:v>
                </c:pt>
                <c:pt idx="1196">
                  <c:v>45756</c:v>
                </c:pt>
                <c:pt idx="1197">
                  <c:v>45757</c:v>
                </c:pt>
                <c:pt idx="1198">
                  <c:v>45758</c:v>
                </c:pt>
                <c:pt idx="1199">
                  <c:v>45761</c:v>
                </c:pt>
                <c:pt idx="1200">
                  <c:v>45762</c:v>
                </c:pt>
                <c:pt idx="1201">
                  <c:v>45763</c:v>
                </c:pt>
                <c:pt idx="1202">
                  <c:v>45764</c:v>
                </c:pt>
                <c:pt idx="1203">
                  <c:v>45769</c:v>
                </c:pt>
                <c:pt idx="1204">
                  <c:v>45770</c:v>
                </c:pt>
                <c:pt idx="1205">
                  <c:v>45771</c:v>
                </c:pt>
                <c:pt idx="1206">
                  <c:v>45772</c:v>
                </c:pt>
                <c:pt idx="1207">
                  <c:v>45775</c:v>
                </c:pt>
                <c:pt idx="1208">
                  <c:v>45776</c:v>
                </c:pt>
                <c:pt idx="1209">
                  <c:v>45777</c:v>
                </c:pt>
                <c:pt idx="1210">
                  <c:v>45778</c:v>
                </c:pt>
                <c:pt idx="1211">
                  <c:v>45779</c:v>
                </c:pt>
                <c:pt idx="1212">
                  <c:v>45783</c:v>
                </c:pt>
                <c:pt idx="1213">
                  <c:v>45784</c:v>
                </c:pt>
                <c:pt idx="1214">
                  <c:v>45785</c:v>
                </c:pt>
                <c:pt idx="1215">
                  <c:v>45786</c:v>
                </c:pt>
                <c:pt idx="1216">
                  <c:v>45789</c:v>
                </c:pt>
                <c:pt idx="1217">
                  <c:v>45790</c:v>
                </c:pt>
                <c:pt idx="1218">
                  <c:v>45791</c:v>
                </c:pt>
                <c:pt idx="1219">
                  <c:v>45792</c:v>
                </c:pt>
                <c:pt idx="1220">
                  <c:v>45793</c:v>
                </c:pt>
                <c:pt idx="1221">
                  <c:v>45796</c:v>
                </c:pt>
                <c:pt idx="1222">
                  <c:v>45797</c:v>
                </c:pt>
                <c:pt idx="1223">
                  <c:v>45798</c:v>
                </c:pt>
                <c:pt idx="1224">
                  <c:v>45799</c:v>
                </c:pt>
                <c:pt idx="1225">
                  <c:v>45800</c:v>
                </c:pt>
                <c:pt idx="1226">
                  <c:v>45803</c:v>
                </c:pt>
                <c:pt idx="1227">
                  <c:v>45804</c:v>
                </c:pt>
                <c:pt idx="1228">
                  <c:v>45805</c:v>
                </c:pt>
                <c:pt idx="1229">
                  <c:v>45806</c:v>
                </c:pt>
                <c:pt idx="1230">
                  <c:v>45807</c:v>
                </c:pt>
                <c:pt idx="1231">
                  <c:v>45811</c:v>
                </c:pt>
              </c:numCache>
            </c:numRef>
          </c:cat>
          <c:val>
            <c:numRef>
              <c:f>Sheet1!$B$2:$B$1233</c:f>
            </c:numRef>
          </c:val>
          <c:smooth val="0"/>
          <c:extLst>
            <c:ext xmlns:c16="http://schemas.microsoft.com/office/drawing/2014/chart" uri="{C3380CC4-5D6E-409C-BE32-E72D297353CC}">
              <c16:uniqueId val="{00000000-6E3A-4E7F-A676-2610DFB25496}"/>
            </c:ext>
          </c:extLst>
        </c:ser>
        <c:ser>
          <c:idx val="1"/>
          <c:order val="1"/>
          <c:tx>
            <c:strRef>
              <c:f>Sheet1!$C$1</c:f>
              <c:strCache>
                <c:ptCount val="1"/>
                <c:pt idx="0">
                  <c:v>Series 2</c:v>
                </c:pt>
              </c:strCache>
            </c:strRef>
          </c:tx>
          <c:spPr>
            <a:ln w="28575" cap="rnd">
              <a:solidFill>
                <a:schemeClr val="accent1"/>
              </a:solidFill>
              <a:round/>
            </a:ln>
            <a:effectLst/>
          </c:spPr>
          <c:marker>
            <c:symbol val="none"/>
          </c:marker>
          <c:dLbls>
            <c:dLbl>
              <c:idx val="1231"/>
              <c:layout>
                <c:manualLayout>
                  <c:x val="-6.9306813623793029E-3"/>
                  <c:y val="-0.10859991619848988"/>
                </c:manualLayout>
              </c:layout>
              <c:tx>
                <c:rich>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fld id="{12626641-16F9-4D01-8E88-9139B06064C6}" type="VALUE">
                      <a:rPr lang="en-US" sz="1000" smtClean="0">
                        <a:solidFill>
                          <a:schemeClr val="tx1"/>
                        </a:solidFill>
                      </a:rPr>
                      <a:pPr>
                        <a:defRPr sz="1000">
                          <a:solidFill>
                            <a:schemeClr val="tx1"/>
                          </a:solidFill>
                        </a:defRPr>
                      </a:pPr>
                      <a:t>[VALUE]</a:t>
                    </a:fld>
                    <a:r>
                      <a:rPr lang="en-US" sz="1000" dirty="0">
                        <a:solidFill>
                          <a:schemeClr val="tx1"/>
                        </a:solidFill>
                      </a:rPr>
                      <a:t>%</a:t>
                    </a:r>
                  </a:p>
                </c:rich>
              </c:tx>
              <c:numFmt formatCode="#,##0.00" sourceLinked="0"/>
              <c:spPr>
                <a:solidFill>
                  <a:schemeClr val="bg1">
                    <a:lumMod val="95000"/>
                  </a:schemeClr>
                </a:solid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CH"/>
                </a:p>
              </c:txP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6E3A-4E7F-A676-2610DFB25496}"/>
                </c:ext>
              </c:extLst>
            </c:dLbl>
            <c:numFmt formatCode="#,##0.00" sourceLinked="0"/>
            <c:spPr>
              <a:solidFill>
                <a:schemeClr val="bg1">
                  <a:lumMod val="95000"/>
                </a:schemeClr>
              </a:solid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CH"/>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Sheet1!$A$2:$A$1233</c:f>
              <c:numCache>
                <c:formatCode>m/d/yyyy</c:formatCode>
                <c:ptCount val="1232"/>
                <c:pt idx="0">
                  <c:v>44012</c:v>
                </c:pt>
                <c:pt idx="1">
                  <c:v>44013</c:v>
                </c:pt>
                <c:pt idx="2">
                  <c:v>44014</c:v>
                </c:pt>
                <c:pt idx="3">
                  <c:v>44015</c:v>
                </c:pt>
                <c:pt idx="4">
                  <c:v>44018</c:v>
                </c:pt>
                <c:pt idx="5">
                  <c:v>44019</c:v>
                </c:pt>
                <c:pt idx="6">
                  <c:v>44020</c:v>
                </c:pt>
                <c:pt idx="7">
                  <c:v>44021</c:v>
                </c:pt>
                <c:pt idx="8">
                  <c:v>44022</c:v>
                </c:pt>
                <c:pt idx="9">
                  <c:v>44025</c:v>
                </c:pt>
                <c:pt idx="10">
                  <c:v>44026</c:v>
                </c:pt>
                <c:pt idx="11">
                  <c:v>44027</c:v>
                </c:pt>
                <c:pt idx="12">
                  <c:v>44028</c:v>
                </c:pt>
                <c:pt idx="13">
                  <c:v>44029</c:v>
                </c:pt>
                <c:pt idx="14">
                  <c:v>44032</c:v>
                </c:pt>
                <c:pt idx="15">
                  <c:v>44033</c:v>
                </c:pt>
                <c:pt idx="16">
                  <c:v>44034</c:v>
                </c:pt>
                <c:pt idx="17">
                  <c:v>44035</c:v>
                </c:pt>
                <c:pt idx="18">
                  <c:v>44036</c:v>
                </c:pt>
                <c:pt idx="19">
                  <c:v>44039</c:v>
                </c:pt>
                <c:pt idx="20">
                  <c:v>44040</c:v>
                </c:pt>
                <c:pt idx="21">
                  <c:v>44041</c:v>
                </c:pt>
                <c:pt idx="22">
                  <c:v>44042</c:v>
                </c:pt>
                <c:pt idx="23">
                  <c:v>44043</c:v>
                </c:pt>
                <c:pt idx="24">
                  <c:v>44047</c:v>
                </c:pt>
                <c:pt idx="25">
                  <c:v>44048</c:v>
                </c:pt>
                <c:pt idx="26">
                  <c:v>44049</c:v>
                </c:pt>
                <c:pt idx="27">
                  <c:v>44050</c:v>
                </c:pt>
                <c:pt idx="28">
                  <c:v>44053</c:v>
                </c:pt>
                <c:pt idx="29">
                  <c:v>44054</c:v>
                </c:pt>
                <c:pt idx="30">
                  <c:v>44055</c:v>
                </c:pt>
                <c:pt idx="31">
                  <c:v>44056</c:v>
                </c:pt>
                <c:pt idx="32">
                  <c:v>44057</c:v>
                </c:pt>
                <c:pt idx="33">
                  <c:v>44060</c:v>
                </c:pt>
                <c:pt idx="34">
                  <c:v>44061</c:v>
                </c:pt>
                <c:pt idx="35">
                  <c:v>44062</c:v>
                </c:pt>
                <c:pt idx="36">
                  <c:v>44063</c:v>
                </c:pt>
                <c:pt idx="37">
                  <c:v>44064</c:v>
                </c:pt>
                <c:pt idx="38">
                  <c:v>44067</c:v>
                </c:pt>
                <c:pt idx="39">
                  <c:v>44068</c:v>
                </c:pt>
                <c:pt idx="40">
                  <c:v>44069</c:v>
                </c:pt>
                <c:pt idx="41">
                  <c:v>44070</c:v>
                </c:pt>
                <c:pt idx="42">
                  <c:v>44071</c:v>
                </c:pt>
                <c:pt idx="43">
                  <c:v>44074</c:v>
                </c:pt>
                <c:pt idx="44">
                  <c:v>44075</c:v>
                </c:pt>
                <c:pt idx="45">
                  <c:v>44076</c:v>
                </c:pt>
                <c:pt idx="46">
                  <c:v>44077</c:v>
                </c:pt>
                <c:pt idx="47">
                  <c:v>44078</c:v>
                </c:pt>
                <c:pt idx="48">
                  <c:v>44081</c:v>
                </c:pt>
                <c:pt idx="49">
                  <c:v>44082</c:v>
                </c:pt>
                <c:pt idx="50">
                  <c:v>44083</c:v>
                </c:pt>
                <c:pt idx="51">
                  <c:v>44084</c:v>
                </c:pt>
                <c:pt idx="52">
                  <c:v>44085</c:v>
                </c:pt>
                <c:pt idx="53">
                  <c:v>44088</c:v>
                </c:pt>
                <c:pt idx="54">
                  <c:v>44089</c:v>
                </c:pt>
                <c:pt idx="55">
                  <c:v>44090</c:v>
                </c:pt>
                <c:pt idx="56">
                  <c:v>44091</c:v>
                </c:pt>
                <c:pt idx="57">
                  <c:v>44092</c:v>
                </c:pt>
                <c:pt idx="58">
                  <c:v>44095</c:v>
                </c:pt>
                <c:pt idx="59">
                  <c:v>44096</c:v>
                </c:pt>
                <c:pt idx="60">
                  <c:v>44097</c:v>
                </c:pt>
                <c:pt idx="61">
                  <c:v>44098</c:v>
                </c:pt>
                <c:pt idx="62">
                  <c:v>44099</c:v>
                </c:pt>
                <c:pt idx="63">
                  <c:v>44102</c:v>
                </c:pt>
                <c:pt idx="64">
                  <c:v>44103</c:v>
                </c:pt>
                <c:pt idx="65">
                  <c:v>44104</c:v>
                </c:pt>
                <c:pt idx="66">
                  <c:v>44105</c:v>
                </c:pt>
                <c:pt idx="67">
                  <c:v>44106</c:v>
                </c:pt>
                <c:pt idx="68">
                  <c:v>44109</c:v>
                </c:pt>
                <c:pt idx="69">
                  <c:v>44110</c:v>
                </c:pt>
                <c:pt idx="70">
                  <c:v>44111</c:v>
                </c:pt>
                <c:pt idx="71">
                  <c:v>44112</c:v>
                </c:pt>
                <c:pt idx="72">
                  <c:v>44113</c:v>
                </c:pt>
                <c:pt idx="73">
                  <c:v>44116</c:v>
                </c:pt>
                <c:pt idx="74">
                  <c:v>44117</c:v>
                </c:pt>
                <c:pt idx="75">
                  <c:v>44118</c:v>
                </c:pt>
                <c:pt idx="76">
                  <c:v>44119</c:v>
                </c:pt>
                <c:pt idx="77">
                  <c:v>44120</c:v>
                </c:pt>
                <c:pt idx="78">
                  <c:v>44123</c:v>
                </c:pt>
                <c:pt idx="79">
                  <c:v>44124</c:v>
                </c:pt>
                <c:pt idx="80">
                  <c:v>44125</c:v>
                </c:pt>
                <c:pt idx="81">
                  <c:v>44126</c:v>
                </c:pt>
                <c:pt idx="82">
                  <c:v>44127</c:v>
                </c:pt>
                <c:pt idx="83">
                  <c:v>44131</c:v>
                </c:pt>
                <c:pt idx="84">
                  <c:v>44132</c:v>
                </c:pt>
                <c:pt idx="85">
                  <c:v>44133</c:v>
                </c:pt>
                <c:pt idx="86">
                  <c:v>44134</c:v>
                </c:pt>
                <c:pt idx="87">
                  <c:v>44137</c:v>
                </c:pt>
                <c:pt idx="88">
                  <c:v>44138</c:v>
                </c:pt>
                <c:pt idx="89">
                  <c:v>44139</c:v>
                </c:pt>
                <c:pt idx="90">
                  <c:v>44140</c:v>
                </c:pt>
                <c:pt idx="91">
                  <c:v>44141</c:v>
                </c:pt>
                <c:pt idx="92">
                  <c:v>44144</c:v>
                </c:pt>
                <c:pt idx="93">
                  <c:v>44145</c:v>
                </c:pt>
                <c:pt idx="94">
                  <c:v>44146</c:v>
                </c:pt>
                <c:pt idx="95">
                  <c:v>44147</c:v>
                </c:pt>
                <c:pt idx="96">
                  <c:v>44148</c:v>
                </c:pt>
                <c:pt idx="97">
                  <c:v>44151</c:v>
                </c:pt>
                <c:pt idx="98">
                  <c:v>44152</c:v>
                </c:pt>
                <c:pt idx="99">
                  <c:v>44153</c:v>
                </c:pt>
                <c:pt idx="100">
                  <c:v>44154</c:v>
                </c:pt>
                <c:pt idx="101">
                  <c:v>44155</c:v>
                </c:pt>
                <c:pt idx="102">
                  <c:v>44158</c:v>
                </c:pt>
                <c:pt idx="103">
                  <c:v>44159</c:v>
                </c:pt>
                <c:pt idx="104">
                  <c:v>44160</c:v>
                </c:pt>
                <c:pt idx="105">
                  <c:v>44161</c:v>
                </c:pt>
                <c:pt idx="106">
                  <c:v>44162</c:v>
                </c:pt>
                <c:pt idx="107">
                  <c:v>44165</c:v>
                </c:pt>
                <c:pt idx="108">
                  <c:v>44166</c:v>
                </c:pt>
                <c:pt idx="109">
                  <c:v>44167</c:v>
                </c:pt>
                <c:pt idx="110">
                  <c:v>44168</c:v>
                </c:pt>
                <c:pt idx="111">
                  <c:v>44169</c:v>
                </c:pt>
                <c:pt idx="112">
                  <c:v>44172</c:v>
                </c:pt>
                <c:pt idx="113">
                  <c:v>44173</c:v>
                </c:pt>
                <c:pt idx="114">
                  <c:v>44174</c:v>
                </c:pt>
                <c:pt idx="115">
                  <c:v>44175</c:v>
                </c:pt>
                <c:pt idx="116">
                  <c:v>44176</c:v>
                </c:pt>
                <c:pt idx="117">
                  <c:v>44179</c:v>
                </c:pt>
                <c:pt idx="118">
                  <c:v>44180</c:v>
                </c:pt>
                <c:pt idx="119">
                  <c:v>44181</c:v>
                </c:pt>
                <c:pt idx="120">
                  <c:v>44182</c:v>
                </c:pt>
                <c:pt idx="121">
                  <c:v>44183</c:v>
                </c:pt>
                <c:pt idx="122">
                  <c:v>44186</c:v>
                </c:pt>
                <c:pt idx="123">
                  <c:v>44187</c:v>
                </c:pt>
                <c:pt idx="124">
                  <c:v>44188</c:v>
                </c:pt>
                <c:pt idx="125">
                  <c:v>44189</c:v>
                </c:pt>
                <c:pt idx="126">
                  <c:v>44194</c:v>
                </c:pt>
                <c:pt idx="127">
                  <c:v>44195</c:v>
                </c:pt>
                <c:pt idx="128">
                  <c:v>44196</c:v>
                </c:pt>
                <c:pt idx="129">
                  <c:v>44200</c:v>
                </c:pt>
                <c:pt idx="130">
                  <c:v>44201</c:v>
                </c:pt>
                <c:pt idx="131">
                  <c:v>44202</c:v>
                </c:pt>
                <c:pt idx="132">
                  <c:v>44203</c:v>
                </c:pt>
                <c:pt idx="133">
                  <c:v>44204</c:v>
                </c:pt>
                <c:pt idx="134">
                  <c:v>44207</c:v>
                </c:pt>
                <c:pt idx="135">
                  <c:v>44208</c:v>
                </c:pt>
                <c:pt idx="136">
                  <c:v>44209</c:v>
                </c:pt>
                <c:pt idx="137">
                  <c:v>44210</c:v>
                </c:pt>
                <c:pt idx="138">
                  <c:v>44211</c:v>
                </c:pt>
                <c:pt idx="139">
                  <c:v>44214</c:v>
                </c:pt>
                <c:pt idx="140">
                  <c:v>44215</c:v>
                </c:pt>
                <c:pt idx="141">
                  <c:v>44216</c:v>
                </c:pt>
                <c:pt idx="142">
                  <c:v>44217</c:v>
                </c:pt>
                <c:pt idx="143">
                  <c:v>44218</c:v>
                </c:pt>
                <c:pt idx="144">
                  <c:v>44221</c:v>
                </c:pt>
                <c:pt idx="145">
                  <c:v>44222</c:v>
                </c:pt>
                <c:pt idx="146">
                  <c:v>44223</c:v>
                </c:pt>
                <c:pt idx="147">
                  <c:v>44224</c:v>
                </c:pt>
                <c:pt idx="148">
                  <c:v>44225</c:v>
                </c:pt>
                <c:pt idx="149">
                  <c:v>44228</c:v>
                </c:pt>
                <c:pt idx="150">
                  <c:v>44229</c:v>
                </c:pt>
                <c:pt idx="151">
                  <c:v>44230</c:v>
                </c:pt>
                <c:pt idx="152">
                  <c:v>44231</c:v>
                </c:pt>
                <c:pt idx="153">
                  <c:v>44232</c:v>
                </c:pt>
                <c:pt idx="154">
                  <c:v>44235</c:v>
                </c:pt>
                <c:pt idx="155">
                  <c:v>44236</c:v>
                </c:pt>
                <c:pt idx="156">
                  <c:v>44237</c:v>
                </c:pt>
                <c:pt idx="157">
                  <c:v>44238</c:v>
                </c:pt>
                <c:pt idx="158">
                  <c:v>44239</c:v>
                </c:pt>
                <c:pt idx="159">
                  <c:v>44242</c:v>
                </c:pt>
                <c:pt idx="160">
                  <c:v>44243</c:v>
                </c:pt>
                <c:pt idx="161">
                  <c:v>44244</c:v>
                </c:pt>
                <c:pt idx="162">
                  <c:v>44245</c:v>
                </c:pt>
                <c:pt idx="163">
                  <c:v>44246</c:v>
                </c:pt>
                <c:pt idx="164">
                  <c:v>44249</c:v>
                </c:pt>
                <c:pt idx="165">
                  <c:v>44250</c:v>
                </c:pt>
                <c:pt idx="166">
                  <c:v>44251</c:v>
                </c:pt>
                <c:pt idx="167">
                  <c:v>44252</c:v>
                </c:pt>
                <c:pt idx="168">
                  <c:v>44253</c:v>
                </c:pt>
                <c:pt idx="169">
                  <c:v>44256</c:v>
                </c:pt>
                <c:pt idx="170">
                  <c:v>44257</c:v>
                </c:pt>
                <c:pt idx="171">
                  <c:v>44258</c:v>
                </c:pt>
                <c:pt idx="172">
                  <c:v>44259</c:v>
                </c:pt>
                <c:pt idx="173">
                  <c:v>44260</c:v>
                </c:pt>
                <c:pt idx="174">
                  <c:v>44263</c:v>
                </c:pt>
                <c:pt idx="175">
                  <c:v>44264</c:v>
                </c:pt>
                <c:pt idx="176">
                  <c:v>44265</c:v>
                </c:pt>
                <c:pt idx="177">
                  <c:v>44266</c:v>
                </c:pt>
                <c:pt idx="178">
                  <c:v>44267</c:v>
                </c:pt>
                <c:pt idx="179">
                  <c:v>44270</c:v>
                </c:pt>
                <c:pt idx="180">
                  <c:v>44271</c:v>
                </c:pt>
                <c:pt idx="181">
                  <c:v>44273</c:v>
                </c:pt>
                <c:pt idx="182">
                  <c:v>44274</c:v>
                </c:pt>
                <c:pt idx="183">
                  <c:v>44277</c:v>
                </c:pt>
                <c:pt idx="184">
                  <c:v>44278</c:v>
                </c:pt>
                <c:pt idx="185">
                  <c:v>44279</c:v>
                </c:pt>
                <c:pt idx="186">
                  <c:v>44280</c:v>
                </c:pt>
                <c:pt idx="187">
                  <c:v>44281</c:v>
                </c:pt>
                <c:pt idx="188">
                  <c:v>44284</c:v>
                </c:pt>
                <c:pt idx="189">
                  <c:v>44285</c:v>
                </c:pt>
                <c:pt idx="190">
                  <c:v>44286</c:v>
                </c:pt>
                <c:pt idx="191">
                  <c:v>44287</c:v>
                </c:pt>
                <c:pt idx="192">
                  <c:v>44292</c:v>
                </c:pt>
                <c:pt idx="193">
                  <c:v>44293</c:v>
                </c:pt>
                <c:pt idx="194">
                  <c:v>44294</c:v>
                </c:pt>
                <c:pt idx="195">
                  <c:v>44295</c:v>
                </c:pt>
                <c:pt idx="196">
                  <c:v>44298</c:v>
                </c:pt>
                <c:pt idx="197">
                  <c:v>44299</c:v>
                </c:pt>
                <c:pt idx="198">
                  <c:v>44300</c:v>
                </c:pt>
                <c:pt idx="199">
                  <c:v>44301</c:v>
                </c:pt>
                <c:pt idx="200">
                  <c:v>44302</c:v>
                </c:pt>
                <c:pt idx="201">
                  <c:v>44305</c:v>
                </c:pt>
                <c:pt idx="202">
                  <c:v>44306</c:v>
                </c:pt>
                <c:pt idx="203">
                  <c:v>44307</c:v>
                </c:pt>
                <c:pt idx="204">
                  <c:v>44308</c:v>
                </c:pt>
                <c:pt idx="205">
                  <c:v>44309</c:v>
                </c:pt>
                <c:pt idx="206">
                  <c:v>44312</c:v>
                </c:pt>
                <c:pt idx="207">
                  <c:v>44313</c:v>
                </c:pt>
                <c:pt idx="208">
                  <c:v>44314</c:v>
                </c:pt>
                <c:pt idx="209">
                  <c:v>44315</c:v>
                </c:pt>
                <c:pt idx="210">
                  <c:v>44316</c:v>
                </c:pt>
                <c:pt idx="211">
                  <c:v>44320</c:v>
                </c:pt>
                <c:pt idx="212">
                  <c:v>44321</c:v>
                </c:pt>
                <c:pt idx="213">
                  <c:v>44322</c:v>
                </c:pt>
                <c:pt idx="214">
                  <c:v>44323</c:v>
                </c:pt>
                <c:pt idx="215">
                  <c:v>44326</c:v>
                </c:pt>
                <c:pt idx="216">
                  <c:v>44327</c:v>
                </c:pt>
                <c:pt idx="217">
                  <c:v>44328</c:v>
                </c:pt>
                <c:pt idx="218">
                  <c:v>44329</c:v>
                </c:pt>
                <c:pt idx="219">
                  <c:v>44330</c:v>
                </c:pt>
                <c:pt idx="220">
                  <c:v>44333</c:v>
                </c:pt>
                <c:pt idx="221">
                  <c:v>44334</c:v>
                </c:pt>
                <c:pt idx="222">
                  <c:v>44335</c:v>
                </c:pt>
                <c:pt idx="223">
                  <c:v>44336</c:v>
                </c:pt>
                <c:pt idx="224">
                  <c:v>44337</c:v>
                </c:pt>
                <c:pt idx="225">
                  <c:v>44340</c:v>
                </c:pt>
                <c:pt idx="226">
                  <c:v>44341</c:v>
                </c:pt>
                <c:pt idx="227">
                  <c:v>44342</c:v>
                </c:pt>
                <c:pt idx="228">
                  <c:v>44343</c:v>
                </c:pt>
                <c:pt idx="229">
                  <c:v>44344</c:v>
                </c:pt>
                <c:pt idx="230">
                  <c:v>44347</c:v>
                </c:pt>
                <c:pt idx="231">
                  <c:v>44348</c:v>
                </c:pt>
                <c:pt idx="232">
                  <c:v>44349</c:v>
                </c:pt>
                <c:pt idx="233">
                  <c:v>44350</c:v>
                </c:pt>
                <c:pt idx="234">
                  <c:v>44351</c:v>
                </c:pt>
                <c:pt idx="235">
                  <c:v>44355</c:v>
                </c:pt>
                <c:pt idx="236">
                  <c:v>44356</c:v>
                </c:pt>
                <c:pt idx="237">
                  <c:v>44357</c:v>
                </c:pt>
                <c:pt idx="238">
                  <c:v>44358</c:v>
                </c:pt>
                <c:pt idx="239">
                  <c:v>44361</c:v>
                </c:pt>
                <c:pt idx="240">
                  <c:v>44362</c:v>
                </c:pt>
                <c:pt idx="241">
                  <c:v>44363</c:v>
                </c:pt>
                <c:pt idx="242">
                  <c:v>44364</c:v>
                </c:pt>
                <c:pt idx="243">
                  <c:v>44365</c:v>
                </c:pt>
                <c:pt idx="244">
                  <c:v>44368</c:v>
                </c:pt>
                <c:pt idx="245">
                  <c:v>44369</c:v>
                </c:pt>
                <c:pt idx="246">
                  <c:v>44370</c:v>
                </c:pt>
                <c:pt idx="247">
                  <c:v>44371</c:v>
                </c:pt>
                <c:pt idx="248">
                  <c:v>44372</c:v>
                </c:pt>
                <c:pt idx="249">
                  <c:v>44375</c:v>
                </c:pt>
                <c:pt idx="250">
                  <c:v>44376</c:v>
                </c:pt>
                <c:pt idx="251">
                  <c:v>44377</c:v>
                </c:pt>
                <c:pt idx="252">
                  <c:v>44378</c:v>
                </c:pt>
                <c:pt idx="253">
                  <c:v>44379</c:v>
                </c:pt>
                <c:pt idx="254">
                  <c:v>44382</c:v>
                </c:pt>
                <c:pt idx="255">
                  <c:v>44383</c:v>
                </c:pt>
                <c:pt idx="256">
                  <c:v>44384</c:v>
                </c:pt>
                <c:pt idx="257">
                  <c:v>44385</c:v>
                </c:pt>
                <c:pt idx="258">
                  <c:v>44386</c:v>
                </c:pt>
                <c:pt idx="259">
                  <c:v>44389</c:v>
                </c:pt>
                <c:pt idx="260">
                  <c:v>44390</c:v>
                </c:pt>
                <c:pt idx="261">
                  <c:v>44391</c:v>
                </c:pt>
                <c:pt idx="262">
                  <c:v>44392</c:v>
                </c:pt>
                <c:pt idx="263">
                  <c:v>44393</c:v>
                </c:pt>
                <c:pt idx="264">
                  <c:v>44396</c:v>
                </c:pt>
                <c:pt idx="265">
                  <c:v>44397</c:v>
                </c:pt>
                <c:pt idx="266">
                  <c:v>44398</c:v>
                </c:pt>
                <c:pt idx="267">
                  <c:v>44399</c:v>
                </c:pt>
                <c:pt idx="268">
                  <c:v>44400</c:v>
                </c:pt>
                <c:pt idx="269">
                  <c:v>44403</c:v>
                </c:pt>
                <c:pt idx="270">
                  <c:v>44404</c:v>
                </c:pt>
                <c:pt idx="271">
                  <c:v>44405</c:v>
                </c:pt>
                <c:pt idx="272">
                  <c:v>44406</c:v>
                </c:pt>
                <c:pt idx="273">
                  <c:v>44407</c:v>
                </c:pt>
                <c:pt idx="274">
                  <c:v>44411</c:v>
                </c:pt>
                <c:pt idx="275">
                  <c:v>44412</c:v>
                </c:pt>
                <c:pt idx="276">
                  <c:v>44413</c:v>
                </c:pt>
                <c:pt idx="277">
                  <c:v>44414</c:v>
                </c:pt>
                <c:pt idx="278">
                  <c:v>44417</c:v>
                </c:pt>
                <c:pt idx="279">
                  <c:v>44418</c:v>
                </c:pt>
                <c:pt idx="280">
                  <c:v>44419</c:v>
                </c:pt>
                <c:pt idx="281">
                  <c:v>44420</c:v>
                </c:pt>
                <c:pt idx="282">
                  <c:v>44421</c:v>
                </c:pt>
                <c:pt idx="283">
                  <c:v>44424</c:v>
                </c:pt>
                <c:pt idx="284">
                  <c:v>44425</c:v>
                </c:pt>
                <c:pt idx="285">
                  <c:v>44426</c:v>
                </c:pt>
                <c:pt idx="286">
                  <c:v>44427</c:v>
                </c:pt>
                <c:pt idx="287">
                  <c:v>44428</c:v>
                </c:pt>
                <c:pt idx="288">
                  <c:v>44431</c:v>
                </c:pt>
                <c:pt idx="289">
                  <c:v>44432</c:v>
                </c:pt>
                <c:pt idx="290">
                  <c:v>44433</c:v>
                </c:pt>
                <c:pt idx="291">
                  <c:v>44434</c:v>
                </c:pt>
                <c:pt idx="292">
                  <c:v>44435</c:v>
                </c:pt>
                <c:pt idx="293">
                  <c:v>44438</c:v>
                </c:pt>
                <c:pt idx="294">
                  <c:v>44439</c:v>
                </c:pt>
                <c:pt idx="295">
                  <c:v>44440</c:v>
                </c:pt>
                <c:pt idx="296">
                  <c:v>44441</c:v>
                </c:pt>
                <c:pt idx="297">
                  <c:v>44442</c:v>
                </c:pt>
                <c:pt idx="298">
                  <c:v>44445</c:v>
                </c:pt>
                <c:pt idx="299">
                  <c:v>44446</c:v>
                </c:pt>
                <c:pt idx="300">
                  <c:v>44447</c:v>
                </c:pt>
                <c:pt idx="301">
                  <c:v>44448</c:v>
                </c:pt>
                <c:pt idx="302">
                  <c:v>44449</c:v>
                </c:pt>
                <c:pt idx="303">
                  <c:v>44452</c:v>
                </c:pt>
                <c:pt idx="304">
                  <c:v>44453</c:v>
                </c:pt>
                <c:pt idx="305">
                  <c:v>44454</c:v>
                </c:pt>
                <c:pt idx="306">
                  <c:v>44455</c:v>
                </c:pt>
                <c:pt idx="307">
                  <c:v>44456</c:v>
                </c:pt>
                <c:pt idx="308">
                  <c:v>44459</c:v>
                </c:pt>
                <c:pt idx="309">
                  <c:v>44460</c:v>
                </c:pt>
                <c:pt idx="310">
                  <c:v>44461</c:v>
                </c:pt>
                <c:pt idx="311">
                  <c:v>44462</c:v>
                </c:pt>
                <c:pt idx="312">
                  <c:v>44463</c:v>
                </c:pt>
                <c:pt idx="313">
                  <c:v>44466</c:v>
                </c:pt>
                <c:pt idx="314">
                  <c:v>44467</c:v>
                </c:pt>
                <c:pt idx="315">
                  <c:v>44468</c:v>
                </c:pt>
                <c:pt idx="316">
                  <c:v>44469</c:v>
                </c:pt>
                <c:pt idx="317">
                  <c:v>44470</c:v>
                </c:pt>
                <c:pt idx="318">
                  <c:v>44473</c:v>
                </c:pt>
                <c:pt idx="319">
                  <c:v>44474</c:v>
                </c:pt>
                <c:pt idx="320">
                  <c:v>44475</c:v>
                </c:pt>
                <c:pt idx="321">
                  <c:v>44476</c:v>
                </c:pt>
                <c:pt idx="322">
                  <c:v>44477</c:v>
                </c:pt>
                <c:pt idx="323">
                  <c:v>44480</c:v>
                </c:pt>
                <c:pt idx="324">
                  <c:v>44481</c:v>
                </c:pt>
                <c:pt idx="325">
                  <c:v>44482</c:v>
                </c:pt>
                <c:pt idx="326">
                  <c:v>44483</c:v>
                </c:pt>
                <c:pt idx="327">
                  <c:v>44484</c:v>
                </c:pt>
                <c:pt idx="328">
                  <c:v>44487</c:v>
                </c:pt>
                <c:pt idx="329">
                  <c:v>44488</c:v>
                </c:pt>
                <c:pt idx="330">
                  <c:v>44489</c:v>
                </c:pt>
                <c:pt idx="331">
                  <c:v>44490</c:v>
                </c:pt>
                <c:pt idx="332">
                  <c:v>44491</c:v>
                </c:pt>
                <c:pt idx="333">
                  <c:v>44495</c:v>
                </c:pt>
                <c:pt idx="334">
                  <c:v>44496</c:v>
                </c:pt>
                <c:pt idx="335">
                  <c:v>44497</c:v>
                </c:pt>
                <c:pt idx="336">
                  <c:v>44498</c:v>
                </c:pt>
                <c:pt idx="337">
                  <c:v>44501</c:v>
                </c:pt>
                <c:pt idx="338">
                  <c:v>44502</c:v>
                </c:pt>
                <c:pt idx="339">
                  <c:v>44503</c:v>
                </c:pt>
                <c:pt idx="340">
                  <c:v>44504</c:v>
                </c:pt>
                <c:pt idx="341">
                  <c:v>44505</c:v>
                </c:pt>
                <c:pt idx="342">
                  <c:v>44508</c:v>
                </c:pt>
                <c:pt idx="343">
                  <c:v>44509</c:v>
                </c:pt>
                <c:pt idx="344">
                  <c:v>44510</c:v>
                </c:pt>
                <c:pt idx="345">
                  <c:v>44511</c:v>
                </c:pt>
                <c:pt idx="346">
                  <c:v>44512</c:v>
                </c:pt>
                <c:pt idx="347">
                  <c:v>44515</c:v>
                </c:pt>
                <c:pt idx="348">
                  <c:v>44516</c:v>
                </c:pt>
                <c:pt idx="349">
                  <c:v>44517</c:v>
                </c:pt>
                <c:pt idx="350">
                  <c:v>44518</c:v>
                </c:pt>
                <c:pt idx="351">
                  <c:v>44519</c:v>
                </c:pt>
                <c:pt idx="352">
                  <c:v>44522</c:v>
                </c:pt>
                <c:pt idx="353">
                  <c:v>44523</c:v>
                </c:pt>
                <c:pt idx="354">
                  <c:v>44524</c:v>
                </c:pt>
                <c:pt idx="355">
                  <c:v>44525</c:v>
                </c:pt>
                <c:pt idx="356">
                  <c:v>44526</c:v>
                </c:pt>
                <c:pt idx="357">
                  <c:v>44529</c:v>
                </c:pt>
                <c:pt idx="358">
                  <c:v>44530</c:v>
                </c:pt>
                <c:pt idx="359">
                  <c:v>44531</c:v>
                </c:pt>
                <c:pt idx="360">
                  <c:v>44532</c:v>
                </c:pt>
                <c:pt idx="361">
                  <c:v>44533</c:v>
                </c:pt>
                <c:pt idx="362">
                  <c:v>44536</c:v>
                </c:pt>
                <c:pt idx="363">
                  <c:v>44537</c:v>
                </c:pt>
                <c:pt idx="364">
                  <c:v>44538</c:v>
                </c:pt>
                <c:pt idx="365">
                  <c:v>44539</c:v>
                </c:pt>
                <c:pt idx="366">
                  <c:v>44540</c:v>
                </c:pt>
                <c:pt idx="367">
                  <c:v>44543</c:v>
                </c:pt>
                <c:pt idx="368">
                  <c:v>44544</c:v>
                </c:pt>
                <c:pt idx="369">
                  <c:v>44545</c:v>
                </c:pt>
                <c:pt idx="370">
                  <c:v>44546</c:v>
                </c:pt>
                <c:pt idx="371">
                  <c:v>44547</c:v>
                </c:pt>
                <c:pt idx="372">
                  <c:v>44550</c:v>
                </c:pt>
                <c:pt idx="373">
                  <c:v>44551</c:v>
                </c:pt>
                <c:pt idx="374">
                  <c:v>44552</c:v>
                </c:pt>
                <c:pt idx="375">
                  <c:v>44553</c:v>
                </c:pt>
                <c:pt idx="376">
                  <c:v>44554</c:v>
                </c:pt>
                <c:pt idx="377">
                  <c:v>44559</c:v>
                </c:pt>
                <c:pt idx="378">
                  <c:v>44560</c:v>
                </c:pt>
                <c:pt idx="379">
                  <c:v>44561</c:v>
                </c:pt>
                <c:pt idx="380">
                  <c:v>44565</c:v>
                </c:pt>
                <c:pt idx="381">
                  <c:v>44566</c:v>
                </c:pt>
                <c:pt idx="382">
                  <c:v>44567</c:v>
                </c:pt>
                <c:pt idx="383">
                  <c:v>44568</c:v>
                </c:pt>
                <c:pt idx="384">
                  <c:v>44571</c:v>
                </c:pt>
                <c:pt idx="385">
                  <c:v>44572</c:v>
                </c:pt>
                <c:pt idx="386">
                  <c:v>44573</c:v>
                </c:pt>
                <c:pt idx="387">
                  <c:v>44574</c:v>
                </c:pt>
                <c:pt idx="388">
                  <c:v>44575</c:v>
                </c:pt>
                <c:pt idx="389">
                  <c:v>44578</c:v>
                </c:pt>
                <c:pt idx="390">
                  <c:v>44579</c:v>
                </c:pt>
                <c:pt idx="391">
                  <c:v>44580</c:v>
                </c:pt>
                <c:pt idx="392">
                  <c:v>44581</c:v>
                </c:pt>
                <c:pt idx="393">
                  <c:v>44582</c:v>
                </c:pt>
                <c:pt idx="394">
                  <c:v>44585</c:v>
                </c:pt>
                <c:pt idx="395">
                  <c:v>44586</c:v>
                </c:pt>
                <c:pt idx="396">
                  <c:v>44587</c:v>
                </c:pt>
                <c:pt idx="397">
                  <c:v>44588</c:v>
                </c:pt>
                <c:pt idx="398">
                  <c:v>44589</c:v>
                </c:pt>
                <c:pt idx="399">
                  <c:v>44592</c:v>
                </c:pt>
                <c:pt idx="400">
                  <c:v>44593</c:v>
                </c:pt>
                <c:pt idx="401">
                  <c:v>44594</c:v>
                </c:pt>
                <c:pt idx="402">
                  <c:v>44595</c:v>
                </c:pt>
                <c:pt idx="403">
                  <c:v>44596</c:v>
                </c:pt>
                <c:pt idx="404">
                  <c:v>44599</c:v>
                </c:pt>
                <c:pt idx="405">
                  <c:v>44600</c:v>
                </c:pt>
                <c:pt idx="406">
                  <c:v>44601</c:v>
                </c:pt>
                <c:pt idx="407">
                  <c:v>44602</c:v>
                </c:pt>
                <c:pt idx="408">
                  <c:v>44603</c:v>
                </c:pt>
                <c:pt idx="409">
                  <c:v>44606</c:v>
                </c:pt>
                <c:pt idx="410">
                  <c:v>44607</c:v>
                </c:pt>
                <c:pt idx="411">
                  <c:v>44608</c:v>
                </c:pt>
                <c:pt idx="412">
                  <c:v>44609</c:v>
                </c:pt>
                <c:pt idx="413">
                  <c:v>44610</c:v>
                </c:pt>
                <c:pt idx="414">
                  <c:v>44613</c:v>
                </c:pt>
                <c:pt idx="415">
                  <c:v>44614</c:v>
                </c:pt>
                <c:pt idx="416">
                  <c:v>44615</c:v>
                </c:pt>
                <c:pt idx="417">
                  <c:v>44616</c:v>
                </c:pt>
                <c:pt idx="418">
                  <c:v>44617</c:v>
                </c:pt>
                <c:pt idx="419">
                  <c:v>44620</c:v>
                </c:pt>
                <c:pt idx="420">
                  <c:v>44621</c:v>
                </c:pt>
                <c:pt idx="421">
                  <c:v>44622</c:v>
                </c:pt>
                <c:pt idx="422">
                  <c:v>44623</c:v>
                </c:pt>
                <c:pt idx="423">
                  <c:v>44624</c:v>
                </c:pt>
                <c:pt idx="424">
                  <c:v>44627</c:v>
                </c:pt>
                <c:pt idx="425">
                  <c:v>44628</c:v>
                </c:pt>
                <c:pt idx="426">
                  <c:v>44629</c:v>
                </c:pt>
                <c:pt idx="427">
                  <c:v>44630</c:v>
                </c:pt>
                <c:pt idx="428">
                  <c:v>44631</c:v>
                </c:pt>
                <c:pt idx="429">
                  <c:v>44634</c:v>
                </c:pt>
                <c:pt idx="430">
                  <c:v>44635</c:v>
                </c:pt>
                <c:pt idx="431">
                  <c:v>44636</c:v>
                </c:pt>
                <c:pt idx="432">
                  <c:v>44641</c:v>
                </c:pt>
                <c:pt idx="433">
                  <c:v>44642</c:v>
                </c:pt>
                <c:pt idx="434">
                  <c:v>44643</c:v>
                </c:pt>
                <c:pt idx="435">
                  <c:v>44644</c:v>
                </c:pt>
                <c:pt idx="436">
                  <c:v>44645</c:v>
                </c:pt>
                <c:pt idx="437">
                  <c:v>44648</c:v>
                </c:pt>
                <c:pt idx="438">
                  <c:v>44649</c:v>
                </c:pt>
                <c:pt idx="439">
                  <c:v>44650</c:v>
                </c:pt>
                <c:pt idx="440">
                  <c:v>44651</c:v>
                </c:pt>
                <c:pt idx="441">
                  <c:v>44652</c:v>
                </c:pt>
                <c:pt idx="442">
                  <c:v>44655</c:v>
                </c:pt>
                <c:pt idx="443">
                  <c:v>44656</c:v>
                </c:pt>
                <c:pt idx="444">
                  <c:v>44657</c:v>
                </c:pt>
                <c:pt idx="445">
                  <c:v>44658</c:v>
                </c:pt>
                <c:pt idx="446">
                  <c:v>44659</c:v>
                </c:pt>
                <c:pt idx="447">
                  <c:v>44662</c:v>
                </c:pt>
                <c:pt idx="448">
                  <c:v>44663</c:v>
                </c:pt>
                <c:pt idx="449">
                  <c:v>44664</c:v>
                </c:pt>
                <c:pt idx="450">
                  <c:v>44665</c:v>
                </c:pt>
                <c:pt idx="451">
                  <c:v>44670</c:v>
                </c:pt>
                <c:pt idx="452">
                  <c:v>44671</c:v>
                </c:pt>
                <c:pt idx="453">
                  <c:v>44672</c:v>
                </c:pt>
                <c:pt idx="454">
                  <c:v>44673</c:v>
                </c:pt>
                <c:pt idx="455">
                  <c:v>44676</c:v>
                </c:pt>
                <c:pt idx="456">
                  <c:v>44677</c:v>
                </c:pt>
                <c:pt idx="457">
                  <c:v>44678</c:v>
                </c:pt>
                <c:pt idx="458">
                  <c:v>44679</c:v>
                </c:pt>
                <c:pt idx="459">
                  <c:v>44680</c:v>
                </c:pt>
                <c:pt idx="460">
                  <c:v>44684</c:v>
                </c:pt>
                <c:pt idx="461">
                  <c:v>44685</c:v>
                </c:pt>
                <c:pt idx="462">
                  <c:v>44686</c:v>
                </c:pt>
                <c:pt idx="463">
                  <c:v>44687</c:v>
                </c:pt>
                <c:pt idx="464">
                  <c:v>44690</c:v>
                </c:pt>
                <c:pt idx="465">
                  <c:v>44691</c:v>
                </c:pt>
                <c:pt idx="466">
                  <c:v>44692</c:v>
                </c:pt>
                <c:pt idx="467">
                  <c:v>44693</c:v>
                </c:pt>
                <c:pt idx="468">
                  <c:v>44694</c:v>
                </c:pt>
                <c:pt idx="469">
                  <c:v>44697</c:v>
                </c:pt>
                <c:pt idx="470">
                  <c:v>44698</c:v>
                </c:pt>
                <c:pt idx="471">
                  <c:v>44699</c:v>
                </c:pt>
                <c:pt idx="472">
                  <c:v>44700</c:v>
                </c:pt>
                <c:pt idx="473">
                  <c:v>44701</c:v>
                </c:pt>
                <c:pt idx="474">
                  <c:v>44704</c:v>
                </c:pt>
                <c:pt idx="475">
                  <c:v>44705</c:v>
                </c:pt>
                <c:pt idx="476">
                  <c:v>44706</c:v>
                </c:pt>
                <c:pt idx="477">
                  <c:v>44707</c:v>
                </c:pt>
                <c:pt idx="478">
                  <c:v>44708</c:v>
                </c:pt>
                <c:pt idx="479">
                  <c:v>44711</c:v>
                </c:pt>
                <c:pt idx="480">
                  <c:v>44712</c:v>
                </c:pt>
                <c:pt idx="481">
                  <c:v>44713</c:v>
                </c:pt>
                <c:pt idx="482">
                  <c:v>44714</c:v>
                </c:pt>
                <c:pt idx="483">
                  <c:v>44715</c:v>
                </c:pt>
                <c:pt idx="484">
                  <c:v>44719</c:v>
                </c:pt>
                <c:pt idx="485">
                  <c:v>44720</c:v>
                </c:pt>
                <c:pt idx="486">
                  <c:v>44721</c:v>
                </c:pt>
                <c:pt idx="487">
                  <c:v>44722</c:v>
                </c:pt>
                <c:pt idx="488">
                  <c:v>44725</c:v>
                </c:pt>
                <c:pt idx="489">
                  <c:v>44726</c:v>
                </c:pt>
                <c:pt idx="490">
                  <c:v>44727</c:v>
                </c:pt>
                <c:pt idx="491">
                  <c:v>44728</c:v>
                </c:pt>
                <c:pt idx="492">
                  <c:v>44729</c:v>
                </c:pt>
                <c:pt idx="493">
                  <c:v>44732</c:v>
                </c:pt>
                <c:pt idx="494">
                  <c:v>44733</c:v>
                </c:pt>
                <c:pt idx="495">
                  <c:v>44734</c:v>
                </c:pt>
                <c:pt idx="496">
                  <c:v>44735</c:v>
                </c:pt>
                <c:pt idx="497">
                  <c:v>44736</c:v>
                </c:pt>
                <c:pt idx="498">
                  <c:v>44739</c:v>
                </c:pt>
                <c:pt idx="499">
                  <c:v>44740</c:v>
                </c:pt>
                <c:pt idx="500">
                  <c:v>44741</c:v>
                </c:pt>
                <c:pt idx="501">
                  <c:v>44742</c:v>
                </c:pt>
                <c:pt idx="502">
                  <c:v>44743</c:v>
                </c:pt>
                <c:pt idx="503">
                  <c:v>44746</c:v>
                </c:pt>
                <c:pt idx="504">
                  <c:v>44747</c:v>
                </c:pt>
                <c:pt idx="505">
                  <c:v>44748</c:v>
                </c:pt>
                <c:pt idx="506">
                  <c:v>44749</c:v>
                </c:pt>
                <c:pt idx="507">
                  <c:v>44750</c:v>
                </c:pt>
                <c:pt idx="508">
                  <c:v>44753</c:v>
                </c:pt>
                <c:pt idx="509">
                  <c:v>44754</c:v>
                </c:pt>
                <c:pt idx="510">
                  <c:v>44755</c:v>
                </c:pt>
                <c:pt idx="511">
                  <c:v>44756</c:v>
                </c:pt>
                <c:pt idx="512">
                  <c:v>44757</c:v>
                </c:pt>
                <c:pt idx="513">
                  <c:v>44760</c:v>
                </c:pt>
                <c:pt idx="514">
                  <c:v>44761</c:v>
                </c:pt>
                <c:pt idx="515">
                  <c:v>44762</c:v>
                </c:pt>
                <c:pt idx="516">
                  <c:v>44763</c:v>
                </c:pt>
                <c:pt idx="517">
                  <c:v>44764</c:v>
                </c:pt>
                <c:pt idx="518">
                  <c:v>44767</c:v>
                </c:pt>
                <c:pt idx="519">
                  <c:v>44768</c:v>
                </c:pt>
                <c:pt idx="520">
                  <c:v>44769</c:v>
                </c:pt>
                <c:pt idx="521">
                  <c:v>44770</c:v>
                </c:pt>
                <c:pt idx="522">
                  <c:v>44771</c:v>
                </c:pt>
                <c:pt idx="523">
                  <c:v>44775</c:v>
                </c:pt>
                <c:pt idx="524">
                  <c:v>44776</c:v>
                </c:pt>
                <c:pt idx="525">
                  <c:v>44777</c:v>
                </c:pt>
                <c:pt idx="526">
                  <c:v>44778</c:v>
                </c:pt>
                <c:pt idx="527">
                  <c:v>44781</c:v>
                </c:pt>
                <c:pt idx="528">
                  <c:v>44782</c:v>
                </c:pt>
                <c:pt idx="529">
                  <c:v>44783</c:v>
                </c:pt>
                <c:pt idx="530">
                  <c:v>44784</c:v>
                </c:pt>
                <c:pt idx="531">
                  <c:v>44785</c:v>
                </c:pt>
                <c:pt idx="532">
                  <c:v>44788</c:v>
                </c:pt>
                <c:pt idx="533">
                  <c:v>44789</c:v>
                </c:pt>
                <c:pt idx="534">
                  <c:v>44790</c:v>
                </c:pt>
                <c:pt idx="535">
                  <c:v>44791</c:v>
                </c:pt>
                <c:pt idx="536">
                  <c:v>44792</c:v>
                </c:pt>
                <c:pt idx="537">
                  <c:v>44795</c:v>
                </c:pt>
                <c:pt idx="538">
                  <c:v>44796</c:v>
                </c:pt>
                <c:pt idx="539">
                  <c:v>44797</c:v>
                </c:pt>
                <c:pt idx="540">
                  <c:v>44798</c:v>
                </c:pt>
                <c:pt idx="541">
                  <c:v>44799</c:v>
                </c:pt>
                <c:pt idx="542">
                  <c:v>44802</c:v>
                </c:pt>
                <c:pt idx="543">
                  <c:v>44803</c:v>
                </c:pt>
                <c:pt idx="544">
                  <c:v>44804</c:v>
                </c:pt>
                <c:pt idx="545">
                  <c:v>44805</c:v>
                </c:pt>
                <c:pt idx="546">
                  <c:v>44806</c:v>
                </c:pt>
                <c:pt idx="547">
                  <c:v>44809</c:v>
                </c:pt>
                <c:pt idx="548">
                  <c:v>44810</c:v>
                </c:pt>
                <c:pt idx="549">
                  <c:v>44811</c:v>
                </c:pt>
                <c:pt idx="550">
                  <c:v>44812</c:v>
                </c:pt>
                <c:pt idx="551">
                  <c:v>44813</c:v>
                </c:pt>
                <c:pt idx="552">
                  <c:v>44816</c:v>
                </c:pt>
                <c:pt idx="553">
                  <c:v>44817</c:v>
                </c:pt>
                <c:pt idx="554">
                  <c:v>44818</c:v>
                </c:pt>
                <c:pt idx="555">
                  <c:v>44819</c:v>
                </c:pt>
                <c:pt idx="556">
                  <c:v>44820</c:v>
                </c:pt>
                <c:pt idx="557">
                  <c:v>44823</c:v>
                </c:pt>
                <c:pt idx="558">
                  <c:v>44824</c:v>
                </c:pt>
                <c:pt idx="559">
                  <c:v>44825</c:v>
                </c:pt>
                <c:pt idx="560">
                  <c:v>44826</c:v>
                </c:pt>
                <c:pt idx="561">
                  <c:v>44827</c:v>
                </c:pt>
                <c:pt idx="562">
                  <c:v>44830</c:v>
                </c:pt>
                <c:pt idx="563">
                  <c:v>44831</c:v>
                </c:pt>
                <c:pt idx="564">
                  <c:v>44832</c:v>
                </c:pt>
                <c:pt idx="565">
                  <c:v>44833</c:v>
                </c:pt>
                <c:pt idx="566">
                  <c:v>44834</c:v>
                </c:pt>
                <c:pt idx="567">
                  <c:v>44837</c:v>
                </c:pt>
                <c:pt idx="568">
                  <c:v>44838</c:v>
                </c:pt>
                <c:pt idx="569">
                  <c:v>44839</c:v>
                </c:pt>
                <c:pt idx="570">
                  <c:v>44840</c:v>
                </c:pt>
                <c:pt idx="571">
                  <c:v>44841</c:v>
                </c:pt>
                <c:pt idx="572">
                  <c:v>44844</c:v>
                </c:pt>
                <c:pt idx="573">
                  <c:v>44845</c:v>
                </c:pt>
                <c:pt idx="574">
                  <c:v>44846</c:v>
                </c:pt>
                <c:pt idx="575">
                  <c:v>44847</c:v>
                </c:pt>
                <c:pt idx="576">
                  <c:v>44848</c:v>
                </c:pt>
                <c:pt idx="577">
                  <c:v>44851</c:v>
                </c:pt>
                <c:pt idx="578">
                  <c:v>44852</c:v>
                </c:pt>
                <c:pt idx="579">
                  <c:v>44853</c:v>
                </c:pt>
                <c:pt idx="580">
                  <c:v>44854</c:v>
                </c:pt>
                <c:pt idx="581">
                  <c:v>44855</c:v>
                </c:pt>
                <c:pt idx="582">
                  <c:v>44858</c:v>
                </c:pt>
                <c:pt idx="583">
                  <c:v>44859</c:v>
                </c:pt>
                <c:pt idx="584">
                  <c:v>44860</c:v>
                </c:pt>
                <c:pt idx="585">
                  <c:v>44861</c:v>
                </c:pt>
                <c:pt idx="586">
                  <c:v>44862</c:v>
                </c:pt>
                <c:pt idx="587">
                  <c:v>44866</c:v>
                </c:pt>
                <c:pt idx="588">
                  <c:v>44867</c:v>
                </c:pt>
                <c:pt idx="589">
                  <c:v>44868</c:v>
                </c:pt>
                <c:pt idx="590">
                  <c:v>44869</c:v>
                </c:pt>
                <c:pt idx="591">
                  <c:v>44872</c:v>
                </c:pt>
                <c:pt idx="592">
                  <c:v>44873</c:v>
                </c:pt>
                <c:pt idx="593">
                  <c:v>44874</c:v>
                </c:pt>
                <c:pt idx="594">
                  <c:v>44875</c:v>
                </c:pt>
                <c:pt idx="595">
                  <c:v>44876</c:v>
                </c:pt>
                <c:pt idx="596">
                  <c:v>44879</c:v>
                </c:pt>
                <c:pt idx="597">
                  <c:v>44880</c:v>
                </c:pt>
                <c:pt idx="598">
                  <c:v>44881</c:v>
                </c:pt>
                <c:pt idx="599">
                  <c:v>44882</c:v>
                </c:pt>
                <c:pt idx="600">
                  <c:v>44883</c:v>
                </c:pt>
                <c:pt idx="601">
                  <c:v>44886</c:v>
                </c:pt>
                <c:pt idx="602">
                  <c:v>44887</c:v>
                </c:pt>
                <c:pt idx="603">
                  <c:v>44888</c:v>
                </c:pt>
                <c:pt idx="604">
                  <c:v>44889</c:v>
                </c:pt>
                <c:pt idx="605">
                  <c:v>44890</c:v>
                </c:pt>
                <c:pt idx="606">
                  <c:v>44893</c:v>
                </c:pt>
                <c:pt idx="607">
                  <c:v>44894</c:v>
                </c:pt>
                <c:pt idx="608">
                  <c:v>44895</c:v>
                </c:pt>
                <c:pt idx="609">
                  <c:v>44896</c:v>
                </c:pt>
                <c:pt idx="610">
                  <c:v>44897</c:v>
                </c:pt>
                <c:pt idx="611">
                  <c:v>44900</c:v>
                </c:pt>
                <c:pt idx="612">
                  <c:v>44901</c:v>
                </c:pt>
                <c:pt idx="613">
                  <c:v>44902</c:v>
                </c:pt>
                <c:pt idx="614">
                  <c:v>44903</c:v>
                </c:pt>
                <c:pt idx="615">
                  <c:v>44904</c:v>
                </c:pt>
                <c:pt idx="616">
                  <c:v>44907</c:v>
                </c:pt>
                <c:pt idx="617">
                  <c:v>44908</c:v>
                </c:pt>
                <c:pt idx="618">
                  <c:v>44909</c:v>
                </c:pt>
                <c:pt idx="619">
                  <c:v>44910</c:v>
                </c:pt>
                <c:pt idx="620">
                  <c:v>44911</c:v>
                </c:pt>
                <c:pt idx="621">
                  <c:v>44914</c:v>
                </c:pt>
                <c:pt idx="622">
                  <c:v>44915</c:v>
                </c:pt>
                <c:pt idx="623">
                  <c:v>44916</c:v>
                </c:pt>
                <c:pt idx="624">
                  <c:v>44917</c:v>
                </c:pt>
                <c:pt idx="625">
                  <c:v>44918</c:v>
                </c:pt>
                <c:pt idx="626">
                  <c:v>44923</c:v>
                </c:pt>
                <c:pt idx="627">
                  <c:v>44924</c:v>
                </c:pt>
                <c:pt idx="628">
                  <c:v>44925</c:v>
                </c:pt>
                <c:pt idx="629">
                  <c:v>44929</c:v>
                </c:pt>
                <c:pt idx="630">
                  <c:v>44930</c:v>
                </c:pt>
                <c:pt idx="631">
                  <c:v>44931</c:v>
                </c:pt>
                <c:pt idx="632">
                  <c:v>44932</c:v>
                </c:pt>
                <c:pt idx="633">
                  <c:v>44935</c:v>
                </c:pt>
                <c:pt idx="634">
                  <c:v>44936</c:v>
                </c:pt>
                <c:pt idx="635">
                  <c:v>44937</c:v>
                </c:pt>
                <c:pt idx="636">
                  <c:v>44938</c:v>
                </c:pt>
                <c:pt idx="637">
                  <c:v>44939</c:v>
                </c:pt>
                <c:pt idx="638">
                  <c:v>44942</c:v>
                </c:pt>
                <c:pt idx="639">
                  <c:v>44943</c:v>
                </c:pt>
                <c:pt idx="640">
                  <c:v>44944</c:v>
                </c:pt>
                <c:pt idx="641">
                  <c:v>44945</c:v>
                </c:pt>
                <c:pt idx="642">
                  <c:v>44946</c:v>
                </c:pt>
                <c:pt idx="643">
                  <c:v>44949</c:v>
                </c:pt>
                <c:pt idx="644">
                  <c:v>44950</c:v>
                </c:pt>
                <c:pt idx="645">
                  <c:v>44951</c:v>
                </c:pt>
                <c:pt idx="646">
                  <c:v>44952</c:v>
                </c:pt>
                <c:pt idx="647">
                  <c:v>44953</c:v>
                </c:pt>
                <c:pt idx="648">
                  <c:v>44956</c:v>
                </c:pt>
                <c:pt idx="649">
                  <c:v>44957</c:v>
                </c:pt>
                <c:pt idx="650">
                  <c:v>44958</c:v>
                </c:pt>
                <c:pt idx="651">
                  <c:v>44959</c:v>
                </c:pt>
                <c:pt idx="652">
                  <c:v>44960</c:v>
                </c:pt>
                <c:pt idx="653">
                  <c:v>44964</c:v>
                </c:pt>
                <c:pt idx="654">
                  <c:v>44965</c:v>
                </c:pt>
                <c:pt idx="655">
                  <c:v>44966</c:v>
                </c:pt>
                <c:pt idx="656">
                  <c:v>44967</c:v>
                </c:pt>
                <c:pt idx="657">
                  <c:v>44970</c:v>
                </c:pt>
                <c:pt idx="658">
                  <c:v>44971</c:v>
                </c:pt>
                <c:pt idx="659">
                  <c:v>44972</c:v>
                </c:pt>
                <c:pt idx="660">
                  <c:v>44973</c:v>
                </c:pt>
                <c:pt idx="661">
                  <c:v>44974</c:v>
                </c:pt>
                <c:pt idx="662">
                  <c:v>44977</c:v>
                </c:pt>
                <c:pt idx="663">
                  <c:v>44978</c:v>
                </c:pt>
                <c:pt idx="664">
                  <c:v>44979</c:v>
                </c:pt>
                <c:pt idx="665">
                  <c:v>44980</c:v>
                </c:pt>
                <c:pt idx="666">
                  <c:v>44981</c:v>
                </c:pt>
                <c:pt idx="667">
                  <c:v>44984</c:v>
                </c:pt>
                <c:pt idx="668">
                  <c:v>44985</c:v>
                </c:pt>
                <c:pt idx="669">
                  <c:v>44986</c:v>
                </c:pt>
                <c:pt idx="670">
                  <c:v>44987</c:v>
                </c:pt>
                <c:pt idx="671">
                  <c:v>44988</c:v>
                </c:pt>
                <c:pt idx="672">
                  <c:v>44991</c:v>
                </c:pt>
                <c:pt idx="673">
                  <c:v>44992</c:v>
                </c:pt>
                <c:pt idx="674">
                  <c:v>44993</c:v>
                </c:pt>
                <c:pt idx="675">
                  <c:v>44994</c:v>
                </c:pt>
                <c:pt idx="676">
                  <c:v>44995</c:v>
                </c:pt>
                <c:pt idx="677">
                  <c:v>44998</c:v>
                </c:pt>
                <c:pt idx="678">
                  <c:v>44999</c:v>
                </c:pt>
                <c:pt idx="679">
                  <c:v>45000</c:v>
                </c:pt>
                <c:pt idx="680">
                  <c:v>45001</c:v>
                </c:pt>
                <c:pt idx="681">
                  <c:v>45005</c:v>
                </c:pt>
                <c:pt idx="682">
                  <c:v>45006</c:v>
                </c:pt>
                <c:pt idx="683">
                  <c:v>45007</c:v>
                </c:pt>
                <c:pt idx="684">
                  <c:v>45008</c:v>
                </c:pt>
                <c:pt idx="685">
                  <c:v>45009</c:v>
                </c:pt>
                <c:pt idx="686">
                  <c:v>45012</c:v>
                </c:pt>
                <c:pt idx="687">
                  <c:v>45013</c:v>
                </c:pt>
                <c:pt idx="688">
                  <c:v>45014</c:v>
                </c:pt>
                <c:pt idx="689">
                  <c:v>45015</c:v>
                </c:pt>
                <c:pt idx="690">
                  <c:v>45016</c:v>
                </c:pt>
                <c:pt idx="691">
                  <c:v>45019</c:v>
                </c:pt>
                <c:pt idx="692">
                  <c:v>45020</c:v>
                </c:pt>
                <c:pt idx="693">
                  <c:v>45021</c:v>
                </c:pt>
                <c:pt idx="694">
                  <c:v>45022</c:v>
                </c:pt>
                <c:pt idx="695">
                  <c:v>45027</c:v>
                </c:pt>
                <c:pt idx="696">
                  <c:v>45028</c:v>
                </c:pt>
                <c:pt idx="697">
                  <c:v>45029</c:v>
                </c:pt>
                <c:pt idx="698">
                  <c:v>45030</c:v>
                </c:pt>
                <c:pt idx="699">
                  <c:v>45033</c:v>
                </c:pt>
                <c:pt idx="700">
                  <c:v>45034</c:v>
                </c:pt>
                <c:pt idx="701">
                  <c:v>45035</c:v>
                </c:pt>
                <c:pt idx="702">
                  <c:v>45036</c:v>
                </c:pt>
                <c:pt idx="703">
                  <c:v>45037</c:v>
                </c:pt>
                <c:pt idx="704">
                  <c:v>45040</c:v>
                </c:pt>
                <c:pt idx="705">
                  <c:v>45041</c:v>
                </c:pt>
                <c:pt idx="706">
                  <c:v>45042</c:v>
                </c:pt>
                <c:pt idx="707">
                  <c:v>45043</c:v>
                </c:pt>
                <c:pt idx="708">
                  <c:v>45044</c:v>
                </c:pt>
                <c:pt idx="709">
                  <c:v>45048</c:v>
                </c:pt>
                <c:pt idx="710">
                  <c:v>45049</c:v>
                </c:pt>
                <c:pt idx="711">
                  <c:v>45050</c:v>
                </c:pt>
                <c:pt idx="712">
                  <c:v>45051</c:v>
                </c:pt>
                <c:pt idx="713">
                  <c:v>45054</c:v>
                </c:pt>
                <c:pt idx="714">
                  <c:v>45055</c:v>
                </c:pt>
                <c:pt idx="715">
                  <c:v>45056</c:v>
                </c:pt>
                <c:pt idx="716">
                  <c:v>45057</c:v>
                </c:pt>
                <c:pt idx="717">
                  <c:v>45058</c:v>
                </c:pt>
                <c:pt idx="718">
                  <c:v>45061</c:v>
                </c:pt>
                <c:pt idx="719">
                  <c:v>45062</c:v>
                </c:pt>
                <c:pt idx="720">
                  <c:v>45063</c:v>
                </c:pt>
                <c:pt idx="721">
                  <c:v>45064</c:v>
                </c:pt>
                <c:pt idx="722">
                  <c:v>45065</c:v>
                </c:pt>
                <c:pt idx="723">
                  <c:v>45068</c:v>
                </c:pt>
                <c:pt idx="724">
                  <c:v>45069</c:v>
                </c:pt>
                <c:pt idx="725">
                  <c:v>45070</c:v>
                </c:pt>
                <c:pt idx="726">
                  <c:v>45071</c:v>
                </c:pt>
                <c:pt idx="727">
                  <c:v>45072</c:v>
                </c:pt>
                <c:pt idx="728">
                  <c:v>45075</c:v>
                </c:pt>
                <c:pt idx="729">
                  <c:v>45076</c:v>
                </c:pt>
                <c:pt idx="730">
                  <c:v>45077</c:v>
                </c:pt>
                <c:pt idx="731">
                  <c:v>45078</c:v>
                </c:pt>
                <c:pt idx="732">
                  <c:v>45079</c:v>
                </c:pt>
                <c:pt idx="733">
                  <c:v>45083</c:v>
                </c:pt>
                <c:pt idx="734">
                  <c:v>45084</c:v>
                </c:pt>
                <c:pt idx="735">
                  <c:v>45085</c:v>
                </c:pt>
                <c:pt idx="736">
                  <c:v>45086</c:v>
                </c:pt>
                <c:pt idx="737">
                  <c:v>45089</c:v>
                </c:pt>
                <c:pt idx="738">
                  <c:v>45090</c:v>
                </c:pt>
                <c:pt idx="739">
                  <c:v>45091</c:v>
                </c:pt>
                <c:pt idx="740">
                  <c:v>45092</c:v>
                </c:pt>
                <c:pt idx="741">
                  <c:v>45093</c:v>
                </c:pt>
                <c:pt idx="742">
                  <c:v>45096</c:v>
                </c:pt>
                <c:pt idx="743">
                  <c:v>45097</c:v>
                </c:pt>
                <c:pt idx="744">
                  <c:v>45098</c:v>
                </c:pt>
                <c:pt idx="745">
                  <c:v>45099</c:v>
                </c:pt>
                <c:pt idx="746">
                  <c:v>45100</c:v>
                </c:pt>
                <c:pt idx="747">
                  <c:v>45103</c:v>
                </c:pt>
                <c:pt idx="748">
                  <c:v>45104</c:v>
                </c:pt>
                <c:pt idx="749">
                  <c:v>45105</c:v>
                </c:pt>
                <c:pt idx="750">
                  <c:v>45106</c:v>
                </c:pt>
                <c:pt idx="751">
                  <c:v>45107</c:v>
                </c:pt>
                <c:pt idx="752">
                  <c:v>45110</c:v>
                </c:pt>
                <c:pt idx="753">
                  <c:v>45111</c:v>
                </c:pt>
                <c:pt idx="754">
                  <c:v>45112</c:v>
                </c:pt>
                <c:pt idx="755">
                  <c:v>45113</c:v>
                </c:pt>
                <c:pt idx="756">
                  <c:v>45114</c:v>
                </c:pt>
                <c:pt idx="757">
                  <c:v>45117</c:v>
                </c:pt>
                <c:pt idx="758">
                  <c:v>45118</c:v>
                </c:pt>
                <c:pt idx="759">
                  <c:v>45119</c:v>
                </c:pt>
                <c:pt idx="760">
                  <c:v>45120</c:v>
                </c:pt>
                <c:pt idx="761">
                  <c:v>45121</c:v>
                </c:pt>
                <c:pt idx="762">
                  <c:v>45124</c:v>
                </c:pt>
                <c:pt idx="763">
                  <c:v>45125</c:v>
                </c:pt>
                <c:pt idx="764">
                  <c:v>45126</c:v>
                </c:pt>
                <c:pt idx="765">
                  <c:v>45127</c:v>
                </c:pt>
                <c:pt idx="766">
                  <c:v>45128</c:v>
                </c:pt>
                <c:pt idx="767">
                  <c:v>45131</c:v>
                </c:pt>
                <c:pt idx="768">
                  <c:v>45132</c:v>
                </c:pt>
                <c:pt idx="769">
                  <c:v>45133</c:v>
                </c:pt>
                <c:pt idx="770">
                  <c:v>45134</c:v>
                </c:pt>
                <c:pt idx="771">
                  <c:v>45135</c:v>
                </c:pt>
                <c:pt idx="772">
                  <c:v>45138</c:v>
                </c:pt>
                <c:pt idx="773">
                  <c:v>45139</c:v>
                </c:pt>
                <c:pt idx="774">
                  <c:v>45140</c:v>
                </c:pt>
                <c:pt idx="775">
                  <c:v>45141</c:v>
                </c:pt>
                <c:pt idx="776">
                  <c:v>45142</c:v>
                </c:pt>
                <c:pt idx="777">
                  <c:v>45146</c:v>
                </c:pt>
                <c:pt idx="778">
                  <c:v>45147</c:v>
                </c:pt>
                <c:pt idx="779">
                  <c:v>45148</c:v>
                </c:pt>
                <c:pt idx="780">
                  <c:v>45149</c:v>
                </c:pt>
                <c:pt idx="781">
                  <c:v>45152</c:v>
                </c:pt>
                <c:pt idx="782">
                  <c:v>45153</c:v>
                </c:pt>
                <c:pt idx="783">
                  <c:v>45154</c:v>
                </c:pt>
                <c:pt idx="784">
                  <c:v>45155</c:v>
                </c:pt>
                <c:pt idx="785">
                  <c:v>45156</c:v>
                </c:pt>
                <c:pt idx="786">
                  <c:v>45159</c:v>
                </c:pt>
                <c:pt idx="787">
                  <c:v>45160</c:v>
                </c:pt>
                <c:pt idx="788">
                  <c:v>45161</c:v>
                </c:pt>
                <c:pt idx="789">
                  <c:v>45162</c:v>
                </c:pt>
                <c:pt idx="790">
                  <c:v>45163</c:v>
                </c:pt>
                <c:pt idx="791">
                  <c:v>45166</c:v>
                </c:pt>
                <c:pt idx="792">
                  <c:v>45167</c:v>
                </c:pt>
                <c:pt idx="793">
                  <c:v>45168</c:v>
                </c:pt>
                <c:pt idx="794">
                  <c:v>45169</c:v>
                </c:pt>
                <c:pt idx="795">
                  <c:v>45170</c:v>
                </c:pt>
                <c:pt idx="796">
                  <c:v>45173</c:v>
                </c:pt>
                <c:pt idx="797">
                  <c:v>45174</c:v>
                </c:pt>
                <c:pt idx="798">
                  <c:v>45175</c:v>
                </c:pt>
                <c:pt idx="799">
                  <c:v>45176</c:v>
                </c:pt>
                <c:pt idx="800">
                  <c:v>45177</c:v>
                </c:pt>
                <c:pt idx="801">
                  <c:v>45180</c:v>
                </c:pt>
                <c:pt idx="802">
                  <c:v>45181</c:v>
                </c:pt>
                <c:pt idx="803">
                  <c:v>45182</c:v>
                </c:pt>
                <c:pt idx="804">
                  <c:v>45183</c:v>
                </c:pt>
                <c:pt idx="805">
                  <c:v>45184</c:v>
                </c:pt>
                <c:pt idx="806">
                  <c:v>45187</c:v>
                </c:pt>
                <c:pt idx="807">
                  <c:v>45188</c:v>
                </c:pt>
                <c:pt idx="808">
                  <c:v>45189</c:v>
                </c:pt>
                <c:pt idx="809">
                  <c:v>45190</c:v>
                </c:pt>
                <c:pt idx="810">
                  <c:v>45191</c:v>
                </c:pt>
                <c:pt idx="811">
                  <c:v>45194</c:v>
                </c:pt>
                <c:pt idx="812">
                  <c:v>45195</c:v>
                </c:pt>
                <c:pt idx="813">
                  <c:v>45196</c:v>
                </c:pt>
                <c:pt idx="814">
                  <c:v>45197</c:v>
                </c:pt>
                <c:pt idx="815">
                  <c:v>45198</c:v>
                </c:pt>
                <c:pt idx="816">
                  <c:v>45201</c:v>
                </c:pt>
                <c:pt idx="817">
                  <c:v>45202</c:v>
                </c:pt>
                <c:pt idx="818">
                  <c:v>45203</c:v>
                </c:pt>
                <c:pt idx="819">
                  <c:v>45204</c:v>
                </c:pt>
                <c:pt idx="820">
                  <c:v>45205</c:v>
                </c:pt>
                <c:pt idx="821">
                  <c:v>45208</c:v>
                </c:pt>
                <c:pt idx="822">
                  <c:v>45209</c:v>
                </c:pt>
                <c:pt idx="823">
                  <c:v>45210</c:v>
                </c:pt>
                <c:pt idx="824">
                  <c:v>45211</c:v>
                </c:pt>
                <c:pt idx="825">
                  <c:v>45212</c:v>
                </c:pt>
                <c:pt idx="826">
                  <c:v>45215</c:v>
                </c:pt>
                <c:pt idx="827">
                  <c:v>45216</c:v>
                </c:pt>
                <c:pt idx="828">
                  <c:v>45217</c:v>
                </c:pt>
                <c:pt idx="829">
                  <c:v>45218</c:v>
                </c:pt>
                <c:pt idx="830">
                  <c:v>45219</c:v>
                </c:pt>
                <c:pt idx="831">
                  <c:v>45222</c:v>
                </c:pt>
                <c:pt idx="832">
                  <c:v>45223</c:v>
                </c:pt>
                <c:pt idx="833">
                  <c:v>45224</c:v>
                </c:pt>
                <c:pt idx="834">
                  <c:v>45225</c:v>
                </c:pt>
                <c:pt idx="835">
                  <c:v>45226</c:v>
                </c:pt>
                <c:pt idx="836">
                  <c:v>45230</c:v>
                </c:pt>
                <c:pt idx="837">
                  <c:v>45231</c:v>
                </c:pt>
                <c:pt idx="838">
                  <c:v>45232</c:v>
                </c:pt>
                <c:pt idx="839">
                  <c:v>45233</c:v>
                </c:pt>
                <c:pt idx="840">
                  <c:v>45236</c:v>
                </c:pt>
                <c:pt idx="841">
                  <c:v>45237</c:v>
                </c:pt>
                <c:pt idx="842">
                  <c:v>45238</c:v>
                </c:pt>
                <c:pt idx="843">
                  <c:v>45239</c:v>
                </c:pt>
                <c:pt idx="844">
                  <c:v>45240</c:v>
                </c:pt>
                <c:pt idx="845">
                  <c:v>45243</c:v>
                </c:pt>
                <c:pt idx="846">
                  <c:v>45244</c:v>
                </c:pt>
                <c:pt idx="847">
                  <c:v>45245</c:v>
                </c:pt>
                <c:pt idx="848">
                  <c:v>45246</c:v>
                </c:pt>
                <c:pt idx="849">
                  <c:v>45247</c:v>
                </c:pt>
                <c:pt idx="850">
                  <c:v>45250</c:v>
                </c:pt>
                <c:pt idx="851">
                  <c:v>45251</c:v>
                </c:pt>
                <c:pt idx="852">
                  <c:v>45252</c:v>
                </c:pt>
                <c:pt idx="853">
                  <c:v>45253</c:v>
                </c:pt>
                <c:pt idx="854">
                  <c:v>45254</c:v>
                </c:pt>
                <c:pt idx="855">
                  <c:v>45257</c:v>
                </c:pt>
                <c:pt idx="856">
                  <c:v>45258</c:v>
                </c:pt>
                <c:pt idx="857">
                  <c:v>45259</c:v>
                </c:pt>
                <c:pt idx="858">
                  <c:v>45260</c:v>
                </c:pt>
                <c:pt idx="859">
                  <c:v>45261</c:v>
                </c:pt>
                <c:pt idx="860">
                  <c:v>45264</c:v>
                </c:pt>
                <c:pt idx="861">
                  <c:v>45265</c:v>
                </c:pt>
                <c:pt idx="862">
                  <c:v>45266</c:v>
                </c:pt>
                <c:pt idx="863">
                  <c:v>45267</c:v>
                </c:pt>
                <c:pt idx="864">
                  <c:v>45268</c:v>
                </c:pt>
                <c:pt idx="865">
                  <c:v>45271</c:v>
                </c:pt>
                <c:pt idx="866">
                  <c:v>45272</c:v>
                </c:pt>
                <c:pt idx="867">
                  <c:v>45273</c:v>
                </c:pt>
                <c:pt idx="868">
                  <c:v>45274</c:v>
                </c:pt>
                <c:pt idx="869">
                  <c:v>45275</c:v>
                </c:pt>
                <c:pt idx="870">
                  <c:v>45278</c:v>
                </c:pt>
                <c:pt idx="871">
                  <c:v>45279</c:v>
                </c:pt>
                <c:pt idx="872">
                  <c:v>45280</c:v>
                </c:pt>
                <c:pt idx="873">
                  <c:v>45281</c:v>
                </c:pt>
                <c:pt idx="874">
                  <c:v>45282</c:v>
                </c:pt>
                <c:pt idx="875">
                  <c:v>45287</c:v>
                </c:pt>
                <c:pt idx="876">
                  <c:v>45288</c:v>
                </c:pt>
                <c:pt idx="877">
                  <c:v>45289</c:v>
                </c:pt>
                <c:pt idx="878">
                  <c:v>45293</c:v>
                </c:pt>
                <c:pt idx="879">
                  <c:v>45294</c:v>
                </c:pt>
                <c:pt idx="880">
                  <c:v>45295</c:v>
                </c:pt>
                <c:pt idx="881">
                  <c:v>45296</c:v>
                </c:pt>
                <c:pt idx="882">
                  <c:v>45299</c:v>
                </c:pt>
                <c:pt idx="883">
                  <c:v>45300</c:v>
                </c:pt>
                <c:pt idx="884">
                  <c:v>45301</c:v>
                </c:pt>
                <c:pt idx="885">
                  <c:v>45302</c:v>
                </c:pt>
                <c:pt idx="886">
                  <c:v>45303</c:v>
                </c:pt>
                <c:pt idx="887">
                  <c:v>45306</c:v>
                </c:pt>
                <c:pt idx="888">
                  <c:v>45307</c:v>
                </c:pt>
                <c:pt idx="889">
                  <c:v>45308</c:v>
                </c:pt>
                <c:pt idx="890">
                  <c:v>45309</c:v>
                </c:pt>
                <c:pt idx="891">
                  <c:v>45310</c:v>
                </c:pt>
                <c:pt idx="892">
                  <c:v>45313</c:v>
                </c:pt>
                <c:pt idx="893">
                  <c:v>45314</c:v>
                </c:pt>
                <c:pt idx="894">
                  <c:v>45315</c:v>
                </c:pt>
                <c:pt idx="895">
                  <c:v>45316</c:v>
                </c:pt>
                <c:pt idx="896">
                  <c:v>45317</c:v>
                </c:pt>
                <c:pt idx="897">
                  <c:v>45320</c:v>
                </c:pt>
                <c:pt idx="898">
                  <c:v>45321</c:v>
                </c:pt>
                <c:pt idx="899">
                  <c:v>45322</c:v>
                </c:pt>
                <c:pt idx="900">
                  <c:v>45323</c:v>
                </c:pt>
                <c:pt idx="901">
                  <c:v>45324</c:v>
                </c:pt>
                <c:pt idx="902">
                  <c:v>45328</c:v>
                </c:pt>
                <c:pt idx="903">
                  <c:v>45329</c:v>
                </c:pt>
                <c:pt idx="904">
                  <c:v>45330</c:v>
                </c:pt>
                <c:pt idx="905">
                  <c:v>45331</c:v>
                </c:pt>
                <c:pt idx="906">
                  <c:v>45334</c:v>
                </c:pt>
                <c:pt idx="907">
                  <c:v>45335</c:v>
                </c:pt>
                <c:pt idx="908">
                  <c:v>45336</c:v>
                </c:pt>
                <c:pt idx="909">
                  <c:v>45337</c:v>
                </c:pt>
                <c:pt idx="910">
                  <c:v>45338</c:v>
                </c:pt>
                <c:pt idx="911">
                  <c:v>45341</c:v>
                </c:pt>
                <c:pt idx="912">
                  <c:v>45342</c:v>
                </c:pt>
                <c:pt idx="913">
                  <c:v>45343</c:v>
                </c:pt>
                <c:pt idx="914">
                  <c:v>45344</c:v>
                </c:pt>
                <c:pt idx="915">
                  <c:v>45345</c:v>
                </c:pt>
                <c:pt idx="916">
                  <c:v>45348</c:v>
                </c:pt>
                <c:pt idx="917">
                  <c:v>45349</c:v>
                </c:pt>
                <c:pt idx="918">
                  <c:v>45350</c:v>
                </c:pt>
                <c:pt idx="919">
                  <c:v>45351</c:v>
                </c:pt>
                <c:pt idx="920">
                  <c:v>45352</c:v>
                </c:pt>
                <c:pt idx="921">
                  <c:v>45355</c:v>
                </c:pt>
                <c:pt idx="922">
                  <c:v>45356</c:v>
                </c:pt>
                <c:pt idx="923">
                  <c:v>45357</c:v>
                </c:pt>
                <c:pt idx="924">
                  <c:v>45358</c:v>
                </c:pt>
                <c:pt idx="925">
                  <c:v>45359</c:v>
                </c:pt>
                <c:pt idx="926">
                  <c:v>45362</c:v>
                </c:pt>
                <c:pt idx="927">
                  <c:v>45363</c:v>
                </c:pt>
                <c:pt idx="928">
                  <c:v>45364</c:v>
                </c:pt>
                <c:pt idx="929">
                  <c:v>45365</c:v>
                </c:pt>
                <c:pt idx="930">
                  <c:v>45366</c:v>
                </c:pt>
                <c:pt idx="931">
                  <c:v>45370</c:v>
                </c:pt>
                <c:pt idx="932">
                  <c:v>45371</c:v>
                </c:pt>
                <c:pt idx="933">
                  <c:v>45372</c:v>
                </c:pt>
                <c:pt idx="934">
                  <c:v>45373</c:v>
                </c:pt>
                <c:pt idx="935">
                  <c:v>45376</c:v>
                </c:pt>
                <c:pt idx="936">
                  <c:v>45377</c:v>
                </c:pt>
                <c:pt idx="937">
                  <c:v>45378</c:v>
                </c:pt>
                <c:pt idx="938">
                  <c:v>45379</c:v>
                </c:pt>
                <c:pt idx="939">
                  <c:v>45384</c:v>
                </c:pt>
                <c:pt idx="940">
                  <c:v>45385</c:v>
                </c:pt>
                <c:pt idx="941">
                  <c:v>45386</c:v>
                </c:pt>
                <c:pt idx="942">
                  <c:v>45387</c:v>
                </c:pt>
                <c:pt idx="943">
                  <c:v>45390</c:v>
                </c:pt>
                <c:pt idx="944">
                  <c:v>45391</c:v>
                </c:pt>
                <c:pt idx="945">
                  <c:v>45392</c:v>
                </c:pt>
                <c:pt idx="946">
                  <c:v>45393</c:v>
                </c:pt>
                <c:pt idx="947">
                  <c:v>45394</c:v>
                </c:pt>
                <c:pt idx="948">
                  <c:v>45397</c:v>
                </c:pt>
                <c:pt idx="949">
                  <c:v>45398</c:v>
                </c:pt>
                <c:pt idx="950">
                  <c:v>45399</c:v>
                </c:pt>
                <c:pt idx="951">
                  <c:v>45400</c:v>
                </c:pt>
                <c:pt idx="952">
                  <c:v>45401</c:v>
                </c:pt>
                <c:pt idx="953">
                  <c:v>45404</c:v>
                </c:pt>
                <c:pt idx="954">
                  <c:v>45405</c:v>
                </c:pt>
                <c:pt idx="955">
                  <c:v>45406</c:v>
                </c:pt>
                <c:pt idx="956">
                  <c:v>45407</c:v>
                </c:pt>
                <c:pt idx="957">
                  <c:v>45408</c:v>
                </c:pt>
                <c:pt idx="958">
                  <c:v>45411</c:v>
                </c:pt>
                <c:pt idx="959">
                  <c:v>45412</c:v>
                </c:pt>
                <c:pt idx="960">
                  <c:v>45413</c:v>
                </c:pt>
                <c:pt idx="961">
                  <c:v>45414</c:v>
                </c:pt>
                <c:pt idx="962">
                  <c:v>45415</c:v>
                </c:pt>
                <c:pt idx="963">
                  <c:v>45419</c:v>
                </c:pt>
                <c:pt idx="964">
                  <c:v>45420</c:v>
                </c:pt>
                <c:pt idx="965">
                  <c:v>45421</c:v>
                </c:pt>
                <c:pt idx="966">
                  <c:v>45422</c:v>
                </c:pt>
                <c:pt idx="967">
                  <c:v>45425</c:v>
                </c:pt>
                <c:pt idx="968">
                  <c:v>45426</c:v>
                </c:pt>
                <c:pt idx="969">
                  <c:v>45427</c:v>
                </c:pt>
                <c:pt idx="970">
                  <c:v>45428</c:v>
                </c:pt>
                <c:pt idx="971">
                  <c:v>45429</c:v>
                </c:pt>
                <c:pt idx="972">
                  <c:v>45432</c:v>
                </c:pt>
                <c:pt idx="973">
                  <c:v>45433</c:v>
                </c:pt>
                <c:pt idx="974">
                  <c:v>45434</c:v>
                </c:pt>
                <c:pt idx="975">
                  <c:v>45435</c:v>
                </c:pt>
                <c:pt idx="976">
                  <c:v>45436</c:v>
                </c:pt>
                <c:pt idx="977">
                  <c:v>45439</c:v>
                </c:pt>
                <c:pt idx="978">
                  <c:v>45440</c:v>
                </c:pt>
                <c:pt idx="979">
                  <c:v>45441</c:v>
                </c:pt>
                <c:pt idx="980">
                  <c:v>45442</c:v>
                </c:pt>
                <c:pt idx="981">
                  <c:v>45443</c:v>
                </c:pt>
                <c:pt idx="982">
                  <c:v>45447</c:v>
                </c:pt>
                <c:pt idx="983">
                  <c:v>45448</c:v>
                </c:pt>
                <c:pt idx="984">
                  <c:v>45449</c:v>
                </c:pt>
                <c:pt idx="985">
                  <c:v>45450</c:v>
                </c:pt>
                <c:pt idx="986">
                  <c:v>45453</c:v>
                </c:pt>
                <c:pt idx="987">
                  <c:v>45454</c:v>
                </c:pt>
                <c:pt idx="988">
                  <c:v>45455</c:v>
                </c:pt>
                <c:pt idx="989">
                  <c:v>45456</c:v>
                </c:pt>
                <c:pt idx="990">
                  <c:v>45457</c:v>
                </c:pt>
                <c:pt idx="991">
                  <c:v>45460</c:v>
                </c:pt>
                <c:pt idx="992">
                  <c:v>45461</c:v>
                </c:pt>
                <c:pt idx="993">
                  <c:v>45462</c:v>
                </c:pt>
                <c:pt idx="994">
                  <c:v>45463</c:v>
                </c:pt>
                <c:pt idx="995">
                  <c:v>45464</c:v>
                </c:pt>
                <c:pt idx="996">
                  <c:v>45467</c:v>
                </c:pt>
                <c:pt idx="997">
                  <c:v>45468</c:v>
                </c:pt>
                <c:pt idx="998">
                  <c:v>45469</c:v>
                </c:pt>
                <c:pt idx="999">
                  <c:v>45470</c:v>
                </c:pt>
                <c:pt idx="1000">
                  <c:v>45471</c:v>
                </c:pt>
                <c:pt idx="1001">
                  <c:v>45474</c:v>
                </c:pt>
                <c:pt idx="1002">
                  <c:v>45475</c:v>
                </c:pt>
                <c:pt idx="1003">
                  <c:v>45476</c:v>
                </c:pt>
                <c:pt idx="1004">
                  <c:v>45477</c:v>
                </c:pt>
                <c:pt idx="1005">
                  <c:v>45478</c:v>
                </c:pt>
                <c:pt idx="1006">
                  <c:v>45481</c:v>
                </c:pt>
                <c:pt idx="1007">
                  <c:v>45482</c:v>
                </c:pt>
                <c:pt idx="1008">
                  <c:v>45483</c:v>
                </c:pt>
                <c:pt idx="1009">
                  <c:v>45484</c:v>
                </c:pt>
                <c:pt idx="1010">
                  <c:v>45485</c:v>
                </c:pt>
                <c:pt idx="1011">
                  <c:v>45488</c:v>
                </c:pt>
                <c:pt idx="1012">
                  <c:v>45489</c:v>
                </c:pt>
                <c:pt idx="1013">
                  <c:v>45490</c:v>
                </c:pt>
                <c:pt idx="1014">
                  <c:v>45491</c:v>
                </c:pt>
                <c:pt idx="1015">
                  <c:v>45492</c:v>
                </c:pt>
                <c:pt idx="1016">
                  <c:v>45495</c:v>
                </c:pt>
                <c:pt idx="1017">
                  <c:v>45496</c:v>
                </c:pt>
                <c:pt idx="1018">
                  <c:v>45497</c:v>
                </c:pt>
                <c:pt idx="1019">
                  <c:v>45498</c:v>
                </c:pt>
                <c:pt idx="1020">
                  <c:v>45499</c:v>
                </c:pt>
                <c:pt idx="1021">
                  <c:v>45502</c:v>
                </c:pt>
                <c:pt idx="1022">
                  <c:v>45503</c:v>
                </c:pt>
                <c:pt idx="1023">
                  <c:v>45504</c:v>
                </c:pt>
                <c:pt idx="1024">
                  <c:v>45505</c:v>
                </c:pt>
                <c:pt idx="1025">
                  <c:v>45506</c:v>
                </c:pt>
                <c:pt idx="1026">
                  <c:v>45510</c:v>
                </c:pt>
                <c:pt idx="1027">
                  <c:v>45511</c:v>
                </c:pt>
                <c:pt idx="1028">
                  <c:v>45512</c:v>
                </c:pt>
                <c:pt idx="1029">
                  <c:v>45513</c:v>
                </c:pt>
                <c:pt idx="1030">
                  <c:v>45516</c:v>
                </c:pt>
                <c:pt idx="1031">
                  <c:v>45517</c:v>
                </c:pt>
                <c:pt idx="1032">
                  <c:v>45518</c:v>
                </c:pt>
                <c:pt idx="1033">
                  <c:v>45519</c:v>
                </c:pt>
                <c:pt idx="1034">
                  <c:v>45520</c:v>
                </c:pt>
                <c:pt idx="1035">
                  <c:v>45523</c:v>
                </c:pt>
                <c:pt idx="1036">
                  <c:v>45524</c:v>
                </c:pt>
                <c:pt idx="1037">
                  <c:v>45525</c:v>
                </c:pt>
                <c:pt idx="1038">
                  <c:v>45526</c:v>
                </c:pt>
                <c:pt idx="1039">
                  <c:v>45527</c:v>
                </c:pt>
                <c:pt idx="1040">
                  <c:v>45530</c:v>
                </c:pt>
                <c:pt idx="1041">
                  <c:v>45531</c:v>
                </c:pt>
                <c:pt idx="1042">
                  <c:v>45532</c:v>
                </c:pt>
                <c:pt idx="1043">
                  <c:v>45533</c:v>
                </c:pt>
                <c:pt idx="1044">
                  <c:v>45534</c:v>
                </c:pt>
                <c:pt idx="1045">
                  <c:v>45537</c:v>
                </c:pt>
                <c:pt idx="1046">
                  <c:v>45538</c:v>
                </c:pt>
                <c:pt idx="1047">
                  <c:v>45539</c:v>
                </c:pt>
                <c:pt idx="1048">
                  <c:v>45540</c:v>
                </c:pt>
                <c:pt idx="1049">
                  <c:v>45541</c:v>
                </c:pt>
                <c:pt idx="1050">
                  <c:v>45544</c:v>
                </c:pt>
                <c:pt idx="1051">
                  <c:v>45545</c:v>
                </c:pt>
                <c:pt idx="1052">
                  <c:v>45546</c:v>
                </c:pt>
                <c:pt idx="1053">
                  <c:v>45547</c:v>
                </c:pt>
                <c:pt idx="1054">
                  <c:v>45548</c:v>
                </c:pt>
                <c:pt idx="1055">
                  <c:v>45551</c:v>
                </c:pt>
                <c:pt idx="1056">
                  <c:v>45552</c:v>
                </c:pt>
                <c:pt idx="1057">
                  <c:v>45553</c:v>
                </c:pt>
                <c:pt idx="1058">
                  <c:v>45554</c:v>
                </c:pt>
                <c:pt idx="1059">
                  <c:v>45555</c:v>
                </c:pt>
                <c:pt idx="1060">
                  <c:v>45558</c:v>
                </c:pt>
                <c:pt idx="1061">
                  <c:v>45559</c:v>
                </c:pt>
                <c:pt idx="1062">
                  <c:v>45560</c:v>
                </c:pt>
                <c:pt idx="1063">
                  <c:v>45561</c:v>
                </c:pt>
                <c:pt idx="1064">
                  <c:v>45562</c:v>
                </c:pt>
                <c:pt idx="1065">
                  <c:v>45565</c:v>
                </c:pt>
                <c:pt idx="1066">
                  <c:v>45566</c:v>
                </c:pt>
                <c:pt idx="1067">
                  <c:v>45567</c:v>
                </c:pt>
                <c:pt idx="1068">
                  <c:v>45568</c:v>
                </c:pt>
                <c:pt idx="1069">
                  <c:v>45569</c:v>
                </c:pt>
                <c:pt idx="1070">
                  <c:v>45572</c:v>
                </c:pt>
                <c:pt idx="1071">
                  <c:v>45573</c:v>
                </c:pt>
                <c:pt idx="1072">
                  <c:v>45574</c:v>
                </c:pt>
                <c:pt idx="1073">
                  <c:v>45575</c:v>
                </c:pt>
                <c:pt idx="1074">
                  <c:v>45576</c:v>
                </c:pt>
                <c:pt idx="1075">
                  <c:v>45579</c:v>
                </c:pt>
                <c:pt idx="1076">
                  <c:v>45580</c:v>
                </c:pt>
                <c:pt idx="1077">
                  <c:v>45581</c:v>
                </c:pt>
                <c:pt idx="1078">
                  <c:v>45582</c:v>
                </c:pt>
                <c:pt idx="1079">
                  <c:v>45583</c:v>
                </c:pt>
                <c:pt idx="1080">
                  <c:v>45586</c:v>
                </c:pt>
                <c:pt idx="1081">
                  <c:v>45587</c:v>
                </c:pt>
                <c:pt idx="1082">
                  <c:v>45588</c:v>
                </c:pt>
                <c:pt idx="1083">
                  <c:v>45589</c:v>
                </c:pt>
                <c:pt idx="1084">
                  <c:v>45590</c:v>
                </c:pt>
                <c:pt idx="1085">
                  <c:v>45594</c:v>
                </c:pt>
                <c:pt idx="1086">
                  <c:v>45595</c:v>
                </c:pt>
                <c:pt idx="1087">
                  <c:v>45596</c:v>
                </c:pt>
                <c:pt idx="1088">
                  <c:v>45597</c:v>
                </c:pt>
                <c:pt idx="1089">
                  <c:v>45600</c:v>
                </c:pt>
                <c:pt idx="1090">
                  <c:v>45601</c:v>
                </c:pt>
                <c:pt idx="1091">
                  <c:v>45602</c:v>
                </c:pt>
                <c:pt idx="1092">
                  <c:v>45603</c:v>
                </c:pt>
                <c:pt idx="1093">
                  <c:v>45604</c:v>
                </c:pt>
                <c:pt idx="1094">
                  <c:v>45607</c:v>
                </c:pt>
                <c:pt idx="1095">
                  <c:v>45608</c:v>
                </c:pt>
                <c:pt idx="1096">
                  <c:v>45609</c:v>
                </c:pt>
                <c:pt idx="1097">
                  <c:v>45610</c:v>
                </c:pt>
                <c:pt idx="1098">
                  <c:v>45611</c:v>
                </c:pt>
                <c:pt idx="1099">
                  <c:v>45614</c:v>
                </c:pt>
                <c:pt idx="1100">
                  <c:v>45615</c:v>
                </c:pt>
                <c:pt idx="1101">
                  <c:v>45616</c:v>
                </c:pt>
                <c:pt idx="1102">
                  <c:v>45617</c:v>
                </c:pt>
                <c:pt idx="1103">
                  <c:v>45618</c:v>
                </c:pt>
                <c:pt idx="1104">
                  <c:v>45621</c:v>
                </c:pt>
                <c:pt idx="1105">
                  <c:v>45622</c:v>
                </c:pt>
                <c:pt idx="1106">
                  <c:v>45623</c:v>
                </c:pt>
                <c:pt idx="1107">
                  <c:v>45624</c:v>
                </c:pt>
                <c:pt idx="1108">
                  <c:v>45625</c:v>
                </c:pt>
                <c:pt idx="1109">
                  <c:v>45628</c:v>
                </c:pt>
                <c:pt idx="1110">
                  <c:v>45629</c:v>
                </c:pt>
                <c:pt idx="1111">
                  <c:v>45630</c:v>
                </c:pt>
                <c:pt idx="1112">
                  <c:v>45631</c:v>
                </c:pt>
                <c:pt idx="1113">
                  <c:v>45632</c:v>
                </c:pt>
                <c:pt idx="1114">
                  <c:v>45635</c:v>
                </c:pt>
                <c:pt idx="1115">
                  <c:v>45636</c:v>
                </c:pt>
                <c:pt idx="1116">
                  <c:v>45637</c:v>
                </c:pt>
                <c:pt idx="1117">
                  <c:v>45638</c:v>
                </c:pt>
                <c:pt idx="1118">
                  <c:v>45639</c:v>
                </c:pt>
                <c:pt idx="1119">
                  <c:v>45642</c:v>
                </c:pt>
                <c:pt idx="1120">
                  <c:v>45643</c:v>
                </c:pt>
                <c:pt idx="1121">
                  <c:v>45644</c:v>
                </c:pt>
                <c:pt idx="1122">
                  <c:v>45645</c:v>
                </c:pt>
                <c:pt idx="1123">
                  <c:v>45646</c:v>
                </c:pt>
                <c:pt idx="1124">
                  <c:v>45649</c:v>
                </c:pt>
                <c:pt idx="1125">
                  <c:v>45650</c:v>
                </c:pt>
                <c:pt idx="1126">
                  <c:v>45653</c:v>
                </c:pt>
                <c:pt idx="1127">
                  <c:v>45656</c:v>
                </c:pt>
                <c:pt idx="1128">
                  <c:v>45657</c:v>
                </c:pt>
                <c:pt idx="1129">
                  <c:v>45659</c:v>
                </c:pt>
                <c:pt idx="1130">
                  <c:v>45660</c:v>
                </c:pt>
                <c:pt idx="1131">
                  <c:v>45663</c:v>
                </c:pt>
                <c:pt idx="1132">
                  <c:v>45664</c:v>
                </c:pt>
                <c:pt idx="1133">
                  <c:v>45665</c:v>
                </c:pt>
                <c:pt idx="1134">
                  <c:v>45666</c:v>
                </c:pt>
                <c:pt idx="1135">
                  <c:v>45667</c:v>
                </c:pt>
                <c:pt idx="1136">
                  <c:v>45670</c:v>
                </c:pt>
                <c:pt idx="1137">
                  <c:v>45671</c:v>
                </c:pt>
                <c:pt idx="1138">
                  <c:v>45672</c:v>
                </c:pt>
                <c:pt idx="1139">
                  <c:v>45673</c:v>
                </c:pt>
                <c:pt idx="1140">
                  <c:v>45674</c:v>
                </c:pt>
                <c:pt idx="1141">
                  <c:v>45677</c:v>
                </c:pt>
                <c:pt idx="1142">
                  <c:v>45678</c:v>
                </c:pt>
                <c:pt idx="1143">
                  <c:v>45679</c:v>
                </c:pt>
                <c:pt idx="1144">
                  <c:v>45680</c:v>
                </c:pt>
                <c:pt idx="1145">
                  <c:v>45681</c:v>
                </c:pt>
                <c:pt idx="1146">
                  <c:v>45684</c:v>
                </c:pt>
                <c:pt idx="1147">
                  <c:v>45685</c:v>
                </c:pt>
                <c:pt idx="1148">
                  <c:v>45686</c:v>
                </c:pt>
                <c:pt idx="1149">
                  <c:v>45687</c:v>
                </c:pt>
                <c:pt idx="1150">
                  <c:v>45688</c:v>
                </c:pt>
                <c:pt idx="1151">
                  <c:v>45692</c:v>
                </c:pt>
                <c:pt idx="1152">
                  <c:v>45693</c:v>
                </c:pt>
                <c:pt idx="1153">
                  <c:v>45694</c:v>
                </c:pt>
                <c:pt idx="1154">
                  <c:v>45695</c:v>
                </c:pt>
                <c:pt idx="1155">
                  <c:v>45698</c:v>
                </c:pt>
                <c:pt idx="1156">
                  <c:v>45699</c:v>
                </c:pt>
                <c:pt idx="1157">
                  <c:v>45700</c:v>
                </c:pt>
                <c:pt idx="1158">
                  <c:v>45701</c:v>
                </c:pt>
                <c:pt idx="1159">
                  <c:v>45702</c:v>
                </c:pt>
                <c:pt idx="1160">
                  <c:v>45705</c:v>
                </c:pt>
                <c:pt idx="1161">
                  <c:v>45706</c:v>
                </c:pt>
                <c:pt idx="1162">
                  <c:v>45707</c:v>
                </c:pt>
                <c:pt idx="1163">
                  <c:v>45708</c:v>
                </c:pt>
                <c:pt idx="1164">
                  <c:v>45709</c:v>
                </c:pt>
                <c:pt idx="1165">
                  <c:v>45712</c:v>
                </c:pt>
                <c:pt idx="1166">
                  <c:v>45713</c:v>
                </c:pt>
                <c:pt idx="1167">
                  <c:v>45714</c:v>
                </c:pt>
                <c:pt idx="1168">
                  <c:v>45715</c:v>
                </c:pt>
                <c:pt idx="1169">
                  <c:v>45716</c:v>
                </c:pt>
                <c:pt idx="1170">
                  <c:v>45719</c:v>
                </c:pt>
                <c:pt idx="1171">
                  <c:v>45720</c:v>
                </c:pt>
                <c:pt idx="1172">
                  <c:v>45721</c:v>
                </c:pt>
                <c:pt idx="1173">
                  <c:v>45722</c:v>
                </c:pt>
                <c:pt idx="1174">
                  <c:v>45723</c:v>
                </c:pt>
                <c:pt idx="1175">
                  <c:v>45726</c:v>
                </c:pt>
                <c:pt idx="1176">
                  <c:v>45727</c:v>
                </c:pt>
                <c:pt idx="1177">
                  <c:v>45728</c:v>
                </c:pt>
                <c:pt idx="1178">
                  <c:v>45729</c:v>
                </c:pt>
                <c:pt idx="1179">
                  <c:v>45730</c:v>
                </c:pt>
                <c:pt idx="1180">
                  <c:v>45734</c:v>
                </c:pt>
                <c:pt idx="1181">
                  <c:v>45735</c:v>
                </c:pt>
                <c:pt idx="1182">
                  <c:v>45736</c:v>
                </c:pt>
                <c:pt idx="1183">
                  <c:v>45737</c:v>
                </c:pt>
                <c:pt idx="1184">
                  <c:v>45740</c:v>
                </c:pt>
                <c:pt idx="1185">
                  <c:v>45741</c:v>
                </c:pt>
                <c:pt idx="1186">
                  <c:v>45742</c:v>
                </c:pt>
                <c:pt idx="1187">
                  <c:v>45743</c:v>
                </c:pt>
                <c:pt idx="1188">
                  <c:v>45744</c:v>
                </c:pt>
                <c:pt idx="1189">
                  <c:v>45747</c:v>
                </c:pt>
                <c:pt idx="1190">
                  <c:v>45748</c:v>
                </c:pt>
                <c:pt idx="1191">
                  <c:v>45749</c:v>
                </c:pt>
                <c:pt idx="1192">
                  <c:v>45750</c:v>
                </c:pt>
                <c:pt idx="1193">
                  <c:v>45751</c:v>
                </c:pt>
                <c:pt idx="1194">
                  <c:v>45754</c:v>
                </c:pt>
                <c:pt idx="1195">
                  <c:v>45755</c:v>
                </c:pt>
                <c:pt idx="1196">
                  <c:v>45756</c:v>
                </c:pt>
                <c:pt idx="1197">
                  <c:v>45757</c:v>
                </c:pt>
                <c:pt idx="1198">
                  <c:v>45758</c:v>
                </c:pt>
                <c:pt idx="1199">
                  <c:v>45761</c:v>
                </c:pt>
                <c:pt idx="1200">
                  <c:v>45762</c:v>
                </c:pt>
                <c:pt idx="1201">
                  <c:v>45763</c:v>
                </c:pt>
                <c:pt idx="1202">
                  <c:v>45764</c:v>
                </c:pt>
                <c:pt idx="1203">
                  <c:v>45769</c:v>
                </c:pt>
                <c:pt idx="1204">
                  <c:v>45770</c:v>
                </c:pt>
                <c:pt idx="1205">
                  <c:v>45771</c:v>
                </c:pt>
                <c:pt idx="1206">
                  <c:v>45772</c:v>
                </c:pt>
                <c:pt idx="1207">
                  <c:v>45775</c:v>
                </c:pt>
                <c:pt idx="1208">
                  <c:v>45776</c:v>
                </c:pt>
                <c:pt idx="1209">
                  <c:v>45777</c:v>
                </c:pt>
                <c:pt idx="1210">
                  <c:v>45778</c:v>
                </c:pt>
                <c:pt idx="1211">
                  <c:v>45779</c:v>
                </c:pt>
                <c:pt idx="1212">
                  <c:v>45783</c:v>
                </c:pt>
                <c:pt idx="1213">
                  <c:v>45784</c:v>
                </c:pt>
                <c:pt idx="1214">
                  <c:v>45785</c:v>
                </c:pt>
                <c:pt idx="1215">
                  <c:v>45786</c:v>
                </c:pt>
                <c:pt idx="1216">
                  <c:v>45789</c:v>
                </c:pt>
                <c:pt idx="1217">
                  <c:v>45790</c:v>
                </c:pt>
                <c:pt idx="1218">
                  <c:v>45791</c:v>
                </c:pt>
                <c:pt idx="1219">
                  <c:v>45792</c:v>
                </c:pt>
                <c:pt idx="1220">
                  <c:v>45793</c:v>
                </c:pt>
                <c:pt idx="1221">
                  <c:v>45796</c:v>
                </c:pt>
                <c:pt idx="1222">
                  <c:v>45797</c:v>
                </c:pt>
                <c:pt idx="1223">
                  <c:v>45798</c:v>
                </c:pt>
                <c:pt idx="1224">
                  <c:v>45799</c:v>
                </c:pt>
                <c:pt idx="1225">
                  <c:v>45800</c:v>
                </c:pt>
                <c:pt idx="1226">
                  <c:v>45803</c:v>
                </c:pt>
                <c:pt idx="1227">
                  <c:v>45804</c:v>
                </c:pt>
                <c:pt idx="1228">
                  <c:v>45805</c:v>
                </c:pt>
                <c:pt idx="1229">
                  <c:v>45806</c:v>
                </c:pt>
                <c:pt idx="1230">
                  <c:v>45807</c:v>
                </c:pt>
                <c:pt idx="1231">
                  <c:v>45811</c:v>
                </c:pt>
              </c:numCache>
            </c:numRef>
          </c:cat>
          <c:val>
            <c:numRef>
              <c:f>Sheet1!$C$2:$C$1233</c:f>
              <c:numCache>
                <c:formatCode>General</c:formatCode>
                <c:ptCount val="1232"/>
                <c:pt idx="1">
                  <c:v>0.12603528988117674</c:v>
                </c:pt>
                <c:pt idx="2">
                  <c:v>0.28808066258552145</c:v>
                </c:pt>
                <c:pt idx="3">
                  <c:v>0.31508822470291964</c:v>
                </c:pt>
                <c:pt idx="4">
                  <c:v>0.49513863881887055</c:v>
                </c:pt>
                <c:pt idx="5">
                  <c:v>0.64818149081744547</c:v>
                </c:pt>
                <c:pt idx="6">
                  <c:v>0.60316888728844109</c:v>
                </c:pt>
                <c:pt idx="7">
                  <c:v>0.54015124234785272</c:v>
                </c:pt>
                <c:pt idx="8">
                  <c:v>0.51314368023047674</c:v>
                </c:pt>
                <c:pt idx="9">
                  <c:v>0.71119913575801164</c:v>
                </c:pt>
                <c:pt idx="10">
                  <c:v>0.68419157364061345</c:v>
                </c:pt>
                <c:pt idx="11">
                  <c:v>0.96326971552034291</c:v>
                </c:pt>
                <c:pt idx="12">
                  <c:v>1.0352898811667233</c:v>
                </c:pt>
                <c:pt idx="13">
                  <c:v>1.0712999639899135</c:v>
                </c:pt>
                <c:pt idx="14">
                  <c:v>1.2243428159884884</c:v>
                </c:pt>
                <c:pt idx="15">
                  <c:v>1.3773856679870411</c:v>
                </c:pt>
                <c:pt idx="16">
                  <c:v>1.4764133957507974</c:v>
                </c:pt>
                <c:pt idx="17">
                  <c:v>1.5754411235145982</c:v>
                </c:pt>
                <c:pt idx="18">
                  <c:v>1.557436082102992</c:v>
                </c:pt>
                <c:pt idx="19">
                  <c:v>1.6564638098667706</c:v>
                </c:pt>
                <c:pt idx="20">
                  <c:v>1.6924738926899385</c:v>
                </c:pt>
                <c:pt idx="21">
                  <c:v>1.7374864962189429</c:v>
                </c:pt>
                <c:pt idx="22">
                  <c:v>1.7464890169247571</c:v>
                </c:pt>
                <c:pt idx="23">
                  <c:v>1.7554915376305491</c:v>
                </c:pt>
                <c:pt idx="24">
                  <c:v>1.9175369103348938</c:v>
                </c:pt>
                <c:pt idx="25">
                  <c:v>2.0795822830392385</c:v>
                </c:pt>
                <c:pt idx="26">
                  <c:v>2.1696074900972251</c:v>
                </c:pt>
                <c:pt idx="27">
                  <c:v>2.1516024486856411</c:v>
                </c:pt>
                <c:pt idx="28">
                  <c:v>2.1966150522146233</c:v>
                </c:pt>
                <c:pt idx="29">
                  <c:v>2.2596326971551894</c:v>
                </c:pt>
                <c:pt idx="30">
                  <c:v>2.2686352178609814</c:v>
                </c:pt>
                <c:pt idx="31">
                  <c:v>2.3226503420958</c:v>
                </c:pt>
                <c:pt idx="32">
                  <c:v>2.2326251350378135</c:v>
                </c:pt>
                <c:pt idx="33">
                  <c:v>2.2506301764493974</c:v>
                </c:pt>
                <c:pt idx="34">
                  <c:v>2.340655383507384</c:v>
                </c:pt>
                <c:pt idx="35">
                  <c:v>2.3676629456247822</c:v>
                </c:pt>
                <c:pt idx="36">
                  <c:v>2.3856679870363662</c:v>
                </c:pt>
                <c:pt idx="37">
                  <c:v>2.3766654663305742</c:v>
                </c:pt>
                <c:pt idx="38">
                  <c:v>2.5027007562117509</c:v>
                </c:pt>
                <c:pt idx="39">
                  <c:v>2.6467410875045116</c:v>
                </c:pt>
                <c:pt idx="40">
                  <c:v>2.6647461289160956</c:v>
                </c:pt>
                <c:pt idx="41">
                  <c:v>2.736766294562476</c:v>
                </c:pt>
                <c:pt idx="42">
                  <c:v>2.745768815268268</c:v>
                </c:pt>
                <c:pt idx="43">
                  <c:v>2.75477133597406</c:v>
                </c:pt>
                <c:pt idx="44">
                  <c:v>2.8267915016204626</c:v>
                </c:pt>
                <c:pt idx="45">
                  <c:v>2.8537990637378607</c:v>
                </c:pt>
                <c:pt idx="46">
                  <c:v>2.1876125315088313</c:v>
                </c:pt>
                <c:pt idx="47">
                  <c:v>2.0165646380986724</c:v>
                </c:pt>
                <c:pt idx="48">
                  <c:v>2.8628015844436527</c:v>
                </c:pt>
                <c:pt idx="49">
                  <c:v>2.8357940223262545</c:v>
                </c:pt>
                <c:pt idx="50">
                  <c:v>2.8808066258552367</c:v>
                </c:pt>
                <c:pt idx="51">
                  <c:v>2.9168167086784269</c:v>
                </c:pt>
                <c:pt idx="52">
                  <c:v>2.8357940223262545</c:v>
                </c:pt>
                <c:pt idx="53">
                  <c:v>2.9078141879726349</c:v>
                </c:pt>
                <c:pt idx="54">
                  <c:v>2.9348217500900109</c:v>
                </c:pt>
                <c:pt idx="55">
                  <c:v>2.9438242707958251</c:v>
                </c:pt>
                <c:pt idx="56">
                  <c:v>2.8718041051494447</c:v>
                </c:pt>
                <c:pt idx="57">
                  <c:v>2.8628015844436527</c:v>
                </c:pt>
                <c:pt idx="58">
                  <c:v>2.5747209218581091</c:v>
                </c:pt>
                <c:pt idx="59">
                  <c:v>2.3856679870363662</c:v>
                </c:pt>
                <c:pt idx="60">
                  <c:v>2.4666906733885607</c:v>
                </c:pt>
                <c:pt idx="61">
                  <c:v>2.0795822830392385</c:v>
                </c:pt>
                <c:pt idx="62">
                  <c:v>1.1343176089305018</c:v>
                </c:pt>
                <c:pt idx="63">
                  <c:v>2.1516024486856411</c:v>
                </c:pt>
                <c:pt idx="64">
                  <c:v>2.1876125315088313</c:v>
                </c:pt>
                <c:pt idx="65">
                  <c:v>1.5394310406913858</c:v>
                </c:pt>
                <c:pt idx="66">
                  <c:v>2.4936982355059367</c:v>
                </c:pt>
                <c:pt idx="67">
                  <c:v>2.5117032769175429</c:v>
                </c:pt>
                <c:pt idx="68">
                  <c:v>2.6737486496219098</c:v>
                </c:pt>
                <c:pt idx="69">
                  <c:v>2.7907814187972502</c:v>
                </c:pt>
                <c:pt idx="70">
                  <c:v>2.8357940223262545</c:v>
                </c:pt>
                <c:pt idx="71">
                  <c:v>2.9348217500900109</c:v>
                </c:pt>
                <c:pt idx="72">
                  <c:v>2.9618293122074091</c:v>
                </c:pt>
                <c:pt idx="73">
                  <c:v>3.0248469571479975</c:v>
                </c:pt>
                <c:pt idx="74">
                  <c:v>3.0518545192653956</c:v>
                </c:pt>
                <c:pt idx="75">
                  <c:v>3.0068419157364135</c:v>
                </c:pt>
                <c:pt idx="76">
                  <c:v>2.7817788980914582</c:v>
                </c:pt>
                <c:pt idx="77">
                  <c:v>2.8537990637378607</c:v>
                </c:pt>
                <c:pt idx="78">
                  <c:v>2.9168167086784269</c:v>
                </c:pt>
                <c:pt idx="79">
                  <c:v>2.9168167086784269</c:v>
                </c:pt>
                <c:pt idx="80">
                  <c:v>2.9168167086784269</c:v>
                </c:pt>
                <c:pt idx="81">
                  <c:v>2.9078141879726349</c:v>
                </c:pt>
                <c:pt idx="82">
                  <c:v>2.9348217500900109</c:v>
                </c:pt>
                <c:pt idx="83">
                  <c:v>2.7817788980914582</c:v>
                </c:pt>
                <c:pt idx="84">
                  <c:v>2.340655383507384</c:v>
                </c:pt>
                <c:pt idx="85">
                  <c:v>1.5304285199855938</c:v>
                </c:pt>
                <c:pt idx="86">
                  <c:v>2.2146200936262073</c:v>
                </c:pt>
                <c:pt idx="87">
                  <c:v>2.3226503420958</c:v>
                </c:pt>
                <c:pt idx="88">
                  <c:v>2.6557436082103036</c:v>
                </c:pt>
                <c:pt idx="89">
                  <c:v>2.9078141879726349</c:v>
                </c:pt>
                <c:pt idx="90">
                  <c:v>3.3039250990277269</c:v>
                </c:pt>
                <c:pt idx="91">
                  <c:v>3.3129276197335189</c:v>
                </c:pt>
                <c:pt idx="92">
                  <c:v>3.8710839034929778</c:v>
                </c:pt>
                <c:pt idx="93">
                  <c:v>3.9791141519625484</c:v>
                </c:pt>
                <c:pt idx="94">
                  <c:v>4.0511343176089287</c:v>
                </c:pt>
                <c:pt idx="95">
                  <c:v>3.9971191933741546</c:v>
                </c:pt>
                <c:pt idx="96">
                  <c:v>3.9791141519625484</c:v>
                </c:pt>
                <c:pt idx="97">
                  <c:v>4.2311847317248796</c:v>
                </c:pt>
                <c:pt idx="98">
                  <c:v>4.294202376665468</c:v>
                </c:pt>
                <c:pt idx="99">
                  <c:v>4.3572200216060564</c:v>
                </c:pt>
                <c:pt idx="100">
                  <c:v>4.3662225423118484</c:v>
                </c:pt>
                <c:pt idx="101">
                  <c:v>4.3572200216060564</c:v>
                </c:pt>
                <c:pt idx="102">
                  <c:v>4.4832553114872331</c:v>
                </c:pt>
                <c:pt idx="103">
                  <c:v>4.6453006841915778</c:v>
                </c:pt>
                <c:pt idx="104">
                  <c:v>4.7353258912495422</c:v>
                </c:pt>
                <c:pt idx="105">
                  <c:v>4.7893410154843385</c:v>
                </c:pt>
                <c:pt idx="106">
                  <c:v>4.8703637018365109</c:v>
                </c:pt>
                <c:pt idx="107">
                  <c:v>4.8793662225423251</c:v>
                </c:pt>
                <c:pt idx="108">
                  <c:v>4.9963989917176654</c:v>
                </c:pt>
                <c:pt idx="109">
                  <c:v>5.059416636658276</c:v>
                </c:pt>
                <c:pt idx="110">
                  <c:v>5.1854519265394305</c:v>
                </c:pt>
                <c:pt idx="111">
                  <c:v>5.2844796543032091</c:v>
                </c:pt>
                <c:pt idx="112">
                  <c:v>5.4015124234785716</c:v>
                </c:pt>
                <c:pt idx="113">
                  <c:v>5.3655023406553815</c:v>
                </c:pt>
                <c:pt idx="114">
                  <c:v>5.3925099027727796</c:v>
                </c:pt>
                <c:pt idx="115">
                  <c:v>5.3294922578321913</c:v>
                </c:pt>
                <c:pt idx="116">
                  <c:v>5.2934821750090011</c:v>
                </c:pt>
                <c:pt idx="117">
                  <c:v>5.4285199855959698</c:v>
                </c:pt>
                <c:pt idx="118">
                  <c:v>5.4015124234785716</c:v>
                </c:pt>
                <c:pt idx="119">
                  <c:v>5.4195174648901778</c:v>
                </c:pt>
                <c:pt idx="120">
                  <c:v>5.473532589124952</c:v>
                </c:pt>
                <c:pt idx="121">
                  <c:v>5.5095426719481422</c:v>
                </c:pt>
                <c:pt idx="122">
                  <c:v>5.3294922578321913</c:v>
                </c:pt>
                <c:pt idx="123">
                  <c:v>5.3835073820669876</c:v>
                </c:pt>
                <c:pt idx="124">
                  <c:v>5.4285199855959698</c:v>
                </c:pt>
                <c:pt idx="125">
                  <c:v>5.455527547713368</c:v>
                </c:pt>
                <c:pt idx="126">
                  <c:v>5.6085703997119207</c:v>
                </c:pt>
                <c:pt idx="127">
                  <c:v>5.6715880446524869</c:v>
                </c:pt>
                <c:pt idx="128">
                  <c:v>5.6535830032409029</c:v>
                </c:pt>
                <c:pt idx="129">
                  <c:v>5.7526107310046815</c:v>
                </c:pt>
                <c:pt idx="130">
                  <c:v>5.7976233345336636</c:v>
                </c:pt>
                <c:pt idx="131">
                  <c:v>5.8966510622974422</c:v>
                </c:pt>
                <c:pt idx="132">
                  <c:v>5.9146561037090484</c:v>
                </c:pt>
                <c:pt idx="133">
                  <c:v>5.9776737486496145</c:v>
                </c:pt>
                <c:pt idx="134">
                  <c:v>5.9686712279438225</c:v>
                </c:pt>
                <c:pt idx="135">
                  <c:v>5.9146561037090484</c:v>
                </c:pt>
                <c:pt idx="136">
                  <c:v>5.9776737486496145</c:v>
                </c:pt>
                <c:pt idx="137">
                  <c:v>6.0136838314728047</c:v>
                </c:pt>
                <c:pt idx="138">
                  <c:v>6.0046813107670127</c:v>
                </c:pt>
                <c:pt idx="139">
                  <c:v>5.6715880446524869</c:v>
                </c:pt>
                <c:pt idx="140">
                  <c:v>6.1217140799423975</c:v>
                </c:pt>
                <c:pt idx="141">
                  <c:v>6.2207418077061538</c:v>
                </c:pt>
                <c:pt idx="142">
                  <c:v>6.2927619733525342</c:v>
                </c:pt>
                <c:pt idx="143">
                  <c:v>6.265754411235136</c:v>
                </c:pt>
                <c:pt idx="144">
                  <c:v>6.2027367662945698</c:v>
                </c:pt>
                <c:pt idx="145">
                  <c:v>6.1487216420597735</c:v>
                </c:pt>
                <c:pt idx="146">
                  <c:v>6.0406913935902029</c:v>
                </c:pt>
                <c:pt idx="147">
                  <c:v>6.0316888728844109</c:v>
                </c:pt>
                <c:pt idx="148">
                  <c:v>6.0767014764133931</c:v>
                </c:pt>
                <c:pt idx="149">
                  <c:v>6.2027367662945698</c:v>
                </c:pt>
                <c:pt idx="150">
                  <c:v>6.3197695354699324</c:v>
                </c:pt>
                <c:pt idx="151">
                  <c:v>6.4277997839395029</c:v>
                </c:pt>
                <c:pt idx="152">
                  <c:v>6.5178249909974895</c:v>
                </c:pt>
                <c:pt idx="153">
                  <c:v>6.5718401152322636</c:v>
                </c:pt>
                <c:pt idx="154">
                  <c:v>6.6168527187612458</c:v>
                </c:pt>
                <c:pt idx="155">
                  <c:v>6.6258552394670378</c:v>
                </c:pt>
                <c:pt idx="156">
                  <c:v>6.6528628015844582</c:v>
                </c:pt>
                <c:pt idx="157">
                  <c:v>6.7158804465250244</c:v>
                </c:pt>
                <c:pt idx="158">
                  <c:v>6.6978754051134404</c:v>
                </c:pt>
                <c:pt idx="159">
                  <c:v>6.7698955707597985</c:v>
                </c:pt>
                <c:pt idx="160">
                  <c:v>6.8149081742888029</c:v>
                </c:pt>
                <c:pt idx="161">
                  <c:v>6.7879006121714047</c:v>
                </c:pt>
                <c:pt idx="162">
                  <c:v>6.8239106949946171</c:v>
                </c:pt>
                <c:pt idx="163">
                  <c:v>6.8239106949946171</c:v>
                </c:pt>
                <c:pt idx="164">
                  <c:v>6.7698955707597985</c:v>
                </c:pt>
                <c:pt idx="165">
                  <c:v>6.7879006121714047</c:v>
                </c:pt>
                <c:pt idx="166">
                  <c:v>6.8329132157004091</c:v>
                </c:pt>
                <c:pt idx="167">
                  <c:v>6.7608930500540065</c:v>
                </c:pt>
                <c:pt idx="168">
                  <c:v>6.5898451566438476</c:v>
                </c:pt>
                <c:pt idx="169">
                  <c:v>6.7248829672308164</c:v>
                </c:pt>
                <c:pt idx="170">
                  <c:v>6.7698955707597985</c:v>
                </c:pt>
                <c:pt idx="171">
                  <c:v>6.7879006121714047</c:v>
                </c:pt>
                <c:pt idx="172">
                  <c:v>6.7518905293482145</c:v>
                </c:pt>
                <c:pt idx="173">
                  <c:v>6.643860280878644</c:v>
                </c:pt>
                <c:pt idx="174">
                  <c:v>6.6258552394670378</c:v>
                </c:pt>
                <c:pt idx="175">
                  <c:v>6.643860280878644</c:v>
                </c:pt>
                <c:pt idx="176">
                  <c:v>6.6618653222902502</c:v>
                </c:pt>
                <c:pt idx="177">
                  <c:v>6.7788980914656127</c:v>
                </c:pt>
                <c:pt idx="178">
                  <c:v>6.7608930500540065</c:v>
                </c:pt>
                <c:pt idx="179">
                  <c:v>6.8149081742888029</c:v>
                </c:pt>
                <c:pt idx="180">
                  <c:v>6.8239106949946171</c:v>
                </c:pt>
                <c:pt idx="181">
                  <c:v>6.6798703637018342</c:v>
                </c:pt>
                <c:pt idx="182">
                  <c:v>6.6618653222902502</c:v>
                </c:pt>
                <c:pt idx="183">
                  <c:v>6.7338854879366306</c:v>
                </c:pt>
                <c:pt idx="184">
                  <c:v>6.8329132157004091</c:v>
                </c:pt>
                <c:pt idx="185">
                  <c:v>6.8959308606409753</c:v>
                </c:pt>
                <c:pt idx="186">
                  <c:v>6.9319409434641654</c:v>
                </c:pt>
                <c:pt idx="187">
                  <c:v>6.9679510262873556</c:v>
                </c:pt>
                <c:pt idx="188">
                  <c:v>7.039971191933736</c:v>
                </c:pt>
                <c:pt idx="189">
                  <c:v>7.0669787540511342</c:v>
                </c:pt>
                <c:pt idx="190">
                  <c:v>7.1299963989917226</c:v>
                </c:pt>
                <c:pt idx="191">
                  <c:v>7.2020165646381029</c:v>
                </c:pt>
                <c:pt idx="192">
                  <c:v>7.3190493338134655</c:v>
                </c:pt>
                <c:pt idx="193">
                  <c:v>7.3910694994598458</c:v>
                </c:pt>
                <c:pt idx="194">
                  <c:v>7.4540871444004342</c:v>
                </c:pt>
                <c:pt idx="195">
                  <c:v>7.418077061577244</c:v>
                </c:pt>
                <c:pt idx="196">
                  <c:v>7.4450846236946422</c:v>
                </c:pt>
                <c:pt idx="197">
                  <c:v>7.418077061577244</c:v>
                </c:pt>
                <c:pt idx="198">
                  <c:v>7.4540871444004342</c:v>
                </c:pt>
                <c:pt idx="199">
                  <c:v>7.4900972272236244</c:v>
                </c:pt>
                <c:pt idx="200">
                  <c:v>7.5171047893410003</c:v>
                </c:pt>
                <c:pt idx="201">
                  <c:v>7.5171047893410003</c:v>
                </c:pt>
                <c:pt idx="202">
                  <c:v>7.418077061577244</c:v>
                </c:pt>
                <c:pt idx="203">
                  <c:v>7.40007202016566</c:v>
                </c:pt>
                <c:pt idx="204">
                  <c:v>7.0759812747569262</c:v>
                </c:pt>
                <c:pt idx="205">
                  <c:v>7.4810947065178102</c:v>
                </c:pt>
                <c:pt idx="206">
                  <c:v>7.5351098307526065</c:v>
                </c:pt>
                <c:pt idx="207">
                  <c:v>7.5531148721642127</c:v>
                </c:pt>
                <c:pt idx="208">
                  <c:v>7.5531148721642127</c:v>
                </c:pt>
                <c:pt idx="209">
                  <c:v>7.5981274756931949</c:v>
                </c:pt>
                <c:pt idx="210">
                  <c:v>7.6161325171048011</c:v>
                </c:pt>
                <c:pt idx="211">
                  <c:v>7.2650342095786913</c:v>
                </c:pt>
                <c:pt idx="212">
                  <c:v>7.6791501620453673</c:v>
                </c:pt>
                <c:pt idx="213">
                  <c:v>7.6881526827511593</c:v>
                </c:pt>
                <c:pt idx="214">
                  <c:v>7.7331652862801636</c:v>
                </c:pt>
                <c:pt idx="215">
                  <c:v>7.7511703276917698</c:v>
                </c:pt>
                <c:pt idx="216">
                  <c:v>7.6881526827511593</c:v>
                </c:pt>
                <c:pt idx="217">
                  <c:v>7.6431400792221771</c:v>
                </c:pt>
                <c:pt idx="218">
                  <c:v>7.5801224342816109</c:v>
                </c:pt>
                <c:pt idx="219">
                  <c:v>7.6521425999279691</c:v>
                </c:pt>
                <c:pt idx="220">
                  <c:v>7.7151602448685574</c:v>
                </c:pt>
                <c:pt idx="221">
                  <c:v>7.7601728483975618</c:v>
                </c:pt>
                <c:pt idx="222">
                  <c:v>7.6791501620453673</c:v>
                </c:pt>
                <c:pt idx="223">
                  <c:v>7.6971552034569513</c:v>
                </c:pt>
                <c:pt idx="224">
                  <c:v>7.7511703276917698</c:v>
                </c:pt>
                <c:pt idx="225">
                  <c:v>7.805185451926544</c:v>
                </c:pt>
                <c:pt idx="226">
                  <c:v>7.8592005761613182</c:v>
                </c:pt>
                <c:pt idx="227">
                  <c:v>7.9132157003961145</c:v>
                </c:pt>
                <c:pt idx="228">
                  <c:v>7.9492257832193047</c:v>
                </c:pt>
                <c:pt idx="229">
                  <c:v>8.01224342815987</c:v>
                </c:pt>
                <c:pt idx="230">
                  <c:v>8.0572560316888762</c:v>
                </c:pt>
                <c:pt idx="231">
                  <c:v>7.823190493338128</c:v>
                </c:pt>
                <c:pt idx="232">
                  <c:v>8.2823190493338306</c:v>
                </c:pt>
                <c:pt idx="233">
                  <c:v>8.3003240907454146</c:v>
                </c:pt>
                <c:pt idx="234">
                  <c:v>8.3273316528628136</c:v>
                </c:pt>
                <c:pt idx="235">
                  <c:v>8.4803745048613663</c:v>
                </c:pt>
                <c:pt idx="236">
                  <c:v>8.5613971912135369</c:v>
                </c:pt>
                <c:pt idx="237">
                  <c:v>8.5703997119193289</c:v>
                </c:pt>
                <c:pt idx="238">
                  <c:v>8.6604249189773164</c:v>
                </c:pt>
                <c:pt idx="239">
                  <c:v>8.7054375225062977</c:v>
                </c:pt>
                <c:pt idx="240">
                  <c:v>8.6964350018005057</c:v>
                </c:pt>
                <c:pt idx="241">
                  <c:v>8.6964350018005057</c:v>
                </c:pt>
                <c:pt idx="242">
                  <c:v>8.6424198775657324</c:v>
                </c:pt>
                <c:pt idx="243">
                  <c:v>8.5794022326251209</c:v>
                </c:pt>
                <c:pt idx="244">
                  <c:v>8.6334173568599404</c:v>
                </c:pt>
                <c:pt idx="245">
                  <c:v>8.9755131436802138</c:v>
                </c:pt>
                <c:pt idx="246">
                  <c:v>8.6964350018005057</c:v>
                </c:pt>
                <c:pt idx="247">
                  <c:v>8.7504501260352807</c:v>
                </c:pt>
                <c:pt idx="248">
                  <c:v>8.7324450846236967</c:v>
                </c:pt>
                <c:pt idx="249">
                  <c:v>8.7954627295642638</c:v>
                </c:pt>
                <c:pt idx="250">
                  <c:v>9.1375585163845798</c:v>
                </c:pt>
                <c:pt idx="251">
                  <c:v>8.7954627295642638</c:v>
                </c:pt>
                <c:pt idx="252">
                  <c:v>8.8044652502700558</c:v>
                </c:pt>
                <c:pt idx="253">
                  <c:v>8.8314728123874744</c:v>
                </c:pt>
                <c:pt idx="254">
                  <c:v>8.8764854159164575</c:v>
                </c:pt>
                <c:pt idx="255">
                  <c:v>9.2725963269715486</c:v>
                </c:pt>
                <c:pt idx="256">
                  <c:v>8.9665106229744218</c:v>
                </c:pt>
                <c:pt idx="257">
                  <c:v>8.9214980194454405</c:v>
                </c:pt>
                <c:pt idx="258">
                  <c:v>8.9214980194454405</c:v>
                </c:pt>
                <c:pt idx="259">
                  <c:v>8.9665106229744218</c:v>
                </c:pt>
                <c:pt idx="260">
                  <c:v>8.9845156643860271</c:v>
                </c:pt>
                <c:pt idx="261">
                  <c:v>9.0205257472092182</c:v>
                </c:pt>
                <c:pt idx="262">
                  <c:v>9.0115232265034262</c:v>
                </c:pt>
                <c:pt idx="263">
                  <c:v>9.0115232265034262</c:v>
                </c:pt>
                <c:pt idx="264">
                  <c:v>8.8854879366222494</c:v>
                </c:pt>
                <c:pt idx="265">
                  <c:v>8.8944904573280414</c:v>
                </c:pt>
                <c:pt idx="266">
                  <c:v>8.9485055815628378</c:v>
                </c:pt>
                <c:pt idx="267">
                  <c:v>9.0205257472092182</c:v>
                </c:pt>
                <c:pt idx="268">
                  <c:v>9.0385307886208253</c:v>
                </c:pt>
                <c:pt idx="269">
                  <c:v>9.0475333093266173</c:v>
                </c:pt>
                <c:pt idx="270">
                  <c:v>9.0295282679150102</c:v>
                </c:pt>
                <c:pt idx="271">
                  <c:v>9.0655383507382012</c:v>
                </c:pt>
                <c:pt idx="272">
                  <c:v>9.1195534749729958</c:v>
                </c:pt>
                <c:pt idx="273">
                  <c:v>9.1015484335613905</c:v>
                </c:pt>
                <c:pt idx="274">
                  <c:v>9.1285559956787878</c:v>
                </c:pt>
                <c:pt idx="275">
                  <c:v>9.1465610370903718</c:v>
                </c:pt>
                <c:pt idx="276">
                  <c:v>9.182571119913586</c:v>
                </c:pt>
                <c:pt idx="277">
                  <c:v>9.20057616132517</c:v>
                </c:pt>
                <c:pt idx="278">
                  <c:v>9.2275837234425673</c:v>
                </c:pt>
                <c:pt idx="279">
                  <c:v>9.2185812027367753</c:v>
                </c:pt>
                <c:pt idx="280">
                  <c:v>9.20057616132517</c:v>
                </c:pt>
                <c:pt idx="281">
                  <c:v>9.2185812027367753</c:v>
                </c:pt>
                <c:pt idx="282">
                  <c:v>9.2545912855599646</c:v>
                </c:pt>
                <c:pt idx="283">
                  <c:v>9.2996038890889476</c:v>
                </c:pt>
                <c:pt idx="284">
                  <c:v>9.3356139719121156</c:v>
                </c:pt>
                <c:pt idx="285">
                  <c:v>9.2996038890889476</c:v>
                </c:pt>
                <c:pt idx="286">
                  <c:v>9.2545912855599646</c:v>
                </c:pt>
                <c:pt idx="287">
                  <c:v>9.2996038890889476</c:v>
                </c:pt>
                <c:pt idx="288">
                  <c:v>9.38062657544112</c:v>
                </c:pt>
                <c:pt idx="289">
                  <c:v>9.3896290961469333</c:v>
                </c:pt>
                <c:pt idx="290">
                  <c:v>9.4346416996759164</c:v>
                </c:pt>
                <c:pt idx="291">
                  <c:v>9.4256391789701013</c:v>
                </c:pt>
                <c:pt idx="292">
                  <c:v>9.4976593446164834</c:v>
                </c:pt>
                <c:pt idx="293">
                  <c:v>9.5876845516744691</c:v>
                </c:pt>
                <c:pt idx="294">
                  <c:v>9.5786820309686771</c:v>
                </c:pt>
                <c:pt idx="295">
                  <c:v>9.6146921137918682</c:v>
                </c:pt>
                <c:pt idx="296">
                  <c:v>9.6777097587324334</c:v>
                </c:pt>
                <c:pt idx="297">
                  <c:v>9.7227223622614378</c:v>
                </c:pt>
                <c:pt idx="298">
                  <c:v>9.7677349657904209</c:v>
                </c:pt>
                <c:pt idx="299">
                  <c:v>9.7857400072020262</c:v>
                </c:pt>
                <c:pt idx="300">
                  <c:v>9.8037450486136102</c:v>
                </c:pt>
                <c:pt idx="301">
                  <c:v>9.8307526107310075</c:v>
                </c:pt>
                <c:pt idx="302">
                  <c:v>9.8577601728483835</c:v>
                </c:pt>
                <c:pt idx="303">
                  <c:v>9.9297803384947869</c:v>
                </c:pt>
                <c:pt idx="304">
                  <c:v>10.019805545552751</c:v>
                </c:pt>
                <c:pt idx="305">
                  <c:v>10.08282319049334</c:v>
                </c:pt>
                <c:pt idx="306">
                  <c:v>10.109830752610737</c:v>
                </c:pt>
                <c:pt idx="307">
                  <c:v>10.118833273316529</c:v>
                </c:pt>
                <c:pt idx="308">
                  <c:v>10.010803024846959</c:v>
                </c:pt>
                <c:pt idx="309">
                  <c:v>10.037810586964335</c:v>
                </c:pt>
                <c:pt idx="310">
                  <c:v>10.064818149081734</c:v>
                </c:pt>
                <c:pt idx="311">
                  <c:v>10.055815628375942</c:v>
                </c:pt>
                <c:pt idx="312">
                  <c:v>10.04681310767015</c:v>
                </c:pt>
                <c:pt idx="313">
                  <c:v>10.028808066258543</c:v>
                </c:pt>
                <c:pt idx="314">
                  <c:v>9.9297803384947869</c:v>
                </c:pt>
                <c:pt idx="315">
                  <c:v>9.6597047173208495</c:v>
                </c:pt>
                <c:pt idx="316">
                  <c:v>9.9837954627295602</c:v>
                </c:pt>
                <c:pt idx="317">
                  <c:v>9.9027727763773896</c:v>
                </c:pt>
                <c:pt idx="318">
                  <c:v>9.8757652142599905</c:v>
                </c:pt>
                <c:pt idx="319">
                  <c:v>9.8487576521425915</c:v>
                </c:pt>
                <c:pt idx="320">
                  <c:v>9.7227223622614378</c:v>
                </c:pt>
                <c:pt idx="321">
                  <c:v>9.7677349657904209</c:v>
                </c:pt>
                <c:pt idx="322">
                  <c:v>9.7407274036730449</c:v>
                </c:pt>
                <c:pt idx="323">
                  <c:v>9.6326971552034522</c:v>
                </c:pt>
                <c:pt idx="324">
                  <c:v>9.4886568239106914</c:v>
                </c:pt>
                <c:pt idx="325">
                  <c:v>9.5336694274396727</c:v>
                </c:pt>
                <c:pt idx="326">
                  <c:v>9.7137198415556227</c:v>
                </c:pt>
                <c:pt idx="327">
                  <c:v>9.7497299243788369</c:v>
                </c:pt>
                <c:pt idx="328">
                  <c:v>9.7317248829672298</c:v>
                </c:pt>
                <c:pt idx="329">
                  <c:v>9.7587324450846289</c:v>
                </c:pt>
                <c:pt idx="330">
                  <c:v>9.8037450486136102</c:v>
                </c:pt>
                <c:pt idx="331">
                  <c:v>9.7497299243788369</c:v>
                </c:pt>
                <c:pt idx="332">
                  <c:v>9.6867122794382254</c:v>
                </c:pt>
                <c:pt idx="333">
                  <c:v>9.7497299243788369</c:v>
                </c:pt>
                <c:pt idx="334">
                  <c:v>9.7857400072020262</c:v>
                </c:pt>
                <c:pt idx="335">
                  <c:v>9.7947425279078182</c:v>
                </c:pt>
                <c:pt idx="336">
                  <c:v>9.7587324450846289</c:v>
                </c:pt>
                <c:pt idx="337">
                  <c:v>9.8127475693194022</c:v>
                </c:pt>
                <c:pt idx="338">
                  <c:v>9.4976593446164834</c:v>
                </c:pt>
                <c:pt idx="339">
                  <c:v>9.8397551314367995</c:v>
                </c:pt>
                <c:pt idx="340">
                  <c:v>9.9297803384947869</c:v>
                </c:pt>
                <c:pt idx="341">
                  <c:v>10.055815628375942</c:v>
                </c:pt>
                <c:pt idx="342">
                  <c:v>10.172848397551304</c:v>
                </c:pt>
                <c:pt idx="343">
                  <c:v>10.208858480374495</c:v>
                </c:pt>
                <c:pt idx="344">
                  <c:v>10.091825711199153</c:v>
                </c:pt>
                <c:pt idx="345">
                  <c:v>10.118833273316529</c:v>
                </c:pt>
                <c:pt idx="346">
                  <c:v>10.460929060136849</c:v>
                </c:pt>
                <c:pt idx="347">
                  <c:v>10.469931580842641</c:v>
                </c:pt>
                <c:pt idx="348">
                  <c:v>10.15484335613972</c:v>
                </c:pt>
                <c:pt idx="349">
                  <c:v>10.208858480374495</c:v>
                </c:pt>
                <c:pt idx="350">
                  <c:v>10.172848397551304</c:v>
                </c:pt>
                <c:pt idx="351">
                  <c:v>10.163845876845512</c:v>
                </c:pt>
                <c:pt idx="352">
                  <c:v>10.118833273316529</c:v>
                </c:pt>
                <c:pt idx="353">
                  <c:v>10.037810586964335</c:v>
                </c:pt>
                <c:pt idx="354">
                  <c:v>10.001800504141167</c:v>
                </c:pt>
                <c:pt idx="355">
                  <c:v>9.9747929420237682</c:v>
                </c:pt>
                <c:pt idx="356">
                  <c:v>9.5966870723802611</c:v>
                </c:pt>
                <c:pt idx="357">
                  <c:v>9.5786820309686771</c:v>
                </c:pt>
                <c:pt idx="358">
                  <c:v>9.542671948145486</c:v>
                </c:pt>
                <c:pt idx="359">
                  <c:v>9.6957148001440387</c:v>
                </c:pt>
                <c:pt idx="360">
                  <c:v>9.7857400072020262</c:v>
                </c:pt>
                <c:pt idx="361">
                  <c:v>9.9027727763773896</c:v>
                </c:pt>
                <c:pt idx="362">
                  <c:v>9.9927979834353522</c:v>
                </c:pt>
                <c:pt idx="363">
                  <c:v>10.2268635217861</c:v>
                </c:pt>
                <c:pt idx="364">
                  <c:v>10.280878646020897</c:v>
                </c:pt>
                <c:pt idx="365">
                  <c:v>10.316888728844088</c:v>
                </c:pt>
                <c:pt idx="366">
                  <c:v>10.298883687432481</c:v>
                </c:pt>
                <c:pt idx="367">
                  <c:v>10.370903853078861</c:v>
                </c:pt>
                <c:pt idx="368">
                  <c:v>10.352898811667256</c:v>
                </c:pt>
                <c:pt idx="369">
                  <c:v>10.361901332373069</c:v>
                </c:pt>
                <c:pt idx="370">
                  <c:v>10.433921498019426</c:v>
                </c:pt>
                <c:pt idx="371">
                  <c:v>10.433921498019426</c:v>
                </c:pt>
                <c:pt idx="372">
                  <c:v>10.397911415196258</c:v>
                </c:pt>
                <c:pt idx="373">
                  <c:v>10.433921498019426</c:v>
                </c:pt>
                <c:pt idx="374">
                  <c:v>10.50594166366583</c:v>
                </c:pt>
                <c:pt idx="375">
                  <c:v>10.550954267194811</c:v>
                </c:pt>
                <c:pt idx="376">
                  <c:v>10.559956787900603</c:v>
                </c:pt>
                <c:pt idx="377">
                  <c:v>10.640979474252799</c:v>
                </c:pt>
                <c:pt idx="378">
                  <c:v>10.68599207778178</c:v>
                </c:pt>
                <c:pt idx="379">
                  <c:v>10.694994598487572</c:v>
                </c:pt>
                <c:pt idx="380">
                  <c:v>10.830032409074541</c:v>
                </c:pt>
                <c:pt idx="381">
                  <c:v>10.866042491897732</c:v>
                </c:pt>
                <c:pt idx="382">
                  <c:v>10.839034929780333</c:v>
                </c:pt>
                <c:pt idx="383">
                  <c:v>10.875045012603524</c:v>
                </c:pt>
                <c:pt idx="384">
                  <c:v>10.839034929780333</c:v>
                </c:pt>
                <c:pt idx="385">
                  <c:v>10.884047533309339</c:v>
                </c:pt>
                <c:pt idx="386">
                  <c:v>10.956067698955696</c:v>
                </c:pt>
                <c:pt idx="387">
                  <c:v>10.983075261073093</c:v>
                </c:pt>
                <c:pt idx="388">
                  <c:v>10.938062657544112</c:v>
                </c:pt>
                <c:pt idx="389">
                  <c:v>10.938062657544112</c:v>
                </c:pt>
                <c:pt idx="390">
                  <c:v>10.848037450486148</c:v>
                </c:pt>
                <c:pt idx="391">
                  <c:v>10.812027367662957</c:v>
                </c:pt>
                <c:pt idx="392">
                  <c:v>10.839034929780333</c:v>
                </c:pt>
                <c:pt idx="393">
                  <c:v>10.758012243428162</c:v>
                </c:pt>
                <c:pt idx="394">
                  <c:v>10.550954267194811</c:v>
                </c:pt>
                <c:pt idx="395">
                  <c:v>10.460929060136849</c:v>
                </c:pt>
                <c:pt idx="396">
                  <c:v>10.631976953547007</c:v>
                </c:pt>
                <c:pt idx="397">
                  <c:v>10.460929060136849</c:v>
                </c:pt>
                <c:pt idx="398">
                  <c:v>10.26287360460929</c:v>
                </c:pt>
                <c:pt idx="399">
                  <c:v>10.127835794022321</c:v>
                </c:pt>
                <c:pt idx="400">
                  <c:v>10.2268635217861</c:v>
                </c:pt>
                <c:pt idx="401">
                  <c:v>10.415916456607842</c:v>
                </c:pt>
                <c:pt idx="402">
                  <c:v>10.235866042491892</c:v>
                </c:pt>
                <c:pt idx="403">
                  <c:v>9.6507021966150575</c:v>
                </c:pt>
                <c:pt idx="404">
                  <c:v>9.4346416996759164</c:v>
                </c:pt>
                <c:pt idx="405">
                  <c:v>9.551674468851278</c:v>
                </c:pt>
                <c:pt idx="406">
                  <c:v>9.7857400072020262</c:v>
                </c:pt>
                <c:pt idx="407">
                  <c:v>9.6687072380266414</c:v>
                </c:pt>
                <c:pt idx="408">
                  <c:v>9.4886568239106914</c:v>
                </c:pt>
                <c:pt idx="409">
                  <c:v>9.2095786820309833</c:v>
                </c:pt>
                <c:pt idx="410">
                  <c:v>9.3356139719121156</c:v>
                </c:pt>
                <c:pt idx="411">
                  <c:v>9.4436442203817084</c:v>
                </c:pt>
                <c:pt idx="412">
                  <c:v>9.4526467410875004</c:v>
                </c:pt>
                <c:pt idx="413">
                  <c:v>9.4256391789701013</c:v>
                </c:pt>
                <c:pt idx="414">
                  <c:v>9.3986316168527253</c:v>
                </c:pt>
                <c:pt idx="415">
                  <c:v>9.191573640619378</c:v>
                </c:pt>
                <c:pt idx="416">
                  <c:v>9.2635938062657566</c:v>
                </c:pt>
                <c:pt idx="417">
                  <c:v>8.6964350018005057</c:v>
                </c:pt>
                <c:pt idx="418">
                  <c:v>8.9485055815628378</c:v>
                </c:pt>
                <c:pt idx="419">
                  <c:v>8.8854879366222494</c:v>
                </c:pt>
                <c:pt idx="420">
                  <c:v>8.9755131436802138</c:v>
                </c:pt>
                <c:pt idx="421">
                  <c:v>8.8764854159164575</c:v>
                </c:pt>
                <c:pt idx="422">
                  <c:v>8.9034929780338565</c:v>
                </c:pt>
                <c:pt idx="423">
                  <c:v>8.6784299603889217</c:v>
                </c:pt>
                <c:pt idx="424">
                  <c:v>8.1562837594526538</c:v>
                </c:pt>
                <c:pt idx="425">
                  <c:v>6.8329132157004091</c:v>
                </c:pt>
                <c:pt idx="426">
                  <c:v>8.0752610731004602</c:v>
                </c:pt>
                <c:pt idx="427">
                  <c:v>8.0842635938062521</c:v>
                </c:pt>
                <c:pt idx="428">
                  <c:v>8.0392509902772691</c:v>
                </c:pt>
                <c:pt idx="429">
                  <c:v>7.9222182211019065</c:v>
                </c:pt>
                <c:pt idx="430">
                  <c:v>7.6611451206337833</c:v>
                </c:pt>
                <c:pt idx="431">
                  <c:v>7.9312207418077207</c:v>
                </c:pt>
                <c:pt idx="432">
                  <c:v>8.597407274036728</c:v>
                </c:pt>
                <c:pt idx="433">
                  <c:v>8.6874324810947137</c:v>
                </c:pt>
                <c:pt idx="434">
                  <c:v>8.7954627295642638</c:v>
                </c:pt>
                <c:pt idx="435">
                  <c:v>8.7954627295642638</c:v>
                </c:pt>
                <c:pt idx="436">
                  <c:v>8.7774576881526798</c:v>
                </c:pt>
                <c:pt idx="437">
                  <c:v>8.8584803745048735</c:v>
                </c:pt>
                <c:pt idx="438">
                  <c:v>9.1285559956787878</c:v>
                </c:pt>
                <c:pt idx="439">
                  <c:v>9.2996038890889476</c:v>
                </c:pt>
                <c:pt idx="440">
                  <c:v>9.3536190133237227</c:v>
                </c:pt>
                <c:pt idx="441">
                  <c:v>9.38062657544112</c:v>
                </c:pt>
                <c:pt idx="442">
                  <c:v>9.4706517824991074</c:v>
                </c:pt>
                <c:pt idx="443">
                  <c:v>9.4886568239106914</c:v>
                </c:pt>
                <c:pt idx="444">
                  <c:v>9.2545912855599646</c:v>
                </c:pt>
                <c:pt idx="445">
                  <c:v>9.1555635577961638</c:v>
                </c:pt>
                <c:pt idx="446">
                  <c:v>9.1195534749729958</c:v>
                </c:pt>
                <c:pt idx="447">
                  <c:v>9.0295282679150102</c:v>
                </c:pt>
                <c:pt idx="448">
                  <c:v>7.83219301404392</c:v>
                </c:pt>
                <c:pt idx="449">
                  <c:v>8.8854879366222494</c:v>
                </c:pt>
                <c:pt idx="450">
                  <c:v>8.8674828952106655</c:v>
                </c:pt>
                <c:pt idx="451">
                  <c:v>8.7504501260352807</c:v>
                </c:pt>
                <c:pt idx="452">
                  <c:v>8.8224702916816824</c:v>
                </c:pt>
                <c:pt idx="453">
                  <c:v>8.8494778537990584</c:v>
                </c:pt>
                <c:pt idx="454">
                  <c:v>8.8584803745048735</c:v>
                </c:pt>
                <c:pt idx="455">
                  <c:v>8.6964350018005057</c:v>
                </c:pt>
                <c:pt idx="456">
                  <c:v>8.6604249189773164</c:v>
                </c:pt>
                <c:pt idx="457">
                  <c:v>8.3813467770975869</c:v>
                </c:pt>
                <c:pt idx="458">
                  <c:v>7.2110190853438949</c:v>
                </c:pt>
                <c:pt idx="459">
                  <c:v>8.1202736766294628</c:v>
                </c:pt>
                <c:pt idx="460">
                  <c:v>7.9312207418077207</c:v>
                </c:pt>
                <c:pt idx="461">
                  <c:v>7.7781778898091458</c:v>
                </c:pt>
                <c:pt idx="462">
                  <c:v>7.6251350378105931</c:v>
                </c:pt>
                <c:pt idx="463">
                  <c:v>6.9409434641699574</c:v>
                </c:pt>
                <c:pt idx="464">
                  <c:v>6.4368023046452949</c:v>
                </c:pt>
                <c:pt idx="465">
                  <c:v>5.46453006841916</c:v>
                </c:pt>
                <c:pt idx="466">
                  <c:v>5.7886208138278716</c:v>
                </c:pt>
                <c:pt idx="467">
                  <c:v>6.7428880086424225</c:v>
                </c:pt>
                <c:pt idx="468">
                  <c:v>6.8329132157004091</c:v>
                </c:pt>
                <c:pt idx="469">
                  <c:v>6.8419157364062011</c:v>
                </c:pt>
                <c:pt idx="470">
                  <c:v>6.8869283399351833</c:v>
                </c:pt>
                <c:pt idx="471">
                  <c:v>6.8239106949946171</c:v>
                </c:pt>
                <c:pt idx="472">
                  <c:v>6.4368023046452949</c:v>
                </c:pt>
                <c:pt idx="473">
                  <c:v>6.4097947425278967</c:v>
                </c:pt>
                <c:pt idx="474">
                  <c:v>6.4638098667626931</c:v>
                </c:pt>
                <c:pt idx="475">
                  <c:v>6.3737846597047065</c:v>
                </c:pt>
                <c:pt idx="476">
                  <c:v>6.4007922218221047</c:v>
                </c:pt>
                <c:pt idx="477">
                  <c:v>5.6355779618293189</c:v>
                </c:pt>
                <c:pt idx="478">
                  <c:v>6.9589485055815636</c:v>
                </c:pt>
                <c:pt idx="479">
                  <c:v>7.1389989196975145</c:v>
                </c:pt>
                <c:pt idx="480">
                  <c:v>7.0939863161685324</c:v>
                </c:pt>
                <c:pt idx="481">
                  <c:v>7.1480014404033065</c:v>
                </c:pt>
                <c:pt idx="482">
                  <c:v>7.1480014404033065</c:v>
                </c:pt>
                <c:pt idx="483">
                  <c:v>7.1209938782859084</c:v>
                </c:pt>
                <c:pt idx="484">
                  <c:v>7.1209938782859084</c:v>
                </c:pt>
                <c:pt idx="485">
                  <c:v>5.9776737486496145</c:v>
                </c:pt>
                <c:pt idx="486">
                  <c:v>6.7518905293482145</c:v>
                </c:pt>
                <c:pt idx="487">
                  <c:v>6.0947065178249993</c:v>
                </c:pt>
                <c:pt idx="488">
                  <c:v>4.8343536190133207</c:v>
                </c:pt>
                <c:pt idx="489">
                  <c:v>4.4022326251350385</c:v>
                </c:pt>
                <c:pt idx="490">
                  <c:v>4.4112351458408305</c:v>
                </c:pt>
                <c:pt idx="491">
                  <c:v>3.9431040691393582</c:v>
                </c:pt>
                <c:pt idx="492">
                  <c:v>3.7450486136118233</c:v>
                </c:pt>
                <c:pt idx="493">
                  <c:v>3.7180410514944029</c:v>
                </c:pt>
                <c:pt idx="494">
                  <c:v>3.7270435722001949</c:v>
                </c:pt>
                <c:pt idx="495">
                  <c:v>3.52898811667266</c:v>
                </c:pt>
                <c:pt idx="496">
                  <c:v>3.2949225783219349</c:v>
                </c:pt>
                <c:pt idx="497">
                  <c:v>3.123874684911776</c:v>
                </c:pt>
                <c:pt idx="498">
                  <c:v>3.0608570399711876</c:v>
                </c:pt>
                <c:pt idx="499">
                  <c:v>2.9168167086784269</c:v>
                </c:pt>
                <c:pt idx="500">
                  <c:v>2.4396831112711403</c:v>
                </c:pt>
                <c:pt idx="501">
                  <c:v>1.7824990997479251</c:v>
                </c:pt>
                <c:pt idx="502">
                  <c:v>1.7014764133957527</c:v>
                </c:pt>
                <c:pt idx="503">
                  <c:v>1.6294562477493724</c:v>
                </c:pt>
                <c:pt idx="504">
                  <c:v>1.6294562477493724</c:v>
                </c:pt>
                <c:pt idx="505">
                  <c:v>1.5484335613971778</c:v>
                </c:pt>
                <c:pt idx="506">
                  <c:v>1.6924738926899385</c:v>
                </c:pt>
                <c:pt idx="507">
                  <c:v>2.0165646380986724</c:v>
                </c:pt>
                <c:pt idx="508">
                  <c:v>2.0435722002160484</c:v>
                </c:pt>
                <c:pt idx="509">
                  <c:v>2.0525747209218625</c:v>
                </c:pt>
                <c:pt idx="510">
                  <c:v>1.8725243068058894</c:v>
                </c:pt>
                <c:pt idx="511">
                  <c:v>0.59416636658262689</c:v>
                </c:pt>
                <c:pt idx="512">
                  <c:v>1.6204537270435804</c:v>
                </c:pt>
                <c:pt idx="513">
                  <c:v>1.9085343896290796</c:v>
                </c:pt>
                <c:pt idx="514">
                  <c:v>2.0615772416276545</c:v>
                </c:pt>
                <c:pt idx="515">
                  <c:v>2.8447965430320465</c:v>
                </c:pt>
                <c:pt idx="516">
                  <c:v>3.2679150162045367</c:v>
                </c:pt>
                <c:pt idx="517">
                  <c:v>3.6100108030248546</c:v>
                </c:pt>
                <c:pt idx="518">
                  <c:v>4.0331292761973225</c:v>
                </c:pt>
                <c:pt idx="519">
                  <c:v>4.0241267554915305</c:v>
                </c:pt>
                <c:pt idx="520">
                  <c:v>3.9881166726683404</c:v>
                </c:pt>
                <c:pt idx="521">
                  <c:v>4.4112351458408305</c:v>
                </c:pt>
                <c:pt idx="522">
                  <c:v>4.8343536190133207</c:v>
                </c:pt>
                <c:pt idx="523">
                  <c:v>5.1854519265394305</c:v>
                </c:pt>
                <c:pt idx="524">
                  <c:v>5.4285199855959698</c:v>
                </c:pt>
                <c:pt idx="525">
                  <c:v>5.5905653583003367</c:v>
                </c:pt>
                <c:pt idx="526">
                  <c:v>5.7075981274756771</c:v>
                </c:pt>
                <c:pt idx="527">
                  <c:v>5.9866762693554287</c:v>
                </c:pt>
                <c:pt idx="528">
                  <c:v>5.9596687072380305</c:v>
                </c:pt>
                <c:pt idx="529">
                  <c:v>6.0947065178249993</c:v>
                </c:pt>
                <c:pt idx="530">
                  <c:v>6.247749369823552</c:v>
                </c:pt>
                <c:pt idx="531">
                  <c:v>6.5178249909974895</c:v>
                </c:pt>
                <c:pt idx="532">
                  <c:v>6.634857760172852</c:v>
                </c:pt>
                <c:pt idx="533">
                  <c:v>6.6618653222902502</c:v>
                </c:pt>
                <c:pt idx="534">
                  <c:v>6.3917897011163127</c:v>
                </c:pt>
                <c:pt idx="535">
                  <c:v>6.2117392870003618</c:v>
                </c:pt>
                <c:pt idx="536">
                  <c:v>6.0586964350017869</c:v>
                </c:pt>
                <c:pt idx="537">
                  <c:v>5.6085703997119207</c:v>
                </c:pt>
                <c:pt idx="538">
                  <c:v>5.473532589124952</c:v>
                </c:pt>
                <c:pt idx="539">
                  <c:v>5.491537630536536</c:v>
                </c:pt>
                <c:pt idx="540">
                  <c:v>5.6805905653583011</c:v>
                </c:pt>
                <c:pt idx="541">
                  <c:v>5.7616132517104734</c:v>
                </c:pt>
                <c:pt idx="542">
                  <c:v>6.7428880086424225</c:v>
                </c:pt>
                <c:pt idx="543">
                  <c:v>5.4465250270075538</c:v>
                </c:pt>
                <c:pt idx="544">
                  <c:v>5.07742167806986</c:v>
                </c:pt>
                <c:pt idx="545">
                  <c:v>4.6002880806625734</c:v>
                </c:pt>
                <c:pt idx="546">
                  <c:v>4.69031328772056</c:v>
                </c:pt>
                <c:pt idx="547">
                  <c:v>4.5102628736046091</c:v>
                </c:pt>
                <c:pt idx="548">
                  <c:v>4.6272956427799716</c:v>
                </c:pt>
                <c:pt idx="549">
                  <c:v>4.7533309326611484</c:v>
                </c:pt>
                <c:pt idx="550">
                  <c:v>5.059416636658276</c:v>
                </c:pt>
                <c:pt idx="551">
                  <c:v>5.2664746128916029</c:v>
                </c:pt>
                <c:pt idx="552">
                  <c:v>5.6175729204177127</c:v>
                </c:pt>
                <c:pt idx="553">
                  <c:v>5.491537630536536</c:v>
                </c:pt>
                <c:pt idx="554">
                  <c:v>5.1674468851278244</c:v>
                </c:pt>
                <c:pt idx="555">
                  <c:v>5.0324090745408778</c:v>
                </c:pt>
                <c:pt idx="556">
                  <c:v>4.6092906013683654</c:v>
                </c:pt>
                <c:pt idx="557">
                  <c:v>4.6453006841915778</c:v>
                </c:pt>
                <c:pt idx="558">
                  <c:v>4.4652502700756269</c:v>
                </c:pt>
                <c:pt idx="559">
                  <c:v>4.294202376665468</c:v>
                </c:pt>
                <c:pt idx="560">
                  <c:v>3.0608570399711876</c:v>
                </c:pt>
                <c:pt idx="561">
                  <c:v>3.7360460929060313</c:v>
                </c:pt>
                <c:pt idx="562">
                  <c:v>2.0525747209218625</c:v>
                </c:pt>
                <c:pt idx="563">
                  <c:v>2.9708318329132011</c:v>
                </c:pt>
                <c:pt idx="564">
                  <c:v>1.3683831472812269</c:v>
                </c:pt>
                <c:pt idx="565">
                  <c:v>2.0615772416276545</c:v>
                </c:pt>
                <c:pt idx="566">
                  <c:v>2.1245948865682429</c:v>
                </c:pt>
                <c:pt idx="567">
                  <c:v>2.1966150522146233</c:v>
                </c:pt>
                <c:pt idx="568">
                  <c:v>3.0518545192653956</c:v>
                </c:pt>
                <c:pt idx="569">
                  <c:v>2.1425999279798491</c:v>
                </c:pt>
                <c:pt idx="570">
                  <c:v>2.9978393950305993</c:v>
                </c:pt>
                <c:pt idx="571">
                  <c:v>2.6017284839755073</c:v>
                </c:pt>
                <c:pt idx="572">
                  <c:v>2.2866402592726098</c:v>
                </c:pt>
                <c:pt idx="573">
                  <c:v>1.9175369103348938</c:v>
                </c:pt>
                <c:pt idx="574">
                  <c:v>1.8365142239827215</c:v>
                </c:pt>
                <c:pt idx="575">
                  <c:v>1.6024486856319742</c:v>
                </c:pt>
                <c:pt idx="576">
                  <c:v>1.7824990997479251</c:v>
                </c:pt>
                <c:pt idx="577">
                  <c:v>2.0435722002160484</c:v>
                </c:pt>
                <c:pt idx="578">
                  <c:v>2.4216780698595564</c:v>
                </c:pt>
                <c:pt idx="579">
                  <c:v>2.3676629456247822</c:v>
                </c:pt>
                <c:pt idx="580">
                  <c:v>2.2506301764493974</c:v>
                </c:pt>
                <c:pt idx="581">
                  <c:v>2.0165646380986724</c:v>
                </c:pt>
                <c:pt idx="582">
                  <c:v>2.2416276557436055</c:v>
                </c:pt>
                <c:pt idx="583">
                  <c:v>2.4036730284479502</c:v>
                </c:pt>
                <c:pt idx="584">
                  <c:v>2.6557436082103036</c:v>
                </c:pt>
                <c:pt idx="585">
                  <c:v>2.9708318329132011</c:v>
                </c:pt>
                <c:pt idx="586">
                  <c:v>3.150882247029152</c:v>
                </c:pt>
                <c:pt idx="587">
                  <c:v>3.6910334893770269</c:v>
                </c:pt>
                <c:pt idx="588">
                  <c:v>3.7090385307886109</c:v>
                </c:pt>
                <c:pt idx="589">
                  <c:v>3.3309326611451029</c:v>
                </c:pt>
                <c:pt idx="590">
                  <c:v>3.519985595966868</c:v>
                </c:pt>
                <c:pt idx="591">
                  <c:v>3.8350738206697876</c:v>
                </c:pt>
                <c:pt idx="592">
                  <c:v>4.0061217140799465</c:v>
                </c:pt>
                <c:pt idx="593">
                  <c:v>3.9971191933741546</c:v>
                </c:pt>
                <c:pt idx="594">
                  <c:v>4.4922578321930251</c:v>
                </c:pt>
                <c:pt idx="595">
                  <c:v>5.2664746128916029</c:v>
                </c:pt>
                <c:pt idx="596">
                  <c:v>5.4375225063017618</c:v>
                </c:pt>
                <c:pt idx="597">
                  <c:v>5.5365502340655182</c:v>
                </c:pt>
                <c:pt idx="598">
                  <c:v>5.3835073820669876</c:v>
                </c:pt>
                <c:pt idx="599">
                  <c:v>5.2124594886568287</c:v>
                </c:pt>
                <c:pt idx="600">
                  <c:v>5.086424198775652</c:v>
                </c:pt>
                <c:pt idx="601">
                  <c:v>5.1494418437162404</c:v>
                </c:pt>
                <c:pt idx="602">
                  <c:v>5.3294922578321913</c:v>
                </c:pt>
                <c:pt idx="603">
                  <c:v>5.6805905653583011</c:v>
                </c:pt>
                <c:pt idx="604">
                  <c:v>6.0226863521785967</c:v>
                </c:pt>
                <c:pt idx="605">
                  <c:v>6.1127115592365833</c:v>
                </c:pt>
                <c:pt idx="606">
                  <c:v>5.9866762693554287</c:v>
                </c:pt>
                <c:pt idx="607">
                  <c:v>5.9056535830032342</c:v>
                </c:pt>
                <c:pt idx="608">
                  <c:v>6.0767014764133931</c:v>
                </c:pt>
                <c:pt idx="609">
                  <c:v>6.4097947425278967</c:v>
                </c:pt>
                <c:pt idx="610">
                  <c:v>6.5628375945264716</c:v>
                </c:pt>
                <c:pt idx="611">
                  <c:v>6.6258552394670378</c:v>
                </c:pt>
                <c:pt idx="612">
                  <c:v>6.6078501980554538</c:v>
                </c:pt>
                <c:pt idx="613">
                  <c:v>6.5178249909974895</c:v>
                </c:pt>
                <c:pt idx="614">
                  <c:v>6.4998199495858833</c:v>
                </c:pt>
                <c:pt idx="615">
                  <c:v>6.6258552394670378</c:v>
                </c:pt>
                <c:pt idx="616">
                  <c:v>6.5988476773496618</c:v>
                </c:pt>
                <c:pt idx="617">
                  <c:v>6.8779258192293913</c:v>
                </c:pt>
                <c:pt idx="618">
                  <c:v>7.1209938782859084</c:v>
                </c:pt>
                <c:pt idx="619">
                  <c:v>7.0579762333453422</c:v>
                </c:pt>
                <c:pt idx="620">
                  <c:v>6.5268275117032815</c:v>
                </c:pt>
                <c:pt idx="621">
                  <c:v>6.4277997839395029</c:v>
                </c:pt>
                <c:pt idx="622">
                  <c:v>6.2117392870003618</c:v>
                </c:pt>
                <c:pt idx="623">
                  <c:v>6.2297443284119458</c:v>
                </c:pt>
                <c:pt idx="624">
                  <c:v>6.3287720561757244</c:v>
                </c:pt>
                <c:pt idx="625">
                  <c:v>6.2837594526467422</c:v>
                </c:pt>
                <c:pt idx="626">
                  <c:v>6.3287720561757244</c:v>
                </c:pt>
                <c:pt idx="627">
                  <c:v>6.3557796182931225</c:v>
                </c:pt>
                <c:pt idx="628">
                  <c:v>6.3377745768815386</c:v>
                </c:pt>
                <c:pt idx="629">
                  <c:v>7.7061577241627655</c:v>
                </c:pt>
                <c:pt idx="630">
                  <c:v>7.030968671227944</c:v>
                </c:pt>
                <c:pt idx="631">
                  <c:v>7.1299963989917226</c:v>
                </c:pt>
                <c:pt idx="632">
                  <c:v>7.3370543752250494</c:v>
                </c:pt>
                <c:pt idx="633">
                  <c:v>7.7871804105149378</c:v>
                </c:pt>
                <c:pt idx="634">
                  <c:v>7.7781778898091458</c:v>
                </c:pt>
                <c:pt idx="635">
                  <c:v>8.003240907454078</c:v>
                </c:pt>
                <c:pt idx="636">
                  <c:v>8.3633417356859816</c:v>
                </c:pt>
                <c:pt idx="637">
                  <c:v>8.7144400432120896</c:v>
                </c:pt>
                <c:pt idx="638">
                  <c:v>8.8674828952106655</c:v>
                </c:pt>
                <c:pt idx="639">
                  <c:v>8.9034929780338565</c:v>
                </c:pt>
                <c:pt idx="640">
                  <c:v>9.2455887648541513</c:v>
                </c:pt>
                <c:pt idx="641">
                  <c:v>9.0655383507382012</c:v>
                </c:pt>
                <c:pt idx="642">
                  <c:v>9.0295282679150102</c:v>
                </c:pt>
                <c:pt idx="643">
                  <c:v>9.1375585163845798</c:v>
                </c:pt>
                <c:pt idx="644">
                  <c:v>9.2185812027367753</c:v>
                </c:pt>
                <c:pt idx="645">
                  <c:v>9.2906013683831326</c:v>
                </c:pt>
                <c:pt idx="646">
                  <c:v>9.5066618653222754</c:v>
                </c:pt>
                <c:pt idx="647">
                  <c:v>9.5246669067338807</c:v>
                </c:pt>
                <c:pt idx="648">
                  <c:v>9.4436442203817084</c:v>
                </c:pt>
                <c:pt idx="649">
                  <c:v>9.4796543032048994</c:v>
                </c:pt>
                <c:pt idx="650">
                  <c:v>9.6146921137918682</c:v>
                </c:pt>
                <c:pt idx="651">
                  <c:v>10.424918977313634</c:v>
                </c:pt>
                <c:pt idx="652">
                  <c:v>10.496939142960038</c:v>
                </c:pt>
                <c:pt idx="653">
                  <c:v>10.40691393590205</c:v>
                </c:pt>
                <c:pt idx="654">
                  <c:v>10.541951746489019</c:v>
                </c:pt>
                <c:pt idx="655">
                  <c:v>10.694994598487572</c:v>
                </c:pt>
                <c:pt idx="656">
                  <c:v>10.334893770255672</c:v>
                </c:pt>
                <c:pt idx="657">
                  <c:v>10.307886208138273</c:v>
                </c:pt>
                <c:pt idx="658">
                  <c:v>10.280878646020897</c:v>
                </c:pt>
                <c:pt idx="659">
                  <c:v>10.235866042491892</c:v>
                </c:pt>
                <c:pt idx="660">
                  <c:v>10.26287360460929</c:v>
                </c:pt>
                <c:pt idx="661">
                  <c:v>10.163845876845512</c:v>
                </c:pt>
                <c:pt idx="662">
                  <c:v>10.190853438962911</c:v>
                </c:pt>
                <c:pt idx="663">
                  <c:v>9.9387828592005789</c:v>
                </c:pt>
                <c:pt idx="664">
                  <c:v>9.7677349657904209</c:v>
                </c:pt>
                <c:pt idx="665">
                  <c:v>9.9837954627295602</c:v>
                </c:pt>
                <c:pt idx="666">
                  <c:v>9.9927979834353522</c:v>
                </c:pt>
                <c:pt idx="667">
                  <c:v>10.073820669787526</c:v>
                </c:pt>
                <c:pt idx="668">
                  <c:v>10.055815628375942</c:v>
                </c:pt>
                <c:pt idx="669">
                  <c:v>9.9837954627295602</c:v>
                </c:pt>
                <c:pt idx="670">
                  <c:v>9.8307526107310075</c:v>
                </c:pt>
                <c:pt idx="671">
                  <c:v>10.019805545552751</c:v>
                </c:pt>
                <c:pt idx="672">
                  <c:v>10.307886208138273</c:v>
                </c:pt>
                <c:pt idx="673">
                  <c:v>10.469931580842641</c:v>
                </c:pt>
                <c:pt idx="674">
                  <c:v>10.361901332373069</c:v>
                </c:pt>
                <c:pt idx="675">
                  <c:v>10.316888728844088</c:v>
                </c:pt>
                <c:pt idx="676">
                  <c:v>9.9927979834353522</c:v>
                </c:pt>
                <c:pt idx="677">
                  <c:v>9.6777097587324334</c:v>
                </c:pt>
                <c:pt idx="678">
                  <c:v>9.7947425279078182</c:v>
                </c:pt>
                <c:pt idx="679">
                  <c:v>9.5606769895570931</c:v>
                </c:pt>
                <c:pt idx="680">
                  <c:v>9.5066618653222754</c:v>
                </c:pt>
                <c:pt idx="681">
                  <c:v>7.9492257832193047</c:v>
                </c:pt>
                <c:pt idx="682">
                  <c:v>9.6867122794382254</c:v>
                </c:pt>
                <c:pt idx="683">
                  <c:v>9.8937702556715745</c:v>
                </c:pt>
                <c:pt idx="684">
                  <c:v>10.109830752610737</c:v>
                </c:pt>
                <c:pt idx="685">
                  <c:v>9.8847677349657825</c:v>
                </c:pt>
                <c:pt idx="686">
                  <c:v>10.100828231904945</c:v>
                </c:pt>
                <c:pt idx="687">
                  <c:v>10.208858480374495</c:v>
                </c:pt>
                <c:pt idx="688">
                  <c:v>10.433921498019426</c:v>
                </c:pt>
                <c:pt idx="689">
                  <c:v>10.740007202016555</c:v>
                </c:pt>
                <c:pt idx="690">
                  <c:v>10.85703997119194</c:v>
                </c:pt>
                <c:pt idx="691">
                  <c:v>11.028087864602099</c:v>
                </c:pt>
                <c:pt idx="692">
                  <c:v>11.10911055095427</c:v>
                </c:pt>
                <c:pt idx="693">
                  <c:v>10.92906013683832</c:v>
                </c:pt>
                <c:pt idx="694">
                  <c:v>10.974072740367301</c:v>
                </c:pt>
                <c:pt idx="695">
                  <c:v>11.073100468131081</c:v>
                </c:pt>
                <c:pt idx="696">
                  <c:v>11.181130716600652</c:v>
                </c:pt>
                <c:pt idx="697">
                  <c:v>11.289160965070222</c:v>
                </c:pt>
                <c:pt idx="698">
                  <c:v>11.361181130716602</c:v>
                </c:pt>
                <c:pt idx="699">
                  <c:v>11.35217861001081</c:v>
                </c:pt>
                <c:pt idx="700">
                  <c:v>11.415196254951399</c:v>
                </c:pt>
                <c:pt idx="701">
                  <c:v>11.334173568599205</c:v>
                </c:pt>
                <c:pt idx="702">
                  <c:v>11.433201296362983</c:v>
                </c:pt>
                <c:pt idx="703">
                  <c:v>11.415196254951399</c:v>
                </c:pt>
                <c:pt idx="704">
                  <c:v>11.451206337774567</c:v>
                </c:pt>
                <c:pt idx="705">
                  <c:v>11.487216420597758</c:v>
                </c:pt>
                <c:pt idx="706">
                  <c:v>12.513503781058688</c:v>
                </c:pt>
                <c:pt idx="707">
                  <c:v>11.514223982715155</c:v>
                </c:pt>
                <c:pt idx="708">
                  <c:v>11.739287000360111</c:v>
                </c:pt>
                <c:pt idx="709">
                  <c:v>11.865322290241265</c:v>
                </c:pt>
                <c:pt idx="710">
                  <c:v>11.847317248829658</c:v>
                </c:pt>
                <c:pt idx="711">
                  <c:v>11.784299603889092</c:v>
                </c:pt>
                <c:pt idx="712">
                  <c:v>11.784299603889092</c:v>
                </c:pt>
                <c:pt idx="713">
                  <c:v>11.928339935181853</c:v>
                </c:pt>
                <c:pt idx="714">
                  <c:v>11.865322290241265</c:v>
                </c:pt>
                <c:pt idx="715">
                  <c:v>11.937342455887645</c:v>
                </c:pt>
                <c:pt idx="716">
                  <c:v>11.991357580122441</c:v>
                </c:pt>
                <c:pt idx="717">
                  <c:v>11.964350018005042</c:v>
                </c:pt>
                <c:pt idx="718">
                  <c:v>11.964350018005042</c:v>
                </c:pt>
                <c:pt idx="719">
                  <c:v>12.018365142239817</c:v>
                </c:pt>
                <c:pt idx="720">
                  <c:v>13.161685271876111</c:v>
                </c:pt>
                <c:pt idx="721">
                  <c:v>13.242707958228305</c:v>
                </c:pt>
                <c:pt idx="722">
                  <c:v>12.243428159884751</c:v>
                </c:pt>
                <c:pt idx="723">
                  <c:v>12.315448325531154</c:v>
                </c:pt>
                <c:pt idx="724">
                  <c:v>12.342455887648551</c:v>
                </c:pt>
                <c:pt idx="725">
                  <c:v>12.144400432120994</c:v>
                </c:pt>
                <c:pt idx="726">
                  <c:v>12.072380266474593</c:v>
                </c:pt>
                <c:pt idx="727">
                  <c:v>12.063377745768801</c:v>
                </c:pt>
                <c:pt idx="728">
                  <c:v>12.144400432120994</c:v>
                </c:pt>
                <c:pt idx="729">
                  <c:v>12.261433201296379</c:v>
                </c:pt>
                <c:pt idx="730">
                  <c:v>12.252430680590564</c:v>
                </c:pt>
                <c:pt idx="731">
                  <c:v>12.333453366942738</c:v>
                </c:pt>
                <c:pt idx="732">
                  <c:v>12.549513863881877</c:v>
                </c:pt>
                <c:pt idx="733">
                  <c:v>12.891609650702197</c:v>
                </c:pt>
                <c:pt idx="734">
                  <c:v>13.008642419877582</c:v>
                </c:pt>
                <c:pt idx="735">
                  <c:v>13.152682751170319</c:v>
                </c:pt>
                <c:pt idx="736">
                  <c:v>13.260712999639889</c:v>
                </c:pt>
                <c:pt idx="737">
                  <c:v>13.431760893050049</c:v>
                </c:pt>
                <c:pt idx="738">
                  <c:v>13.539791141519641</c:v>
                </c:pt>
                <c:pt idx="739">
                  <c:v>13.611811307166001</c:v>
                </c:pt>
                <c:pt idx="740">
                  <c:v>13.521786100108013</c:v>
                </c:pt>
                <c:pt idx="741">
                  <c:v>13.593806265754417</c:v>
                </c:pt>
                <c:pt idx="742">
                  <c:v>13.64782138998919</c:v>
                </c:pt>
                <c:pt idx="743">
                  <c:v>13.485776017284824</c:v>
                </c:pt>
                <c:pt idx="744">
                  <c:v>13.251710478934097</c:v>
                </c:pt>
                <c:pt idx="745">
                  <c:v>13.107670147641336</c:v>
                </c:pt>
                <c:pt idx="746">
                  <c:v>13.107670147641336</c:v>
                </c:pt>
                <c:pt idx="747">
                  <c:v>13.053655023406563</c:v>
                </c:pt>
                <c:pt idx="748">
                  <c:v>11.901332373064477</c:v>
                </c:pt>
                <c:pt idx="749">
                  <c:v>13.134677709758735</c:v>
                </c:pt>
                <c:pt idx="750">
                  <c:v>14.232985235866025</c:v>
                </c:pt>
                <c:pt idx="751">
                  <c:v>13.260712999639889</c:v>
                </c:pt>
                <c:pt idx="752">
                  <c:v>13.386748289521066</c:v>
                </c:pt>
                <c:pt idx="753">
                  <c:v>13.46777097587324</c:v>
                </c:pt>
                <c:pt idx="754">
                  <c:v>14.521065898451567</c:v>
                </c:pt>
                <c:pt idx="755">
                  <c:v>13.260712999639889</c:v>
                </c:pt>
                <c:pt idx="756">
                  <c:v>13.12567518905292</c:v>
                </c:pt>
                <c:pt idx="757">
                  <c:v>13.134677709758735</c:v>
                </c:pt>
                <c:pt idx="758">
                  <c:v>13.251710478934097</c:v>
                </c:pt>
                <c:pt idx="759">
                  <c:v>13.602808786460209</c:v>
                </c:pt>
                <c:pt idx="760">
                  <c:v>13.971912135397901</c:v>
                </c:pt>
                <c:pt idx="761">
                  <c:v>14.052934821750075</c:v>
                </c:pt>
                <c:pt idx="762">
                  <c:v>13.962909614692109</c:v>
                </c:pt>
                <c:pt idx="763">
                  <c:v>13.9989196975153</c:v>
                </c:pt>
                <c:pt idx="764">
                  <c:v>14.205977673748649</c:v>
                </c:pt>
                <c:pt idx="765">
                  <c:v>14.160965070219667</c:v>
                </c:pt>
                <c:pt idx="766">
                  <c:v>14.160965070219667</c:v>
                </c:pt>
                <c:pt idx="767">
                  <c:v>14.196975153042857</c:v>
                </c:pt>
                <c:pt idx="768">
                  <c:v>14.232985235866025</c:v>
                </c:pt>
                <c:pt idx="769">
                  <c:v>14.287000360100844</c:v>
                </c:pt>
                <c:pt idx="770">
                  <c:v>14.395030608570391</c:v>
                </c:pt>
                <c:pt idx="771">
                  <c:v>15.61937342455888</c:v>
                </c:pt>
                <c:pt idx="772">
                  <c:v>14.557075981274759</c:v>
                </c:pt>
                <c:pt idx="773">
                  <c:v>14.530068419157359</c:v>
                </c:pt>
                <c:pt idx="774">
                  <c:v>14.404033129276183</c:v>
                </c:pt>
                <c:pt idx="775">
                  <c:v>14.241987756571838</c:v>
                </c:pt>
                <c:pt idx="776">
                  <c:v>14.259992797983445</c:v>
                </c:pt>
                <c:pt idx="777">
                  <c:v>14.31400792221822</c:v>
                </c:pt>
                <c:pt idx="778">
                  <c:v>14.395030608570391</c:v>
                </c:pt>
                <c:pt idx="779">
                  <c:v>14.503060857039962</c:v>
                </c:pt>
                <c:pt idx="780">
                  <c:v>14.503060857039962</c:v>
                </c:pt>
                <c:pt idx="781">
                  <c:v>14.512063377745775</c:v>
                </c:pt>
                <c:pt idx="782">
                  <c:v>14.440043212099397</c:v>
                </c:pt>
                <c:pt idx="783">
                  <c:v>14.458048253510981</c:v>
                </c:pt>
                <c:pt idx="784">
                  <c:v>14.296002880806636</c:v>
                </c:pt>
                <c:pt idx="785">
                  <c:v>14.214980194454441</c:v>
                </c:pt>
                <c:pt idx="786">
                  <c:v>14.214980194454441</c:v>
                </c:pt>
                <c:pt idx="787">
                  <c:v>14.350018005041409</c:v>
                </c:pt>
                <c:pt idx="788">
                  <c:v>14.476053294922586</c:v>
                </c:pt>
                <c:pt idx="789">
                  <c:v>14.584083543392135</c:v>
                </c:pt>
                <c:pt idx="790">
                  <c:v>14.602088584803742</c:v>
                </c:pt>
                <c:pt idx="791">
                  <c:v>14.67410875045012</c:v>
                </c:pt>
                <c:pt idx="792">
                  <c:v>14.91717680950666</c:v>
                </c:pt>
                <c:pt idx="793">
                  <c:v>14.980194454447226</c:v>
                </c:pt>
                <c:pt idx="794">
                  <c:v>15.043212099387837</c:v>
                </c:pt>
                <c:pt idx="795">
                  <c:v>15.061217140799421</c:v>
                </c:pt>
                <c:pt idx="796">
                  <c:v>15.160244868563177</c:v>
                </c:pt>
                <c:pt idx="797">
                  <c:v>15.133237306445801</c:v>
                </c:pt>
                <c:pt idx="798">
                  <c:v>15.124234785740009</c:v>
                </c:pt>
                <c:pt idx="799">
                  <c:v>15.151242347857385</c:v>
                </c:pt>
                <c:pt idx="800">
                  <c:v>15.19625495138639</c:v>
                </c:pt>
                <c:pt idx="801">
                  <c:v>15.322290241267545</c:v>
                </c:pt>
                <c:pt idx="802">
                  <c:v>15.358300324090756</c:v>
                </c:pt>
                <c:pt idx="803">
                  <c:v>15.37630536550234</c:v>
                </c:pt>
                <c:pt idx="804">
                  <c:v>15.565358300324107</c:v>
                </c:pt>
                <c:pt idx="805">
                  <c:v>15.637378465970464</c:v>
                </c:pt>
                <c:pt idx="806">
                  <c:v>15.646380986676256</c:v>
                </c:pt>
                <c:pt idx="807">
                  <c:v>15.664386028087861</c:v>
                </c:pt>
                <c:pt idx="808">
                  <c:v>15.700396110911052</c:v>
                </c:pt>
                <c:pt idx="809">
                  <c:v>15.574360821029899</c:v>
                </c:pt>
                <c:pt idx="810">
                  <c:v>15.556355779618292</c:v>
                </c:pt>
                <c:pt idx="811">
                  <c:v>15.5473532589125</c:v>
                </c:pt>
                <c:pt idx="812">
                  <c:v>15.394310406913947</c:v>
                </c:pt>
                <c:pt idx="813">
                  <c:v>15.367302844796548</c:v>
                </c:pt>
                <c:pt idx="814">
                  <c:v>15.277277637738562</c:v>
                </c:pt>
                <c:pt idx="815">
                  <c:v>15.367302844796548</c:v>
                </c:pt>
                <c:pt idx="816">
                  <c:v>15.385307886208132</c:v>
                </c:pt>
                <c:pt idx="817">
                  <c:v>15.169247389269014</c:v>
                </c:pt>
                <c:pt idx="818">
                  <c:v>14.84515664386028</c:v>
                </c:pt>
                <c:pt idx="819">
                  <c:v>14.854159164566072</c:v>
                </c:pt>
                <c:pt idx="820">
                  <c:v>14.782138998919692</c:v>
                </c:pt>
                <c:pt idx="821">
                  <c:v>14.7731364782139</c:v>
                </c:pt>
                <c:pt idx="822">
                  <c:v>15.025207057976232</c:v>
                </c:pt>
                <c:pt idx="823">
                  <c:v>15.26827511703277</c:v>
                </c:pt>
                <c:pt idx="824">
                  <c:v>15.277277637738562</c:v>
                </c:pt>
                <c:pt idx="825">
                  <c:v>15.160244868563177</c:v>
                </c:pt>
                <c:pt idx="826">
                  <c:v>15.088224702916818</c:v>
                </c:pt>
                <c:pt idx="827">
                  <c:v>14.899171768095055</c:v>
                </c:pt>
                <c:pt idx="828">
                  <c:v>14.755131436802294</c:v>
                </c:pt>
                <c:pt idx="829">
                  <c:v>14.521065898451567</c:v>
                </c:pt>
                <c:pt idx="830">
                  <c:v>14.42203817068779</c:v>
                </c:pt>
                <c:pt idx="831">
                  <c:v>14.458048253510981</c:v>
                </c:pt>
                <c:pt idx="832">
                  <c:v>14.836154123154488</c:v>
                </c:pt>
                <c:pt idx="833">
                  <c:v>14.935181850918244</c:v>
                </c:pt>
                <c:pt idx="834">
                  <c:v>14.782138998919692</c:v>
                </c:pt>
                <c:pt idx="835">
                  <c:v>14.800144040331276</c:v>
                </c:pt>
                <c:pt idx="836">
                  <c:v>15.19625495138639</c:v>
                </c:pt>
                <c:pt idx="837">
                  <c:v>15.421317969031323</c:v>
                </c:pt>
                <c:pt idx="838">
                  <c:v>15.979474252790782</c:v>
                </c:pt>
                <c:pt idx="839">
                  <c:v>16.240547353258904</c:v>
                </c:pt>
                <c:pt idx="840">
                  <c:v>16.357580122434289</c:v>
                </c:pt>
                <c:pt idx="841">
                  <c:v>16.348577601728476</c:v>
                </c:pt>
                <c:pt idx="842">
                  <c:v>16.411595246669066</c:v>
                </c:pt>
                <c:pt idx="843">
                  <c:v>16.438602808786463</c:v>
                </c:pt>
                <c:pt idx="844">
                  <c:v>16.366582643140081</c:v>
                </c:pt>
                <c:pt idx="845">
                  <c:v>16.456607850198068</c:v>
                </c:pt>
                <c:pt idx="846">
                  <c:v>16.816708678429968</c:v>
                </c:pt>
                <c:pt idx="847">
                  <c:v>15.862441483615397</c:v>
                </c:pt>
                <c:pt idx="848">
                  <c:v>17.032769175369111</c:v>
                </c:pt>
                <c:pt idx="849">
                  <c:v>17.158804465250267</c:v>
                </c:pt>
                <c:pt idx="850">
                  <c:v>17.221822110190853</c:v>
                </c:pt>
                <c:pt idx="851">
                  <c:v>17.320849837954611</c:v>
                </c:pt>
                <c:pt idx="852">
                  <c:v>17.446885127835788</c:v>
                </c:pt>
                <c:pt idx="853">
                  <c:v>17.581922938422757</c:v>
                </c:pt>
                <c:pt idx="854">
                  <c:v>17.662945624774927</c:v>
                </c:pt>
                <c:pt idx="855">
                  <c:v>17.806985956067688</c:v>
                </c:pt>
                <c:pt idx="856">
                  <c:v>17.87900612171407</c:v>
                </c:pt>
                <c:pt idx="857">
                  <c:v>18.311127115592374</c:v>
                </c:pt>
                <c:pt idx="858">
                  <c:v>18.491177529708324</c:v>
                </c:pt>
                <c:pt idx="859">
                  <c:v>18.644220381706877</c:v>
                </c:pt>
                <c:pt idx="860">
                  <c:v>18.770255671588032</c:v>
                </c:pt>
                <c:pt idx="861">
                  <c:v>18.914296002880793</c:v>
                </c:pt>
                <c:pt idx="862">
                  <c:v>19.049333813467761</c:v>
                </c:pt>
                <c:pt idx="863">
                  <c:v>19.112351458408348</c:v>
                </c:pt>
                <c:pt idx="864">
                  <c:v>19.139359020525749</c:v>
                </c:pt>
                <c:pt idx="865">
                  <c:v>19.18437162405473</c:v>
                </c:pt>
                <c:pt idx="866">
                  <c:v>19.220381706877919</c:v>
                </c:pt>
                <c:pt idx="867">
                  <c:v>19.454447245228668</c:v>
                </c:pt>
                <c:pt idx="868">
                  <c:v>21.516024486856324</c:v>
                </c:pt>
                <c:pt idx="869">
                  <c:v>20.435722002160617</c:v>
                </c:pt>
                <c:pt idx="870">
                  <c:v>20.444724522866409</c:v>
                </c:pt>
                <c:pt idx="871">
                  <c:v>20.534749729924371</c:v>
                </c:pt>
                <c:pt idx="872">
                  <c:v>20.65178249909976</c:v>
                </c:pt>
                <c:pt idx="873">
                  <c:v>20.714800144040325</c:v>
                </c:pt>
                <c:pt idx="874">
                  <c:v>20.723802664746117</c:v>
                </c:pt>
                <c:pt idx="875">
                  <c:v>20.91285559956788</c:v>
                </c:pt>
                <c:pt idx="876">
                  <c:v>20.921858120273672</c:v>
                </c:pt>
                <c:pt idx="877">
                  <c:v>20.97587324450847</c:v>
                </c:pt>
                <c:pt idx="878">
                  <c:v>20.957868203096865</c:v>
                </c:pt>
                <c:pt idx="879">
                  <c:v>20.633777457688151</c:v>
                </c:pt>
                <c:pt idx="880">
                  <c:v>20.534749729924371</c:v>
                </c:pt>
                <c:pt idx="881">
                  <c:v>20.390709398631614</c:v>
                </c:pt>
                <c:pt idx="882">
                  <c:v>20.516744688512787</c:v>
                </c:pt>
                <c:pt idx="883">
                  <c:v>20.669787540511344</c:v>
                </c:pt>
                <c:pt idx="884">
                  <c:v>21.01188332733166</c:v>
                </c:pt>
                <c:pt idx="885">
                  <c:v>21.281958948505576</c:v>
                </c:pt>
                <c:pt idx="886">
                  <c:v>21.326971552034557</c:v>
                </c:pt>
                <c:pt idx="887">
                  <c:v>21.380986676269352</c:v>
                </c:pt>
                <c:pt idx="888">
                  <c:v>22.479294202376664</c:v>
                </c:pt>
                <c:pt idx="889">
                  <c:v>21.137918617212815</c:v>
                </c:pt>
                <c:pt idx="890">
                  <c:v>21.290961469211368</c:v>
                </c:pt>
                <c:pt idx="891">
                  <c:v>21.37198415556356</c:v>
                </c:pt>
                <c:pt idx="892">
                  <c:v>21.579042131796911</c:v>
                </c:pt>
                <c:pt idx="893">
                  <c:v>21.723082463089671</c:v>
                </c:pt>
                <c:pt idx="894">
                  <c:v>21.813107670147637</c:v>
                </c:pt>
                <c:pt idx="895">
                  <c:v>21.867122794382411</c:v>
                </c:pt>
                <c:pt idx="896">
                  <c:v>22.029168167086777</c:v>
                </c:pt>
                <c:pt idx="897">
                  <c:v>22.038170687792569</c:v>
                </c:pt>
                <c:pt idx="898">
                  <c:v>22.137198415556348</c:v>
                </c:pt>
                <c:pt idx="899">
                  <c:v>22.038170687792569</c:v>
                </c:pt>
                <c:pt idx="900">
                  <c:v>21.984155563557795</c:v>
                </c:pt>
                <c:pt idx="901">
                  <c:v>22.038170687792569</c:v>
                </c:pt>
                <c:pt idx="902">
                  <c:v>21.903132877205621</c:v>
                </c:pt>
                <c:pt idx="903">
                  <c:v>21.984155563557795</c:v>
                </c:pt>
                <c:pt idx="904">
                  <c:v>22.038170687792569</c:v>
                </c:pt>
                <c:pt idx="905">
                  <c:v>22.173208498379537</c:v>
                </c:pt>
                <c:pt idx="906">
                  <c:v>22.272236226143317</c:v>
                </c:pt>
                <c:pt idx="907">
                  <c:v>22.155203456967953</c:v>
                </c:pt>
                <c:pt idx="908">
                  <c:v>22.236226143320124</c:v>
                </c:pt>
                <c:pt idx="909">
                  <c:v>22.362261433201304</c:v>
                </c:pt>
                <c:pt idx="910">
                  <c:v>22.416276557436078</c:v>
                </c:pt>
                <c:pt idx="911">
                  <c:v>22.470291681670872</c:v>
                </c:pt>
                <c:pt idx="912">
                  <c:v>22.46128916096508</c:v>
                </c:pt>
                <c:pt idx="913">
                  <c:v>22.470291681670872</c:v>
                </c:pt>
                <c:pt idx="914">
                  <c:v>22.614332012963633</c:v>
                </c:pt>
                <c:pt idx="915">
                  <c:v>22.740367302844788</c:v>
                </c:pt>
                <c:pt idx="916">
                  <c:v>22.821389989196984</c:v>
                </c:pt>
                <c:pt idx="917">
                  <c:v>22.78537990637377</c:v>
                </c:pt>
                <c:pt idx="918">
                  <c:v>22.731364782138996</c:v>
                </c:pt>
                <c:pt idx="919">
                  <c:v>22.74936982355058</c:v>
                </c:pt>
                <c:pt idx="920">
                  <c:v>22.776377385667978</c:v>
                </c:pt>
                <c:pt idx="921">
                  <c:v>22.875405113431757</c:v>
                </c:pt>
                <c:pt idx="922">
                  <c:v>22.893410154843362</c:v>
                </c:pt>
                <c:pt idx="923">
                  <c:v>22.893410154843362</c:v>
                </c:pt>
                <c:pt idx="924">
                  <c:v>23.622614332012958</c:v>
                </c:pt>
                <c:pt idx="925">
                  <c:v>23.154483255311487</c:v>
                </c:pt>
                <c:pt idx="926">
                  <c:v>23.217500900252077</c:v>
                </c:pt>
                <c:pt idx="927">
                  <c:v>23.27151602448685</c:v>
                </c:pt>
                <c:pt idx="928">
                  <c:v>23.361541231544834</c:v>
                </c:pt>
                <c:pt idx="929">
                  <c:v>23.397551314368027</c:v>
                </c:pt>
                <c:pt idx="930">
                  <c:v>23.352538710839042</c:v>
                </c:pt>
                <c:pt idx="931">
                  <c:v>23.415556355779611</c:v>
                </c:pt>
                <c:pt idx="932">
                  <c:v>23.478574000720197</c:v>
                </c:pt>
                <c:pt idx="933">
                  <c:v>23.595606769895561</c:v>
                </c:pt>
                <c:pt idx="934">
                  <c:v>23.559596687072393</c:v>
                </c:pt>
                <c:pt idx="935">
                  <c:v>23.496579042131781</c:v>
                </c:pt>
                <c:pt idx="936">
                  <c:v>23.460568959308592</c:v>
                </c:pt>
                <c:pt idx="937">
                  <c:v>23.487576521425989</c:v>
                </c:pt>
                <c:pt idx="938">
                  <c:v>23.541591645660787</c:v>
                </c:pt>
                <c:pt idx="939">
                  <c:v>23.469571480014405</c:v>
                </c:pt>
                <c:pt idx="940">
                  <c:v>23.469571480014405</c:v>
                </c:pt>
                <c:pt idx="941">
                  <c:v>23.595606769895561</c:v>
                </c:pt>
                <c:pt idx="942">
                  <c:v>23.577601728483977</c:v>
                </c:pt>
                <c:pt idx="943">
                  <c:v>23.595606769895561</c:v>
                </c:pt>
                <c:pt idx="944">
                  <c:v>23.730644580482529</c:v>
                </c:pt>
                <c:pt idx="945">
                  <c:v>24.270795822830404</c:v>
                </c:pt>
                <c:pt idx="946">
                  <c:v>23.559596687072393</c:v>
                </c:pt>
                <c:pt idx="947">
                  <c:v>23.487576521425989</c:v>
                </c:pt>
                <c:pt idx="948">
                  <c:v>23.442563917897008</c:v>
                </c:pt>
                <c:pt idx="949">
                  <c:v>23.10947065178248</c:v>
                </c:pt>
                <c:pt idx="950">
                  <c:v>23.199495858840468</c:v>
                </c:pt>
                <c:pt idx="951">
                  <c:v>23.253510983075266</c:v>
                </c:pt>
                <c:pt idx="952">
                  <c:v>23.307526107310039</c:v>
                </c:pt>
                <c:pt idx="953">
                  <c:v>23.4515664386028</c:v>
                </c:pt>
                <c:pt idx="954">
                  <c:v>23.703637018365153</c:v>
                </c:pt>
                <c:pt idx="955">
                  <c:v>23.739647101188343</c:v>
                </c:pt>
                <c:pt idx="956">
                  <c:v>23.568599207778185</c:v>
                </c:pt>
                <c:pt idx="957">
                  <c:v>23.658624414836147</c:v>
                </c:pt>
                <c:pt idx="958">
                  <c:v>23.811667266834704</c:v>
                </c:pt>
                <c:pt idx="959">
                  <c:v>23.784659704717328</c:v>
                </c:pt>
                <c:pt idx="960">
                  <c:v>23.820669787540517</c:v>
                </c:pt>
                <c:pt idx="961">
                  <c:v>23.937702556715877</c:v>
                </c:pt>
                <c:pt idx="962">
                  <c:v>24.126755491537622</c:v>
                </c:pt>
                <c:pt idx="963">
                  <c:v>24.387828592005746</c:v>
                </c:pt>
                <c:pt idx="964">
                  <c:v>24.450846236946354</c:v>
                </c:pt>
                <c:pt idx="965">
                  <c:v>24.486856319769544</c:v>
                </c:pt>
                <c:pt idx="966">
                  <c:v>25.153042851998574</c:v>
                </c:pt>
                <c:pt idx="967">
                  <c:v>24.603889088944907</c:v>
                </c:pt>
                <c:pt idx="968">
                  <c:v>24.57688152682751</c:v>
                </c:pt>
                <c:pt idx="969">
                  <c:v>24.720921858120271</c:v>
                </c:pt>
                <c:pt idx="970">
                  <c:v>24.855959668707239</c:v>
                </c:pt>
                <c:pt idx="971">
                  <c:v>24.855959668707239</c:v>
                </c:pt>
                <c:pt idx="972">
                  <c:v>24.936982355059413</c:v>
                </c:pt>
                <c:pt idx="973">
                  <c:v>24.990997479294208</c:v>
                </c:pt>
                <c:pt idx="974">
                  <c:v>24.954987396470997</c:v>
                </c:pt>
                <c:pt idx="975">
                  <c:v>24.972992437882624</c:v>
                </c:pt>
                <c:pt idx="976">
                  <c:v>24.33381346777097</c:v>
                </c:pt>
                <c:pt idx="977">
                  <c:v>25.027007562117397</c:v>
                </c:pt>
                <c:pt idx="978">
                  <c:v>25.072020165646379</c:v>
                </c:pt>
                <c:pt idx="979">
                  <c:v>25</c:v>
                </c:pt>
                <c:pt idx="980">
                  <c:v>25.018005041411605</c:v>
                </c:pt>
                <c:pt idx="981">
                  <c:v>25.045012603528981</c:v>
                </c:pt>
                <c:pt idx="982">
                  <c:v>25.333093266114524</c:v>
                </c:pt>
                <c:pt idx="983">
                  <c:v>25.42311847317249</c:v>
                </c:pt>
                <c:pt idx="984">
                  <c:v>25.468131076701471</c:v>
                </c:pt>
                <c:pt idx="985">
                  <c:v>25.42311847317249</c:v>
                </c:pt>
                <c:pt idx="986">
                  <c:v>25.3601008282319</c:v>
                </c:pt>
                <c:pt idx="987">
                  <c:v>25.351098307526108</c:v>
                </c:pt>
                <c:pt idx="988">
                  <c:v>25.540151242347854</c:v>
                </c:pt>
                <c:pt idx="989">
                  <c:v>25.585163845876856</c:v>
                </c:pt>
                <c:pt idx="990">
                  <c:v>25.396110911055093</c:v>
                </c:pt>
                <c:pt idx="991">
                  <c:v>25.3601008282319</c:v>
                </c:pt>
                <c:pt idx="992">
                  <c:v>25.52214620093627</c:v>
                </c:pt>
                <c:pt idx="993">
                  <c:v>25.567158804465251</c:v>
                </c:pt>
                <c:pt idx="994">
                  <c:v>25.675189052934822</c:v>
                </c:pt>
                <c:pt idx="995">
                  <c:v>25.729204177169617</c:v>
                </c:pt>
                <c:pt idx="996">
                  <c:v>25.873244508462378</c:v>
                </c:pt>
                <c:pt idx="997">
                  <c:v>25.88224702916817</c:v>
                </c:pt>
                <c:pt idx="998">
                  <c:v>25.828231904933375</c:v>
                </c:pt>
                <c:pt idx="999">
                  <c:v>25.864241987756564</c:v>
                </c:pt>
                <c:pt idx="1000">
                  <c:v>25.846236946344959</c:v>
                </c:pt>
                <c:pt idx="1001">
                  <c:v>26.566438602808784</c:v>
                </c:pt>
                <c:pt idx="1002">
                  <c:v>25.963269715520344</c:v>
                </c:pt>
                <c:pt idx="1003">
                  <c:v>26.044292401872514</c:v>
                </c:pt>
                <c:pt idx="1004">
                  <c:v>26.098307526107313</c:v>
                </c:pt>
                <c:pt idx="1005">
                  <c:v>26.20633777457688</c:v>
                </c:pt>
                <c:pt idx="1006">
                  <c:v>26.332373064458036</c:v>
                </c:pt>
                <c:pt idx="1007">
                  <c:v>26.350378105869645</c:v>
                </c:pt>
                <c:pt idx="1008">
                  <c:v>26.359380626575437</c:v>
                </c:pt>
                <c:pt idx="1009">
                  <c:v>26.503420957868194</c:v>
                </c:pt>
                <c:pt idx="1010">
                  <c:v>26.602448685631998</c:v>
                </c:pt>
                <c:pt idx="1011">
                  <c:v>26.665466330572563</c:v>
                </c:pt>
                <c:pt idx="1012">
                  <c:v>26.710478934101545</c:v>
                </c:pt>
                <c:pt idx="1013">
                  <c:v>26.719481454807337</c:v>
                </c:pt>
                <c:pt idx="1014">
                  <c:v>26.746489016924734</c:v>
                </c:pt>
                <c:pt idx="1015">
                  <c:v>26.737486496218942</c:v>
                </c:pt>
                <c:pt idx="1016">
                  <c:v>26.79150162045374</c:v>
                </c:pt>
                <c:pt idx="1017">
                  <c:v>26.908534389629104</c:v>
                </c:pt>
                <c:pt idx="1018">
                  <c:v>26.296362981634868</c:v>
                </c:pt>
                <c:pt idx="1019">
                  <c:v>26.962549513863898</c:v>
                </c:pt>
                <c:pt idx="1020">
                  <c:v>26.998559596687066</c:v>
                </c:pt>
                <c:pt idx="1021">
                  <c:v>27.106589845156638</c:v>
                </c:pt>
                <c:pt idx="1022">
                  <c:v>27.169607490097224</c:v>
                </c:pt>
                <c:pt idx="1023">
                  <c:v>27.277637738566796</c:v>
                </c:pt>
                <c:pt idx="1024">
                  <c:v>27.340655383507382</c:v>
                </c:pt>
                <c:pt idx="1025">
                  <c:v>27.15160244868564</c:v>
                </c:pt>
                <c:pt idx="1026">
                  <c:v>26.818509182571116</c:v>
                </c:pt>
                <c:pt idx="1027">
                  <c:v>27.070579762333445</c:v>
                </c:pt>
                <c:pt idx="1028">
                  <c:v>27.097587324450846</c:v>
                </c:pt>
                <c:pt idx="1029">
                  <c:v>27.169607490097224</c:v>
                </c:pt>
                <c:pt idx="1030">
                  <c:v>27.313647821389985</c:v>
                </c:pt>
                <c:pt idx="1031">
                  <c:v>27.394670507742159</c:v>
                </c:pt>
                <c:pt idx="1032">
                  <c:v>27.538710839034941</c:v>
                </c:pt>
                <c:pt idx="1033">
                  <c:v>27.646741087504488</c:v>
                </c:pt>
                <c:pt idx="1034">
                  <c:v>27.763773856679876</c:v>
                </c:pt>
                <c:pt idx="1035">
                  <c:v>27.889809146561049</c:v>
                </c:pt>
                <c:pt idx="1036">
                  <c:v>27.952826791501618</c:v>
                </c:pt>
                <c:pt idx="1037">
                  <c:v>27.988836874324807</c:v>
                </c:pt>
                <c:pt idx="1038">
                  <c:v>28.006841915736391</c:v>
                </c:pt>
                <c:pt idx="1039">
                  <c:v>28.096867122794379</c:v>
                </c:pt>
                <c:pt idx="1040">
                  <c:v>28.186892329852341</c:v>
                </c:pt>
                <c:pt idx="1041">
                  <c:v>28.249909974792953</c:v>
                </c:pt>
                <c:pt idx="1042">
                  <c:v>28.285920057616142</c:v>
                </c:pt>
                <c:pt idx="1043">
                  <c:v>28.357940223262503</c:v>
                </c:pt>
                <c:pt idx="1044">
                  <c:v>28.402952826791484</c:v>
                </c:pt>
                <c:pt idx="1045">
                  <c:v>28.465970471732092</c:v>
                </c:pt>
                <c:pt idx="1046">
                  <c:v>28.429960388908903</c:v>
                </c:pt>
                <c:pt idx="1047">
                  <c:v>28.357940223262503</c:v>
                </c:pt>
                <c:pt idx="1048">
                  <c:v>28.411955347497297</c:v>
                </c:pt>
                <c:pt idx="1049">
                  <c:v>28.429960388908903</c:v>
                </c:pt>
                <c:pt idx="1050">
                  <c:v>28.501980554555285</c:v>
                </c:pt>
                <c:pt idx="1051">
                  <c:v>28.555995678790058</c:v>
                </c:pt>
                <c:pt idx="1052">
                  <c:v>28.438962909614695</c:v>
                </c:pt>
                <c:pt idx="1053">
                  <c:v>28.574000720201642</c:v>
                </c:pt>
                <c:pt idx="1054">
                  <c:v>28.691033489377027</c:v>
                </c:pt>
                <c:pt idx="1055">
                  <c:v>28.790061217140806</c:v>
                </c:pt>
                <c:pt idx="1056">
                  <c:v>28.898091465610378</c:v>
                </c:pt>
                <c:pt idx="1057">
                  <c:v>28.970111631256756</c:v>
                </c:pt>
                <c:pt idx="1058">
                  <c:v>29.213179690313297</c:v>
                </c:pt>
                <c:pt idx="1059">
                  <c:v>29.240187252430673</c:v>
                </c:pt>
                <c:pt idx="1060">
                  <c:v>29.303204897371259</c:v>
                </c:pt>
                <c:pt idx="1061">
                  <c:v>29.357220021606057</c:v>
                </c:pt>
                <c:pt idx="1062">
                  <c:v>29.375225063017641</c:v>
                </c:pt>
                <c:pt idx="1063">
                  <c:v>29.456247749369812</c:v>
                </c:pt>
                <c:pt idx="1064">
                  <c:v>29.501260352898797</c:v>
                </c:pt>
                <c:pt idx="1065">
                  <c:v>29.573280518545197</c:v>
                </c:pt>
                <c:pt idx="1066">
                  <c:v>29.573280518545197</c:v>
                </c:pt>
                <c:pt idx="1067">
                  <c:v>29.564277997839405</c:v>
                </c:pt>
                <c:pt idx="1068">
                  <c:v>29.582283039250989</c:v>
                </c:pt>
                <c:pt idx="1069">
                  <c:v>29.564277997839405</c:v>
                </c:pt>
                <c:pt idx="1070">
                  <c:v>29.546272956427799</c:v>
                </c:pt>
                <c:pt idx="1071">
                  <c:v>29.501260352898797</c:v>
                </c:pt>
                <c:pt idx="1072">
                  <c:v>29.528267915016215</c:v>
                </c:pt>
                <c:pt idx="1073">
                  <c:v>29.546272956427799</c:v>
                </c:pt>
                <c:pt idx="1074">
                  <c:v>29.645300684191579</c:v>
                </c:pt>
                <c:pt idx="1075">
                  <c:v>29.780338494778547</c:v>
                </c:pt>
                <c:pt idx="1076">
                  <c:v>29.888368743248115</c:v>
                </c:pt>
                <c:pt idx="1077">
                  <c:v>29.951386388188684</c:v>
                </c:pt>
                <c:pt idx="1078">
                  <c:v>30.014404033129271</c:v>
                </c:pt>
                <c:pt idx="1079">
                  <c:v>30.095426719481466</c:v>
                </c:pt>
                <c:pt idx="1080">
                  <c:v>30.104429240187258</c:v>
                </c:pt>
                <c:pt idx="1081">
                  <c:v>30.041411595246647</c:v>
                </c:pt>
                <c:pt idx="1082">
                  <c:v>30.005401512423479</c:v>
                </c:pt>
                <c:pt idx="1083">
                  <c:v>30.059416636658277</c:v>
                </c:pt>
                <c:pt idx="1084">
                  <c:v>30.086424198775653</c:v>
                </c:pt>
                <c:pt idx="1085">
                  <c:v>30.221462009362622</c:v>
                </c:pt>
                <c:pt idx="1086">
                  <c:v>30.275477133597416</c:v>
                </c:pt>
                <c:pt idx="1087">
                  <c:v>30.230464530068435</c:v>
                </c:pt>
                <c:pt idx="1088">
                  <c:v>30.203456967951013</c:v>
                </c:pt>
                <c:pt idx="1089">
                  <c:v>30.230464530068435</c:v>
                </c:pt>
                <c:pt idx="1090">
                  <c:v>30.212459488656805</c:v>
                </c:pt>
                <c:pt idx="1091">
                  <c:v>30.347497299243777</c:v>
                </c:pt>
                <c:pt idx="1092">
                  <c:v>30.428519985595969</c:v>
                </c:pt>
                <c:pt idx="1093">
                  <c:v>30.491537630536559</c:v>
                </c:pt>
                <c:pt idx="1094">
                  <c:v>30.590565358300314</c:v>
                </c:pt>
                <c:pt idx="1095">
                  <c:v>30.545552754771332</c:v>
                </c:pt>
                <c:pt idx="1096">
                  <c:v>30.57256031688873</c:v>
                </c:pt>
                <c:pt idx="1097">
                  <c:v>30.608570399711923</c:v>
                </c:pt>
                <c:pt idx="1098">
                  <c:v>30.527547713359727</c:v>
                </c:pt>
                <c:pt idx="1099">
                  <c:v>30.617572920417714</c:v>
                </c:pt>
                <c:pt idx="1100">
                  <c:v>30.608570399711923</c:v>
                </c:pt>
                <c:pt idx="1101">
                  <c:v>30.63557796182932</c:v>
                </c:pt>
                <c:pt idx="1102">
                  <c:v>30.671588044652509</c:v>
                </c:pt>
                <c:pt idx="1103">
                  <c:v>30.707598127475698</c:v>
                </c:pt>
                <c:pt idx="1104">
                  <c:v>30.81562837594527</c:v>
                </c:pt>
                <c:pt idx="1105">
                  <c:v>30.878646020885835</c:v>
                </c:pt>
                <c:pt idx="1106">
                  <c:v>31.562837594526471</c:v>
                </c:pt>
                <c:pt idx="1107">
                  <c:v>30.950666186532217</c:v>
                </c:pt>
                <c:pt idx="1108">
                  <c:v>31.013683831472804</c:v>
                </c:pt>
                <c:pt idx="1109">
                  <c:v>31.085703997119186</c:v>
                </c:pt>
                <c:pt idx="1110">
                  <c:v>31.166726683471381</c:v>
                </c:pt>
                <c:pt idx="1111">
                  <c:v>31.265754411235136</c:v>
                </c:pt>
                <c:pt idx="1112">
                  <c:v>31.337774576881539</c:v>
                </c:pt>
                <c:pt idx="1113">
                  <c:v>31.436802304645294</c:v>
                </c:pt>
                <c:pt idx="1114">
                  <c:v>31.517824990997489</c:v>
                </c:pt>
                <c:pt idx="1115">
                  <c:v>31.571840115232263</c:v>
                </c:pt>
                <c:pt idx="1116">
                  <c:v>31.589845156643868</c:v>
                </c:pt>
                <c:pt idx="1117">
                  <c:v>31.607850198055452</c:v>
                </c:pt>
                <c:pt idx="1118">
                  <c:v>31.571840115232263</c:v>
                </c:pt>
                <c:pt idx="1119">
                  <c:v>31.643860280878645</c:v>
                </c:pt>
                <c:pt idx="1120">
                  <c:v>31.625855239467036</c:v>
                </c:pt>
                <c:pt idx="1121">
                  <c:v>31.59884767734966</c:v>
                </c:pt>
                <c:pt idx="1122">
                  <c:v>31.41879726323371</c:v>
                </c:pt>
                <c:pt idx="1123">
                  <c:v>31.427799783939502</c:v>
                </c:pt>
                <c:pt idx="1124">
                  <c:v>31.472812387468487</c:v>
                </c:pt>
                <c:pt idx="1125">
                  <c:v>31.490817428880071</c:v>
                </c:pt>
                <c:pt idx="1126">
                  <c:v>31.571840115232263</c:v>
                </c:pt>
                <c:pt idx="1127">
                  <c:v>31.661865322290229</c:v>
                </c:pt>
                <c:pt idx="1128">
                  <c:v>31.679870363701834</c:v>
                </c:pt>
                <c:pt idx="1129">
                  <c:v>31.769895570759822</c:v>
                </c:pt>
                <c:pt idx="1130">
                  <c:v>31.823910694994595</c:v>
                </c:pt>
                <c:pt idx="1131">
                  <c:v>31.931940943464166</c:v>
                </c:pt>
                <c:pt idx="1132">
                  <c:v>31.895930860640973</c:v>
                </c:pt>
                <c:pt idx="1133">
                  <c:v>31.814908174288803</c:v>
                </c:pt>
                <c:pt idx="1134">
                  <c:v>31.670867842996021</c:v>
                </c:pt>
                <c:pt idx="1135">
                  <c:v>31.535830032409073</c:v>
                </c:pt>
                <c:pt idx="1136">
                  <c:v>31.355779618293123</c:v>
                </c:pt>
                <c:pt idx="1137">
                  <c:v>31.445804825351086</c:v>
                </c:pt>
                <c:pt idx="1138">
                  <c:v>31.72488296723084</c:v>
                </c:pt>
                <c:pt idx="1139">
                  <c:v>31.886928339935181</c:v>
                </c:pt>
                <c:pt idx="1140">
                  <c:v>31.940943464169958</c:v>
                </c:pt>
                <c:pt idx="1141">
                  <c:v>32.021966150522132</c:v>
                </c:pt>
                <c:pt idx="1142">
                  <c:v>32.102988836874324</c:v>
                </c:pt>
                <c:pt idx="1143">
                  <c:v>32.148001440403306</c:v>
                </c:pt>
                <c:pt idx="1144">
                  <c:v>32.166006481814911</c:v>
                </c:pt>
                <c:pt idx="1145">
                  <c:v>32.202016564638079</c:v>
                </c:pt>
                <c:pt idx="1146">
                  <c:v>32.220021606049684</c:v>
                </c:pt>
                <c:pt idx="1147">
                  <c:v>32.256031688872902</c:v>
                </c:pt>
                <c:pt idx="1148">
                  <c:v>32.382066978754033</c:v>
                </c:pt>
                <c:pt idx="1149">
                  <c:v>32.508102268635206</c:v>
                </c:pt>
                <c:pt idx="1150">
                  <c:v>32.598127475693197</c:v>
                </c:pt>
                <c:pt idx="1151">
                  <c:v>32.625135037810594</c:v>
                </c:pt>
                <c:pt idx="1152">
                  <c:v>32.778177889809143</c:v>
                </c:pt>
                <c:pt idx="1153">
                  <c:v>32.904213179690302</c:v>
                </c:pt>
                <c:pt idx="1154">
                  <c:v>32.922218221101907</c:v>
                </c:pt>
                <c:pt idx="1155">
                  <c:v>32.985235866042494</c:v>
                </c:pt>
                <c:pt idx="1156">
                  <c:v>32.976233345336702</c:v>
                </c:pt>
                <c:pt idx="1157">
                  <c:v>32.949225783219283</c:v>
                </c:pt>
                <c:pt idx="1158">
                  <c:v>33.138278718041072</c:v>
                </c:pt>
                <c:pt idx="1159">
                  <c:v>33.948505581562841</c:v>
                </c:pt>
                <c:pt idx="1160">
                  <c:v>34.065538350738223</c:v>
                </c:pt>
                <c:pt idx="1161">
                  <c:v>34.164566078501977</c:v>
                </c:pt>
                <c:pt idx="1162">
                  <c:v>33.480374504861345</c:v>
                </c:pt>
                <c:pt idx="1163">
                  <c:v>33.561397191213537</c:v>
                </c:pt>
                <c:pt idx="1164">
                  <c:v>33.597407274036726</c:v>
                </c:pt>
                <c:pt idx="1165">
                  <c:v>33.669427439683105</c:v>
                </c:pt>
                <c:pt idx="1166">
                  <c:v>33.696435001800509</c:v>
                </c:pt>
                <c:pt idx="1167">
                  <c:v>33.849477853799058</c:v>
                </c:pt>
                <c:pt idx="1168">
                  <c:v>34.560676989557074</c:v>
                </c:pt>
                <c:pt idx="1169">
                  <c:v>33.948505581562841</c:v>
                </c:pt>
                <c:pt idx="1170">
                  <c:v>34.011523226503407</c:v>
                </c:pt>
                <c:pt idx="1171">
                  <c:v>33.876485415916456</c:v>
                </c:pt>
                <c:pt idx="1172">
                  <c:v>33.77745768815268</c:v>
                </c:pt>
                <c:pt idx="1173">
                  <c:v>33.579402232625142</c:v>
                </c:pt>
                <c:pt idx="1174">
                  <c:v>33.561397191213537</c:v>
                </c:pt>
                <c:pt idx="1175">
                  <c:v>33.498379546272972</c:v>
                </c:pt>
                <c:pt idx="1176">
                  <c:v>33.354339214980186</c:v>
                </c:pt>
                <c:pt idx="1177">
                  <c:v>33.372344256391798</c:v>
                </c:pt>
                <c:pt idx="1178">
                  <c:v>33.147281238746864</c:v>
                </c:pt>
                <c:pt idx="1179">
                  <c:v>33.138278718041072</c:v>
                </c:pt>
                <c:pt idx="1180">
                  <c:v>33.399351818509174</c:v>
                </c:pt>
                <c:pt idx="1181">
                  <c:v>33.498379546272972</c:v>
                </c:pt>
                <c:pt idx="1182">
                  <c:v>33.660424918977291</c:v>
                </c:pt>
                <c:pt idx="1183">
                  <c:v>33.61541231544831</c:v>
                </c:pt>
                <c:pt idx="1184">
                  <c:v>33.759452646741096</c:v>
                </c:pt>
                <c:pt idx="1185">
                  <c:v>33.77745768815268</c:v>
                </c:pt>
                <c:pt idx="1186">
                  <c:v>33.660424918977291</c:v>
                </c:pt>
                <c:pt idx="1187">
                  <c:v>33.471371984155553</c:v>
                </c:pt>
                <c:pt idx="1188">
                  <c:v>33.363341735686006</c:v>
                </c:pt>
                <c:pt idx="1189">
                  <c:v>33.219301404393221</c:v>
                </c:pt>
                <c:pt idx="1190">
                  <c:v>33.273316528628015</c:v>
                </c:pt>
                <c:pt idx="1191">
                  <c:v>33.318329132157018</c:v>
                </c:pt>
                <c:pt idx="1192">
                  <c:v>32.733165286280141</c:v>
                </c:pt>
                <c:pt idx="1193">
                  <c:v>32.436082102988848</c:v>
                </c:pt>
                <c:pt idx="1194">
                  <c:v>30.662585523946717</c:v>
                </c:pt>
                <c:pt idx="1195">
                  <c:v>31.067698955707602</c:v>
                </c:pt>
                <c:pt idx="1196">
                  <c:v>30.275477133597416</c:v>
                </c:pt>
                <c:pt idx="1197">
                  <c:v>31.166726683471381</c:v>
                </c:pt>
                <c:pt idx="1198">
                  <c:v>30.887648541591652</c:v>
                </c:pt>
                <c:pt idx="1199">
                  <c:v>31.265754411235136</c:v>
                </c:pt>
                <c:pt idx="1200">
                  <c:v>31.580842635938055</c:v>
                </c:pt>
                <c:pt idx="1201">
                  <c:v>31.679870363701834</c:v>
                </c:pt>
                <c:pt idx="1202">
                  <c:v>31.967951026287356</c:v>
                </c:pt>
                <c:pt idx="1203">
                  <c:v>32.166006481814911</c:v>
                </c:pt>
                <c:pt idx="1204">
                  <c:v>32.769175369103351</c:v>
                </c:pt>
                <c:pt idx="1205">
                  <c:v>32.96723082463091</c:v>
                </c:pt>
                <c:pt idx="1206">
                  <c:v>33.183291321570053</c:v>
                </c:pt>
                <c:pt idx="1207">
                  <c:v>33.372344256391798</c:v>
                </c:pt>
                <c:pt idx="1208">
                  <c:v>33.399351818509174</c:v>
                </c:pt>
                <c:pt idx="1209">
                  <c:v>34.578682030968658</c:v>
                </c:pt>
                <c:pt idx="1210">
                  <c:v>33.300324090745391</c:v>
                </c:pt>
                <c:pt idx="1211">
                  <c:v>33.32733165286281</c:v>
                </c:pt>
                <c:pt idx="1212">
                  <c:v>33.38134677709759</c:v>
                </c:pt>
                <c:pt idx="1213">
                  <c:v>33.453366942743969</c:v>
                </c:pt>
                <c:pt idx="1214">
                  <c:v>33.579402232625142</c:v>
                </c:pt>
                <c:pt idx="1215">
                  <c:v>33.6514223982715</c:v>
                </c:pt>
                <c:pt idx="1216">
                  <c:v>34.128555995678788</c:v>
                </c:pt>
                <c:pt idx="1217">
                  <c:v>34.362621534029515</c:v>
                </c:pt>
                <c:pt idx="1218">
                  <c:v>34.425639178970123</c:v>
                </c:pt>
                <c:pt idx="1219">
                  <c:v>34.371624054735328</c:v>
                </c:pt>
                <c:pt idx="1220">
                  <c:v>34.488656823910688</c:v>
                </c:pt>
                <c:pt idx="1221">
                  <c:v>34.524666906733884</c:v>
                </c:pt>
                <c:pt idx="1222">
                  <c:v>34.62369463449766</c:v>
                </c:pt>
                <c:pt idx="1223">
                  <c:v>34.578682030968658</c:v>
                </c:pt>
                <c:pt idx="1224">
                  <c:v>34.587684551674471</c:v>
                </c:pt>
                <c:pt idx="1225">
                  <c:v>34.479654303204896</c:v>
                </c:pt>
                <c:pt idx="1226">
                  <c:v>34.542671948145468</c:v>
                </c:pt>
                <c:pt idx="1227">
                  <c:v>34.767734965790417</c:v>
                </c:pt>
                <c:pt idx="1228">
                  <c:v>34.794742527907815</c:v>
                </c:pt>
                <c:pt idx="1229">
                  <c:v>34.992797983435374</c:v>
                </c:pt>
                <c:pt idx="1230">
                  <c:v>35.055815628375939</c:v>
                </c:pt>
                <c:pt idx="1231">
                  <c:v>35.316888728844084</c:v>
                </c:pt>
              </c:numCache>
            </c:numRef>
          </c:val>
          <c:smooth val="0"/>
          <c:extLst>
            <c:ext xmlns:c16="http://schemas.microsoft.com/office/drawing/2014/chart" uri="{C3380CC4-5D6E-409C-BE32-E72D297353CC}">
              <c16:uniqueId val="{00000001-6E3A-4E7F-A676-2610DFB25496}"/>
            </c:ext>
          </c:extLst>
        </c:ser>
        <c:dLbls>
          <c:showLegendKey val="0"/>
          <c:showVal val="0"/>
          <c:showCatName val="0"/>
          <c:showSerName val="0"/>
          <c:showPercent val="0"/>
          <c:showBubbleSize val="0"/>
        </c:dLbls>
        <c:smooth val="0"/>
        <c:axId val="1224776159"/>
        <c:axId val="1224765119"/>
      </c:lineChart>
      <c:dateAx>
        <c:axId val="1224776159"/>
        <c:scaling>
          <c:orientation val="minMax"/>
        </c:scaling>
        <c:delete val="0"/>
        <c:axPos val="b"/>
        <c:numFmt formatCode="mm/yy" sourceLinked="0"/>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CH"/>
          </a:p>
        </c:txPr>
        <c:crossAx val="1224765119"/>
        <c:crosses val="autoZero"/>
        <c:auto val="1"/>
        <c:lblOffset val="100"/>
        <c:baseTimeUnit val="days"/>
      </c:dateAx>
      <c:valAx>
        <c:axId val="1224765119"/>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CH"/>
          </a:p>
        </c:txPr>
        <c:crossAx val="122477615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Sheet1!$O$13</c:f>
              <c:strCache>
                <c:ptCount val="1"/>
                <c:pt idx="0">
                  <c:v>SPI Index TR</c:v>
                </c:pt>
              </c:strCache>
            </c:strRef>
          </c:tx>
          <c:spPr>
            <a:ln w="28575" cap="rnd">
              <a:solidFill>
                <a:schemeClr val="accent1"/>
              </a:solidFill>
              <a:round/>
            </a:ln>
            <a:effectLst/>
          </c:spPr>
          <c:marker>
            <c:symbol val="none"/>
          </c:marker>
          <c:cat>
            <c:numRef>
              <c:f>Sheet1!$N$14:$N$185</c:f>
              <c:numCache>
                <c:formatCode>m/d/yyyy</c:formatCode>
                <c:ptCount val="172"/>
                <c:pt idx="0">
                  <c:v>45905</c:v>
                </c:pt>
                <c:pt idx="1">
                  <c:v>45898</c:v>
                </c:pt>
                <c:pt idx="2">
                  <c:v>45891</c:v>
                </c:pt>
                <c:pt idx="3">
                  <c:v>45884</c:v>
                </c:pt>
                <c:pt idx="4">
                  <c:v>45877</c:v>
                </c:pt>
                <c:pt idx="5">
                  <c:v>45870</c:v>
                </c:pt>
                <c:pt idx="6">
                  <c:v>45863</c:v>
                </c:pt>
                <c:pt idx="7">
                  <c:v>45856</c:v>
                </c:pt>
                <c:pt idx="8">
                  <c:v>45849</c:v>
                </c:pt>
                <c:pt idx="9">
                  <c:v>45842</c:v>
                </c:pt>
                <c:pt idx="10">
                  <c:v>45835</c:v>
                </c:pt>
                <c:pt idx="11">
                  <c:v>45828</c:v>
                </c:pt>
                <c:pt idx="12">
                  <c:v>45821</c:v>
                </c:pt>
                <c:pt idx="13">
                  <c:v>45814</c:v>
                </c:pt>
                <c:pt idx="14">
                  <c:v>45807</c:v>
                </c:pt>
                <c:pt idx="15">
                  <c:v>45800</c:v>
                </c:pt>
                <c:pt idx="16">
                  <c:v>45793</c:v>
                </c:pt>
                <c:pt idx="17">
                  <c:v>45786</c:v>
                </c:pt>
                <c:pt idx="18">
                  <c:v>45779</c:v>
                </c:pt>
                <c:pt idx="19">
                  <c:v>45772</c:v>
                </c:pt>
                <c:pt idx="20">
                  <c:v>45765</c:v>
                </c:pt>
                <c:pt idx="21">
                  <c:v>45758</c:v>
                </c:pt>
                <c:pt idx="22">
                  <c:v>45751</c:v>
                </c:pt>
                <c:pt idx="23">
                  <c:v>45744</c:v>
                </c:pt>
                <c:pt idx="24">
                  <c:v>45737</c:v>
                </c:pt>
                <c:pt idx="25">
                  <c:v>45730</c:v>
                </c:pt>
                <c:pt idx="26">
                  <c:v>45723</c:v>
                </c:pt>
                <c:pt idx="27">
                  <c:v>45716</c:v>
                </c:pt>
                <c:pt idx="28">
                  <c:v>45709</c:v>
                </c:pt>
                <c:pt idx="29">
                  <c:v>45702</c:v>
                </c:pt>
                <c:pt idx="30">
                  <c:v>45695</c:v>
                </c:pt>
                <c:pt idx="31">
                  <c:v>45688</c:v>
                </c:pt>
                <c:pt idx="32">
                  <c:v>45681</c:v>
                </c:pt>
                <c:pt idx="33">
                  <c:v>45674</c:v>
                </c:pt>
                <c:pt idx="34">
                  <c:v>45667</c:v>
                </c:pt>
                <c:pt idx="35">
                  <c:v>45660</c:v>
                </c:pt>
                <c:pt idx="36">
                  <c:v>45653</c:v>
                </c:pt>
                <c:pt idx="37">
                  <c:v>45646</c:v>
                </c:pt>
                <c:pt idx="38">
                  <c:v>45639</c:v>
                </c:pt>
                <c:pt idx="39">
                  <c:v>45632</c:v>
                </c:pt>
                <c:pt idx="40">
                  <c:v>45625</c:v>
                </c:pt>
                <c:pt idx="41">
                  <c:v>45618</c:v>
                </c:pt>
                <c:pt idx="42">
                  <c:v>45611</c:v>
                </c:pt>
                <c:pt idx="43">
                  <c:v>45604</c:v>
                </c:pt>
                <c:pt idx="44">
                  <c:v>45597</c:v>
                </c:pt>
                <c:pt idx="45">
                  <c:v>45590</c:v>
                </c:pt>
                <c:pt idx="46">
                  <c:v>45583</c:v>
                </c:pt>
                <c:pt idx="47">
                  <c:v>45576</c:v>
                </c:pt>
                <c:pt idx="48">
                  <c:v>45569</c:v>
                </c:pt>
                <c:pt idx="49">
                  <c:v>45562</c:v>
                </c:pt>
                <c:pt idx="50">
                  <c:v>45555</c:v>
                </c:pt>
                <c:pt idx="51">
                  <c:v>45548</c:v>
                </c:pt>
                <c:pt idx="52">
                  <c:v>45541</c:v>
                </c:pt>
                <c:pt idx="53">
                  <c:v>45534</c:v>
                </c:pt>
                <c:pt idx="54">
                  <c:v>45527</c:v>
                </c:pt>
                <c:pt idx="55">
                  <c:v>45520</c:v>
                </c:pt>
                <c:pt idx="56">
                  <c:v>45513</c:v>
                </c:pt>
                <c:pt idx="57">
                  <c:v>45506</c:v>
                </c:pt>
                <c:pt idx="58">
                  <c:v>45499</c:v>
                </c:pt>
                <c:pt idx="59">
                  <c:v>45492</c:v>
                </c:pt>
                <c:pt idx="60">
                  <c:v>45485</c:v>
                </c:pt>
                <c:pt idx="61">
                  <c:v>45478</c:v>
                </c:pt>
                <c:pt idx="62">
                  <c:v>45471</c:v>
                </c:pt>
                <c:pt idx="63">
                  <c:v>45464</c:v>
                </c:pt>
                <c:pt idx="64">
                  <c:v>45457</c:v>
                </c:pt>
                <c:pt idx="65">
                  <c:v>45450</c:v>
                </c:pt>
                <c:pt idx="66">
                  <c:v>45443</c:v>
                </c:pt>
                <c:pt idx="67">
                  <c:v>45436</c:v>
                </c:pt>
                <c:pt idx="68">
                  <c:v>45429</c:v>
                </c:pt>
                <c:pt idx="69">
                  <c:v>45422</c:v>
                </c:pt>
                <c:pt idx="70">
                  <c:v>45415</c:v>
                </c:pt>
                <c:pt idx="71">
                  <c:v>45408</c:v>
                </c:pt>
                <c:pt idx="72">
                  <c:v>45401</c:v>
                </c:pt>
                <c:pt idx="73">
                  <c:v>45394</c:v>
                </c:pt>
                <c:pt idx="74">
                  <c:v>45387</c:v>
                </c:pt>
                <c:pt idx="75">
                  <c:v>45380</c:v>
                </c:pt>
                <c:pt idx="76">
                  <c:v>45373</c:v>
                </c:pt>
                <c:pt idx="77">
                  <c:v>45366</c:v>
                </c:pt>
                <c:pt idx="78">
                  <c:v>45359</c:v>
                </c:pt>
                <c:pt idx="79">
                  <c:v>45352</c:v>
                </c:pt>
                <c:pt idx="80">
                  <c:v>45345</c:v>
                </c:pt>
                <c:pt idx="81">
                  <c:v>45338</c:v>
                </c:pt>
                <c:pt idx="82">
                  <c:v>45331</c:v>
                </c:pt>
                <c:pt idx="83">
                  <c:v>45324</c:v>
                </c:pt>
                <c:pt idx="84">
                  <c:v>45317</c:v>
                </c:pt>
                <c:pt idx="85">
                  <c:v>45310</c:v>
                </c:pt>
                <c:pt idx="86">
                  <c:v>45303</c:v>
                </c:pt>
                <c:pt idx="87">
                  <c:v>45296</c:v>
                </c:pt>
                <c:pt idx="88">
                  <c:v>45289</c:v>
                </c:pt>
                <c:pt idx="89">
                  <c:v>45282</c:v>
                </c:pt>
                <c:pt idx="90">
                  <c:v>45275</c:v>
                </c:pt>
                <c:pt idx="91">
                  <c:v>45268</c:v>
                </c:pt>
                <c:pt idx="92">
                  <c:v>45261</c:v>
                </c:pt>
                <c:pt idx="93">
                  <c:v>45254</c:v>
                </c:pt>
                <c:pt idx="94">
                  <c:v>45247</c:v>
                </c:pt>
                <c:pt idx="95">
                  <c:v>45240</c:v>
                </c:pt>
                <c:pt idx="96">
                  <c:v>45233</c:v>
                </c:pt>
                <c:pt idx="97">
                  <c:v>45226</c:v>
                </c:pt>
                <c:pt idx="98">
                  <c:v>45219</c:v>
                </c:pt>
                <c:pt idx="99">
                  <c:v>45212</c:v>
                </c:pt>
                <c:pt idx="100">
                  <c:v>45205</c:v>
                </c:pt>
                <c:pt idx="101">
                  <c:v>45198</c:v>
                </c:pt>
                <c:pt idx="102">
                  <c:v>45191</c:v>
                </c:pt>
                <c:pt idx="103">
                  <c:v>45184</c:v>
                </c:pt>
                <c:pt idx="104">
                  <c:v>45177</c:v>
                </c:pt>
                <c:pt idx="105">
                  <c:v>45170</c:v>
                </c:pt>
                <c:pt idx="106">
                  <c:v>45163</c:v>
                </c:pt>
                <c:pt idx="107">
                  <c:v>45156</c:v>
                </c:pt>
                <c:pt idx="108">
                  <c:v>45149</c:v>
                </c:pt>
                <c:pt idx="109">
                  <c:v>45142</c:v>
                </c:pt>
                <c:pt idx="110">
                  <c:v>45135</c:v>
                </c:pt>
                <c:pt idx="111">
                  <c:v>45128</c:v>
                </c:pt>
                <c:pt idx="112">
                  <c:v>45121</c:v>
                </c:pt>
                <c:pt idx="113">
                  <c:v>45114</c:v>
                </c:pt>
                <c:pt idx="114">
                  <c:v>45107</c:v>
                </c:pt>
                <c:pt idx="115">
                  <c:v>45100</c:v>
                </c:pt>
                <c:pt idx="116">
                  <c:v>45093</c:v>
                </c:pt>
                <c:pt idx="117">
                  <c:v>45086</c:v>
                </c:pt>
                <c:pt idx="118">
                  <c:v>45079</c:v>
                </c:pt>
                <c:pt idx="119">
                  <c:v>45072</c:v>
                </c:pt>
                <c:pt idx="120">
                  <c:v>45065</c:v>
                </c:pt>
                <c:pt idx="121">
                  <c:v>45058</c:v>
                </c:pt>
                <c:pt idx="122">
                  <c:v>45051</c:v>
                </c:pt>
                <c:pt idx="123">
                  <c:v>45044</c:v>
                </c:pt>
                <c:pt idx="124">
                  <c:v>45037</c:v>
                </c:pt>
                <c:pt idx="125">
                  <c:v>45030</c:v>
                </c:pt>
                <c:pt idx="126">
                  <c:v>45023</c:v>
                </c:pt>
                <c:pt idx="127">
                  <c:v>45016</c:v>
                </c:pt>
                <c:pt idx="128">
                  <c:v>45009</c:v>
                </c:pt>
                <c:pt idx="129">
                  <c:v>45002</c:v>
                </c:pt>
                <c:pt idx="130">
                  <c:v>44995</c:v>
                </c:pt>
                <c:pt idx="131">
                  <c:v>44988</c:v>
                </c:pt>
                <c:pt idx="132">
                  <c:v>44981</c:v>
                </c:pt>
                <c:pt idx="133">
                  <c:v>44974</c:v>
                </c:pt>
                <c:pt idx="134">
                  <c:v>44967</c:v>
                </c:pt>
                <c:pt idx="135">
                  <c:v>44960</c:v>
                </c:pt>
                <c:pt idx="136">
                  <c:v>44953</c:v>
                </c:pt>
                <c:pt idx="137">
                  <c:v>44946</c:v>
                </c:pt>
                <c:pt idx="138">
                  <c:v>44939</c:v>
                </c:pt>
                <c:pt idx="139">
                  <c:v>44932</c:v>
                </c:pt>
                <c:pt idx="140">
                  <c:v>44925</c:v>
                </c:pt>
                <c:pt idx="141">
                  <c:v>44918</c:v>
                </c:pt>
                <c:pt idx="142">
                  <c:v>44911</c:v>
                </c:pt>
                <c:pt idx="143">
                  <c:v>44904</c:v>
                </c:pt>
                <c:pt idx="144">
                  <c:v>44897</c:v>
                </c:pt>
                <c:pt idx="145">
                  <c:v>44890</c:v>
                </c:pt>
                <c:pt idx="146">
                  <c:v>44883</c:v>
                </c:pt>
                <c:pt idx="147">
                  <c:v>44876</c:v>
                </c:pt>
                <c:pt idx="148">
                  <c:v>44869</c:v>
                </c:pt>
                <c:pt idx="149">
                  <c:v>44862</c:v>
                </c:pt>
                <c:pt idx="150">
                  <c:v>44855</c:v>
                </c:pt>
                <c:pt idx="151">
                  <c:v>44848</c:v>
                </c:pt>
                <c:pt idx="152">
                  <c:v>44841</c:v>
                </c:pt>
                <c:pt idx="153">
                  <c:v>44834</c:v>
                </c:pt>
                <c:pt idx="154">
                  <c:v>44827</c:v>
                </c:pt>
                <c:pt idx="155">
                  <c:v>44820</c:v>
                </c:pt>
                <c:pt idx="156">
                  <c:v>44813</c:v>
                </c:pt>
                <c:pt idx="157">
                  <c:v>44806</c:v>
                </c:pt>
                <c:pt idx="158">
                  <c:v>44799</c:v>
                </c:pt>
                <c:pt idx="159">
                  <c:v>44792</c:v>
                </c:pt>
                <c:pt idx="160">
                  <c:v>44785</c:v>
                </c:pt>
                <c:pt idx="161">
                  <c:v>44778</c:v>
                </c:pt>
                <c:pt idx="162">
                  <c:v>44771</c:v>
                </c:pt>
                <c:pt idx="163">
                  <c:v>44764</c:v>
                </c:pt>
                <c:pt idx="164">
                  <c:v>44757</c:v>
                </c:pt>
                <c:pt idx="165">
                  <c:v>44750</c:v>
                </c:pt>
                <c:pt idx="166">
                  <c:v>44743</c:v>
                </c:pt>
                <c:pt idx="167">
                  <c:v>44736</c:v>
                </c:pt>
                <c:pt idx="168">
                  <c:v>44729</c:v>
                </c:pt>
                <c:pt idx="169">
                  <c:v>44722</c:v>
                </c:pt>
                <c:pt idx="170">
                  <c:v>44715</c:v>
                </c:pt>
                <c:pt idx="171">
                  <c:v>44708</c:v>
                </c:pt>
              </c:numCache>
            </c:numRef>
          </c:cat>
          <c:val>
            <c:numRef>
              <c:f>Sheet1!$O$14:$O$185</c:f>
              <c:numCache>
                <c:formatCode>General</c:formatCode>
                <c:ptCount val="172"/>
                <c:pt idx="0">
                  <c:v>22.024000000000001</c:v>
                </c:pt>
                <c:pt idx="1">
                  <c:v>20.6157</c:v>
                </c:pt>
                <c:pt idx="2">
                  <c:v>21.555800000000001</c:v>
                </c:pt>
                <c:pt idx="3">
                  <c:v>19.622499999999999</c:v>
                </c:pt>
                <c:pt idx="4">
                  <c:v>18.1782</c:v>
                </c:pt>
                <c:pt idx="5">
                  <c:v>17.887599999999999</c:v>
                </c:pt>
                <c:pt idx="6">
                  <c:v>19.2181</c:v>
                </c:pt>
                <c:pt idx="7">
                  <c:v>19.4666</c:v>
                </c:pt>
                <c:pt idx="8">
                  <c:v>18.625699999999998</c:v>
                </c:pt>
                <c:pt idx="9">
                  <c:v>18.456600000000002</c:v>
                </c:pt>
                <c:pt idx="10">
                  <c:v>18.4725</c:v>
                </c:pt>
                <c:pt idx="11">
                  <c:v>17.334199999999999</c:v>
                </c:pt>
                <c:pt idx="12">
                  <c:v>19.626200000000001</c:v>
                </c:pt>
                <c:pt idx="13">
                  <c:v>21.577999999999999</c:v>
                </c:pt>
                <c:pt idx="14">
                  <c:v>20.205400000000001</c:v>
                </c:pt>
                <c:pt idx="15">
                  <c:v>19.650099999999998</c:v>
                </c:pt>
                <c:pt idx="16">
                  <c:v>20.593800000000002</c:v>
                </c:pt>
                <c:pt idx="17">
                  <c:v>18.040500000000002</c:v>
                </c:pt>
                <c:pt idx="18">
                  <c:v>19.029499999999999</c:v>
                </c:pt>
                <c:pt idx="19">
                  <c:v>15.643800000000001</c:v>
                </c:pt>
                <c:pt idx="20">
                  <c:v>12.0352</c:v>
                </c:pt>
                <c:pt idx="21">
                  <c:v>7.8087</c:v>
                </c:pt>
                <c:pt idx="22">
                  <c:v>10.9138</c:v>
                </c:pt>
                <c:pt idx="23">
                  <c:v>21.963999999999999</c:v>
                </c:pt>
                <c:pt idx="24">
                  <c:v>23.3491</c:v>
                </c:pt>
                <c:pt idx="25">
                  <c:v>21.937899999999999</c:v>
                </c:pt>
                <c:pt idx="26">
                  <c:v>22.9786</c:v>
                </c:pt>
                <c:pt idx="27">
                  <c:v>22.343</c:v>
                </c:pt>
                <c:pt idx="28">
                  <c:v>22.3843</c:v>
                </c:pt>
                <c:pt idx="29">
                  <c:v>21.5501</c:v>
                </c:pt>
                <c:pt idx="30">
                  <c:v>19.2042</c:v>
                </c:pt>
                <c:pt idx="31">
                  <c:v>19.427499999999998</c:v>
                </c:pt>
                <c:pt idx="32">
                  <c:v>16.782499999999999</c:v>
                </c:pt>
                <c:pt idx="33">
                  <c:v>14.021000000000001</c:v>
                </c:pt>
                <c:pt idx="34">
                  <c:v>12.1721</c:v>
                </c:pt>
                <c:pt idx="35">
                  <c:v>10.7043</c:v>
                </c:pt>
                <c:pt idx="36">
                  <c:v>10.314500000000001</c:v>
                </c:pt>
                <c:pt idx="37">
                  <c:v>8.4274000000000004</c:v>
                </c:pt>
                <c:pt idx="38">
                  <c:v>11.1556</c:v>
                </c:pt>
                <c:pt idx="39">
                  <c:v>11.956099999999999</c:v>
                </c:pt>
                <c:pt idx="40">
                  <c:v>11.8032</c:v>
                </c:pt>
                <c:pt idx="41">
                  <c:v>11.2258</c:v>
                </c:pt>
                <c:pt idx="42">
                  <c:v>10.4879</c:v>
                </c:pt>
                <c:pt idx="43">
                  <c:v>12.2216</c:v>
                </c:pt>
                <c:pt idx="44">
                  <c:v>13.636799999999999</c:v>
                </c:pt>
                <c:pt idx="45">
                  <c:v>15.606199999999999</c:v>
                </c:pt>
                <c:pt idx="46">
                  <c:v>16.9574</c:v>
                </c:pt>
                <c:pt idx="47">
                  <c:v>15.645300000000001</c:v>
                </c:pt>
                <c:pt idx="48">
                  <c:v>14.379</c:v>
                </c:pt>
                <c:pt idx="49">
                  <c:v>16.4467</c:v>
                </c:pt>
                <c:pt idx="50">
                  <c:v>13.3772</c:v>
                </c:pt>
                <c:pt idx="51">
                  <c:v>14.182700000000001</c:v>
                </c:pt>
                <c:pt idx="52">
                  <c:v>12.898999999999999</c:v>
                </c:pt>
                <c:pt idx="53">
                  <c:v>17.7361</c:v>
                </c:pt>
                <c:pt idx="54">
                  <c:v>16.986499999999999</c:v>
                </c:pt>
                <c:pt idx="55">
                  <c:v>15.588800000000001</c:v>
                </c:pt>
                <c:pt idx="56">
                  <c:v>12.654999999999999</c:v>
                </c:pt>
                <c:pt idx="57">
                  <c:v>12.7844</c:v>
                </c:pt>
                <c:pt idx="58">
                  <c:v>15.9009</c:v>
                </c:pt>
                <c:pt idx="59">
                  <c:v>15.2379</c:v>
                </c:pt>
                <c:pt idx="60">
                  <c:v>17.109400000000001</c:v>
                </c:pt>
                <c:pt idx="61">
                  <c:v>14.236599999999999</c:v>
                </c:pt>
                <c:pt idx="62">
                  <c:v>13.563800000000001</c:v>
                </c:pt>
                <c:pt idx="63">
                  <c:v>13.9236</c:v>
                </c:pt>
                <c:pt idx="64">
                  <c:v>14.096500000000001</c:v>
                </c:pt>
                <c:pt idx="65">
                  <c:v>16.021000000000001</c:v>
                </c:pt>
                <c:pt idx="66">
                  <c:v>14.0845</c:v>
                </c:pt>
                <c:pt idx="67">
                  <c:v>13.685600000000001</c:v>
                </c:pt>
                <c:pt idx="68">
                  <c:v>14.411899999999999</c:v>
                </c:pt>
                <c:pt idx="69">
                  <c:v>11.835800000000001</c:v>
                </c:pt>
                <c:pt idx="70">
                  <c:v>7.673</c:v>
                </c:pt>
                <c:pt idx="71">
                  <c:v>7.9762000000000004</c:v>
                </c:pt>
                <c:pt idx="72">
                  <c:v>6.8807</c:v>
                </c:pt>
                <c:pt idx="73">
                  <c:v>7.3716999999999997</c:v>
                </c:pt>
                <c:pt idx="74">
                  <c:v>8.1129999999999995</c:v>
                </c:pt>
                <c:pt idx="75">
                  <c:v>10.165100000000001</c:v>
                </c:pt>
                <c:pt idx="76">
                  <c:v>9.1965000000000003</c:v>
                </c:pt>
                <c:pt idx="77">
                  <c:v>9.3493999999999993</c:v>
                </c:pt>
                <c:pt idx="78">
                  <c:v>8.5725999999999996</c:v>
                </c:pt>
                <c:pt idx="79">
                  <c:v>6.5650000000000004</c:v>
                </c:pt>
                <c:pt idx="80">
                  <c:v>6.9123999999999999</c:v>
                </c:pt>
                <c:pt idx="81">
                  <c:v>5.5716999999999999</c:v>
                </c:pt>
                <c:pt idx="82">
                  <c:v>3.5510000000000002</c:v>
                </c:pt>
                <c:pt idx="83">
                  <c:v>4.6990999999999996</c:v>
                </c:pt>
                <c:pt idx="84">
                  <c:v>5.8582000000000001</c:v>
                </c:pt>
                <c:pt idx="85">
                  <c:v>3.5857999999999999</c:v>
                </c:pt>
                <c:pt idx="86">
                  <c:v>4.3747999999999996</c:v>
                </c:pt>
                <c:pt idx="87">
                  <c:v>4.04</c:v>
                </c:pt>
                <c:pt idx="88">
                  <c:v>3.9472</c:v>
                </c:pt>
                <c:pt idx="89">
                  <c:v>4.0198999999999998</c:v>
                </c:pt>
                <c:pt idx="90">
                  <c:v>4.5617000000000001</c:v>
                </c:pt>
                <c:pt idx="91">
                  <c:v>3.2149000000000001</c:v>
                </c:pt>
                <c:pt idx="92">
                  <c:v>1.7396</c:v>
                </c:pt>
                <c:pt idx="93">
                  <c:v>1.7796000000000001</c:v>
                </c:pt>
                <c:pt idx="94">
                  <c:v>0.75980000000000003</c:v>
                </c:pt>
                <c:pt idx="95">
                  <c:v>-1.123</c:v>
                </c:pt>
                <c:pt idx="96">
                  <c:v>-0.87890000000000001</c:v>
                </c:pt>
                <c:pt idx="97">
                  <c:v>-3.6354000000000002</c:v>
                </c:pt>
                <c:pt idx="98">
                  <c:v>-3.2042999999999999</c:v>
                </c:pt>
                <c:pt idx="99">
                  <c:v>1.5860000000000001</c:v>
                </c:pt>
                <c:pt idx="100">
                  <c:v>1.0327</c:v>
                </c:pt>
                <c:pt idx="101">
                  <c:v>2.5017</c:v>
                </c:pt>
                <c:pt idx="102">
                  <c:v>3.1724000000000001</c:v>
                </c:pt>
                <c:pt idx="103">
                  <c:v>4.7012999999999998</c:v>
                </c:pt>
                <c:pt idx="104">
                  <c:v>2.9382999999999999</c:v>
                </c:pt>
                <c:pt idx="105">
                  <c:v>4.1303999999999998</c:v>
                </c:pt>
                <c:pt idx="106">
                  <c:v>3.0369999999999999</c:v>
                </c:pt>
                <c:pt idx="107">
                  <c:v>2.0194999999999999</c:v>
                </c:pt>
                <c:pt idx="108">
                  <c:v>4.3228</c:v>
                </c:pt>
                <c:pt idx="109">
                  <c:v>4.5640000000000001</c:v>
                </c:pt>
                <c:pt idx="110">
                  <c:v>6.6037999999999997</c:v>
                </c:pt>
                <c:pt idx="111">
                  <c:v>5.3281999999999998</c:v>
                </c:pt>
                <c:pt idx="112">
                  <c:v>4.8662000000000001</c:v>
                </c:pt>
                <c:pt idx="113">
                  <c:v>2.5672999999999999</c:v>
                </c:pt>
                <c:pt idx="114">
                  <c:v>6.0198</c:v>
                </c:pt>
                <c:pt idx="115">
                  <c:v>5.2488999999999999</c:v>
                </c:pt>
                <c:pt idx="116">
                  <c:v>7.0507999999999997</c:v>
                </c:pt>
                <c:pt idx="117">
                  <c:v>5.7919999999999998</c:v>
                </c:pt>
                <c:pt idx="118">
                  <c:v>7.5439999999999996</c:v>
                </c:pt>
                <c:pt idx="119">
                  <c:v>7.4798</c:v>
                </c:pt>
                <c:pt idx="120">
                  <c:v>8.8216000000000001</c:v>
                </c:pt>
                <c:pt idx="121">
                  <c:v>8.7707999999999995</c:v>
                </c:pt>
                <c:pt idx="122">
                  <c:v>8.7666000000000004</c:v>
                </c:pt>
                <c:pt idx="123">
                  <c:v>7.5265000000000004</c:v>
                </c:pt>
                <c:pt idx="124">
                  <c:v>7.3583999999999996</c:v>
                </c:pt>
                <c:pt idx="125">
                  <c:v>6.0045000000000002</c:v>
                </c:pt>
                <c:pt idx="126">
                  <c:v>4.4951999999999996</c:v>
                </c:pt>
                <c:pt idx="127">
                  <c:v>3.7749000000000001</c:v>
                </c:pt>
                <c:pt idx="128">
                  <c:v>-0.56479999999999997</c:v>
                </c:pt>
                <c:pt idx="129">
                  <c:v>-0.80330000000000001</c:v>
                </c:pt>
                <c:pt idx="130">
                  <c:v>-0.20300000000000001</c:v>
                </c:pt>
                <c:pt idx="131">
                  <c:v>2.9857</c:v>
                </c:pt>
                <c:pt idx="132">
                  <c:v>2.6265999999999998</c:v>
                </c:pt>
                <c:pt idx="133">
                  <c:v>3.3727</c:v>
                </c:pt>
                <c:pt idx="134">
                  <c:v>2.2764000000000002</c:v>
                </c:pt>
                <c:pt idx="135">
                  <c:v>4.5034999999999998</c:v>
                </c:pt>
                <c:pt idx="136">
                  <c:v>3.8117999999999999</c:v>
                </c:pt>
                <c:pt idx="137">
                  <c:v>3.4487000000000001</c:v>
                </c:pt>
                <c:pt idx="138">
                  <c:v>3.3826999999999998</c:v>
                </c:pt>
                <c:pt idx="139">
                  <c:v>1.8391999999999999</c:v>
                </c:pt>
                <c:pt idx="140">
                  <c:v>-2.0192999999999999</c:v>
                </c:pt>
                <c:pt idx="141">
                  <c:v>-1.4367000000000001</c:v>
                </c:pt>
                <c:pt idx="142">
                  <c:v>-1.7959000000000001</c:v>
                </c:pt>
                <c:pt idx="143">
                  <c:v>0.67759999999999998</c:v>
                </c:pt>
                <c:pt idx="144">
                  <c:v>2.0752000000000002</c:v>
                </c:pt>
                <c:pt idx="145">
                  <c:v>1.9560999999999999</c:v>
                </c:pt>
                <c:pt idx="146">
                  <c:v>0.69650000000000001</c:v>
                </c:pt>
                <c:pt idx="147">
                  <c:v>1.7002999999999999</c:v>
                </c:pt>
                <c:pt idx="148">
                  <c:v>-1.8544</c:v>
                </c:pt>
                <c:pt idx="149">
                  <c:v>-2.0270999999999999</c:v>
                </c:pt>
                <c:pt idx="150">
                  <c:v>-4.9621000000000004</c:v>
                </c:pt>
                <c:pt idx="151">
                  <c:v>-5.8518999999999997</c:v>
                </c:pt>
                <c:pt idx="152">
                  <c:v>-5.8992000000000004</c:v>
                </c:pt>
                <c:pt idx="153">
                  <c:v>-6.0747</c:v>
                </c:pt>
                <c:pt idx="154">
                  <c:v>-7.1547999999999998</c:v>
                </c:pt>
                <c:pt idx="155">
                  <c:v>-3.1019000000000001</c:v>
                </c:pt>
                <c:pt idx="156">
                  <c:v>-0.16270000000000001</c:v>
                </c:pt>
                <c:pt idx="157">
                  <c:v>0</c:v>
                </c:pt>
                <c:pt idx="158">
                  <c:v>0.65620000000000001</c:v>
                </c:pt>
                <c:pt idx="159">
                  <c:v>2.7949000000000002</c:v>
                </c:pt>
                <c:pt idx="160">
                  <c:v>3.0228999999999999</c:v>
                </c:pt>
                <c:pt idx="161">
                  <c:v>2.8347000000000002</c:v>
                </c:pt>
                <c:pt idx="162">
                  <c:v>3.0566</c:v>
                </c:pt>
                <c:pt idx="163">
                  <c:v>2.31</c:v>
                </c:pt>
                <c:pt idx="164">
                  <c:v>1.026</c:v>
                </c:pt>
                <c:pt idx="165">
                  <c:v>1.3469</c:v>
                </c:pt>
                <c:pt idx="166">
                  <c:v>-0.99009999999999998</c:v>
                </c:pt>
                <c:pt idx="167">
                  <c:v>-0.51349999999999996</c:v>
                </c:pt>
                <c:pt idx="168">
                  <c:v>-3.9771000000000001</c:v>
                </c:pt>
                <c:pt idx="169">
                  <c:v>1.6277999999999999</c:v>
                </c:pt>
                <c:pt idx="170">
                  <c:v>5.5945999999999998</c:v>
                </c:pt>
                <c:pt idx="171">
                  <c:v>6.5880999999999998</c:v>
                </c:pt>
              </c:numCache>
            </c:numRef>
          </c:val>
          <c:smooth val="0"/>
          <c:extLst>
            <c:ext xmlns:c16="http://schemas.microsoft.com/office/drawing/2014/chart" uri="{C3380CC4-5D6E-409C-BE32-E72D297353CC}">
              <c16:uniqueId val="{00000000-3F3D-4331-99A0-C67349C5421A}"/>
            </c:ext>
          </c:extLst>
        </c:ser>
        <c:ser>
          <c:idx val="1"/>
          <c:order val="1"/>
          <c:tx>
            <c:strRef>
              <c:f>Sheet1!$P$13</c:f>
              <c:strCache>
                <c:ptCount val="1"/>
                <c:pt idx="0">
                  <c:v>UBS Swiss Income Fund</c:v>
                </c:pt>
              </c:strCache>
            </c:strRef>
          </c:tx>
          <c:spPr>
            <a:ln w="28575" cap="rnd">
              <a:solidFill>
                <a:schemeClr val="accent2"/>
              </a:solidFill>
              <a:round/>
            </a:ln>
            <a:effectLst/>
          </c:spPr>
          <c:marker>
            <c:symbol val="none"/>
          </c:marker>
          <c:cat>
            <c:numRef>
              <c:f>Sheet1!$N$14:$N$185</c:f>
              <c:numCache>
                <c:formatCode>m/d/yyyy</c:formatCode>
                <c:ptCount val="172"/>
                <c:pt idx="0">
                  <c:v>45905</c:v>
                </c:pt>
                <c:pt idx="1">
                  <c:v>45898</c:v>
                </c:pt>
                <c:pt idx="2">
                  <c:v>45891</c:v>
                </c:pt>
                <c:pt idx="3">
                  <c:v>45884</c:v>
                </c:pt>
                <c:pt idx="4">
                  <c:v>45877</c:v>
                </c:pt>
                <c:pt idx="5">
                  <c:v>45870</c:v>
                </c:pt>
                <c:pt idx="6">
                  <c:v>45863</c:v>
                </c:pt>
                <c:pt idx="7">
                  <c:v>45856</c:v>
                </c:pt>
                <c:pt idx="8">
                  <c:v>45849</c:v>
                </c:pt>
                <c:pt idx="9">
                  <c:v>45842</c:v>
                </c:pt>
                <c:pt idx="10">
                  <c:v>45835</c:v>
                </c:pt>
                <c:pt idx="11">
                  <c:v>45828</c:v>
                </c:pt>
                <c:pt idx="12">
                  <c:v>45821</c:v>
                </c:pt>
                <c:pt idx="13">
                  <c:v>45814</c:v>
                </c:pt>
                <c:pt idx="14">
                  <c:v>45807</c:v>
                </c:pt>
                <c:pt idx="15">
                  <c:v>45800</c:v>
                </c:pt>
                <c:pt idx="16">
                  <c:v>45793</c:v>
                </c:pt>
                <c:pt idx="17">
                  <c:v>45786</c:v>
                </c:pt>
                <c:pt idx="18">
                  <c:v>45779</c:v>
                </c:pt>
                <c:pt idx="19">
                  <c:v>45772</c:v>
                </c:pt>
                <c:pt idx="20">
                  <c:v>45765</c:v>
                </c:pt>
                <c:pt idx="21">
                  <c:v>45758</c:v>
                </c:pt>
                <c:pt idx="22">
                  <c:v>45751</c:v>
                </c:pt>
                <c:pt idx="23">
                  <c:v>45744</c:v>
                </c:pt>
                <c:pt idx="24">
                  <c:v>45737</c:v>
                </c:pt>
                <c:pt idx="25">
                  <c:v>45730</c:v>
                </c:pt>
                <c:pt idx="26">
                  <c:v>45723</c:v>
                </c:pt>
                <c:pt idx="27">
                  <c:v>45716</c:v>
                </c:pt>
                <c:pt idx="28">
                  <c:v>45709</c:v>
                </c:pt>
                <c:pt idx="29">
                  <c:v>45702</c:v>
                </c:pt>
                <c:pt idx="30">
                  <c:v>45695</c:v>
                </c:pt>
                <c:pt idx="31">
                  <c:v>45688</c:v>
                </c:pt>
                <c:pt idx="32">
                  <c:v>45681</c:v>
                </c:pt>
                <c:pt idx="33">
                  <c:v>45674</c:v>
                </c:pt>
                <c:pt idx="34">
                  <c:v>45667</c:v>
                </c:pt>
                <c:pt idx="35">
                  <c:v>45660</c:v>
                </c:pt>
                <c:pt idx="36">
                  <c:v>45653</c:v>
                </c:pt>
                <c:pt idx="37">
                  <c:v>45646</c:v>
                </c:pt>
                <c:pt idx="38">
                  <c:v>45639</c:v>
                </c:pt>
                <c:pt idx="39">
                  <c:v>45632</c:v>
                </c:pt>
                <c:pt idx="40">
                  <c:v>45625</c:v>
                </c:pt>
                <c:pt idx="41">
                  <c:v>45618</c:v>
                </c:pt>
                <c:pt idx="42">
                  <c:v>45611</c:v>
                </c:pt>
                <c:pt idx="43">
                  <c:v>45604</c:v>
                </c:pt>
                <c:pt idx="44">
                  <c:v>45597</c:v>
                </c:pt>
                <c:pt idx="45">
                  <c:v>45590</c:v>
                </c:pt>
                <c:pt idx="46">
                  <c:v>45583</c:v>
                </c:pt>
                <c:pt idx="47">
                  <c:v>45576</c:v>
                </c:pt>
                <c:pt idx="48">
                  <c:v>45569</c:v>
                </c:pt>
                <c:pt idx="49">
                  <c:v>45562</c:v>
                </c:pt>
                <c:pt idx="50">
                  <c:v>45555</c:v>
                </c:pt>
                <c:pt idx="51">
                  <c:v>45548</c:v>
                </c:pt>
                <c:pt idx="52">
                  <c:v>45541</c:v>
                </c:pt>
                <c:pt idx="53">
                  <c:v>45534</c:v>
                </c:pt>
                <c:pt idx="54">
                  <c:v>45527</c:v>
                </c:pt>
                <c:pt idx="55">
                  <c:v>45520</c:v>
                </c:pt>
                <c:pt idx="56">
                  <c:v>45513</c:v>
                </c:pt>
                <c:pt idx="57">
                  <c:v>45506</c:v>
                </c:pt>
                <c:pt idx="58">
                  <c:v>45499</c:v>
                </c:pt>
                <c:pt idx="59">
                  <c:v>45492</c:v>
                </c:pt>
                <c:pt idx="60">
                  <c:v>45485</c:v>
                </c:pt>
                <c:pt idx="61">
                  <c:v>45478</c:v>
                </c:pt>
                <c:pt idx="62">
                  <c:v>45471</c:v>
                </c:pt>
                <c:pt idx="63">
                  <c:v>45464</c:v>
                </c:pt>
                <c:pt idx="64">
                  <c:v>45457</c:v>
                </c:pt>
                <c:pt idx="65">
                  <c:v>45450</c:v>
                </c:pt>
                <c:pt idx="66">
                  <c:v>45443</c:v>
                </c:pt>
                <c:pt idx="67">
                  <c:v>45436</c:v>
                </c:pt>
                <c:pt idx="68">
                  <c:v>45429</c:v>
                </c:pt>
                <c:pt idx="69">
                  <c:v>45422</c:v>
                </c:pt>
                <c:pt idx="70">
                  <c:v>45415</c:v>
                </c:pt>
                <c:pt idx="71">
                  <c:v>45408</c:v>
                </c:pt>
                <c:pt idx="72">
                  <c:v>45401</c:v>
                </c:pt>
                <c:pt idx="73">
                  <c:v>45394</c:v>
                </c:pt>
                <c:pt idx="74">
                  <c:v>45387</c:v>
                </c:pt>
                <c:pt idx="75">
                  <c:v>45380</c:v>
                </c:pt>
                <c:pt idx="76">
                  <c:v>45373</c:v>
                </c:pt>
                <c:pt idx="77">
                  <c:v>45366</c:v>
                </c:pt>
                <c:pt idx="78">
                  <c:v>45359</c:v>
                </c:pt>
                <c:pt idx="79">
                  <c:v>45352</c:v>
                </c:pt>
                <c:pt idx="80">
                  <c:v>45345</c:v>
                </c:pt>
                <c:pt idx="81">
                  <c:v>45338</c:v>
                </c:pt>
                <c:pt idx="82">
                  <c:v>45331</c:v>
                </c:pt>
                <c:pt idx="83">
                  <c:v>45324</c:v>
                </c:pt>
                <c:pt idx="84">
                  <c:v>45317</c:v>
                </c:pt>
                <c:pt idx="85">
                  <c:v>45310</c:v>
                </c:pt>
                <c:pt idx="86">
                  <c:v>45303</c:v>
                </c:pt>
                <c:pt idx="87">
                  <c:v>45296</c:v>
                </c:pt>
                <c:pt idx="88">
                  <c:v>45289</c:v>
                </c:pt>
                <c:pt idx="89">
                  <c:v>45282</c:v>
                </c:pt>
                <c:pt idx="90">
                  <c:v>45275</c:v>
                </c:pt>
                <c:pt idx="91">
                  <c:v>45268</c:v>
                </c:pt>
                <c:pt idx="92">
                  <c:v>45261</c:v>
                </c:pt>
                <c:pt idx="93">
                  <c:v>45254</c:v>
                </c:pt>
                <c:pt idx="94">
                  <c:v>45247</c:v>
                </c:pt>
                <c:pt idx="95">
                  <c:v>45240</c:v>
                </c:pt>
                <c:pt idx="96">
                  <c:v>45233</c:v>
                </c:pt>
                <c:pt idx="97">
                  <c:v>45226</c:v>
                </c:pt>
                <c:pt idx="98">
                  <c:v>45219</c:v>
                </c:pt>
                <c:pt idx="99">
                  <c:v>45212</c:v>
                </c:pt>
                <c:pt idx="100">
                  <c:v>45205</c:v>
                </c:pt>
                <c:pt idx="101">
                  <c:v>45198</c:v>
                </c:pt>
                <c:pt idx="102">
                  <c:v>45191</c:v>
                </c:pt>
                <c:pt idx="103">
                  <c:v>45184</c:v>
                </c:pt>
                <c:pt idx="104">
                  <c:v>45177</c:v>
                </c:pt>
                <c:pt idx="105">
                  <c:v>45170</c:v>
                </c:pt>
                <c:pt idx="106">
                  <c:v>45163</c:v>
                </c:pt>
                <c:pt idx="107">
                  <c:v>45156</c:v>
                </c:pt>
                <c:pt idx="108">
                  <c:v>45149</c:v>
                </c:pt>
                <c:pt idx="109">
                  <c:v>45142</c:v>
                </c:pt>
                <c:pt idx="110">
                  <c:v>45135</c:v>
                </c:pt>
                <c:pt idx="111">
                  <c:v>45128</c:v>
                </c:pt>
                <c:pt idx="112">
                  <c:v>45121</c:v>
                </c:pt>
                <c:pt idx="113">
                  <c:v>45114</c:v>
                </c:pt>
                <c:pt idx="114">
                  <c:v>45107</c:v>
                </c:pt>
                <c:pt idx="115">
                  <c:v>45100</c:v>
                </c:pt>
                <c:pt idx="116">
                  <c:v>45093</c:v>
                </c:pt>
                <c:pt idx="117">
                  <c:v>45086</c:v>
                </c:pt>
                <c:pt idx="118">
                  <c:v>45079</c:v>
                </c:pt>
                <c:pt idx="119">
                  <c:v>45072</c:v>
                </c:pt>
                <c:pt idx="120">
                  <c:v>45065</c:v>
                </c:pt>
                <c:pt idx="121">
                  <c:v>45058</c:v>
                </c:pt>
                <c:pt idx="122">
                  <c:v>45051</c:v>
                </c:pt>
                <c:pt idx="123">
                  <c:v>45044</c:v>
                </c:pt>
                <c:pt idx="124">
                  <c:v>45037</c:v>
                </c:pt>
                <c:pt idx="125">
                  <c:v>45030</c:v>
                </c:pt>
                <c:pt idx="126">
                  <c:v>45023</c:v>
                </c:pt>
                <c:pt idx="127">
                  <c:v>45016</c:v>
                </c:pt>
                <c:pt idx="128">
                  <c:v>45009</c:v>
                </c:pt>
                <c:pt idx="129">
                  <c:v>45002</c:v>
                </c:pt>
                <c:pt idx="130">
                  <c:v>44995</c:v>
                </c:pt>
                <c:pt idx="131">
                  <c:v>44988</c:v>
                </c:pt>
                <c:pt idx="132">
                  <c:v>44981</c:v>
                </c:pt>
                <c:pt idx="133">
                  <c:v>44974</c:v>
                </c:pt>
                <c:pt idx="134">
                  <c:v>44967</c:v>
                </c:pt>
                <c:pt idx="135">
                  <c:v>44960</c:v>
                </c:pt>
                <c:pt idx="136">
                  <c:v>44953</c:v>
                </c:pt>
                <c:pt idx="137">
                  <c:v>44946</c:v>
                </c:pt>
                <c:pt idx="138">
                  <c:v>44939</c:v>
                </c:pt>
                <c:pt idx="139">
                  <c:v>44932</c:v>
                </c:pt>
                <c:pt idx="140">
                  <c:v>44925</c:v>
                </c:pt>
                <c:pt idx="141">
                  <c:v>44918</c:v>
                </c:pt>
                <c:pt idx="142">
                  <c:v>44911</c:v>
                </c:pt>
                <c:pt idx="143">
                  <c:v>44904</c:v>
                </c:pt>
                <c:pt idx="144">
                  <c:v>44897</c:v>
                </c:pt>
                <c:pt idx="145">
                  <c:v>44890</c:v>
                </c:pt>
                <c:pt idx="146">
                  <c:v>44883</c:v>
                </c:pt>
                <c:pt idx="147">
                  <c:v>44876</c:v>
                </c:pt>
                <c:pt idx="148">
                  <c:v>44869</c:v>
                </c:pt>
                <c:pt idx="149">
                  <c:v>44862</c:v>
                </c:pt>
                <c:pt idx="150">
                  <c:v>44855</c:v>
                </c:pt>
                <c:pt idx="151">
                  <c:v>44848</c:v>
                </c:pt>
                <c:pt idx="152">
                  <c:v>44841</c:v>
                </c:pt>
                <c:pt idx="153">
                  <c:v>44834</c:v>
                </c:pt>
                <c:pt idx="154">
                  <c:v>44827</c:v>
                </c:pt>
                <c:pt idx="155">
                  <c:v>44820</c:v>
                </c:pt>
                <c:pt idx="156">
                  <c:v>44813</c:v>
                </c:pt>
                <c:pt idx="157">
                  <c:v>44806</c:v>
                </c:pt>
                <c:pt idx="158">
                  <c:v>44799</c:v>
                </c:pt>
                <c:pt idx="159">
                  <c:v>44792</c:v>
                </c:pt>
                <c:pt idx="160">
                  <c:v>44785</c:v>
                </c:pt>
                <c:pt idx="161">
                  <c:v>44778</c:v>
                </c:pt>
                <c:pt idx="162">
                  <c:v>44771</c:v>
                </c:pt>
                <c:pt idx="163">
                  <c:v>44764</c:v>
                </c:pt>
                <c:pt idx="164">
                  <c:v>44757</c:v>
                </c:pt>
                <c:pt idx="165">
                  <c:v>44750</c:v>
                </c:pt>
                <c:pt idx="166">
                  <c:v>44743</c:v>
                </c:pt>
                <c:pt idx="167">
                  <c:v>44736</c:v>
                </c:pt>
                <c:pt idx="168">
                  <c:v>44729</c:v>
                </c:pt>
                <c:pt idx="169">
                  <c:v>44722</c:v>
                </c:pt>
                <c:pt idx="170">
                  <c:v>44715</c:v>
                </c:pt>
                <c:pt idx="171">
                  <c:v>44708</c:v>
                </c:pt>
              </c:numCache>
            </c:numRef>
          </c:cat>
          <c:val>
            <c:numRef>
              <c:f>Sheet1!$P$14:$P$185</c:f>
              <c:numCache>
                <c:formatCode>General</c:formatCode>
                <c:ptCount val="172"/>
                <c:pt idx="0">
                  <c:v>26.3916</c:v>
                </c:pt>
                <c:pt idx="1">
                  <c:v>25.3706</c:v>
                </c:pt>
                <c:pt idx="2">
                  <c:v>26.2729</c:v>
                </c:pt>
                <c:pt idx="3">
                  <c:v>24.337700000000002</c:v>
                </c:pt>
                <c:pt idx="4">
                  <c:v>23.435400000000001</c:v>
                </c:pt>
                <c:pt idx="5">
                  <c:v>22.64</c:v>
                </c:pt>
                <c:pt idx="6">
                  <c:v>23.399799999999999</c:v>
                </c:pt>
                <c:pt idx="7">
                  <c:v>24.183399999999999</c:v>
                </c:pt>
                <c:pt idx="8">
                  <c:v>22.841799999999999</c:v>
                </c:pt>
                <c:pt idx="9">
                  <c:v>22.604399999999998</c:v>
                </c:pt>
                <c:pt idx="10">
                  <c:v>22.426300000000001</c:v>
                </c:pt>
                <c:pt idx="11">
                  <c:v>21.2865</c:v>
                </c:pt>
                <c:pt idx="12">
                  <c:v>23.067399999999999</c:v>
                </c:pt>
                <c:pt idx="13">
                  <c:v>25.3706</c:v>
                </c:pt>
                <c:pt idx="14">
                  <c:v>24.040900000000001</c:v>
                </c:pt>
                <c:pt idx="15">
                  <c:v>23.6966</c:v>
                </c:pt>
                <c:pt idx="16">
                  <c:v>24.1952</c:v>
                </c:pt>
                <c:pt idx="17">
                  <c:v>22.4619</c:v>
                </c:pt>
                <c:pt idx="18">
                  <c:v>22.841799999999999</c:v>
                </c:pt>
                <c:pt idx="19">
                  <c:v>20.1112</c:v>
                </c:pt>
                <c:pt idx="20">
                  <c:v>16.9057</c:v>
                </c:pt>
                <c:pt idx="21">
                  <c:v>12.4536</c:v>
                </c:pt>
                <c:pt idx="22">
                  <c:v>15.3979</c:v>
                </c:pt>
                <c:pt idx="23">
                  <c:v>25.299299999999999</c:v>
                </c:pt>
                <c:pt idx="24">
                  <c:v>26.3797</c:v>
                </c:pt>
                <c:pt idx="25">
                  <c:v>25.109400000000001</c:v>
                </c:pt>
                <c:pt idx="26">
                  <c:v>25.786100000000001</c:v>
                </c:pt>
                <c:pt idx="27">
                  <c:v>25.109400000000001</c:v>
                </c:pt>
                <c:pt idx="28">
                  <c:v>24.717600000000001</c:v>
                </c:pt>
                <c:pt idx="29">
                  <c:v>24.432700000000001</c:v>
                </c:pt>
                <c:pt idx="30">
                  <c:v>22.984300000000001</c:v>
                </c:pt>
                <c:pt idx="31">
                  <c:v>22.924900000000001</c:v>
                </c:pt>
                <c:pt idx="32">
                  <c:v>21.061</c:v>
                </c:pt>
                <c:pt idx="33">
                  <c:v>19.588799999999999</c:v>
                </c:pt>
                <c:pt idx="34">
                  <c:v>18.290199999999999</c:v>
                </c:pt>
                <c:pt idx="35">
                  <c:v>17.600899999999999</c:v>
                </c:pt>
                <c:pt idx="36">
                  <c:v>16.8782</c:v>
                </c:pt>
                <c:pt idx="37">
                  <c:v>15.0436</c:v>
                </c:pt>
                <c:pt idx="38">
                  <c:v>17.923300000000001</c:v>
                </c:pt>
                <c:pt idx="39">
                  <c:v>18.5793</c:v>
                </c:pt>
                <c:pt idx="40">
                  <c:v>18.3569</c:v>
                </c:pt>
                <c:pt idx="41">
                  <c:v>17.989999999999998</c:v>
                </c:pt>
                <c:pt idx="42">
                  <c:v>16.678000000000001</c:v>
                </c:pt>
                <c:pt idx="43">
                  <c:v>17.867699999999999</c:v>
                </c:pt>
                <c:pt idx="44">
                  <c:v>18.3903</c:v>
                </c:pt>
                <c:pt idx="45">
                  <c:v>20.135899999999999</c:v>
                </c:pt>
                <c:pt idx="46">
                  <c:v>21.559100000000001</c:v>
                </c:pt>
                <c:pt idx="47">
                  <c:v>20.135899999999999</c:v>
                </c:pt>
                <c:pt idx="48">
                  <c:v>18.757200000000001</c:v>
                </c:pt>
                <c:pt idx="49">
                  <c:v>20.502800000000001</c:v>
                </c:pt>
                <c:pt idx="50">
                  <c:v>18.523700000000002</c:v>
                </c:pt>
                <c:pt idx="51">
                  <c:v>18.701599999999999</c:v>
                </c:pt>
                <c:pt idx="52">
                  <c:v>17.200600000000001</c:v>
                </c:pt>
                <c:pt idx="53">
                  <c:v>20.8475</c:v>
                </c:pt>
                <c:pt idx="54">
                  <c:v>19.9802</c:v>
                </c:pt>
                <c:pt idx="55">
                  <c:v>18.835000000000001</c:v>
                </c:pt>
                <c:pt idx="56">
                  <c:v>15.977600000000001</c:v>
                </c:pt>
                <c:pt idx="57">
                  <c:v>15.977600000000001</c:v>
                </c:pt>
                <c:pt idx="58">
                  <c:v>19.190799999999999</c:v>
                </c:pt>
                <c:pt idx="59">
                  <c:v>18.6571</c:v>
                </c:pt>
                <c:pt idx="60">
                  <c:v>20.402699999999999</c:v>
                </c:pt>
                <c:pt idx="61">
                  <c:v>17.678699999999999</c:v>
                </c:pt>
                <c:pt idx="62">
                  <c:v>17.189499999999999</c:v>
                </c:pt>
                <c:pt idx="63">
                  <c:v>17.678699999999999</c:v>
                </c:pt>
                <c:pt idx="64">
                  <c:v>17.145</c:v>
                </c:pt>
                <c:pt idx="65">
                  <c:v>18.901700000000002</c:v>
                </c:pt>
                <c:pt idx="66">
                  <c:v>17.400700000000001</c:v>
                </c:pt>
                <c:pt idx="67">
                  <c:v>17.1005</c:v>
                </c:pt>
                <c:pt idx="68">
                  <c:v>17.245100000000001</c:v>
                </c:pt>
                <c:pt idx="69">
                  <c:v>15.6996</c:v>
                </c:pt>
                <c:pt idx="70">
                  <c:v>12.0527</c:v>
                </c:pt>
                <c:pt idx="71">
                  <c:v>12.1083</c:v>
                </c:pt>
                <c:pt idx="72">
                  <c:v>11.207700000000001</c:v>
                </c:pt>
                <c:pt idx="73">
                  <c:v>11.585699999999999</c:v>
                </c:pt>
                <c:pt idx="74">
                  <c:v>12.4419</c:v>
                </c:pt>
                <c:pt idx="75">
                  <c:v>14.365399999999999</c:v>
                </c:pt>
                <c:pt idx="76">
                  <c:v>13.5648</c:v>
                </c:pt>
                <c:pt idx="77">
                  <c:v>13.153499999999999</c:v>
                </c:pt>
                <c:pt idx="78">
                  <c:v>12.2973</c:v>
                </c:pt>
                <c:pt idx="79">
                  <c:v>10.262600000000001</c:v>
                </c:pt>
                <c:pt idx="80">
                  <c:v>10.807399999999999</c:v>
                </c:pt>
                <c:pt idx="81">
                  <c:v>8.8394999999999992</c:v>
                </c:pt>
                <c:pt idx="82">
                  <c:v>6.9603999999999999</c:v>
                </c:pt>
                <c:pt idx="83">
                  <c:v>8.3169000000000004</c:v>
                </c:pt>
                <c:pt idx="84">
                  <c:v>9.2174999999999994</c:v>
                </c:pt>
                <c:pt idx="85">
                  <c:v>6.7157999999999998</c:v>
                </c:pt>
                <c:pt idx="86">
                  <c:v>7.6942000000000004</c:v>
                </c:pt>
                <c:pt idx="87">
                  <c:v>7.2107999999999999</c:v>
                </c:pt>
                <c:pt idx="88">
                  <c:v>7.2419000000000002</c:v>
                </c:pt>
                <c:pt idx="89">
                  <c:v>7.2107999999999999</c:v>
                </c:pt>
                <c:pt idx="90">
                  <c:v>7.3456999999999999</c:v>
                </c:pt>
                <c:pt idx="91">
                  <c:v>6.7332000000000001</c:v>
                </c:pt>
                <c:pt idx="92">
                  <c:v>5.6222000000000003</c:v>
                </c:pt>
                <c:pt idx="93">
                  <c:v>5.6534000000000004</c:v>
                </c:pt>
                <c:pt idx="94">
                  <c:v>4.6463000000000001</c:v>
                </c:pt>
                <c:pt idx="95">
                  <c:v>2.8085</c:v>
                </c:pt>
                <c:pt idx="96">
                  <c:v>2.9020000000000001</c:v>
                </c:pt>
                <c:pt idx="97">
                  <c:v>0.3271</c:v>
                </c:pt>
                <c:pt idx="98">
                  <c:v>0.25440000000000002</c:v>
                </c:pt>
                <c:pt idx="99">
                  <c:v>4.4282000000000004</c:v>
                </c:pt>
                <c:pt idx="100">
                  <c:v>3.7637</c:v>
                </c:pt>
                <c:pt idx="101">
                  <c:v>5.1031000000000004</c:v>
                </c:pt>
                <c:pt idx="102">
                  <c:v>5.3834</c:v>
                </c:pt>
                <c:pt idx="103">
                  <c:v>6.5046999999999997</c:v>
                </c:pt>
                <c:pt idx="104">
                  <c:v>4.7708000000000004</c:v>
                </c:pt>
                <c:pt idx="105">
                  <c:v>5.9648000000000003</c:v>
                </c:pt>
                <c:pt idx="106">
                  <c:v>4.6773999999999996</c:v>
                </c:pt>
                <c:pt idx="107">
                  <c:v>3.6080000000000001</c:v>
                </c:pt>
                <c:pt idx="108">
                  <c:v>5.7157</c:v>
                </c:pt>
                <c:pt idx="109">
                  <c:v>5.6117999999999997</c:v>
                </c:pt>
                <c:pt idx="110">
                  <c:v>7.6157000000000004</c:v>
                </c:pt>
                <c:pt idx="111">
                  <c:v>6.8162000000000003</c:v>
                </c:pt>
                <c:pt idx="112">
                  <c:v>6.6086</c:v>
                </c:pt>
                <c:pt idx="113">
                  <c:v>4.7812000000000001</c:v>
                </c:pt>
                <c:pt idx="114">
                  <c:v>7.5637999999999996</c:v>
                </c:pt>
                <c:pt idx="115">
                  <c:v>6.9408000000000003</c:v>
                </c:pt>
                <c:pt idx="116">
                  <c:v>8.6332000000000004</c:v>
                </c:pt>
                <c:pt idx="117">
                  <c:v>7.3769</c:v>
                </c:pt>
                <c:pt idx="118">
                  <c:v>8.7682000000000002</c:v>
                </c:pt>
                <c:pt idx="119">
                  <c:v>8.4254999999999995</c:v>
                </c:pt>
                <c:pt idx="120">
                  <c:v>9.7026000000000003</c:v>
                </c:pt>
                <c:pt idx="121">
                  <c:v>9.6402999999999999</c:v>
                </c:pt>
                <c:pt idx="122">
                  <c:v>9.5988000000000007</c:v>
                </c:pt>
                <c:pt idx="123">
                  <c:v>9.0692000000000004</c:v>
                </c:pt>
                <c:pt idx="124">
                  <c:v>8.9238999999999997</c:v>
                </c:pt>
                <c:pt idx="125">
                  <c:v>8.0620999999999992</c:v>
                </c:pt>
                <c:pt idx="126">
                  <c:v>6.4736000000000002</c:v>
                </c:pt>
                <c:pt idx="127">
                  <c:v>5.9648000000000003</c:v>
                </c:pt>
                <c:pt idx="128">
                  <c:v>1.6042000000000001</c:v>
                </c:pt>
                <c:pt idx="129">
                  <c:v>0.86699999999999999</c:v>
                </c:pt>
                <c:pt idx="130">
                  <c:v>2.9746999999999999</c:v>
                </c:pt>
                <c:pt idx="131">
                  <c:v>6.0894000000000004</c:v>
                </c:pt>
                <c:pt idx="132">
                  <c:v>5.1550000000000002</c:v>
                </c:pt>
                <c:pt idx="133">
                  <c:v>5.5495000000000001</c:v>
                </c:pt>
                <c:pt idx="134">
                  <c:v>4.2206000000000001</c:v>
                </c:pt>
                <c:pt idx="135">
                  <c:v>5.8714000000000004</c:v>
                </c:pt>
                <c:pt idx="136">
                  <c:v>5.6117999999999997</c:v>
                </c:pt>
                <c:pt idx="137">
                  <c:v>5.0719000000000003</c:v>
                </c:pt>
                <c:pt idx="138">
                  <c:v>4.5113000000000003</c:v>
                </c:pt>
                <c:pt idx="139">
                  <c:v>3.4803000000000002</c:v>
                </c:pt>
                <c:pt idx="140">
                  <c:v>0.13389999999999999</c:v>
                </c:pt>
                <c:pt idx="141">
                  <c:v>0.76490000000000002</c:v>
                </c:pt>
                <c:pt idx="142">
                  <c:v>-0.16250000000000001</c:v>
                </c:pt>
                <c:pt idx="143">
                  <c:v>1.9983</c:v>
                </c:pt>
                <c:pt idx="144">
                  <c:v>3.0404</c:v>
                </c:pt>
                <c:pt idx="145">
                  <c:v>2.9066000000000001</c:v>
                </c:pt>
                <c:pt idx="146">
                  <c:v>1.5392999999999999</c:v>
                </c:pt>
                <c:pt idx="147">
                  <c:v>1.7305999999999999</c:v>
                </c:pt>
                <c:pt idx="148">
                  <c:v>-0.57369999999999999</c:v>
                </c:pt>
                <c:pt idx="149">
                  <c:v>-0.83179999999999998</c:v>
                </c:pt>
                <c:pt idx="150">
                  <c:v>-3.8723000000000001</c:v>
                </c:pt>
                <c:pt idx="151">
                  <c:v>-5.5072000000000001</c:v>
                </c:pt>
                <c:pt idx="152">
                  <c:v>-5.3541999999999996</c:v>
                </c:pt>
                <c:pt idx="153">
                  <c:v>-5.5454999999999997</c:v>
                </c:pt>
                <c:pt idx="154">
                  <c:v>-6.0903999999999998</c:v>
                </c:pt>
                <c:pt idx="155">
                  <c:v>-2.3138000000000001</c:v>
                </c:pt>
                <c:pt idx="156">
                  <c:v>-0.22950000000000001</c:v>
                </c:pt>
                <c:pt idx="157">
                  <c:v>0</c:v>
                </c:pt>
                <c:pt idx="158">
                  <c:v>0.27729999999999999</c:v>
                </c:pt>
                <c:pt idx="159">
                  <c:v>2.4380999999999999</c:v>
                </c:pt>
                <c:pt idx="160">
                  <c:v>3.1743000000000001</c:v>
                </c:pt>
                <c:pt idx="161">
                  <c:v>2.2755999999999998</c:v>
                </c:pt>
                <c:pt idx="162">
                  <c:v>2.113</c:v>
                </c:pt>
                <c:pt idx="163">
                  <c:v>1.2524999999999999</c:v>
                </c:pt>
                <c:pt idx="164">
                  <c:v>0.1147</c:v>
                </c:pt>
                <c:pt idx="165">
                  <c:v>0.79359999999999997</c:v>
                </c:pt>
                <c:pt idx="166">
                  <c:v>-1.635</c:v>
                </c:pt>
                <c:pt idx="167">
                  <c:v>-1.0517000000000001</c:v>
                </c:pt>
                <c:pt idx="168">
                  <c:v>-3.9487999999999999</c:v>
                </c:pt>
                <c:pt idx="169">
                  <c:v>1.415</c:v>
                </c:pt>
                <c:pt idx="170">
                  <c:v>5.01</c:v>
                </c:pt>
                <c:pt idx="171">
                  <c:v>5.7176</c:v>
                </c:pt>
              </c:numCache>
            </c:numRef>
          </c:val>
          <c:smooth val="0"/>
          <c:extLst>
            <c:ext xmlns:c16="http://schemas.microsoft.com/office/drawing/2014/chart" uri="{C3380CC4-5D6E-409C-BE32-E72D297353CC}">
              <c16:uniqueId val="{00000001-3F3D-4331-99A0-C67349C5421A}"/>
            </c:ext>
          </c:extLst>
        </c:ser>
        <c:dLbls>
          <c:showLegendKey val="0"/>
          <c:showVal val="0"/>
          <c:showCatName val="0"/>
          <c:showSerName val="0"/>
          <c:showPercent val="0"/>
          <c:showBubbleSize val="0"/>
        </c:dLbls>
        <c:smooth val="0"/>
        <c:axId val="1868772911"/>
        <c:axId val="1868777711"/>
      </c:lineChart>
      <c:dateAx>
        <c:axId val="1868772911"/>
        <c:scaling>
          <c:orientation val="minMax"/>
        </c:scaling>
        <c:delete val="0"/>
        <c:axPos val="b"/>
        <c:numFmt formatCode="mm/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1868777711"/>
        <c:crosses val="autoZero"/>
        <c:auto val="1"/>
        <c:lblOffset val="100"/>
        <c:baseTimeUnit val="days"/>
        <c:majorUnit val="3"/>
        <c:majorTimeUnit val="months"/>
      </c:dateAx>
      <c:valAx>
        <c:axId val="186877771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1868772911"/>
        <c:crossesAt val="44708"/>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6717224155168453"/>
          <c:y val="0.12160804020100502"/>
          <c:w val="0.80333838565977778"/>
          <c:h val="0.78450981565001032"/>
        </c:manualLayout>
      </c:layout>
      <c:barChart>
        <c:barDir val="bar"/>
        <c:grouping val="clustered"/>
        <c:varyColors val="0"/>
        <c:ser>
          <c:idx val="0"/>
          <c:order val="0"/>
          <c:tx>
            <c:strRef>
              <c:f>Feuil1!$H$4</c:f>
              <c:strCache>
                <c:ptCount val="1"/>
                <c:pt idx="0">
                  <c:v>Fund</c:v>
                </c:pt>
              </c:strCache>
            </c:strRef>
          </c:tx>
          <c:spPr>
            <a:solidFill>
              <a:srgbClr val="70AD47"/>
            </a:solidFill>
            <a:ln>
              <a:noFill/>
            </a:ln>
            <a:effectLst/>
          </c:spPr>
          <c:invertIfNegative val="0"/>
          <c:dLbls>
            <c:dLbl>
              <c:idx val="0"/>
              <c:layout>
                <c:manualLayout>
                  <c:x val="2.6407427515249323E-3"/>
                  <c:y val="4.946382383400629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949F-44D9-915E-97C54397B9B0}"/>
                </c:ext>
              </c:extLst>
            </c:dLbl>
            <c:dLbl>
              <c:idx val="1"/>
              <c:layout>
                <c:manualLayout>
                  <c:x val="-9.6826115679033579E-17"/>
                  <c:y val="9.892764766801348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49F-44D9-915E-97C54397B9B0}"/>
                </c:ext>
              </c:extLst>
            </c:dLbl>
            <c:dLbl>
              <c:idx val="2"/>
              <c:layout>
                <c:manualLayout>
                  <c:x val="-1.4130368535588193E-2"/>
                  <c:y val="2.562678726078048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4C0-4640-98C6-6A23B3AC318E}"/>
                </c:ext>
              </c:extLst>
            </c:dLbl>
            <c:dLbl>
              <c:idx val="3"/>
              <c:layout>
                <c:manualLayout>
                  <c:x val="-1.0990286638790816E-2"/>
                  <c:y val="2.050118767337892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4C0-4640-98C6-6A23B3AC318E}"/>
                </c:ext>
              </c:extLst>
            </c:dLbl>
            <c:dLbl>
              <c:idx val="4"/>
              <c:layout>
                <c:manualLayout>
                  <c:x val="-7.9222282545751838E-3"/>
                  <c:y val="-9.0682629455539478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49F-44D9-915E-97C54397B9B0}"/>
                </c:ext>
              </c:extLst>
            </c:dLbl>
            <c:dLbl>
              <c:idx val="5"/>
              <c:layout>
                <c:manualLayout>
                  <c:x val="-5.7567503083243852E-17"/>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4C0-4640-98C6-6A23B3AC318E}"/>
                </c:ext>
              </c:extLst>
            </c:dLbl>
            <c:dLbl>
              <c:idx val="6"/>
              <c:layout>
                <c:manualLayout>
                  <c:x val="-3.1400818967973762E-3"/>
                  <c:y val="1.0250392057318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4C0-4640-98C6-6A23B3AC318E}"/>
                </c:ext>
              </c:extLst>
            </c:dLbl>
            <c:dLbl>
              <c:idx val="8"/>
              <c:layout>
                <c:manualLayout>
                  <c:x val="-7.8502047419934402E-3"/>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49F-44D9-915E-97C54397B9B0}"/>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9"/>
                <c:pt idx="0">
                  <c:v>Financials</c:v>
                </c:pt>
                <c:pt idx="1">
                  <c:v>Health Care</c:v>
                </c:pt>
                <c:pt idx="2">
                  <c:v>Industrials</c:v>
                </c:pt>
                <c:pt idx="3">
                  <c:v>Materials</c:v>
                </c:pt>
                <c:pt idx="4">
                  <c:v>Consumer Staples</c:v>
                </c:pt>
                <c:pt idx="5">
                  <c:v>Consumer Discretionary</c:v>
                </c:pt>
                <c:pt idx="6">
                  <c:v>Communication Services</c:v>
                </c:pt>
                <c:pt idx="7">
                  <c:v>Information Technology</c:v>
                </c:pt>
                <c:pt idx="8">
                  <c:v>Others</c:v>
                </c:pt>
              </c:strCache>
              <c:extLst/>
            </c:strRef>
          </c:cat>
          <c:val>
            <c:numRef>
              <c:f>Feuil1!$H$5:$H$16</c:f>
              <c:numCache>
                <c:formatCode>0.0</c:formatCode>
                <c:ptCount val="9"/>
                <c:pt idx="0">
                  <c:v>33.799999999999997</c:v>
                </c:pt>
                <c:pt idx="1">
                  <c:v>24.2</c:v>
                </c:pt>
                <c:pt idx="2">
                  <c:v>14.5</c:v>
                </c:pt>
                <c:pt idx="3">
                  <c:v>10.5</c:v>
                </c:pt>
                <c:pt idx="4">
                  <c:v>10.199999999999999</c:v>
                </c:pt>
                <c:pt idx="5">
                  <c:v>3.4</c:v>
                </c:pt>
                <c:pt idx="6">
                  <c:v>2.9</c:v>
                </c:pt>
                <c:pt idx="7">
                  <c:v>0.5</c:v>
                </c:pt>
                <c:pt idx="8">
                  <c:v>0</c:v>
                </c:pt>
              </c:numCache>
              <c:extLst/>
            </c:numRef>
          </c:val>
          <c:extLst>
            <c:ext xmlns:c16="http://schemas.microsoft.com/office/drawing/2014/chart" uri="{C3380CC4-5D6E-409C-BE32-E72D297353CC}">
              <c16:uniqueId val="{00000000-DD8A-4837-B369-5F365B3EA1E1}"/>
            </c:ext>
          </c:extLst>
        </c:ser>
        <c:dLbls>
          <c:showLegendKey val="0"/>
          <c:showVal val="0"/>
          <c:showCatName val="0"/>
          <c:showSerName val="0"/>
          <c:showPercent val="0"/>
          <c:showBubbleSize val="0"/>
        </c:dLbls>
        <c:gapWidth val="182"/>
        <c:axId val="630543144"/>
        <c:axId val="630542160"/>
        <c:extLst>
          <c:ext xmlns:c15="http://schemas.microsoft.com/office/drawing/2012/chart" uri="{02D57815-91ED-43cb-92C2-25804820EDAC}">
            <c15:filteredBarSeries>
              <c15:ser>
                <c:idx val="1"/>
                <c:order val="1"/>
                <c:tx>
                  <c:strRef>
                    <c:extLst>
                      <c:ext uri="{02D57815-91ED-43cb-92C2-25804820EDAC}">
                        <c15:formulaRef>
                          <c15:sqref>Feuil1!$I$4</c15:sqref>
                        </c15:formulaRef>
                      </c:ext>
                    </c:extLst>
                    <c:strCache>
                      <c:ptCount val="1"/>
                    </c:strCache>
                  </c:strRef>
                </c:tx>
                <c:spPr>
                  <a:solidFill>
                    <a:srgbClr val="FFFFFF">
                      <a:lumMod val="85000"/>
                    </a:srgbClr>
                  </a:solidFill>
                  <a:ln>
                    <a:noFill/>
                  </a:ln>
                  <a:effectLst/>
                </c:spPr>
                <c:invertIfNegative val="0"/>
                <c:dLbls>
                  <c:dLbl>
                    <c:idx val="0"/>
                    <c:layout>
                      <c:manualLayout>
                        <c:x val="-9.6826115679033579E-17"/>
                        <c:y val="-1.9785529533602787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A-949F-44D9-915E-97C54397B9B0}"/>
                      </c:ext>
                    </c:extLst>
                  </c:dLbl>
                  <c:dLbl>
                    <c:idx val="1"/>
                    <c:layout>
                      <c:manualLayout>
                        <c:x val="-4.7101228451960639E-3"/>
                        <c:y val="-1.0249584939833427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0-C4C0-4640-98C6-6A23B3AC318E}"/>
                      </c:ext>
                    </c:extLst>
                  </c:dLbl>
                  <c:dLbl>
                    <c:idx val="2"/>
                    <c:layout>
                      <c:manualLayout>
                        <c:x val="-5.7808413218953586E-3"/>
                        <c:y val="5.4835561919228523E-3"/>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8-949F-44D9-915E-97C54397B9B0}"/>
                      </c:ext>
                    </c:extLst>
                  </c:dLbl>
                  <c:dLbl>
                    <c:idx val="3"/>
                    <c:layout>
                      <c:manualLayout>
                        <c:x val="-7.3508822702940462E-3"/>
                        <c:y val="5.3673312741075898E-4"/>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7-949F-44D9-915E-97C54397B9B0}"/>
                      </c:ext>
                    </c:extLst>
                  </c:dLbl>
                  <c:dLbl>
                    <c:idx val="4"/>
                    <c:layout>
                      <c:manualLayout>
                        <c:x val="-4.710122845196122E-3"/>
                        <c:y val="-9.7120446949378395E-3"/>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5-949F-44D9-915E-97C54397B9B0}"/>
                      </c:ext>
                    </c:extLst>
                  </c:dLbl>
                  <c:dLbl>
                    <c:idx val="5"/>
                    <c:layout>
                      <c:manualLayout>
                        <c:x val="-6.2801637935947525E-3"/>
                        <c:y val="-2.0142827510115199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4-949F-44D9-915E-97C54397B9B0}"/>
                      </c:ext>
                    </c:extLst>
                  </c:dLbl>
                  <c:dLbl>
                    <c:idx val="6"/>
                    <c:layout>
                      <c:manualLayout>
                        <c:x val="-4.7101228451960639E-3"/>
                        <c:y val="0"/>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3-949F-44D9-915E-97C54397B9B0}"/>
                      </c:ext>
                    </c:extLst>
                  </c:dLbl>
                  <c:dLbl>
                    <c:idx val="7"/>
                    <c:layout>
                      <c:manualLayout>
                        <c:x val="0"/>
                        <c:y val="-1.4839147150202158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0-C7C1-4624-AB01-2F09A614F139}"/>
                      </c:ext>
                    </c:extLst>
                  </c:dLbl>
                  <c:dLbl>
                    <c:idx val="8"/>
                    <c:delete val="1"/>
                    <c:extLst>
                      <c:ext uri="{CE6537A1-D6FC-4f65-9D91-7224C49458BB}"/>
                      <c:ext xmlns:c16="http://schemas.microsoft.com/office/drawing/2014/chart" uri="{C3380CC4-5D6E-409C-BE32-E72D297353CC}">
                        <c16:uniqueId val="{00000005-C4C0-4640-98C6-6A23B3AC318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uri="{CE6537A1-D6FC-4f65-9D91-7224C49458BB}">
                      <c15:showLeaderLines val="1"/>
                      <c15:leaderLines>
                        <c:spPr>
                          <a:ln w="9525" cap="flat" cmpd="sng" algn="ctr">
                            <a:solidFill>
                              <a:schemeClr val="tx1">
                                <a:lumMod val="35000"/>
                                <a:lumOff val="65000"/>
                              </a:schemeClr>
                            </a:solidFill>
                            <a:round/>
                          </a:ln>
                          <a:effectLst/>
                        </c:spPr>
                      </c15:leaderLines>
                    </c:ext>
                  </c:extLst>
                </c:dLbls>
                <c:cat>
                  <c:strRef>
                    <c:extLst>
                      <c:ext uri="{02D57815-91ED-43cb-92C2-25804820EDAC}">
                        <c15:formulaRef>
                          <c15:sqref>Feuil1!$G$5:$G$16</c15:sqref>
                        </c15:formulaRef>
                      </c:ext>
                    </c:extLst>
                    <c:strCache>
                      <c:ptCount val="9"/>
                      <c:pt idx="0">
                        <c:v>Financials</c:v>
                      </c:pt>
                      <c:pt idx="1">
                        <c:v>Health Care</c:v>
                      </c:pt>
                      <c:pt idx="2">
                        <c:v>Industrials</c:v>
                      </c:pt>
                      <c:pt idx="3">
                        <c:v>Materials</c:v>
                      </c:pt>
                      <c:pt idx="4">
                        <c:v>Consumer Staples</c:v>
                      </c:pt>
                      <c:pt idx="5">
                        <c:v>Consumer Discretionary</c:v>
                      </c:pt>
                      <c:pt idx="6">
                        <c:v>Communication Services</c:v>
                      </c:pt>
                      <c:pt idx="7">
                        <c:v>Information Technology</c:v>
                      </c:pt>
                      <c:pt idx="8">
                        <c:v>Others</c:v>
                      </c:pt>
                    </c:strCache>
                  </c:strRef>
                </c:cat>
                <c:val>
                  <c:numRef>
                    <c:extLst>
                      <c:ext uri="{02D57815-91ED-43cb-92C2-25804820EDAC}">
                        <c15:formulaRef>
                          <c15:sqref>Feuil1!$I$5:$I$16</c15:sqref>
                        </c15:formulaRef>
                      </c:ext>
                    </c:extLst>
                    <c:numCache>
                      <c:formatCode>General</c:formatCode>
                      <c:ptCount val="9"/>
                    </c:numCache>
                  </c:numRef>
                </c:val>
                <c:extLst>
                  <c:ext xmlns:c16="http://schemas.microsoft.com/office/drawing/2014/chart" uri="{C3380CC4-5D6E-409C-BE32-E72D297353CC}">
                    <c16:uniqueId val="{00000001-DD8A-4837-B369-5F365B3EA1E1}"/>
                  </c:ext>
                </c:extLst>
              </c15:ser>
            </c15:filteredBarSeries>
          </c:ext>
        </c:extLst>
      </c:barChart>
      <c:catAx>
        <c:axId val="630543144"/>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630542160"/>
        <c:crosses val="autoZero"/>
        <c:auto val="1"/>
        <c:lblAlgn val="ctr"/>
        <c:lblOffset val="100"/>
        <c:noMultiLvlLbl val="0"/>
      </c:catAx>
      <c:valAx>
        <c:axId val="630542160"/>
        <c:scaling>
          <c:orientation val="minMax"/>
          <c:max val="40"/>
        </c:scaling>
        <c:delete val="0"/>
        <c:axPos val="t"/>
        <c:majorGridlines>
          <c:spPr>
            <a:ln w="9525" cap="flat" cmpd="sng" algn="ctr">
              <a:solidFill>
                <a:schemeClr val="tx1">
                  <a:lumMod val="15000"/>
                  <a:lumOff val="85000"/>
                </a:schemeClr>
              </a:solidFill>
              <a:round/>
            </a:ln>
            <a:effectLst/>
          </c:spPr>
        </c:majorGridlines>
        <c:numFmt formatCode="0.0"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fr-FR"/>
          </a:p>
        </c:txPr>
        <c:crossAx val="630543144"/>
        <c:crosses val="autoZero"/>
        <c:crossBetween val="between"/>
      </c:valAx>
      <c:spPr>
        <a:noFill/>
        <a:ln>
          <a:noFill/>
        </a:ln>
        <a:effectLst/>
      </c:spPr>
    </c:plotArea>
    <c:legend>
      <c:legendPos val="b"/>
      <c:layout>
        <c:manualLayout>
          <c:xMode val="edge"/>
          <c:yMode val="edge"/>
          <c:x val="0.44759330012744181"/>
          <c:y val="0.89814519023689865"/>
          <c:w val="0.10481339974511633"/>
          <c:h val="9.6156676238334529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userShapes r:id="rId5"/>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45393951311013"/>
          <c:y val="5.0925925925925923E-2"/>
          <c:w val="0.86601615617151273"/>
          <c:h val="0.73577136191309422"/>
        </c:manualLayout>
      </c:layout>
      <c:barChart>
        <c:barDir val="col"/>
        <c:grouping val="stacked"/>
        <c:varyColors val="0"/>
        <c:ser>
          <c:idx val="0"/>
          <c:order val="0"/>
          <c:tx>
            <c:strRef>
              <c:f>'[Chart in Microsoft PowerPoint]Feuil1'!$H$49</c:f>
              <c:strCache>
                <c:ptCount val="1"/>
                <c:pt idx="0">
                  <c:v>Dividend yield</c:v>
                </c:pt>
              </c:strCache>
            </c:strRef>
          </c:tx>
          <c:spPr>
            <a:solidFill>
              <a:srgbClr val="3AB7C8"/>
            </a:solidFill>
            <a:ln>
              <a:noFill/>
            </a:ln>
            <a:effectLst/>
          </c:spPr>
          <c:invertIfNegative val="0"/>
          <c:dLbls>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extLst>
                <c:ext xmlns:c16="http://schemas.microsoft.com/office/drawing/2014/chart" uri="{C3380CC4-5D6E-409C-BE32-E72D297353CC}">
                  <c16:uniqueId val="{00000000-108A-410C-9CE5-C78894B8544E}"/>
                </c:ext>
              </c:extLst>
            </c:dLbl>
            <c:dLbl>
              <c:idx val="1"/>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extLst>
                <c:ext xmlns:c16="http://schemas.microsoft.com/office/drawing/2014/chart" uri="{C3380CC4-5D6E-409C-BE32-E72D297353CC}">
                  <c16:uniqueId val="{00000001-108A-410C-9CE5-C78894B8544E}"/>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CH"/>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'[Chart in Microsoft PowerPoint]Feuil1'!$G$50:$G$51</c:f>
              <c:strCache>
                <c:ptCount val="2"/>
                <c:pt idx="0">
                  <c:v>UBS (CH) Equity Fund - Swiss Income</c:v>
                </c:pt>
                <c:pt idx="1">
                  <c:v>SPI</c:v>
                </c:pt>
              </c:strCache>
            </c:strRef>
          </c:cat>
          <c:val>
            <c:numRef>
              <c:f>'[Chart in Microsoft PowerPoint]Feuil1'!$H$50:$H$51</c:f>
              <c:numCache>
                <c:formatCode>0.00%</c:formatCode>
                <c:ptCount val="2"/>
                <c:pt idx="0">
                  <c:v>3.3700000000000001E-2</c:v>
                </c:pt>
                <c:pt idx="1">
                  <c:v>3.04E-2</c:v>
                </c:pt>
              </c:numCache>
            </c:numRef>
          </c:val>
          <c:extLst>
            <c:ext xmlns:c16="http://schemas.microsoft.com/office/drawing/2014/chart" uri="{C3380CC4-5D6E-409C-BE32-E72D297353CC}">
              <c16:uniqueId val="{00000002-108A-410C-9CE5-C78894B8544E}"/>
            </c:ext>
          </c:extLst>
        </c:ser>
        <c:ser>
          <c:idx val="1"/>
          <c:order val="1"/>
          <c:tx>
            <c:strRef>
              <c:f>'[Chart in Microsoft PowerPoint]Feuil1'!$I$49</c:f>
              <c:strCache>
                <c:ptCount val="1"/>
                <c:pt idx="0">
                  <c:v>Call overwriting yield</c:v>
                </c:pt>
              </c:strCache>
            </c:strRef>
          </c:tx>
          <c:spPr>
            <a:solidFill>
              <a:schemeClr val="accent3"/>
            </a:solidFill>
            <a:ln>
              <a:noFill/>
            </a:ln>
            <a:effectLst/>
          </c:spPr>
          <c:invertIfNegative val="0"/>
          <c:dLbls>
            <c:dLbl>
              <c:idx val="1"/>
              <c:delete val="1"/>
              <c:extLst>
                <c:ext xmlns:c15="http://schemas.microsoft.com/office/drawing/2012/chart" uri="{CE6537A1-D6FC-4f65-9D91-7224C49458BB}"/>
                <c:ext xmlns:c16="http://schemas.microsoft.com/office/drawing/2014/chart" uri="{C3380CC4-5D6E-409C-BE32-E72D297353CC}">
                  <c16:uniqueId val="{00000003-108A-410C-9CE5-C78894B8544E}"/>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'[Chart in Microsoft PowerPoint]Feuil1'!$G$50:$G$51</c:f>
              <c:strCache>
                <c:ptCount val="2"/>
                <c:pt idx="0">
                  <c:v>UBS (CH) Equity Fund - Swiss Income</c:v>
                </c:pt>
                <c:pt idx="1">
                  <c:v>SPI</c:v>
                </c:pt>
              </c:strCache>
            </c:strRef>
          </c:cat>
          <c:val>
            <c:numRef>
              <c:f>'[Chart in Microsoft PowerPoint]Feuil1'!$I$50:$I$51</c:f>
              <c:numCache>
                <c:formatCode>General</c:formatCode>
                <c:ptCount val="2"/>
                <c:pt idx="0" formatCode="0.00%">
                  <c:v>5.0500000000000003E-2</c:v>
                </c:pt>
                <c:pt idx="1">
                  <c:v>0</c:v>
                </c:pt>
              </c:numCache>
            </c:numRef>
          </c:val>
          <c:extLst>
            <c:ext xmlns:c16="http://schemas.microsoft.com/office/drawing/2014/chart" uri="{C3380CC4-5D6E-409C-BE32-E72D297353CC}">
              <c16:uniqueId val="{00000004-108A-410C-9CE5-C78894B8544E}"/>
            </c:ext>
          </c:extLst>
        </c:ser>
        <c:dLbls>
          <c:dLblPos val="ctr"/>
          <c:showLegendKey val="0"/>
          <c:showVal val="1"/>
          <c:showCatName val="0"/>
          <c:showSerName val="0"/>
          <c:showPercent val="0"/>
          <c:showBubbleSize val="0"/>
        </c:dLbls>
        <c:gapWidth val="150"/>
        <c:overlap val="100"/>
        <c:axId val="827048672"/>
        <c:axId val="827047232"/>
      </c:barChart>
      <c:catAx>
        <c:axId val="8270486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rgbClr val="7C7C7C"/>
                </a:solidFill>
                <a:latin typeface="+mn-lt"/>
                <a:ea typeface="+mn-ea"/>
                <a:cs typeface="+mn-cs"/>
              </a:defRPr>
            </a:pPr>
            <a:endParaRPr lang="en-CH"/>
          </a:p>
        </c:txPr>
        <c:crossAx val="827047232"/>
        <c:crosses val="autoZero"/>
        <c:auto val="1"/>
        <c:lblAlgn val="ctr"/>
        <c:lblOffset val="100"/>
        <c:noMultiLvlLbl val="0"/>
      </c:catAx>
      <c:valAx>
        <c:axId val="827047232"/>
        <c:scaling>
          <c:orientation val="minMax"/>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rgbClr val="7C7C7C"/>
                </a:solidFill>
                <a:latin typeface="+mn-lt"/>
                <a:ea typeface="+mn-ea"/>
                <a:cs typeface="+mn-cs"/>
              </a:defRPr>
            </a:pPr>
            <a:endParaRPr lang="en-CH"/>
          </a:p>
        </c:txPr>
        <c:crossAx val="827048672"/>
        <c:crosses val="autoZero"/>
        <c:crossBetween val="between"/>
      </c:valAx>
      <c:spPr>
        <a:noFill/>
        <a:ln>
          <a:noFill/>
        </a:ln>
        <a:effectLst/>
      </c:spPr>
    </c:plotArea>
    <c:legend>
      <c:legendPos val="b"/>
      <c:layout>
        <c:manualLayout>
          <c:xMode val="edge"/>
          <c:yMode val="edge"/>
          <c:x val="0.11118779964723273"/>
          <c:y val="0.93578979898303527"/>
          <c:w val="0.78386129423804651"/>
          <c:h val="6.4210201016964771E-2"/>
        </c:manualLayout>
      </c:layout>
      <c:overlay val="0"/>
      <c:spPr>
        <a:noFill/>
        <a:ln>
          <a:noFill/>
        </a:ln>
        <a:effectLst/>
      </c:spPr>
      <c:txPr>
        <a:bodyPr rot="0" spcFirstLastPara="1" vertOverflow="ellipsis" vert="horz" wrap="square" anchor="ctr" anchorCtr="1"/>
        <a:lstStyle/>
        <a:p>
          <a:pPr>
            <a:defRPr sz="800" b="0" i="0" u="none" strike="noStrike" kern="1200" baseline="0">
              <a:solidFill>
                <a:srgbClr val="7C7C7C"/>
              </a:solidFill>
              <a:latin typeface="+mn-lt"/>
              <a:ea typeface="+mn-ea"/>
              <a:cs typeface="+mn-cs"/>
            </a:defRPr>
          </a:pPr>
          <a:endParaRPr lang="en-CH"/>
        </a:p>
      </c:txPr>
    </c:legend>
    <c:plotVisOnly val="1"/>
    <c:dispBlanksAs val="gap"/>
    <c:showDLblsOverMax val="0"/>
  </c:chart>
  <c:spPr>
    <a:noFill/>
    <a:ln>
      <a:noFill/>
    </a:ln>
    <a:effectLst/>
  </c:spPr>
  <c:txPr>
    <a:bodyPr/>
    <a:lstStyle/>
    <a:p>
      <a:pPr>
        <a:defRPr/>
      </a:pPr>
      <a:endParaRPr lang="en-CH"/>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GB" sz="1050" b="1" i="0" u="none" strike="noStrike" kern="1200" spc="0" baseline="0" dirty="0">
                <a:solidFill>
                  <a:schemeClr val="accent4"/>
                </a:solidFill>
                <a:latin typeface="Nunito Sans" pitchFamily="2" charset="77"/>
                <a:ea typeface="+mn-ea"/>
                <a:cs typeface="+mn-cs"/>
              </a:defRPr>
            </a:pPr>
            <a:r>
              <a:rPr lang="en-US" sz="1050" b="1" kern="1200" noProof="0" dirty="0">
                <a:solidFill>
                  <a:schemeClr val="accent4"/>
                </a:solidFill>
                <a:latin typeface="Nunito Sans" pitchFamily="2" charset="77"/>
                <a:ea typeface="+mn-ea"/>
                <a:cs typeface="+mn-cs"/>
              </a:rPr>
              <a:t>Schroder US Large Cap 5-year </a:t>
            </a:r>
            <a:r>
              <a:rPr lang="en-US" sz="1050" b="1" kern="1200" noProof="0" dirty="0" err="1">
                <a:solidFill>
                  <a:schemeClr val="accent4"/>
                </a:solidFill>
                <a:latin typeface="Nunito Sans" pitchFamily="2" charset="77"/>
                <a:ea typeface="+mn-ea"/>
                <a:cs typeface="+mn-cs"/>
              </a:rPr>
              <a:t>peformance</a:t>
            </a:r>
            <a:r>
              <a:rPr lang="en-US" sz="1050" b="1" kern="1200" noProof="0" dirty="0">
                <a:solidFill>
                  <a:schemeClr val="accent4"/>
                </a:solidFill>
                <a:latin typeface="Nunito Sans" pitchFamily="2" charset="77"/>
                <a:ea typeface="+mn-ea"/>
                <a:cs typeface="+mn-cs"/>
              </a:rPr>
              <a:t> vs. S&amp;P 500</a:t>
            </a:r>
          </a:p>
        </c:rich>
      </c:tx>
      <c:overlay val="0"/>
      <c:spPr>
        <a:noFill/>
        <a:ln>
          <a:noFill/>
        </a:ln>
        <a:effectLst/>
      </c:spPr>
      <c:txPr>
        <a:bodyPr rot="0" spcFirstLastPara="1" vertOverflow="ellipsis" vert="horz" wrap="square" anchor="ctr" anchorCtr="1"/>
        <a:lstStyle/>
        <a:p>
          <a:pPr>
            <a:defRPr lang="en-GB" sz="1050" b="1" i="0" u="none" strike="noStrike" kern="1200" spc="0" baseline="0" dirty="0">
              <a:solidFill>
                <a:schemeClr val="accent4"/>
              </a:solidFill>
              <a:latin typeface="Nunito Sans" pitchFamily="2" charset="77"/>
              <a:ea typeface="+mn-ea"/>
              <a:cs typeface="+mn-cs"/>
            </a:defRPr>
          </a:pPr>
          <a:endParaRPr lang="en-GB"/>
        </a:p>
      </c:txPr>
    </c:title>
    <c:autoTitleDeleted val="0"/>
    <c:plotArea>
      <c:layout/>
      <c:lineChart>
        <c:grouping val="standard"/>
        <c:varyColors val="0"/>
        <c:ser>
          <c:idx val="0"/>
          <c:order val="0"/>
          <c:tx>
            <c:strRef>
              <c:f>Sheet1!$B$1</c:f>
              <c:strCache>
                <c:ptCount val="1"/>
                <c:pt idx="0">
                  <c:v>Schroder US LC </c:v>
                </c:pt>
              </c:strCache>
            </c:strRef>
          </c:tx>
          <c:spPr>
            <a:ln w="28575" cap="rnd">
              <a:solidFill>
                <a:schemeClr val="accent1"/>
              </a:solidFill>
              <a:round/>
            </a:ln>
            <a:effectLst/>
          </c:spPr>
          <c:marker>
            <c:symbol val="none"/>
          </c:marker>
          <c:cat>
            <c:numRef>
              <c:f>Sheet1!$A$2:$A$62</c:f>
              <c:numCache>
                <c:formatCode>m/d/yyyy</c:formatCode>
                <c:ptCount val="61"/>
                <c:pt idx="0">
                  <c:v>45888</c:v>
                </c:pt>
                <c:pt idx="1">
                  <c:v>45869</c:v>
                </c:pt>
                <c:pt idx="2">
                  <c:v>45838</c:v>
                </c:pt>
                <c:pt idx="3">
                  <c:v>45807</c:v>
                </c:pt>
                <c:pt idx="4">
                  <c:v>45777</c:v>
                </c:pt>
                <c:pt idx="5">
                  <c:v>45747</c:v>
                </c:pt>
                <c:pt idx="6">
                  <c:v>45716</c:v>
                </c:pt>
                <c:pt idx="7">
                  <c:v>45688</c:v>
                </c:pt>
                <c:pt idx="8">
                  <c:v>45657</c:v>
                </c:pt>
                <c:pt idx="9">
                  <c:v>45625</c:v>
                </c:pt>
                <c:pt idx="10">
                  <c:v>45596</c:v>
                </c:pt>
                <c:pt idx="11">
                  <c:v>45565</c:v>
                </c:pt>
                <c:pt idx="12">
                  <c:v>45534</c:v>
                </c:pt>
                <c:pt idx="13">
                  <c:v>45504</c:v>
                </c:pt>
                <c:pt idx="14">
                  <c:v>45471</c:v>
                </c:pt>
                <c:pt idx="15">
                  <c:v>45443</c:v>
                </c:pt>
                <c:pt idx="16">
                  <c:v>45412</c:v>
                </c:pt>
                <c:pt idx="17">
                  <c:v>45380</c:v>
                </c:pt>
                <c:pt idx="18">
                  <c:v>45351</c:v>
                </c:pt>
                <c:pt idx="19">
                  <c:v>45322</c:v>
                </c:pt>
                <c:pt idx="20">
                  <c:v>45289</c:v>
                </c:pt>
                <c:pt idx="21">
                  <c:v>45260</c:v>
                </c:pt>
                <c:pt idx="22">
                  <c:v>45230</c:v>
                </c:pt>
                <c:pt idx="23">
                  <c:v>45198</c:v>
                </c:pt>
                <c:pt idx="24">
                  <c:v>45169</c:v>
                </c:pt>
                <c:pt idx="25">
                  <c:v>45138</c:v>
                </c:pt>
                <c:pt idx="26">
                  <c:v>45107</c:v>
                </c:pt>
                <c:pt idx="27">
                  <c:v>45077</c:v>
                </c:pt>
                <c:pt idx="28">
                  <c:v>45044</c:v>
                </c:pt>
                <c:pt idx="29">
                  <c:v>45016</c:v>
                </c:pt>
                <c:pt idx="30">
                  <c:v>44985</c:v>
                </c:pt>
                <c:pt idx="31">
                  <c:v>44957</c:v>
                </c:pt>
                <c:pt idx="32">
                  <c:v>44925</c:v>
                </c:pt>
                <c:pt idx="33">
                  <c:v>44895</c:v>
                </c:pt>
                <c:pt idx="34">
                  <c:v>44865</c:v>
                </c:pt>
                <c:pt idx="35">
                  <c:v>44834</c:v>
                </c:pt>
                <c:pt idx="36">
                  <c:v>44804</c:v>
                </c:pt>
                <c:pt idx="37">
                  <c:v>44771</c:v>
                </c:pt>
                <c:pt idx="38">
                  <c:v>44742</c:v>
                </c:pt>
                <c:pt idx="39">
                  <c:v>44712</c:v>
                </c:pt>
                <c:pt idx="40">
                  <c:v>44680</c:v>
                </c:pt>
                <c:pt idx="41">
                  <c:v>44651</c:v>
                </c:pt>
                <c:pt idx="42">
                  <c:v>44620</c:v>
                </c:pt>
                <c:pt idx="43">
                  <c:v>44592</c:v>
                </c:pt>
                <c:pt idx="44">
                  <c:v>44561</c:v>
                </c:pt>
                <c:pt idx="45">
                  <c:v>44530</c:v>
                </c:pt>
                <c:pt idx="46">
                  <c:v>44498</c:v>
                </c:pt>
                <c:pt idx="47">
                  <c:v>44469</c:v>
                </c:pt>
                <c:pt idx="48">
                  <c:v>44439</c:v>
                </c:pt>
                <c:pt idx="49">
                  <c:v>44407</c:v>
                </c:pt>
                <c:pt idx="50">
                  <c:v>44377</c:v>
                </c:pt>
                <c:pt idx="51">
                  <c:v>44347</c:v>
                </c:pt>
                <c:pt idx="52">
                  <c:v>44316</c:v>
                </c:pt>
                <c:pt idx="53">
                  <c:v>44286</c:v>
                </c:pt>
                <c:pt idx="54">
                  <c:v>44253</c:v>
                </c:pt>
                <c:pt idx="55">
                  <c:v>44225</c:v>
                </c:pt>
                <c:pt idx="56">
                  <c:v>44196</c:v>
                </c:pt>
                <c:pt idx="57">
                  <c:v>44165</c:v>
                </c:pt>
                <c:pt idx="58">
                  <c:v>44134</c:v>
                </c:pt>
                <c:pt idx="59">
                  <c:v>44104</c:v>
                </c:pt>
                <c:pt idx="60">
                  <c:v>44074</c:v>
                </c:pt>
              </c:numCache>
            </c:numRef>
          </c:cat>
          <c:val>
            <c:numRef>
              <c:f>Sheet1!$B$2:$B$62</c:f>
              <c:numCache>
                <c:formatCode>General</c:formatCode>
                <c:ptCount val="61"/>
                <c:pt idx="0">
                  <c:v>208.00569999999999</c:v>
                </c:pt>
                <c:pt idx="1">
                  <c:v>210.01499999999999</c:v>
                </c:pt>
                <c:pt idx="2">
                  <c:v>203.10499999999999</c:v>
                </c:pt>
                <c:pt idx="3">
                  <c:v>190.38579999999999</c:v>
                </c:pt>
                <c:pt idx="4">
                  <c:v>175.83410000000001</c:v>
                </c:pt>
                <c:pt idx="5">
                  <c:v>172.91239999999999</c:v>
                </c:pt>
                <c:pt idx="6">
                  <c:v>184.67750000000001</c:v>
                </c:pt>
                <c:pt idx="7">
                  <c:v>192.82380000000001</c:v>
                </c:pt>
                <c:pt idx="8">
                  <c:v>183.36279999999999</c:v>
                </c:pt>
                <c:pt idx="9">
                  <c:v>185.46360000000001</c:v>
                </c:pt>
                <c:pt idx="10">
                  <c:v>177.13890000000001</c:v>
                </c:pt>
                <c:pt idx="11">
                  <c:v>175.26400000000001</c:v>
                </c:pt>
                <c:pt idx="12">
                  <c:v>173.3921</c:v>
                </c:pt>
                <c:pt idx="13">
                  <c:v>168.0617</c:v>
                </c:pt>
                <c:pt idx="14">
                  <c:v>172.3827</c:v>
                </c:pt>
                <c:pt idx="15">
                  <c:v>163.19999999999999</c:v>
                </c:pt>
                <c:pt idx="16">
                  <c:v>157.57689999999999</c:v>
                </c:pt>
                <c:pt idx="17">
                  <c:v>163.17609999999999</c:v>
                </c:pt>
                <c:pt idx="18">
                  <c:v>156.4555</c:v>
                </c:pt>
                <c:pt idx="19">
                  <c:v>149.59809999999999</c:v>
                </c:pt>
                <c:pt idx="20">
                  <c:v>143.71510000000001</c:v>
                </c:pt>
                <c:pt idx="21">
                  <c:v>138.4821</c:v>
                </c:pt>
                <c:pt idx="22">
                  <c:v>126.9821</c:v>
                </c:pt>
                <c:pt idx="23">
                  <c:v>130.28280000000001</c:v>
                </c:pt>
                <c:pt idx="24">
                  <c:v>135.96369999999999</c:v>
                </c:pt>
                <c:pt idx="25">
                  <c:v>135.80959999999999</c:v>
                </c:pt>
                <c:pt idx="26">
                  <c:v>130.13990000000001</c:v>
                </c:pt>
                <c:pt idx="27">
                  <c:v>124.93129999999999</c:v>
                </c:pt>
                <c:pt idx="28">
                  <c:v>122.6268</c:v>
                </c:pt>
                <c:pt idx="29">
                  <c:v>119.82170000000001</c:v>
                </c:pt>
                <c:pt idx="30">
                  <c:v>118.72</c:v>
                </c:pt>
                <c:pt idx="31">
                  <c:v>120.3997</c:v>
                </c:pt>
                <c:pt idx="32">
                  <c:v>116.0329</c:v>
                </c:pt>
                <c:pt idx="33">
                  <c:v>119.6965</c:v>
                </c:pt>
                <c:pt idx="34">
                  <c:v>117.4492</c:v>
                </c:pt>
                <c:pt idx="35">
                  <c:v>109.33669999999999</c:v>
                </c:pt>
                <c:pt idx="36">
                  <c:v>118.9614</c:v>
                </c:pt>
                <c:pt idx="37">
                  <c:v>121.7163</c:v>
                </c:pt>
                <c:pt idx="38">
                  <c:v>114.0877</c:v>
                </c:pt>
                <c:pt idx="39">
                  <c:v>124.37179999999999</c:v>
                </c:pt>
                <c:pt idx="40">
                  <c:v>125.60039999999999</c:v>
                </c:pt>
                <c:pt idx="41">
                  <c:v>134.3253</c:v>
                </c:pt>
                <c:pt idx="42">
                  <c:v>127.78660000000001</c:v>
                </c:pt>
                <c:pt idx="43">
                  <c:v>131.012</c:v>
                </c:pt>
                <c:pt idx="44">
                  <c:v>137.25030000000001</c:v>
                </c:pt>
                <c:pt idx="45">
                  <c:v>133.3946</c:v>
                </c:pt>
                <c:pt idx="46">
                  <c:v>134.4049</c:v>
                </c:pt>
                <c:pt idx="47">
                  <c:v>129.11789999999999</c:v>
                </c:pt>
                <c:pt idx="48">
                  <c:v>131.8964</c:v>
                </c:pt>
                <c:pt idx="49">
                  <c:v>128.8237</c:v>
                </c:pt>
                <c:pt idx="50">
                  <c:v>126.4554</c:v>
                </c:pt>
                <c:pt idx="51">
                  <c:v>123.63890000000001</c:v>
                </c:pt>
                <c:pt idx="52">
                  <c:v>122.2868</c:v>
                </c:pt>
                <c:pt idx="53">
                  <c:v>115.0977</c:v>
                </c:pt>
                <c:pt idx="54">
                  <c:v>110.527</c:v>
                </c:pt>
                <c:pt idx="55">
                  <c:v>105.78319999999999</c:v>
                </c:pt>
                <c:pt idx="56">
                  <c:v>105.69929999999999</c:v>
                </c:pt>
                <c:pt idx="57">
                  <c:v>103.26479999999999</c:v>
                </c:pt>
                <c:pt idx="58">
                  <c:v>94.5047</c:v>
                </c:pt>
                <c:pt idx="59">
                  <c:v>95.199200000000005</c:v>
                </c:pt>
                <c:pt idx="60">
                  <c:v>100</c:v>
                </c:pt>
              </c:numCache>
            </c:numRef>
          </c:val>
          <c:smooth val="0"/>
          <c:extLst>
            <c:ext xmlns:c16="http://schemas.microsoft.com/office/drawing/2014/chart" uri="{C3380CC4-5D6E-409C-BE32-E72D297353CC}">
              <c16:uniqueId val="{00000000-4676-43F2-87E4-8CFCAD4B2644}"/>
            </c:ext>
          </c:extLst>
        </c:ser>
        <c:ser>
          <c:idx val="1"/>
          <c:order val="1"/>
          <c:tx>
            <c:strRef>
              <c:f>Sheet1!$C$1</c:f>
              <c:strCache>
                <c:ptCount val="1"/>
                <c:pt idx="0">
                  <c:v>SPX </c:v>
                </c:pt>
              </c:strCache>
            </c:strRef>
          </c:tx>
          <c:spPr>
            <a:ln w="28575" cap="rnd">
              <a:solidFill>
                <a:schemeClr val="accent2"/>
              </a:solidFill>
              <a:round/>
            </a:ln>
            <a:effectLst/>
          </c:spPr>
          <c:marker>
            <c:symbol val="none"/>
          </c:marker>
          <c:cat>
            <c:numRef>
              <c:f>Sheet1!$A$2:$A$62</c:f>
              <c:numCache>
                <c:formatCode>m/d/yyyy</c:formatCode>
                <c:ptCount val="61"/>
                <c:pt idx="0">
                  <c:v>45888</c:v>
                </c:pt>
                <c:pt idx="1">
                  <c:v>45869</c:v>
                </c:pt>
                <c:pt idx="2">
                  <c:v>45838</c:v>
                </c:pt>
                <c:pt idx="3">
                  <c:v>45807</c:v>
                </c:pt>
                <c:pt idx="4">
                  <c:v>45777</c:v>
                </c:pt>
                <c:pt idx="5">
                  <c:v>45747</c:v>
                </c:pt>
                <c:pt idx="6">
                  <c:v>45716</c:v>
                </c:pt>
                <c:pt idx="7">
                  <c:v>45688</c:v>
                </c:pt>
                <c:pt idx="8">
                  <c:v>45657</c:v>
                </c:pt>
                <c:pt idx="9">
                  <c:v>45625</c:v>
                </c:pt>
                <c:pt idx="10">
                  <c:v>45596</c:v>
                </c:pt>
                <c:pt idx="11">
                  <c:v>45565</c:v>
                </c:pt>
                <c:pt idx="12">
                  <c:v>45534</c:v>
                </c:pt>
                <c:pt idx="13">
                  <c:v>45504</c:v>
                </c:pt>
                <c:pt idx="14">
                  <c:v>45471</c:v>
                </c:pt>
                <c:pt idx="15">
                  <c:v>45443</c:v>
                </c:pt>
                <c:pt idx="16">
                  <c:v>45412</c:v>
                </c:pt>
                <c:pt idx="17">
                  <c:v>45380</c:v>
                </c:pt>
                <c:pt idx="18">
                  <c:v>45351</c:v>
                </c:pt>
                <c:pt idx="19">
                  <c:v>45322</c:v>
                </c:pt>
                <c:pt idx="20">
                  <c:v>45289</c:v>
                </c:pt>
                <c:pt idx="21">
                  <c:v>45260</c:v>
                </c:pt>
                <c:pt idx="22">
                  <c:v>45230</c:v>
                </c:pt>
                <c:pt idx="23">
                  <c:v>45198</c:v>
                </c:pt>
                <c:pt idx="24">
                  <c:v>45169</c:v>
                </c:pt>
                <c:pt idx="25">
                  <c:v>45138</c:v>
                </c:pt>
                <c:pt idx="26">
                  <c:v>45107</c:v>
                </c:pt>
                <c:pt idx="27">
                  <c:v>45077</c:v>
                </c:pt>
                <c:pt idx="28">
                  <c:v>45044</c:v>
                </c:pt>
                <c:pt idx="29">
                  <c:v>45016</c:v>
                </c:pt>
                <c:pt idx="30">
                  <c:v>44985</c:v>
                </c:pt>
                <c:pt idx="31">
                  <c:v>44957</c:v>
                </c:pt>
                <c:pt idx="32">
                  <c:v>44925</c:v>
                </c:pt>
                <c:pt idx="33">
                  <c:v>44895</c:v>
                </c:pt>
                <c:pt idx="34">
                  <c:v>44865</c:v>
                </c:pt>
                <c:pt idx="35">
                  <c:v>44834</c:v>
                </c:pt>
                <c:pt idx="36">
                  <c:v>44804</c:v>
                </c:pt>
                <c:pt idx="37">
                  <c:v>44771</c:v>
                </c:pt>
                <c:pt idx="38">
                  <c:v>44742</c:v>
                </c:pt>
                <c:pt idx="39">
                  <c:v>44712</c:v>
                </c:pt>
                <c:pt idx="40">
                  <c:v>44680</c:v>
                </c:pt>
                <c:pt idx="41">
                  <c:v>44651</c:v>
                </c:pt>
                <c:pt idx="42">
                  <c:v>44620</c:v>
                </c:pt>
                <c:pt idx="43">
                  <c:v>44592</c:v>
                </c:pt>
                <c:pt idx="44">
                  <c:v>44561</c:v>
                </c:pt>
                <c:pt idx="45">
                  <c:v>44530</c:v>
                </c:pt>
                <c:pt idx="46">
                  <c:v>44498</c:v>
                </c:pt>
                <c:pt idx="47">
                  <c:v>44469</c:v>
                </c:pt>
                <c:pt idx="48">
                  <c:v>44439</c:v>
                </c:pt>
                <c:pt idx="49">
                  <c:v>44407</c:v>
                </c:pt>
                <c:pt idx="50">
                  <c:v>44377</c:v>
                </c:pt>
                <c:pt idx="51">
                  <c:v>44347</c:v>
                </c:pt>
                <c:pt idx="52">
                  <c:v>44316</c:v>
                </c:pt>
                <c:pt idx="53">
                  <c:v>44286</c:v>
                </c:pt>
                <c:pt idx="54">
                  <c:v>44253</c:v>
                </c:pt>
                <c:pt idx="55">
                  <c:v>44225</c:v>
                </c:pt>
                <c:pt idx="56">
                  <c:v>44196</c:v>
                </c:pt>
                <c:pt idx="57">
                  <c:v>44165</c:v>
                </c:pt>
                <c:pt idx="58">
                  <c:v>44134</c:v>
                </c:pt>
                <c:pt idx="59">
                  <c:v>44104</c:v>
                </c:pt>
                <c:pt idx="60">
                  <c:v>44074</c:v>
                </c:pt>
              </c:numCache>
            </c:numRef>
          </c:cat>
          <c:val>
            <c:numRef>
              <c:f>Sheet1!$C$2:$C$62</c:f>
              <c:numCache>
                <c:formatCode>General</c:formatCode>
                <c:ptCount val="61"/>
                <c:pt idx="0">
                  <c:v>183.16579999999999</c:v>
                </c:pt>
                <c:pt idx="1">
                  <c:v>181.10939999999999</c:v>
                </c:pt>
                <c:pt idx="2">
                  <c:v>177.26859999999999</c:v>
                </c:pt>
                <c:pt idx="3">
                  <c:v>168.8905</c:v>
                </c:pt>
                <c:pt idx="4">
                  <c:v>159.1019</c:v>
                </c:pt>
                <c:pt idx="5">
                  <c:v>160.3244</c:v>
                </c:pt>
                <c:pt idx="6">
                  <c:v>170.11349999999999</c:v>
                </c:pt>
                <c:pt idx="7">
                  <c:v>172.57130000000001</c:v>
                </c:pt>
                <c:pt idx="8">
                  <c:v>168.0317</c:v>
                </c:pt>
                <c:pt idx="9">
                  <c:v>172.33850000000001</c:v>
                </c:pt>
                <c:pt idx="10">
                  <c:v>162.9984</c:v>
                </c:pt>
                <c:pt idx="11">
                  <c:v>164.6277</c:v>
                </c:pt>
                <c:pt idx="12">
                  <c:v>161.36859999999999</c:v>
                </c:pt>
                <c:pt idx="13">
                  <c:v>157.76599999999999</c:v>
                </c:pt>
                <c:pt idx="14">
                  <c:v>155.9999</c:v>
                </c:pt>
                <c:pt idx="15">
                  <c:v>150.77260000000001</c:v>
                </c:pt>
                <c:pt idx="16">
                  <c:v>143.86410000000001</c:v>
                </c:pt>
                <c:pt idx="17">
                  <c:v>150.11099999999999</c:v>
                </c:pt>
                <c:pt idx="18">
                  <c:v>145.59479999999999</c:v>
                </c:pt>
                <c:pt idx="19">
                  <c:v>138.4349</c:v>
                </c:pt>
                <c:pt idx="20">
                  <c:v>136.2688</c:v>
                </c:pt>
                <c:pt idx="21">
                  <c:v>130.49700000000001</c:v>
                </c:pt>
                <c:pt idx="22">
                  <c:v>119.8122</c:v>
                </c:pt>
                <c:pt idx="23">
                  <c:v>122.50490000000001</c:v>
                </c:pt>
                <c:pt idx="24">
                  <c:v>128.77889999999999</c:v>
                </c:pt>
                <c:pt idx="25">
                  <c:v>131.10149999999999</c:v>
                </c:pt>
                <c:pt idx="26">
                  <c:v>127.1425</c:v>
                </c:pt>
                <c:pt idx="27">
                  <c:v>119.4131</c:v>
                </c:pt>
                <c:pt idx="28">
                  <c:v>119.1174</c:v>
                </c:pt>
                <c:pt idx="29">
                  <c:v>117.3985</c:v>
                </c:pt>
                <c:pt idx="30">
                  <c:v>113.4228</c:v>
                </c:pt>
                <c:pt idx="31">
                  <c:v>116.464</c:v>
                </c:pt>
                <c:pt idx="32">
                  <c:v>109.69029999999999</c:v>
                </c:pt>
                <c:pt idx="33">
                  <c:v>116.5642</c:v>
                </c:pt>
                <c:pt idx="34">
                  <c:v>110.6182</c:v>
                </c:pt>
                <c:pt idx="35">
                  <c:v>102.4372</c:v>
                </c:pt>
                <c:pt idx="36">
                  <c:v>112.99</c:v>
                </c:pt>
                <c:pt idx="37">
                  <c:v>117.9978</c:v>
                </c:pt>
                <c:pt idx="38">
                  <c:v>108.14409999999999</c:v>
                </c:pt>
                <c:pt idx="39">
                  <c:v>118.051</c:v>
                </c:pt>
                <c:pt idx="40">
                  <c:v>118.04470000000001</c:v>
                </c:pt>
                <c:pt idx="41">
                  <c:v>129.4288</c:v>
                </c:pt>
                <c:pt idx="42">
                  <c:v>124.9586</c:v>
                </c:pt>
                <c:pt idx="43">
                  <c:v>129.0043</c:v>
                </c:pt>
                <c:pt idx="44">
                  <c:v>136.1645</c:v>
                </c:pt>
                <c:pt idx="45">
                  <c:v>130.4742</c:v>
                </c:pt>
                <c:pt idx="46">
                  <c:v>131.57060000000001</c:v>
                </c:pt>
                <c:pt idx="47">
                  <c:v>123.0617</c:v>
                </c:pt>
                <c:pt idx="48">
                  <c:v>129.208</c:v>
                </c:pt>
                <c:pt idx="49">
                  <c:v>125.5677</c:v>
                </c:pt>
                <c:pt idx="50">
                  <c:v>122.7748</c:v>
                </c:pt>
                <c:pt idx="51">
                  <c:v>120.10680000000001</c:v>
                </c:pt>
                <c:pt idx="52">
                  <c:v>119.45140000000001</c:v>
                </c:pt>
                <c:pt idx="53">
                  <c:v>113.50109999999999</c:v>
                </c:pt>
                <c:pt idx="54">
                  <c:v>108.88039999999999</c:v>
                </c:pt>
                <c:pt idx="55">
                  <c:v>106.1117</c:v>
                </c:pt>
                <c:pt idx="56">
                  <c:v>107.3068</c:v>
                </c:pt>
                <c:pt idx="57">
                  <c:v>103.46599999999999</c:v>
                </c:pt>
                <c:pt idx="58">
                  <c:v>93.419200000000004</c:v>
                </c:pt>
                <c:pt idx="59">
                  <c:v>96.077200000000005</c:v>
                </c:pt>
                <c:pt idx="60">
                  <c:v>100</c:v>
                </c:pt>
              </c:numCache>
            </c:numRef>
          </c:val>
          <c:smooth val="0"/>
          <c:extLst>
            <c:ext xmlns:c16="http://schemas.microsoft.com/office/drawing/2014/chart" uri="{C3380CC4-5D6E-409C-BE32-E72D297353CC}">
              <c16:uniqueId val="{00000001-4676-43F2-87E4-8CFCAD4B2644}"/>
            </c:ext>
          </c:extLst>
        </c:ser>
        <c:dLbls>
          <c:showLegendKey val="0"/>
          <c:showVal val="0"/>
          <c:showCatName val="0"/>
          <c:showSerName val="0"/>
          <c:showPercent val="0"/>
          <c:showBubbleSize val="0"/>
        </c:dLbls>
        <c:smooth val="0"/>
        <c:axId val="258409999"/>
        <c:axId val="265016911"/>
      </c:lineChart>
      <c:dateAx>
        <c:axId val="258409999"/>
        <c:scaling>
          <c:orientation val="minMax"/>
        </c:scaling>
        <c:delete val="0"/>
        <c:axPos val="b"/>
        <c:numFmt formatCode="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265016911"/>
        <c:crosses val="autoZero"/>
        <c:auto val="1"/>
        <c:lblOffset val="100"/>
        <c:baseTimeUnit val="days"/>
      </c:dateAx>
      <c:valAx>
        <c:axId val="265016911"/>
        <c:scaling>
          <c:orientation val="minMax"/>
          <c:max val="225"/>
          <c:min val="7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25840999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6717224155168453"/>
          <c:y val="0.12160804020100502"/>
          <c:w val="0.80333838565977778"/>
          <c:h val="0.75944274946159374"/>
        </c:manualLayout>
      </c:layout>
      <c:barChart>
        <c:barDir val="bar"/>
        <c:grouping val="clustered"/>
        <c:varyColors val="0"/>
        <c:ser>
          <c:idx val="0"/>
          <c:order val="0"/>
          <c:tx>
            <c:strRef>
              <c:f>Feuil1!$H$4</c:f>
              <c:strCache>
                <c:ptCount val="1"/>
                <c:pt idx="0">
                  <c:v>Fund</c:v>
                </c:pt>
              </c:strCache>
            </c:strRef>
          </c:tx>
          <c:spPr>
            <a:solidFill>
              <a:srgbClr val="70AD47"/>
            </a:solidFill>
            <a:ln>
              <a:noFill/>
            </a:ln>
            <a:effectLst/>
          </c:spPr>
          <c:invertIfNegative val="0"/>
          <c:dLbls>
            <c:dLbl>
              <c:idx val="0"/>
              <c:layout>
                <c:manualLayout>
                  <c:x val="2.6407427515249323E-3"/>
                  <c:y val="4.946382383400629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949F-44D9-915E-97C54397B9B0}"/>
                </c:ext>
              </c:extLst>
            </c:dLbl>
            <c:dLbl>
              <c:idx val="1"/>
              <c:layout>
                <c:manualLayout>
                  <c:x val="-9.6826115679033579E-17"/>
                  <c:y val="9.892764766801348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49F-44D9-915E-97C54397B9B0}"/>
                </c:ext>
              </c:extLst>
            </c:dLbl>
            <c:dLbl>
              <c:idx val="2"/>
              <c:layout>
                <c:manualLayout>
                  <c:x val="-1.4130368535588193E-2"/>
                  <c:y val="2.562678726078048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4C0-4640-98C6-6A23B3AC318E}"/>
                </c:ext>
              </c:extLst>
            </c:dLbl>
            <c:dLbl>
              <c:idx val="3"/>
              <c:layout>
                <c:manualLayout>
                  <c:x val="-1.0990286638790816E-2"/>
                  <c:y val="2.050118767337892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4C0-4640-98C6-6A23B3AC318E}"/>
                </c:ext>
              </c:extLst>
            </c:dLbl>
            <c:dLbl>
              <c:idx val="4"/>
              <c:layout>
                <c:manualLayout>
                  <c:x val="-7.9222282545751838E-3"/>
                  <c:y val="-9.0682629455539478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49F-44D9-915E-97C54397B9B0}"/>
                </c:ext>
              </c:extLst>
            </c:dLbl>
            <c:dLbl>
              <c:idx val="5"/>
              <c:layout>
                <c:manualLayout>
                  <c:x val="-5.7567503083243852E-17"/>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4C0-4640-98C6-6A23B3AC318E}"/>
                </c:ext>
              </c:extLst>
            </c:dLbl>
            <c:dLbl>
              <c:idx val="6"/>
              <c:layout>
                <c:manualLayout>
                  <c:x val="-3.1400818967973762E-3"/>
                  <c:y val="1.0250392057318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4C0-4640-98C6-6A23B3AC318E}"/>
                </c:ext>
              </c:extLst>
            </c:dLbl>
            <c:dLbl>
              <c:idx val="8"/>
              <c:layout>
                <c:manualLayout>
                  <c:x val="-7.8502047419934402E-3"/>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49F-44D9-915E-97C54397B9B0}"/>
                </c:ext>
              </c:extLst>
            </c:dLbl>
            <c:dLbl>
              <c:idx val="9"/>
              <c:layout>
                <c:manualLayout>
                  <c:x val="-3.1400818967973762E-3"/>
                  <c:y val="1.53759916447197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86A-47CE-9272-B71CFC55D3D9}"/>
                </c:ext>
              </c:extLst>
            </c:dLbl>
            <c:dLbl>
              <c:idx val="10"/>
              <c:delete val="1"/>
              <c:extLst>
                <c:ext xmlns:c15="http://schemas.microsoft.com/office/drawing/2012/chart" uri="{CE6537A1-D6FC-4f65-9D91-7224C49458BB}"/>
                <c:ext xmlns:c16="http://schemas.microsoft.com/office/drawing/2014/chart" uri="{C3380CC4-5D6E-409C-BE32-E72D297353CC}">
                  <c16:uniqueId val="{00000000-40C6-4443-AD1A-B5E0CFD7F10E}"/>
                </c:ext>
              </c:extLst>
            </c:dLbl>
            <c:dLbl>
              <c:idx val="11"/>
              <c:delete val="1"/>
              <c:extLst>
                <c:ext xmlns:c15="http://schemas.microsoft.com/office/drawing/2012/chart" uri="{CE6537A1-D6FC-4f65-9D91-7224C49458BB}"/>
                <c:ext xmlns:c16="http://schemas.microsoft.com/office/drawing/2014/chart" uri="{C3380CC4-5D6E-409C-BE32-E72D297353CC}">
                  <c16:uniqueId val="{00000001-40C6-4443-AD1A-B5E0CFD7F10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12"/>
                <c:pt idx="0">
                  <c:v>Information Technology</c:v>
                </c:pt>
                <c:pt idx="1">
                  <c:v>Communication Services</c:v>
                </c:pt>
                <c:pt idx="2">
                  <c:v>Financials</c:v>
                </c:pt>
                <c:pt idx="3">
                  <c:v>Consumer Discretionary</c:v>
                </c:pt>
                <c:pt idx="4">
                  <c:v>Health Care</c:v>
                </c:pt>
                <c:pt idx="5">
                  <c:v>Industrials</c:v>
                </c:pt>
                <c:pt idx="6">
                  <c:v>Consumer Staples</c:v>
                </c:pt>
                <c:pt idx="7">
                  <c:v>Utilities</c:v>
                </c:pt>
                <c:pt idx="8">
                  <c:v>Liquid Assets</c:v>
                </c:pt>
                <c:pt idx="9">
                  <c:v>Energy</c:v>
                </c:pt>
                <c:pt idx="10">
                  <c:v>Materials</c:v>
                </c:pt>
                <c:pt idx="11">
                  <c:v>Real Estate</c:v>
                </c:pt>
              </c:strCache>
            </c:strRef>
          </c:cat>
          <c:val>
            <c:numRef>
              <c:f>Feuil1!$H$5:$H$16</c:f>
              <c:numCache>
                <c:formatCode>0.0</c:formatCode>
                <c:ptCount val="12"/>
                <c:pt idx="0">
                  <c:v>30.5</c:v>
                </c:pt>
                <c:pt idx="1">
                  <c:v>17.600000000000001</c:v>
                </c:pt>
                <c:pt idx="2">
                  <c:v>13.3</c:v>
                </c:pt>
                <c:pt idx="3">
                  <c:v>10.3</c:v>
                </c:pt>
                <c:pt idx="4">
                  <c:v>10.3</c:v>
                </c:pt>
                <c:pt idx="5">
                  <c:v>8.3000000000000007</c:v>
                </c:pt>
                <c:pt idx="6">
                  <c:v>3.9</c:v>
                </c:pt>
                <c:pt idx="7">
                  <c:v>2.6</c:v>
                </c:pt>
                <c:pt idx="8">
                  <c:v>2</c:v>
                </c:pt>
                <c:pt idx="9">
                  <c:v>1.1000000000000001</c:v>
                </c:pt>
                <c:pt idx="10">
                  <c:v>0</c:v>
                </c:pt>
                <c:pt idx="11">
                  <c:v>0</c:v>
                </c:pt>
              </c:numCache>
            </c:numRef>
          </c:val>
          <c:extLst>
            <c:ext xmlns:c16="http://schemas.microsoft.com/office/drawing/2014/chart" uri="{C3380CC4-5D6E-409C-BE32-E72D297353CC}">
              <c16:uniqueId val="{00000000-DD8A-4837-B369-5F365B3EA1E1}"/>
            </c:ext>
          </c:extLst>
        </c:ser>
        <c:ser>
          <c:idx val="1"/>
          <c:order val="1"/>
          <c:tx>
            <c:strRef>
              <c:f>Feuil1!$I$4</c:f>
              <c:strCache>
                <c:ptCount val="1"/>
                <c:pt idx="0">
                  <c:v>SPX </c:v>
                </c:pt>
              </c:strCache>
            </c:strRef>
          </c:tx>
          <c:spPr>
            <a:solidFill>
              <a:srgbClr val="FFFFFF">
                <a:lumMod val="85000"/>
              </a:srgbClr>
            </a:solidFill>
            <a:ln>
              <a:noFill/>
            </a:ln>
            <a:effectLst/>
          </c:spPr>
          <c:invertIfNegative val="0"/>
          <c:dLbls>
            <c:dLbl>
              <c:idx val="0"/>
              <c:layout>
                <c:manualLayout>
                  <c:x val="-9.6826115679033579E-17"/>
                  <c:y val="-1.978552953360278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949F-44D9-915E-97C54397B9B0}"/>
                </c:ext>
              </c:extLst>
            </c:dLbl>
            <c:dLbl>
              <c:idx val="1"/>
              <c:layout>
                <c:manualLayout>
                  <c:x val="-4.7101228451960639E-3"/>
                  <c:y val="-1.024958493983342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4C0-4640-98C6-6A23B3AC318E}"/>
                </c:ext>
              </c:extLst>
            </c:dLbl>
            <c:dLbl>
              <c:idx val="2"/>
              <c:layout>
                <c:manualLayout>
                  <c:x val="-5.7808413218953586E-3"/>
                  <c:y val="5.48355619192285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949F-44D9-915E-97C54397B9B0}"/>
                </c:ext>
              </c:extLst>
            </c:dLbl>
            <c:dLbl>
              <c:idx val="3"/>
              <c:layout>
                <c:manualLayout>
                  <c:x val="-7.3508822702940462E-3"/>
                  <c:y val="5.3673312741075898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49F-44D9-915E-97C54397B9B0}"/>
                </c:ext>
              </c:extLst>
            </c:dLbl>
            <c:dLbl>
              <c:idx val="4"/>
              <c:layout>
                <c:manualLayout>
                  <c:x val="-4.710122845196122E-3"/>
                  <c:y val="-9.71204469493783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49F-44D9-915E-97C54397B9B0}"/>
                </c:ext>
              </c:extLst>
            </c:dLbl>
            <c:dLbl>
              <c:idx val="5"/>
              <c:layout>
                <c:manualLayout>
                  <c:x val="-6.2801637935947525E-3"/>
                  <c:y val="-2.014282751011519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49F-44D9-915E-97C54397B9B0}"/>
                </c:ext>
              </c:extLst>
            </c:dLbl>
            <c:dLbl>
              <c:idx val="6"/>
              <c:layout>
                <c:manualLayout>
                  <c:x val="-4.7101228451960639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49F-44D9-915E-97C54397B9B0}"/>
                </c:ext>
              </c:extLst>
            </c:dLbl>
            <c:dLbl>
              <c:idx val="7"/>
              <c:layout>
                <c:manualLayout>
                  <c:x val="0"/>
                  <c:y val="-1.483914715020215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7C1-4624-AB01-2F09A614F139}"/>
                </c:ext>
              </c:extLst>
            </c:dLbl>
            <c:dLbl>
              <c:idx val="8"/>
              <c:delete val="1"/>
              <c:extLst>
                <c:ext xmlns:c15="http://schemas.microsoft.com/office/drawing/2012/chart" uri="{CE6537A1-D6FC-4f65-9D91-7224C49458BB}"/>
                <c:ext xmlns:c16="http://schemas.microsoft.com/office/drawing/2014/chart" uri="{C3380CC4-5D6E-409C-BE32-E72D297353CC}">
                  <c16:uniqueId val="{00000005-C4C0-4640-98C6-6A23B3AC318E}"/>
                </c:ext>
              </c:extLst>
            </c:dLbl>
            <c:dLbl>
              <c:idx val="10"/>
              <c:layout>
                <c:manualLayout>
                  <c:x val="-3.1400818967973472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C4C0-4640-98C6-6A23B3AC318E}"/>
                </c:ext>
              </c:extLst>
            </c:dLbl>
            <c:dLbl>
              <c:idx val="11"/>
              <c:layout>
                <c:manualLayout>
                  <c:x val="-4.7101228451960639E-3"/>
                  <c:y val="9.396084174842213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C4C0-4640-98C6-6A23B3AC318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12"/>
                <c:pt idx="0">
                  <c:v>Information Technology</c:v>
                </c:pt>
                <c:pt idx="1">
                  <c:v>Communication Services</c:v>
                </c:pt>
                <c:pt idx="2">
                  <c:v>Financials</c:v>
                </c:pt>
                <c:pt idx="3">
                  <c:v>Consumer Discretionary</c:v>
                </c:pt>
                <c:pt idx="4">
                  <c:v>Health Care</c:v>
                </c:pt>
                <c:pt idx="5">
                  <c:v>Industrials</c:v>
                </c:pt>
                <c:pt idx="6">
                  <c:v>Consumer Staples</c:v>
                </c:pt>
                <c:pt idx="7">
                  <c:v>Utilities</c:v>
                </c:pt>
                <c:pt idx="8">
                  <c:v>Liquid Assets</c:v>
                </c:pt>
                <c:pt idx="9">
                  <c:v>Energy</c:v>
                </c:pt>
                <c:pt idx="10">
                  <c:v>Materials</c:v>
                </c:pt>
                <c:pt idx="11">
                  <c:v>Real Estate</c:v>
                </c:pt>
              </c:strCache>
            </c:strRef>
          </c:cat>
          <c:val>
            <c:numRef>
              <c:f>Feuil1!$I$5:$I$16</c:f>
              <c:numCache>
                <c:formatCode>0.0</c:formatCode>
                <c:ptCount val="12"/>
                <c:pt idx="0">
                  <c:v>34</c:v>
                </c:pt>
                <c:pt idx="1">
                  <c:v>9.9</c:v>
                </c:pt>
                <c:pt idx="2">
                  <c:v>13.8</c:v>
                </c:pt>
                <c:pt idx="3">
                  <c:v>10.4</c:v>
                </c:pt>
                <c:pt idx="4">
                  <c:v>8.8000000000000007</c:v>
                </c:pt>
                <c:pt idx="5">
                  <c:v>8.6</c:v>
                </c:pt>
                <c:pt idx="6">
                  <c:v>5.2</c:v>
                </c:pt>
                <c:pt idx="7">
                  <c:v>2.5</c:v>
                </c:pt>
                <c:pt idx="8">
                  <c:v>0</c:v>
                </c:pt>
                <c:pt idx="9">
                  <c:v>3</c:v>
                </c:pt>
                <c:pt idx="10">
                  <c:v>1.8</c:v>
                </c:pt>
                <c:pt idx="11">
                  <c:v>2</c:v>
                </c:pt>
              </c:numCache>
            </c:numRef>
          </c:val>
          <c:extLst>
            <c:ext xmlns:c16="http://schemas.microsoft.com/office/drawing/2014/chart" uri="{C3380CC4-5D6E-409C-BE32-E72D297353CC}">
              <c16:uniqueId val="{00000001-DD8A-4837-B369-5F365B3EA1E1}"/>
            </c:ext>
          </c:extLst>
        </c:ser>
        <c:dLbls>
          <c:showLegendKey val="0"/>
          <c:showVal val="0"/>
          <c:showCatName val="0"/>
          <c:showSerName val="0"/>
          <c:showPercent val="0"/>
          <c:showBubbleSize val="0"/>
        </c:dLbls>
        <c:gapWidth val="182"/>
        <c:axId val="630543144"/>
        <c:axId val="630542160"/>
      </c:barChart>
      <c:catAx>
        <c:axId val="630543144"/>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630542160"/>
        <c:crosses val="autoZero"/>
        <c:auto val="1"/>
        <c:lblAlgn val="ctr"/>
        <c:lblOffset val="100"/>
        <c:noMultiLvlLbl val="0"/>
      </c:catAx>
      <c:valAx>
        <c:axId val="630542160"/>
        <c:scaling>
          <c:orientation val="minMax"/>
          <c:max val="40"/>
        </c:scaling>
        <c:delete val="0"/>
        <c:axPos val="t"/>
        <c:majorGridlines>
          <c:spPr>
            <a:ln w="9525" cap="flat" cmpd="sng" algn="ctr">
              <a:solidFill>
                <a:schemeClr val="tx1">
                  <a:lumMod val="15000"/>
                  <a:lumOff val="85000"/>
                </a:schemeClr>
              </a:solidFill>
              <a:round/>
            </a:ln>
            <a:effectLst/>
          </c:spPr>
        </c:majorGridlines>
        <c:numFmt formatCode="0.0"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fr-FR"/>
          </a:p>
        </c:txPr>
        <c:crossAx val="630543144"/>
        <c:crosses val="autoZero"/>
        <c:crossBetween val="between"/>
      </c:valAx>
      <c:spPr>
        <a:noFill/>
        <a:ln>
          <a:noFill/>
        </a:ln>
        <a:effectLst/>
      </c:spPr>
    </c:plotArea>
    <c:legend>
      <c:legendPos val="b"/>
      <c:layout>
        <c:manualLayout>
          <c:xMode val="edge"/>
          <c:yMode val="edge"/>
          <c:x val="0.44759330012744181"/>
          <c:y val="0.89814519023689865"/>
          <c:w val="0.10481339974511633"/>
          <c:h val="9.6156676238334529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userShapes r:id="rId5"/>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0.00676</cdr:x>
      <cdr:y>0.01028</cdr:y>
    </cdr:from>
    <cdr:to>
      <cdr:x>0.00676</cdr:x>
      <cdr:y>0.01028</cdr:y>
    </cdr:to>
    <cdr:sp macro="" textlink="">
      <cdr:nvSpPr>
        <cdr:cNvPr id="2" name="UpSlideExportSave" hidden="1">
          <a:extLst xmlns:a="http://schemas.openxmlformats.org/drawingml/2006/main">
            <a:ext uri="{FF2B5EF4-FFF2-40B4-BE49-F238E27FC236}">
              <a16:creationId xmlns:a16="http://schemas.microsoft.com/office/drawing/2014/main" id="{9080A1F1-1B95-C1EB-2BE0-E01A6016EAC1}"/>
            </a:ext>
          </a:extLst>
        </cdr:cNvPr>
        <cdr:cNvSpPr/>
      </cdr:nvSpPr>
      <cdr:spPr>
        <a:xfrm xmlns:a="http://schemas.openxmlformats.org/drawingml/2006/main">
          <a:off x="50800" y="50800"/>
          <a:ext cx="0" cy="0"/>
        </a:xfrm>
        <a:prstGeom xmlns:a="http://schemas.openxmlformats.org/drawingml/2006/main" prst="rect">
          <a:avLst/>
        </a:prstGeom>
        <a:noFill xmlns:a="http://schemas.openxmlformats.org/drawingml/2006/main"/>
        <a:ln xmlns:a="http://schemas.openxmlformats.org/drawingml/2006/main" w="12700" cap="flat" cmpd="sng" algn="ctr">
          <a:noFill/>
          <a:prstDash val="solid"/>
          <a:miter lim="800000"/>
        </a:ln>
        <a:effectLst xmlns:a="http://schemas.openxmlformats.org/drawingml/2006/main"/>
        <a:extLst xmlns:a="http://schemas.openxmlformats.org/drawingml/2006/main">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dr:relSizeAnchor xmlns:cdr="http://schemas.openxmlformats.org/drawingml/2006/chartDrawing">
    <cdr:from>
      <cdr:x>0.00676</cdr:x>
      <cdr:y>0.01028</cdr:y>
    </cdr:from>
    <cdr:to>
      <cdr:x>0.00676</cdr:x>
      <cdr:y>0.01028</cdr:y>
    </cdr:to>
    <cdr:sp macro="" textlink="">
      <cdr:nvSpPr>
        <cdr:cNvPr id="3" name="#UpSlide#ChartHasBeenCopiedWithUpSlideActive#" hidden="1">
          <a:extLst xmlns:a="http://schemas.openxmlformats.org/drawingml/2006/main">
            <a:ext uri="{FF2B5EF4-FFF2-40B4-BE49-F238E27FC236}">
              <a16:creationId xmlns:a16="http://schemas.microsoft.com/office/drawing/2014/main" id="{097217E8-7B6B-49AF-6D52-FD7B0ECF39B7}"/>
            </a:ext>
          </a:extLst>
        </cdr:cNvPr>
        <cdr:cNvSpPr/>
      </cdr:nvSpPr>
      <cdr:spPr>
        <a:xfrm xmlns:a="http://schemas.openxmlformats.org/drawingml/2006/main">
          <a:off x="50800" y="50800"/>
          <a:ext cx="0" cy="0"/>
        </a:xfrm>
        <a:prstGeom xmlns:a="http://schemas.openxmlformats.org/drawingml/2006/main" prst="rect">
          <a:avLst/>
        </a:prstGeom>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userShapes>
</file>

<file path=ppt/drawings/drawing2.xml><?xml version="1.0" encoding="utf-8"?>
<c:userShapes xmlns:c="http://schemas.openxmlformats.org/drawingml/2006/chart">
  <cdr:relSizeAnchor xmlns:cdr="http://schemas.openxmlformats.org/drawingml/2006/chartDrawing">
    <cdr:from>
      <cdr:x>0.00676</cdr:x>
      <cdr:y>0.01028</cdr:y>
    </cdr:from>
    <cdr:to>
      <cdr:x>0.00676</cdr:x>
      <cdr:y>0.01028</cdr:y>
    </cdr:to>
    <cdr:sp macro="" textlink="">
      <cdr:nvSpPr>
        <cdr:cNvPr id="2" name="UpSlideExportSave" hidden="1">
          <a:extLst xmlns:a="http://schemas.openxmlformats.org/drawingml/2006/main">
            <a:ext uri="{FF2B5EF4-FFF2-40B4-BE49-F238E27FC236}">
              <a16:creationId xmlns:a16="http://schemas.microsoft.com/office/drawing/2014/main" id="{9080A1F1-1B95-C1EB-2BE0-E01A6016EAC1}"/>
            </a:ext>
          </a:extLst>
        </cdr:cNvPr>
        <cdr:cNvSpPr/>
      </cdr:nvSpPr>
      <cdr:spPr>
        <a:xfrm xmlns:a="http://schemas.openxmlformats.org/drawingml/2006/main">
          <a:off x="50800" y="50800"/>
          <a:ext cx="0" cy="0"/>
        </a:xfrm>
        <a:prstGeom xmlns:a="http://schemas.openxmlformats.org/drawingml/2006/main" prst="rect">
          <a:avLst/>
        </a:prstGeom>
        <a:noFill xmlns:a="http://schemas.openxmlformats.org/drawingml/2006/main"/>
        <a:ln xmlns:a="http://schemas.openxmlformats.org/drawingml/2006/main" w="12700" cap="flat" cmpd="sng" algn="ctr">
          <a:noFill/>
          <a:prstDash val="solid"/>
          <a:miter lim="800000"/>
        </a:ln>
        <a:effectLst xmlns:a="http://schemas.openxmlformats.org/drawingml/2006/main"/>
        <a:extLst xmlns:a="http://schemas.openxmlformats.org/drawingml/2006/main">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dr:relSizeAnchor xmlns:cdr="http://schemas.openxmlformats.org/drawingml/2006/chartDrawing">
    <cdr:from>
      <cdr:x>0.00676</cdr:x>
      <cdr:y>0.01028</cdr:y>
    </cdr:from>
    <cdr:to>
      <cdr:x>0.00676</cdr:x>
      <cdr:y>0.01028</cdr:y>
    </cdr:to>
    <cdr:sp macro="" textlink="">
      <cdr:nvSpPr>
        <cdr:cNvPr id="3" name="#UpSlide#ChartHasBeenCopiedWithUpSlideActive#" hidden="1">
          <a:extLst xmlns:a="http://schemas.openxmlformats.org/drawingml/2006/main">
            <a:ext uri="{FF2B5EF4-FFF2-40B4-BE49-F238E27FC236}">
              <a16:creationId xmlns:a16="http://schemas.microsoft.com/office/drawing/2014/main" id="{097217E8-7B6B-49AF-6D52-FD7B0ECF39B7}"/>
            </a:ext>
          </a:extLst>
        </cdr:cNvPr>
        <cdr:cNvSpPr/>
      </cdr:nvSpPr>
      <cdr:spPr>
        <a:xfrm xmlns:a="http://schemas.openxmlformats.org/drawingml/2006/main">
          <a:off x="50800" y="50800"/>
          <a:ext cx="0" cy="0"/>
        </a:xfrm>
        <a:prstGeom xmlns:a="http://schemas.openxmlformats.org/drawingml/2006/main" prst="rect">
          <a:avLst/>
        </a:prstGeom>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18.xml"/><Relationship Id="rId3" Type="http://schemas.openxmlformats.org/officeDocument/2006/relationships/chart" Target="../charts/chart1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20.xml"/></Relationships>
</file>

<file path=ppt/slides/_rels/slide33.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Layout" Target="../slideLayouts/slideLayout29.xml"/><Relationship Id="rId3" Type="http://schemas.openxmlformats.org/officeDocument/2006/relationships/chart" Target="../charts/chart21.xml"/><Relationship Id="rId4" Type="http://schemas.openxmlformats.org/officeDocument/2006/relationships/chart" Target="../charts/char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23.xml"/></Relationships>
</file>

<file path=ppt/slides/_rels/slide35.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tags" Target="../tags/tag13.xml"/><Relationship Id="rId3" Type="http://schemas.openxmlformats.org/officeDocument/2006/relationships/slideLayout" Target="../slideLayouts/slideLayout29.xml"/><Relationship Id="rId4" Type="http://schemas.openxmlformats.org/officeDocument/2006/relationships/chart" Target="../charts/chart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Moderate USD 7m</a:t>
            </a:r>
            <a:endParaRPr lang="en-GB" sz="1600" b="1" dirty="0"/>
          </a:p>
          <a:p>
            <a:endParaRPr lang="en-GB" sz="1400" b="1" dirty="0"/>
          </a:p>
          <a:p>
            <a:r>
              <a:rPr lang="en-CH" sz="1100" dirty="0"/>
              <a:t>Prepared for [Client Name ]</a:t>
            </a:r>
            <a:endParaRPr lang="en-US" sz="1100" dirty="0"/>
          </a:p>
          <a:p>
            <a:endParaRPr lang="en-US" sz="1100" dirty="0"/>
          </a:p>
          <a:p>
            <a:r>
              <a:rPr lang="en-CH" sz="1100" dirty="0"/>
              <a:t>Your Relationship Manager: [Name]</a:t>
            </a:r>
            <a:endParaRPr lang="en-US" sz="1100" dirty="0"/>
          </a:p>
          <a:p>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3" name="Text Placeholder 2"/>
          <p:cNvSpPr>
            <a:spLocks noGrp="1"/>
          </p:cNvSpPr>
          <p:nvPr>
            <p:ph type="body" sz="quarter" idx="14"/>
          </p:nvPr>
        </p:nvSpPr>
        <p:spPr>
          <a:xfrm>
            <a:off x="665163" y="1728947"/>
            <a:ext cx="9398001" cy="430887"/>
          </a:xfrm>
        </p:spPr>
        <p:txBody>
          <a:bodyPr>
            <a:spAutoFit/>
          </a:bodyPr>
          <a:lstStyle/>
          <a:p>
            <a:r>
              <a:rPr lang="en-US" sz="1400" noProof="0" dirty="0"/>
              <a:t>A violent, momentum-driven unwind across everything AI-adjacent, while energy and value led. Week of 20 July 2026.</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-1.6%</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-9%</a:t>
            </a:r>
          </a:p>
          <a:p>
            <a:pPr algn="ctr"/>
            <a:r>
              <a:rPr lang="en-US" sz="1200" noProof="0" dirty="0">
                <a:solidFill>
                  <a:srgbClr val="202945"/>
                </a:solidFill>
                <a:latin typeface="Nunito Sans"/>
              </a:rPr>
              <a:t>SMH semiconductors,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-0.4%</a:t>
            </a:r>
          </a:p>
          <a:p>
            <a:pPr algn="ctr"/>
            <a:r>
              <a:rPr lang="en-US" sz="1200" noProof="0" dirty="0">
                <a:solidFill>
                  <a:srgbClr val="202945"/>
                </a:solidFill>
                <a:latin typeface="Nunito Sans"/>
              </a:rPr>
              <a:t>US CPI, June m/m</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$88</a:t>
            </a:r>
            <a:endParaRPr lang="en-US" sz="2400" noProof="0" dirty="0"/>
          </a:p>
          <a:p>
            <a:pPr algn="ctr"/>
            <a:r>
              <a:rPr lang="en-US" sz="1200" noProof="0" dirty="0">
                <a:solidFill>
                  <a:srgbClr val="202945"/>
                </a:solidFill>
                <a:latin typeface="Nunito Sans"/>
              </a:rPr>
              <a:t>WTI, week's high (+$12)</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MSCI World</a:t>
            </a:r>
          </a:p>
          <a:p>
            <a:pPr algn="l">
              <a:spcAft>
                <a:spcPts val="600"/>
              </a:spcAft>
            </a:pPr>
            <a:r>
              <a:rPr lang="en-US" sz="1100" b="0" noProof="0" dirty="0">
                <a:solidFill>
                  <a:srgbClr val="202945"/>
                </a:solidFill>
                <a:latin typeface="Nunito Sans"/>
              </a:rPr>
              <a:t>Nasdaq 100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CSI 300</a:t>
            </a:r>
          </a:p>
          <a:p>
            <a:pPr algn="l">
              <a:spcAft>
                <a:spcPts val="600"/>
              </a:spcAft>
            </a:pPr>
            <a:r>
              <a:rPr lang="en-US" sz="1100" b="0" noProof="0" dirty="0">
                <a:solidFill>
                  <a:srgbClr val="202945"/>
                </a:solidFill>
                <a:latin typeface="Nunito Sans"/>
              </a:rPr>
              <a:t>US Governments</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MSCI World Energy</a:t>
            </a:r>
          </a:p>
          <a:p>
            <a:pPr algn="l">
              <a:spcAft>
                <a:spcPts val="600"/>
              </a:spcAft>
            </a:pPr>
            <a:r>
              <a:rPr lang="en-US" sz="1100" b="0" noProof="0" dirty="0">
                <a:solidFill>
                  <a:srgbClr val="202945"/>
                </a:solidFill>
                <a:latin typeface="Nunito Sans"/>
              </a:rPr>
              <a:t>MSCI World Info Tech</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FF6C0E"/>
                </a:solidFill>
                <a:latin typeface="Nunito Sans"/>
              </a:rPr>
              <a:t>-1.2%</a:t>
            </a:r>
          </a:p>
          <a:p>
            <a:pPr algn="r">
              <a:spcAft>
                <a:spcPts val="600"/>
              </a:spcAft>
            </a:pPr>
            <a:r>
              <a:rPr lang="en-US" sz="1100" b="0" noProof="0" dirty="0">
                <a:solidFill>
                  <a:srgbClr val="FF6C0E"/>
                </a:solidFill>
                <a:latin typeface="Nunito Sans"/>
              </a:rPr>
              <a:t>-4.1%</a:t>
            </a:r>
          </a:p>
          <a:p>
            <a:pPr algn="r">
              <a:spcAft>
                <a:spcPts val="600"/>
              </a:spcAft>
            </a:pPr>
            <a:r>
              <a:rPr lang="en-US" sz="1100" b="0" noProof="0" dirty="0">
                <a:solidFill>
                  <a:srgbClr val="FF6C0E"/>
                </a:solidFill>
                <a:latin typeface="Nunito Sans"/>
              </a:rPr>
              <a:t>-4.1%</a:t>
            </a:r>
          </a:p>
          <a:p>
            <a:pPr algn="r">
              <a:spcAft>
                <a:spcPts val="600"/>
              </a:spcAft>
            </a:pPr>
            <a:r>
              <a:rPr lang="en-US" sz="1100" b="0" noProof="0" dirty="0">
                <a:solidFill>
                  <a:srgbClr val="FF6C0E"/>
                </a:solidFill>
                <a:latin typeface="Nunito Sans"/>
              </a:rPr>
              <a:t>-5.1%</a:t>
            </a:r>
          </a:p>
          <a:p>
            <a:pPr algn="r">
              <a:spcAft>
                <a:spcPts val="600"/>
              </a:spcAft>
            </a:pPr>
            <a:r>
              <a:rPr lang="en-US" sz="1100" b="0" noProof="0" dirty="0">
                <a:solidFill>
                  <a:srgbClr val="3BAF90"/>
                </a:solidFill>
                <a:latin typeface="Nunito Sans"/>
              </a:rPr>
              <a:t>+0.2%</a:t>
            </a:r>
          </a:p>
          <a:p>
            <a:pPr algn="r">
              <a:spcAft>
                <a:spcPts val="600"/>
              </a:spcAft>
            </a:pPr>
            <a:r>
              <a:rPr lang="en-US" sz="1100" b="0" noProof="0" dirty="0">
                <a:solidFill>
                  <a:srgbClr val="3BAF90"/>
                </a:solidFill>
                <a:latin typeface="Nunito Sans"/>
              </a:rPr>
              <a:t>+19.1%</a:t>
            </a:r>
          </a:p>
          <a:p>
            <a:pPr algn="r">
              <a:spcAft>
                <a:spcPts val="600"/>
              </a:spcAft>
            </a:pPr>
            <a:r>
              <a:rPr lang="en-US" sz="1100" b="0" noProof="0" dirty="0">
                <a:solidFill>
                  <a:srgbClr val="3BAF90"/>
                </a:solidFill>
                <a:latin typeface="Nunito Sans"/>
              </a:rPr>
              <a:t>+0.4%</a:t>
            </a:r>
          </a:p>
          <a:p>
            <a:pPr algn="r">
              <a:spcAft>
                <a:spcPts val="600"/>
              </a:spcAft>
            </a:pPr>
            <a:r>
              <a:rPr lang="en-US" sz="1100" b="0" noProof="0" dirty="0">
                <a:solidFill>
                  <a:srgbClr val="3BAF90"/>
                </a:solidFill>
                <a:latin typeface="Nunito Sans"/>
              </a:rPr>
              <a:t>+4.7%</a:t>
            </a:r>
          </a:p>
          <a:p>
            <a:pPr algn="r">
              <a:spcAft>
                <a:spcPts val="600"/>
              </a:spcAft>
            </a:pPr>
            <a:r>
              <a:rPr lang="en-US" sz="1100" b="0" noProof="0" dirty="0">
                <a:solidFill>
                  <a:srgbClr val="FF6C0E"/>
                </a:solidFill>
                <a:latin typeface="Nunito Sans"/>
              </a:rPr>
              <a:t>-4.0%</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+9.6%</a:t>
            </a:r>
          </a:p>
          <a:p>
            <a:pPr algn="r">
              <a:spcAft>
                <a:spcPts val="600"/>
              </a:spcAft>
            </a:pPr>
            <a:r>
              <a:rPr lang="en-US" sz="1100" b="0" noProof="0" dirty="0">
                <a:solidFill>
                  <a:srgbClr val="3BAF90"/>
                </a:solidFill>
                <a:latin typeface="Nunito Sans"/>
              </a:rPr>
              <a:t>+13.6%</a:t>
            </a:r>
          </a:p>
          <a:p>
            <a:pPr algn="r">
              <a:spcAft>
                <a:spcPts val="600"/>
              </a:spcAft>
            </a:pPr>
            <a:r>
              <a:rPr lang="en-US" sz="1100" b="0" noProof="0" dirty="0">
                <a:solidFill>
                  <a:srgbClr val="3BAF90"/>
                </a:solidFill>
                <a:latin typeface="Nunito Sans"/>
              </a:rPr>
              <a:t>+16.9%</a:t>
            </a:r>
          </a:p>
          <a:p>
            <a:pPr algn="r">
              <a:spcAft>
                <a:spcPts val="600"/>
              </a:spcAft>
            </a:pPr>
            <a:r>
              <a:rPr lang="en-US" sz="1100" b="0" noProof="0" dirty="0">
                <a:solidFill>
                  <a:srgbClr val="FF6C0E"/>
                </a:solidFill>
                <a:latin typeface="Nunito Sans"/>
              </a:rPr>
              <a:t>-0.8%</a:t>
            </a:r>
          </a:p>
          <a:p>
            <a:pPr algn="r">
              <a:spcAft>
                <a:spcPts val="600"/>
              </a:spcAft>
            </a:pPr>
            <a:r>
              <a:rPr lang="en-US" sz="1100" b="0" noProof="0" dirty="0">
                <a:solidFill>
                  <a:srgbClr val="FF6C0E"/>
                </a:solidFill>
                <a:latin typeface="Nunito Sans"/>
              </a:rPr>
              <a:t>-0.1%</a:t>
            </a:r>
          </a:p>
          <a:p>
            <a:pPr algn="r">
              <a:spcAft>
                <a:spcPts val="600"/>
              </a:spcAft>
            </a:pPr>
            <a:r>
              <a:rPr lang="en-US" sz="1100" b="0" noProof="0" dirty="0">
                <a:solidFill>
                  <a:srgbClr val="3BAF90"/>
                </a:solidFill>
                <a:latin typeface="Nunito Sans"/>
              </a:rPr>
              <a:t>+63.2%</a:t>
            </a:r>
          </a:p>
          <a:p>
            <a:pPr algn="r">
              <a:spcAft>
                <a:spcPts val="600"/>
              </a:spcAft>
            </a:pPr>
            <a:r>
              <a:rPr lang="en-US" sz="1100" b="0" noProof="0" dirty="0">
                <a:solidFill>
                  <a:srgbClr val="FF6C0E"/>
                </a:solidFill>
                <a:latin typeface="Nunito Sans"/>
              </a:rPr>
              <a:t>-7.0%</a:t>
            </a:r>
          </a:p>
          <a:p>
            <a:pPr algn="r">
              <a:spcAft>
                <a:spcPts val="600"/>
              </a:spcAft>
            </a:pPr>
            <a:r>
              <a:rPr lang="en-US" sz="1100" b="0" noProof="0" dirty="0">
                <a:solidFill>
                  <a:srgbClr val="3BAF90"/>
                </a:solidFill>
                <a:latin typeface="Nunito Sans"/>
              </a:rPr>
              <a:t>+29.1%</a:t>
            </a:r>
          </a:p>
          <a:p>
            <a:pPr algn="r">
              <a:spcAft>
                <a:spcPts val="600"/>
              </a:spcAft>
            </a:pPr>
            <a:r>
              <a:rPr lang="en-US" sz="1100" b="0" noProof="0" dirty="0">
                <a:solidFill>
                  <a:srgbClr val="3BAF90"/>
                </a:solidFill>
                <a:latin typeface="Nunito Sans"/>
              </a:rPr>
              <a:t>+16.4%</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Tech and China led the losses</a:t>
            </a:r>
            <a:endParaRPr lang="en-US" sz="1200" noProof="0" dirty="0"/>
          </a:p>
          <a:p>
            <a:pPr algn="l"/>
            <a:r>
              <a:rPr lang="en-US" sz="1100" b="0" noProof="0" dirty="0">
                <a:solidFill>
                  <a:srgbClr val="202945"/>
                </a:solidFill>
                <a:latin typeface="Nunito Sans"/>
              </a:rPr>
              <a:t>CSI 300, Nasdaq 100 and MSCI EM sat at the bottom of the board; the SOX closed more than 20% below its June record.</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Value reasserting itself</a:t>
            </a:r>
            <a:endParaRPr lang="en-US" sz="1200" noProof="0" dirty="0"/>
          </a:p>
          <a:p>
            <a:pPr algn="l"/>
            <a:r>
              <a:rPr lang="en-US" sz="1100" b="0" noProof="0" dirty="0">
                <a:solidFill>
                  <a:srgbClr val="202945"/>
                </a:solidFill>
                <a:latin typeface="Nunito Sans"/>
              </a:rPr>
              <a:t>Energy, Financials and Consumer Staples were among the only sectors positive on the week, while Information Technology fell 4.0%.</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Fixed income stayed defensive</a:t>
            </a:r>
            <a:endParaRPr lang="en-US" sz="1200" noProof="0" dirty="0"/>
          </a:p>
          <a:p>
            <a:pPr algn="l"/>
            <a:r>
              <a:rPr lang="en-US" sz="1100" b="0" noProof="0" dirty="0">
                <a:solidFill>
                  <a:srgbClr val="202945"/>
                </a:solidFill>
                <a:latin typeface="Nunito Sans"/>
              </a:rPr>
              <a:t>US Governments and USD high yield were little changed; European credit slipped on the energy-driven inflation scare.</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3" name="Text Placeholder 2">
            <a:extLst>
              <a:ext uri="{FF2B5EF4-FFF2-40B4-BE49-F238E27FC236}">
                <a16:creationId xmlns:a16="http://schemas.microsoft.com/office/drawing/2014/main" id="{BC7CB425-A197-FF68-020E-2E808D0A6105}"/>
              </a:ext>
            </a:extLst>
          </p:cNvPr>
          <p:cNvSpPr>
            <a:spLocks noGrp="1"/>
          </p:cNvSpPr>
          <p:nvPr>
            <p:ph type="body" sz="quarter" idx="14"/>
          </p:nvPr>
        </p:nvSpPr>
        <p:spPr>
          <a:xfrm>
            <a:off x="665163" y="1699200"/>
            <a:ext cx="9398001" cy="251511"/>
          </a:xfrm>
        </p:spPr>
        <p:txBody>
          <a:bodyPr/>
          <a:lstStyle/>
          <a:p>
            <a:r>
              <a:rPr lang="en-US" sz="1400" noProof="0" dirty="0"/>
              <a:t>A Beijing lab moved markets more than the Fed did; oil, momentum and Korean leverage did the rest.</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Middle East escalation</a:t>
            </a:r>
            <a:endParaRPr lang="en-US" sz="1200" noProof="0" dirty="0">
              <a:solidFill>
                <a:schemeClr val="tx2"/>
              </a:solidFill>
            </a:endParaRPr>
          </a:p>
          <a:p>
            <a:pPr algn="l">
              <a:spcAft>
                <a:spcPts val="800"/>
              </a:spcAft>
            </a:pPr>
            <a:r>
              <a:rPr lang="en-US" sz="1100" b="0" noProof="0" dirty="0">
                <a:solidFill>
                  <a:srgbClr val="202945"/>
                </a:solidFill>
                <a:latin typeface="Nunito Sans"/>
              </a:rPr>
              <a:t>A seventh night of US-Iran strikes pushed WTI up $12 to $88, its biggest weekly gain since the war began. Hormuz cargo crossings collapsed to 2 vessels against a one-year average of 72.</a:t>
            </a:r>
          </a:p>
          <a:p>
            <a:pPr>
              <a:spcAft>
                <a:spcPts val="800"/>
              </a:spcAft>
            </a:pPr>
            <a:r>
              <a:rPr lang="en-US" sz="1200" b="1" noProof="0" dirty="0">
                <a:solidFill>
                  <a:schemeClr val="tx2"/>
                </a:solidFill>
                <a:latin typeface="Nunito Sans ExtraBold"/>
              </a:rPr>
              <a:t>$88 WTI  </a:t>
            </a:r>
          </a:p>
          <a:p>
            <a:pPr>
              <a:spcAft>
                <a:spcPts val="800"/>
              </a:spcAft>
            </a:pPr>
            <a:r>
              <a:rPr lang="en-US" sz="1200" b="1" noProof="0" dirty="0">
                <a:solidFill>
                  <a:schemeClr val="tx2"/>
                </a:solidFill>
                <a:latin typeface="Nunito Sans ExtraBold"/>
              </a:rPr>
              <a:t>Hormuz traffic near zero</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China closes the AI gap</a:t>
            </a:r>
          </a:p>
          <a:p>
            <a:pPr algn="l">
              <a:spcAft>
                <a:spcPts val="800"/>
              </a:spcAft>
            </a:pPr>
            <a:r>
              <a:rPr lang="en-US" sz="1100" b="0" noProof="0" dirty="0">
                <a:solidFill>
                  <a:srgbClr val="202945"/>
                </a:solidFill>
                <a:latin typeface="Nunito Sans"/>
              </a:rPr>
              <a:t>Moonshot AI's Kimi K3 took the number one spot on the Frontend Code Arena leaderboard, a 17-place jump, ahead of every closed </a:t>
            </a:r>
            <a:r>
              <a:rPr lang="en-US" sz="1100" b="0" noProof="0" dirty="0">
                <a:solidFill>
                  <a:schemeClr val="tx2"/>
                </a:solidFill>
                <a:latin typeface="Nunito Sans"/>
              </a:rPr>
              <a:t>US frontier model, read as a second "DeepSeek moment".</a:t>
            </a:r>
          </a:p>
          <a:p>
            <a:pPr>
              <a:spcAft>
                <a:spcPts val="800"/>
              </a:spcAft>
            </a:pPr>
            <a:r>
              <a:rPr lang="en-US" sz="1200" b="1" noProof="0" dirty="0">
                <a:solidFill>
                  <a:schemeClr val="tx2"/>
                </a:solidFill>
                <a:latin typeface="Nunito Sans ExtraBold"/>
              </a:rPr>
              <a:t>Kimi K3: 18th to 1st</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Momentum unwind, not capex unwind</a:t>
            </a:r>
          </a:p>
          <a:p>
            <a:pPr algn="l">
              <a:spcAft>
                <a:spcPts val="800"/>
              </a:spcAft>
            </a:pPr>
            <a:r>
              <a:rPr lang="en-US" sz="1100" b="0" noProof="0" dirty="0">
                <a:solidFill>
                  <a:srgbClr val="202945"/>
                </a:solidFill>
                <a:latin typeface="Nunito Sans"/>
              </a:rPr>
              <a:t>Goldman's high-beta momentum basket heads for its worst month in roughly 17 years; $3.3tn erased from global chip stocks since 22 </a:t>
            </a:r>
            <a:r>
              <a:rPr lang="en-US" sz="1100" b="0" noProof="0" dirty="0">
                <a:solidFill>
                  <a:schemeClr val="tx2"/>
                </a:solidFill>
                <a:latin typeface="Nunito Sans"/>
              </a:rPr>
              <a:t>June. </a:t>
            </a:r>
            <a:r>
              <a:rPr lang="en-US" sz="1100" b="0" noProof="0" dirty="0" err="1">
                <a:solidFill>
                  <a:schemeClr val="tx2"/>
                </a:solidFill>
                <a:latin typeface="Nunito Sans"/>
              </a:rPr>
              <a:t>Hyperscaler</a:t>
            </a:r>
            <a:r>
              <a:rPr lang="en-US" sz="1100" b="0" noProof="0" dirty="0">
                <a:solidFill>
                  <a:schemeClr val="tx2"/>
                </a:solidFill>
                <a:latin typeface="Nunito Sans"/>
              </a:rPr>
              <a:t> backlogs still point to an intact $730bn buildout.</a:t>
            </a:r>
          </a:p>
          <a:p>
            <a:pPr>
              <a:spcAft>
                <a:spcPts val="800"/>
              </a:spcAft>
            </a:pPr>
            <a:r>
              <a:rPr lang="en-US" sz="1200" b="1" noProof="0" dirty="0">
                <a:solidFill>
                  <a:schemeClr val="tx2"/>
                </a:solidFill>
                <a:latin typeface="Nunito Sans ExtraBold"/>
              </a:rPr>
              <a:t>-$3.3tn chip stocks   </a:t>
            </a:r>
          </a:p>
          <a:p>
            <a:pPr>
              <a:spcAft>
                <a:spcPts val="800"/>
              </a:spcAft>
            </a:pPr>
            <a:r>
              <a:rPr lang="en-US" sz="1200" b="1" noProof="0" dirty="0">
                <a:solidFill>
                  <a:schemeClr val="tx2"/>
                </a:solidFill>
                <a:latin typeface="Nunito Sans ExtraBold"/>
              </a:rPr>
              <a:t>SOX -20%</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Korea's leverage problem</a:t>
            </a:r>
          </a:p>
          <a:p>
            <a:pPr algn="l">
              <a:spcAft>
                <a:spcPts val="800"/>
              </a:spcAft>
            </a:pPr>
            <a:r>
              <a:rPr lang="en-US" sz="1100" b="0" noProof="0" dirty="0">
                <a:solidFill>
                  <a:srgbClr val="202945"/>
                </a:solidFill>
                <a:latin typeface="Nunito Sans"/>
              </a:rPr>
              <a:t>Heavy foreign selling left Korea dependent on retail investors and single-stock leveraged ETFs tied to Samsung and SK Hynix, turning falling prices into forced selling. Banks now push a rotation </a:t>
            </a:r>
            <a:r>
              <a:rPr lang="en-US" sz="1100" b="0" noProof="0" dirty="0">
                <a:solidFill>
                  <a:schemeClr val="tx2"/>
                </a:solidFill>
                <a:latin typeface="Nunito Sans"/>
              </a:rPr>
              <a:t>into China.</a:t>
            </a:r>
          </a:p>
          <a:p>
            <a:pPr>
              <a:spcAft>
                <a:spcPts val="800"/>
              </a:spcAft>
            </a:pPr>
            <a:r>
              <a:rPr lang="en-US" sz="1200" b="1" noProof="0" dirty="0">
                <a:solidFill>
                  <a:schemeClr val="tx2"/>
                </a:solidFill>
                <a:latin typeface="Nunito Sans ExtraBold"/>
              </a:rPr>
              <a:t>Kospi was +88% YTD at its peak</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Moderate - 39%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Medium to long term ( 5 to 10 years)</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EUR</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Moderate</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Regular distribution but stable capital</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5991063" y="3729580"/>
              <a:ext cx="314873" cy="314873"/>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lstStyle>
              <a:defPPr>
                <a:defRPr lang="en-US"/>
              </a:defPPr>
              <a:lvl1pPr>
                <a:lnSpc>
                  <a:spcPct val="80000"/>
                </a:lnSpc>
                <a:defRPr sz="1114" b="1">
                  <a:solidFill>
                    <a:srgbClr val="FFA400"/>
                  </a:solidFill>
                  <a:latin typeface="+mj-lt"/>
                  <a:cs typeface="Arial" panose="020B0604020202020204" pitchFamily="34" charset="0"/>
                </a:defRPr>
              </a:lvl1pPr>
            </a:lstStyle>
            <a:p>
              <a:r>
                <a:rPr lang="en-US" sz="1200" noProof="0" dirty="0"/>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911796" y="3187360"/>
              <a:ext cx="251048" cy="251047"/>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lstStyle>
              <a:defPPr>
                <a:defRPr lang="en-US"/>
              </a:defPPr>
              <a:lvl1pPr>
                <a:lnSpc>
                  <a:spcPct val="80000"/>
                </a:lnSpc>
                <a:defRPr sz="795" b="1">
                  <a:solidFill>
                    <a:srgbClr val="3AB7C8"/>
                  </a:solidFill>
                  <a:latin typeface="Nunito Sans" pitchFamily="2" charset="77"/>
                  <a:cs typeface="Arial" panose="020B0604020202020204" pitchFamily="34" charset="0"/>
                </a:defRPr>
              </a:lvl1pPr>
            </a:lstStyle>
            <a:p>
              <a:r>
                <a:rPr lang="en-US" sz="1100" noProof="0" dirty="0"/>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cash and fixed income</a:t>
            </a:r>
          </a:p>
        </p:txBody>
      </p:sp>
      <p:sp>
        <p:nvSpPr>
          <p:cNvPr id="3" name="Text Placeholder 2"/>
          <p:cNvSpPr>
            <a:spLocks noGrp="1"/>
          </p:cNvSpPr>
          <p:nvPr>
            <p:ph type="body" sz="quarter" idx="14"/>
          </p:nvPr>
        </p:nvSpPr>
        <p:spPr>
          <a:xfrm>
            <a:off x="665163" y="1645086"/>
            <a:ext cx="9398001" cy="251511"/>
          </a:xfrm>
        </p:spPr>
        <p:txBody>
          <a:bodyPr/>
          <a:lstStyle/>
          <a:p>
            <a:r>
              <a:rPr lang="en-US" sz="1400" noProof="0" dirty="0"/>
              <a:t>All positions of the proposed USD 7.0m allocation, part 1 of 2. Weights as at 6 August 2026.</a:t>
            </a: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equity, alternatives and commodities</a:t>
            </a:r>
          </a:p>
        </p:txBody>
      </p:sp>
      <p:sp>
        <p:nvSpPr>
          <p:cNvPr id="3" name="Text Placeholder 2"/>
          <p:cNvSpPr>
            <a:spLocks noGrp="1"/>
          </p:cNvSpPr>
          <p:nvPr>
            <p:ph type="body" sz="quarter" idx="14"/>
          </p:nvPr>
        </p:nvSpPr>
        <p:spPr>
          <a:xfrm>
            <a:off x="665163" y="1658941"/>
            <a:ext cx="9398001" cy="251511"/>
          </a:xfrm>
        </p:spPr>
        <p:txBody>
          <a:bodyPr/>
          <a:lstStyle/>
          <a:p>
            <a:r>
              <a:rPr lang="en-US" sz="1400" noProof="0" dirty="0"/>
              <a:t>All positions of the proposed USD 7.0m allocation, part 2 of 2. Weights as at 6 August 2026.</a:t>
            </a:r>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USD 7.0M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36</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7.9%</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86.6%</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1995723" y="5005675"/>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6774290" y="5042349"/>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p:cNvGraphicFramePr>
            <a:graphicFrameLocks noGrp="1"/>
          </p:cNvGraphicFramePr>
          <p:nvPr>
            <p:custDataLst>
              <p:tags r:id="rId1"/>
            </p:custDataLst>
            <p:extLst>
              <p:ext uri="{D42A27DB-BD31-4B8C-83A1-F6EECF244321}">
                <p14:modId xmlns:p14="http://schemas.microsoft.com/office/powerpoint/2010/main" val="330564794"/>
              </p:ext>
            </p:extLst>
          </p:nvPr>
        </p:nvGraphicFramePr>
        <p:xfrm>
          <a:off x="666000" y="4860000"/>
          <a:ext cx="9396001" cy="1879200"/>
        </p:xfrm>
        <a:graphic>
          <a:graphicData uri="http://schemas.openxmlformats.org/drawingml/2006/table">
            <a:tbl>
              <a:tblPr firstRow="1" bandRow="1">
                <a:tableStyleId>{5C22544A-7EE6-4342-B048-85BDC9FD1C3A}</a:tableStyleId>
              </a:tblPr>
              <a:tblGrid>
                <a:gridCol w="2645091">
                  <a:extLst>
                    <a:ext uri="{9D8B030D-6E8A-4147-A177-3AD203B41FA5}">
                      <a16:colId xmlns:a16="http://schemas.microsoft.com/office/drawing/2014/main" val="20000"/>
                    </a:ext>
                  </a:extLst>
                </a:gridCol>
                <a:gridCol w="872982">
                  <a:extLst>
                    <a:ext uri="{9D8B030D-6E8A-4147-A177-3AD203B41FA5}">
                      <a16:colId xmlns:a16="http://schemas.microsoft.com/office/drawing/2014/main" val="20001"/>
                    </a:ext>
                  </a:extLst>
                </a:gridCol>
                <a:gridCol w="775854">
                  <a:extLst>
                    <a:ext uri="{9D8B030D-6E8A-4147-A177-3AD203B41FA5}">
                      <a16:colId xmlns:a16="http://schemas.microsoft.com/office/drawing/2014/main" val="20002"/>
                    </a:ext>
                  </a:extLst>
                </a:gridCol>
                <a:gridCol w="940359">
                  <a:extLst>
                    <a:ext uri="{9D8B030D-6E8A-4147-A177-3AD203B41FA5}">
                      <a16:colId xmlns:a16="http://schemas.microsoft.com/office/drawing/2014/main" val="872078039"/>
                    </a:ext>
                  </a:extLst>
                </a:gridCol>
                <a:gridCol w="1183908">
                  <a:extLst>
                    <a:ext uri="{9D8B030D-6E8A-4147-A177-3AD203B41FA5}">
                      <a16:colId xmlns:a16="http://schemas.microsoft.com/office/drawing/2014/main" val="3082724075"/>
                    </a:ext>
                  </a:extLst>
                </a:gridCol>
                <a:gridCol w="1251958">
                  <a:extLst>
                    <a:ext uri="{9D8B030D-6E8A-4147-A177-3AD203B41FA5}">
                      <a16:colId xmlns:a16="http://schemas.microsoft.com/office/drawing/2014/main" val="2004377814"/>
                    </a:ext>
                  </a:extLst>
                </a:gridCol>
                <a:gridCol w="1725849">
                  <a:extLst>
                    <a:ext uri="{9D8B030D-6E8A-4147-A177-3AD203B41FA5}">
                      <a16:colId xmlns:a16="http://schemas.microsoft.com/office/drawing/2014/main" val="3250012267"/>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tc>
                  <a:txBody>
                    <a:bodyPr/>
                    <a:lstStyle/>
                    <a:p>
                      <a:pPr algn="r"/>
                      <a:r>
                        <a:rPr lang="en-US" sz="1100" b="1" noProof="0">
                          <a:solidFill>
                            <a:srgbClr val="202945"/>
                          </a:solidFill>
                          <a:latin typeface="Nunito Sans"/>
                        </a:rPr>
                        <a:t>Duration</a:t>
                      </a:r>
                    </a:p>
                  </a:txBody>
                  <a:tcPr marL="54000" marR="54000" marT="18000" marB="18000" anchor="ctr">
                    <a:solidFill>
                      <a:srgbClr val="FFC545"/>
                    </a:solidFill>
                  </a:tcPr>
                </a:tc>
                <a:tc>
                  <a:txBody>
                    <a:bodyPr/>
                    <a:lstStyle/>
                    <a:p>
                      <a:pPr algn="r"/>
                      <a:r>
                        <a:rPr lang="en-US" sz="1100" b="1" noProof="0">
                          <a:solidFill>
                            <a:srgbClr val="202945"/>
                          </a:solidFill>
                          <a:latin typeface="Nunito Sans"/>
                        </a:rPr>
                        <a:t>Yield</a:t>
                      </a:r>
                    </a:p>
                  </a:txBody>
                  <a:tcPr marL="54000" marR="54000" marT="18000" marB="18000" anchor="ctr">
                    <a:solidFill>
                      <a:srgbClr val="FFC545"/>
                    </a:solidFill>
                  </a:tcPr>
                </a:tc>
                <a:tc>
                  <a:txBody>
                    <a:bodyPr/>
                    <a:lstStyle/>
                    <a:p>
                      <a:pPr algn="r"/>
                      <a:r>
                        <a:rPr lang="en-US" sz="1100" b="1" noProof="0">
                          <a:solidFill>
                            <a:srgbClr val="202945"/>
                          </a:solidFill>
                          <a:latin typeface="+mn-lt"/>
                        </a:rPr>
                        <a:t>Price</a:t>
                      </a:r>
                      <a:endParaRPr lang="en-US" sz="1100" b="1" noProof="0">
                        <a:solidFill>
                          <a:srgbClr val="202945"/>
                        </a:solidFill>
                        <a:latin typeface="Nunito Sans"/>
                      </a:endParaRPr>
                    </a:p>
                  </a:txBody>
                  <a:tcPr marL="54000" marR="54000" marT="18000" marB="18000" anchor="ctr">
                    <a:solidFill>
                      <a:srgbClr val="FFC545"/>
                    </a:solidFill>
                  </a:tcPr>
                </a:tc>
                <a:tc>
                  <a:txBody>
                    <a:bodyPr/>
                    <a:lstStyle/>
                    <a:p>
                      <a:pPr algn="r"/>
                      <a:r>
                        <a:rPr lang="en-US" sz="1100" b="1" noProof="0">
                          <a:solidFill>
                            <a:srgbClr val="202945"/>
                          </a:solidFill>
                          <a:latin typeface="Nunito Sans"/>
                        </a:rPr>
                        <a:t>Bid ask</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err="1">
                          <a:solidFill>
                            <a:srgbClr val="202945"/>
                          </a:solidFill>
                          <a:latin typeface="Nunito Sans"/>
                        </a:rPr>
                        <a:t>Syz</a:t>
                      </a:r>
                      <a:r>
                        <a:rPr lang="en-US" sz="1000" b="0" noProof="0" dirty="0">
                          <a:solidFill>
                            <a:srgbClr val="202945"/>
                          </a:solidFill>
                          <a:latin typeface="Nunito Sans"/>
                        </a:rPr>
                        <a:t> Emerging Market Corporate Bond Cert</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384k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9.9%</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99.79</a:t>
                      </a:r>
                    </a:p>
                  </a:txBody>
                  <a:tcPr marL="54000" marR="54000" marT="18000" marB="18000" anchor="ctr">
                    <a:solidFill>
                      <a:srgbClr val="FFFFFF"/>
                    </a:solidFill>
                  </a:tcPr>
                </a:tc>
                <a:tc>
                  <a:txBody>
                    <a:bodyPr/>
                    <a:lstStyle/>
                    <a:p>
                      <a:pPr algn="r"/>
                      <a:r>
                        <a:rPr lang="en-US" sz="1000" b="0" noProof="0">
                          <a:solidFill>
                            <a:srgbClr val="202945"/>
                          </a:solidFill>
                          <a:latin typeface="Nunito Sans"/>
                        </a:rPr>
                        <a:t>Bloomberg</a:t>
                      </a:r>
                    </a:p>
                  </a:txBody>
                  <a:tcPr marL="54000" marR="54000" marT="18000" marB="18000" anchor="ctr">
                    <a:solidFill>
                      <a:srgbClr val="FFFFFF"/>
                    </a:solidFill>
                  </a:tcPr>
                </a:tc>
                <a:extLst>
                  <a:ext uri="{0D108BD9-81ED-4DB2-BD59-A6C34878D82A}">
                    <a16:rowId xmlns:a16="http://schemas.microsoft.com/office/drawing/2014/main" val="10001"/>
                  </a:ext>
                </a:extLst>
              </a:tr>
              <a:tr h="259200">
                <a:tc>
                  <a:txBody>
                    <a:bodyPr/>
                    <a:lstStyle/>
                    <a:p>
                      <a:pPr algn="l"/>
                      <a:r>
                        <a:rPr lang="en-US" sz="1000" b="0" noProof="0" dirty="0">
                          <a:solidFill>
                            <a:srgbClr val="202945"/>
                          </a:solidFill>
                          <a:latin typeface="Nunito Sans"/>
                        </a:rPr>
                        <a:t>BNY Mellon Global Funds PLC - BN…</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279k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7.2%</a:t>
                      </a:r>
                    </a:p>
                  </a:txBody>
                  <a:tcPr marL="54000" marR="54000" marT="18000" marB="18000" anchor="ctr">
                    <a:solidFill>
                      <a:srgbClr val="F5F6F8"/>
                    </a:solidFill>
                  </a:tcPr>
                </a:tc>
                <a:tc>
                  <a:txBody>
                    <a:bodyPr/>
                    <a:lstStyle/>
                    <a:p>
                      <a:pPr algn="r"/>
                      <a:r>
                        <a:rPr lang="en-US" sz="1000" b="0" noProof="0">
                          <a:solidFill>
                            <a:srgbClr val="202945"/>
                          </a:solidFill>
                          <a:latin typeface="Nunito Sans"/>
                        </a:rPr>
                        <a:t>4.50</a:t>
                      </a:r>
                    </a:p>
                  </a:txBody>
                  <a:tcPr marL="54000" marR="54000" marT="18000" marB="18000" anchor="ctr">
                    <a:solidFill>
                      <a:srgbClr val="F5F6F8"/>
                    </a:solidFill>
                  </a:tcPr>
                </a:tc>
                <a:tc>
                  <a:txBody>
                    <a:bodyPr/>
                    <a:lstStyle/>
                    <a:p>
                      <a:pPr algn="r"/>
                      <a:r>
                        <a:rPr lang="en-US" sz="1000" b="0" noProof="0">
                          <a:solidFill>
                            <a:srgbClr val="202945"/>
                          </a:solidFill>
                          <a:latin typeface="Nunito Sans"/>
                        </a:rPr>
                        <a:t>3.40</a:t>
                      </a:r>
                    </a:p>
                  </a:txBody>
                  <a:tcPr marL="54000" marR="54000" marT="18000" marB="18000" anchor="ctr">
                    <a:solidFill>
                      <a:srgbClr val="F5F6F8"/>
                    </a:solidFill>
                  </a:tcPr>
                </a:tc>
                <a:tc>
                  <a:txBody>
                    <a:bodyPr/>
                    <a:lstStyle/>
                    <a:p>
                      <a:pPr algn="r"/>
                      <a:r>
                        <a:rPr lang="en-US" sz="1000" b="0" noProof="0">
                          <a:solidFill>
                            <a:srgbClr val="202945"/>
                          </a:solidFill>
                          <a:latin typeface="Nunito Sans"/>
                        </a:rPr>
                        <a:t>98.47</a:t>
                      </a:r>
                    </a:p>
                  </a:txBody>
                  <a:tcPr marL="54000" marR="54000" marT="18000" marB="18000" anchor="ctr">
                    <a:solidFill>
                      <a:srgbClr val="F5F6F8"/>
                    </a:solidFill>
                  </a:tcPr>
                </a:tc>
                <a:tc>
                  <a:txBody>
                    <a:bodyPr/>
                    <a:lstStyle/>
                    <a:p>
                      <a:pPr algn="r"/>
                      <a:endParaRPr lang="en-US" sz="1000" b="0" noProof="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2"/>
                  </a:ext>
                </a:extLst>
              </a:tr>
              <a:tr h="259200">
                <a:tc>
                  <a:txBody>
                    <a:bodyPr/>
                    <a:lstStyle/>
                    <a:p>
                      <a:pPr algn="l"/>
                      <a:r>
                        <a:rPr lang="en-US" sz="1000" b="0" noProof="0" dirty="0">
                          <a:solidFill>
                            <a:srgbClr val="202945"/>
                          </a:solidFill>
                          <a:latin typeface="Nunito Sans"/>
                        </a:rPr>
                        <a:t>Repsol E&amp;P Capital Markets US LL…</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201k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5.2%</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3.74</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98.69</a:t>
                      </a:r>
                    </a:p>
                  </a:txBody>
                  <a:tcPr marL="54000" marR="54000" marT="18000" marB="18000" anchor="ctr">
                    <a:solidFill>
                      <a:srgbClr val="FFFFFF"/>
                    </a:solidFill>
                  </a:tcPr>
                </a:tc>
                <a:tc>
                  <a:txBody>
                    <a:bodyPr/>
                    <a:lstStyle/>
                    <a:p>
                      <a:pPr algn="r"/>
                      <a:endParaRPr lang="en-US" sz="1000" b="0" noProof="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3"/>
                  </a:ext>
                </a:extLst>
              </a:tr>
              <a:tr h="259200">
                <a:tc>
                  <a:txBody>
                    <a:bodyPr/>
                    <a:lstStyle/>
                    <a:p>
                      <a:pPr algn="l"/>
                      <a:r>
                        <a:rPr lang="en-US" sz="1000" b="0" noProof="0" dirty="0">
                          <a:solidFill>
                            <a:srgbClr val="202945"/>
                          </a:solidFill>
                          <a:latin typeface="Nunito Sans"/>
                        </a:rPr>
                        <a:t>Africa Finance Corp. 5.375% 23-J…</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200k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5.2%</a:t>
                      </a:r>
                    </a:p>
                  </a:txBody>
                  <a:tcPr marL="54000" marR="54000" marT="18000" marB="18000" anchor="ctr">
                    <a:solidFill>
                      <a:srgbClr val="F5F6F8"/>
                    </a:solidFill>
                  </a:tcPr>
                </a:tc>
                <a:tc>
                  <a:txBody>
                    <a:bodyPr/>
                    <a:lstStyle/>
                    <a:p>
                      <a:pPr algn="r"/>
                      <a:r>
                        <a:rPr lang="en-US" sz="1000" b="0" noProof="0">
                          <a:solidFill>
                            <a:srgbClr val="202945"/>
                          </a:solidFill>
                          <a:latin typeface="Nunito Sans"/>
                        </a:rPr>
                        <a:t>4.85</a:t>
                      </a:r>
                    </a:p>
                  </a:txBody>
                  <a:tcPr marL="54000" marR="54000" marT="18000" marB="18000" anchor="ctr">
                    <a:solidFill>
                      <a:srgbClr val="F5F6F8"/>
                    </a:solidFill>
                  </a:tcPr>
                </a:tc>
                <a:tc>
                  <a:txBody>
                    <a:bodyPr/>
                    <a:lstStyle/>
                    <a:p>
                      <a:pPr algn="r"/>
                      <a:r>
                        <a:rPr lang="en-US" sz="1000" b="0" noProof="0">
                          <a:solidFill>
                            <a:srgbClr val="202945"/>
                          </a:solidFill>
                          <a:latin typeface="Nunito Sans"/>
                        </a:rPr>
                        <a:t>3.74</a:t>
                      </a:r>
                    </a:p>
                  </a:txBody>
                  <a:tcPr marL="54000" marR="54000" marT="18000" marB="18000" anchor="ctr">
                    <a:solidFill>
                      <a:srgbClr val="F5F6F8"/>
                    </a:solidFill>
                  </a:tcPr>
                </a:tc>
                <a:tc>
                  <a:txBody>
                    <a:bodyPr/>
                    <a:lstStyle/>
                    <a:p>
                      <a:pPr algn="r"/>
                      <a:r>
                        <a:rPr lang="en-US" sz="1000" b="0" noProof="0">
                          <a:solidFill>
                            <a:srgbClr val="202945"/>
                          </a:solidFill>
                          <a:latin typeface="Nunito Sans"/>
                        </a:rPr>
                        <a:t>99.46</a:t>
                      </a:r>
                    </a:p>
                  </a:txBody>
                  <a:tcPr marL="54000" marR="54000" marT="18000" marB="18000" anchor="ctr">
                    <a:solidFill>
                      <a:srgbClr val="F5F6F8"/>
                    </a:solidFill>
                  </a:tcPr>
                </a:tc>
                <a:tc>
                  <a:txBody>
                    <a:bodyPr/>
                    <a:lstStyle/>
                    <a:p>
                      <a:pPr algn="r"/>
                      <a:endParaRPr lang="en-US" sz="1000" b="0" noProof="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4"/>
                  </a:ext>
                </a:extLst>
              </a:tr>
              <a:tr h="259200">
                <a:tc>
                  <a:txBody>
                    <a:bodyPr/>
                    <a:lstStyle/>
                    <a:p>
                      <a:pPr algn="l"/>
                      <a:r>
                        <a:rPr lang="en-US" sz="1000" b="0" noProof="0" dirty="0">
                          <a:solidFill>
                            <a:srgbClr val="202945"/>
                          </a:solidFill>
                          <a:latin typeface="Nunito Sans"/>
                        </a:rPr>
                        <a:t>Societe Generale SA 5.371 % Note…</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200k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5.1%</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1.46</a:t>
                      </a:r>
                    </a:p>
                  </a:txBody>
                  <a:tcPr marL="54000" marR="54000" marT="18000" marB="18000" anchor="ctr">
                    <a:solidFill>
                      <a:srgbClr val="FFFFFF"/>
                    </a:solidFill>
                  </a:tcPr>
                </a:tc>
                <a:tc>
                  <a:txBody>
                    <a:bodyPr/>
                    <a:lstStyle/>
                    <a:p>
                      <a:pPr algn="r"/>
                      <a:r>
                        <a:rPr lang="en-US" sz="1000" b="0" noProof="0">
                          <a:solidFill>
                            <a:srgbClr val="202945"/>
                          </a:solidFill>
                          <a:latin typeface="Nunito Sans"/>
                        </a:rPr>
                        <a:t>4.33</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101.16</a:t>
                      </a:r>
                    </a:p>
                  </a:txBody>
                  <a:tcPr marL="54000" marR="54000" marT="18000" marB="18000" anchor="ctr">
                    <a:solidFill>
                      <a:srgbClr val="FFFFFF"/>
                    </a:solidFill>
                  </a:tcPr>
                </a:tc>
                <a:tc>
                  <a:txBody>
                    <a:bodyPr/>
                    <a:lstStyle/>
                    <a:p>
                      <a:pPr algn="r"/>
                      <a:endParaRPr lang="en-US" sz="1000" b="0" noProof="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5"/>
                  </a:ext>
                </a:extLst>
              </a:tr>
              <a:tr h="259200">
                <a:tc>
                  <a:txBody>
                    <a:bodyPr/>
                    <a:lstStyle/>
                    <a:p>
                      <a:pPr algn="l"/>
                      <a:r>
                        <a:rPr lang="en-US" sz="1000" b="0" noProof="0" dirty="0">
                          <a:solidFill>
                            <a:schemeClr val="bg1"/>
                          </a:solidFill>
                          <a:latin typeface="Nunito Sans"/>
                        </a:rPr>
                        <a:t>Average</a:t>
                      </a:r>
                    </a:p>
                  </a:txBody>
                  <a:tcPr marL="54000" marR="54000" marT="18000" marB="18000" anchor="ctr">
                    <a:solidFill>
                      <a:srgbClr val="202945"/>
                    </a:solidFill>
                  </a:tcPr>
                </a:tc>
                <a:tc>
                  <a:txBody>
                    <a:bodyPr/>
                    <a:lstStyle/>
                    <a:p>
                      <a:pPr algn="r"/>
                      <a:endParaRPr lang="en-US" sz="1000" b="0" noProof="0">
                        <a:solidFill>
                          <a:schemeClr val="bg1"/>
                        </a:solidFill>
                        <a:latin typeface="Nunito Sans"/>
                      </a:endParaRP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tc>
                  <a:txBody>
                    <a:bodyPr/>
                    <a:lstStyle/>
                    <a:p>
                      <a:pPr algn="r"/>
                      <a:r>
                        <a:rPr lang="en-US" sz="1000" b="0" noProof="0" dirty="0">
                          <a:solidFill>
                            <a:schemeClr val="bg1"/>
                          </a:solidFill>
                          <a:latin typeface="Nunito Sans"/>
                        </a:rPr>
                        <a:t>2.36</a:t>
                      </a:r>
                    </a:p>
                  </a:txBody>
                  <a:tcPr marL="54000" marR="54000" marT="18000" marB="18000" anchor="ctr">
                    <a:solidFill>
                      <a:srgbClr val="202945"/>
                    </a:solidFill>
                  </a:tcPr>
                </a:tc>
                <a:tc>
                  <a:txBody>
                    <a:bodyPr/>
                    <a:lstStyle/>
                    <a:p>
                      <a:pPr algn="r"/>
                      <a:r>
                        <a:rPr lang="en-US" sz="1000" b="0" noProof="0" dirty="0">
                          <a:solidFill>
                            <a:schemeClr val="bg1"/>
                          </a:solidFill>
                          <a:latin typeface="Nunito Sans"/>
                        </a:rPr>
                        <a:t>3.6649</a:t>
                      </a: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extLst>
                  <a:ext uri="{0D108BD9-81ED-4DB2-BD59-A6C34878D82A}">
                    <a16:rowId xmlns:a16="http://schemas.microsoft.com/office/drawing/2014/main" val="1809602680"/>
                  </a:ext>
                </a:extLst>
              </a:tr>
            </a:tbl>
          </a:graphicData>
        </a:graphic>
      </p:graphicFrame>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6 issues, EUR 600,000,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16.7%</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16.7%</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16.7%</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16.7%</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16.7%</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16.7%</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USD   66.7%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CHF  16.7%</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16.7%</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16.7%</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66.7%</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16.7%</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16.7%</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16.7%</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33.3%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16.7%</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16.7%</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Source: 'Fixed Income' tab; country, sector and rating as stated there. Percentages may not sum to 100 due to rounding.</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12</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p:cNvGraphicFramePr>
            <a:graphicFrameLocks noGrp="1"/>
          </p:cNvGraphicFramePr>
          <p:nvPr>
            <p:extLst>
              <p:ext uri="{D42A27DB-BD31-4B8C-83A1-F6EECF244321}">
                <p14:modId xmlns:p14="http://schemas.microsoft.com/office/powerpoint/2010/main" val="30210442"/>
              </p:ext>
            </p:extLst>
          </p:nvPr>
        </p:nvGraphicFramePr>
        <p:xfrm>
          <a:off x="666000" y="4860000"/>
          <a:ext cx="9359812" cy="1667280"/>
        </p:xfrm>
        <a:graphic>
          <a:graphicData uri="http://schemas.openxmlformats.org/drawingml/2006/table">
            <a:tbl>
              <a:tblPr firstRow="1" bandRow="1">
                <a:tableStyleId>{5C22544A-7EE6-4342-B048-85BDC9FD1C3A}</a:tableStyleId>
              </a:tblPr>
              <a:tblGrid>
                <a:gridCol w="3551931">
                  <a:extLst>
                    <a:ext uri="{9D8B030D-6E8A-4147-A177-3AD203B41FA5}">
                      <a16:colId xmlns:a16="http://schemas.microsoft.com/office/drawing/2014/main" val="20000"/>
                    </a:ext>
                  </a:extLst>
                </a:gridCol>
                <a:gridCol w="1391973">
                  <a:extLst>
                    <a:ext uri="{9D8B030D-6E8A-4147-A177-3AD203B41FA5}">
                      <a16:colId xmlns:a16="http://schemas.microsoft.com/office/drawing/2014/main" val="20001"/>
                    </a:ext>
                  </a:extLst>
                </a:gridCol>
                <a:gridCol w="1103977">
                  <a:extLst>
                    <a:ext uri="{9D8B030D-6E8A-4147-A177-3AD203B41FA5}">
                      <a16:colId xmlns:a16="http://schemas.microsoft.com/office/drawing/2014/main" val="20002"/>
                    </a:ext>
                  </a:extLst>
                </a:gridCol>
                <a:gridCol w="1103977">
                  <a:extLst>
                    <a:ext uri="{9D8B030D-6E8A-4147-A177-3AD203B41FA5}">
                      <a16:colId xmlns:a16="http://schemas.microsoft.com/office/drawing/2014/main" val="1462099802"/>
                    </a:ext>
                  </a:extLst>
                </a:gridCol>
                <a:gridCol w="1103977">
                  <a:extLst>
                    <a:ext uri="{9D8B030D-6E8A-4147-A177-3AD203B41FA5}">
                      <a16:colId xmlns:a16="http://schemas.microsoft.com/office/drawing/2014/main" val="2564674112"/>
                    </a:ext>
                  </a:extLst>
                </a:gridCol>
                <a:gridCol w="1103977">
                  <a:extLst>
                    <a:ext uri="{9D8B030D-6E8A-4147-A177-3AD203B41FA5}">
                      <a16:colId xmlns:a16="http://schemas.microsoft.com/office/drawing/2014/main" val="2010241931"/>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Country</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Sector</a:t>
                      </a:r>
                    </a:p>
                  </a:txBody>
                  <a:tcPr marL="54000" marR="54000" marT="18000" marB="18000" anchor="ctr">
                    <a:solidFill>
                      <a:srgbClr val="FFC545"/>
                    </a:solidFill>
                  </a:tcPr>
                </a:tc>
                <a:tc>
                  <a:txBody>
                    <a:bodyPr/>
                    <a:lstStyle/>
                    <a:p>
                      <a:pPr algn="r"/>
                      <a:r>
                        <a:rPr lang="en-US" sz="1100" b="1" noProof="0">
                          <a:solidFill>
                            <a:srgbClr val="202945"/>
                          </a:solidFill>
                          <a:latin typeface="Nunito Sans"/>
                        </a:rPr>
                        <a:t>Market Capitalisation</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Nunito Sans"/>
                        </a:rPr>
                        <a:t>BlackRock Global Funds SICAV - W…</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1"/>
                  </a:ext>
                </a:extLst>
              </a:tr>
              <a:tr h="259200">
                <a:tc>
                  <a:txBody>
                    <a:bodyPr/>
                    <a:lstStyle/>
                    <a:p>
                      <a:pPr algn="l"/>
                      <a:r>
                        <a:rPr lang="en-US" sz="1000" b="0" noProof="0" dirty="0">
                          <a:solidFill>
                            <a:srgbClr val="202945"/>
                          </a:solidFill>
                          <a:latin typeface="Nunito Sans"/>
                        </a:rPr>
                        <a:t>Goldman Sachs Funds SICAV - Gold…</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2"/>
                  </a:ext>
                </a:extLst>
              </a:tr>
              <a:tr h="259200">
                <a:tc>
                  <a:txBody>
                    <a:bodyPr/>
                    <a:lstStyle/>
                    <a:p>
                      <a:pPr algn="l"/>
                      <a:r>
                        <a:rPr lang="en-US" sz="1000" b="0" noProof="0" dirty="0">
                          <a:solidFill>
                            <a:srgbClr val="202945"/>
                          </a:solidFill>
                          <a:latin typeface="Nunito Sans"/>
                        </a:rPr>
                        <a:t>Schroder International Selection…</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3"/>
                  </a:ext>
                </a:extLst>
              </a:tr>
              <a:tr h="259200">
                <a:tc>
                  <a:txBody>
                    <a:bodyPr/>
                    <a:lstStyle/>
                    <a:p>
                      <a:pPr algn="l"/>
                      <a:r>
                        <a:rPr lang="en-US" sz="1000" b="0" noProof="0" dirty="0">
                          <a:solidFill>
                            <a:srgbClr val="202945"/>
                          </a:solidFill>
                          <a:latin typeface="Nunito Sans"/>
                        </a:rPr>
                        <a:t>Polar Capital Funds PLC - Biotec…</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4"/>
                  </a:ext>
                </a:extLst>
              </a:tr>
              <a:tr h="259200">
                <a:tc>
                  <a:txBody>
                    <a:bodyPr/>
                    <a:lstStyle/>
                    <a:p>
                      <a:pPr algn="l"/>
                      <a:r>
                        <a:rPr lang="en-US" sz="1000" b="0" noProof="0" dirty="0">
                          <a:solidFill>
                            <a:srgbClr val="202945"/>
                          </a:solidFill>
                          <a:latin typeface="Nunito Sans"/>
                        </a:rPr>
                        <a:t>Goldman Sachs Eurozone Equity In…</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176k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9.6%</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Europe ex-Switzerland   38.1%</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30.2%</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United States   6.6%</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China   6.1%</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Electronic Technology   27.9%</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Multi-sector funds   24.5%</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Finance   22.5%</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Non-Energy Minerals   12.3%</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Other   12.9%</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Large cap   88.5%</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Mid cap   9.8%</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Small cap   1.7%</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Sector, region and size classified at issuer level for direct holdings and at mandate level for funds, ETFs and the structured note; these fields are not in the client file. Percentages may not sum to 100 due to rounding.</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13</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graphicFrame>
        <p:nvGraphicFramePr>
          <p:cNvPr id="7" name="Table 6"/>
          <p:cNvGraphicFramePr>
            <a:graphicFrameLocks noGrp="1"/>
          </p:cNvGraphicFramePr>
          <p:nvPr>
            <p:extLst>
              <p:ext uri="{D42A27DB-BD31-4B8C-83A1-F6EECF244321}">
                <p14:modId xmlns:p14="http://schemas.microsoft.com/office/powerpoint/2010/main" val="1173087155"/>
              </p:ext>
            </p:extLst>
          </p:nvPr>
        </p:nvGraphicFramePr>
        <p:xfrm>
          <a:off x="666000" y="4860000"/>
          <a:ext cx="4535999" cy="583200"/>
        </p:xfrm>
        <a:graphic>
          <a:graphicData uri="http://schemas.openxmlformats.org/drawingml/2006/table">
            <a:tbl>
              <a:tblPr firstRow="1" bandRow="1">
                <a:tableStyleId>{5C22544A-7EE6-4342-B048-85BDC9FD1C3A}</a:tableStyleId>
              </a:tblPr>
              <a:tblGrid>
                <a:gridCol w="2664000">
                  <a:extLst>
                    <a:ext uri="{9D8B030D-6E8A-4147-A177-3AD203B41FA5}">
                      <a16:colId xmlns:a16="http://schemas.microsoft.com/office/drawing/2014/main" val="20000"/>
                    </a:ext>
                  </a:extLst>
                </a:gridCol>
                <a:gridCol w="1044000">
                  <a:extLst>
                    <a:ext uri="{9D8B030D-6E8A-4147-A177-3AD203B41FA5}">
                      <a16:colId xmlns:a16="http://schemas.microsoft.com/office/drawing/2014/main" val="20001"/>
                    </a:ext>
                  </a:extLst>
                </a:gridCol>
                <a:gridCol w="827999">
                  <a:extLst>
                    <a:ext uri="{9D8B030D-6E8A-4147-A177-3AD203B41FA5}">
                      <a16:colId xmlns:a16="http://schemas.microsoft.com/office/drawing/2014/main" val="20002"/>
                    </a:ext>
                  </a:extLst>
                </a:gridCol>
              </a:tblGrid>
              <a:tr h="324000">
                <a:tc>
                  <a:txBody>
                    <a:bodyPr/>
                    <a:lstStyle/>
                    <a:p>
                      <a:pPr algn="l"/>
                      <a:r>
                        <a:rPr lang="en-US" sz="1100" b="1" noProof="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a:solidFill>
                            <a:srgbClr val="202945"/>
                          </a:solidFill>
                          <a:latin typeface="Nunito Sans"/>
                        </a:rPr>
                        <a:t>Scarce Assets Certificate</a:t>
                      </a:r>
                    </a:p>
                  </a:txBody>
                  <a:tcPr marL="54000" marR="54000" marT="18000" marB="18000" anchor="ctr">
                    <a:solidFill>
                      <a:srgbClr val="FFFFFF"/>
                    </a:solidFill>
                  </a:tcPr>
                </a:tc>
                <a:tc>
                  <a:txBody>
                    <a:bodyPr/>
                    <a:lstStyle/>
                    <a:p>
                      <a:pPr algn="r"/>
                      <a:r>
                        <a:rPr lang="en-US" sz="1000" b="0" noProof="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2 of 23 fixed-income line(s) report no modified duration; portfolio duration reflects the 85% of the sleeve that does.</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a:extLst>
              <a:ext uri="{FF2B5EF4-FFF2-40B4-BE49-F238E27FC236}">
                <a16:creationId xmlns:a16="http://schemas.microsoft.com/office/drawing/2014/main" id="{DDD24925-ED8F-0467-FB04-0616CB3D0627}"/>
              </a:ext>
            </a:extLst>
          </p:cNvPr>
          <p:cNvGraphicFramePr>
            <a:graphicFrameLocks noGrp="1"/>
          </p:cNvGraphicFramePr>
          <p:nvPr>
            <p:extLst>
              <p:ext uri="{D42A27DB-BD31-4B8C-83A1-F6EECF244321}">
                <p14:modId xmlns:p14="http://schemas.microsoft.com/office/powerpoint/2010/main" val="1335535978"/>
              </p:ext>
            </p:extLst>
          </p:nvPr>
        </p:nvGraphicFramePr>
        <p:xfrm>
          <a:off x="666000" y="4860000"/>
          <a:ext cx="4535999" cy="583200"/>
        </p:xfrm>
        <a:graphic>
          <a:graphicData uri="http://schemas.openxmlformats.org/drawingml/2006/table">
            <a:tbl>
              <a:tblPr firstRow="1" bandRow="1">
                <a:tableStyleId>{5C22544A-7EE6-4342-B048-85BDC9FD1C3A}</a:tableStyleId>
              </a:tblPr>
              <a:tblGrid>
                <a:gridCol w="2664000">
                  <a:extLst>
                    <a:ext uri="{9D8B030D-6E8A-4147-A177-3AD203B41FA5}">
                      <a16:colId xmlns:a16="http://schemas.microsoft.com/office/drawing/2014/main" val="20000"/>
                    </a:ext>
                  </a:extLst>
                </a:gridCol>
                <a:gridCol w="1044000">
                  <a:extLst>
                    <a:ext uri="{9D8B030D-6E8A-4147-A177-3AD203B41FA5}">
                      <a16:colId xmlns:a16="http://schemas.microsoft.com/office/drawing/2014/main" val="20001"/>
                    </a:ext>
                  </a:extLst>
                </a:gridCol>
                <a:gridCol w="827999">
                  <a:extLst>
                    <a:ext uri="{9D8B030D-6E8A-4147-A177-3AD203B41FA5}">
                      <a16:colId xmlns:a16="http://schemas.microsoft.com/office/drawing/2014/main" val="20002"/>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Nunito Sans"/>
                        </a:rPr>
                        <a:t>Gold</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a:extLst>
              <a:ext uri="{FF2B5EF4-FFF2-40B4-BE49-F238E27FC236}">
                <a16:creationId xmlns:a16="http://schemas.microsoft.com/office/drawing/2014/main" id="{956DA3F0-A6EF-EAF5-053D-5FB94FD96D73}"/>
              </a:ext>
            </a:extLst>
          </p:cNvPr>
          <p:cNvGraphicFramePr>
            <a:graphicFrameLocks noGrp="1"/>
          </p:cNvGraphicFramePr>
          <p:nvPr>
            <p:extLst>
              <p:ext uri="{D42A27DB-BD31-4B8C-83A1-F6EECF244321}">
                <p14:modId xmlns:p14="http://schemas.microsoft.com/office/powerpoint/2010/main" val="1397773650"/>
              </p:ext>
            </p:extLst>
          </p:nvPr>
        </p:nvGraphicFramePr>
        <p:xfrm>
          <a:off x="666000" y="4860000"/>
          <a:ext cx="9341634" cy="583200"/>
        </p:xfrm>
        <a:graphic>
          <a:graphicData uri="http://schemas.openxmlformats.org/drawingml/2006/table">
            <a:tbl>
              <a:tblPr firstRow="1" bandRow="1">
                <a:tableStyleId>{5C22544A-7EE6-4342-B048-85BDC9FD1C3A}</a:tableStyleId>
              </a:tblPr>
              <a:tblGrid>
                <a:gridCol w="3060873">
                  <a:extLst>
                    <a:ext uri="{9D8B030D-6E8A-4147-A177-3AD203B41FA5}">
                      <a16:colId xmlns:a16="http://schemas.microsoft.com/office/drawing/2014/main" val="20000"/>
                    </a:ext>
                  </a:extLst>
                </a:gridCol>
                <a:gridCol w="2445327">
                  <a:extLst>
                    <a:ext uri="{9D8B030D-6E8A-4147-A177-3AD203B41FA5}">
                      <a16:colId xmlns:a16="http://schemas.microsoft.com/office/drawing/2014/main" val="20001"/>
                    </a:ext>
                  </a:extLst>
                </a:gridCol>
                <a:gridCol w="3835434">
                  <a:extLst>
                    <a:ext uri="{9D8B030D-6E8A-4147-A177-3AD203B41FA5}">
                      <a16:colId xmlns:a16="http://schemas.microsoft.com/office/drawing/2014/main" val="20002"/>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mn-lt"/>
                        </a:rPr>
                        <a:t>8% DCI-XAGUSD-48.206 UBS  24.08.2026</a:t>
                      </a: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13.4% of the portfolio sits in private, hedge-fund and lock-up vehicles with redemption gates and notice periods.</a:t>
            </a:r>
          </a:p>
          <a:p>
            <a:pPr>
              <a:spcAft>
                <a:spcPts val="800"/>
              </a:spcAft>
            </a:pP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a:lstStyle/>
                    <a:p>
                      <a:pPr algn="ctr"/>
                      <a:r>
                        <a:rPr lang="en-US" sz="1100" b="0" noProof="0" dirty="0">
                          <a:solidFill>
                            <a:srgbClr val="202945"/>
                          </a:solidFill>
                          <a:latin typeface="Nunito Sans"/>
                        </a:rPr>
                        <a:t>1</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Scarce Assets Certificate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553,000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7.9%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7.9%</a:t>
                      </a:r>
                    </a:p>
                  </a:txBody>
                  <a:tcPr marL="54000" marR="54000" marT="18000" marB="18000" anchor="ctr">
                    <a:solidFill>
                      <a:srgbClr val="FFFFFF"/>
                    </a:solidFill>
                  </a:tcPr>
                </a:tc>
                <a:extLst>
                  <a:ext uri="{0D108BD9-81ED-4DB2-BD59-A6C34878D82A}">
                    <a16:rowId xmlns:a16="http://schemas.microsoft.com/office/drawing/2014/main" val="10001"/>
                  </a:ext>
                </a:extLst>
              </a:tr>
              <a:tr h="288000">
                <a:tc>
                  <a:txBody>
                    <a:bodyPr/>
                    <a:lstStyle/>
                    <a:p>
                      <a:pPr algn="ctr"/>
                      <a:r>
                        <a:rPr lang="en-US" sz="1100" b="0" noProof="0" dirty="0">
                          <a:solidFill>
                            <a:srgbClr val="202945"/>
                          </a:solidFill>
                          <a:latin typeface="Nunito Sans"/>
                        </a:rPr>
                        <a:t>2</a:t>
                      </a:r>
                    </a:p>
                  </a:txBody>
                  <a:tcPr marL="54000" marR="54000" marT="18000" marB="18000" anchor="ctr">
                    <a:solidFill>
                      <a:srgbClr val="F5F6F8"/>
                    </a:solidFill>
                  </a:tcPr>
                </a:tc>
                <a:tc>
                  <a:txBody>
                    <a:bodyPr/>
                    <a:lstStyle/>
                    <a:p>
                      <a:pPr algn="l"/>
                      <a:r>
                        <a:rPr lang="en-US" sz="1100" b="0" noProof="0" dirty="0" err="1">
                          <a:solidFill>
                            <a:srgbClr val="202945"/>
                          </a:solidFill>
                          <a:latin typeface="+mn-lt"/>
                        </a:rPr>
                        <a:t>Syz</a:t>
                      </a:r>
                      <a:r>
                        <a:rPr lang="en-US" sz="1100" b="0" noProof="0" dirty="0">
                          <a:solidFill>
                            <a:srgbClr val="202945"/>
                          </a:solidFill>
                          <a:latin typeface="+mn-lt"/>
                        </a:rPr>
                        <a:t> Emerging Market Corporate Bond Cert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384,286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5.5%</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13.4%</a:t>
                      </a:r>
                    </a:p>
                  </a:txBody>
                  <a:tcPr marL="54000" marR="54000" marT="18000" marB="18000" anchor="ctr">
                    <a:solidFill>
                      <a:srgbClr val="F5F6F8"/>
                    </a:solidFill>
                  </a:tcPr>
                </a:tc>
                <a:extLst>
                  <a:ext uri="{0D108BD9-81ED-4DB2-BD59-A6C34878D82A}">
                    <a16:rowId xmlns:a16="http://schemas.microsoft.com/office/drawing/2014/main" val="10002"/>
                  </a:ext>
                </a:extLst>
              </a:tr>
              <a:tr h="288000">
                <a:tc>
                  <a:txBody>
                    <a:bodyPr/>
                    <a:lstStyle/>
                    <a:p>
                      <a:pPr algn="ctr"/>
                      <a:r>
                        <a:rPr lang="en-US" sz="1100" b="0" noProof="0" dirty="0">
                          <a:solidFill>
                            <a:srgbClr val="202945"/>
                          </a:solidFill>
                          <a:latin typeface="Nunito Sans"/>
                        </a:rPr>
                        <a:t>3</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SYZ AM (CH) Liquidity </a:t>
                      </a:r>
                      <a:r>
                        <a:rPr lang="en-US" sz="1100" b="0" noProof="0" dirty="0" err="1">
                          <a:solidFill>
                            <a:srgbClr val="202945"/>
                          </a:solidFill>
                          <a:latin typeface="Nunito Sans"/>
                        </a:rPr>
                        <a:t>Mgmt</a:t>
                      </a:r>
                      <a:r>
                        <a:rPr lang="en-US" sz="1100" b="0" noProof="0" dirty="0">
                          <a:solidFill>
                            <a:srgbClr val="202945"/>
                          </a:solidFill>
                          <a:latin typeface="Nunito Sans"/>
                        </a:rPr>
                        <a:t> - USD…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376,520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5.4%</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18.8%</a:t>
                      </a:r>
                    </a:p>
                  </a:txBody>
                  <a:tcPr marL="54000" marR="54000" marT="18000" marB="18000" anchor="ctr">
                    <a:solidFill>
                      <a:srgbClr val="FFFFFF"/>
                    </a:solidFill>
                  </a:tcPr>
                </a:tc>
                <a:extLst>
                  <a:ext uri="{0D108BD9-81ED-4DB2-BD59-A6C34878D82A}">
                    <a16:rowId xmlns:a16="http://schemas.microsoft.com/office/drawing/2014/main" val="10003"/>
                  </a:ext>
                </a:extLst>
              </a:tr>
              <a:tr h="288000">
                <a:tc>
                  <a:txBody>
                    <a:bodyPr/>
                    <a:lstStyle/>
                    <a:p>
                      <a:pPr algn="ctr"/>
                      <a:r>
                        <a:rPr lang="en-US" sz="1100" b="0" noProof="0" dirty="0">
                          <a:solidFill>
                            <a:srgbClr val="202945"/>
                          </a:solidFill>
                          <a:latin typeface="Nunito Sans"/>
                        </a:rPr>
                        <a:t>4</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BlackRock Global Funds SICAV - Wo…</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23.5%</a:t>
                      </a:r>
                    </a:p>
                  </a:txBody>
                  <a:tcPr marL="54000" marR="54000" marT="18000" marB="18000" anchor="ctr">
                    <a:solidFill>
                      <a:srgbClr val="F5F6F8"/>
                    </a:solidFill>
                  </a:tcPr>
                </a:tc>
                <a:extLst>
                  <a:ext uri="{0D108BD9-81ED-4DB2-BD59-A6C34878D82A}">
                    <a16:rowId xmlns:a16="http://schemas.microsoft.com/office/drawing/2014/main" val="10004"/>
                  </a:ext>
                </a:extLst>
              </a:tr>
              <a:tr h="288000">
                <a:tc>
                  <a:txBody>
                    <a:bodyPr/>
                    <a:lstStyle/>
                    <a:p>
                      <a:pPr algn="ctr"/>
                      <a:r>
                        <a:rPr lang="en-US" sz="1100" b="0" noProof="0" dirty="0">
                          <a:solidFill>
                            <a:srgbClr val="202945"/>
                          </a:solidFill>
                          <a:latin typeface="Nunito Sans"/>
                        </a:rPr>
                        <a:t>5</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Goldman Sachs Funds SICAV - </a:t>
                      </a:r>
                      <a:r>
                        <a:rPr lang="en-US" sz="1100" b="0" noProof="0" dirty="0" err="1">
                          <a:solidFill>
                            <a:srgbClr val="202945"/>
                          </a:solidFill>
                          <a:latin typeface="Nunito Sans"/>
                        </a:rPr>
                        <a:t>Goldm</a:t>
                      </a:r>
                      <a:r>
                        <a:rPr lang="en-US" sz="1100" b="0" noProof="0" dirty="0">
                          <a:solidFill>
                            <a:srgbClr val="202945"/>
                          </a:solidFill>
                          <a:latin typeface="Nunito Sans"/>
                        </a:rPr>
                        <a:t>…</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28.3%</a:t>
                      </a:r>
                    </a:p>
                  </a:txBody>
                  <a:tcPr marL="54000" marR="54000" marT="18000" marB="18000" anchor="ctr">
                    <a:solidFill>
                      <a:srgbClr val="FFFFFF"/>
                    </a:solidFill>
                  </a:tcPr>
                </a:tc>
                <a:extLst>
                  <a:ext uri="{0D108BD9-81ED-4DB2-BD59-A6C34878D82A}">
                    <a16:rowId xmlns:a16="http://schemas.microsoft.com/office/drawing/2014/main" val="10005"/>
                  </a:ext>
                </a:extLst>
              </a:tr>
              <a:tr h="288000">
                <a:tc>
                  <a:txBody>
                    <a:bodyPr/>
                    <a:lstStyle/>
                    <a:p>
                      <a:pPr algn="ctr"/>
                      <a:r>
                        <a:rPr lang="en-US" sz="1100" b="0" noProof="0" dirty="0">
                          <a:solidFill>
                            <a:srgbClr val="202945"/>
                          </a:solidFill>
                          <a:latin typeface="Nunito Sans"/>
                        </a:rPr>
                        <a:t>6</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Schroder International Selection…</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33.1%</a:t>
                      </a:r>
                    </a:p>
                  </a:txBody>
                  <a:tcPr marL="54000" marR="54000" marT="18000" marB="18000" anchor="ctr">
                    <a:solidFill>
                      <a:srgbClr val="F5F6F8"/>
                    </a:solidFill>
                  </a:tcPr>
                </a:tc>
                <a:extLst>
                  <a:ext uri="{0D108BD9-81ED-4DB2-BD59-A6C34878D82A}">
                    <a16:rowId xmlns:a16="http://schemas.microsoft.com/office/drawing/2014/main" val="10006"/>
                  </a:ext>
                </a:extLst>
              </a:tr>
              <a:tr h="288000">
                <a:tc>
                  <a:txBody>
                    <a:bodyPr/>
                    <a:lstStyle/>
                    <a:p>
                      <a:pPr algn="ctr"/>
                      <a:r>
                        <a:rPr lang="en-US" sz="1100" b="0" noProof="0" dirty="0">
                          <a:solidFill>
                            <a:srgbClr val="202945"/>
                          </a:solidFill>
                          <a:latin typeface="Nunito Sans"/>
                        </a:rPr>
                        <a:t>7</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Polar Capital Funds PLC - Biotech…</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37.9%</a:t>
                      </a:r>
                    </a:p>
                  </a:txBody>
                  <a:tcPr marL="54000" marR="54000" marT="18000" marB="18000" anchor="ctr">
                    <a:solidFill>
                      <a:srgbClr val="FFFFFF"/>
                    </a:solidFill>
                  </a:tcPr>
                </a:tc>
                <a:extLst>
                  <a:ext uri="{0D108BD9-81ED-4DB2-BD59-A6C34878D82A}">
                    <a16:rowId xmlns:a16="http://schemas.microsoft.com/office/drawing/2014/main" val="10007"/>
                  </a:ext>
                </a:extLst>
              </a:tr>
              <a:tr h="288000">
                <a:tc>
                  <a:txBody>
                    <a:bodyPr/>
                    <a:lstStyle/>
                    <a:p>
                      <a:pPr algn="ctr"/>
                      <a:r>
                        <a:rPr lang="en-US" sz="1100" b="0" noProof="0" dirty="0">
                          <a:solidFill>
                            <a:srgbClr val="202945"/>
                          </a:solidFill>
                          <a:latin typeface="Nunito Sans"/>
                        </a:rPr>
                        <a:t>8</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BNY Mellon Global Funds PLC - BNY…</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279,018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41.9%</a:t>
                      </a:r>
                    </a:p>
                  </a:txBody>
                  <a:tcPr marL="54000" marR="54000" marT="18000" marB="18000" anchor="ctr">
                    <a:solidFill>
                      <a:srgbClr val="F5F6F8"/>
                    </a:solidFill>
                  </a:tcPr>
                </a:tc>
                <a:extLst>
                  <a:ext uri="{0D108BD9-81ED-4DB2-BD59-A6C34878D82A}">
                    <a16:rowId xmlns:a16="http://schemas.microsoft.com/office/drawing/2014/main" val="10008"/>
                  </a:ext>
                </a:extLst>
              </a:tr>
              <a:tr h="288000">
                <a:tc>
                  <a:txBody>
                    <a:bodyPr/>
                    <a:lstStyle/>
                    <a:p>
                      <a:pPr algn="ctr"/>
                      <a:r>
                        <a:rPr lang="en-US" sz="1100" b="0" noProof="0" dirty="0">
                          <a:solidFill>
                            <a:srgbClr val="202945"/>
                          </a:solidFill>
                          <a:latin typeface="Nunito Sans"/>
                        </a:rPr>
                        <a:t>9</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Swiss Positive Fund - Physical Go…</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203,000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44.8%</a:t>
                      </a:r>
                    </a:p>
                  </a:txBody>
                  <a:tcPr marL="54000" marR="54000" marT="18000" marB="18000" anchor="ctr">
                    <a:solidFill>
                      <a:srgbClr val="FFFFFF"/>
                    </a:solidFill>
                  </a:tcPr>
                </a:tc>
                <a:extLst>
                  <a:ext uri="{0D108BD9-81ED-4DB2-BD59-A6C34878D82A}">
                    <a16:rowId xmlns:a16="http://schemas.microsoft.com/office/drawing/2014/main" val="10009"/>
                  </a:ext>
                </a:extLst>
              </a:tr>
              <a:tr h="288000">
                <a:tc>
                  <a:txBody>
                    <a:bodyPr/>
                    <a:lstStyle/>
                    <a:p>
                      <a:pPr algn="ctr"/>
                      <a:r>
                        <a:rPr lang="en-US" sz="1100" b="0" noProof="0" dirty="0">
                          <a:solidFill>
                            <a:srgbClr val="202945"/>
                          </a:solidFill>
                          <a:latin typeface="Nunito Sans"/>
                        </a:rPr>
                        <a:t>10</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Repsol E&amp;P Capital Markets US LLC…</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200,596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2.9%</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47.6%</a:t>
                      </a:r>
                    </a:p>
                  </a:txBody>
                  <a:tcPr marL="54000" marR="54000" marT="18000" marB="18000" anchor="ctr">
                    <a:solidFill>
                      <a:srgbClr val="F5F6F8"/>
                    </a:solid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28.3%</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47.6%</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75.6%</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a:lstStyle/>
                    <a:p>
                      <a:pPr algn="l"/>
                      <a:r>
                        <a:rPr lang="en-US" sz="1100" b="0" noProof="0" dirty="0">
                          <a:solidFill>
                            <a:srgbClr val="202945"/>
                          </a:solidFill>
                          <a:latin typeface="Nunito Sans"/>
                        </a:rPr>
                        <a:t>Fixed Income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146,330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85.6%</a:t>
                      </a:r>
                    </a:p>
                  </a:txBody>
                  <a:tcPr marL="54000" marR="54000" marT="18000" marB="18000" anchor="ctr">
                    <a:solidFill>
                      <a:srgbClr val="FFFFFF"/>
                    </a:solidFill>
                  </a:tcPr>
                </a:tc>
                <a:extLst>
                  <a:ext uri="{0D108BD9-81ED-4DB2-BD59-A6C34878D82A}">
                    <a16:rowId xmlns:a16="http://schemas.microsoft.com/office/drawing/2014/main" val="10001"/>
                  </a:ext>
                </a:extLst>
              </a:tr>
              <a:tr h="288000">
                <a:tc>
                  <a:txBody>
                    <a:bodyPr/>
                    <a:lstStyle/>
                    <a:p>
                      <a:pPr algn="l"/>
                      <a:r>
                        <a:rPr lang="en-US" sz="1100" b="0" noProof="0" dirty="0">
                          <a:solidFill>
                            <a:srgbClr val="202945"/>
                          </a:solidFill>
                          <a:latin typeface="Nunito Sans"/>
                        </a:rPr>
                        <a:t>Cash</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15,061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8.8%</a:t>
                      </a:r>
                    </a:p>
                  </a:txBody>
                  <a:tcPr marL="54000" marR="54000" marT="18000" marB="18000" anchor="ctr">
                    <a:solidFill>
                      <a:srgbClr val="F5F6F8"/>
                    </a:solidFill>
                  </a:tcPr>
                </a:tc>
                <a:extLst>
                  <a:ext uri="{0D108BD9-81ED-4DB2-BD59-A6C34878D82A}">
                    <a16:rowId xmlns:a16="http://schemas.microsoft.com/office/drawing/2014/main" val="10002"/>
                  </a:ext>
                </a:extLst>
              </a:tr>
              <a:tr h="288000">
                <a:tc>
                  <a:txBody>
                    <a:bodyPr/>
                    <a:lstStyle/>
                    <a:p>
                      <a:pPr algn="l"/>
                      <a:r>
                        <a:rPr lang="en-US" sz="1100" b="0" noProof="0" dirty="0">
                          <a:solidFill>
                            <a:srgbClr val="202945"/>
                          </a:solidFill>
                          <a:latin typeface="Nunito Sans"/>
                        </a:rPr>
                        <a:t>Equities</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9,509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5.6%</a:t>
                      </a:r>
                    </a:p>
                  </a:txBody>
                  <a:tcPr marL="54000" marR="54000" marT="18000" marB="18000" anchor="ctr">
                    <a:solidFill>
                      <a:srgbClr val="FFFFFF"/>
                    </a:solid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4.2y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USD -139k</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extLst>
              <p:ext uri="{D42A27DB-BD31-4B8C-83A1-F6EECF244321}">
                <p14:modId xmlns:p14="http://schemas.microsoft.com/office/powerpoint/2010/main" val="646065821"/>
              </p:ext>
            </p:extLst>
          </p:nvPr>
        </p:nvGraphicFramePr>
        <p:xfrm>
          <a:off x="5544000" y="2736000"/>
          <a:ext cx="4791491" cy="4025520"/>
        </p:xfrm>
        <a:graphic>
          <a:graphicData uri="http://schemas.openxmlformats.org/drawingml/2006/table">
            <a:tbl>
              <a:tblPr firstRow="1" bandRow="1">
                <a:tableStyleId>{5C22544A-7EE6-4342-B048-85BDC9FD1C3A}</a:tableStyleId>
              </a:tblPr>
              <a:tblGrid>
                <a:gridCol w="1701927">
                  <a:extLst>
                    <a:ext uri="{9D8B030D-6E8A-4147-A177-3AD203B41FA5}">
                      <a16:colId xmlns:a16="http://schemas.microsoft.com/office/drawing/2014/main" val="20000"/>
                    </a:ext>
                  </a:extLst>
                </a:gridCol>
                <a:gridCol w="865909">
                  <a:extLst>
                    <a:ext uri="{9D8B030D-6E8A-4147-A177-3AD203B41FA5}">
                      <a16:colId xmlns:a16="http://schemas.microsoft.com/office/drawing/2014/main" val="20001"/>
                    </a:ext>
                  </a:extLst>
                </a:gridCol>
                <a:gridCol w="1073728">
                  <a:extLst>
                    <a:ext uri="{9D8B030D-6E8A-4147-A177-3AD203B41FA5}">
                      <a16:colId xmlns:a16="http://schemas.microsoft.com/office/drawing/2014/main" val="20002"/>
                    </a:ext>
                  </a:extLst>
                </a:gridCol>
                <a:gridCol w="1149927">
                  <a:extLst>
                    <a:ext uri="{9D8B030D-6E8A-4147-A177-3AD203B41FA5}">
                      <a16:colId xmlns:a16="http://schemas.microsoft.com/office/drawing/2014/main" val="20003"/>
                    </a:ext>
                  </a:extLst>
                </a:gridCol>
              </a:tblGrid>
              <a:tr h="360000">
                <a:tc>
                  <a:txBody>
                    <a:bodyPr/>
                    <a:lstStyle/>
                    <a:p>
                      <a:pPr algn="l"/>
                      <a:r>
                        <a:rPr lang="en-US" sz="1200" b="1" noProof="0" dirty="0">
                          <a:solidFill>
                            <a:srgbClr val="202945"/>
                          </a:solidFill>
                          <a:latin typeface="Nunito Sans"/>
                        </a:rPr>
                        <a:t>Sub-sleeve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Avg duration</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Contribution</a:t>
                      </a:r>
                    </a:p>
                  </a:txBody>
                  <a:tcPr marL="54000" marR="54000" marT="18000" marB="18000" anchor="ctr">
                    <a:solidFill>
                      <a:srgbClr val="FFC545"/>
                    </a:solidFill>
                  </a:tcPr>
                </a:tc>
                <a:extLst>
                  <a:ext uri="{0D108BD9-81ED-4DB2-BD59-A6C34878D82A}">
                    <a16:rowId xmlns:a16="http://schemas.microsoft.com/office/drawing/2014/main" val="10000"/>
                  </a:ext>
                </a:extLst>
              </a:tr>
              <a:tr h="120000">
                <a:tc>
                  <a:txBody>
                    <a:bodyPr/>
                    <a:lstStyle/>
                    <a:p>
                      <a:pPr algn="l"/>
                      <a:r>
                        <a:rPr lang="en-US" sz="1100" b="0" noProof="0" dirty="0">
                          <a:solidFill>
                            <a:srgbClr val="202945"/>
                          </a:solidFill>
                          <a:latin typeface="Nunito Sans"/>
                        </a:rPr>
                        <a:t>Corporate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388,370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0.55</a:t>
                      </a:r>
                    </a:p>
                  </a:txBody>
                  <a:tcPr marL="54000" marR="54000" marT="18000" marB="18000" anchor="ctr">
                    <a:solidFill>
                      <a:srgbClr val="FFFFFF"/>
                    </a:solidFill>
                  </a:tcPr>
                </a:tc>
                <a:extLst>
                  <a:ext uri="{0D108BD9-81ED-4DB2-BD59-A6C34878D82A}">
                    <a16:rowId xmlns:a16="http://schemas.microsoft.com/office/drawing/2014/main" val="10001"/>
                  </a:ext>
                </a:extLst>
              </a:tr>
              <a:tr h="120000">
                <a:tc>
                  <a:txBody>
                    <a:bodyPr/>
                    <a:lstStyle/>
                    <a:p>
                      <a:pPr algn="l"/>
                      <a:r>
                        <a:rPr lang="en-US" sz="1100" b="0" noProof="0" dirty="0">
                          <a:solidFill>
                            <a:srgbClr val="202945"/>
                          </a:solidFill>
                          <a:latin typeface="Nunito Sans"/>
                        </a:rPr>
                        <a:t>Structured note / </a:t>
                      </a:r>
                      <a:r>
                        <a:rPr lang="en-US" sz="1100" b="0" noProof="0" dirty="0" err="1">
                          <a:solidFill>
                            <a:srgbClr val="202945"/>
                          </a:solidFill>
                          <a:latin typeface="Nunito Sans"/>
                        </a:rPr>
                        <a:t>ce</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384,286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0.00</a:t>
                      </a:r>
                    </a:p>
                  </a:txBody>
                  <a:tcPr marL="54000" marR="54000" marT="18000" marB="18000" anchor="ctr">
                    <a:solidFill>
                      <a:srgbClr val="F5F6F8"/>
                    </a:solidFill>
                  </a:tcPr>
                </a:tc>
                <a:extLst>
                  <a:ext uri="{0D108BD9-81ED-4DB2-BD59-A6C34878D82A}">
                    <a16:rowId xmlns:a16="http://schemas.microsoft.com/office/drawing/2014/main" val="10002"/>
                  </a:ext>
                </a:extLst>
              </a:tr>
              <a:tr h="120000">
                <a:tc>
                  <a:txBody>
                    <a:bodyPr/>
                    <a:lstStyle/>
                    <a:p>
                      <a:pPr algn="l"/>
                      <a:r>
                        <a:rPr lang="en-US" sz="1100" b="0" noProof="0" dirty="0">
                          <a:solidFill>
                            <a:srgbClr val="202945"/>
                          </a:solidFill>
                          <a:latin typeface="Nunito Sans"/>
                        </a:rPr>
                        <a:t>Supranational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382,888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0.42</a:t>
                      </a:r>
                    </a:p>
                  </a:txBody>
                  <a:tcPr marL="54000" marR="54000" marT="18000" marB="18000" anchor="ctr">
                    <a:solidFill>
                      <a:srgbClr val="FFFFFF"/>
                    </a:solidFill>
                  </a:tcPr>
                </a:tc>
                <a:extLst>
                  <a:ext uri="{0D108BD9-81ED-4DB2-BD59-A6C34878D82A}">
                    <a16:rowId xmlns:a16="http://schemas.microsoft.com/office/drawing/2014/main" val="10003"/>
                  </a:ext>
                </a:extLst>
              </a:tr>
              <a:tr h="120000">
                <a:tc>
                  <a:txBody>
                    <a:bodyPr/>
                    <a:lstStyle/>
                    <a:p>
                      <a:pPr algn="l"/>
                      <a:r>
                        <a:rPr lang="en-US" sz="1100" b="0" noProof="0" dirty="0">
                          <a:solidFill>
                            <a:srgbClr val="202945"/>
                          </a:solidFill>
                          <a:latin typeface="Nunito Sans"/>
                        </a:rPr>
                        <a:t>Corporate bond (auto…</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298,221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0.24</a:t>
                      </a:r>
                    </a:p>
                  </a:txBody>
                  <a:tcPr marL="54000" marR="54000" marT="18000" marB="18000" anchor="ctr">
                    <a:solidFill>
                      <a:srgbClr val="F5F6F8"/>
                    </a:solidFill>
                  </a:tcPr>
                </a:tc>
                <a:extLst>
                  <a:ext uri="{0D108BD9-81ED-4DB2-BD59-A6C34878D82A}">
                    <a16:rowId xmlns:a16="http://schemas.microsoft.com/office/drawing/2014/main" val="10004"/>
                  </a:ext>
                </a:extLst>
              </a:tr>
              <a:tr h="120000">
                <a:tc>
                  <a:txBody>
                    <a:bodyPr/>
                    <a:lstStyle/>
                    <a:p>
                      <a:pPr algn="l"/>
                      <a:r>
                        <a:rPr lang="en-US" sz="1100" b="0" noProof="0" dirty="0">
                          <a:solidFill>
                            <a:srgbClr val="202945"/>
                          </a:solidFill>
                          <a:latin typeface="Nunito Sans"/>
                        </a:rPr>
                        <a:t>High yield bond fund…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279,018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0.18</a:t>
                      </a:r>
                    </a:p>
                  </a:txBody>
                  <a:tcPr marL="54000" marR="54000" marT="18000" marB="18000" anchor="ctr">
                    <a:solidFill>
                      <a:srgbClr val="FFFFFF"/>
                    </a:solidFill>
                  </a:tcPr>
                </a:tc>
                <a:extLst>
                  <a:ext uri="{0D108BD9-81ED-4DB2-BD59-A6C34878D82A}">
                    <a16:rowId xmlns:a16="http://schemas.microsoft.com/office/drawing/2014/main" val="10005"/>
                  </a:ext>
                </a:extLst>
              </a:tr>
              <a:tr h="120000">
                <a:tc>
                  <a:txBody>
                    <a:bodyPr/>
                    <a:lstStyle/>
                    <a:p>
                      <a:pPr algn="l"/>
                      <a:r>
                        <a:rPr lang="en-US" sz="1100" b="0" noProof="0" dirty="0">
                          <a:solidFill>
                            <a:srgbClr val="202945"/>
                          </a:solidFill>
                          <a:latin typeface="Nunito Sans"/>
                        </a:rPr>
                        <a:t>Corporate bond (oil…</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200,596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0.18</a:t>
                      </a:r>
                    </a:p>
                  </a:txBody>
                  <a:tcPr marL="54000" marR="54000" marT="18000" marB="18000" anchor="ctr">
                    <a:solidFill>
                      <a:srgbClr val="F5F6F8"/>
                    </a:solidFill>
                  </a:tcPr>
                </a:tc>
                <a:extLst>
                  <a:ext uri="{0D108BD9-81ED-4DB2-BD59-A6C34878D82A}">
                    <a16:rowId xmlns:a16="http://schemas.microsoft.com/office/drawing/2014/main" val="10006"/>
                  </a:ext>
                </a:extLst>
              </a:tr>
              <a:tr h="120000">
                <a:tc>
                  <a:txBody>
                    <a:bodyPr/>
                    <a:lstStyle/>
                    <a:p>
                      <a:pPr algn="l"/>
                      <a:r>
                        <a:rPr lang="en-US" sz="1100" b="0" noProof="0" dirty="0">
                          <a:solidFill>
                            <a:srgbClr val="202945"/>
                          </a:solidFill>
                          <a:latin typeface="Nunito Sans"/>
                        </a:rPr>
                        <a:t>Bank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199,562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5.1</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0.26</a:t>
                      </a:r>
                    </a:p>
                  </a:txBody>
                  <a:tcPr marL="54000" marR="54000" marT="18000" marB="18000" anchor="ctr">
                    <a:solidFill>
                      <a:srgbClr val="FFFFFF"/>
                    </a:solidFill>
                  </a:tcPr>
                </a:tc>
                <a:extLst>
                  <a:ext uri="{0D108BD9-81ED-4DB2-BD59-A6C34878D82A}">
                    <a16:rowId xmlns:a16="http://schemas.microsoft.com/office/drawing/2014/main" val="10007"/>
                  </a:ext>
                </a:extLst>
              </a:tr>
              <a:tr h="120000">
                <a:tc>
                  <a:txBody>
                    <a:bodyPr/>
                    <a:lstStyle/>
                    <a:p>
                      <a:pPr algn="l"/>
                      <a:r>
                        <a:rPr lang="en-US" sz="1100" b="0" noProof="0" dirty="0">
                          <a:solidFill>
                            <a:srgbClr val="202945"/>
                          </a:solidFill>
                          <a:latin typeface="Nunito Sans"/>
                        </a:rPr>
                        <a:t>Insurance-linked sec…</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198,800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0.00</a:t>
                      </a:r>
                    </a:p>
                  </a:txBody>
                  <a:tcPr marL="54000" marR="54000" marT="18000" marB="18000" anchor="ctr">
                    <a:solidFill>
                      <a:srgbClr val="F5F6F8"/>
                    </a:solidFill>
                  </a:tcPr>
                </a:tc>
                <a:extLst>
                  <a:ext uri="{0D108BD9-81ED-4DB2-BD59-A6C34878D82A}">
                    <a16:rowId xmlns:a16="http://schemas.microsoft.com/office/drawing/2014/main" val="10008"/>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197,796</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3.4</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0.17</a:t>
                      </a:r>
                    </a:p>
                  </a:txBody>
                  <a:tcPr marL="54000" marR="54000" marT="18000" marB="18000" anchor="ctr">
                    <a:solidFill>
                      <a:srgbClr val="FFFFFF"/>
                    </a:solidFill>
                  </a:tcPr>
                </a:tc>
                <a:extLst>
                  <a:ext uri="{0D108BD9-81ED-4DB2-BD59-A6C34878D82A}">
                    <a16:rowId xmlns:a16="http://schemas.microsoft.com/office/drawing/2014/main" val="10009"/>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194,084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5F6F8"/>
                    </a:solidFill>
                  </a:tcPr>
                </a:tc>
                <a:extLst>
                  <a:ext uri="{0D108BD9-81ED-4DB2-BD59-A6C34878D82A}">
                    <a16:rowId xmlns:a16="http://schemas.microsoft.com/office/drawing/2014/main" val="10010"/>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192,970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FFFFF"/>
                    </a:solidFill>
                  </a:tcPr>
                </a:tc>
                <a:extLst>
                  <a:ext uri="{0D108BD9-81ED-4DB2-BD59-A6C34878D82A}">
                    <a16:rowId xmlns:a16="http://schemas.microsoft.com/office/drawing/2014/main" val="10011"/>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192,684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5F6F8"/>
                    </a:solidFill>
                  </a:tcPr>
                </a:tc>
                <a:extLst>
                  <a:ext uri="{0D108BD9-81ED-4DB2-BD59-A6C34878D82A}">
                    <a16:rowId xmlns:a16="http://schemas.microsoft.com/office/drawing/2014/main" val="10012"/>
                  </a:ext>
                </a:extLst>
              </a:tr>
              <a:tr h="120000">
                <a:tc>
                  <a:txBody>
                    <a:bodyPr/>
                    <a:lstStyle/>
                    <a:p>
                      <a:pPr algn="l"/>
                      <a:r>
                        <a:rPr lang="en-US" sz="1100" b="0" noProof="0" dirty="0">
                          <a:solidFill>
                            <a:srgbClr val="202945"/>
                          </a:solidFill>
                          <a:latin typeface="Nunito Sans"/>
                        </a:rPr>
                        <a:t>Corporate bond (port…</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190,880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0.13</a:t>
                      </a:r>
                    </a:p>
                  </a:txBody>
                  <a:tcPr marL="54000" marR="54000" marT="18000" marB="18000" anchor="ctr">
                    <a:solidFill>
                      <a:srgbClr val="FFFFFF"/>
                    </a:solidFill>
                  </a:tcPr>
                </a:tc>
                <a:extLst>
                  <a:ext uri="{0D108BD9-81ED-4DB2-BD59-A6C34878D82A}">
                    <a16:rowId xmlns:a16="http://schemas.microsoft.com/office/drawing/2014/main" val="10013"/>
                  </a:ext>
                </a:extLst>
              </a:tr>
              <a:tr h="120000">
                <a:tc>
                  <a:txBody>
                    <a:bodyPr/>
                    <a:lstStyle/>
                    <a:p>
                      <a:pPr algn="l"/>
                      <a:r>
                        <a:rPr lang="en-US" sz="1100" b="0" noProof="0" dirty="0">
                          <a:solidFill>
                            <a:srgbClr val="202945"/>
                          </a:solidFill>
                          <a:latin typeface="Nunito Sans"/>
                        </a:rPr>
                        <a:t>Corporate bond (</a:t>
                      </a:r>
                      <a:r>
                        <a:rPr lang="en-US" sz="1100" b="0" noProof="0" dirty="0" err="1">
                          <a:solidFill>
                            <a:srgbClr val="202945"/>
                          </a:solidFill>
                          <a:latin typeface="Nunito Sans"/>
                        </a:rPr>
                        <a:t>airc</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190,732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0.29</a:t>
                      </a:r>
                    </a:p>
                  </a:txBody>
                  <a:tcPr marL="54000" marR="54000" marT="18000" marB="18000" anchor="ctr">
                    <a:solidFill>
                      <a:srgbClr val="F5F6F8"/>
                    </a:solidFill>
                  </a:tcPr>
                </a:tc>
                <a:extLst>
                  <a:ext uri="{0D108BD9-81ED-4DB2-BD59-A6C34878D82A}">
                    <a16:rowId xmlns:a16="http://schemas.microsoft.com/office/drawing/2014/main" val="10014"/>
                  </a:ext>
                </a:extLst>
              </a:tr>
              <a:tr h="120000">
                <a:tc>
                  <a:txBody>
                    <a:bodyPr/>
                    <a:lstStyle/>
                    <a:p>
                      <a:pPr algn="l"/>
                      <a:r>
                        <a:rPr lang="en-US" sz="1100" b="0" noProof="0" dirty="0">
                          <a:solidFill>
                            <a:srgbClr val="202945"/>
                          </a:solidFill>
                          <a:latin typeface="Nunito Sans"/>
                        </a:rPr>
                        <a:t>Corporate bond (comm…</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98,990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0.15</a:t>
                      </a:r>
                    </a:p>
                  </a:txBody>
                  <a:tcPr marL="54000" marR="54000" marT="18000" marB="18000" anchor="ctr">
                    <a:solidFill>
                      <a:srgbClr val="FFFFFF"/>
                    </a:solidFill>
                  </a:tcPr>
                </a:tc>
                <a:extLst>
                  <a:ext uri="{0D108BD9-81ED-4DB2-BD59-A6C34878D82A}">
                    <a16:rowId xmlns:a16="http://schemas.microsoft.com/office/drawing/2014/main" val="10015"/>
                  </a:ext>
                </a:extLst>
              </a:tr>
              <a:tr h="120000">
                <a:tc>
                  <a:txBody>
                    <a:bodyPr/>
                    <a:lstStyle/>
                    <a:p>
                      <a:pPr algn="l"/>
                      <a:r>
                        <a:rPr lang="en-US" sz="1100" b="0" noProof="0" dirty="0">
                          <a:solidFill>
                            <a:srgbClr val="202945"/>
                          </a:solidFill>
                          <a:latin typeface="Nunito Sans"/>
                        </a:rPr>
                        <a:t>Corporate bond (</a:t>
                      </a:r>
                      <a:r>
                        <a:rPr lang="en-US" sz="1100" b="0" noProof="0" dirty="0" err="1">
                          <a:solidFill>
                            <a:srgbClr val="202945"/>
                          </a:solidFill>
                          <a:latin typeface="Nunito Sans"/>
                        </a:rPr>
                        <a:t>gami</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98,860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0.11</a:t>
                      </a:r>
                    </a:p>
                  </a:txBody>
                  <a:tcPr marL="54000" marR="54000" marT="18000" marB="18000" anchor="ctr">
                    <a:solidFill>
                      <a:srgbClr val="F5F6F8"/>
                    </a:solidFill>
                  </a:tcPr>
                </a:tc>
                <a:extLst>
                  <a:ext uri="{0D108BD9-81ED-4DB2-BD59-A6C34878D82A}">
                    <a16:rowId xmlns:a16="http://schemas.microsoft.com/office/drawing/2014/main" val="10016"/>
                  </a:ext>
                </a:extLst>
              </a:tr>
              <a:tr h="120000">
                <a:tc>
                  <a:txBody>
                    <a:bodyPr/>
                    <a:lstStyle/>
                    <a:p>
                      <a:pPr algn="l"/>
                      <a:r>
                        <a:rPr lang="en-US" sz="1100" b="0" noProof="0" dirty="0">
                          <a:solidFill>
                            <a:srgbClr val="202945"/>
                          </a:solidFill>
                          <a:latin typeface="Nunito Sans"/>
                        </a:rPr>
                        <a:t>Corporate bond (tele…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97,315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0.15</a:t>
                      </a:r>
                    </a:p>
                  </a:txBody>
                  <a:tcPr marL="54000" marR="54000" marT="18000" marB="18000" anchor="ctr">
                    <a:solidFill>
                      <a:srgbClr val="FFFFFF"/>
                    </a:solidFill>
                  </a:tcPr>
                </a:tc>
                <a:extLst>
                  <a:ext uri="{0D108BD9-81ED-4DB2-BD59-A6C34878D82A}">
                    <a16:rowId xmlns:a16="http://schemas.microsoft.com/office/drawing/2014/main" val="10017"/>
                  </a:ext>
                </a:extLst>
              </a:tr>
              <a:tr h="120000">
                <a:tc>
                  <a:txBody>
                    <a:bodyPr/>
                    <a:lstStyle/>
                    <a:p>
                      <a:pPr algn="l"/>
                      <a:r>
                        <a:rPr lang="en-US" sz="1100" b="0" noProof="0" dirty="0">
                          <a:solidFill>
                            <a:srgbClr val="202945"/>
                          </a:solidFill>
                          <a:latin typeface="Nunito Sans"/>
                        </a:rPr>
                        <a:t>Corporate bond (REIT)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94,801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5.1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0.12</a:t>
                      </a:r>
                    </a:p>
                  </a:txBody>
                  <a:tcPr marL="54000" marR="54000" marT="18000" marB="18000" anchor="ctr">
                    <a:solidFill>
                      <a:srgbClr val="F5F6F8"/>
                    </a:solidFill>
                  </a:tcPr>
                </a:tc>
                <a:extLst>
                  <a:ext uri="{0D108BD9-81ED-4DB2-BD59-A6C34878D82A}">
                    <a16:rowId xmlns:a16="http://schemas.microsoft.com/office/drawing/2014/main" val="10018"/>
                  </a:ext>
                </a:extLst>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100" noProof="0" dirty="0">
                <a:solidFill>
                  <a:schemeClr val="tx2">
                    <a:lumMod val="95000"/>
                    <a:lumOff val="5000"/>
                  </a:schemeClr>
                </a:solidFill>
              </a:rPr>
              <a:t>Headquartered in Geneva, with several offices in Switzerland, Bank </a:t>
            </a:r>
            <a:r>
              <a:rPr lang="en-US" sz="1100" noProof="0" dirty="0" err="1">
                <a:solidFill>
                  <a:schemeClr val="tx2">
                    <a:lumMod val="95000"/>
                    <a:lumOff val="5000"/>
                  </a:schemeClr>
                </a:solidFill>
              </a:rPr>
              <a:t>Syz</a:t>
            </a:r>
            <a:r>
              <a:rPr lang="en-US" sz="11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sp>
        <p:nvSpPr>
          <p:cNvPr id="3" name="Text Placeholder 2"/>
          <p:cNvSpPr>
            <a:spLocks noGrp="1"/>
          </p:cNvSpPr>
          <p:nvPr>
            <p:ph type="body" sz="quarter" idx="14"/>
          </p:nvPr>
        </p:nvSpPr>
        <p:spPr>
          <a:xfrm>
            <a:off x="665163" y="1771273"/>
            <a:ext cx="9398001" cy="251511"/>
          </a:xfrm>
        </p:spPr>
        <p:txBody>
          <a:bodyPr/>
          <a:lstStyle/>
          <a:p>
            <a:r>
              <a:rPr lang="en-US" i="1" noProof="0" dirty="0"/>
              <a:t>Please enter client TAA. For e.g.:</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BE4C28-7A5A-5991-4D8E-0B86ADE12621}"/>
            </a:ext>
          </a:extLst>
        </p:cNvPr>
        <p:cNvGrpSpPr/>
        <p:nvPr/>
      </p:nvGrpSpPr>
      <p:grpSpPr>
        <a:xfrm>
          <a:off x="0" y="0"/>
          <a:ext cx="0" cy="0"/>
          <a:chOff x="0" y="0"/>
          <a:chExt cx="0" cy="0"/>
        </a:xfrm>
      </p:grpSpPr>
      <p:sp>
        <p:nvSpPr>
          <p:cNvPr id="23" name="Espace réservé du texte 22">
            <a:extLst>
              <a:ext uri="{FF2B5EF4-FFF2-40B4-BE49-F238E27FC236}">
                <a16:creationId xmlns:a16="http://schemas.microsoft.com/office/drawing/2014/main" id="{1926FD5C-FA6B-FAA8-A1DE-2FD6390155E6}"/>
              </a:ext>
            </a:extLst>
          </p:cNvPr>
          <p:cNvSpPr>
            <a:spLocks noGrp="1"/>
          </p:cNvSpPr>
          <p:nvPr>
            <p:ph type="body" sz="quarter" idx="10"/>
          </p:nvPr>
        </p:nvSpPr>
        <p:spPr>
          <a:xfrm>
            <a:off x="665163" y="1891437"/>
            <a:ext cx="8736934" cy="632290"/>
          </a:xfrm>
        </p:spPr>
        <p:txBody>
          <a:bodyPr/>
          <a:lstStyle/>
          <a:p>
            <a:r>
              <a:rPr lang="en-US" sz="1400" b="1" noProof="0" dirty="0">
                <a:solidFill>
                  <a:schemeClr val="accent4"/>
                </a:solidFill>
              </a:rPr>
              <a:t>BNY Mellon Global Short-Dated High Yield Bond Fund is a global High Yield portfolio to capture credit return with low sensitivity to interest rate movements:</a:t>
            </a:r>
          </a:p>
          <a:p>
            <a:endParaRPr lang="en-US" sz="1400" noProof="0" dirty="0">
              <a:solidFill>
                <a:schemeClr val="accent4"/>
              </a:solidFill>
            </a:endParaRPr>
          </a:p>
        </p:txBody>
      </p:sp>
      <p:sp>
        <p:nvSpPr>
          <p:cNvPr id="3" name="Espace réservé du contenu 2">
            <a:extLst>
              <a:ext uri="{FF2B5EF4-FFF2-40B4-BE49-F238E27FC236}">
                <a16:creationId xmlns:a16="http://schemas.microsoft.com/office/drawing/2014/main" id="{3331D8F3-3D6C-A804-5FBD-B63566C935AD}"/>
              </a:ext>
            </a:extLst>
          </p:cNvPr>
          <p:cNvSpPr>
            <a:spLocks noGrp="1"/>
          </p:cNvSpPr>
          <p:nvPr>
            <p:ph idx="1"/>
          </p:nvPr>
        </p:nvSpPr>
        <p:spPr>
          <a:xfrm>
            <a:off x="582036" y="1998886"/>
            <a:ext cx="5580422" cy="1412413"/>
          </a:xfrm>
        </p:spPr>
        <p:txBody>
          <a:bodyPr/>
          <a:lstStyle/>
          <a:p>
            <a:pPr marL="0" indent="0" algn="ctr">
              <a:spcBef>
                <a:spcPts val="300"/>
              </a:spcBef>
              <a:buNone/>
            </a:pPr>
            <a:endParaRPr lang="en-US" sz="1000" b="1" noProof="0" dirty="0"/>
          </a:p>
          <a:p>
            <a:pPr>
              <a:spcBef>
                <a:spcPts val="300"/>
              </a:spcBef>
            </a:pPr>
            <a:endParaRPr lang="en-US" sz="1000" noProof="0" dirty="0"/>
          </a:p>
          <a:p>
            <a:pPr>
              <a:spcBef>
                <a:spcPts val="300"/>
              </a:spcBef>
            </a:pPr>
            <a:r>
              <a:rPr lang="en-US" sz="1000" b="1" noProof="0" dirty="0"/>
              <a:t>Current yield of 7.4% </a:t>
            </a:r>
            <a:r>
              <a:rPr lang="en-US" sz="1000" noProof="0" dirty="0"/>
              <a:t>in USD (i.e. 60 bp per month of carry return)</a:t>
            </a:r>
            <a:r>
              <a:rPr lang="en-US" sz="1000" noProof="0" dirty="0">
                <a:solidFill>
                  <a:schemeClr val="accent4"/>
                </a:solidFill>
              </a:rPr>
              <a:t> </a:t>
            </a:r>
            <a:endParaRPr lang="en-US" sz="1000" noProof="0" dirty="0"/>
          </a:p>
          <a:p>
            <a:pPr>
              <a:spcBef>
                <a:spcPts val="300"/>
              </a:spcBef>
            </a:pPr>
            <a:r>
              <a:rPr lang="en-US" sz="1000" b="1" noProof="0" dirty="0" err="1"/>
              <a:t>AuM</a:t>
            </a:r>
            <a:r>
              <a:rPr lang="en-US" sz="1000" b="1" noProof="0" dirty="0"/>
              <a:t> of USD 1.54 bn </a:t>
            </a:r>
            <a:r>
              <a:rPr lang="en-US" sz="1000" noProof="0" dirty="0"/>
              <a:t>(have doubled since the inclusion on our Fund Recommended List in February 2024)</a:t>
            </a:r>
          </a:p>
          <a:p>
            <a:pPr>
              <a:spcBef>
                <a:spcPts val="300"/>
              </a:spcBef>
            </a:pPr>
            <a:r>
              <a:rPr lang="en-US" sz="1000" noProof="0" dirty="0"/>
              <a:t>The fund has generated a </a:t>
            </a:r>
            <a:r>
              <a:rPr lang="en-US" sz="1000" b="1" noProof="0" dirty="0"/>
              <a:t>total return of +2.8% YTD </a:t>
            </a:r>
            <a:r>
              <a:rPr lang="en-US" sz="1000" noProof="0" dirty="0"/>
              <a:t>this year and </a:t>
            </a:r>
            <a:r>
              <a:rPr lang="en-US" sz="1000" b="1" noProof="0" dirty="0"/>
              <a:t>posted a positive performance in Apr</a:t>
            </a:r>
            <a:r>
              <a:rPr lang="en-US" sz="1000" noProof="0" dirty="0"/>
              <a:t>il despite the market turmoil. Total return was +8.3% in 2024 and +13.2% in 2023.</a:t>
            </a:r>
          </a:p>
          <a:p>
            <a:pPr>
              <a:spcBef>
                <a:spcPts val="300"/>
              </a:spcBef>
            </a:pPr>
            <a:r>
              <a:rPr lang="en-US" sz="1000" noProof="0" dirty="0"/>
              <a:t>It invests in </a:t>
            </a:r>
            <a:r>
              <a:rPr lang="en-US" sz="1000" b="1" noProof="0" dirty="0"/>
              <a:t>short maturity bonds </a:t>
            </a:r>
            <a:r>
              <a:rPr lang="en-US" sz="1000" noProof="0" dirty="0"/>
              <a:t>(portfolio duration 2.3 years) --&gt; </a:t>
            </a:r>
            <a:r>
              <a:rPr lang="en-US" sz="1000" b="1" noProof="0" dirty="0"/>
              <a:t>low sensitivity to interest rate movements and lower probability of default </a:t>
            </a:r>
            <a:r>
              <a:rPr lang="en-US" sz="1000" noProof="0" dirty="0"/>
              <a:t>(strong visibility on cash flows in the near future)</a:t>
            </a:r>
          </a:p>
          <a:p>
            <a:pPr>
              <a:spcBef>
                <a:spcPts val="300"/>
              </a:spcBef>
            </a:pPr>
            <a:r>
              <a:rPr lang="en-US" sz="1000" noProof="0" dirty="0"/>
              <a:t>It is actively managed with a meticulous bottom-up approach. The </a:t>
            </a:r>
            <a:r>
              <a:rPr lang="en-US" sz="1000" b="1" noProof="0" dirty="0"/>
              <a:t>3 fund managers </a:t>
            </a:r>
            <a:r>
              <a:rPr lang="en-US" sz="1000" noProof="0" dirty="0"/>
              <a:t>are supported by a team of </a:t>
            </a:r>
            <a:r>
              <a:rPr lang="en-US" sz="1000" b="1" noProof="0" dirty="0"/>
              <a:t>21 credit analysts</a:t>
            </a:r>
          </a:p>
          <a:p>
            <a:pPr>
              <a:spcBef>
                <a:spcPts val="300"/>
              </a:spcBef>
            </a:pPr>
            <a:r>
              <a:rPr lang="en-US" sz="1000" noProof="0" dirty="0"/>
              <a:t>It focuses on </a:t>
            </a:r>
            <a:r>
              <a:rPr lang="en-US" sz="1000" b="1" noProof="0" dirty="0"/>
              <a:t>strong quality issuers </a:t>
            </a:r>
            <a:r>
              <a:rPr lang="en-US" sz="1000" noProof="0" dirty="0"/>
              <a:t>in the high yield space, maintaining an </a:t>
            </a:r>
            <a:r>
              <a:rPr lang="en-US" sz="1000" b="1" noProof="0" dirty="0"/>
              <a:t>average rating of BB- </a:t>
            </a:r>
          </a:p>
          <a:p>
            <a:pPr>
              <a:spcBef>
                <a:spcPts val="300"/>
              </a:spcBef>
            </a:pPr>
            <a:r>
              <a:rPr lang="en-US" sz="1000" noProof="0" dirty="0"/>
              <a:t>It </a:t>
            </a:r>
            <a:r>
              <a:rPr lang="en-US" sz="1000" b="1" noProof="0" dirty="0"/>
              <a:t>avoids low quality credit </a:t>
            </a:r>
            <a:r>
              <a:rPr lang="en-US" sz="1000" noProof="0" dirty="0"/>
              <a:t>(CCC ratings), unlike passive solutions that invest in all types of issuers</a:t>
            </a:r>
          </a:p>
          <a:p>
            <a:pPr>
              <a:spcBef>
                <a:spcPts val="300"/>
              </a:spcBef>
            </a:pPr>
            <a:endParaRPr lang="en-US" sz="1000" noProof="0" dirty="0"/>
          </a:p>
          <a:p>
            <a:pPr marL="0" indent="0">
              <a:spcBef>
                <a:spcPts val="300"/>
              </a:spcBef>
              <a:buNone/>
            </a:pPr>
            <a:endParaRPr lang="en-US" sz="2300" b="1" noProof="0" dirty="0">
              <a:gradFill flip="none" rotWithShape="1">
                <a:gsLst>
                  <a:gs pos="0">
                    <a:schemeClr val="accent4"/>
                  </a:gs>
                  <a:gs pos="100000">
                    <a:srgbClr val="FFA400"/>
                  </a:gs>
                </a:gsLst>
                <a:lin ang="0" scaled="1"/>
                <a:tileRect/>
              </a:gradFill>
              <a:latin typeface="+mj-lt"/>
              <a:ea typeface="+mj-ea"/>
              <a:cs typeface="+mj-cs"/>
            </a:endParaRPr>
          </a:p>
          <a:p>
            <a:pPr marL="0" indent="0" algn="ctr">
              <a:buNone/>
            </a:pPr>
            <a:endParaRPr lang="en-US" noProof="0" dirty="0">
              <a:ln w="0"/>
              <a:solidFill>
                <a:schemeClr val="accent1"/>
              </a:solidFill>
              <a:effectLst>
                <a:outerShdw blurRad="38100" dist="25400" dir="5400000" algn="ctr" rotWithShape="0">
                  <a:srgbClr val="6E747A">
                    <a:alpha val="43000"/>
                  </a:srgbClr>
                </a:outerShdw>
              </a:effectLst>
              <a:latin typeface="Nunito Sans ExtraBold" panose="00000900000000000000" pitchFamily="2" charset="0"/>
            </a:endParaRPr>
          </a:p>
          <a:p>
            <a:pPr>
              <a:spcBef>
                <a:spcPts val="300"/>
              </a:spcBef>
            </a:pPr>
            <a:endParaRPr lang="en-US" sz="900" noProof="0" dirty="0"/>
          </a:p>
        </p:txBody>
      </p:sp>
      <p:sp>
        <p:nvSpPr>
          <p:cNvPr id="2" name="Titre 1">
            <a:extLst>
              <a:ext uri="{FF2B5EF4-FFF2-40B4-BE49-F238E27FC236}">
                <a16:creationId xmlns:a16="http://schemas.microsoft.com/office/drawing/2014/main" id="{8BB07752-50B0-8C44-F8AC-CAB57D0872B4}"/>
              </a:ext>
            </a:extLst>
          </p:cNvPr>
          <p:cNvSpPr>
            <a:spLocks noGrp="1"/>
          </p:cNvSpPr>
          <p:nvPr>
            <p:ph type="title"/>
          </p:nvPr>
        </p:nvSpPr>
        <p:spPr/>
        <p:txBody>
          <a:bodyPr/>
          <a:lstStyle/>
          <a:p>
            <a:r>
              <a:rPr lang="en-US" sz="2400" b="1" noProof="0" dirty="0">
                <a:solidFill>
                  <a:srgbClr val="FF8300"/>
                </a:solidFill>
              </a:rPr>
              <a:t>Fixed Income </a:t>
            </a:r>
            <a:r>
              <a:rPr lang="en-US" noProof="0" dirty="0">
                <a:solidFill>
                  <a:srgbClr val="FF8300"/>
                </a:solidFill>
              </a:rPr>
              <a:t>– BNY Mellon Global Short Dated High Yield Fund</a:t>
            </a:r>
            <a:br>
              <a:rPr lang="en-US" sz="1800" noProof="0" dirty="0">
                <a:effectLst/>
                <a:latin typeface="Aptos" panose="020B0004020202020204" pitchFamily="34" charset="0"/>
                <a:ea typeface="DengXian" panose="02010600030101010101" pitchFamily="2" charset="-122"/>
                <a:cs typeface="Times New Roman" panose="02020603050405020304" pitchFamily="18" charset="0"/>
              </a:rPr>
            </a:br>
            <a:endParaRPr lang="en-US" noProof="0" dirty="0">
              <a:solidFill>
                <a:srgbClr val="FF8300"/>
              </a:solidFill>
            </a:endParaRPr>
          </a:p>
        </p:txBody>
      </p:sp>
      <p:sp>
        <p:nvSpPr>
          <p:cNvPr id="24" name="Rectangle 23">
            <a:extLst>
              <a:ext uri="{FF2B5EF4-FFF2-40B4-BE49-F238E27FC236}">
                <a16:creationId xmlns:a16="http://schemas.microsoft.com/office/drawing/2014/main" id="{C953AC3B-6726-4214-2596-83D112122B9B}"/>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6830209C-EBA7-0802-7C3A-1E8942964CFD}"/>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5781A0C9-0195-7B8F-36D4-46CF8A657AD3}"/>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62DB1004-1FCE-287D-F37C-CFF8050B7D81}"/>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9D2CB077-64B7-A1CF-10A4-47DFAC3C9F61}"/>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1E604B27-142F-47B5-714C-18500810039D}"/>
              </a:ext>
            </a:extLst>
          </p:cNvPr>
          <p:cNvSpPr/>
          <p:nvPr/>
        </p:nvSpPr>
        <p:spPr>
          <a:xfrm>
            <a:off x="6627379" y="2813826"/>
            <a:ext cx="3482398" cy="1077218"/>
          </a:xfrm>
          <a:prstGeom prst="rect">
            <a:avLst/>
          </a:prstGeom>
        </p:spPr>
        <p:txBody>
          <a:bodyPr wrap="square">
            <a:spAutoFit/>
          </a:bodyPr>
          <a:lstStyle/>
          <a:p>
            <a:r>
              <a:rPr lang="en-US" sz="1100" noProof="0" dirty="0">
                <a:solidFill>
                  <a:srgbClr val="3AB7C8"/>
                </a:solidFill>
                <a:latin typeface="Nunito Sans" pitchFamily="2" charset="77"/>
              </a:rPr>
              <a:t>The fund is available in </a:t>
            </a:r>
            <a:r>
              <a:rPr lang="en-US" sz="1100" b="1" noProof="0" dirty="0">
                <a:solidFill>
                  <a:srgbClr val="3AB7C8"/>
                </a:solidFill>
                <a:latin typeface="Nunito Sans" pitchFamily="2" charset="77"/>
              </a:rPr>
              <a:t>USD</a:t>
            </a:r>
            <a:r>
              <a:rPr lang="en-US" sz="1100" noProof="0" dirty="0">
                <a:solidFill>
                  <a:srgbClr val="3AB7C8"/>
                </a:solidFill>
                <a:latin typeface="Nunito Sans" pitchFamily="2" charset="77"/>
              </a:rPr>
              <a:t>, as well as in </a:t>
            </a:r>
            <a:r>
              <a:rPr lang="en-US" sz="1100" b="1" noProof="0" dirty="0">
                <a:solidFill>
                  <a:srgbClr val="3AB7C8"/>
                </a:solidFill>
                <a:latin typeface="Nunito Sans" pitchFamily="2" charset="77"/>
              </a:rPr>
              <a:t>EUR </a:t>
            </a:r>
            <a:r>
              <a:rPr lang="en-US" sz="1100" noProof="0" dirty="0">
                <a:solidFill>
                  <a:srgbClr val="3AB7C8"/>
                </a:solidFill>
                <a:latin typeface="Nunito Sans" pitchFamily="2" charset="77"/>
              </a:rPr>
              <a:t>and </a:t>
            </a:r>
            <a:r>
              <a:rPr lang="en-US" sz="1100" b="1" noProof="0" dirty="0">
                <a:solidFill>
                  <a:srgbClr val="3AB7C8"/>
                </a:solidFill>
                <a:latin typeface="Nunito Sans" pitchFamily="2" charset="77"/>
              </a:rPr>
              <a:t>CHF (with full FX hedging).</a:t>
            </a:r>
          </a:p>
          <a:p>
            <a:r>
              <a:rPr lang="en-US" sz="1100" noProof="0" dirty="0">
                <a:solidFill>
                  <a:srgbClr val="3AB7C8"/>
                </a:solidFill>
                <a:latin typeface="Nunito Sans" pitchFamily="2" charset="77"/>
              </a:rPr>
              <a:t>Possibility to opt for a </a:t>
            </a:r>
            <a:r>
              <a:rPr lang="en-US" sz="1100" b="1" noProof="0" dirty="0">
                <a:solidFill>
                  <a:srgbClr val="3AB7C8"/>
                </a:solidFill>
                <a:latin typeface="Nunito Sans" pitchFamily="2" charset="77"/>
              </a:rPr>
              <a:t>distributive share class </a:t>
            </a:r>
            <a:r>
              <a:rPr lang="en-US" sz="1100" noProof="0" dirty="0">
                <a:solidFill>
                  <a:srgbClr val="3AB7C8"/>
                </a:solidFill>
                <a:latin typeface="Nunito Sans" pitchFamily="2" charset="77"/>
              </a:rPr>
              <a:t>with quarterly distribution </a:t>
            </a:r>
          </a:p>
          <a:p>
            <a:endParaRPr lang="en-US" sz="1000" b="1" noProof="0" dirty="0">
              <a:solidFill>
                <a:srgbClr val="3AB7C8"/>
              </a:solidFill>
              <a:latin typeface="Nunito Sans" pitchFamily="2" charset="77"/>
            </a:endParaRPr>
          </a:p>
          <a:p>
            <a:endParaRPr lang="en-US" sz="1000" b="1" noProof="0" dirty="0">
              <a:solidFill>
                <a:srgbClr val="3AB7C8"/>
              </a:solidFill>
              <a:latin typeface="Nunito Sans" pitchFamily="2" charset="77"/>
            </a:endParaRPr>
          </a:p>
        </p:txBody>
      </p:sp>
      <p:sp>
        <p:nvSpPr>
          <p:cNvPr id="8" name="Rectangle 7">
            <a:extLst>
              <a:ext uri="{FF2B5EF4-FFF2-40B4-BE49-F238E27FC236}">
                <a16:creationId xmlns:a16="http://schemas.microsoft.com/office/drawing/2014/main" id="{3665EC4F-F513-3D36-A00B-2FADA82DFF28}"/>
              </a:ext>
            </a:extLst>
          </p:cNvPr>
          <p:cNvSpPr/>
          <p:nvPr/>
        </p:nvSpPr>
        <p:spPr>
          <a:xfrm>
            <a:off x="6627379" y="3660608"/>
            <a:ext cx="4296304" cy="1323439"/>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IE00BD5CTV53	USD </a:t>
            </a:r>
          </a:p>
          <a:p>
            <a:pPr algn="just">
              <a:tabLst>
                <a:tab pos="1641475" algn="l"/>
              </a:tabLst>
            </a:pPr>
            <a:r>
              <a:rPr lang="en-US" sz="1000" b="1" noProof="0" dirty="0">
                <a:solidFill>
                  <a:schemeClr val="tx2"/>
                </a:solidFill>
                <a:effectLst/>
                <a:ea typeface="DengXian" panose="02010600030101010101" pitchFamily="2" charset="-122"/>
              </a:rPr>
              <a:t>IE00BD5CTW60	USD Income</a:t>
            </a:r>
          </a:p>
          <a:p>
            <a:pPr algn="just">
              <a:tabLst>
                <a:tab pos="1641475" algn="l"/>
              </a:tabLst>
            </a:pPr>
            <a:endParaRPr lang="en-US" sz="1000" b="1" noProof="0" dirty="0">
              <a:solidFill>
                <a:schemeClr val="tx2"/>
              </a:solidFill>
              <a:effectLst/>
              <a:ea typeface="DengXian" panose="02010600030101010101" pitchFamily="2" charset="-122"/>
            </a:endParaRPr>
          </a:p>
          <a:p>
            <a:pPr algn="just">
              <a:tabLst>
                <a:tab pos="1641475" algn="l"/>
              </a:tabLst>
            </a:pPr>
            <a:r>
              <a:rPr lang="en-US" sz="1000" b="1" noProof="0" dirty="0">
                <a:solidFill>
                  <a:schemeClr val="tx2"/>
                </a:solidFill>
              </a:rPr>
              <a:t>IE00BD5CTX77	EUR Acc. (hedged)</a:t>
            </a:r>
          </a:p>
          <a:p>
            <a:pPr algn="just">
              <a:tabLst>
                <a:tab pos="1641475" algn="l"/>
              </a:tabLst>
            </a:pPr>
            <a:r>
              <a:rPr lang="en-US" sz="1000" b="1" noProof="0" dirty="0">
                <a:solidFill>
                  <a:schemeClr val="tx2"/>
                </a:solidFill>
              </a:rPr>
              <a:t>IE00BD5CTY84	EUR Income (hedged)</a:t>
            </a:r>
          </a:p>
          <a:p>
            <a:pPr algn="just">
              <a:tabLst>
                <a:tab pos="1641475" algn="l"/>
              </a:tabLst>
            </a:pPr>
            <a:endParaRPr lang="en-US" sz="1000" b="1" noProof="0" dirty="0">
              <a:solidFill>
                <a:schemeClr val="tx2"/>
              </a:solidFill>
            </a:endParaRPr>
          </a:p>
          <a:p>
            <a:pPr algn="just">
              <a:tabLst>
                <a:tab pos="1641475" algn="l"/>
              </a:tabLst>
            </a:pPr>
            <a:r>
              <a:rPr lang="en-US" sz="1000" b="1" noProof="0" dirty="0">
                <a:solidFill>
                  <a:schemeClr val="tx2"/>
                </a:solidFill>
              </a:rPr>
              <a:t>IE00BD5CV195	CHF  Acc. (hedged)</a:t>
            </a:r>
          </a:p>
          <a:p>
            <a:pPr algn="just">
              <a:tabLst>
                <a:tab pos="1641475" algn="l"/>
              </a:tabLst>
            </a:pPr>
            <a:endParaRPr lang="en-US" sz="1000" b="1" noProof="0" dirty="0">
              <a:solidFill>
                <a:srgbClr val="4B5F80"/>
              </a:solidFill>
            </a:endParaRPr>
          </a:p>
        </p:txBody>
      </p:sp>
      <p:cxnSp>
        <p:nvCxnSpPr>
          <p:cNvPr id="9" name="Straight Connector 8">
            <a:extLst>
              <a:ext uri="{FF2B5EF4-FFF2-40B4-BE49-F238E27FC236}">
                <a16:creationId xmlns:a16="http://schemas.microsoft.com/office/drawing/2014/main" id="{14664293-ACCD-55AC-F64F-D69589D375F7}"/>
              </a:ext>
            </a:extLst>
          </p:cNvPr>
          <p:cNvCxnSpPr>
            <a:cxnSpLocks/>
          </p:cNvCxnSpPr>
          <p:nvPr/>
        </p:nvCxnSpPr>
        <p:spPr>
          <a:xfrm>
            <a:off x="6724449" y="493301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477BC8-80AF-F2CC-F5FC-B2D93DE5735C}"/>
              </a:ext>
            </a:extLst>
          </p:cNvPr>
          <p:cNvCxnSpPr>
            <a:cxnSpLocks/>
          </p:cNvCxnSpPr>
          <p:nvPr/>
        </p:nvCxnSpPr>
        <p:spPr>
          <a:xfrm>
            <a:off x="6706678" y="3580904"/>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graphicFrame>
        <p:nvGraphicFramePr>
          <p:cNvPr id="4" name="Chart 3">
            <a:extLst>
              <a:ext uri="{FF2B5EF4-FFF2-40B4-BE49-F238E27FC236}">
                <a16:creationId xmlns:a16="http://schemas.microsoft.com/office/drawing/2014/main" id="{5F05562A-9719-18A0-D10A-EF087164B7A5}"/>
              </a:ext>
            </a:extLst>
          </p:cNvPr>
          <p:cNvGraphicFramePr>
            <a:graphicFrameLocks/>
          </p:cNvGraphicFramePr>
          <p:nvPr>
            <p:extLst>
              <p:ext uri="{D42A27DB-BD31-4B8C-83A1-F6EECF244321}">
                <p14:modId xmlns:p14="http://schemas.microsoft.com/office/powerpoint/2010/main" val="30921175"/>
              </p:ext>
            </p:extLst>
          </p:nvPr>
        </p:nvGraphicFramePr>
        <p:xfrm>
          <a:off x="851195" y="4765967"/>
          <a:ext cx="5182460" cy="218314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224326EF-7E42-7F48-163C-2C1114B40BB1}"/>
              </a:ext>
            </a:extLst>
          </p:cNvPr>
          <p:cNvGraphicFramePr/>
          <p:nvPr>
            <p:extLst>
              <p:ext uri="{D42A27DB-BD31-4B8C-83A1-F6EECF244321}">
                <p14:modId xmlns:p14="http://schemas.microsoft.com/office/powerpoint/2010/main" val="2708688934"/>
              </p:ext>
            </p:extLst>
          </p:nvPr>
        </p:nvGraphicFramePr>
        <p:xfrm>
          <a:off x="722463" y="4854455"/>
          <a:ext cx="5497295" cy="257274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465984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43A29-1E3C-4F06-1415-CE248C3926E7}"/>
            </a:ext>
          </a:extLst>
        </p:cNvPr>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3399AD98-B8A0-64F8-4B8A-A9C482EC5917}"/>
              </a:ext>
            </a:extLst>
          </p:cNvPr>
          <p:cNvSpPr>
            <a:spLocks noGrp="1"/>
          </p:cNvSpPr>
          <p:nvPr>
            <p:ph idx="1"/>
          </p:nvPr>
        </p:nvSpPr>
        <p:spPr>
          <a:xfrm>
            <a:off x="665163" y="1948505"/>
            <a:ext cx="5580422" cy="2783750"/>
          </a:xfrm>
        </p:spPr>
        <p:txBody>
          <a:bodyPr/>
          <a:lstStyle/>
          <a:p>
            <a:pPr marL="0" indent="0">
              <a:spcBef>
                <a:spcPts val="300"/>
              </a:spcBef>
              <a:buNone/>
            </a:pPr>
            <a:endParaRPr lang="en-US" sz="1050" b="1" noProof="0" dirty="0"/>
          </a:p>
          <a:p>
            <a:pPr>
              <a:spcBef>
                <a:spcPts val="300"/>
              </a:spcBef>
            </a:pPr>
            <a:r>
              <a:rPr lang="en-US" sz="1050" noProof="0" dirty="0"/>
              <a:t>For clients invested in Swiss equities, or for conservative investors who usually rely on income but are now looking for alternatives as rates are back at zero, this strategy offers an attractive solution.</a:t>
            </a:r>
          </a:p>
          <a:p>
            <a:pPr>
              <a:spcBef>
                <a:spcPts val="300"/>
              </a:spcBef>
            </a:pPr>
            <a:r>
              <a:rPr lang="en-US" sz="1050" noProof="0" dirty="0"/>
              <a:t>The strategy works best in uncertain or volatile markets that trade sideways or move only slightly up or down. </a:t>
            </a:r>
          </a:p>
          <a:p>
            <a:pPr>
              <a:spcBef>
                <a:spcPts val="300"/>
              </a:spcBef>
            </a:pPr>
            <a:r>
              <a:rPr lang="en-US" sz="1050" noProof="0" dirty="0"/>
              <a:t>In addition to dividend income, the fund also distributes capital generated from writing call options. The goal of the fund is to benefit from market volatility and collect call  premiums, creating an above-average income stream, even though this can also cap the upside potential.</a:t>
            </a:r>
          </a:p>
          <a:p>
            <a:pPr>
              <a:spcBef>
                <a:spcPts val="300"/>
              </a:spcBef>
            </a:pPr>
            <a:r>
              <a:rPr lang="en-US" sz="1050" noProof="0" dirty="0"/>
              <a:t>The fund is particularly attractive for Swiss tax residents, as income from capital gains is tax-free; the dividends, however, are subject to withholding tax.</a:t>
            </a:r>
          </a:p>
          <a:p>
            <a:pPr>
              <a:spcBef>
                <a:spcPts val="300"/>
              </a:spcBef>
            </a:pPr>
            <a:r>
              <a:rPr lang="en-US" sz="1050" noProof="0" dirty="0"/>
              <a:t>As of end-July, the indicative equity yield stood at 8.42%, with expected distributions of 3.37% from dividends and 5.05% from the call overlay (both as % of NAV).</a:t>
            </a:r>
          </a:p>
          <a:p>
            <a:pPr>
              <a:spcBef>
                <a:spcPts val="300"/>
              </a:spcBef>
            </a:pPr>
            <a:r>
              <a:rPr lang="en-US" sz="1050" noProof="0" dirty="0"/>
              <a:t>For information, the fund handles option writing and stock selection, a difficult task for individual investors to execute efficiently. </a:t>
            </a:r>
          </a:p>
        </p:txBody>
      </p:sp>
      <p:sp>
        <p:nvSpPr>
          <p:cNvPr id="35" name="Espace réservé du contenu 2">
            <a:extLst>
              <a:ext uri="{FF2B5EF4-FFF2-40B4-BE49-F238E27FC236}">
                <a16:creationId xmlns:a16="http://schemas.microsoft.com/office/drawing/2014/main" id="{9E221DD4-A735-67C8-4C51-210C0A406595}"/>
              </a:ext>
            </a:extLst>
          </p:cNvPr>
          <p:cNvSpPr txBox="1">
            <a:spLocks/>
          </p:cNvSpPr>
          <p:nvPr/>
        </p:nvSpPr>
        <p:spPr>
          <a:xfrm>
            <a:off x="2469456" y="610563"/>
            <a:ext cx="1406710" cy="130980"/>
          </a:xfrm>
          <a:prstGeom prst="rect">
            <a:avLst/>
          </a:prstGeom>
          <a:noFill/>
        </p:spPr>
        <p:txBody>
          <a:bodyPr vert="horz" lIns="0" tIns="0" rIns="0" bIns="0" rtlCol="0">
            <a:noAutofit/>
          </a:bodyPr>
          <a:lstStyle>
            <a:lvl1pPr marL="273600" indent="-27360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Char char=""/>
              <a:defRPr sz="1400" b="0" kern="1200" cap="none" baseline="0">
                <a:solidFill>
                  <a:schemeClr val="tx1"/>
                </a:solidFill>
                <a:latin typeface="+mn-lt"/>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0" indent="0">
              <a:spcBef>
                <a:spcPts val="0"/>
              </a:spcBef>
              <a:buNone/>
              <a:tabLst>
                <a:tab pos="542925" algn="l"/>
              </a:tabLst>
            </a:pPr>
            <a:r>
              <a:rPr lang="en-US" sz="1050" noProof="0" dirty="0">
                <a:solidFill>
                  <a:schemeClr val="accent1"/>
                </a:solidFill>
                <a:latin typeface="+mj-lt"/>
              </a:rPr>
              <a:t>ISIN: CH0017043958</a:t>
            </a:r>
          </a:p>
        </p:txBody>
      </p:sp>
      <p:sp>
        <p:nvSpPr>
          <p:cNvPr id="23" name="Espace réservé du texte 22">
            <a:extLst>
              <a:ext uri="{FF2B5EF4-FFF2-40B4-BE49-F238E27FC236}">
                <a16:creationId xmlns:a16="http://schemas.microsoft.com/office/drawing/2014/main" id="{95EC22C4-F8F9-09D8-19CF-B2934FE6EFDD}"/>
              </a:ext>
            </a:extLst>
          </p:cNvPr>
          <p:cNvSpPr>
            <a:spLocks noGrp="1"/>
          </p:cNvSpPr>
          <p:nvPr>
            <p:ph type="body" sz="quarter" idx="10"/>
          </p:nvPr>
        </p:nvSpPr>
        <p:spPr>
          <a:xfrm>
            <a:off x="716458" y="1819432"/>
            <a:ext cx="6210815" cy="294968"/>
          </a:xfrm>
        </p:spPr>
        <p:txBody>
          <a:bodyPr/>
          <a:lstStyle/>
          <a:p>
            <a:r>
              <a:rPr lang="en-US" sz="1400" noProof="0" dirty="0">
                <a:solidFill>
                  <a:schemeClr val="accent4"/>
                </a:solidFill>
              </a:rPr>
              <a:t>CHOOSING THE UBS SWISS INCOME EQUITY FUND, KEY REASONS: </a:t>
            </a:r>
          </a:p>
        </p:txBody>
      </p:sp>
      <p:sp>
        <p:nvSpPr>
          <p:cNvPr id="2" name="Titre 1">
            <a:extLst>
              <a:ext uri="{FF2B5EF4-FFF2-40B4-BE49-F238E27FC236}">
                <a16:creationId xmlns:a16="http://schemas.microsoft.com/office/drawing/2014/main" id="{19C6F4CD-9B88-DE0C-5922-6E596CFCB3A6}"/>
              </a:ext>
            </a:extLst>
          </p:cNvPr>
          <p:cNvSpPr>
            <a:spLocks noGrp="1"/>
          </p:cNvSpPr>
          <p:nvPr>
            <p:ph type="title"/>
          </p:nvPr>
        </p:nvSpPr>
        <p:spPr/>
        <p:txBody>
          <a:bodyPr/>
          <a:lstStyle/>
          <a:p>
            <a:r>
              <a:rPr lang="en-US" noProof="0" dirty="0"/>
              <a:t>Introducing the UBS Swiss Income Equity Fund (CHF)</a:t>
            </a:r>
          </a:p>
        </p:txBody>
      </p:sp>
      <p:sp>
        <p:nvSpPr>
          <p:cNvPr id="24" name="Rectangle 23">
            <a:extLst>
              <a:ext uri="{FF2B5EF4-FFF2-40B4-BE49-F238E27FC236}">
                <a16:creationId xmlns:a16="http://schemas.microsoft.com/office/drawing/2014/main" id="{BCC6B3F2-5EEB-9454-55FE-71CF86879FBE}"/>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25524FE6-2104-240F-1353-208757F977DB}"/>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16C3D599-49D9-8617-14CF-09F576737CC7}"/>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8D2EADE6-F6DB-DCE6-83B9-4125B7A3044F}"/>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68F3C536-AD48-079F-0948-3BE0735677FD}"/>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 Box 6">
            <a:extLst>
              <a:ext uri="{FF2B5EF4-FFF2-40B4-BE49-F238E27FC236}">
                <a16:creationId xmlns:a16="http://schemas.microsoft.com/office/drawing/2014/main" id="{C55C81B9-6058-B38B-4301-B4BDB251BFD6}"/>
              </a:ext>
            </a:extLst>
          </p:cNvPr>
          <p:cNvSpPr txBox="1">
            <a:spLocks noChangeArrowheads="1"/>
          </p:cNvSpPr>
          <p:nvPr/>
        </p:nvSpPr>
        <p:spPr bwMode="auto">
          <a:xfrm>
            <a:off x="5111581" y="7030554"/>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UBS, Bloomberg </a:t>
            </a:r>
            <a:endParaRPr lang="en-US" sz="700" i="1" noProof="0" dirty="0">
              <a:solidFill>
                <a:srgbClr val="4B5F80"/>
              </a:solidFill>
              <a:latin typeface="Nunito Sans" pitchFamily="2" charset="77"/>
            </a:endParaRPr>
          </a:p>
        </p:txBody>
      </p:sp>
      <p:sp>
        <p:nvSpPr>
          <p:cNvPr id="6" name="Text Box 5">
            <a:extLst>
              <a:ext uri="{FF2B5EF4-FFF2-40B4-BE49-F238E27FC236}">
                <a16:creationId xmlns:a16="http://schemas.microsoft.com/office/drawing/2014/main" id="{1C6FF4FC-277C-686C-0CBC-E0D645776642}"/>
              </a:ext>
            </a:extLst>
          </p:cNvPr>
          <p:cNvSpPr txBox="1">
            <a:spLocks noChangeArrowheads="1"/>
          </p:cNvSpPr>
          <p:nvPr/>
        </p:nvSpPr>
        <p:spPr bwMode="auto">
          <a:xfrm>
            <a:off x="6627379" y="5303076"/>
            <a:ext cx="2964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5944" tIns="0" rIns="0" bIns="0">
            <a:spAutoFit/>
          </a:bodyPr>
          <a:lstStyle>
            <a:lvl1pPr defTabSz="858838">
              <a:tabLst>
                <a:tab pos="536575" algn="l"/>
                <a:tab pos="2971800" algn="r"/>
              </a:tabLst>
              <a:defRPr sz="2800">
                <a:solidFill>
                  <a:schemeClr val="tx1"/>
                </a:solidFill>
                <a:latin typeface="Arial" panose="020B0604020202020204" pitchFamily="34" charset="0"/>
              </a:defRPr>
            </a:lvl1pPr>
            <a:lvl2pPr marL="742950" indent="-285750" defTabSz="858838">
              <a:tabLst>
                <a:tab pos="536575" algn="l"/>
                <a:tab pos="2971800" algn="r"/>
              </a:tabLst>
              <a:defRPr sz="2800">
                <a:solidFill>
                  <a:schemeClr val="tx1"/>
                </a:solidFill>
                <a:latin typeface="Arial" panose="020B0604020202020204" pitchFamily="34" charset="0"/>
              </a:defRPr>
            </a:lvl2pPr>
            <a:lvl3pPr marL="1143000" indent="-228600" defTabSz="858838">
              <a:tabLst>
                <a:tab pos="536575" algn="l"/>
                <a:tab pos="2971800" algn="r"/>
              </a:tabLst>
              <a:defRPr sz="2800">
                <a:solidFill>
                  <a:schemeClr val="tx1"/>
                </a:solidFill>
                <a:latin typeface="Arial" panose="020B0604020202020204" pitchFamily="34" charset="0"/>
              </a:defRPr>
            </a:lvl3pPr>
            <a:lvl4pPr marL="1600200" indent="-228600" defTabSz="858838">
              <a:tabLst>
                <a:tab pos="536575" algn="l"/>
                <a:tab pos="2971800" algn="r"/>
              </a:tabLst>
              <a:defRPr sz="2800">
                <a:solidFill>
                  <a:schemeClr val="tx1"/>
                </a:solidFill>
                <a:latin typeface="Arial" panose="020B0604020202020204" pitchFamily="34" charset="0"/>
              </a:defRPr>
            </a:lvl4pPr>
            <a:lvl5pPr marL="2057400" indent="-228600" defTabSz="858838">
              <a:tabLst>
                <a:tab pos="536575" algn="l"/>
                <a:tab pos="2971800" algn="r"/>
              </a:tabLst>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9pPr>
          </a:lstStyle>
          <a:p>
            <a:pPr>
              <a:tabLst>
                <a:tab pos="536575" algn="l"/>
                <a:tab pos="2060575" algn="r"/>
              </a:tabLst>
            </a:pPr>
            <a:r>
              <a:rPr lang="en-US" sz="1000" b="1" noProof="0" dirty="0">
                <a:solidFill>
                  <a:srgbClr val="3AB7C8"/>
                </a:solidFill>
                <a:latin typeface="Nunito Sans" pitchFamily="2" charset="77"/>
              </a:rPr>
              <a:t>SFDR article                           6 </a:t>
            </a:r>
          </a:p>
          <a:p>
            <a:pPr>
              <a:tabLst>
                <a:tab pos="536575" algn="l"/>
                <a:tab pos="2600325" algn="r"/>
              </a:tabLst>
            </a:pPr>
            <a:endParaRPr lang="en-US" sz="900" noProof="0" dirty="0">
              <a:latin typeface="Nunito Sans" pitchFamily="2" charset="77"/>
            </a:endParaRPr>
          </a:p>
        </p:txBody>
      </p:sp>
      <p:sp>
        <p:nvSpPr>
          <p:cNvPr id="7" name="Rectangle 6">
            <a:extLst>
              <a:ext uri="{FF2B5EF4-FFF2-40B4-BE49-F238E27FC236}">
                <a16:creationId xmlns:a16="http://schemas.microsoft.com/office/drawing/2014/main" id="{4A5FBF92-4F99-A4ED-FE44-B72D88D784A9}"/>
              </a:ext>
            </a:extLst>
          </p:cNvPr>
          <p:cNvSpPr/>
          <p:nvPr/>
        </p:nvSpPr>
        <p:spPr>
          <a:xfrm>
            <a:off x="6627379" y="3073104"/>
            <a:ext cx="1217000" cy="246221"/>
          </a:xfrm>
          <a:prstGeom prst="rect">
            <a:avLst/>
          </a:prstGeom>
        </p:spPr>
        <p:txBody>
          <a:bodyPr wrap="none">
            <a:spAutoFit/>
          </a:bodyPr>
          <a:lstStyle/>
          <a:p>
            <a:r>
              <a:rPr lang="en-US" sz="1000" b="1" noProof="0" dirty="0">
                <a:solidFill>
                  <a:srgbClr val="3AB7C8"/>
                </a:solidFill>
                <a:latin typeface="Nunito Sans" pitchFamily="2" charset="77"/>
              </a:rPr>
              <a:t>Certificate details</a:t>
            </a:r>
          </a:p>
        </p:txBody>
      </p:sp>
      <p:sp>
        <p:nvSpPr>
          <p:cNvPr id="8" name="Rectangle 7">
            <a:extLst>
              <a:ext uri="{FF2B5EF4-FFF2-40B4-BE49-F238E27FC236}">
                <a16:creationId xmlns:a16="http://schemas.microsoft.com/office/drawing/2014/main" id="{B4C8D3F7-CAD5-0FAD-D750-CA7A40D090D3}"/>
              </a:ext>
            </a:extLst>
          </p:cNvPr>
          <p:cNvSpPr/>
          <p:nvPr/>
        </p:nvSpPr>
        <p:spPr>
          <a:xfrm>
            <a:off x="6627379" y="3317963"/>
            <a:ext cx="4296304" cy="1785104"/>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ASSET CLASS	</a:t>
            </a:r>
            <a:r>
              <a:rPr lang="en-US" sz="1000" noProof="0" dirty="0">
                <a:solidFill>
                  <a:schemeClr val="tx2"/>
                </a:solidFill>
                <a:latin typeface="Nunito Sans" panose="00000500000000000000" pitchFamily="2" charset="0"/>
              </a:rPr>
              <a:t>Equity</a:t>
            </a:r>
          </a:p>
          <a:p>
            <a:pPr algn="just">
              <a:tabLst>
                <a:tab pos="1641475" algn="l"/>
              </a:tabLst>
            </a:pPr>
            <a:r>
              <a:rPr lang="en-US" sz="1000" b="1" noProof="0" dirty="0">
                <a:solidFill>
                  <a:schemeClr val="tx2"/>
                </a:solidFill>
                <a:latin typeface="Nunito Sans" panose="00000500000000000000" pitchFamily="2" charset="0"/>
              </a:rPr>
              <a:t>CURRENCY	</a:t>
            </a:r>
            <a:r>
              <a:rPr lang="en-US" sz="1000" noProof="0" dirty="0">
                <a:solidFill>
                  <a:schemeClr val="tx2"/>
                </a:solidFill>
                <a:latin typeface="Nunito Sans" panose="00000500000000000000" pitchFamily="2" charset="0"/>
              </a:rPr>
              <a:t>CHF</a:t>
            </a:r>
          </a:p>
          <a:p>
            <a:pPr algn="just">
              <a:tabLst>
                <a:tab pos="1641475" algn="l"/>
              </a:tabLst>
            </a:pPr>
            <a:r>
              <a:rPr lang="en-US" sz="1000" b="1" noProof="0" dirty="0">
                <a:solidFill>
                  <a:schemeClr val="tx2"/>
                </a:solidFill>
                <a:latin typeface="Nunito Sans" panose="00000500000000000000" pitchFamily="2" charset="0"/>
              </a:rPr>
              <a:t>NAV	</a:t>
            </a:r>
            <a:r>
              <a:rPr lang="en-US" sz="1000" noProof="0" dirty="0">
                <a:solidFill>
                  <a:schemeClr val="tx2"/>
                </a:solidFill>
                <a:latin typeface="Nunito Sans" panose="00000500000000000000" pitchFamily="2" charset="0"/>
              </a:rPr>
              <a:t>106,4 as of 05 September 2025</a:t>
            </a:r>
          </a:p>
          <a:p>
            <a:pPr algn="just">
              <a:tabLst>
                <a:tab pos="1641475" algn="l"/>
              </a:tabLst>
            </a:pPr>
            <a:r>
              <a:rPr lang="en-US" sz="1000" b="1" noProof="0" dirty="0">
                <a:solidFill>
                  <a:schemeClr val="tx2"/>
                </a:solidFill>
                <a:latin typeface="Nunito Sans" panose="00000500000000000000" pitchFamily="2" charset="0"/>
              </a:rPr>
              <a:t>SIZE	</a:t>
            </a:r>
            <a:r>
              <a:rPr lang="en-US" sz="1000" noProof="0" dirty="0">
                <a:solidFill>
                  <a:schemeClr val="tx2"/>
                </a:solidFill>
                <a:latin typeface="Nunito Sans" panose="00000500000000000000" pitchFamily="2" charset="0"/>
              </a:rPr>
              <a:t>USD 2.5 bn </a:t>
            </a:r>
            <a:r>
              <a:rPr lang="en-US" sz="1000" b="1" noProof="0" dirty="0">
                <a:solidFill>
                  <a:schemeClr val="tx2"/>
                </a:solidFill>
                <a:latin typeface="Nunito Sans" panose="00000500000000000000" pitchFamily="2" charset="0"/>
              </a:rPr>
              <a:t>	</a:t>
            </a:r>
          </a:p>
          <a:p>
            <a:pPr algn="just">
              <a:tabLst>
                <a:tab pos="1641475" algn="l"/>
              </a:tabLst>
            </a:pPr>
            <a:r>
              <a:rPr lang="en-US" sz="1000" b="1" noProof="0" dirty="0">
                <a:solidFill>
                  <a:schemeClr val="tx2"/>
                </a:solidFill>
                <a:latin typeface="Nunito Sans" panose="00000500000000000000" pitchFamily="2" charset="0"/>
              </a:rPr>
              <a:t>BENCHMARK	</a:t>
            </a:r>
            <a:r>
              <a:rPr lang="en-US" sz="1000" noProof="0" dirty="0">
                <a:solidFill>
                  <a:schemeClr val="tx2"/>
                </a:solidFill>
                <a:latin typeface="Nunito Sans" panose="00000500000000000000" pitchFamily="2" charset="0"/>
              </a:rPr>
              <a:t>SPI TR Index </a:t>
            </a:r>
          </a:p>
          <a:p>
            <a:pPr algn="just">
              <a:tabLst>
                <a:tab pos="1641475" algn="l"/>
              </a:tabLst>
            </a:pPr>
            <a:r>
              <a:rPr lang="en-US" sz="1000" b="1" noProof="0" dirty="0">
                <a:solidFill>
                  <a:schemeClr val="tx2"/>
                </a:solidFill>
                <a:latin typeface="Nunito Sans" panose="00000500000000000000" pitchFamily="2" charset="0"/>
              </a:rPr>
              <a:t>LAUNCH DATE	</a:t>
            </a:r>
            <a:r>
              <a:rPr lang="en-US" sz="1000" noProof="0" dirty="0">
                <a:solidFill>
                  <a:schemeClr val="tx2"/>
                </a:solidFill>
                <a:latin typeface="Nunito Sans" panose="00000500000000000000" pitchFamily="2" charset="0"/>
              </a:rPr>
              <a:t>02 November2015</a:t>
            </a:r>
          </a:p>
          <a:p>
            <a:pPr algn="just">
              <a:tabLst>
                <a:tab pos="1641475" algn="l"/>
              </a:tabLst>
            </a:pPr>
            <a:r>
              <a:rPr lang="en-US" sz="1000" b="1" noProof="0" dirty="0">
                <a:solidFill>
                  <a:schemeClr val="tx2"/>
                </a:solidFill>
                <a:latin typeface="Nunito Sans" panose="00000500000000000000" pitchFamily="2" charset="0"/>
              </a:rPr>
              <a:t>LEAD MANAGER NAME	</a:t>
            </a:r>
            <a:r>
              <a:rPr lang="en-US" sz="1000" noProof="0" dirty="0"/>
              <a:t>Bernhard </a:t>
            </a:r>
            <a:r>
              <a:rPr lang="en-US" sz="1000" noProof="0" dirty="0" err="1"/>
              <a:t>Lüthi</a:t>
            </a:r>
            <a:r>
              <a:rPr lang="en-US" sz="1000" noProof="0" dirty="0"/>
              <a:t> &amp; team</a:t>
            </a:r>
            <a:endParaRPr lang="en-US" sz="1000" noProof="0" dirty="0">
              <a:solidFill>
                <a:schemeClr val="tx2"/>
              </a:solidFill>
              <a:latin typeface="Nunito Sans" panose="00000500000000000000" pitchFamily="2" charset="0"/>
            </a:endParaRPr>
          </a:p>
          <a:p>
            <a:pPr algn="just">
              <a:tabLst>
                <a:tab pos="1641475" algn="l"/>
              </a:tabLst>
            </a:pPr>
            <a:r>
              <a:rPr lang="en-US" sz="1000" b="1" noProof="0" dirty="0">
                <a:solidFill>
                  <a:schemeClr val="tx2"/>
                </a:solidFill>
                <a:latin typeface="Nunito Sans" panose="00000500000000000000" pitchFamily="2" charset="0"/>
              </a:rPr>
              <a:t>LIQUIDITY (SUB./RED.)	</a:t>
            </a:r>
            <a:r>
              <a:rPr lang="en-US" sz="1000" noProof="0" dirty="0">
                <a:solidFill>
                  <a:schemeClr val="tx2"/>
                </a:solidFill>
                <a:latin typeface="Nunito Sans" panose="00000500000000000000" pitchFamily="2" charset="0"/>
              </a:rPr>
              <a:t>Daily</a:t>
            </a:r>
          </a:p>
          <a:p>
            <a:pPr algn="just">
              <a:tabLst>
                <a:tab pos="1641475" algn="l"/>
              </a:tabLst>
            </a:pPr>
            <a:r>
              <a:rPr lang="en-US" sz="1000" b="1" noProof="0" dirty="0">
                <a:solidFill>
                  <a:schemeClr val="tx2"/>
                </a:solidFill>
                <a:latin typeface="Nunito Sans" panose="00000500000000000000" pitchFamily="2" charset="0"/>
              </a:rPr>
              <a:t>ISIN CODE	</a:t>
            </a:r>
            <a:r>
              <a:rPr lang="en-US" sz="1000" noProof="0" dirty="0"/>
              <a:t>CH0017043958</a:t>
            </a:r>
          </a:p>
          <a:p>
            <a:pPr algn="just">
              <a:tabLst>
                <a:tab pos="1641475" algn="l"/>
              </a:tabLst>
            </a:pPr>
            <a:r>
              <a:rPr lang="en-US" sz="1000" b="1" noProof="0" dirty="0">
                <a:solidFill>
                  <a:schemeClr val="tx2"/>
                </a:solidFill>
                <a:latin typeface="Nunito Sans" panose="00000500000000000000" pitchFamily="2" charset="0"/>
              </a:rPr>
              <a:t>UCITS compliant 	</a:t>
            </a:r>
            <a:r>
              <a:rPr lang="en-US" sz="1000" noProof="0" dirty="0">
                <a:solidFill>
                  <a:schemeClr val="tx2"/>
                </a:solidFill>
                <a:latin typeface="Nunito Sans" panose="00000500000000000000" pitchFamily="2" charset="0"/>
              </a:rPr>
              <a:t>yes</a:t>
            </a:r>
          </a:p>
          <a:p>
            <a:pPr algn="just">
              <a:tabLst>
                <a:tab pos="1641475" algn="l"/>
              </a:tabLst>
            </a:pPr>
            <a:r>
              <a:rPr lang="en-US" sz="1000" b="1" noProof="0" dirty="0">
                <a:solidFill>
                  <a:schemeClr val="tx2"/>
                </a:solidFill>
                <a:latin typeface="Nunito Sans" panose="00000500000000000000" pitchFamily="2" charset="0"/>
              </a:rPr>
              <a:t>SRRI risk grade 	</a:t>
            </a:r>
            <a:r>
              <a:rPr lang="en-US" sz="1000" noProof="0" dirty="0">
                <a:solidFill>
                  <a:schemeClr val="tx2"/>
                </a:solidFill>
                <a:latin typeface="Nunito Sans" panose="00000500000000000000" pitchFamily="2" charset="0"/>
              </a:rPr>
              <a:t>5</a:t>
            </a:r>
          </a:p>
        </p:txBody>
      </p:sp>
      <p:cxnSp>
        <p:nvCxnSpPr>
          <p:cNvPr id="9" name="Straight Connector 8">
            <a:extLst>
              <a:ext uri="{FF2B5EF4-FFF2-40B4-BE49-F238E27FC236}">
                <a16:creationId xmlns:a16="http://schemas.microsoft.com/office/drawing/2014/main" id="{56401852-7FE2-EBC5-168E-6BB4783C9584}"/>
              </a:ext>
            </a:extLst>
          </p:cNvPr>
          <p:cNvCxnSpPr>
            <a:cxnSpLocks/>
          </p:cNvCxnSpPr>
          <p:nvPr/>
        </p:nvCxnSpPr>
        <p:spPr>
          <a:xfrm>
            <a:off x="6724449" y="5198478"/>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5EECD1-F9F6-D684-5202-C6CE76E55116}"/>
              </a:ext>
            </a:extLst>
          </p:cNvPr>
          <p:cNvCxnSpPr>
            <a:cxnSpLocks/>
          </p:cNvCxnSpPr>
          <p:nvPr/>
        </p:nvCxnSpPr>
        <p:spPr>
          <a:xfrm>
            <a:off x="6706678" y="333756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0B80D962-BDFB-2F86-51B0-A440266D5B57}"/>
              </a:ext>
            </a:extLst>
          </p:cNvPr>
          <p:cNvSpPr txBox="1"/>
          <p:nvPr/>
        </p:nvSpPr>
        <p:spPr>
          <a:xfrm>
            <a:off x="1666240" y="4709160"/>
            <a:ext cx="914400" cy="914400"/>
          </a:xfrm>
          <a:prstGeom prst="rect">
            <a:avLst/>
          </a:prstGeom>
          <a:noFill/>
        </p:spPr>
        <p:txBody>
          <a:bodyPr vert="horz" wrap="none" lIns="0" tIns="0" rIns="0" bIns="0" rtlCol="0">
            <a:noAutofit/>
          </a:bodyPr>
          <a:lstStyle/>
          <a:p>
            <a:pPr algn="l"/>
            <a:endParaRPr lang="en-US" sz="1400" noProof="0" dirty="0"/>
          </a:p>
        </p:txBody>
      </p:sp>
      <p:sp>
        <p:nvSpPr>
          <p:cNvPr id="13" name="Rectangle 12">
            <a:extLst>
              <a:ext uri="{FF2B5EF4-FFF2-40B4-BE49-F238E27FC236}">
                <a16:creationId xmlns:a16="http://schemas.microsoft.com/office/drawing/2014/main" id="{7635AA6B-D074-90C8-06C6-31DE90B1AC2A}"/>
              </a:ext>
            </a:extLst>
          </p:cNvPr>
          <p:cNvSpPr/>
          <p:nvPr/>
        </p:nvSpPr>
        <p:spPr>
          <a:xfrm>
            <a:off x="1361665" y="4692166"/>
            <a:ext cx="4581935" cy="253916"/>
          </a:xfrm>
          <a:prstGeom prst="rect">
            <a:avLst/>
          </a:prstGeom>
        </p:spPr>
        <p:txBody>
          <a:bodyPr wrap="square">
            <a:spAutoFit/>
          </a:bodyPr>
          <a:lstStyle/>
          <a:p>
            <a:r>
              <a:rPr lang="en-US" sz="1050" b="1" noProof="0" dirty="0">
                <a:solidFill>
                  <a:schemeClr val="accent4"/>
                </a:solidFill>
                <a:latin typeface="Nunito Sans" pitchFamily="2" charset="77"/>
              </a:rPr>
              <a:t>UBS Swiss Income (green) vs. SPI TR (blue) 3-year performance </a:t>
            </a:r>
            <a:endParaRPr lang="en-US" sz="1050" b="1" noProof="0" dirty="0">
              <a:solidFill>
                <a:schemeClr val="tx2"/>
              </a:solidFill>
              <a:latin typeface="Nunito Sans" pitchFamily="2" charset="77"/>
            </a:endParaRPr>
          </a:p>
        </p:txBody>
      </p:sp>
      <p:graphicFrame>
        <p:nvGraphicFramePr>
          <p:cNvPr id="15" name="Chart 14">
            <a:extLst>
              <a:ext uri="{FF2B5EF4-FFF2-40B4-BE49-F238E27FC236}">
                <a16:creationId xmlns:a16="http://schemas.microsoft.com/office/drawing/2014/main" id="{5F3B2288-1123-F0A1-0E6C-78E06FB989DE}"/>
              </a:ext>
            </a:extLst>
          </p:cNvPr>
          <p:cNvGraphicFramePr>
            <a:graphicFrameLocks/>
          </p:cNvGraphicFramePr>
          <p:nvPr/>
        </p:nvGraphicFramePr>
        <p:xfrm>
          <a:off x="943961" y="4929005"/>
          <a:ext cx="5301624" cy="194456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2373176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CC3E0F36-51A4-806B-4C7A-729CEE85C198}"/>
              </a:ext>
            </a:extLst>
          </p:cNvPr>
          <p:cNvSpPr/>
          <p:nvPr/>
        </p:nvSpPr>
        <p:spPr>
          <a:xfrm>
            <a:off x="665163" y="1960293"/>
            <a:ext cx="1319590" cy="382076"/>
          </a:xfrm>
          <a:prstGeom prst="roundRect">
            <a:avLst>
              <a:gd name="adj" fmla="val 2883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highlight>
                <a:srgbClr val="C0C0C0"/>
              </a:highlight>
              <a:uLnTx/>
              <a:uFillTx/>
              <a:latin typeface="Nunito Sans"/>
              <a:ea typeface="+mn-ea"/>
              <a:cs typeface="+mn-cs"/>
            </a:endParaRPr>
          </a:p>
        </p:txBody>
      </p:sp>
      <p:sp>
        <p:nvSpPr>
          <p:cNvPr id="2" name="Title 1">
            <a:extLst>
              <a:ext uri="{FF2B5EF4-FFF2-40B4-BE49-F238E27FC236}">
                <a16:creationId xmlns:a16="http://schemas.microsoft.com/office/drawing/2014/main" id="{9C48BCFF-B159-EB4C-8C8A-F0031E4326A3}"/>
              </a:ext>
            </a:extLst>
          </p:cNvPr>
          <p:cNvSpPr>
            <a:spLocks noGrp="1"/>
          </p:cNvSpPr>
          <p:nvPr>
            <p:ph type="title"/>
          </p:nvPr>
        </p:nvSpPr>
        <p:spPr/>
        <p:txBody>
          <a:bodyPr/>
          <a:lstStyle/>
          <a:p>
            <a:r>
              <a:rPr lang="en-US" noProof="0" dirty="0">
                <a:gradFill flip="none">
                  <a:gsLst>
                    <a:gs pos="0">
                      <a:srgbClr val="FF6C0E"/>
                    </a:gs>
                    <a:gs pos="100000">
                      <a:srgbClr val="FFA400"/>
                    </a:gs>
                  </a:gsLst>
                  <a:lin ang="0" scaled="1"/>
                  <a:tileRect/>
                </a:gradFill>
              </a:rPr>
              <a:t>Fund’s characteristics </a:t>
            </a:r>
            <a:endParaRPr lang="en-US" noProof="0" dirty="0"/>
          </a:p>
        </p:txBody>
      </p:sp>
      <p:sp>
        <p:nvSpPr>
          <p:cNvPr id="7" name="Rectangle 6">
            <a:extLst>
              <a:ext uri="{FF2B5EF4-FFF2-40B4-BE49-F238E27FC236}">
                <a16:creationId xmlns:a16="http://schemas.microsoft.com/office/drawing/2014/main" id="{94E76283-1089-AC46-B4BC-10A907186156}"/>
              </a:ext>
            </a:extLst>
          </p:cNvPr>
          <p:cNvSpPr/>
          <p:nvPr/>
        </p:nvSpPr>
        <p:spPr>
          <a:xfrm>
            <a:off x="748660" y="2471974"/>
            <a:ext cx="1319592" cy="253916"/>
          </a:xfrm>
          <a:prstGeom prst="rect">
            <a:avLst/>
          </a:prstGeom>
        </p:spPr>
        <p:txBody>
          <a:bodyPr wrap="none">
            <a:spAutoFit/>
          </a:bodyPr>
          <a:lstStyle/>
          <a:p>
            <a:r>
              <a:rPr lang="en-US" sz="1050" b="1" noProof="0" dirty="0">
                <a:solidFill>
                  <a:schemeClr val="accent4"/>
                </a:solidFill>
                <a:latin typeface="Nunito Sans" pitchFamily="2" charset="77"/>
              </a:rPr>
              <a:t>Sector weightings</a:t>
            </a:r>
          </a:p>
        </p:txBody>
      </p:sp>
      <p:sp>
        <p:nvSpPr>
          <p:cNvPr id="11" name="Rectangle 10">
            <a:extLst>
              <a:ext uri="{FF2B5EF4-FFF2-40B4-BE49-F238E27FC236}">
                <a16:creationId xmlns:a16="http://schemas.microsoft.com/office/drawing/2014/main" id="{D74FD215-8D89-1C4F-879F-39C1395FAB7F}"/>
              </a:ext>
            </a:extLst>
          </p:cNvPr>
          <p:cNvSpPr/>
          <p:nvPr/>
        </p:nvSpPr>
        <p:spPr>
          <a:xfrm>
            <a:off x="748660" y="4662604"/>
            <a:ext cx="2195431" cy="253916"/>
          </a:xfrm>
          <a:prstGeom prst="rect">
            <a:avLst/>
          </a:prstGeom>
        </p:spPr>
        <p:txBody>
          <a:bodyPr wrap="square">
            <a:spAutoFit/>
          </a:bodyPr>
          <a:lstStyle/>
          <a:p>
            <a:r>
              <a:rPr lang="en-US" sz="1050" b="1" noProof="0" dirty="0">
                <a:solidFill>
                  <a:schemeClr val="accent4"/>
                </a:solidFill>
                <a:latin typeface="Nunito Sans" pitchFamily="2" charset="77"/>
              </a:rPr>
              <a:t>Top 10 benchmark holdings</a:t>
            </a:r>
            <a:r>
              <a:rPr lang="en-US" sz="1050" b="1" noProof="0" dirty="0">
                <a:solidFill>
                  <a:schemeClr val="tx2"/>
                </a:solidFill>
                <a:latin typeface="Nunito Sans" pitchFamily="2" charset="77"/>
              </a:rPr>
              <a:t>	</a:t>
            </a:r>
          </a:p>
        </p:txBody>
      </p:sp>
      <p:sp>
        <p:nvSpPr>
          <p:cNvPr id="9" name="Rounded Rectangle 12">
            <a:extLst>
              <a:ext uri="{FF2B5EF4-FFF2-40B4-BE49-F238E27FC236}">
                <a16:creationId xmlns:a16="http://schemas.microsoft.com/office/drawing/2014/main" id="{42195D4F-1856-6045-60AA-55425B570213}"/>
              </a:ext>
            </a:extLst>
          </p:cNvPr>
          <p:cNvSpPr/>
          <p:nvPr/>
        </p:nvSpPr>
        <p:spPr>
          <a:xfrm>
            <a:off x="2078965" y="1965668"/>
            <a:ext cx="1145131" cy="391510"/>
          </a:xfrm>
          <a:prstGeom prst="roundRect">
            <a:avLst>
              <a:gd name="adj" fmla="val 2883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Nunito Sans"/>
              <a:ea typeface="+mn-ea"/>
              <a:cs typeface="+mn-cs"/>
            </a:endParaRPr>
          </a:p>
        </p:txBody>
      </p:sp>
      <p:sp>
        <p:nvSpPr>
          <p:cNvPr id="15" name="TextBox 14">
            <a:extLst>
              <a:ext uri="{FF2B5EF4-FFF2-40B4-BE49-F238E27FC236}">
                <a16:creationId xmlns:a16="http://schemas.microsoft.com/office/drawing/2014/main" id="{00E35441-1C28-7CAA-24AC-1917864E2609}"/>
              </a:ext>
            </a:extLst>
          </p:cNvPr>
          <p:cNvSpPr txBox="1"/>
          <p:nvPr/>
        </p:nvSpPr>
        <p:spPr>
          <a:xfrm>
            <a:off x="651516" y="1940545"/>
            <a:ext cx="1333236" cy="445507"/>
          </a:xfrm>
          <a:prstGeom prst="rect">
            <a:avLst/>
          </a:prstGeom>
          <a:noFill/>
        </p:spPr>
        <p:txBody>
          <a:bodyPr wrap="square" rtlCol="0">
            <a:spAutoFit/>
          </a:bodyPr>
          <a:lstStyle/>
          <a:p>
            <a:pPr marL="0" marR="0" lvl="0" indent="0" algn="ctr"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200" b="1" kern="600" spc="-30" noProof="0" dirty="0">
                <a:solidFill>
                  <a:schemeClr val="bg1"/>
                </a:solidFill>
                <a:latin typeface="Nunito Sans" pitchFamily="2" charset="77"/>
              </a:rPr>
              <a:t>Swiss quality     equities</a:t>
            </a:r>
            <a:endPar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6" name="TextBox 14">
            <a:extLst>
              <a:ext uri="{FF2B5EF4-FFF2-40B4-BE49-F238E27FC236}">
                <a16:creationId xmlns:a16="http://schemas.microsoft.com/office/drawing/2014/main" id="{98FF1733-FBAC-A02B-7334-022555750468}"/>
              </a:ext>
            </a:extLst>
          </p:cNvPr>
          <p:cNvSpPr txBox="1"/>
          <p:nvPr/>
        </p:nvSpPr>
        <p:spPr>
          <a:xfrm>
            <a:off x="2050890" y="2035836"/>
            <a:ext cx="1319591" cy="270074"/>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200" b="1" kern="600" spc="-30" noProof="0" dirty="0">
                <a:solidFill>
                  <a:schemeClr val="bg1"/>
                </a:solidFill>
                <a:latin typeface="Nunito Sans" pitchFamily="2" charset="77"/>
              </a:rPr>
              <a:t>high</a:t>
            </a: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dividend</a:t>
            </a:r>
          </a:p>
        </p:txBody>
      </p:sp>
      <p:sp>
        <p:nvSpPr>
          <p:cNvPr id="17" name="Text Placeholder 6">
            <a:extLst>
              <a:ext uri="{FF2B5EF4-FFF2-40B4-BE49-F238E27FC236}">
                <a16:creationId xmlns:a16="http://schemas.microsoft.com/office/drawing/2014/main" id="{12473863-6BBF-D4C9-9755-03078093CDF8}"/>
              </a:ext>
            </a:extLst>
          </p:cNvPr>
          <p:cNvSpPr txBox="1">
            <a:spLocks/>
          </p:cNvSpPr>
          <p:nvPr/>
        </p:nvSpPr>
        <p:spPr>
          <a:xfrm>
            <a:off x="2960366" y="4668278"/>
            <a:ext cx="1408749"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Weights</a:t>
            </a:r>
          </a:p>
        </p:txBody>
      </p:sp>
      <p:graphicFrame>
        <p:nvGraphicFramePr>
          <p:cNvPr id="19" name="Table 18">
            <a:extLst>
              <a:ext uri="{FF2B5EF4-FFF2-40B4-BE49-F238E27FC236}">
                <a16:creationId xmlns:a16="http://schemas.microsoft.com/office/drawing/2014/main" id="{52F086A8-1173-6572-A565-431D8EEB5172}"/>
              </a:ext>
            </a:extLst>
          </p:cNvPr>
          <p:cNvGraphicFramePr>
            <a:graphicFrameLocks noGrp="1"/>
          </p:cNvGraphicFramePr>
          <p:nvPr>
            <p:custDataLst>
              <p:tags r:id="rId1"/>
            </p:custDataLst>
            <p:extLst>
              <p:ext uri="{D42A27DB-BD31-4B8C-83A1-F6EECF244321}">
                <p14:modId xmlns:p14="http://schemas.microsoft.com/office/powerpoint/2010/main" val="3718208227"/>
              </p:ext>
            </p:extLst>
          </p:nvPr>
        </p:nvGraphicFramePr>
        <p:xfrm>
          <a:off x="853473" y="4990733"/>
          <a:ext cx="3518111" cy="1834386"/>
        </p:xfrm>
        <a:graphic>
          <a:graphicData uri="http://schemas.openxmlformats.org/drawingml/2006/table">
            <a:tbl>
              <a:tblPr/>
              <a:tblGrid>
                <a:gridCol w="2476467">
                  <a:extLst>
                    <a:ext uri="{9D8B030D-6E8A-4147-A177-3AD203B41FA5}">
                      <a16:colId xmlns:a16="http://schemas.microsoft.com/office/drawing/2014/main" val="4038750185"/>
                    </a:ext>
                  </a:extLst>
                </a:gridCol>
                <a:gridCol w="480060">
                  <a:extLst>
                    <a:ext uri="{9D8B030D-6E8A-4147-A177-3AD203B41FA5}">
                      <a16:colId xmlns:a16="http://schemas.microsoft.com/office/drawing/2014/main" val="1210533160"/>
                    </a:ext>
                  </a:extLst>
                </a:gridCol>
                <a:gridCol w="561584">
                  <a:extLst>
                    <a:ext uri="{9D8B030D-6E8A-4147-A177-3AD203B41FA5}">
                      <a16:colId xmlns:a16="http://schemas.microsoft.com/office/drawing/2014/main" val="1926744572"/>
                    </a:ext>
                  </a:extLst>
                </a:gridCol>
              </a:tblGrid>
              <a:tr h="118323">
                <a:tc>
                  <a:txBody>
                    <a:bodyPr/>
                    <a:lstStyle/>
                    <a:p>
                      <a:pPr algn="l" fontAlgn="b"/>
                      <a:r>
                        <a:rPr lang="en-US" sz="1050" b="1" i="0" u="none" strike="noStrike" noProof="0" dirty="0">
                          <a:solidFill>
                            <a:schemeClr val="accent1"/>
                          </a:solidFill>
                          <a:effectLst/>
                          <a:latin typeface="Lucida"/>
                        </a:rPr>
                        <a:t>Novartis AG</a:t>
                      </a:r>
                    </a:p>
                  </a:txBody>
                  <a:tcPr marL="0" marR="0" marT="0" marB="0" anchor="b">
                    <a:lnL>
                      <a:noFill/>
                    </a:lnL>
                    <a:lnR>
                      <a:noFill/>
                    </a:lnR>
                    <a:lnT>
                      <a:noFill/>
                    </a:lnT>
                    <a:lnB>
                      <a:noFill/>
                    </a:lnB>
                    <a:noFill/>
                  </a:tcPr>
                </a:tc>
                <a:tc>
                  <a:txBody>
                    <a:bodyPr/>
                    <a:lstStyle/>
                    <a:p>
                      <a:pPr algn="l" fontAlgn="b"/>
                      <a:endParaRPr lang="en-US" sz="1050" b="1" i="0" u="none" strike="noStrike" noProof="0" dirty="0">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9.46%</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0">
                <a:tc>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Roche Holding AG</a:t>
                      </a: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kern="1200" noProof="0" dirty="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9.43%</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0">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UBS group AG</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9.30%</a:t>
                      </a: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0">
                <a:tc>
                  <a:txBody>
                    <a:bodyPr/>
                    <a:lstStyle/>
                    <a:p>
                      <a:pPr algn="l" fontAlgn="b"/>
                      <a:r>
                        <a:rPr lang="en-US" sz="1050" b="1" kern="1200" noProof="0" dirty="0">
                          <a:solidFill>
                            <a:schemeClr val="accent2"/>
                          </a:solidFill>
                          <a:latin typeface="Lucida"/>
                          <a:ea typeface="+mn-ea"/>
                          <a:cs typeface="+mn-cs"/>
                        </a:rPr>
                        <a:t>Nestle SA</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9.01%</a:t>
                      </a:r>
                    </a:p>
                  </a:txBody>
                  <a:tcPr marL="0" marR="0" marT="0" marB="0" anchor="b">
                    <a:lnL>
                      <a:noFill/>
                    </a:lnL>
                    <a:lnR>
                      <a:noFill/>
                    </a:lnR>
                    <a:lnT>
                      <a:noFill/>
                    </a:lnT>
                    <a:lnB>
                      <a:noFill/>
                    </a:lnB>
                    <a:noFill/>
                  </a:tcPr>
                </a:tc>
                <a:extLst>
                  <a:ext uri="{0D108BD9-81ED-4DB2-BD59-A6C34878D82A}">
                    <a16:rowId xmlns:a16="http://schemas.microsoft.com/office/drawing/2014/main" val="982958273"/>
                  </a:ext>
                </a:extLst>
              </a:tr>
              <a:tr h="200025">
                <a:tc>
                  <a:txBody>
                    <a:bodyPr/>
                    <a:lstStyle/>
                    <a:p>
                      <a:pPr algn="l" fontAlgn="b"/>
                      <a:r>
                        <a:rPr lang="en-US" sz="1050" b="1" i="0" u="none" strike="noStrike" kern="1200" noProof="0" dirty="0">
                          <a:solidFill>
                            <a:srgbClr val="EB3F8E"/>
                          </a:solidFill>
                          <a:effectLst/>
                          <a:latin typeface="Lucida"/>
                          <a:ea typeface="+mn-ea"/>
                          <a:cs typeface="+mn-cs"/>
                        </a:rPr>
                        <a:t>Zurich Insurance Group AG</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rgbClr val="EB3F8E"/>
                          </a:solidFill>
                          <a:effectLst/>
                          <a:latin typeface="Lucida"/>
                          <a:ea typeface="+mn-ea"/>
                          <a:cs typeface="+mn-cs"/>
                        </a:rPr>
                        <a:t>8.78%</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670788518"/>
                  </a:ext>
                </a:extLst>
              </a:tr>
              <a:tr h="194181">
                <a:tc>
                  <a:txBody>
                    <a:bodyPr/>
                    <a:lstStyle/>
                    <a:p>
                      <a:pPr algn="l" fontAlgn="b"/>
                      <a:r>
                        <a:rPr lang="en-US" sz="1050" b="1" i="0" u="none" strike="noStrike" noProof="0" dirty="0">
                          <a:solidFill>
                            <a:schemeClr val="accent1"/>
                          </a:solidFill>
                          <a:effectLst/>
                          <a:latin typeface="Lucida"/>
                        </a:rPr>
                        <a:t>ABB Ltd</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1"/>
                          </a:solidFill>
                          <a:effectLst/>
                          <a:latin typeface="Lucida"/>
                        </a:rPr>
                        <a:t>7.44%</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053358887"/>
                  </a:ext>
                </a:extLst>
              </a:tr>
              <a:tr h="200025">
                <a:tc>
                  <a:txBody>
                    <a:bodyPr/>
                    <a:lstStyle/>
                    <a:p>
                      <a:pPr algn="l" fontAlgn="b"/>
                      <a:r>
                        <a:rPr lang="en-US" sz="1050" b="1" i="0" u="none" strike="noStrike" kern="1200" noProof="0" dirty="0">
                          <a:solidFill>
                            <a:schemeClr val="accent5"/>
                          </a:solidFill>
                          <a:effectLst/>
                          <a:latin typeface="Lucida"/>
                          <a:ea typeface="+mn-ea"/>
                          <a:cs typeface="+mn-cs"/>
                        </a:rPr>
                        <a:t>Swiss Re AG</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5"/>
                          </a:solidFill>
                          <a:effectLst/>
                          <a:latin typeface="Lucida"/>
                          <a:ea typeface="+mn-ea"/>
                          <a:cs typeface="+mn-cs"/>
                        </a:rPr>
                        <a:t>6.27%</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228805539"/>
                  </a:ext>
                </a:extLst>
              </a:tr>
              <a:tr h="200025">
                <a:tc>
                  <a:txBody>
                    <a:bodyPr/>
                    <a:lstStyle/>
                    <a:p>
                      <a:pPr algn="l" fontAlgn="b"/>
                      <a:r>
                        <a:rPr lang="en-US" sz="1050" b="1" i="0" u="none" strike="noStrike" kern="1200" noProof="0" dirty="0">
                          <a:solidFill>
                            <a:schemeClr val="accent4"/>
                          </a:solidFill>
                          <a:effectLst/>
                          <a:latin typeface="Lucida"/>
                          <a:ea typeface="+mn-ea"/>
                          <a:cs typeface="+mn-cs"/>
                        </a:rPr>
                        <a:t>Givaudan SA</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4"/>
                          </a:solidFill>
                          <a:effectLst/>
                          <a:latin typeface="Lucida"/>
                          <a:ea typeface="+mn-ea"/>
                          <a:cs typeface="+mn-cs"/>
                        </a:rPr>
                        <a:t>4.19%</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741001515"/>
                  </a:ext>
                </a:extLst>
              </a:tr>
              <a:tr h="200025">
                <a:tc>
                  <a:txBody>
                    <a:bodyPr/>
                    <a:lstStyle/>
                    <a:p>
                      <a:pPr algn="l" fontAlgn="b"/>
                      <a:r>
                        <a:rPr lang="en-US" sz="1050" b="1" kern="1200" noProof="0" dirty="0">
                          <a:solidFill>
                            <a:schemeClr val="accent2"/>
                          </a:solidFill>
                          <a:latin typeface="Lucida"/>
                          <a:ea typeface="+mn-ea"/>
                          <a:cs typeface="+mn-cs"/>
                        </a:rPr>
                        <a:t>Swiss Life Holding</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3.99%</a:t>
                      </a: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200025">
                <a:tc>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Holcim AG</a:t>
                      </a:r>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3.76%</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bl>
          </a:graphicData>
        </a:graphic>
      </p:graphicFrame>
      <p:cxnSp>
        <p:nvCxnSpPr>
          <p:cNvPr id="25" name="Straight Connector 24">
            <a:extLst>
              <a:ext uri="{FF2B5EF4-FFF2-40B4-BE49-F238E27FC236}">
                <a16:creationId xmlns:a16="http://schemas.microsoft.com/office/drawing/2014/main" id="{C2BDF49E-83E1-24D7-1CD2-94EB01782F7C}"/>
              </a:ext>
            </a:extLst>
          </p:cNvPr>
          <p:cNvCxnSpPr>
            <a:cxnSpLocks/>
          </p:cNvCxnSpPr>
          <p:nvPr/>
        </p:nvCxnSpPr>
        <p:spPr>
          <a:xfrm>
            <a:off x="815605" y="4889863"/>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aphicFrame>
        <p:nvGraphicFramePr>
          <p:cNvPr id="3" name="Graphique 8">
            <a:extLst>
              <a:ext uri="{FF2B5EF4-FFF2-40B4-BE49-F238E27FC236}">
                <a16:creationId xmlns:a16="http://schemas.microsoft.com/office/drawing/2014/main" id="{3BB54F31-4551-8992-B840-0B6E7DB23188}"/>
              </a:ext>
            </a:extLst>
          </p:cNvPr>
          <p:cNvGraphicFramePr>
            <a:graphicFrameLocks/>
          </p:cNvGraphicFramePr>
          <p:nvPr/>
        </p:nvGraphicFramePr>
        <p:xfrm>
          <a:off x="1468268" y="2570309"/>
          <a:ext cx="7791790" cy="1922913"/>
        </p:xfrm>
        <a:graphic>
          <a:graphicData uri="http://schemas.openxmlformats.org/drawingml/2006/chart">
            <c:chart xmlns:c="http://schemas.openxmlformats.org/drawingml/2006/chart" xmlns:r="http://schemas.openxmlformats.org/officeDocument/2006/relationships" r:id="rId3"/>
          </a:graphicData>
        </a:graphic>
      </p:graphicFrame>
      <p:sp>
        <p:nvSpPr>
          <p:cNvPr id="4" name="Rectangle 3">
            <a:extLst>
              <a:ext uri="{FF2B5EF4-FFF2-40B4-BE49-F238E27FC236}">
                <a16:creationId xmlns:a16="http://schemas.microsoft.com/office/drawing/2014/main" id="{339D7A0C-BD24-5B30-3185-644EF764CA33}"/>
              </a:ext>
            </a:extLst>
          </p:cNvPr>
          <p:cNvSpPr/>
          <p:nvPr/>
        </p:nvSpPr>
        <p:spPr>
          <a:xfrm>
            <a:off x="5941063" y="4662604"/>
            <a:ext cx="2195431" cy="253916"/>
          </a:xfrm>
          <a:prstGeom prst="rect">
            <a:avLst/>
          </a:prstGeom>
        </p:spPr>
        <p:txBody>
          <a:bodyPr wrap="square">
            <a:spAutoFit/>
          </a:bodyPr>
          <a:lstStyle/>
          <a:p>
            <a:r>
              <a:rPr lang="en-US" sz="1050" b="1" noProof="0" dirty="0">
                <a:solidFill>
                  <a:schemeClr val="tx2"/>
                </a:solidFill>
                <a:latin typeface="Nunito Sans" pitchFamily="2" charset="77"/>
              </a:rPr>
              <a:t>	</a:t>
            </a:r>
          </a:p>
        </p:txBody>
      </p:sp>
      <p:sp>
        <p:nvSpPr>
          <p:cNvPr id="6" name="Text Placeholder 6">
            <a:extLst>
              <a:ext uri="{FF2B5EF4-FFF2-40B4-BE49-F238E27FC236}">
                <a16:creationId xmlns:a16="http://schemas.microsoft.com/office/drawing/2014/main" id="{4C96ED97-0EA4-7D66-07AB-3C7BFEA685DA}"/>
              </a:ext>
            </a:extLst>
          </p:cNvPr>
          <p:cNvSpPr txBox="1">
            <a:spLocks/>
          </p:cNvSpPr>
          <p:nvPr/>
        </p:nvSpPr>
        <p:spPr>
          <a:xfrm>
            <a:off x="9468204" y="4560396"/>
            <a:ext cx="707272"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endParaRPr lang="en-US" sz="1000" b="1" noProof="0" dirty="0"/>
          </a:p>
        </p:txBody>
      </p:sp>
      <p:sp>
        <p:nvSpPr>
          <p:cNvPr id="18" name="Rounded Rectangle 17">
            <a:extLst>
              <a:ext uri="{FF2B5EF4-FFF2-40B4-BE49-F238E27FC236}">
                <a16:creationId xmlns:a16="http://schemas.microsoft.com/office/drawing/2014/main" id="{8109FB9D-9D77-B834-09DC-65D0DB68AD9B}"/>
              </a:ext>
            </a:extLst>
          </p:cNvPr>
          <p:cNvSpPr/>
          <p:nvPr/>
        </p:nvSpPr>
        <p:spPr>
          <a:xfrm>
            <a:off x="3318310" y="1964145"/>
            <a:ext cx="1620835" cy="382076"/>
          </a:xfrm>
          <a:prstGeom prst="roundRect">
            <a:avLst>
              <a:gd name="adj" fmla="val 28832"/>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1" noProof="0" dirty="0">
                <a:solidFill>
                  <a:srgbClr val="FFFFFF"/>
                </a:solidFill>
                <a:latin typeface="Nunito Sans"/>
              </a:rPr>
              <a:t># income through call overwriting </a:t>
            </a:r>
            <a:endParaRPr kumimoji="0" lang="en-US" sz="1200" b="1" i="0" u="none" strike="noStrike" kern="1200" cap="none" spc="0" normalizeH="0" baseline="0" noProof="0" dirty="0">
              <a:ln>
                <a:noFill/>
              </a:ln>
              <a:solidFill>
                <a:srgbClr val="FFFFFF"/>
              </a:solidFill>
              <a:effectLst/>
              <a:uLnTx/>
              <a:uFillTx/>
              <a:latin typeface="Nunito Sans"/>
              <a:ea typeface="+mn-ea"/>
              <a:cs typeface="+mn-cs"/>
            </a:endParaRPr>
          </a:p>
        </p:txBody>
      </p:sp>
      <p:sp>
        <p:nvSpPr>
          <p:cNvPr id="12" name="Text Box 6">
            <a:extLst>
              <a:ext uri="{FF2B5EF4-FFF2-40B4-BE49-F238E27FC236}">
                <a16:creationId xmlns:a16="http://schemas.microsoft.com/office/drawing/2014/main" id="{E62A4B3E-EC8F-BCAF-2FAC-F2F5B84B186D}"/>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UBS</a:t>
            </a:r>
            <a:endParaRPr lang="en-US" sz="700" i="1" noProof="0" dirty="0">
              <a:solidFill>
                <a:srgbClr val="4B5F80"/>
              </a:solidFill>
              <a:latin typeface="Nunito Sans" pitchFamily="2" charset="77"/>
            </a:endParaRPr>
          </a:p>
        </p:txBody>
      </p:sp>
      <p:graphicFrame>
        <p:nvGraphicFramePr>
          <p:cNvPr id="8" name="Chart 7">
            <a:extLst>
              <a:ext uri="{FF2B5EF4-FFF2-40B4-BE49-F238E27FC236}">
                <a16:creationId xmlns:a16="http://schemas.microsoft.com/office/drawing/2014/main" id="{9D09A266-7BC0-9A42-320A-A1E1DDCC0DC1}"/>
              </a:ext>
            </a:extLst>
          </p:cNvPr>
          <p:cNvGraphicFramePr>
            <a:graphicFrameLocks/>
          </p:cNvGraphicFramePr>
          <p:nvPr/>
        </p:nvGraphicFramePr>
        <p:xfrm>
          <a:off x="5706548" y="5123843"/>
          <a:ext cx="3553510" cy="1931827"/>
        </p:xfrm>
        <a:graphic>
          <a:graphicData uri="http://schemas.openxmlformats.org/drawingml/2006/chart">
            <c:chart xmlns:c="http://schemas.openxmlformats.org/drawingml/2006/chart" xmlns:r="http://schemas.openxmlformats.org/officeDocument/2006/relationships" r:id="rId4"/>
          </a:graphicData>
        </a:graphic>
      </p:graphicFrame>
      <p:sp>
        <p:nvSpPr>
          <p:cNvPr id="20" name="TextBox 19">
            <a:extLst>
              <a:ext uri="{FF2B5EF4-FFF2-40B4-BE49-F238E27FC236}">
                <a16:creationId xmlns:a16="http://schemas.microsoft.com/office/drawing/2014/main" id="{65DC12E0-2B4C-39AB-7AE2-82CD633B1FD2}"/>
              </a:ext>
            </a:extLst>
          </p:cNvPr>
          <p:cNvSpPr txBox="1"/>
          <p:nvPr/>
        </p:nvSpPr>
        <p:spPr>
          <a:xfrm>
            <a:off x="5706548" y="4982857"/>
            <a:ext cx="3663950" cy="356938"/>
          </a:xfrm>
          <a:prstGeom prst="rect">
            <a:avLst/>
          </a:prstGeom>
          <a:noFill/>
        </p:spPr>
        <p:txBody>
          <a:bodyPr vert="horz" wrap="square" lIns="0" tIns="0" rIns="0" bIns="0" rtlCol="0">
            <a:noAutofit/>
          </a:bodyPr>
          <a:lstStyle/>
          <a:p>
            <a:pPr algn="l"/>
            <a:r>
              <a:rPr lang="en-US" sz="800" noProof="0" dirty="0">
                <a:solidFill>
                  <a:srgbClr val="7C7C7C"/>
                </a:solidFill>
              </a:rPr>
              <a:t>Indicative current yield = dividend yield + call overwriting yield</a:t>
            </a:r>
          </a:p>
        </p:txBody>
      </p:sp>
      <p:sp>
        <p:nvSpPr>
          <p:cNvPr id="21" name="TextBox 20">
            <a:extLst>
              <a:ext uri="{FF2B5EF4-FFF2-40B4-BE49-F238E27FC236}">
                <a16:creationId xmlns:a16="http://schemas.microsoft.com/office/drawing/2014/main" id="{BACBBB35-3834-3ECE-7D30-13743B7BE348}"/>
              </a:ext>
            </a:extLst>
          </p:cNvPr>
          <p:cNvSpPr txBox="1"/>
          <p:nvPr/>
        </p:nvSpPr>
        <p:spPr>
          <a:xfrm>
            <a:off x="6567867" y="5302386"/>
            <a:ext cx="736009" cy="207538"/>
          </a:xfrm>
          <a:prstGeom prst="rect">
            <a:avLst/>
          </a:prstGeom>
          <a:noFill/>
        </p:spPr>
        <p:txBody>
          <a:bodyPr vert="horz" wrap="square" lIns="0" tIns="0" rIns="0" bIns="0" rtlCol="0">
            <a:noAutofit/>
          </a:bodyPr>
          <a:lstStyle/>
          <a:p>
            <a:pPr algn="l"/>
            <a:r>
              <a:rPr lang="en-US" sz="900" b="1" noProof="0" dirty="0">
                <a:solidFill>
                  <a:srgbClr val="7C7C7C"/>
                </a:solidFill>
              </a:rPr>
              <a:t>Total: 8.42%</a:t>
            </a:r>
          </a:p>
        </p:txBody>
      </p:sp>
      <p:cxnSp>
        <p:nvCxnSpPr>
          <p:cNvPr id="23" name="Straight Connector 22">
            <a:extLst>
              <a:ext uri="{FF2B5EF4-FFF2-40B4-BE49-F238E27FC236}">
                <a16:creationId xmlns:a16="http://schemas.microsoft.com/office/drawing/2014/main" id="{816FC70A-D924-73C7-AAF8-6E2442416660}"/>
              </a:ext>
            </a:extLst>
          </p:cNvPr>
          <p:cNvCxnSpPr>
            <a:cxnSpLocks/>
          </p:cNvCxnSpPr>
          <p:nvPr/>
        </p:nvCxnSpPr>
        <p:spPr>
          <a:xfrm>
            <a:off x="5706548" y="4889863"/>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0A04E51-12F9-8E78-3E16-BD86CAD1F963}"/>
              </a:ext>
            </a:extLst>
          </p:cNvPr>
          <p:cNvSpPr txBox="1"/>
          <p:nvPr/>
        </p:nvSpPr>
        <p:spPr>
          <a:xfrm>
            <a:off x="5626591" y="4686383"/>
            <a:ext cx="3354571" cy="253916"/>
          </a:xfrm>
          <a:prstGeom prst="rect">
            <a:avLst/>
          </a:prstGeom>
          <a:noFill/>
        </p:spPr>
        <p:txBody>
          <a:bodyPr wrap="square">
            <a:spAutoFit/>
          </a:bodyPr>
          <a:lstStyle/>
          <a:p>
            <a:r>
              <a:rPr lang="en-US" sz="1050" b="1" noProof="0" dirty="0">
                <a:solidFill>
                  <a:schemeClr val="accent4"/>
                </a:solidFill>
                <a:latin typeface="Nunito Sans" pitchFamily="2" charset="77"/>
              </a:rPr>
              <a:t>Attractive income from dividends and call options</a:t>
            </a:r>
            <a:endParaRPr lang="en-US" sz="1050" noProof="0" dirty="0"/>
          </a:p>
        </p:txBody>
      </p:sp>
    </p:spTree>
    <p:extLst>
      <p:ext uri="{BB962C8B-B14F-4D97-AF65-F5344CB8AC3E}">
        <p14:creationId xmlns:p14="http://schemas.microsoft.com/office/powerpoint/2010/main" val="39324726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43A29-1E3C-4F06-1415-CE248C3926E7}"/>
            </a:ext>
          </a:extLst>
        </p:cNvPr>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3399AD98-B8A0-64F8-4B8A-A9C482EC5917}"/>
              </a:ext>
            </a:extLst>
          </p:cNvPr>
          <p:cNvSpPr>
            <a:spLocks noGrp="1"/>
          </p:cNvSpPr>
          <p:nvPr>
            <p:ph idx="1"/>
          </p:nvPr>
        </p:nvSpPr>
        <p:spPr>
          <a:xfrm>
            <a:off x="665163" y="2052410"/>
            <a:ext cx="5580422" cy="2904010"/>
          </a:xfrm>
        </p:spPr>
        <p:txBody>
          <a:bodyPr/>
          <a:lstStyle/>
          <a:p>
            <a:pPr marL="0" indent="0">
              <a:spcBef>
                <a:spcPts val="300"/>
              </a:spcBef>
              <a:buNone/>
            </a:pPr>
            <a:endParaRPr lang="en-US" sz="1050" b="1" noProof="0" dirty="0"/>
          </a:p>
          <a:p>
            <a:pPr>
              <a:spcBef>
                <a:spcPts val="300"/>
              </a:spcBef>
            </a:pPr>
            <a:r>
              <a:rPr lang="en-US" sz="1050" noProof="0" dirty="0"/>
              <a:t>Given that beating the S&amp;P 500 is notoriously difficult, the Schroder US large Cap Fund’s </a:t>
            </a:r>
            <a:r>
              <a:rPr lang="en-US" sz="1050" b="1" noProof="0" dirty="0"/>
              <a:t>5-year outperformance is a notable achievement</a:t>
            </a:r>
            <a:r>
              <a:rPr lang="en-US" sz="1050" noProof="0" dirty="0"/>
              <a:t>. The fund follows </a:t>
            </a:r>
            <a:r>
              <a:rPr lang="en-US" sz="1050" b="1" noProof="0" dirty="0"/>
              <a:t>a blended US strategy, </a:t>
            </a:r>
            <a:r>
              <a:rPr lang="en-US" sz="1050" noProof="0" dirty="0"/>
              <a:t>combining the Schroder team’s best value and growth ideas.</a:t>
            </a:r>
          </a:p>
          <a:p>
            <a:pPr>
              <a:spcBef>
                <a:spcPts val="300"/>
              </a:spcBef>
            </a:pPr>
            <a:r>
              <a:rPr lang="en-US" sz="1050" noProof="0" dirty="0"/>
              <a:t>The management team applies a proven </a:t>
            </a:r>
            <a:r>
              <a:rPr lang="en-US" sz="1050" b="1" noProof="0" dirty="0"/>
              <a:t>proprietary screening process, the “growth gap approach”,</a:t>
            </a:r>
            <a:r>
              <a:rPr lang="en-US" sz="1050" noProof="0" dirty="0"/>
              <a:t> which exploits the </a:t>
            </a:r>
            <a:r>
              <a:rPr lang="en-US" sz="1050" b="1" noProof="0" dirty="0"/>
              <a:t>market’s tendency to underprice positive fundamental changes (such as earnings upgrades) </a:t>
            </a:r>
            <a:r>
              <a:rPr lang="en-US" sz="1050" noProof="0" dirty="0"/>
              <a:t>and to delay cutting forecasts when companies weaken; often </a:t>
            </a:r>
            <a:r>
              <a:rPr lang="en-US" sz="1050" b="1" noProof="0" dirty="0"/>
              <a:t>leading to sharp earnings revisions. </a:t>
            </a:r>
          </a:p>
          <a:p>
            <a:pPr>
              <a:spcBef>
                <a:spcPts val="300"/>
              </a:spcBef>
            </a:pPr>
            <a:r>
              <a:rPr lang="en-US" sz="1050" noProof="0" dirty="0"/>
              <a:t>With this approach, two-third of the portfolio is invested in companies with </a:t>
            </a:r>
            <a:r>
              <a:rPr lang="en-US" sz="1050" b="1" noProof="0" dirty="0"/>
              <a:t>underappreciated growth prospects, forming the Core of the fund</a:t>
            </a:r>
            <a:r>
              <a:rPr lang="en-US" sz="1050" noProof="0" dirty="0"/>
              <a:t>. The remaining third is allocated in shorter-term, </a:t>
            </a:r>
            <a:r>
              <a:rPr lang="en-US" sz="1050" b="1" noProof="0" dirty="0"/>
              <a:t>more Opportunistic positions </a:t>
            </a:r>
            <a:r>
              <a:rPr lang="en-US" sz="1050" noProof="0" dirty="0"/>
              <a:t>(often cyclical companies) allowing the strategy </a:t>
            </a:r>
            <a:r>
              <a:rPr lang="en-US" sz="1050" b="1" noProof="0" dirty="0"/>
              <a:t>to capture additional opportunities across market phases</a:t>
            </a:r>
            <a:r>
              <a:rPr lang="en-US" sz="1050" noProof="0" dirty="0"/>
              <a:t>.</a:t>
            </a:r>
          </a:p>
          <a:p>
            <a:pPr>
              <a:spcBef>
                <a:spcPts val="300"/>
              </a:spcBef>
            </a:pPr>
            <a:r>
              <a:rPr lang="en-US" sz="1050" noProof="0" dirty="0"/>
              <a:t>This approach has </a:t>
            </a:r>
            <a:r>
              <a:rPr lang="en-US" sz="1050" b="1" noProof="0" dirty="0"/>
              <a:t>positioned the fund well to navigate diverse market environments in recent years. </a:t>
            </a:r>
            <a:endParaRPr lang="en-US" sz="1000" noProof="0" dirty="0"/>
          </a:p>
          <a:p>
            <a:pPr>
              <a:spcBef>
                <a:spcPts val="300"/>
              </a:spcBef>
            </a:pPr>
            <a:endParaRPr lang="en-US" sz="1000" noProof="0" dirty="0"/>
          </a:p>
          <a:p>
            <a:pPr>
              <a:spcBef>
                <a:spcPts val="300"/>
              </a:spcBef>
            </a:pPr>
            <a:endParaRPr lang="en-US" sz="900" noProof="0" dirty="0"/>
          </a:p>
        </p:txBody>
      </p:sp>
      <p:sp>
        <p:nvSpPr>
          <p:cNvPr id="35" name="Espace réservé du contenu 2">
            <a:extLst>
              <a:ext uri="{FF2B5EF4-FFF2-40B4-BE49-F238E27FC236}">
                <a16:creationId xmlns:a16="http://schemas.microsoft.com/office/drawing/2014/main" id="{9E221DD4-A735-67C8-4C51-210C0A406595}"/>
              </a:ext>
            </a:extLst>
          </p:cNvPr>
          <p:cNvSpPr txBox="1">
            <a:spLocks/>
          </p:cNvSpPr>
          <p:nvPr/>
        </p:nvSpPr>
        <p:spPr>
          <a:xfrm>
            <a:off x="2469456" y="610563"/>
            <a:ext cx="1406710" cy="130980"/>
          </a:xfrm>
          <a:prstGeom prst="rect">
            <a:avLst/>
          </a:prstGeom>
          <a:noFill/>
        </p:spPr>
        <p:txBody>
          <a:bodyPr vert="horz" lIns="0" tIns="0" rIns="0" bIns="0" rtlCol="0">
            <a:noAutofit/>
          </a:bodyPr>
          <a:lstStyle>
            <a:lvl1pPr marL="273600" indent="-27360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Char char=""/>
              <a:defRPr sz="1400" b="0" kern="1200" cap="none" baseline="0">
                <a:solidFill>
                  <a:schemeClr val="tx1"/>
                </a:solidFill>
                <a:latin typeface="+mn-lt"/>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0" indent="0">
              <a:spcBef>
                <a:spcPts val="0"/>
              </a:spcBef>
              <a:buNone/>
              <a:tabLst>
                <a:tab pos="542925" algn="l"/>
              </a:tabLst>
            </a:pPr>
            <a:r>
              <a:rPr lang="en-US" sz="1050" noProof="0" dirty="0">
                <a:solidFill>
                  <a:schemeClr val="accent1"/>
                </a:solidFill>
                <a:latin typeface="+mj-lt"/>
              </a:rPr>
              <a:t>ISIN: LU0106261372</a:t>
            </a:r>
          </a:p>
          <a:p>
            <a:pPr marL="0" indent="0">
              <a:spcBef>
                <a:spcPts val="0"/>
              </a:spcBef>
              <a:buNone/>
              <a:tabLst>
                <a:tab pos="542925" algn="l"/>
              </a:tabLst>
            </a:pPr>
            <a:endParaRPr lang="en-US" sz="1050" noProof="0" dirty="0">
              <a:solidFill>
                <a:schemeClr val="accent1"/>
              </a:solidFill>
              <a:latin typeface="+mj-lt"/>
            </a:endParaRPr>
          </a:p>
        </p:txBody>
      </p:sp>
      <p:sp>
        <p:nvSpPr>
          <p:cNvPr id="23" name="Espace réservé du texte 22">
            <a:extLst>
              <a:ext uri="{FF2B5EF4-FFF2-40B4-BE49-F238E27FC236}">
                <a16:creationId xmlns:a16="http://schemas.microsoft.com/office/drawing/2014/main" id="{95EC22C4-F8F9-09D8-19CF-B2934FE6EFDD}"/>
              </a:ext>
            </a:extLst>
          </p:cNvPr>
          <p:cNvSpPr>
            <a:spLocks noGrp="1"/>
          </p:cNvSpPr>
          <p:nvPr>
            <p:ph type="body" sz="quarter" idx="10"/>
          </p:nvPr>
        </p:nvSpPr>
        <p:spPr>
          <a:xfrm>
            <a:off x="716458" y="1819432"/>
            <a:ext cx="5741879" cy="294968"/>
          </a:xfrm>
        </p:spPr>
        <p:txBody>
          <a:bodyPr/>
          <a:lstStyle/>
          <a:p>
            <a:r>
              <a:rPr lang="en-US" sz="1400" noProof="0" dirty="0">
                <a:solidFill>
                  <a:schemeClr val="accent4"/>
                </a:solidFill>
              </a:rPr>
              <a:t>CHOOSING THE SCHRODER LARGE CAP FUND, KEY REASONS: </a:t>
            </a:r>
          </a:p>
        </p:txBody>
      </p:sp>
      <p:sp>
        <p:nvSpPr>
          <p:cNvPr id="2" name="Titre 1">
            <a:extLst>
              <a:ext uri="{FF2B5EF4-FFF2-40B4-BE49-F238E27FC236}">
                <a16:creationId xmlns:a16="http://schemas.microsoft.com/office/drawing/2014/main" id="{19C6F4CD-9B88-DE0C-5922-6E596CFCB3A6}"/>
              </a:ext>
            </a:extLst>
          </p:cNvPr>
          <p:cNvSpPr>
            <a:spLocks noGrp="1"/>
          </p:cNvSpPr>
          <p:nvPr>
            <p:ph type="title"/>
          </p:nvPr>
        </p:nvSpPr>
        <p:spPr/>
        <p:txBody>
          <a:bodyPr/>
          <a:lstStyle/>
          <a:p>
            <a:r>
              <a:rPr lang="en-US" noProof="0" dirty="0"/>
              <a:t>Introducing the Schroder US Large Cap Fund (USD)</a:t>
            </a:r>
          </a:p>
        </p:txBody>
      </p:sp>
      <p:sp>
        <p:nvSpPr>
          <p:cNvPr id="24" name="Rectangle 23">
            <a:extLst>
              <a:ext uri="{FF2B5EF4-FFF2-40B4-BE49-F238E27FC236}">
                <a16:creationId xmlns:a16="http://schemas.microsoft.com/office/drawing/2014/main" id="{BCC6B3F2-5EEB-9454-55FE-71CF86879FBE}"/>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25524FE6-2104-240F-1353-208757F977DB}"/>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16C3D599-49D9-8617-14CF-09F576737CC7}"/>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8D2EADE6-F6DB-DCE6-83B9-4125B7A3044F}"/>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68F3C536-AD48-079F-0948-3BE0735677FD}"/>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 Box 6">
            <a:extLst>
              <a:ext uri="{FF2B5EF4-FFF2-40B4-BE49-F238E27FC236}">
                <a16:creationId xmlns:a16="http://schemas.microsoft.com/office/drawing/2014/main" id="{C55C81B9-6058-B38B-4301-B4BDB251BFD6}"/>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Schroder, Bloomberg </a:t>
            </a:r>
            <a:endParaRPr lang="en-US" sz="700" i="1" noProof="0" dirty="0">
              <a:solidFill>
                <a:srgbClr val="4B5F80"/>
              </a:solidFill>
              <a:latin typeface="Nunito Sans" pitchFamily="2" charset="77"/>
            </a:endParaRPr>
          </a:p>
        </p:txBody>
      </p:sp>
      <p:sp>
        <p:nvSpPr>
          <p:cNvPr id="6" name="Text Box 5">
            <a:extLst>
              <a:ext uri="{FF2B5EF4-FFF2-40B4-BE49-F238E27FC236}">
                <a16:creationId xmlns:a16="http://schemas.microsoft.com/office/drawing/2014/main" id="{1C6FF4FC-277C-686C-0CBC-E0D645776642}"/>
              </a:ext>
            </a:extLst>
          </p:cNvPr>
          <p:cNvSpPr txBox="1">
            <a:spLocks noChangeArrowheads="1"/>
          </p:cNvSpPr>
          <p:nvPr/>
        </p:nvSpPr>
        <p:spPr bwMode="auto">
          <a:xfrm>
            <a:off x="6627379" y="5303076"/>
            <a:ext cx="2964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5944" tIns="0" rIns="0" bIns="0">
            <a:spAutoFit/>
          </a:bodyPr>
          <a:lstStyle>
            <a:lvl1pPr defTabSz="858838">
              <a:tabLst>
                <a:tab pos="536575" algn="l"/>
                <a:tab pos="2971800" algn="r"/>
              </a:tabLst>
              <a:defRPr sz="2800">
                <a:solidFill>
                  <a:schemeClr val="tx1"/>
                </a:solidFill>
                <a:latin typeface="Arial" panose="020B0604020202020204" pitchFamily="34" charset="0"/>
              </a:defRPr>
            </a:lvl1pPr>
            <a:lvl2pPr marL="742950" indent="-285750" defTabSz="858838">
              <a:tabLst>
                <a:tab pos="536575" algn="l"/>
                <a:tab pos="2971800" algn="r"/>
              </a:tabLst>
              <a:defRPr sz="2800">
                <a:solidFill>
                  <a:schemeClr val="tx1"/>
                </a:solidFill>
                <a:latin typeface="Arial" panose="020B0604020202020204" pitchFamily="34" charset="0"/>
              </a:defRPr>
            </a:lvl2pPr>
            <a:lvl3pPr marL="1143000" indent="-228600" defTabSz="858838">
              <a:tabLst>
                <a:tab pos="536575" algn="l"/>
                <a:tab pos="2971800" algn="r"/>
              </a:tabLst>
              <a:defRPr sz="2800">
                <a:solidFill>
                  <a:schemeClr val="tx1"/>
                </a:solidFill>
                <a:latin typeface="Arial" panose="020B0604020202020204" pitchFamily="34" charset="0"/>
              </a:defRPr>
            </a:lvl3pPr>
            <a:lvl4pPr marL="1600200" indent="-228600" defTabSz="858838">
              <a:tabLst>
                <a:tab pos="536575" algn="l"/>
                <a:tab pos="2971800" algn="r"/>
              </a:tabLst>
              <a:defRPr sz="2800">
                <a:solidFill>
                  <a:schemeClr val="tx1"/>
                </a:solidFill>
                <a:latin typeface="Arial" panose="020B0604020202020204" pitchFamily="34" charset="0"/>
              </a:defRPr>
            </a:lvl4pPr>
            <a:lvl5pPr marL="2057400" indent="-228600" defTabSz="858838">
              <a:tabLst>
                <a:tab pos="536575" algn="l"/>
                <a:tab pos="2971800" algn="r"/>
              </a:tabLst>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9pPr>
          </a:lstStyle>
          <a:p>
            <a:pPr>
              <a:tabLst>
                <a:tab pos="536575" algn="l"/>
                <a:tab pos="2060575" algn="r"/>
              </a:tabLst>
            </a:pPr>
            <a:r>
              <a:rPr lang="en-US" sz="1000" b="1" noProof="0" dirty="0">
                <a:solidFill>
                  <a:srgbClr val="3AB7C8"/>
                </a:solidFill>
                <a:latin typeface="Nunito Sans" pitchFamily="2" charset="77"/>
              </a:rPr>
              <a:t>SFDR article                           8 </a:t>
            </a:r>
          </a:p>
          <a:p>
            <a:pPr>
              <a:tabLst>
                <a:tab pos="536575" algn="l"/>
                <a:tab pos="2600325" algn="r"/>
              </a:tabLst>
            </a:pPr>
            <a:endParaRPr lang="en-US" sz="900" noProof="0" dirty="0">
              <a:latin typeface="Nunito Sans" pitchFamily="2" charset="77"/>
            </a:endParaRPr>
          </a:p>
        </p:txBody>
      </p:sp>
      <p:sp>
        <p:nvSpPr>
          <p:cNvPr id="7" name="Rectangle 6">
            <a:extLst>
              <a:ext uri="{FF2B5EF4-FFF2-40B4-BE49-F238E27FC236}">
                <a16:creationId xmlns:a16="http://schemas.microsoft.com/office/drawing/2014/main" id="{4A5FBF92-4F99-A4ED-FE44-B72D88D784A9}"/>
              </a:ext>
            </a:extLst>
          </p:cNvPr>
          <p:cNvSpPr/>
          <p:nvPr/>
        </p:nvSpPr>
        <p:spPr>
          <a:xfrm>
            <a:off x="6627379" y="3073104"/>
            <a:ext cx="1217000" cy="246221"/>
          </a:xfrm>
          <a:prstGeom prst="rect">
            <a:avLst/>
          </a:prstGeom>
        </p:spPr>
        <p:txBody>
          <a:bodyPr wrap="none">
            <a:spAutoFit/>
          </a:bodyPr>
          <a:lstStyle/>
          <a:p>
            <a:r>
              <a:rPr lang="en-US" sz="1000" b="1" noProof="0" dirty="0">
                <a:solidFill>
                  <a:srgbClr val="3AB7C8"/>
                </a:solidFill>
                <a:latin typeface="Nunito Sans" pitchFamily="2" charset="77"/>
              </a:rPr>
              <a:t>Certificate details</a:t>
            </a:r>
          </a:p>
        </p:txBody>
      </p:sp>
      <p:sp>
        <p:nvSpPr>
          <p:cNvPr id="8" name="Rectangle 7">
            <a:extLst>
              <a:ext uri="{FF2B5EF4-FFF2-40B4-BE49-F238E27FC236}">
                <a16:creationId xmlns:a16="http://schemas.microsoft.com/office/drawing/2014/main" id="{B4C8D3F7-CAD5-0FAD-D750-CA7A40D090D3}"/>
              </a:ext>
            </a:extLst>
          </p:cNvPr>
          <p:cNvSpPr/>
          <p:nvPr/>
        </p:nvSpPr>
        <p:spPr>
          <a:xfrm>
            <a:off x="6627379" y="3317963"/>
            <a:ext cx="4296304" cy="1785104"/>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ASSET CLASS	</a:t>
            </a:r>
            <a:r>
              <a:rPr lang="en-US" sz="1000" noProof="0" dirty="0">
                <a:solidFill>
                  <a:schemeClr val="tx2"/>
                </a:solidFill>
                <a:latin typeface="Nunito Sans" panose="00000500000000000000" pitchFamily="2" charset="0"/>
              </a:rPr>
              <a:t>Equity</a:t>
            </a:r>
          </a:p>
          <a:p>
            <a:pPr algn="just">
              <a:tabLst>
                <a:tab pos="1641475" algn="l"/>
              </a:tabLst>
            </a:pPr>
            <a:r>
              <a:rPr lang="en-US" sz="1000" b="1" noProof="0" dirty="0">
                <a:solidFill>
                  <a:schemeClr val="tx2"/>
                </a:solidFill>
                <a:latin typeface="Nunito Sans" panose="00000500000000000000" pitchFamily="2" charset="0"/>
              </a:rPr>
              <a:t>CURRENCY	</a:t>
            </a:r>
            <a:r>
              <a:rPr lang="en-US" sz="1000" noProof="0" dirty="0">
                <a:solidFill>
                  <a:schemeClr val="tx2"/>
                </a:solidFill>
                <a:latin typeface="Nunito Sans" panose="00000500000000000000" pitchFamily="2" charset="0"/>
              </a:rPr>
              <a:t>USD</a:t>
            </a:r>
          </a:p>
          <a:p>
            <a:pPr algn="just">
              <a:tabLst>
                <a:tab pos="1641475" algn="l"/>
              </a:tabLst>
            </a:pPr>
            <a:r>
              <a:rPr lang="en-US" sz="1000" b="1" noProof="0" dirty="0">
                <a:solidFill>
                  <a:schemeClr val="tx2"/>
                </a:solidFill>
                <a:latin typeface="Nunito Sans" panose="00000500000000000000" pitchFamily="2" charset="0"/>
              </a:rPr>
              <a:t>NAV	</a:t>
            </a:r>
            <a:r>
              <a:rPr lang="en-US" sz="1000" noProof="0" dirty="0">
                <a:solidFill>
                  <a:schemeClr val="tx2"/>
                </a:solidFill>
                <a:latin typeface="Nunito Sans" panose="00000500000000000000" pitchFamily="2" charset="0"/>
              </a:rPr>
              <a:t>390.5</a:t>
            </a:r>
            <a:r>
              <a:rPr lang="en-US" sz="1000" b="1" noProof="0" dirty="0">
                <a:solidFill>
                  <a:schemeClr val="tx2"/>
                </a:solidFill>
                <a:latin typeface="Nunito Sans" panose="00000500000000000000" pitchFamily="2" charset="0"/>
              </a:rPr>
              <a:t> </a:t>
            </a:r>
            <a:r>
              <a:rPr lang="en-US" sz="1000" noProof="0" dirty="0">
                <a:solidFill>
                  <a:schemeClr val="tx2"/>
                </a:solidFill>
                <a:latin typeface="Nunito Sans" panose="00000500000000000000" pitchFamily="2" charset="0"/>
              </a:rPr>
              <a:t>as of 19 August 2025</a:t>
            </a:r>
          </a:p>
          <a:p>
            <a:pPr algn="just">
              <a:tabLst>
                <a:tab pos="1641475" algn="l"/>
              </a:tabLst>
            </a:pPr>
            <a:r>
              <a:rPr lang="en-US" sz="1000" b="1" noProof="0" dirty="0">
                <a:solidFill>
                  <a:schemeClr val="tx2"/>
                </a:solidFill>
                <a:latin typeface="Nunito Sans" panose="00000500000000000000" pitchFamily="2" charset="0"/>
              </a:rPr>
              <a:t>SIZE	</a:t>
            </a:r>
            <a:r>
              <a:rPr lang="en-US" sz="1000" noProof="0" dirty="0">
                <a:solidFill>
                  <a:schemeClr val="tx2"/>
                </a:solidFill>
                <a:latin typeface="Nunito Sans" panose="00000500000000000000" pitchFamily="2" charset="0"/>
              </a:rPr>
              <a:t>USD 8.2 bn </a:t>
            </a:r>
            <a:r>
              <a:rPr lang="en-US" sz="1000" b="1" noProof="0" dirty="0">
                <a:solidFill>
                  <a:schemeClr val="tx2"/>
                </a:solidFill>
                <a:latin typeface="Nunito Sans" panose="00000500000000000000" pitchFamily="2" charset="0"/>
              </a:rPr>
              <a:t>	</a:t>
            </a:r>
          </a:p>
          <a:p>
            <a:pPr algn="just">
              <a:tabLst>
                <a:tab pos="1641475" algn="l"/>
              </a:tabLst>
            </a:pPr>
            <a:r>
              <a:rPr lang="en-US" sz="1000" b="1" noProof="0" dirty="0">
                <a:solidFill>
                  <a:schemeClr val="tx2"/>
                </a:solidFill>
                <a:latin typeface="Nunito Sans" panose="00000500000000000000" pitchFamily="2" charset="0"/>
              </a:rPr>
              <a:t>BENCHMARK	</a:t>
            </a:r>
            <a:r>
              <a:rPr lang="en-US" sz="1000" noProof="0" dirty="0">
                <a:solidFill>
                  <a:schemeClr val="tx2"/>
                </a:solidFill>
                <a:latin typeface="Nunito Sans" panose="00000500000000000000" pitchFamily="2" charset="0"/>
              </a:rPr>
              <a:t>S&amp;P 500 NTR Lagged Index </a:t>
            </a:r>
          </a:p>
          <a:p>
            <a:pPr algn="just">
              <a:tabLst>
                <a:tab pos="1641475" algn="l"/>
              </a:tabLst>
            </a:pPr>
            <a:r>
              <a:rPr lang="en-US" sz="1000" b="1" noProof="0" dirty="0">
                <a:solidFill>
                  <a:schemeClr val="tx2"/>
                </a:solidFill>
                <a:latin typeface="Nunito Sans" panose="00000500000000000000" pitchFamily="2" charset="0"/>
              </a:rPr>
              <a:t>LAUNCH DATE	</a:t>
            </a:r>
            <a:r>
              <a:rPr lang="en-US" sz="1000" noProof="0" dirty="0">
                <a:solidFill>
                  <a:schemeClr val="tx2"/>
                </a:solidFill>
                <a:latin typeface="Nunito Sans" panose="00000500000000000000" pitchFamily="2" charset="0"/>
              </a:rPr>
              <a:t>02 August 2003</a:t>
            </a:r>
          </a:p>
          <a:p>
            <a:pPr algn="just">
              <a:tabLst>
                <a:tab pos="1641475" algn="l"/>
              </a:tabLst>
            </a:pPr>
            <a:r>
              <a:rPr lang="en-US" sz="1000" b="1" noProof="0" dirty="0">
                <a:solidFill>
                  <a:schemeClr val="tx2"/>
                </a:solidFill>
                <a:latin typeface="Nunito Sans" panose="00000500000000000000" pitchFamily="2" charset="0"/>
              </a:rPr>
              <a:t>LEAD MANAGER NAMES	</a:t>
            </a:r>
            <a:r>
              <a:rPr lang="en-US" sz="1000" noProof="0" dirty="0">
                <a:solidFill>
                  <a:schemeClr val="tx2"/>
                </a:solidFill>
                <a:latin typeface="Nunito Sans" panose="00000500000000000000" pitchFamily="2" charset="0"/>
              </a:rPr>
              <a:t>Frank Thormann </a:t>
            </a:r>
          </a:p>
          <a:p>
            <a:pPr algn="just">
              <a:tabLst>
                <a:tab pos="1641475" algn="l"/>
              </a:tabLst>
            </a:pPr>
            <a:r>
              <a:rPr lang="en-US" sz="1000" b="1" noProof="0" dirty="0">
                <a:solidFill>
                  <a:schemeClr val="tx2"/>
                </a:solidFill>
                <a:latin typeface="Nunito Sans" panose="00000500000000000000" pitchFamily="2" charset="0"/>
              </a:rPr>
              <a:t>LIQUIDITY (SUB./RED.)	</a:t>
            </a:r>
            <a:r>
              <a:rPr lang="en-US" sz="1000" noProof="0" dirty="0">
                <a:solidFill>
                  <a:schemeClr val="tx2"/>
                </a:solidFill>
                <a:latin typeface="Nunito Sans" panose="00000500000000000000" pitchFamily="2" charset="0"/>
              </a:rPr>
              <a:t>Daily</a:t>
            </a:r>
          </a:p>
          <a:p>
            <a:pPr algn="just">
              <a:tabLst>
                <a:tab pos="1641475" algn="l"/>
              </a:tabLst>
            </a:pPr>
            <a:r>
              <a:rPr lang="en-US" sz="1000" b="1" noProof="0" dirty="0">
                <a:solidFill>
                  <a:schemeClr val="tx2"/>
                </a:solidFill>
                <a:latin typeface="Nunito Sans" panose="00000500000000000000" pitchFamily="2" charset="0"/>
              </a:rPr>
              <a:t>ISIN CODE	</a:t>
            </a:r>
            <a:r>
              <a:rPr lang="en-US" sz="1000" noProof="0" dirty="0">
                <a:solidFill>
                  <a:schemeClr val="tx2"/>
                </a:solidFill>
                <a:latin typeface="Nunito Sans" panose="00000500000000000000" pitchFamily="2" charset="0"/>
              </a:rPr>
              <a:t>LU0106261372</a:t>
            </a:r>
          </a:p>
          <a:p>
            <a:pPr algn="just">
              <a:tabLst>
                <a:tab pos="1641475" algn="l"/>
              </a:tabLst>
            </a:pPr>
            <a:r>
              <a:rPr lang="en-US" sz="1000" b="1" noProof="0" dirty="0">
                <a:solidFill>
                  <a:schemeClr val="tx2"/>
                </a:solidFill>
                <a:latin typeface="Nunito Sans" panose="00000500000000000000" pitchFamily="2" charset="0"/>
              </a:rPr>
              <a:t>UCITS compliant 	</a:t>
            </a:r>
            <a:r>
              <a:rPr lang="en-US" sz="1000" noProof="0" dirty="0">
                <a:solidFill>
                  <a:schemeClr val="tx2"/>
                </a:solidFill>
                <a:latin typeface="Nunito Sans" panose="00000500000000000000" pitchFamily="2" charset="0"/>
              </a:rPr>
              <a:t>yes</a:t>
            </a:r>
          </a:p>
          <a:p>
            <a:pPr algn="just">
              <a:tabLst>
                <a:tab pos="1641475" algn="l"/>
              </a:tabLst>
            </a:pPr>
            <a:r>
              <a:rPr lang="en-US" sz="1000" b="1" noProof="0" dirty="0">
                <a:solidFill>
                  <a:schemeClr val="tx2"/>
                </a:solidFill>
                <a:latin typeface="Nunito Sans" panose="00000500000000000000" pitchFamily="2" charset="0"/>
              </a:rPr>
              <a:t>SRRI risk grade 	</a:t>
            </a:r>
            <a:r>
              <a:rPr lang="en-US" sz="1000" noProof="0" dirty="0">
                <a:solidFill>
                  <a:schemeClr val="tx2"/>
                </a:solidFill>
                <a:latin typeface="Nunito Sans" panose="00000500000000000000" pitchFamily="2" charset="0"/>
              </a:rPr>
              <a:t>4</a:t>
            </a:r>
          </a:p>
        </p:txBody>
      </p:sp>
      <p:cxnSp>
        <p:nvCxnSpPr>
          <p:cNvPr id="9" name="Straight Connector 8">
            <a:extLst>
              <a:ext uri="{FF2B5EF4-FFF2-40B4-BE49-F238E27FC236}">
                <a16:creationId xmlns:a16="http://schemas.microsoft.com/office/drawing/2014/main" id="{56401852-7FE2-EBC5-168E-6BB4783C9584}"/>
              </a:ext>
            </a:extLst>
          </p:cNvPr>
          <p:cNvCxnSpPr>
            <a:cxnSpLocks/>
          </p:cNvCxnSpPr>
          <p:nvPr/>
        </p:nvCxnSpPr>
        <p:spPr>
          <a:xfrm>
            <a:off x="6724449" y="5198478"/>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5EECD1-F9F6-D684-5202-C6CE76E55116}"/>
              </a:ext>
            </a:extLst>
          </p:cNvPr>
          <p:cNvCxnSpPr>
            <a:cxnSpLocks/>
          </p:cNvCxnSpPr>
          <p:nvPr/>
        </p:nvCxnSpPr>
        <p:spPr>
          <a:xfrm>
            <a:off x="6706678" y="333756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graphicFrame>
        <p:nvGraphicFramePr>
          <p:cNvPr id="4" name="Chart 3">
            <a:extLst>
              <a:ext uri="{FF2B5EF4-FFF2-40B4-BE49-F238E27FC236}">
                <a16:creationId xmlns:a16="http://schemas.microsoft.com/office/drawing/2014/main" id="{260498B1-504B-CADB-B27E-F445F7E30F8B}"/>
              </a:ext>
            </a:extLst>
          </p:cNvPr>
          <p:cNvGraphicFramePr>
            <a:graphicFrameLocks/>
          </p:cNvGraphicFramePr>
          <p:nvPr>
            <p:extLst>
              <p:ext uri="{D42A27DB-BD31-4B8C-83A1-F6EECF244321}">
                <p14:modId xmlns:p14="http://schemas.microsoft.com/office/powerpoint/2010/main" val="2146299028"/>
              </p:ext>
            </p:extLst>
          </p:nvPr>
        </p:nvGraphicFramePr>
        <p:xfrm>
          <a:off x="944494" y="4353378"/>
          <a:ext cx="5301091" cy="270626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8716608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CC3E0F36-51A4-806B-4C7A-729CEE85C198}"/>
              </a:ext>
            </a:extLst>
          </p:cNvPr>
          <p:cNvSpPr/>
          <p:nvPr/>
        </p:nvSpPr>
        <p:spPr>
          <a:xfrm>
            <a:off x="748660" y="1969588"/>
            <a:ext cx="1289520" cy="348368"/>
          </a:xfrm>
          <a:prstGeom prst="roundRect">
            <a:avLst>
              <a:gd name="adj" fmla="val 2883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highlight>
                <a:srgbClr val="C0C0C0"/>
              </a:highlight>
              <a:uLnTx/>
              <a:uFillTx/>
              <a:latin typeface="Nunito Sans"/>
              <a:ea typeface="+mn-ea"/>
              <a:cs typeface="+mn-cs"/>
            </a:endParaRPr>
          </a:p>
        </p:txBody>
      </p:sp>
      <p:sp>
        <p:nvSpPr>
          <p:cNvPr id="2" name="Title 1">
            <a:extLst>
              <a:ext uri="{FF2B5EF4-FFF2-40B4-BE49-F238E27FC236}">
                <a16:creationId xmlns:a16="http://schemas.microsoft.com/office/drawing/2014/main" id="{9C48BCFF-B159-EB4C-8C8A-F0031E4326A3}"/>
              </a:ext>
            </a:extLst>
          </p:cNvPr>
          <p:cNvSpPr>
            <a:spLocks noGrp="1"/>
          </p:cNvSpPr>
          <p:nvPr>
            <p:ph type="title"/>
          </p:nvPr>
        </p:nvSpPr>
        <p:spPr/>
        <p:txBody>
          <a:bodyPr/>
          <a:lstStyle/>
          <a:p>
            <a:r>
              <a:rPr lang="en-US" noProof="0" dirty="0">
                <a:gradFill flip="none">
                  <a:gsLst>
                    <a:gs pos="0">
                      <a:srgbClr val="FF6C0E"/>
                    </a:gs>
                    <a:gs pos="100000">
                      <a:srgbClr val="FFA400"/>
                    </a:gs>
                  </a:gsLst>
                  <a:lin ang="0" scaled="1"/>
                  <a:tileRect/>
                </a:gradFill>
              </a:rPr>
              <a:t>Fund’s characteristics </a:t>
            </a:r>
            <a:endParaRPr lang="en-US" noProof="0" dirty="0"/>
          </a:p>
        </p:txBody>
      </p:sp>
      <p:sp>
        <p:nvSpPr>
          <p:cNvPr id="7" name="Rectangle 6">
            <a:extLst>
              <a:ext uri="{FF2B5EF4-FFF2-40B4-BE49-F238E27FC236}">
                <a16:creationId xmlns:a16="http://schemas.microsoft.com/office/drawing/2014/main" id="{94E76283-1089-AC46-B4BC-10A907186156}"/>
              </a:ext>
            </a:extLst>
          </p:cNvPr>
          <p:cNvSpPr/>
          <p:nvPr/>
        </p:nvSpPr>
        <p:spPr>
          <a:xfrm>
            <a:off x="748660" y="2471974"/>
            <a:ext cx="1319592" cy="253916"/>
          </a:xfrm>
          <a:prstGeom prst="rect">
            <a:avLst/>
          </a:prstGeom>
        </p:spPr>
        <p:txBody>
          <a:bodyPr wrap="none">
            <a:spAutoFit/>
          </a:bodyPr>
          <a:lstStyle/>
          <a:p>
            <a:r>
              <a:rPr lang="en-US" sz="1050" b="1" noProof="0" dirty="0">
                <a:solidFill>
                  <a:schemeClr val="accent4"/>
                </a:solidFill>
                <a:latin typeface="Nunito Sans" pitchFamily="2" charset="77"/>
              </a:rPr>
              <a:t>Sector weightings</a:t>
            </a:r>
          </a:p>
        </p:txBody>
      </p:sp>
      <p:sp>
        <p:nvSpPr>
          <p:cNvPr id="11" name="Rectangle 10">
            <a:extLst>
              <a:ext uri="{FF2B5EF4-FFF2-40B4-BE49-F238E27FC236}">
                <a16:creationId xmlns:a16="http://schemas.microsoft.com/office/drawing/2014/main" id="{D74FD215-8D89-1C4F-879F-39C1395FAB7F}"/>
              </a:ext>
            </a:extLst>
          </p:cNvPr>
          <p:cNvSpPr/>
          <p:nvPr/>
        </p:nvSpPr>
        <p:spPr>
          <a:xfrm>
            <a:off x="748660" y="4662604"/>
            <a:ext cx="2195431" cy="253916"/>
          </a:xfrm>
          <a:prstGeom prst="rect">
            <a:avLst/>
          </a:prstGeom>
        </p:spPr>
        <p:txBody>
          <a:bodyPr wrap="square">
            <a:spAutoFit/>
          </a:bodyPr>
          <a:lstStyle/>
          <a:p>
            <a:r>
              <a:rPr lang="en-US" sz="1050" b="1" noProof="0" dirty="0">
                <a:solidFill>
                  <a:schemeClr val="accent4"/>
                </a:solidFill>
                <a:latin typeface="Nunito Sans" pitchFamily="2" charset="77"/>
              </a:rPr>
              <a:t>Top 10 benchmark holdings</a:t>
            </a:r>
            <a:r>
              <a:rPr lang="en-US" sz="1050" b="1" noProof="0" dirty="0">
                <a:solidFill>
                  <a:schemeClr val="tx2"/>
                </a:solidFill>
                <a:latin typeface="Nunito Sans" pitchFamily="2" charset="77"/>
              </a:rPr>
              <a:t>	</a:t>
            </a:r>
          </a:p>
        </p:txBody>
      </p:sp>
      <p:sp>
        <p:nvSpPr>
          <p:cNvPr id="9" name="Rounded Rectangle 12">
            <a:extLst>
              <a:ext uri="{FF2B5EF4-FFF2-40B4-BE49-F238E27FC236}">
                <a16:creationId xmlns:a16="http://schemas.microsoft.com/office/drawing/2014/main" id="{42195D4F-1856-6045-60AA-55425B570213}"/>
              </a:ext>
            </a:extLst>
          </p:cNvPr>
          <p:cNvSpPr/>
          <p:nvPr/>
        </p:nvSpPr>
        <p:spPr>
          <a:xfrm>
            <a:off x="2094725" y="1979034"/>
            <a:ext cx="1167040" cy="348369"/>
          </a:xfrm>
          <a:prstGeom prst="roundRect">
            <a:avLst>
              <a:gd name="adj" fmla="val 2883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Nunito Sans"/>
              <a:ea typeface="+mn-ea"/>
              <a:cs typeface="+mn-cs"/>
            </a:endParaRPr>
          </a:p>
        </p:txBody>
      </p:sp>
      <p:sp>
        <p:nvSpPr>
          <p:cNvPr id="15" name="TextBox 14">
            <a:extLst>
              <a:ext uri="{FF2B5EF4-FFF2-40B4-BE49-F238E27FC236}">
                <a16:creationId xmlns:a16="http://schemas.microsoft.com/office/drawing/2014/main" id="{00E35441-1C28-7CAA-24AC-1917864E2609}"/>
              </a:ext>
            </a:extLst>
          </p:cNvPr>
          <p:cNvSpPr txBox="1"/>
          <p:nvPr/>
        </p:nvSpPr>
        <p:spPr>
          <a:xfrm>
            <a:off x="741838" y="2033574"/>
            <a:ext cx="1333236" cy="284886"/>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300" b="1" kern="600" spc="-30" noProof="0" dirty="0">
                <a:solidFill>
                  <a:schemeClr val="bg1"/>
                </a:solidFill>
                <a:latin typeface="Nunito Sans" pitchFamily="2" charset="77"/>
              </a:rPr>
              <a:t>Buy America</a:t>
            </a:r>
            <a:endPar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6" name="TextBox 14">
            <a:extLst>
              <a:ext uri="{FF2B5EF4-FFF2-40B4-BE49-F238E27FC236}">
                <a16:creationId xmlns:a16="http://schemas.microsoft.com/office/drawing/2014/main" id="{98FF1733-FBAC-A02B-7334-022555750468}"/>
              </a:ext>
            </a:extLst>
          </p:cNvPr>
          <p:cNvSpPr txBox="1"/>
          <p:nvPr/>
        </p:nvSpPr>
        <p:spPr>
          <a:xfrm>
            <a:off x="2096811" y="2027264"/>
            <a:ext cx="1319591" cy="284886"/>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300" b="1" kern="600" spc="-30" noProof="0" dirty="0">
                <a:solidFill>
                  <a:schemeClr val="bg1"/>
                </a:solidFill>
                <a:latin typeface="Nunito Sans" pitchFamily="2" charset="77"/>
              </a:rPr>
              <a:t>growth gap</a:t>
            </a:r>
            <a:endPar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7" name="Text Placeholder 6">
            <a:extLst>
              <a:ext uri="{FF2B5EF4-FFF2-40B4-BE49-F238E27FC236}">
                <a16:creationId xmlns:a16="http://schemas.microsoft.com/office/drawing/2014/main" id="{12473863-6BBF-D4C9-9755-03078093CDF8}"/>
              </a:ext>
            </a:extLst>
          </p:cNvPr>
          <p:cNvSpPr txBox="1">
            <a:spLocks/>
          </p:cNvSpPr>
          <p:nvPr/>
        </p:nvSpPr>
        <p:spPr>
          <a:xfrm>
            <a:off x="2960366" y="4668278"/>
            <a:ext cx="1408749"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Weights</a:t>
            </a:r>
          </a:p>
        </p:txBody>
      </p:sp>
      <p:graphicFrame>
        <p:nvGraphicFramePr>
          <p:cNvPr id="19" name="Table 18">
            <a:extLst>
              <a:ext uri="{FF2B5EF4-FFF2-40B4-BE49-F238E27FC236}">
                <a16:creationId xmlns:a16="http://schemas.microsoft.com/office/drawing/2014/main" id="{52F086A8-1173-6572-A565-431D8EEB5172}"/>
              </a:ext>
            </a:extLst>
          </p:cNvPr>
          <p:cNvGraphicFramePr>
            <a:graphicFrameLocks noGrp="1"/>
          </p:cNvGraphicFramePr>
          <p:nvPr>
            <p:custDataLst>
              <p:tags r:id="rId1"/>
            </p:custDataLst>
            <p:extLst>
              <p:ext uri="{D42A27DB-BD31-4B8C-83A1-F6EECF244321}">
                <p14:modId xmlns:p14="http://schemas.microsoft.com/office/powerpoint/2010/main" val="3563373473"/>
              </p:ext>
            </p:extLst>
          </p:nvPr>
        </p:nvGraphicFramePr>
        <p:xfrm>
          <a:off x="853473" y="4990733"/>
          <a:ext cx="3515643" cy="1880235"/>
        </p:xfrm>
        <a:graphic>
          <a:graphicData uri="http://schemas.openxmlformats.org/drawingml/2006/table">
            <a:tbl>
              <a:tblPr/>
              <a:tblGrid>
                <a:gridCol w="2476467">
                  <a:extLst>
                    <a:ext uri="{9D8B030D-6E8A-4147-A177-3AD203B41FA5}">
                      <a16:colId xmlns:a16="http://schemas.microsoft.com/office/drawing/2014/main" val="4038750185"/>
                    </a:ext>
                  </a:extLst>
                </a:gridCol>
                <a:gridCol w="480060">
                  <a:extLst>
                    <a:ext uri="{9D8B030D-6E8A-4147-A177-3AD203B41FA5}">
                      <a16:colId xmlns:a16="http://schemas.microsoft.com/office/drawing/2014/main" val="1210533160"/>
                    </a:ext>
                  </a:extLst>
                </a:gridCol>
                <a:gridCol w="559116">
                  <a:extLst>
                    <a:ext uri="{9D8B030D-6E8A-4147-A177-3AD203B41FA5}">
                      <a16:colId xmlns:a16="http://schemas.microsoft.com/office/drawing/2014/main" val="1926744572"/>
                    </a:ext>
                  </a:extLst>
                </a:gridCol>
              </a:tblGrid>
              <a:tr h="118323">
                <a:tc>
                  <a:txBody>
                    <a:bodyPr/>
                    <a:lstStyle/>
                    <a:p>
                      <a:pPr algn="l" fontAlgn="b"/>
                      <a:r>
                        <a:rPr lang="en-US" sz="1050" b="1" i="0" u="none" strike="noStrike" noProof="0" dirty="0">
                          <a:solidFill>
                            <a:schemeClr val="accent1"/>
                          </a:solidFill>
                          <a:effectLst/>
                          <a:latin typeface="Lucida"/>
                        </a:rPr>
                        <a:t>Microsoft Corp</a:t>
                      </a:r>
                    </a:p>
                  </a:txBody>
                  <a:tcPr marL="0" marR="0" marT="0" marB="0" anchor="b">
                    <a:lnL>
                      <a:noFill/>
                    </a:lnL>
                    <a:lnR>
                      <a:noFill/>
                    </a:lnR>
                    <a:lnT>
                      <a:noFill/>
                    </a:lnT>
                    <a:lnB>
                      <a:noFill/>
                    </a:lnB>
                    <a:noFill/>
                  </a:tcPr>
                </a:tc>
                <a:tc>
                  <a:txBody>
                    <a:bodyPr/>
                    <a:lstStyle/>
                    <a:p>
                      <a:pPr algn="l" fontAlgn="b"/>
                      <a:endParaRPr lang="en-US" sz="1050" b="1" i="0" u="none" strike="noStrike" noProof="0" dirty="0">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9.4%</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0">
                <a:tc>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Meta Platforms Inc</a:t>
                      </a: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kern="1200" noProof="0" dirty="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        5.5%</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0">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Alphabet Inc</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5.4%</a:t>
                      </a: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200025">
                <a:tc>
                  <a:txBody>
                    <a:bodyPr/>
                    <a:lstStyle/>
                    <a:p>
                      <a:pPr algn="l" fontAlgn="b"/>
                      <a:r>
                        <a:rPr lang="en-US" sz="1050" b="1" kern="1200" noProof="0" dirty="0">
                          <a:solidFill>
                            <a:schemeClr val="accent2"/>
                          </a:solidFill>
                          <a:latin typeface="Lucida"/>
                          <a:ea typeface="+mn-ea"/>
                          <a:cs typeface="+mn-cs"/>
                        </a:rPr>
                        <a:t>NVIDIA Corp</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4.4%</a:t>
                      </a:r>
                    </a:p>
                  </a:txBody>
                  <a:tcPr marL="0" marR="0" marT="0" marB="0" anchor="b">
                    <a:lnL>
                      <a:noFill/>
                    </a:lnL>
                    <a:lnR>
                      <a:noFill/>
                    </a:lnR>
                    <a:lnT>
                      <a:noFill/>
                    </a:lnT>
                    <a:lnB>
                      <a:noFill/>
                    </a:lnB>
                    <a:noFill/>
                  </a:tcPr>
                </a:tc>
                <a:extLst>
                  <a:ext uri="{0D108BD9-81ED-4DB2-BD59-A6C34878D82A}">
                    <a16:rowId xmlns:a16="http://schemas.microsoft.com/office/drawing/2014/main" val="982958273"/>
                  </a:ext>
                </a:extLst>
              </a:tr>
              <a:tr h="200025">
                <a:tc>
                  <a:txBody>
                    <a:bodyPr/>
                    <a:lstStyle/>
                    <a:p>
                      <a:pPr algn="l" fontAlgn="b"/>
                      <a:r>
                        <a:rPr lang="en-US" sz="1050" b="1" i="0" u="none" strike="noStrike" kern="1200" noProof="0" dirty="0">
                          <a:solidFill>
                            <a:srgbClr val="EB3F8E"/>
                          </a:solidFill>
                          <a:effectLst/>
                          <a:latin typeface="Lucida"/>
                          <a:ea typeface="+mn-ea"/>
                          <a:cs typeface="+mn-cs"/>
                        </a:rPr>
                        <a:t>Broadcom Inc</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rgbClr val="EB3F8E"/>
                          </a:solidFill>
                          <a:effectLst/>
                          <a:latin typeface="Lucida"/>
                          <a:ea typeface="+mn-ea"/>
                          <a:cs typeface="+mn-cs"/>
                        </a:rPr>
                        <a:t>4.0%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670788518"/>
                  </a:ext>
                </a:extLst>
              </a:tr>
              <a:tr h="200025">
                <a:tc>
                  <a:txBody>
                    <a:bodyPr/>
                    <a:lstStyle/>
                    <a:p>
                      <a:pPr algn="l" fontAlgn="b"/>
                      <a:r>
                        <a:rPr lang="en-US" sz="1050" b="1" i="0" u="none" strike="noStrike" noProof="0" dirty="0">
                          <a:solidFill>
                            <a:schemeClr val="accent1"/>
                          </a:solidFill>
                          <a:effectLst/>
                          <a:latin typeface="Lucida"/>
                        </a:rPr>
                        <a:t>Netflix Inc</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1"/>
                          </a:solidFill>
                          <a:effectLst/>
                          <a:latin typeface="Lucida"/>
                        </a:rPr>
                        <a:t>3.9%</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053358887"/>
                  </a:ext>
                </a:extLst>
              </a:tr>
              <a:tr h="200025">
                <a:tc>
                  <a:txBody>
                    <a:bodyPr/>
                    <a:lstStyle/>
                    <a:p>
                      <a:pPr algn="l" fontAlgn="b"/>
                      <a:r>
                        <a:rPr lang="en-US" sz="1050" b="1" i="0" u="none" strike="noStrike" kern="1200" noProof="0" dirty="0">
                          <a:solidFill>
                            <a:schemeClr val="accent5"/>
                          </a:solidFill>
                          <a:effectLst/>
                          <a:latin typeface="Lucida"/>
                          <a:ea typeface="+mn-ea"/>
                          <a:cs typeface="+mn-cs"/>
                        </a:rPr>
                        <a:t>Eli Lilly &amp; Co</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5"/>
                          </a:solidFill>
                          <a:effectLst/>
                          <a:latin typeface="Lucida"/>
                          <a:ea typeface="+mn-ea"/>
                          <a:cs typeface="+mn-cs"/>
                        </a:rPr>
                        <a:t>3.0%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228805539"/>
                  </a:ext>
                </a:extLst>
              </a:tr>
              <a:tr h="200025">
                <a:tc>
                  <a:txBody>
                    <a:bodyPr/>
                    <a:lstStyle/>
                    <a:p>
                      <a:pPr algn="l" fontAlgn="b"/>
                      <a:r>
                        <a:rPr lang="en-US" sz="1050" b="1" i="0" u="none" strike="noStrike" kern="1200" noProof="0" dirty="0">
                          <a:solidFill>
                            <a:schemeClr val="accent4"/>
                          </a:solidFill>
                          <a:effectLst/>
                          <a:latin typeface="Lucida"/>
                          <a:ea typeface="+mn-ea"/>
                          <a:cs typeface="+mn-cs"/>
                        </a:rPr>
                        <a:t>JPMorgan Chase &amp; Co</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4"/>
                          </a:solidFill>
                          <a:effectLst/>
                          <a:latin typeface="Lucida"/>
                          <a:ea typeface="+mn-ea"/>
                          <a:cs typeface="+mn-cs"/>
                        </a:rPr>
                        <a:t>2.7%</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741001515"/>
                  </a:ext>
                </a:extLst>
              </a:tr>
              <a:tr h="200025">
                <a:tc>
                  <a:txBody>
                    <a:bodyPr/>
                    <a:lstStyle/>
                    <a:p>
                      <a:pPr algn="l" fontAlgn="b"/>
                      <a:r>
                        <a:rPr lang="en-US" sz="1050" b="1" kern="1200" noProof="0" dirty="0">
                          <a:solidFill>
                            <a:schemeClr val="accent2"/>
                          </a:solidFill>
                          <a:latin typeface="Lucida"/>
                          <a:ea typeface="+mn-ea"/>
                          <a:cs typeface="+mn-cs"/>
                        </a:rPr>
                        <a:t>Visa Inc</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2.6%</a:t>
                      </a: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200025">
                <a:tc>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Coca-Cola Co</a:t>
                      </a:r>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2.5%</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bl>
          </a:graphicData>
        </a:graphic>
      </p:graphicFrame>
      <p:cxnSp>
        <p:nvCxnSpPr>
          <p:cNvPr id="25" name="Straight Connector 24">
            <a:extLst>
              <a:ext uri="{FF2B5EF4-FFF2-40B4-BE49-F238E27FC236}">
                <a16:creationId xmlns:a16="http://schemas.microsoft.com/office/drawing/2014/main" id="{C2BDF49E-83E1-24D7-1CD2-94EB01782F7C}"/>
              </a:ext>
            </a:extLst>
          </p:cNvPr>
          <p:cNvCxnSpPr>
            <a:cxnSpLocks/>
          </p:cNvCxnSpPr>
          <p:nvPr/>
        </p:nvCxnSpPr>
        <p:spPr>
          <a:xfrm>
            <a:off x="815605" y="4944088"/>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aphicFrame>
        <p:nvGraphicFramePr>
          <p:cNvPr id="3" name="Graphique 8">
            <a:extLst>
              <a:ext uri="{FF2B5EF4-FFF2-40B4-BE49-F238E27FC236}">
                <a16:creationId xmlns:a16="http://schemas.microsoft.com/office/drawing/2014/main" id="{3BB54F31-4551-8992-B840-0B6E7DB23188}"/>
              </a:ext>
            </a:extLst>
          </p:cNvPr>
          <p:cNvGraphicFramePr>
            <a:graphicFrameLocks/>
          </p:cNvGraphicFramePr>
          <p:nvPr/>
        </p:nvGraphicFramePr>
        <p:xfrm>
          <a:off x="1468268" y="2570309"/>
          <a:ext cx="7791790" cy="2228800"/>
        </p:xfrm>
        <a:graphic>
          <a:graphicData uri="http://schemas.openxmlformats.org/drawingml/2006/chart">
            <c:chart xmlns:c="http://schemas.openxmlformats.org/drawingml/2006/chart" xmlns:r="http://schemas.openxmlformats.org/officeDocument/2006/relationships" r:id="rId4"/>
          </a:graphicData>
        </a:graphic>
      </p:graphicFrame>
      <p:sp>
        <p:nvSpPr>
          <p:cNvPr id="4" name="Rectangle 3">
            <a:extLst>
              <a:ext uri="{FF2B5EF4-FFF2-40B4-BE49-F238E27FC236}">
                <a16:creationId xmlns:a16="http://schemas.microsoft.com/office/drawing/2014/main" id="{339D7A0C-BD24-5B30-3185-644EF764CA33}"/>
              </a:ext>
            </a:extLst>
          </p:cNvPr>
          <p:cNvSpPr/>
          <p:nvPr/>
        </p:nvSpPr>
        <p:spPr>
          <a:xfrm>
            <a:off x="5941063" y="4662604"/>
            <a:ext cx="2195431" cy="415498"/>
          </a:xfrm>
          <a:prstGeom prst="rect">
            <a:avLst/>
          </a:prstGeom>
        </p:spPr>
        <p:txBody>
          <a:bodyPr wrap="square">
            <a:spAutoFit/>
          </a:bodyPr>
          <a:lstStyle/>
          <a:p>
            <a:r>
              <a:rPr lang="en-US" sz="1050" b="1" noProof="0" dirty="0">
                <a:solidFill>
                  <a:schemeClr val="accent4"/>
                </a:solidFill>
                <a:latin typeface="Nunito Sans" pitchFamily="2" charset="77"/>
              </a:rPr>
              <a:t>Top 10 overweighted holdings </a:t>
            </a:r>
            <a:r>
              <a:rPr lang="en-US" sz="1050" b="1" noProof="0" dirty="0">
                <a:solidFill>
                  <a:schemeClr val="tx2"/>
                </a:solidFill>
                <a:latin typeface="Nunito Sans" pitchFamily="2" charset="77"/>
              </a:rPr>
              <a:t>	</a:t>
            </a:r>
          </a:p>
        </p:txBody>
      </p:sp>
      <p:graphicFrame>
        <p:nvGraphicFramePr>
          <p:cNvPr id="10" name="Table 9">
            <a:extLst>
              <a:ext uri="{FF2B5EF4-FFF2-40B4-BE49-F238E27FC236}">
                <a16:creationId xmlns:a16="http://schemas.microsoft.com/office/drawing/2014/main" id="{A93EF075-1731-BA67-F2EE-6E5849D3E58D}"/>
              </a:ext>
            </a:extLst>
          </p:cNvPr>
          <p:cNvGraphicFramePr>
            <a:graphicFrameLocks noGrp="1"/>
          </p:cNvGraphicFramePr>
          <p:nvPr>
            <p:custDataLst>
              <p:tags r:id="rId2"/>
            </p:custDataLst>
            <p:extLst>
              <p:ext uri="{D42A27DB-BD31-4B8C-83A1-F6EECF244321}">
                <p14:modId xmlns:p14="http://schemas.microsoft.com/office/powerpoint/2010/main" val="1212408525"/>
              </p:ext>
            </p:extLst>
          </p:nvPr>
        </p:nvGraphicFramePr>
        <p:xfrm>
          <a:off x="6045878" y="4990733"/>
          <a:ext cx="3564763" cy="1912132"/>
        </p:xfrm>
        <a:graphic>
          <a:graphicData uri="http://schemas.openxmlformats.org/drawingml/2006/table">
            <a:tbl>
              <a:tblPr/>
              <a:tblGrid>
                <a:gridCol w="1220270">
                  <a:extLst>
                    <a:ext uri="{9D8B030D-6E8A-4147-A177-3AD203B41FA5}">
                      <a16:colId xmlns:a16="http://schemas.microsoft.com/office/drawing/2014/main" val="4038750185"/>
                    </a:ext>
                  </a:extLst>
                </a:gridCol>
                <a:gridCol w="525132">
                  <a:extLst>
                    <a:ext uri="{9D8B030D-6E8A-4147-A177-3AD203B41FA5}">
                      <a16:colId xmlns:a16="http://schemas.microsoft.com/office/drawing/2014/main" val="3312350356"/>
                    </a:ext>
                  </a:extLst>
                </a:gridCol>
                <a:gridCol w="576433">
                  <a:extLst>
                    <a:ext uri="{9D8B030D-6E8A-4147-A177-3AD203B41FA5}">
                      <a16:colId xmlns:a16="http://schemas.microsoft.com/office/drawing/2014/main" val="2663181130"/>
                    </a:ext>
                  </a:extLst>
                </a:gridCol>
                <a:gridCol w="409575">
                  <a:extLst>
                    <a:ext uri="{9D8B030D-6E8A-4147-A177-3AD203B41FA5}">
                      <a16:colId xmlns:a16="http://schemas.microsoft.com/office/drawing/2014/main" val="3067749877"/>
                    </a:ext>
                  </a:extLst>
                </a:gridCol>
                <a:gridCol w="833353">
                  <a:extLst>
                    <a:ext uri="{9D8B030D-6E8A-4147-A177-3AD203B41FA5}">
                      <a16:colId xmlns:a16="http://schemas.microsoft.com/office/drawing/2014/main" val="1926744572"/>
                    </a:ext>
                  </a:extLst>
                </a:gridCol>
              </a:tblGrid>
              <a:tr h="167823">
                <a:tc gridSpan="3">
                  <a:txBody>
                    <a:bodyPr/>
                    <a:lstStyle/>
                    <a:p>
                      <a:pPr algn="l" fontAlgn="b"/>
                      <a:r>
                        <a:rPr lang="en-US" sz="1050" b="1" i="0" u="none" strike="noStrike" noProof="0" dirty="0">
                          <a:solidFill>
                            <a:schemeClr val="accent1"/>
                          </a:solidFill>
                          <a:effectLst/>
                          <a:latin typeface="Lucida"/>
                        </a:rPr>
                        <a:t>Netflix</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i="0" u="none" strike="noStrike">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 4.7%</a:t>
                      </a: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1.1%</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159402">
                <a:tc gridSpan="3">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KLA Corp</a:t>
                      </a:r>
                    </a:p>
                  </a:txBody>
                  <a:tcPr marL="0" marR="0" marT="0" marB="0" anchor="b">
                    <a:lnL>
                      <a:noFill/>
                    </a:lnL>
                    <a:lnR>
                      <a:noFill/>
                    </a:lnR>
                    <a:lnT>
                      <a:noFill/>
                    </a:lnT>
                    <a:lnB>
                      <a:noFill/>
                    </a:lnB>
                    <a:noFill/>
                  </a:tcPr>
                </a:tc>
                <a:tc hMerge="1">
                  <a:txBody>
                    <a:bodyPr/>
                    <a:lstStyle/>
                    <a:p>
                      <a:endParaRPr lang="fr-CH"/>
                    </a:p>
                  </a:txBody>
                  <a:tcPr/>
                </a:tc>
                <a:tc hMerge="1">
                  <a:txBody>
                    <a:bodyPr/>
                    <a:lstStyle/>
                    <a:p>
                      <a:pPr marL="0" algn="l" defTabSz="1007943" rtl="0" eaLnBrk="1" fontAlgn="b" latinLnBrk="0" hangingPunct="1"/>
                      <a:endParaRPr lang="fr-CH" sz="1050" b="1" i="0" u="none" strike="noStrike" kern="120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2.5%</a:t>
                      </a: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0.2%</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159803">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Meta Platforms</a:t>
                      </a:r>
                    </a:p>
                  </a:txBody>
                  <a:tcPr marL="0" marR="0" marT="0" marB="0" anchor="b">
                    <a:lnL>
                      <a:noFill/>
                    </a:lnL>
                    <a:lnR>
                      <a:noFill/>
                    </a:lnR>
                    <a:lnT>
                      <a:noFill/>
                    </a:lnT>
                    <a:lnB>
                      <a:noFill/>
                    </a:lnB>
                    <a:noFill/>
                  </a:tcPr>
                </a:tc>
                <a:tc gridSpan="2">
                  <a:txBody>
                    <a:bodyPr/>
                    <a:lstStyle/>
                    <a:p>
                      <a:pPr algn="l" fontAlgn="b"/>
                      <a:r>
                        <a:rPr lang="en-US" sz="1050" b="1" i="0" u="none" strike="noStrike" noProof="0" dirty="0">
                          <a:solidFill>
                            <a:schemeClr val="accent2"/>
                          </a:solidFill>
                          <a:effectLst/>
                          <a:latin typeface="Lucida"/>
                        </a:rPr>
                        <a:t> </a:t>
                      </a:r>
                    </a:p>
                  </a:txBody>
                  <a:tcPr marL="0" marR="0" marT="0" marB="0" anchor="b">
                    <a:lnL>
                      <a:noFill/>
                    </a:lnL>
                    <a:lnR>
                      <a:noFill/>
                    </a:lnR>
                    <a:lnT>
                      <a:noFill/>
                    </a:lnT>
                    <a:lnB>
                      <a:noFill/>
                    </a:lnB>
                    <a:noFill/>
                  </a:tcPr>
                </a:tc>
                <a:tc hMerge="1">
                  <a:txBody>
                    <a:bodyPr/>
                    <a:lstStyle/>
                    <a:p>
                      <a:pPr algn="l" fontAlgn="b"/>
                      <a:endParaRPr lang="fr-CH" sz="1050" b="1" i="0" u="none" strike="noStrike">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5.3%</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3.1%</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172236">
                <a:tc gridSpan="3">
                  <a:txBody>
                    <a:bodyPr/>
                    <a:lstStyle/>
                    <a:p>
                      <a:pPr algn="l" fontAlgn="b"/>
                      <a:r>
                        <a:rPr lang="en-US" sz="1050" b="1" kern="1200" noProof="0" dirty="0">
                          <a:solidFill>
                            <a:schemeClr val="accent2"/>
                          </a:solidFill>
                          <a:latin typeface="Lucida"/>
                          <a:ea typeface="+mn-ea"/>
                          <a:cs typeface="+mn-cs"/>
                        </a:rPr>
                        <a:t>Morgan Stanley</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kern="120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2.5%</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0.3%</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180473">
                <a:tc gridSpan="2">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Coca-Cola</a:t>
                      </a:r>
                    </a:p>
                  </a:txBody>
                  <a:tcPr marL="0" marR="0" marT="0" marB="0" anchor="b">
                    <a:lnL>
                      <a:noFill/>
                    </a:lnL>
                    <a:lnR>
                      <a:noFill/>
                    </a:lnR>
                    <a:lnT>
                      <a:noFill/>
                    </a:lnT>
                    <a:lnB>
                      <a:noFill/>
                    </a:lnB>
                    <a:noFill/>
                  </a:tcPr>
                </a:tc>
                <a:tc hMerge="1">
                  <a:txBody>
                    <a:bodyPr/>
                    <a:lstStyle/>
                    <a:p>
                      <a:pPr algn="l" fontAlgn="b"/>
                      <a:r>
                        <a:rPr lang="fr-CH" sz="1050" b="1" i="0" u="none" strike="noStrike">
                          <a:effectLst/>
                          <a:latin typeface="Lucida"/>
                        </a:rPr>
                        <a:t> </a:t>
                      </a:r>
                    </a:p>
                  </a:txBody>
                  <a:tcPr marL="0" marR="0" marT="0" marB="0" anchor="b">
                    <a:lnL>
                      <a:noFill/>
                    </a:lnL>
                    <a:lnR>
                      <a:noFill/>
                    </a:lnR>
                    <a:lnT>
                      <a:noFill/>
                    </a:lnT>
                    <a:lnB>
                      <a:noFill/>
                    </a:lnB>
                    <a:noFill/>
                  </a:tcPr>
                </a:tc>
                <a:tc>
                  <a:txBody>
                    <a:bodyPr/>
                    <a:lstStyle/>
                    <a:p>
                      <a:pPr algn="l" fontAlgn="b"/>
                      <a:r>
                        <a:rPr lang="en-US" sz="1050" b="1" i="0" u="none" strike="noStrike" noProof="0" dirty="0">
                          <a:effectLst/>
                          <a:latin typeface="Lucida"/>
                        </a:rPr>
                        <a:t> </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2.6%</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0.5%</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r h="214312">
                <a:tc gridSpan="3">
                  <a:txBody>
                    <a:bodyPr/>
                    <a:lstStyle/>
                    <a:p>
                      <a:pPr algn="l" fontAlgn="b"/>
                      <a:r>
                        <a:rPr lang="en-US" sz="1050" b="1" i="0" u="none" strike="noStrike" noProof="0" dirty="0">
                          <a:solidFill>
                            <a:schemeClr val="accent1"/>
                          </a:solidFill>
                          <a:effectLst/>
                          <a:latin typeface="Lucida"/>
                        </a:rPr>
                        <a:t>Boston Scientific Group</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i="0" u="none" strike="noStrike">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2.3%</a:t>
                      </a: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0.3%</a:t>
                      </a:r>
                    </a:p>
                  </a:txBody>
                  <a:tcPr marL="0" marR="0" marT="0" marB="0" anchor="b">
                    <a:lnL>
                      <a:noFill/>
                    </a:lnL>
                    <a:lnR>
                      <a:noFill/>
                    </a:lnR>
                    <a:lnT>
                      <a:noFill/>
                    </a:lnT>
                    <a:lnB>
                      <a:noFill/>
                    </a:lnB>
                    <a:noFill/>
                  </a:tcPr>
                </a:tc>
                <a:extLst>
                  <a:ext uri="{0D108BD9-81ED-4DB2-BD59-A6C34878D82A}">
                    <a16:rowId xmlns:a16="http://schemas.microsoft.com/office/drawing/2014/main" val="15531529"/>
                  </a:ext>
                </a:extLst>
              </a:tr>
              <a:tr h="214312">
                <a:tc gridSpan="3">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Lilly (Eli) &amp; Co</a:t>
                      </a:r>
                    </a:p>
                  </a:txBody>
                  <a:tcPr marL="0" marR="0" marT="0" marB="0" anchor="b">
                    <a:lnL>
                      <a:noFill/>
                    </a:lnL>
                    <a:lnR>
                      <a:noFill/>
                    </a:lnR>
                    <a:lnT>
                      <a:noFill/>
                    </a:lnT>
                    <a:lnB>
                      <a:noFill/>
                    </a:lnB>
                    <a:noFill/>
                  </a:tcPr>
                </a:tc>
                <a:tc hMerge="1">
                  <a:txBody>
                    <a:bodyPr/>
                    <a:lstStyle/>
                    <a:p>
                      <a:endParaRPr lang="fr-CH"/>
                    </a:p>
                  </a:txBody>
                  <a:tcPr/>
                </a:tc>
                <a:tc hMerge="1">
                  <a:txBody>
                    <a:bodyPr/>
                    <a:lstStyle/>
                    <a:p>
                      <a:pPr marL="0" algn="l" defTabSz="1007943" rtl="0" eaLnBrk="1" fontAlgn="b" latinLnBrk="0" hangingPunct="1"/>
                      <a:endParaRPr lang="fr-CH" sz="1050" b="1" i="0" u="none" strike="noStrike" kern="120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3.1%</a:t>
                      </a: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1.2%</a:t>
                      </a:r>
                    </a:p>
                  </a:txBody>
                  <a:tcPr marL="0" marR="0" marT="0" marB="0" anchor="b">
                    <a:lnL>
                      <a:noFill/>
                    </a:lnL>
                    <a:lnR>
                      <a:noFill/>
                    </a:lnR>
                    <a:lnT>
                      <a:noFill/>
                    </a:lnT>
                    <a:lnB>
                      <a:noFill/>
                    </a:lnB>
                    <a:noFill/>
                  </a:tcPr>
                </a:tc>
                <a:extLst>
                  <a:ext uri="{0D108BD9-81ED-4DB2-BD59-A6C34878D82A}">
                    <a16:rowId xmlns:a16="http://schemas.microsoft.com/office/drawing/2014/main" val="4143705441"/>
                  </a:ext>
                </a:extLst>
              </a:tr>
              <a:tr h="214312">
                <a:tc>
                  <a:txBody>
                    <a:bodyPr/>
                    <a:lstStyle/>
                    <a:p>
                      <a:pPr marL="0" algn="l" defTabSz="1007943" rtl="0" eaLnBrk="1" fontAlgn="b" latinLnBrk="0" hangingPunct="1"/>
                      <a:r>
                        <a:rPr lang="en-US" sz="1050" b="1" i="0" u="none" strike="noStrike" kern="1200" noProof="0" dirty="0" err="1">
                          <a:solidFill>
                            <a:schemeClr val="accent4"/>
                          </a:solidFill>
                          <a:effectLst/>
                          <a:latin typeface="Lucida"/>
                          <a:ea typeface="+mn-ea"/>
                          <a:cs typeface="+mn-cs"/>
                        </a:rPr>
                        <a:t>Autozone</a:t>
                      </a:r>
                      <a:r>
                        <a:rPr lang="en-US" sz="1050" b="1" i="0" u="none" strike="noStrike" kern="1200" noProof="0" dirty="0">
                          <a:solidFill>
                            <a:schemeClr val="accent4"/>
                          </a:solidFill>
                          <a:effectLst/>
                          <a:latin typeface="Lucida"/>
                          <a:ea typeface="+mn-ea"/>
                          <a:cs typeface="+mn-cs"/>
                        </a:rPr>
                        <a:t> </a:t>
                      </a:r>
                    </a:p>
                  </a:txBody>
                  <a:tcPr marL="0" marR="0" marT="0" marB="0" anchor="b">
                    <a:lnL>
                      <a:noFill/>
                    </a:lnL>
                    <a:lnR>
                      <a:noFill/>
                    </a:lnR>
                    <a:lnT>
                      <a:noFill/>
                    </a:lnT>
                    <a:lnB>
                      <a:noFill/>
                    </a:lnB>
                    <a:noFill/>
                  </a:tcPr>
                </a:tc>
                <a:tc gridSpan="2">
                  <a:txBody>
                    <a:bodyPr/>
                    <a:lstStyle/>
                    <a:p>
                      <a:pPr algn="l" fontAlgn="b"/>
                      <a:r>
                        <a:rPr lang="en-US" sz="1050" b="1" i="0" u="none" strike="noStrike" noProof="0" dirty="0">
                          <a:solidFill>
                            <a:schemeClr val="accent2"/>
                          </a:solidFill>
                          <a:effectLst/>
                          <a:latin typeface="Lucida"/>
                        </a:rPr>
                        <a:t> </a:t>
                      </a:r>
                    </a:p>
                  </a:txBody>
                  <a:tcPr marL="0" marR="0" marT="0" marB="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tc hMerge="1">
                  <a:txBody>
                    <a:bodyPr/>
                    <a:lstStyle/>
                    <a:p>
                      <a:pPr algn="l" fontAlgn="b"/>
                      <a:endParaRPr lang="fr-CH" sz="1050" b="1" i="0" u="none" strike="noStrike">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2.0%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0.1%</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4182240970"/>
                  </a:ext>
                </a:extLst>
              </a:tr>
              <a:tr h="214312">
                <a:tc gridSpan="3">
                  <a:txBody>
                    <a:bodyPr/>
                    <a:lstStyle/>
                    <a:p>
                      <a:pPr algn="l" fontAlgn="b"/>
                      <a:r>
                        <a:rPr lang="en-US" sz="1050" b="1" kern="1200" noProof="0" dirty="0">
                          <a:solidFill>
                            <a:schemeClr val="accent2"/>
                          </a:solidFill>
                          <a:latin typeface="Lucida"/>
                          <a:ea typeface="+mn-ea"/>
                          <a:cs typeface="+mn-cs"/>
                        </a:rPr>
                        <a:t>Spotify Technology</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kern="120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1.8%</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889539097"/>
                  </a:ext>
                </a:extLst>
              </a:tr>
              <a:tr h="214312">
                <a:tc gridSpan="2">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Microsoft</a:t>
                      </a:r>
                    </a:p>
                  </a:txBody>
                  <a:tcPr marL="0" marR="0" marT="0" marB="0" anchor="b">
                    <a:lnL>
                      <a:noFill/>
                    </a:lnL>
                    <a:lnR>
                      <a:noFill/>
                    </a:lnR>
                    <a:lnT>
                      <a:noFill/>
                    </a:lnT>
                    <a:lnB>
                      <a:noFill/>
                    </a:lnB>
                    <a:noFill/>
                  </a:tcPr>
                </a:tc>
                <a:tc hMerge="1">
                  <a:txBody>
                    <a:bodyPr/>
                    <a:lstStyle/>
                    <a:p>
                      <a:pPr algn="l" fontAlgn="b"/>
                      <a:r>
                        <a:rPr lang="fr-CH" sz="1050" b="1" i="0" u="none" strike="noStrike">
                          <a:effectLst/>
                          <a:latin typeface="Lucida"/>
                        </a:rPr>
                        <a:t> </a:t>
                      </a:r>
                    </a:p>
                  </a:txBody>
                  <a:tcPr marL="0" marR="0" marT="0" marB="0" anchor="b"/>
                </a:tc>
                <a:tc>
                  <a:txBody>
                    <a:bodyPr/>
                    <a:lstStyle/>
                    <a:p>
                      <a:pPr algn="l" fontAlgn="b"/>
                      <a:r>
                        <a:rPr lang="en-US" sz="1050" b="1" i="0" u="none" strike="noStrike" noProof="0" dirty="0">
                          <a:effectLst/>
                          <a:latin typeface="Lucida"/>
                        </a:rPr>
                        <a:t> </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8.8%</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7.0%</a:t>
                      </a:r>
                    </a:p>
                  </a:txBody>
                  <a:tcPr marL="0" marR="0" marT="0" marB="0" anchor="b">
                    <a:lnL>
                      <a:noFill/>
                    </a:lnL>
                    <a:lnR>
                      <a:noFill/>
                    </a:lnR>
                    <a:lnT>
                      <a:noFill/>
                    </a:lnT>
                    <a:lnB>
                      <a:noFill/>
                    </a:lnB>
                    <a:noFill/>
                  </a:tcPr>
                </a:tc>
                <a:extLst>
                  <a:ext uri="{0D108BD9-81ED-4DB2-BD59-A6C34878D82A}">
                    <a16:rowId xmlns:a16="http://schemas.microsoft.com/office/drawing/2014/main" val="3315356535"/>
                  </a:ext>
                </a:extLst>
              </a:tr>
            </a:tbl>
          </a:graphicData>
        </a:graphic>
      </p:graphicFrame>
      <p:cxnSp>
        <p:nvCxnSpPr>
          <p:cNvPr id="14" name="Straight Connector 13">
            <a:extLst>
              <a:ext uri="{FF2B5EF4-FFF2-40B4-BE49-F238E27FC236}">
                <a16:creationId xmlns:a16="http://schemas.microsoft.com/office/drawing/2014/main" id="{6A2F3242-53BE-6795-7E33-0D0AB542FF7C}"/>
              </a:ext>
            </a:extLst>
          </p:cNvPr>
          <p:cNvCxnSpPr>
            <a:cxnSpLocks/>
          </p:cNvCxnSpPr>
          <p:nvPr/>
        </p:nvCxnSpPr>
        <p:spPr>
          <a:xfrm>
            <a:off x="6008008" y="4944088"/>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6" name="Text Placeholder 6">
            <a:extLst>
              <a:ext uri="{FF2B5EF4-FFF2-40B4-BE49-F238E27FC236}">
                <a16:creationId xmlns:a16="http://schemas.microsoft.com/office/drawing/2014/main" id="{4C96ED97-0EA4-7D66-07AB-3C7BFEA685DA}"/>
              </a:ext>
            </a:extLst>
          </p:cNvPr>
          <p:cNvSpPr txBox="1">
            <a:spLocks/>
          </p:cNvSpPr>
          <p:nvPr/>
        </p:nvSpPr>
        <p:spPr>
          <a:xfrm>
            <a:off x="8903369" y="4662604"/>
            <a:ext cx="707272"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Benchmark</a:t>
            </a:r>
          </a:p>
        </p:txBody>
      </p:sp>
      <p:sp>
        <p:nvSpPr>
          <p:cNvPr id="5" name="TextBox 14">
            <a:extLst>
              <a:ext uri="{FF2B5EF4-FFF2-40B4-BE49-F238E27FC236}">
                <a16:creationId xmlns:a16="http://schemas.microsoft.com/office/drawing/2014/main" id="{4BA2FA25-FBE6-A61D-4225-27B097C3C2A1}"/>
              </a:ext>
            </a:extLst>
          </p:cNvPr>
          <p:cNvSpPr txBox="1"/>
          <p:nvPr/>
        </p:nvSpPr>
        <p:spPr>
          <a:xfrm>
            <a:off x="3924755" y="2001913"/>
            <a:ext cx="2083253" cy="270074"/>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L</a:t>
            </a:r>
            <a:r>
              <a:rPr lang="en-US" sz="1200" b="1" kern="600" spc="-30" noProof="0" dirty="0">
                <a:solidFill>
                  <a:schemeClr val="bg1"/>
                </a:solidFill>
                <a:latin typeface="Nunito Sans" pitchFamily="2" charset="77"/>
              </a:rPr>
              <a:t>ong-term performance</a:t>
            </a:r>
            <a:endPar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8" name="Rounded Rectangle 17">
            <a:extLst>
              <a:ext uri="{FF2B5EF4-FFF2-40B4-BE49-F238E27FC236}">
                <a16:creationId xmlns:a16="http://schemas.microsoft.com/office/drawing/2014/main" id="{8109FB9D-9D77-B834-09DC-65D0DB68AD9B}"/>
              </a:ext>
            </a:extLst>
          </p:cNvPr>
          <p:cNvSpPr/>
          <p:nvPr/>
        </p:nvSpPr>
        <p:spPr>
          <a:xfrm>
            <a:off x="3318310" y="1964145"/>
            <a:ext cx="1620835" cy="382076"/>
          </a:xfrm>
          <a:prstGeom prst="roundRect">
            <a:avLst>
              <a:gd name="adj" fmla="val 28832"/>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300" b="1" noProof="0" dirty="0">
                <a:solidFill>
                  <a:srgbClr val="FFFFFF"/>
                </a:solidFill>
                <a:latin typeface="Nunito Sans"/>
              </a:rPr>
              <a:t># proven process</a:t>
            </a:r>
            <a:endParaRPr kumimoji="0" lang="en-US" sz="1300" b="1" i="0" u="none" strike="noStrike" kern="1200" cap="none" spc="0" normalizeH="0" baseline="0" noProof="0" dirty="0">
              <a:ln>
                <a:noFill/>
              </a:ln>
              <a:solidFill>
                <a:srgbClr val="FFFFFF"/>
              </a:solidFill>
              <a:effectLst/>
              <a:uLnTx/>
              <a:uFillTx/>
              <a:latin typeface="Nunito Sans"/>
              <a:ea typeface="+mn-ea"/>
              <a:cs typeface="+mn-cs"/>
            </a:endParaRPr>
          </a:p>
        </p:txBody>
      </p:sp>
      <p:sp>
        <p:nvSpPr>
          <p:cNvPr id="22" name="Text Placeholder 6">
            <a:extLst>
              <a:ext uri="{FF2B5EF4-FFF2-40B4-BE49-F238E27FC236}">
                <a16:creationId xmlns:a16="http://schemas.microsoft.com/office/drawing/2014/main" id="{E45E2AB6-1F67-0F76-975C-39CEBA913AFE}"/>
              </a:ext>
            </a:extLst>
          </p:cNvPr>
          <p:cNvSpPr txBox="1">
            <a:spLocks/>
          </p:cNvSpPr>
          <p:nvPr/>
        </p:nvSpPr>
        <p:spPr>
          <a:xfrm>
            <a:off x="8454655" y="4662604"/>
            <a:ext cx="322634"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Fund</a:t>
            </a:r>
          </a:p>
        </p:txBody>
      </p:sp>
      <p:sp>
        <p:nvSpPr>
          <p:cNvPr id="12" name="Text Box 6">
            <a:extLst>
              <a:ext uri="{FF2B5EF4-FFF2-40B4-BE49-F238E27FC236}">
                <a16:creationId xmlns:a16="http://schemas.microsoft.com/office/drawing/2014/main" id="{E62A4B3E-EC8F-BCAF-2FAC-F2F5B84B186D}"/>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noProof="0" dirty="0">
                <a:solidFill>
                  <a:srgbClr val="4B5F80"/>
                </a:solidFill>
                <a:latin typeface="Nunito Sans" pitchFamily="2" charset="77"/>
              </a:rPr>
              <a:t>Source: Schroder</a:t>
            </a:r>
            <a:endParaRPr lang="en-US" sz="700" noProof="0" dirty="0">
              <a:solidFill>
                <a:srgbClr val="4B5F80"/>
              </a:solidFill>
              <a:latin typeface="Nunito Sans" pitchFamily="2" charset="77"/>
            </a:endParaRPr>
          </a:p>
        </p:txBody>
      </p:sp>
    </p:spTree>
    <p:extLst>
      <p:ext uri="{BB962C8B-B14F-4D97-AF65-F5344CB8AC3E}">
        <p14:creationId xmlns:p14="http://schemas.microsoft.com/office/powerpoint/2010/main" val="11338108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ags/tag11.xml><?xml version="1.0" encoding="utf-8"?>
<p:tagLst xmlns:a="http://schemas.openxmlformats.org/drawingml/2006/main" xmlns:r="http://schemas.openxmlformats.org/officeDocument/2006/relationships" xmlns:p="http://schemas.openxmlformats.org/presentationml/2006/main">
  <p:tag name="AFSPANMODE" val="span"/>
</p:tagLst>
</file>

<file path=ppt/tags/tag12.xml><?xml version="1.0" encoding="utf-8"?>
<p:tagLst xmlns:a="http://schemas.openxmlformats.org/drawingml/2006/main" xmlns:r="http://schemas.openxmlformats.org/officeDocument/2006/relationships" xmlns:p="http://schemas.openxmlformats.org/presentationml/2006/main">
  <p:tag name="AFSPANMODE" val="span"/>
</p:tagLst>
</file>

<file path=ppt/tags/tag13.xml><?xml version="1.0" encoding="utf-8"?>
<p:tagLst xmlns:a="http://schemas.openxmlformats.org/drawingml/2006/main" xmlns:r="http://schemas.openxmlformats.org/officeDocument/2006/relationships" xmlns:p="http://schemas.openxmlformats.org/presentationml/2006/main">
  <p:tag name="AFSPANMODE" val="span"/>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