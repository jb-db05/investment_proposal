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embeddings/oleObject1.bin" ContentType="application/vnd.openxmlformats-officedocument.oleObject"/>
  <Override PartName="/ppt/embeddings/oleObject2.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8133" r:id="rId15"/>
    <p:sldId id="263" r:id="rId16"/>
    <p:sldId id="2147378134" r:id="rId17"/>
    <p:sldId id="2147379392" r:id="rId18"/>
    <p:sldId id="2147378135" r:id="rId19"/>
    <p:sldId id="2147379393" r:id="rId20"/>
    <p:sldId id="2147378136" r:id="rId21"/>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cat>
            <c:strRef>
              <c:f>Sheet1!$A$2:$A$6</c:f>
              <c:strCache>
                <c:ptCount val="5"/>
                <c:pt idx="0">
                  <c:v>Fixed Income  55%</c:v>
                </c:pt>
                <c:pt idx="1">
                  <c:v>Equities  26%</c:v>
                </c:pt>
                <c:pt idx="2">
                  <c:v>Alternatives  8%</c:v>
                </c:pt>
                <c:pt idx="3">
                  <c:v>Cash  5%</c:v>
                </c:pt>
                <c:pt idx="4">
                  <c:v>Commodities  5%</c:v>
                </c:pt>
              </c:strCache>
            </c:strRef>
          </c:cat>
          <c:val>
            <c:numRef>
              <c:f>Sheet1!$B$2:$B$6</c:f>
              <c:numCache>
                <c:formatCode>General</c:formatCode>
                <c:ptCount val="5"/>
                <c:pt idx="0">
                  <c:v>0.55440767206902586</c:v>
                </c:pt>
                <c:pt idx="1">
                  <c:v>0.2628036999846402</c:v>
                </c:pt>
                <c:pt idx="2">
                  <c:v>7.9000004577186547E-2</c:v>
                </c:pt>
                <c:pt idx="3">
                  <c:v>5.3788620472193828E-2</c:v>
                </c:pt>
                <c:pt idx="4">
                  <c:v>5.0000002896953499E-2</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cat>
            <c:strRef>
              <c:f>Sheet1!$A$2:$A$5</c:f>
              <c:strCache>
                <c:ptCount val="4"/>
                <c:pt idx="0">
                  <c:v>USD  94%</c:v>
                </c:pt>
                <c:pt idx="1">
                  <c:v>EUR  3%</c:v>
                </c:pt>
                <c:pt idx="2">
                  <c:v>CHF  2%</c:v>
                </c:pt>
                <c:pt idx="3">
                  <c:v>JPY  1%</c:v>
                </c:pt>
              </c:strCache>
            </c:strRef>
          </c:cat>
          <c:val>
            <c:numRef>
              <c:f>Sheet1!$B$2:$B$5</c:f>
              <c:numCache>
                <c:formatCode>General</c:formatCode>
                <c:ptCount val="4"/>
                <c:pt idx="0">
                  <c:v>0.94267385742594012</c:v>
                </c:pt>
                <c:pt idx="1">
                  <c:v>2.5153268131258073E-2</c:v>
                </c:pt>
                <c:pt idx="2">
                  <c:v>2.0127667942303078E-2</c:v>
                </c:pt>
                <c:pt idx="3">
                  <c:v>1.2045206500498638E-2</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Global</c:v>
                </c:pt>
                <c:pt idx="1">
                  <c:v>MEA EM</c:v>
                </c:pt>
                <c:pt idx="2">
                  <c:v>US</c:v>
                </c:pt>
                <c:pt idx="3">
                  <c:v>Europe DM</c:v>
                </c:pt>
                <c:pt idx="4">
                  <c:v>Japan</c:v>
                </c:pt>
              </c:strCache>
            </c:strRef>
          </c:cat>
          <c:val>
            <c:numRef>
              <c:f>Sheet1!$B$2:$B$6</c:f>
              <c:numCache>
                <c:formatCode>General</c:formatCode>
                <c:ptCount val="5"/>
                <c:pt idx="0">
                  <c:v>0.31327594252215857</c:v>
                </c:pt>
                <c:pt idx="1">
                  <c:v>0.27518859723836719</c:v>
                </c:pt>
                <c:pt idx="2">
                  <c:v>0.25450730046020115</c:v>
                </c:pt>
                <c:pt idx="3">
                  <c:v>0.14498295327877442</c:v>
                </c:pt>
                <c:pt idx="4">
                  <c:v>1.2045206500498638E-2</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Diversified</c:v>
                </c:pt>
                <c:pt idx="1">
                  <c:v>Financials</c:v>
                </c:pt>
                <c:pt idx="2">
                  <c:v>Materials</c:v>
                </c:pt>
                <c:pt idx="3">
                  <c:v>Consumer Disc</c:v>
                </c:pt>
                <c:pt idx="4">
                  <c:v>Energy</c:v>
                </c:pt>
                <c:pt idx="5">
                  <c:v>Utilities</c:v>
                </c:pt>
                <c:pt idx="6">
                  <c:v>Commodities</c:v>
                </c:pt>
                <c:pt idx="7">
                  <c:v>Health Care</c:v>
                </c:pt>
              </c:strCache>
            </c:strRef>
          </c:cat>
          <c:val>
            <c:numRef>
              <c:f>Sheet1!$B$2:$B$9</c:f>
              <c:numCache>
                <c:formatCode>General</c:formatCode>
                <c:ptCount val="8"/>
                <c:pt idx="0">
                  <c:v>0.42237638939016992</c:v>
                </c:pt>
                <c:pt idx="1">
                  <c:v>0.11160719789498831</c:v>
                </c:pt>
                <c:pt idx="2">
                  <c:v>6.1891432157360385E-2</c:v>
                </c:pt>
                <c:pt idx="3">
                  <c:v>5.6725860429500556E-2</c:v>
                </c:pt>
                <c:pt idx="4">
                  <c:v>5.6382817552482103E-2</c:v>
                </c:pt>
                <c:pt idx="5">
                  <c:v>5.5823717520088377E-2</c:v>
                </c:pt>
                <c:pt idx="6">
                  <c:v>5.0000002896953499E-2</c:v>
                </c:pt>
                <c:pt idx="7">
                  <c:v>4.7750002766590596E-2</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52%</c:v>
                </c:pt>
                <c:pt idx="1">
                  <c:v>Fund  33%</c:v>
                </c:pt>
                <c:pt idx="2">
                  <c:v>Structured / AMC  15%</c:v>
                </c:pt>
              </c:strCache>
            </c:strRef>
          </c:cat>
          <c:val>
            <c:numRef>
              <c:f>Sheet1!$B$2:$B$4</c:f>
              <c:numCache>
                <c:formatCode>General</c:formatCode>
                <c:ptCount val="3"/>
                <c:pt idx="0">
                  <c:v>0.52324777801029698</c:v>
                </c:pt>
                <c:pt idx="1">
                  <c:v>0.32630897744983961</c:v>
                </c:pt>
                <c:pt idx="2">
                  <c:v>0.15044324453986341</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geography</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4D04-4F23-9F99-238125506A13}"/>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4D04-4F23-9F99-238125506A13}"/>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4D04-4F23-9F99-238125506A13}"/>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4D04-4F23-9F99-238125506A13}"/>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4D04-4F23-9F99-238125506A13}"/>
              </c:ext>
            </c:extLst>
          </c:dPt>
          <c:dPt>
            <c:idx val="5"/>
            <c:bubble3D val="0"/>
            <c:spPr>
              <a:solidFill>
                <a:srgbClr val="9BA3B4"/>
              </a:solidFill>
              <a:ln w="9525" cap="flat">
                <a:noFill/>
                <a:prstDash val="solid"/>
                <a:round/>
              </a:ln>
              <a:effectLst/>
            </c:spPr>
            <c:extLst>
              <c:ext xmlns:c16="http://schemas.microsoft.com/office/drawing/2014/chart" uri="{C3380CC4-5D6E-409C-BE32-E72D297353CC}">
                <c16:uniqueId val="{0000000B-4D04-4F23-9F99-238125506A13}"/>
              </c:ext>
            </c:extLst>
          </c:dPt>
          <c:cat>
            <c:strRef>
              <c:f>Sheet1!$A$2:$A$7</c:f>
              <c:strCache>
                <c:ptCount val="6"/>
                <c:pt idx="0">
                  <c:v>United States</c:v>
                </c:pt>
                <c:pt idx="1">
                  <c:v>France</c:v>
                </c:pt>
                <c:pt idx="2">
                  <c:v>Luxembourg</c:v>
                </c:pt>
                <c:pt idx="3">
                  <c:v>Ireland</c:v>
                </c:pt>
                <c:pt idx="4">
                  <c:v>Japan</c:v>
                </c:pt>
                <c:pt idx="5">
                  <c:v>United Kingdom</c:v>
                </c:pt>
              </c:strCache>
            </c:strRef>
          </c:cat>
          <c:val>
            <c:numRef>
              <c:f>Sheet1!$B$2:$B$7</c:f>
              <c:numCache>
                <c:formatCode>General</c:formatCode>
                <c:ptCount val="6"/>
                <c:pt idx="0">
                  <c:v>16.666699999999999</c:v>
                </c:pt>
                <c:pt idx="1">
                  <c:v>16.666699999999999</c:v>
                </c:pt>
                <c:pt idx="2">
                  <c:v>16.666699999999999</c:v>
                </c:pt>
                <c:pt idx="3">
                  <c:v>16.666699999999999</c:v>
                </c:pt>
                <c:pt idx="4">
                  <c:v>16.666699999999999</c:v>
                </c:pt>
                <c:pt idx="5">
                  <c:v>16.666699999999999</c:v>
                </c:pt>
              </c:numCache>
            </c:numRef>
          </c:val>
          <c:extLst>
            <c:ext xmlns:c16="http://schemas.microsoft.com/office/drawing/2014/chart" uri="{C3380CC4-5D6E-409C-BE32-E72D297353CC}">
              <c16:uniqueId val="{0000000C-4D04-4F23-9F99-238125506A13}"/>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sector</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8B3-44D7-964B-8347C60FDD09}"/>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8B3-44D7-964B-8347C60FDD09}"/>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8B3-44D7-964B-8347C60FDD09}"/>
              </c:ext>
            </c:extLst>
          </c:dPt>
          <c:cat>
            <c:strRef>
              <c:f>Sheet1!$A$2:$A$4</c:f>
              <c:strCache>
                <c:ptCount val="3"/>
                <c:pt idx="0">
                  <c:v>Finance</c:v>
                </c:pt>
                <c:pt idx="1">
                  <c:v>Non-Energy Minerals</c:v>
                </c:pt>
                <c:pt idx="2">
                  <c:v>Communications</c:v>
                </c:pt>
              </c:strCache>
            </c:strRef>
          </c:cat>
          <c:val>
            <c:numRef>
              <c:f>Sheet1!$B$2:$B$4</c:f>
              <c:numCache>
                <c:formatCode>General</c:formatCode>
                <c:ptCount val="3"/>
                <c:pt idx="0">
                  <c:v>66.666700000000006</c:v>
                </c:pt>
                <c:pt idx="1">
                  <c:v>16.666699999999999</c:v>
                </c:pt>
                <c:pt idx="2">
                  <c:v>16.666699999999999</c:v>
                </c:pt>
              </c:numCache>
            </c:numRef>
          </c:val>
          <c:extLst>
            <c:ext xmlns:c16="http://schemas.microsoft.com/office/drawing/2014/chart" uri="{C3380CC4-5D6E-409C-BE32-E72D297353CC}">
              <c16:uniqueId val="{00000006-B8B3-44D7-964B-8347C60FDD09}"/>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maturity</c:v>
                </c:pt>
              </c:strCache>
            </c:strRef>
          </c:tx>
          <c:spPr>
            <a:solidFill>
              <a:schemeClr val="accent1"/>
            </a:solidFill>
            <a:ln w="9525" cap="flat">
              <a:solidFill>
                <a:srgbClr val="F9F9F9"/>
              </a:solidFill>
              <a:prstDash val="solid"/>
              <a:round/>
            </a:ln>
            <a:effectLst/>
          </c:spPr>
          <c:dPt>
            <c:idx val="0"/>
            <c:bubble3D val="0"/>
            <c:spPr>
              <a:solidFill>
                <a:srgbClr val="FF6C0E"/>
              </a:solidFill>
              <a:ln w="9525" cap="flat">
                <a:solidFill>
                  <a:srgbClr val="FAFAFB"/>
                </a:solidFill>
                <a:prstDash val="solid"/>
                <a:round/>
              </a:ln>
              <a:effectLst/>
            </c:spPr>
            <c:extLst>
              <c:ext xmlns:c16="http://schemas.microsoft.com/office/drawing/2014/chart" uri="{C3380CC4-5D6E-409C-BE32-E72D297353CC}">
                <c16:uniqueId val="{00000001-F801-48E9-B837-D9C81C3857EA}"/>
              </c:ext>
            </c:extLst>
          </c:dPt>
          <c:dPt>
            <c:idx val="1"/>
            <c:bubble3D val="0"/>
            <c:spPr>
              <a:solidFill>
                <a:srgbClr val="FFC545"/>
              </a:solidFill>
              <a:ln w="9525" cap="flat">
                <a:solidFill>
                  <a:srgbClr val="FAFAFB"/>
                </a:solidFill>
                <a:prstDash val="solid"/>
                <a:round/>
              </a:ln>
              <a:effectLst/>
            </c:spPr>
            <c:extLst>
              <c:ext xmlns:c16="http://schemas.microsoft.com/office/drawing/2014/chart" uri="{C3380CC4-5D6E-409C-BE32-E72D297353CC}">
                <c16:uniqueId val="{00000003-F801-48E9-B837-D9C81C3857EA}"/>
              </c:ext>
            </c:extLst>
          </c:dPt>
          <c:dPt>
            <c:idx val="2"/>
            <c:bubble3D val="0"/>
            <c:spPr>
              <a:solidFill>
                <a:srgbClr val="79D6FF"/>
              </a:solidFill>
              <a:ln w="9525" cap="flat">
                <a:solidFill>
                  <a:srgbClr val="FAFAFB"/>
                </a:solidFill>
                <a:prstDash val="solid"/>
                <a:round/>
              </a:ln>
              <a:effectLst/>
            </c:spPr>
            <c:extLst>
              <c:ext xmlns:c16="http://schemas.microsoft.com/office/drawing/2014/chart" uri="{C3380CC4-5D6E-409C-BE32-E72D297353CC}">
                <c16:uniqueId val="{00000005-F801-48E9-B837-D9C81C3857EA}"/>
              </c:ext>
            </c:extLst>
          </c:dPt>
          <c:cat>
            <c:strRef>
              <c:f>Sheet1!$A$2:$A$4</c:f>
              <c:strCache>
                <c:ptCount val="3"/>
                <c:pt idx="0">
                  <c:v>0 - 3 years</c:v>
                </c:pt>
                <c:pt idx="1">
                  <c:v>3 - 5 years</c:v>
                </c:pt>
                <c:pt idx="2">
                  <c:v>5 - 7 years</c:v>
                </c:pt>
              </c:strCache>
            </c:strRef>
          </c:cat>
          <c:val>
            <c:numRef>
              <c:f>Sheet1!$B$2:$B$4</c:f>
              <c:numCache>
                <c:formatCode>General</c:formatCode>
                <c:ptCount val="3"/>
                <c:pt idx="0">
                  <c:v>16.666699999999999</c:v>
                </c:pt>
                <c:pt idx="1">
                  <c:v>66.666700000000006</c:v>
                </c:pt>
                <c:pt idx="2">
                  <c:v>16.666699999999999</c:v>
                </c:pt>
              </c:numCache>
            </c:numRef>
          </c:val>
          <c:extLst>
            <c:ext xmlns:c16="http://schemas.microsoft.com/office/drawing/2014/chart" uri="{C3380CC4-5D6E-409C-BE32-E72D297353CC}">
              <c16:uniqueId val="{00000006-F801-48E9-B837-D9C81C3857EA}"/>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credit quality</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D28A-4F7B-AAC0-EB5D8BC7AD46}"/>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D28A-4F7B-AAC0-EB5D8BC7AD46}"/>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D28A-4F7B-AAC0-EB5D8BC7AD46}"/>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D28A-4F7B-AAC0-EB5D8BC7AD46}"/>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D28A-4F7B-AAC0-EB5D8BC7AD46}"/>
              </c:ext>
            </c:extLst>
          </c:dPt>
          <c:cat>
            <c:strRef>
              <c:f>Sheet1!$A$2:$A$6</c:f>
              <c:strCache>
                <c:ptCount val="5"/>
                <c:pt idx="0">
                  <c:v>A+</c:v>
                </c:pt>
                <c:pt idx="1">
                  <c:v>A-</c:v>
                </c:pt>
                <c:pt idx="2">
                  <c:v>BBB+</c:v>
                </c:pt>
                <c:pt idx="3">
                  <c:v>BBB</c:v>
                </c:pt>
                <c:pt idx="4">
                  <c:v>BB+</c:v>
                </c:pt>
              </c:strCache>
            </c:strRef>
          </c:cat>
          <c:val>
            <c:numRef>
              <c:f>Sheet1!$B$2:$B$6</c:f>
              <c:numCache>
                <c:formatCode>General</c:formatCode>
                <c:ptCount val="5"/>
                <c:pt idx="0">
                  <c:v>16.666699999999999</c:v>
                </c:pt>
                <c:pt idx="1">
                  <c:v>16.666699999999999</c:v>
                </c:pt>
                <c:pt idx="2">
                  <c:v>33.333300000000001</c:v>
                </c:pt>
                <c:pt idx="3">
                  <c:v>16.666699999999999</c:v>
                </c:pt>
                <c:pt idx="4">
                  <c:v>16.666699999999999</c:v>
                </c:pt>
              </c:numCache>
            </c:numRef>
          </c:val>
          <c:extLst>
            <c:ext xmlns:c16="http://schemas.microsoft.com/office/drawing/2014/chart" uri="{C3380CC4-5D6E-409C-BE32-E72D297353CC}">
              <c16:uniqueId val="{0000000A-D28A-4F7B-AAC0-EB5D8BC7AD46}"/>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ETF  6%</c:v>
                </c:pt>
              </c:strCache>
            </c:strRef>
          </c:cat>
          <c:val>
            <c:numRef>
              <c:f>Sheet1!$B$2:$B$3</c:f>
              <c:numCache>
                <c:formatCode>General</c:formatCode>
                <c:ptCount val="2"/>
                <c:pt idx="0">
                  <c:v>0.94491117763918775</c:v>
                </c:pt>
                <c:pt idx="1">
                  <c:v>5.5088822360812188E-2</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geography</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7858-40CB-B006-9C099370F2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7858-40CB-B006-9C099370F2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7858-40CB-B006-9C099370F25F}"/>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7858-40CB-B006-9C099370F25F}"/>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7858-40CB-B006-9C099370F25F}"/>
              </c:ext>
            </c:extLst>
          </c:dPt>
          <c:cat>
            <c:strRef>
              <c:f>Sheet1!$A$2:$A$6</c:f>
              <c:strCache>
                <c:ptCount val="5"/>
                <c:pt idx="0">
                  <c:v>Europe ex-Switzerland</c:v>
                </c:pt>
                <c:pt idx="1">
                  <c:v>Global / thematic</c:v>
                </c:pt>
                <c:pt idx="2">
                  <c:v>Switzerland</c:v>
                </c:pt>
                <c:pt idx="3">
                  <c:v>United States</c:v>
                </c:pt>
                <c:pt idx="4">
                  <c:v>China</c:v>
                </c:pt>
              </c:strCache>
            </c:strRef>
          </c:cat>
          <c:val>
            <c:numRef>
              <c:f>Sheet1!$B$2:$B$6</c:f>
              <c:numCache>
                <c:formatCode>General</c:formatCode>
                <c:ptCount val="5"/>
                <c:pt idx="0">
                  <c:v>38.076999999999998</c:v>
                </c:pt>
                <c:pt idx="1">
                  <c:v>30.248000000000001</c:v>
                </c:pt>
                <c:pt idx="2">
                  <c:v>18.984000000000002</c:v>
                </c:pt>
                <c:pt idx="3">
                  <c:v>6.6379999999999999</c:v>
                </c:pt>
                <c:pt idx="4">
                  <c:v>6.0529999999999999</c:v>
                </c:pt>
              </c:numCache>
            </c:numRef>
          </c:val>
          <c:extLst>
            <c:ext xmlns:c16="http://schemas.microsoft.com/office/drawing/2014/chart" uri="{C3380CC4-5D6E-409C-BE32-E72D297353CC}">
              <c16:uniqueId val="{0000000A-7858-40CB-B006-9C099370F25F}"/>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sector</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EBB8-42C2-89E7-A36B30CA2114}"/>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EBB8-42C2-89E7-A36B30CA2114}"/>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EBB8-42C2-89E7-A36B30CA2114}"/>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EBB8-42C2-89E7-A36B30CA2114}"/>
              </c:ext>
            </c:extLst>
          </c:dPt>
          <c:dPt>
            <c:idx val="4"/>
            <c:bubble3D val="0"/>
            <c:spPr>
              <a:solidFill>
                <a:srgbClr val="9BA3B4"/>
              </a:solidFill>
              <a:ln w="9525" cap="flat">
                <a:noFill/>
                <a:prstDash val="solid"/>
                <a:round/>
              </a:ln>
              <a:effectLst/>
            </c:spPr>
            <c:extLst>
              <c:ext xmlns:c16="http://schemas.microsoft.com/office/drawing/2014/chart" uri="{C3380CC4-5D6E-409C-BE32-E72D297353CC}">
                <c16:uniqueId val="{00000009-EBB8-42C2-89E7-A36B30CA2114}"/>
              </c:ext>
            </c:extLst>
          </c:dPt>
          <c:cat>
            <c:strRef>
              <c:f>Sheet1!$A$2:$A$6</c:f>
              <c:strCache>
                <c:ptCount val="5"/>
                <c:pt idx="0">
                  <c:v>Electronic Technology</c:v>
                </c:pt>
                <c:pt idx="1">
                  <c:v>Multi-sector funds</c:v>
                </c:pt>
                <c:pt idx="2">
                  <c:v>Finance</c:v>
                </c:pt>
                <c:pt idx="3">
                  <c:v>Non-Energy Minerals</c:v>
                </c:pt>
                <c:pt idx="4">
                  <c:v>Other</c:v>
                </c:pt>
              </c:strCache>
            </c:strRef>
          </c:cat>
          <c:val>
            <c:numRef>
              <c:f>Sheet1!$B$2:$B$6</c:f>
              <c:numCache>
                <c:formatCode>General</c:formatCode>
                <c:ptCount val="5"/>
                <c:pt idx="0">
                  <c:v>27.869</c:v>
                </c:pt>
                <c:pt idx="1">
                  <c:v>24.521999999999998</c:v>
                </c:pt>
                <c:pt idx="2">
                  <c:v>22.504000000000001</c:v>
                </c:pt>
                <c:pt idx="3">
                  <c:v>12.253</c:v>
                </c:pt>
                <c:pt idx="4">
                  <c:v>12.852</c:v>
                </c:pt>
              </c:numCache>
            </c:numRef>
          </c:val>
          <c:extLst>
            <c:ext xmlns:c16="http://schemas.microsoft.com/office/drawing/2014/chart" uri="{C3380CC4-5D6E-409C-BE32-E72D297353CC}">
              <c16:uniqueId val="{0000000A-EBB8-42C2-89E7-A36B30CA2114}"/>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By market cap</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B36-45C4-B629-418875BB24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B36-45C4-B629-418875BB24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B36-45C4-B629-418875BB245F}"/>
              </c:ext>
            </c:extLst>
          </c:dPt>
          <c:cat>
            <c:strRef>
              <c:f>Sheet1!$A$2:$A$4</c:f>
              <c:strCache>
                <c:ptCount val="3"/>
                <c:pt idx="0">
                  <c:v>Large cap</c:v>
                </c:pt>
                <c:pt idx="1">
                  <c:v>Mid cap</c:v>
                </c:pt>
                <c:pt idx="2">
                  <c:v>Small cap</c:v>
                </c:pt>
              </c:strCache>
            </c:strRef>
          </c:cat>
          <c:val>
            <c:numRef>
              <c:f>Sheet1!$B$2:$B$4</c:f>
              <c:numCache>
                <c:formatCode>General</c:formatCode>
                <c:ptCount val="3"/>
                <c:pt idx="0">
                  <c:v>88.495000000000005</c:v>
                </c:pt>
                <c:pt idx="1">
                  <c:v>9.76</c:v>
                </c:pt>
                <c:pt idx="2">
                  <c:v>1.7450000000000001</c:v>
                </c:pt>
              </c:numCache>
            </c:numRef>
          </c:val>
          <c:extLst>
            <c:ext xmlns:c16="http://schemas.microsoft.com/office/drawing/2014/chart" uri="{C3380CC4-5D6E-409C-BE32-E72D297353CC}">
              <c16:uniqueId val="{00000006-BB36-45C4-B629-418875BB245F}"/>
            </c:ext>
          </c:extLst>
        </c:ser>
        <c:dLbls>
          <c:showLegendKey val="0"/>
          <c:showVal val="0"/>
          <c:showCatName val="0"/>
          <c:showSerName val="0"/>
          <c:showPercent val="0"/>
          <c:showBubbleSize val="0"/>
          <c:showLeaderLines val="0"/>
        </c:dLbls>
        <c:firstSliceAng val="0"/>
        <c:holeSize val="70"/>
      </c:doughnutChart>
      <c:spPr>
        <a:solidFill>
          <a:schemeClr val="bg1"/>
        </a:solid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Structured / AMC  100%</c:v>
                </c:pt>
              </c:strCache>
            </c:strRef>
          </c:cat>
          <c:val>
            <c:numRef>
              <c:f>Sheet1!$B$2:$B$2</c:f>
              <c:numCache>
                <c:formatCode>General</c:formatCode>
                <c:ptCount val="1"/>
                <c:pt idx="0">
                  <c:v>1</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Structured / AMC  100%</c:v>
                </c:pt>
              </c:strCache>
            </c:strRef>
          </c:cat>
          <c:val>
            <c:numRef>
              <c:f>Sheet1!$B$2:$B$2</c:f>
              <c:numCache>
                <c:formatCode>General</c:formatCode>
                <c:ptCount val="1"/>
                <c:pt idx="0">
                  <c:v>1</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cat>
            <c:strRef>
              <c:f>Sheet1!$A$2:$A$4</c:f>
              <c:strCache>
                <c:ptCount val="3"/>
                <c:pt idx="0">
                  <c:v>Listed  45%</c:v>
                </c:pt>
                <c:pt idx="1">
                  <c:v>Daily-liquid fund  41%</c:v>
                </c:pt>
                <c:pt idx="2">
                  <c:v>Illiquid (lock-up)  13%</c:v>
                </c:pt>
              </c:strCache>
            </c:strRef>
          </c:cat>
          <c:val>
            <c:numRef>
              <c:f>Sheet1!$B$2:$B$4</c:f>
              <c:numCache>
                <c:formatCode>General</c:formatCode>
                <c:ptCount val="3"/>
                <c:pt idx="0">
                  <c:v>0.45224988906007935</c:v>
                </c:pt>
                <c:pt idx="1">
                  <c:v>0.41385208760208309</c:v>
                </c:pt>
                <c:pt idx="2">
                  <c:v>0.13389802333783751</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Moderate USD 7m</a:t>
            </a:r>
            <a:endParaRPr lang="en-GB" sz="1600" b="1" dirty="0"/>
          </a:p>
          <a:p>
            <a:endParaRPr lang="en-GB" sz="1400" b="1" dirty="0"/>
          </a:p>
          <a:p>
            <a:r>
              <a:rPr lang="en-CH" sz="1100" dirty="0"/>
              <a:t>Prepared for [Client Name ]</a:t>
            </a:r>
            <a:endParaRPr lang="en-US" sz="1100" dirty="0"/>
          </a:p>
          <a:p>
            <a:endParaRPr lang="en-US" sz="1100" dirty="0"/>
          </a:p>
          <a:p>
            <a:r>
              <a:rPr lang="en-CH" sz="1100" dirty="0"/>
              <a:t>Your Relationship Manager: [Name]</a:t>
            </a:r>
            <a:endParaRPr lang="en-US" sz="1100" dirty="0"/>
          </a:p>
          <a:p>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How markets moved last week</a:t>
            </a:r>
          </a:p>
        </p:txBody>
      </p:sp>
      <p:sp>
        <p:nvSpPr>
          <p:cNvPr id="3" name="Text Placeholder 2"/>
          <p:cNvSpPr>
            <a:spLocks noGrp="1"/>
          </p:cNvSpPr>
          <p:nvPr>
            <p:ph type="body" sz="quarter" idx="14"/>
          </p:nvPr>
        </p:nvSpPr>
        <p:spPr>
          <a:xfrm>
            <a:off x="665163" y="1728947"/>
            <a:ext cx="9398001" cy="430887"/>
          </a:xfrm>
        </p:spPr>
        <p:txBody>
          <a:bodyPr>
            <a:spAutoFit/>
          </a:bodyPr>
          <a:lstStyle/>
          <a:p>
            <a:r>
              <a:rPr lang="en-US" sz="1400" noProof="0" dirty="0"/>
              <a:t>A violent, momentum-driven unwind across everything AI-adjacent, while energy and value led. Week of 20 July 2026.</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-1.6%</a:t>
            </a:r>
          </a:p>
          <a:p>
            <a:pPr algn="ctr"/>
            <a:r>
              <a:rPr lang="en-US" sz="1200" noProof="0" dirty="0">
                <a:solidFill>
                  <a:srgbClr val="202945"/>
                </a:solidFill>
                <a:latin typeface="Nunito Sans"/>
              </a:rPr>
              <a:t>S&amp;P 500, week</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-9%</a:t>
            </a:r>
          </a:p>
          <a:p>
            <a:pPr algn="ctr"/>
            <a:r>
              <a:rPr lang="en-US" sz="1200" noProof="0" dirty="0">
                <a:solidFill>
                  <a:srgbClr val="202945"/>
                </a:solidFill>
                <a:latin typeface="Nunito Sans"/>
              </a:rPr>
              <a:t>SMH semiconductors, week</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-0.4%</a:t>
            </a:r>
          </a:p>
          <a:p>
            <a:pPr algn="ctr"/>
            <a:r>
              <a:rPr lang="en-US" sz="1200" noProof="0" dirty="0">
                <a:solidFill>
                  <a:srgbClr val="202945"/>
                </a:solidFill>
                <a:latin typeface="Nunito Sans"/>
              </a:rPr>
              <a:t>US CPI, June m/m</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$88</a:t>
            </a:r>
            <a:endParaRPr lang="en-US" sz="2400" noProof="0" dirty="0"/>
          </a:p>
          <a:p>
            <a:pPr algn="ctr"/>
            <a:r>
              <a:rPr lang="en-US" sz="1200" noProof="0" dirty="0">
                <a:solidFill>
                  <a:srgbClr val="202945"/>
                </a:solidFill>
                <a:latin typeface="Nunito Sans"/>
              </a:rPr>
              <a:t>WTI, week's high (+$12)</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Cross-asset scoreboard</a:t>
            </a:r>
          </a:p>
        </p:txBody>
      </p:sp>
      <p:sp>
        <p:nvSpPr>
          <p:cNvPr id="9" name="TextBox"/>
          <p:cNvSpPr txBox="1"/>
          <p:nvPr/>
        </p:nvSpPr>
        <p:spPr>
          <a:xfrm>
            <a:off x="666000" y="4100000"/>
            <a:ext cx="270000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Index</a:t>
            </a:r>
          </a:p>
          <a:p>
            <a:pPr algn="l">
              <a:spcAft>
                <a:spcPts val="600"/>
              </a:spcAft>
            </a:pPr>
            <a:r>
              <a:rPr lang="en-US" sz="1100" b="0" noProof="0" dirty="0">
                <a:solidFill>
                  <a:srgbClr val="202945"/>
                </a:solidFill>
                <a:latin typeface="Nunito Sans"/>
              </a:rPr>
              <a:t>MSCI World</a:t>
            </a:r>
          </a:p>
          <a:p>
            <a:pPr algn="l">
              <a:spcAft>
                <a:spcPts val="600"/>
              </a:spcAft>
            </a:pPr>
            <a:r>
              <a:rPr lang="en-US" sz="1100" b="0" noProof="0" dirty="0">
                <a:solidFill>
                  <a:srgbClr val="202945"/>
                </a:solidFill>
                <a:latin typeface="Nunito Sans"/>
              </a:rPr>
              <a:t>Nasdaq 100</a:t>
            </a:r>
          </a:p>
          <a:p>
            <a:pPr algn="l">
              <a:spcAft>
                <a:spcPts val="600"/>
              </a:spcAft>
            </a:pPr>
            <a:r>
              <a:rPr lang="en-US" sz="1100" b="0" noProof="0" dirty="0">
                <a:solidFill>
                  <a:srgbClr val="202945"/>
                </a:solidFill>
                <a:latin typeface="Nunito Sans"/>
              </a:rPr>
              <a:t>MSCI EM</a:t>
            </a:r>
          </a:p>
          <a:p>
            <a:pPr algn="l">
              <a:spcAft>
                <a:spcPts val="600"/>
              </a:spcAft>
            </a:pPr>
            <a:r>
              <a:rPr lang="en-US" sz="1100" b="0" noProof="0" dirty="0">
                <a:solidFill>
                  <a:srgbClr val="202945"/>
                </a:solidFill>
                <a:latin typeface="Nunito Sans"/>
              </a:rPr>
              <a:t>CSI 300</a:t>
            </a:r>
          </a:p>
          <a:p>
            <a:pPr algn="l">
              <a:spcAft>
                <a:spcPts val="600"/>
              </a:spcAft>
            </a:pPr>
            <a:r>
              <a:rPr lang="en-US" sz="1100" b="0" noProof="0" dirty="0">
                <a:solidFill>
                  <a:srgbClr val="202945"/>
                </a:solidFill>
                <a:latin typeface="Nunito Sans"/>
              </a:rPr>
              <a:t>US Governments</a:t>
            </a:r>
          </a:p>
          <a:p>
            <a:pPr algn="l">
              <a:spcAft>
                <a:spcPts val="600"/>
              </a:spcAft>
            </a:pPr>
            <a:r>
              <a:rPr lang="en-US" sz="1100" b="0" noProof="0" dirty="0">
                <a:solidFill>
                  <a:srgbClr val="202945"/>
                </a:solidFill>
                <a:latin typeface="Nunito Sans"/>
              </a:rPr>
              <a:t>Oil (WTI)</a:t>
            </a:r>
          </a:p>
          <a:p>
            <a:pPr algn="l">
              <a:spcAft>
                <a:spcPts val="600"/>
              </a:spcAft>
            </a:pPr>
            <a:r>
              <a:rPr lang="en-US" sz="1100" b="0" noProof="0" dirty="0">
                <a:solidFill>
                  <a:srgbClr val="202945"/>
                </a:solidFill>
                <a:latin typeface="Nunito Sans"/>
              </a:rPr>
              <a:t>Gold</a:t>
            </a:r>
          </a:p>
          <a:p>
            <a:pPr algn="l">
              <a:spcAft>
                <a:spcPts val="600"/>
              </a:spcAft>
            </a:pPr>
            <a:r>
              <a:rPr lang="en-US" sz="1100" b="0" noProof="0" dirty="0">
                <a:solidFill>
                  <a:srgbClr val="202945"/>
                </a:solidFill>
                <a:latin typeface="Nunito Sans"/>
              </a:rPr>
              <a:t>MSCI World Energy</a:t>
            </a:r>
          </a:p>
          <a:p>
            <a:pPr algn="l">
              <a:spcAft>
                <a:spcPts val="600"/>
              </a:spcAft>
            </a:pPr>
            <a:r>
              <a:rPr lang="en-US" sz="1100" b="0" noProof="0" dirty="0">
                <a:solidFill>
                  <a:srgbClr val="202945"/>
                </a:solidFill>
                <a:latin typeface="Nunito Sans"/>
              </a:rPr>
              <a:t>MSCI World Info Tech</a:t>
            </a:r>
          </a:p>
        </p:txBody>
      </p:sp>
      <p:sp>
        <p:nvSpPr>
          <p:cNvPr id="10" name="TextBox"/>
          <p:cNvSpPr txBox="1"/>
          <p:nvPr/>
        </p:nvSpPr>
        <p:spPr>
          <a:xfrm>
            <a:off x="340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Week</a:t>
            </a:r>
            <a:endParaRPr lang="en-US" sz="1100" noProof="0" dirty="0"/>
          </a:p>
          <a:p>
            <a:pPr algn="r">
              <a:spcAft>
                <a:spcPts val="600"/>
              </a:spcAft>
            </a:pPr>
            <a:r>
              <a:rPr lang="en-US" sz="1100" b="0" noProof="0" dirty="0">
                <a:solidFill>
                  <a:srgbClr val="FF6C0E"/>
                </a:solidFill>
                <a:latin typeface="Nunito Sans"/>
              </a:rPr>
              <a:t>-1.2%</a:t>
            </a:r>
          </a:p>
          <a:p>
            <a:pPr algn="r">
              <a:spcAft>
                <a:spcPts val="600"/>
              </a:spcAft>
            </a:pPr>
            <a:r>
              <a:rPr lang="en-US" sz="1100" b="0" noProof="0" dirty="0">
                <a:solidFill>
                  <a:srgbClr val="FF6C0E"/>
                </a:solidFill>
                <a:latin typeface="Nunito Sans"/>
              </a:rPr>
              <a:t>-4.1%</a:t>
            </a:r>
          </a:p>
          <a:p>
            <a:pPr algn="r">
              <a:spcAft>
                <a:spcPts val="600"/>
              </a:spcAft>
            </a:pPr>
            <a:r>
              <a:rPr lang="en-US" sz="1100" b="0" noProof="0" dirty="0">
                <a:solidFill>
                  <a:srgbClr val="FF6C0E"/>
                </a:solidFill>
                <a:latin typeface="Nunito Sans"/>
              </a:rPr>
              <a:t>-4.1%</a:t>
            </a:r>
          </a:p>
          <a:p>
            <a:pPr algn="r">
              <a:spcAft>
                <a:spcPts val="600"/>
              </a:spcAft>
            </a:pPr>
            <a:r>
              <a:rPr lang="en-US" sz="1100" b="0" noProof="0" dirty="0">
                <a:solidFill>
                  <a:srgbClr val="FF6C0E"/>
                </a:solidFill>
                <a:latin typeface="Nunito Sans"/>
              </a:rPr>
              <a:t>-5.1%</a:t>
            </a:r>
          </a:p>
          <a:p>
            <a:pPr algn="r">
              <a:spcAft>
                <a:spcPts val="600"/>
              </a:spcAft>
            </a:pPr>
            <a:r>
              <a:rPr lang="en-US" sz="1100" b="0" noProof="0" dirty="0">
                <a:solidFill>
                  <a:srgbClr val="3BAF90"/>
                </a:solidFill>
                <a:latin typeface="Nunito Sans"/>
              </a:rPr>
              <a:t>+0.2%</a:t>
            </a:r>
          </a:p>
          <a:p>
            <a:pPr algn="r">
              <a:spcAft>
                <a:spcPts val="600"/>
              </a:spcAft>
            </a:pPr>
            <a:r>
              <a:rPr lang="en-US" sz="1100" b="0" noProof="0" dirty="0">
                <a:solidFill>
                  <a:srgbClr val="3BAF90"/>
                </a:solidFill>
                <a:latin typeface="Nunito Sans"/>
              </a:rPr>
              <a:t>+19.1%</a:t>
            </a:r>
          </a:p>
          <a:p>
            <a:pPr algn="r">
              <a:spcAft>
                <a:spcPts val="600"/>
              </a:spcAft>
            </a:pPr>
            <a:r>
              <a:rPr lang="en-US" sz="1100" b="0" noProof="0" dirty="0">
                <a:solidFill>
                  <a:srgbClr val="3BAF90"/>
                </a:solidFill>
                <a:latin typeface="Nunito Sans"/>
              </a:rPr>
              <a:t>+0.4%</a:t>
            </a:r>
          </a:p>
          <a:p>
            <a:pPr algn="r">
              <a:spcAft>
                <a:spcPts val="600"/>
              </a:spcAft>
            </a:pPr>
            <a:r>
              <a:rPr lang="en-US" sz="1100" b="0" noProof="0" dirty="0">
                <a:solidFill>
                  <a:srgbClr val="3BAF90"/>
                </a:solidFill>
                <a:latin typeface="Nunito Sans"/>
              </a:rPr>
              <a:t>+4.7%</a:t>
            </a:r>
          </a:p>
          <a:p>
            <a:pPr algn="r">
              <a:spcAft>
                <a:spcPts val="600"/>
              </a:spcAft>
            </a:pPr>
            <a:r>
              <a:rPr lang="en-US" sz="1100" b="0" noProof="0" dirty="0">
                <a:solidFill>
                  <a:srgbClr val="FF6C0E"/>
                </a:solidFill>
                <a:latin typeface="Nunito Sans"/>
              </a:rPr>
              <a:t>-4.0%</a:t>
            </a:r>
          </a:p>
        </p:txBody>
      </p:sp>
      <p:sp>
        <p:nvSpPr>
          <p:cNvPr id="11" name="TextBox"/>
          <p:cNvSpPr txBox="1"/>
          <p:nvPr/>
        </p:nvSpPr>
        <p:spPr>
          <a:xfrm>
            <a:off x="426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YTD</a:t>
            </a:r>
            <a:endParaRPr lang="en-US" sz="1100" noProof="0" dirty="0"/>
          </a:p>
          <a:p>
            <a:pPr algn="r">
              <a:spcAft>
                <a:spcPts val="600"/>
              </a:spcAft>
            </a:pPr>
            <a:r>
              <a:rPr lang="en-US" sz="1100" b="0" noProof="0" dirty="0">
                <a:solidFill>
                  <a:srgbClr val="3BAF90"/>
                </a:solidFill>
                <a:latin typeface="Nunito Sans"/>
              </a:rPr>
              <a:t>+9.6%</a:t>
            </a:r>
          </a:p>
          <a:p>
            <a:pPr algn="r">
              <a:spcAft>
                <a:spcPts val="600"/>
              </a:spcAft>
            </a:pPr>
            <a:r>
              <a:rPr lang="en-US" sz="1100" b="0" noProof="0" dirty="0">
                <a:solidFill>
                  <a:srgbClr val="3BAF90"/>
                </a:solidFill>
                <a:latin typeface="Nunito Sans"/>
              </a:rPr>
              <a:t>+13.6%</a:t>
            </a:r>
          </a:p>
          <a:p>
            <a:pPr algn="r">
              <a:spcAft>
                <a:spcPts val="600"/>
              </a:spcAft>
            </a:pPr>
            <a:r>
              <a:rPr lang="en-US" sz="1100" b="0" noProof="0" dirty="0">
                <a:solidFill>
                  <a:srgbClr val="3BAF90"/>
                </a:solidFill>
                <a:latin typeface="Nunito Sans"/>
              </a:rPr>
              <a:t>+16.9%</a:t>
            </a:r>
          </a:p>
          <a:p>
            <a:pPr algn="r">
              <a:spcAft>
                <a:spcPts val="600"/>
              </a:spcAft>
            </a:pPr>
            <a:r>
              <a:rPr lang="en-US" sz="1100" b="0" noProof="0" dirty="0">
                <a:solidFill>
                  <a:srgbClr val="FF6C0E"/>
                </a:solidFill>
                <a:latin typeface="Nunito Sans"/>
              </a:rPr>
              <a:t>-0.8%</a:t>
            </a:r>
          </a:p>
          <a:p>
            <a:pPr algn="r">
              <a:spcAft>
                <a:spcPts val="600"/>
              </a:spcAft>
            </a:pPr>
            <a:r>
              <a:rPr lang="en-US" sz="1100" b="0" noProof="0" dirty="0">
                <a:solidFill>
                  <a:srgbClr val="FF6C0E"/>
                </a:solidFill>
                <a:latin typeface="Nunito Sans"/>
              </a:rPr>
              <a:t>-0.1%</a:t>
            </a:r>
          </a:p>
          <a:p>
            <a:pPr algn="r">
              <a:spcAft>
                <a:spcPts val="600"/>
              </a:spcAft>
            </a:pPr>
            <a:r>
              <a:rPr lang="en-US" sz="1100" b="0" noProof="0" dirty="0">
                <a:solidFill>
                  <a:srgbClr val="3BAF90"/>
                </a:solidFill>
                <a:latin typeface="Nunito Sans"/>
              </a:rPr>
              <a:t>+63.2%</a:t>
            </a:r>
          </a:p>
          <a:p>
            <a:pPr algn="r">
              <a:spcAft>
                <a:spcPts val="600"/>
              </a:spcAft>
            </a:pPr>
            <a:r>
              <a:rPr lang="en-US" sz="1100" b="0" noProof="0" dirty="0">
                <a:solidFill>
                  <a:srgbClr val="FF6C0E"/>
                </a:solidFill>
                <a:latin typeface="Nunito Sans"/>
              </a:rPr>
              <a:t>-7.0%</a:t>
            </a:r>
          </a:p>
          <a:p>
            <a:pPr algn="r">
              <a:spcAft>
                <a:spcPts val="600"/>
              </a:spcAft>
            </a:pPr>
            <a:r>
              <a:rPr lang="en-US" sz="1100" b="0" noProof="0" dirty="0">
                <a:solidFill>
                  <a:srgbClr val="3BAF90"/>
                </a:solidFill>
                <a:latin typeface="Nunito Sans"/>
              </a:rPr>
              <a:t>+29.1%</a:t>
            </a:r>
          </a:p>
          <a:p>
            <a:pPr algn="r">
              <a:spcAft>
                <a:spcPts val="600"/>
              </a:spcAft>
            </a:pPr>
            <a:r>
              <a:rPr lang="en-US" sz="1100" b="0" noProof="0" dirty="0">
                <a:solidFill>
                  <a:srgbClr val="3BAF90"/>
                </a:solidFill>
                <a:latin typeface="Nunito Sans"/>
              </a:rPr>
              <a:t>+16.4%</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Tech and China led the losses</a:t>
            </a:r>
            <a:endParaRPr lang="en-US" sz="1200" noProof="0" dirty="0"/>
          </a:p>
          <a:p>
            <a:pPr algn="l"/>
            <a:r>
              <a:rPr lang="en-US" sz="1100" b="0" noProof="0" dirty="0">
                <a:solidFill>
                  <a:srgbClr val="202945"/>
                </a:solidFill>
                <a:latin typeface="Nunito Sans"/>
              </a:rPr>
              <a:t>CSI 300, Nasdaq 100 and MSCI EM sat at the bottom of the board; the SOX closed more than 20% below its June record.</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Value reasserting itself</a:t>
            </a:r>
            <a:endParaRPr lang="en-US" sz="1200" noProof="0" dirty="0"/>
          </a:p>
          <a:p>
            <a:pPr algn="l"/>
            <a:r>
              <a:rPr lang="en-US" sz="1100" b="0" noProof="0" dirty="0">
                <a:solidFill>
                  <a:srgbClr val="202945"/>
                </a:solidFill>
                <a:latin typeface="Nunito Sans"/>
              </a:rPr>
              <a:t>Energy, Financials and Consumer Staples were among the only sectors positive on the week, while Information Technology fell 4.0%.</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Fixed income stayed defensive</a:t>
            </a:r>
            <a:endParaRPr lang="en-US" sz="1200" noProof="0" dirty="0"/>
          </a:p>
          <a:p>
            <a:pPr algn="l"/>
            <a:r>
              <a:rPr lang="en-US" sz="1100" b="0" noProof="0" dirty="0">
                <a:solidFill>
                  <a:srgbClr val="202945"/>
                </a:solidFill>
                <a:latin typeface="Nunito Sans"/>
              </a:rPr>
              <a:t>US Governments and USD high yield were little changed; European credit slipped on the energy-driven inflation scare.</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drove the move: four forces</a:t>
            </a:r>
          </a:p>
        </p:txBody>
      </p:sp>
      <p:sp>
        <p:nvSpPr>
          <p:cNvPr id="3" name="Text Placeholder 2">
            <a:extLst>
              <a:ext uri="{FF2B5EF4-FFF2-40B4-BE49-F238E27FC236}">
                <a16:creationId xmlns:a16="http://schemas.microsoft.com/office/drawing/2014/main" id="{BC7CB425-A197-FF68-020E-2E808D0A6105}"/>
              </a:ext>
            </a:extLst>
          </p:cNvPr>
          <p:cNvSpPr>
            <a:spLocks noGrp="1"/>
          </p:cNvSpPr>
          <p:nvPr>
            <p:ph type="body" sz="quarter" idx="14"/>
          </p:nvPr>
        </p:nvSpPr>
        <p:spPr>
          <a:xfrm>
            <a:off x="665163" y="1699200"/>
            <a:ext cx="9398001" cy="251511"/>
          </a:xfrm>
        </p:spPr>
        <p:txBody>
          <a:bodyPr/>
          <a:lstStyle/>
          <a:p>
            <a:r>
              <a:rPr lang="en-US" sz="1400" noProof="0" dirty="0"/>
              <a:t>A Beijing lab moved markets more than the Fed did; oil, momentum and Korean leverage did the rest.</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Middle East escalation</a:t>
            </a:r>
            <a:endParaRPr lang="en-US" sz="1200" noProof="0" dirty="0">
              <a:solidFill>
                <a:schemeClr val="tx2"/>
              </a:solidFill>
            </a:endParaRPr>
          </a:p>
          <a:p>
            <a:pPr algn="l">
              <a:spcAft>
                <a:spcPts val="800"/>
              </a:spcAft>
            </a:pPr>
            <a:r>
              <a:rPr lang="en-US" sz="1100" b="0" noProof="0" dirty="0">
                <a:solidFill>
                  <a:srgbClr val="202945"/>
                </a:solidFill>
                <a:latin typeface="Nunito Sans"/>
              </a:rPr>
              <a:t>A seventh night of US-Iran strikes pushed WTI up $12 to $88, its biggest weekly gain since the war began. Hormuz cargo crossings collapsed to 2 vessels against a one-year average of 72.</a:t>
            </a:r>
          </a:p>
          <a:p>
            <a:pPr>
              <a:spcAft>
                <a:spcPts val="800"/>
              </a:spcAft>
            </a:pPr>
            <a:r>
              <a:rPr lang="en-US" sz="1200" b="1" noProof="0" dirty="0">
                <a:solidFill>
                  <a:schemeClr val="tx2"/>
                </a:solidFill>
                <a:latin typeface="Nunito Sans ExtraBold"/>
              </a:rPr>
              <a:t>$88 WTI  </a:t>
            </a:r>
          </a:p>
          <a:p>
            <a:pPr>
              <a:spcAft>
                <a:spcPts val="800"/>
              </a:spcAft>
            </a:pPr>
            <a:r>
              <a:rPr lang="en-US" sz="1200" b="1" noProof="0" dirty="0">
                <a:solidFill>
                  <a:schemeClr val="tx2"/>
                </a:solidFill>
                <a:latin typeface="Nunito Sans ExtraBold"/>
              </a:rPr>
              <a:t>Hormuz traffic near zero</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China closes the AI gap</a:t>
            </a:r>
          </a:p>
          <a:p>
            <a:pPr algn="l">
              <a:spcAft>
                <a:spcPts val="800"/>
              </a:spcAft>
            </a:pPr>
            <a:r>
              <a:rPr lang="en-US" sz="1100" b="0" noProof="0" dirty="0">
                <a:solidFill>
                  <a:srgbClr val="202945"/>
                </a:solidFill>
                <a:latin typeface="Nunito Sans"/>
              </a:rPr>
              <a:t>Moonshot AI's Kimi K3 took the number one spot on the Frontend Code Arena leaderboard, a 17-place jump, ahead of every closed </a:t>
            </a:r>
            <a:r>
              <a:rPr lang="en-US" sz="1100" b="0" noProof="0" dirty="0">
                <a:solidFill>
                  <a:schemeClr val="tx2"/>
                </a:solidFill>
                <a:latin typeface="Nunito Sans"/>
              </a:rPr>
              <a:t>US frontier model, read as a second "DeepSeek moment".</a:t>
            </a:r>
          </a:p>
          <a:p>
            <a:pPr>
              <a:spcAft>
                <a:spcPts val="800"/>
              </a:spcAft>
            </a:pPr>
            <a:r>
              <a:rPr lang="en-US" sz="1200" b="1" noProof="0" dirty="0">
                <a:solidFill>
                  <a:schemeClr val="tx2"/>
                </a:solidFill>
                <a:latin typeface="Nunito Sans ExtraBold"/>
              </a:rPr>
              <a:t>Kimi K3: 18th to 1st</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Momentum unwind, not capex unwind</a:t>
            </a:r>
          </a:p>
          <a:p>
            <a:pPr algn="l">
              <a:spcAft>
                <a:spcPts val="800"/>
              </a:spcAft>
            </a:pPr>
            <a:r>
              <a:rPr lang="en-US" sz="1100" b="0" noProof="0" dirty="0">
                <a:solidFill>
                  <a:srgbClr val="202945"/>
                </a:solidFill>
                <a:latin typeface="Nunito Sans"/>
              </a:rPr>
              <a:t>Goldman's high-beta momentum basket heads for its worst month in roughly 17 years; $3.3tn erased from global chip stocks since 22 </a:t>
            </a:r>
            <a:r>
              <a:rPr lang="en-US" sz="1100" b="0" noProof="0" dirty="0">
                <a:solidFill>
                  <a:schemeClr val="tx2"/>
                </a:solidFill>
                <a:latin typeface="Nunito Sans"/>
              </a:rPr>
              <a:t>June. </a:t>
            </a:r>
            <a:r>
              <a:rPr lang="en-US" sz="1100" b="0" noProof="0" dirty="0" err="1">
                <a:solidFill>
                  <a:schemeClr val="tx2"/>
                </a:solidFill>
                <a:latin typeface="Nunito Sans"/>
              </a:rPr>
              <a:t>Hyperscaler</a:t>
            </a:r>
            <a:r>
              <a:rPr lang="en-US" sz="1100" b="0" noProof="0" dirty="0">
                <a:solidFill>
                  <a:schemeClr val="tx2"/>
                </a:solidFill>
                <a:latin typeface="Nunito Sans"/>
              </a:rPr>
              <a:t> backlogs still point to an intact $730bn buildout.</a:t>
            </a:r>
          </a:p>
          <a:p>
            <a:pPr>
              <a:spcAft>
                <a:spcPts val="800"/>
              </a:spcAft>
            </a:pPr>
            <a:r>
              <a:rPr lang="en-US" sz="1200" b="1" noProof="0" dirty="0">
                <a:solidFill>
                  <a:schemeClr val="tx2"/>
                </a:solidFill>
                <a:latin typeface="Nunito Sans ExtraBold"/>
              </a:rPr>
              <a:t>-$3.3tn chip stocks   </a:t>
            </a:r>
          </a:p>
          <a:p>
            <a:pPr>
              <a:spcAft>
                <a:spcPts val="800"/>
              </a:spcAft>
            </a:pPr>
            <a:r>
              <a:rPr lang="en-US" sz="1200" b="1" noProof="0" dirty="0">
                <a:solidFill>
                  <a:schemeClr val="tx2"/>
                </a:solidFill>
                <a:latin typeface="Nunito Sans ExtraBold"/>
              </a:rPr>
              <a:t>SOX -20%</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Korea's leverage problem</a:t>
            </a:r>
          </a:p>
          <a:p>
            <a:pPr algn="l">
              <a:spcAft>
                <a:spcPts val="800"/>
              </a:spcAft>
            </a:pPr>
            <a:r>
              <a:rPr lang="en-US" sz="1100" b="0" noProof="0" dirty="0">
                <a:solidFill>
                  <a:srgbClr val="202945"/>
                </a:solidFill>
                <a:latin typeface="Nunito Sans"/>
              </a:rPr>
              <a:t>Heavy foreign selling left Korea dependent on retail investors and single-stock leveraged ETFs tied to Samsung and SK Hynix, turning falling prices into forced selling. Banks now push a rotation </a:t>
            </a:r>
            <a:r>
              <a:rPr lang="en-US" sz="1100" b="0" noProof="0" dirty="0">
                <a:solidFill>
                  <a:schemeClr val="tx2"/>
                </a:solidFill>
                <a:latin typeface="Nunito Sans"/>
              </a:rPr>
              <a:t>into China.</a:t>
            </a:r>
          </a:p>
          <a:p>
            <a:pPr>
              <a:spcAft>
                <a:spcPts val="800"/>
              </a:spcAft>
            </a:pPr>
            <a:r>
              <a:rPr lang="en-US" sz="1200" b="1" noProof="0" dirty="0">
                <a:solidFill>
                  <a:schemeClr val="tx2"/>
                </a:solidFill>
                <a:latin typeface="Nunito Sans ExtraBold"/>
              </a:rPr>
              <a:t>Kospi was +88% YTD at its peak</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June CPI fell 0.4% m/m (annual rate down from 4.2% to 3.5%) and July hike odds collapsed from 42% to 17%, but Chair Warsh stayed firm on inflation.</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2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2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Moderate - 39%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Medium to long term ( 5 to 10 years)</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EUR</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Moderate</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Regular distribution but stable capital</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5991063" y="3729580"/>
              <a:ext cx="314873" cy="314873"/>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p>
              <a:r>
                <a:rPr lang="en-US" sz="1200" noProof="0" dirty="0"/>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68545" y="2916562"/>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1"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911796" y="3187360"/>
              <a:ext cx="251048" cy="251047"/>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p>
              <a:r>
                <a:rPr lang="en-US" sz="1100" noProof="0" dirty="0"/>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cash and fixed income</a:t>
            </a:r>
          </a:p>
        </p:txBody>
      </p:sp>
      <p:sp>
        <p:nvSpPr>
          <p:cNvPr id="3" name="Text Placeholder 2"/>
          <p:cNvSpPr>
            <a:spLocks noGrp="1"/>
          </p:cNvSpPr>
          <p:nvPr>
            <p:ph type="body" sz="quarter" idx="14"/>
          </p:nvPr>
        </p:nvSpPr>
        <p:spPr>
          <a:xfrm>
            <a:off x="665163" y="1645086"/>
            <a:ext cx="9398001" cy="251511"/>
          </a:xfrm>
        </p:spPr>
        <p:txBody>
          <a:bodyPr/>
          <a:lstStyle/>
          <a:p>
            <a:r>
              <a:rPr lang="en-US" sz="1400" noProof="0" dirty="0"/>
              <a:t>All positions of the proposed USD 7.0m allocation, part 1 of 2. Weights as at 6 August 2026.</a:t>
            </a:r>
          </a:p>
        </p:txBody>
      </p:sp>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equity, alternatives and commodities</a:t>
            </a:r>
          </a:p>
        </p:txBody>
      </p:sp>
      <p:sp>
        <p:nvSpPr>
          <p:cNvPr id="3" name="Text Placeholder 2"/>
          <p:cNvSpPr>
            <a:spLocks noGrp="1"/>
          </p:cNvSpPr>
          <p:nvPr>
            <p:ph type="body" sz="quarter" idx="14"/>
          </p:nvPr>
        </p:nvSpPr>
        <p:spPr>
          <a:xfrm>
            <a:off x="665163" y="1658941"/>
            <a:ext cx="9398001" cy="251511"/>
          </a:xfrm>
        </p:spPr>
        <p:txBody>
          <a:bodyPr/>
          <a:lstStyle/>
          <a:p>
            <a:r>
              <a:rPr lang="en-US" sz="1400" noProof="0" dirty="0"/>
              <a:t>All positions of the proposed USD 7.0m allocation, part 2 of 2. Weights as at 6 August 2026.</a:t>
            </a:r>
          </a:p>
        </p:txBody>
      </p:sp>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USD 7.0M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36</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7.9%</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86.6%</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2.4%</a:t>
            </a:r>
          </a:p>
          <a:p>
            <a:pPr algn="ctr"/>
            <a:r>
              <a:rPr lang="en-US" sz="1400" b="0" noProof="0" dirty="0">
                <a:solidFill>
                  <a:srgbClr val="202945"/>
                </a:solidFill>
                <a:latin typeface="Nunito Sans"/>
              </a:rPr>
              <a:t>Running yield</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8"/>
          <p:cNvSpPr txBox="1"/>
          <p:nvPr/>
        </p:nvSpPr>
        <p:spPr>
          <a:xfrm>
            <a:off x="9900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Allocation by
asset class</a:t>
            </a:r>
          </a:p>
        </p:txBody>
      </p:sp>
      <p:sp>
        <p:nvSpPr>
          <p:cNvPr id="17" name="TextBox 16"/>
          <p:cNvSpPr txBox="1"/>
          <p:nvPr/>
        </p:nvSpPr>
        <p:spPr>
          <a:xfrm>
            <a:off x="59436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&amp; sector exposure</a:t>
            </a:r>
          </a:p>
        </p:txBody>
      </p:sp>
      <p:sp>
        <p:nvSpPr>
          <p:cNvPr id="3" name="Text Placeholder 2"/>
          <p:cNvSpPr>
            <a:spLocks noGrp="1"/>
          </p:cNvSpPr>
          <p:nvPr>
            <p:ph type="body" sz="quarter" idx="14"/>
          </p:nvPr>
        </p:nvSpPr>
        <p:spPr>
          <a:xfrm>
            <a:off x="665163" y="1652014"/>
            <a:ext cx="9398001" cy="251511"/>
          </a:xfrm>
        </p:spPr>
        <p:txBody>
          <a:bodyPr/>
          <a:lstStyle/>
          <a:p>
            <a:r>
              <a:rPr lang="en-US" sz="1400" noProof="0" dirty="0"/>
              <a:t>Regional and sector breakdown (look-through where available).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Geographic exposure</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Sector exposure</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graphicFrame>
        <p:nvGraphicFramePr>
          <p:cNvPr id="7" name="Table 6"/>
          <p:cNvGraphicFramePr>
            <a:graphicFrameLocks noGrp="1"/>
          </p:cNvGraphicFramePr>
          <p:nvPr>
            <p:custDataLst>
              <p:tags r:id="rId1"/>
            </p:custDataLst>
            <p:extLst>
              <p:ext uri="{D42A27DB-BD31-4B8C-83A1-F6EECF244321}">
                <p14:modId xmlns:p14="http://schemas.microsoft.com/office/powerpoint/2010/main" val="330564794"/>
              </p:ext>
            </p:extLst>
          </p:nvPr>
        </p:nvGraphicFramePr>
        <p:xfrm>
          <a:off x="666000" y="4860000"/>
          <a:ext cx="9396001" cy="1879200"/>
        </p:xfrm>
        <a:graphic>
          <a:graphicData uri="http://schemas.openxmlformats.org/drawingml/2006/table">
            <a:tbl>
              <a:tblPr firstRow="1" bandRow="1">
                <a:tableStyleId>{5C22544A-7EE6-4342-B048-85BDC9FD1C3A}</a:tableStyleId>
              </a:tblPr>
              <a:tblGrid>
                <a:gridCol w="2645091">
                  <a:extLst>
                    <a:ext uri="{9D8B030D-6E8A-4147-A177-3AD203B41FA5}">
                      <a16:colId xmlns:a16="http://schemas.microsoft.com/office/drawing/2014/main" val="20000"/>
                    </a:ext>
                  </a:extLst>
                </a:gridCol>
                <a:gridCol w="872982">
                  <a:extLst>
                    <a:ext uri="{9D8B030D-6E8A-4147-A177-3AD203B41FA5}">
                      <a16:colId xmlns:a16="http://schemas.microsoft.com/office/drawing/2014/main" val="20001"/>
                    </a:ext>
                  </a:extLst>
                </a:gridCol>
                <a:gridCol w="775854">
                  <a:extLst>
                    <a:ext uri="{9D8B030D-6E8A-4147-A177-3AD203B41FA5}">
                      <a16:colId xmlns:a16="http://schemas.microsoft.com/office/drawing/2014/main" val="20002"/>
                    </a:ext>
                  </a:extLst>
                </a:gridCol>
                <a:gridCol w="940359">
                  <a:extLst>
                    <a:ext uri="{9D8B030D-6E8A-4147-A177-3AD203B41FA5}">
                      <a16:colId xmlns:a16="http://schemas.microsoft.com/office/drawing/2014/main" val="872078039"/>
                    </a:ext>
                  </a:extLst>
                </a:gridCol>
                <a:gridCol w="1183908">
                  <a:extLst>
                    <a:ext uri="{9D8B030D-6E8A-4147-A177-3AD203B41FA5}">
                      <a16:colId xmlns:a16="http://schemas.microsoft.com/office/drawing/2014/main" val="3082724075"/>
                    </a:ext>
                  </a:extLst>
                </a:gridCol>
                <a:gridCol w="1251958">
                  <a:extLst>
                    <a:ext uri="{9D8B030D-6E8A-4147-A177-3AD203B41FA5}">
                      <a16:colId xmlns:a16="http://schemas.microsoft.com/office/drawing/2014/main" val="2004377814"/>
                    </a:ext>
                  </a:extLst>
                </a:gridCol>
                <a:gridCol w="1725849">
                  <a:extLst>
                    <a:ext uri="{9D8B030D-6E8A-4147-A177-3AD203B41FA5}">
                      <a16:colId xmlns:a16="http://schemas.microsoft.com/office/drawing/2014/main" val="3250012267"/>
                    </a:ext>
                  </a:extLst>
                </a:gridCol>
              </a:tblGrid>
              <a:tr h="324000">
                <a:tc>
                  <a:txBody>
                    <a:bodyPr/>
                    <a:lstStyle/>
                    <a:p>
                      <a:pPr algn="l"/>
                      <a:r>
                        <a:rPr lang="en-US" sz="11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Share</a:t>
                      </a:r>
                    </a:p>
                  </a:txBody>
                  <a:tcPr marL="54000" marR="54000" marT="18000" marB="18000" anchor="ctr">
                    <a:solidFill>
                      <a:srgbClr val="FFC545"/>
                    </a:solidFill>
                  </a:tcPr>
                </a:tc>
                <a:tc>
                  <a:txBody>
                    <a:bodyPr/>
                    <a:lstStyle/>
                    <a:p>
                      <a:pPr algn="r"/>
                      <a:r>
                        <a:rPr lang="en-US" sz="1100" b="1" noProof="0">
                          <a:solidFill>
                            <a:srgbClr val="202945"/>
                          </a:solidFill>
                          <a:latin typeface="Nunito Sans"/>
                        </a:rPr>
                        <a:t>Duration</a:t>
                      </a:r>
                    </a:p>
                  </a:txBody>
                  <a:tcPr marL="54000" marR="54000" marT="18000" marB="18000" anchor="ctr">
                    <a:solidFill>
                      <a:srgbClr val="FFC545"/>
                    </a:solidFill>
                  </a:tcPr>
                </a:tc>
                <a:tc>
                  <a:txBody>
                    <a:bodyPr/>
                    <a:lstStyle/>
                    <a:p>
                      <a:pPr algn="r"/>
                      <a:r>
                        <a:rPr lang="en-US" sz="1100" b="1" noProof="0">
                          <a:solidFill>
                            <a:srgbClr val="202945"/>
                          </a:solidFill>
                          <a:latin typeface="Nunito Sans"/>
                        </a:rPr>
                        <a:t>Yield</a:t>
                      </a:r>
                    </a:p>
                  </a:txBody>
                  <a:tcPr marL="54000" marR="54000" marT="18000" marB="18000" anchor="ctr">
                    <a:solidFill>
                      <a:srgbClr val="FFC545"/>
                    </a:solidFill>
                  </a:tcPr>
                </a:tc>
                <a:tc>
                  <a:txBody>
                    <a:bodyPr/>
                    <a:lstStyle/>
                    <a:p>
                      <a:pPr algn="r"/>
                      <a:r>
                        <a:rPr lang="en-US" sz="1100" b="1" noProof="0">
                          <a:solidFill>
                            <a:srgbClr val="202945"/>
                          </a:solidFill>
                          <a:latin typeface="+mn-lt"/>
                        </a:rPr>
                        <a:t>Price</a:t>
                      </a:r>
                      <a:endParaRPr lang="en-US" sz="1100" b="1" noProof="0">
                        <a:solidFill>
                          <a:srgbClr val="202945"/>
                        </a:solidFill>
                        <a:latin typeface="Nunito Sans"/>
                      </a:endParaRPr>
                    </a:p>
                  </a:txBody>
                  <a:tcPr marL="54000" marR="54000" marT="18000" marB="18000" anchor="ctr">
                    <a:solidFill>
                      <a:srgbClr val="FFC545"/>
                    </a:solidFill>
                  </a:tcPr>
                </a:tc>
                <a:tc>
                  <a:txBody>
                    <a:bodyPr/>
                    <a:lstStyle/>
                    <a:p>
                      <a:pPr algn="r"/>
                      <a:r>
                        <a:rPr lang="en-US" sz="1100" b="1" noProof="0">
                          <a:solidFill>
                            <a:srgbClr val="202945"/>
                          </a:solidFill>
                          <a:latin typeface="Nunito Sans"/>
                        </a:rPr>
                        <a:t>Bid ask</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dirty="0" err="1">
                          <a:solidFill>
                            <a:srgbClr val="202945"/>
                          </a:solidFill>
                          <a:latin typeface="Nunito Sans"/>
                        </a:rPr>
                        <a:t>Syz</a:t>
                      </a:r>
                      <a:r>
                        <a:rPr lang="en-US" sz="1000" b="0" noProof="0" dirty="0">
                          <a:solidFill>
                            <a:srgbClr val="202945"/>
                          </a:solidFill>
                          <a:latin typeface="Nunito Sans"/>
                        </a:rPr>
                        <a:t> Emerging Market Corporate Bond Cert</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384k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9.9%</a:t>
                      </a:r>
                    </a:p>
                  </a:txBody>
                  <a:tcPr marL="54000" marR="54000" marT="18000" marB="18000" anchor="ctr">
                    <a:solidFill>
                      <a:srgbClr val="FFFFFF"/>
                    </a:solidFill>
                  </a:tcPr>
                </a:tc>
                <a:tc>
                  <a:txBody>
                    <a:bodyPr/>
                    <a:lstStyle/>
                    <a:p>
                      <a:pPr algn="r"/>
                      <a:r>
                        <a:rPr lang="en-US" sz="1000" b="0" noProof="0">
                          <a:solidFill>
                            <a:srgbClr val="202945"/>
                          </a:solidFill>
                          <a:latin typeface="Nunito Sans"/>
                        </a:rPr>
                        <a:t>3.57</a:t>
                      </a:r>
                    </a:p>
                  </a:txBody>
                  <a:tcPr marL="54000" marR="54000" marT="18000" marB="18000" anchor="ctr">
                    <a:solidFill>
                      <a:srgbClr val="FFFFFF"/>
                    </a:solidFill>
                  </a:tcPr>
                </a:tc>
                <a:tc>
                  <a:txBody>
                    <a:bodyPr/>
                    <a:lstStyle/>
                    <a:p>
                      <a:pPr algn="r"/>
                      <a:r>
                        <a:rPr lang="en-US" sz="1000" b="0" noProof="0">
                          <a:solidFill>
                            <a:srgbClr val="202945"/>
                          </a:solidFill>
                          <a:latin typeface="Nunito Sans"/>
                        </a:rPr>
                        <a:t>3.57</a:t>
                      </a:r>
                    </a:p>
                  </a:txBody>
                  <a:tcPr marL="54000" marR="54000" marT="18000" marB="18000" anchor="ctr">
                    <a:solidFill>
                      <a:srgbClr val="FFFFFF"/>
                    </a:solidFill>
                  </a:tcPr>
                </a:tc>
                <a:tc>
                  <a:txBody>
                    <a:bodyPr/>
                    <a:lstStyle/>
                    <a:p>
                      <a:pPr algn="r"/>
                      <a:r>
                        <a:rPr lang="en-US" sz="1000" b="0" noProof="0">
                          <a:solidFill>
                            <a:srgbClr val="202945"/>
                          </a:solidFill>
                          <a:latin typeface="Nunito Sans"/>
                        </a:rPr>
                        <a:t>99.79</a:t>
                      </a:r>
                    </a:p>
                  </a:txBody>
                  <a:tcPr marL="54000" marR="54000" marT="18000" marB="18000" anchor="ctr">
                    <a:solidFill>
                      <a:srgbClr val="FFFFFF"/>
                    </a:solidFill>
                  </a:tcPr>
                </a:tc>
                <a:tc>
                  <a:txBody>
                    <a:bodyPr/>
                    <a:lstStyle/>
                    <a:p>
                      <a:pPr algn="r"/>
                      <a:r>
                        <a:rPr lang="en-US" sz="1000" b="0" noProof="0">
                          <a:solidFill>
                            <a:srgbClr val="202945"/>
                          </a:solidFill>
                          <a:latin typeface="Nunito Sans"/>
                        </a:rPr>
                        <a:t>Bloomberg</a:t>
                      </a:r>
                    </a:p>
                  </a:txBody>
                  <a:tcPr marL="54000" marR="54000" marT="18000" marB="18000" anchor="ctr">
                    <a:solidFill>
                      <a:srgbClr val="FFFFFF"/>
                    </a:solidFill>
                  </a:tcPr>
                </a:tc>
                <a:extLst>
                  <a:ext uri="{0D108BD9-81ED-4DB2-BD59-A6C34878D82A}">
                    <a16:rowId xmlns:a16="http://schemas.microsoft.com/office/drawing/2014/main" val="10001"/>
                  </a:ext>
                </a:extLst>
              </a:tr>
              <a:tr h="259200">
                <a:tc>
                  <a:txBody>
                    <a:bodyPr/>
                    <a:lstStyle/>
                    <a:p>
                      <a:pPr algn="l"/>
                      <a:r>
                        <a:rPr lang="en-US" sz="1000" b="0" noProof="0" dirty="0">
                          <a:solidFill>
                            <a:srgbClr val="202945"/>
                          </a:solidFill>
                          <a:latin typeface="Nunito Sans"/>
                        </a:rPr>
                        <a:t>BNY Mellon Global Funds PLC - BN…</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USD 279k</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7.2%</a:t>
                      </a:r>
                    </a:p>
                  </a:txBody>
                  <a:tcPr marL="54000" marR="54000" marT="18000" marB="18000" anchor="ctr">
                    <a:solidFill>
                      <a:srgbClr val="F5F6F8"/>
                    </a:solidFill>
                  </a:tcPr>
                </a:tc>
                <a:tc>
                  <a:txBody>
                    <a:bodyPr/>
                    <a:lstStyle/>
                    <a:p>
                      <a:pPr algn="r"/>
                      <a:r>
                        <a:rPr lang="en-US" sz="1000" b="0" noProof="0">
                          <a:solidFill>
                            <a:srgbClr val="202945"/>
                          </a:solidFill>
                          <a:latin typeface="Nunito Sans"/>
                        </a:rPr>
                        <a:t>4.50</a:t>
                      </a:r>
                    </a:p>
                  </a:txBody>
                  <a:tcPr marL="54000" marR="54000" marT="18000" marB="18000" anchor="ctr">
                    <a:solidFill>
                      <a:srgbClr val="F5F6F8"/>
                    </a:solidFill>
                  </a:tcPr>
                </a:tc>
                <a:tc>
                  <a:txBody>
                    <a:bodyPr/>
                    <a:lstStyle/>
                    <a:p>
                      <a:pPr algn="r"/>
                      <a:r>
                        <a:rPr lang="en-US" sz="1000" b="0" noProof="0">
                          <a:solidFill>
                            <a:srgbClr val="202945"/>
                          </a:solidFill>
                          <a:latin typeface="Nunito Sans"/>
                        </a:rPr>
                        <a:t>3.40</a:t>
                      </a:r>
                    </a:p>
                  </a:txBody>
                  <a:tcPr marL="54000" marR="54000" marT="18000" marB="18000" anchor="ctr">
                    <a:solidFill>
                      <a:srgbClr val="F5F6F8"/>
                    </a:solidFill>
                  </a:tcPr>
                </a:tc>
                <a:tc>
                  <a:txBody>
                    <a:bodyPr/>
                    <a:lstStyle/>
                    <a:p>
                      <a:pPr algn="r"/>
                      <a:r>
                        <a:rPr lang="en-US" sz="1000" b="0" noProof="0">
                          <a:solidFill>
                            <a:srgbClr val="202945"/>
                          </a:solidFill>
                          <a:latin typeface="Nunito Sans"/>
                        </a:rPr>
                        <a:t>98.47</a:t>
                      </a:r>
                    </a:p>
                  </a:txBody>
                  <a:tcPr marL="54000" marR="54000" marT="18000" marB="18000" anchor="ctr">
                    <a:solidFill>
                      <a:srgbClr val="F5F6F8"/>
                    </a:solidFill>
                  </a:tcPr>
                </a:tc>
                <a:tc>
                  <a:txBody>
                    <a:bodyPr/>
                    <a:lstStyle/>
                    <a:p>
                      <a:pPr algn="r"/>
                      <a:endParaRPr lang="en-US" sz="1000" b="0" noProof="0">
                        <a:solidFill>
                          <a:srgbClr val="202945"/>
                        </a:solidFill>
                        <a:latin typeface="Nunito Sans"/>
                      </a:endParaRPr>
                    </a:p>
                  </a:txBody>
                  <a:tcPr marL="54000" marR="54000" marT="18000" marB="18000" anchor="ctr">
                    <a:solidFill>
                      <a:srgbClr val="F5F6F8"/>
                    </a:solidFill>
                  </a:tcPr>
                </a:tc>
                <a:extLst>
                  <a:ext uri="{0D108BD9-81ED-4DB2-BD59-A6C34878D82A}">
                    <a16:rowId xmlns:a16="http://schemas.microsoft.com/office/drawing/2014/main" val="10002"/>
                  </a:ext>
                </a:extLst>
              </a:tr>
              <a:tr h="259200">
                <a:tc>
                  <a:txBody>
                    <a:bodyPr/>
                    <a:lstStyle/>
                    <a:p>
                      <a:pPr algn="l"/>
                      <a:r>
                        <a:rPr lang="en-US" sz="1000" b="0" noProof="0" dirty="0">
                          <a:solidFill>
                            <a:srgbClr val="202945"/>
                          </a:solidFill>
                          <a:latin typeface="Nunito Sans"/>
                        </a:rPr>
                        <a:t>Repsol E&amp;P Capital Markets US LL…</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201k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5.2%</a:t>
                      </a:r>
                    </a:p>
                  </a:txBody>
                  <a:tcPr marL="54000" marR="54000" marT="18000" marB="18000" anchor="ctr">
                    <a:solidFill>
                      <a:srgbClr val="FFFFFF"/>
                    </a:solidFill>
                  </a:tcPr>
                </a:tc>
                <a:tc>
                  <a:txBody>
                    <a:bodyPr/>
                    <a:lstStyle/>
                    <a:p>
                      <a:pPr algn="r"/>
                      <a:r>
                        <a:rPr lang="en-US" sz="1000" b="0" noProof="0">
                          <a:solidFill>
                            <a:srgbClr val="202945"/>
                          </a:solidFill>
                          <a:latin typeface="Nunito Sans"/>
                        </a:rPr>
                        <a:t>3.74</a:t>
                      </a:r>
                    </a:p>
                  </a:txBody>
                  <a:tcPr marL="54000" marR="54000" marT="18000" marB="18000" anchor="ctr">
                    <a:solidFill>
                      <a:srgbClr val="FFFFFF"/>
                    </a:solidFill>
                  </a:tcPr>
                </a:tc>
                <a:tc>
                  <a:txBody>
                    <a:bodyPr/>
                    <a:lstStyle/>
                    <a:p>
                      <a:pPr algn="r"/>
                      <a:r>
                        <a:rPr lang="en-US" sz="1000" b="0" noProof="0">
                          <a:solidFill>
                            <a:srgbClr val="202945"/>
                          </a:solidFill>
                          <a:latin typeface="Nunito Sans"/>
                        </a:rPr>
                        <a:t>3.57</a:t>
                      </a:r>
                    </a:p>
                  </a:txBody>
                  <a:tcPr marL="54000" marR="54000" marT="18000" marB="18000" anchor="ctr">
                    <a:solidFill>
                      <a:srgbClr val="FFFFFF"/>
                    </a:solidFill>
                  </a:tcPr>
                </a:tc>
                <a:tc>
                  <a:txBody>
                    <a:bodyPr/>
                    <a:lstStyle/>
                    <a:p>
                      <a:pPr algn="r"/>
                      <a:r>
                        <a:rPr lang="en-US" sz="1000" b="0" noProof="0">
                          <a:solidFill>
                            <a:srgbClr val="202945"/>
                          </a:solidFill>
                          <a:latin typeface="Nunito Sans"/>
                        </a:rPr>
                        <a:t>98.69</a:t>
                      </a:r>
                    </a:p>
                  </a:txBody>
                  <a:tcPr marL="54000" marR="54000" marT="18000" marB="18000" anchor="ctr">
                    <a:solidFill>
                      <a:srgbClr val="FFFFFF"/>
                    </a:solidFill>
                  </a:tcPr>
                </a:tc>
                <a:tc>
                  <a:txBody>
                    <a:bodyPr/>
                    <a:lstStyle/>
                    <a:p>
                      <a:pPr algn="r"/>
                      <a:endParaRPr lang="en-US" sz="1000" b="0" noProof="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3"/>
                  </a:ext>
                </a:extLst>
              </a:tr>
              <a:tr h="259200">
                <a:tc>
                  <a:txBody>
                    <a:bodyPr/>
                    <a:lstStyle/>
                    <a:p>
                      <a:pPr algn="l"/>
                      <a:r>
                        <a:rPr lang="en-US" sz="1000" b="0" noProof="0" dirty="0">
                          <a:solidFill>
                            <a:srgbClr val="202945"/>
                          </a:solidFill>
                          <a:latin typeface="Nunito Sans"/>
                        </a:rPr>
                        <a:t>Africa Finance Corp. 5.375% 23-J…</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USD 200k</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5.2%</a:t>
                      </a:r>
                    </a:p>
                  </a:txBody>
                  <a:tcPr marL="54000" marR="54000" marT="18000" marB="18000" anchor="ctr">
                    <a:solidFill>
                      <a:srgbClr val="F5F6F8"/>
                    </a:solidFill>
                  </a:tcPr>
                </a:tc>
                <a:tc>
                  <a:txBody>
                    <a:bodyPr/>
                    <a:lstStyle/>
                    <a:p>
                      <a:pPr algn="r"/>
                      <a:r>
                        <a:rPr lang="en-US" sz="1000" b="0" noProof="0">
                          <a:solidFill>
                            <a:srgbClr val="202945"/>
                          </a:solidFill>
                          <a:latin typeface="Nunito Sans"/>
                        </a:rPr>
                        <a:t>4.85</a:t>
                      </a:r>
                    </a:p>
                  </a:txBody>
                  <a:tcPr marL="54000" marR="54000" marT="18000" marB="18000" anchor="ctr">
                    <a:solidFill>
                      <a:srgbClr val="F5F6F8"/>
                    </a:solidFill>
                  </a:tcPr>
                </a:tc>
                <a:tc>
                  <a:txBody>
                    <a:bodyPr/>
                    <a:lstStyle/>
                    <a:p>
                      <a:pPr algn="r"/>
                      <a:r>
                        <a:rPr lang="en-US" sz="1000" b="0" noProof="0">
                          <a:solidFill>
                            <a:srgbClr val="202945"/>
                          </a:solidFill>
                          <a:latin typeface="Nunito Sans"/>
                        </a:rPr>
                        <a:t>3.74</a:t>
                      </a:r>
                    </a:p>
                  </a:txBody>
                  <a:tcPr marL="54000" marR="54000" marT="18000" marB="18000" anchor="ctr">
                    <a:solidFill>
                      <a:srgbClr val="F5F6F8"/>
                    </a:solidFill>
                  </a:tcPr>
                </a:tc>
                <a:tc>
                  <a:txBody>
                    <a:bodyPr/>
                    <a:lstStyle/>
                    <a:p>
                      <a:pPr algn="r"/>
                      <a:r>
                        <a:rPr lang="en-US" sz="1000" b="0" noProof="0">
                          <a:solidFill>
                            <a:srgbClr val="202945"/>
                          </a:solidFill>
                          <a:latin typeface="Nunito Sans"/>
                        </a:rPr>
                        <a:t>99.46</a:t>
                      </a:r>
                    </a:p>
                  </a:txBody>
                  <a:tcPr marL="54000" marR="54000" marT="18000" marB="18000" anchor="ctr">
                    <a:solidFill>
                      <a:srgbClr val="F5F6F8"/>
                    </a:solidFill>
                  </a:tcPr>
                </a:tc>
                <a:tc>
                  <a:txBody>
                    <a:bodyPr/>
                    <a:lstStyle/>
                    <a:p>
                      <a:pPr algn="r"/>
                      <a:endParaRPr lang="en-US" sz="1000" b="0" noProof="0">
                        <a:solidFill>
                          <a:srgbClr val="202945"/>
                        </a:solidFill>
                        <a:latin typeface="Nunito Sans"/>
                      </a:endParaRPr>
                    </a:p>
                  </a:txBody>
                  <a:tcPr marL="54000" marR="54000" marT="18000" marB="18000" anchor="ctr">
                    <a:solidFill>
                      <a:srgbClr val="F5F6F8"/>
                    </a:solidFill>
                  </a:tcPr>
                </a:tc>
                <a:extLst>
                  <a:ext uri="{0D108BD9-81ED-4DB2-BD59-A6C34878D82A}">
                    <a16:rowId xmlns:a16="http://schemas.microsoft.com/office/drawing/2014/main" val="10004"/>
                  </a:ext>
                </a:extLst>
              </a:tr>
              <a:tr h="259200">
                <a:tc>
                  <a:txBody>
                    <a:bodyPr/>
                    <a:lstStyle/>
                    <a:p>
                      <a:pPr algn="l"/>
                      <a:r>
                        <a:rPr lang="en-US" sz="1000" b="0" noProof="0" dirty="0">
                          <a:solidFill>
                            <a:srgbClr val="202945"/>
                          </a:solidFill>
                          <a:latin typeface="Nunito Sans"/>
                        </a:rPr>
                        <a:t>Societe Generale SA 5.371 % Note…</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200k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5.1%</a:t>
                      </a:r>
                    </a:p>
                  </a:txBody>
                  <a:tcPr marL="54000" marR="54000" marT="18000" marB="18000" anchor="ctr">
                    <a:solidFill>
                      <a:srgbClr val="FFFFFF"/>
                    </a:solidFill>
                  </a:tcPr>
                </a:tc>
                <a:tc>
                  <a:txBody>
                    <a:bodyPr/>
                    <a:lstStyle/>
                    <a:p>
                      <a:pPr algn="r"/>
                      <a:r>
                        <a:rPr lang="en-US" sz="1000" b="0" noProof="0">
                          <a:solidFill>
                            <a:srgbClr val="202945"/>
                          </a:solidFill>
                          <a:latin typeface="Nunito Sans"/>
                        </a:rPr>
                        <a:t>1.46</a:t>
                      </a:r>
                    </a:p>
                  </a:txBody>
                  <a:tcPr marL="54000" marR="54000" marT="18000" marB="18000" anchor="ctr">
                    <a:solidFill>
                      <a:srgbClr val="FFFFFF"/>
                    </a:solidFill>
                  </a:tcPr>
                </a:tc>
                <a:tc>
                  <a:txBody>
                    <a:bodyPr/>
                    <a:lstStyle/>
                    <a:p>
                      <a:pPr algn="r"/>
                      <a:r>
                        <a:rPr lang="en-US" sz="1000" b="0" noProof="0">
                          <a:solidFill>
                            <a:srgbClr val="202945"/>
                          </a:solidFill>
                          <a:latin typeface="Nunito Sans"/>
                        </a:rPr>
                        <a:t>4.33</a:t>
                      </a:r>
                    </a:p>
                  </a:txBody>
                  <a:tcPr marL="54000" marR="54000" marT="18000" marB="18000" anchor="ctr">
                    <a:solidFill>
                      <a:srgbClr val="FFFFFF"/>
                    </a:solidFill>
                  </a:tcPr>
                </a:tc>
                <a:tc>
                  <a:txBody>
                    <a:bodyPr/>
                    <a:lstStyle/>
                    <a:p>
                      <a:pPr algn="r"/>
                      <a:r>
                        <a:rPr lang="en-US" sz="1000" b="0" noProof="0">
                          <a:solidFill>
                            <a:srgbClr val="202945"/>
                          </a:solidFill>
                          <a:latin typeface="Nunito Sans"/>
                        </a:rPr>
                        <a:t>101.16</a:t>
                      </a:r>
                    </a:p>
                  </a:txBody>
                  <a:tcPr marL="54000" marR="54000" marT="18000" marB="18000" anchor="ctr">
                    <a:solidFill>
                      <a:srgbClr val="FFFFFF"/>
                    </a:solidFill>
                  </a:tcPr>
                </a:tc>
                <a:tc>
                  <a:txBody>
                    <a:bodyPr/>
                    <a:lstStyle/>
                    <a:p>
                      <a:pPr algn="r"/>
                      <a:endParaRPr lang="en-US" sz="1000" b="0" noProof="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5"/>
                  </a:ext>
                </a:extLst>
              </a:tr>
              <a:tr h="259200">
                <a:tc>
                  <a:txBody>
                    <a:bodyPr/>
                    <a:lstStyle/>
                    <a:p>
                      <a:pPr algn="l"/>
                      <a:r>
                        <a:rPr lang="en-US" sz="1000" b="0" noProof="0" dirty="0">
                          <a:solidFill>
                            <a:schemeClr val="bg1"/>
                          </a:solidFill>
                          <a:latin typeface="Nunito Sans"/>
                        </a:rPr>
                        <a:t>Average</a:t>
                      </a:r>
                    </a:p>
                  </a:txBody>
                  <a:tcPr marL="54000" marR="54000" marT="18000" marB="18000" anchor="ctr">
                    <a:solidFill>
                      <a:srgbClr val="202945"/>
                    </a:solidFill>
                  </a:tcPr>
                </a:tc>
                <a:tc>
                  <a:txBody>
                    <a:bodyPr/>
                    <a:lstStyle/>
                    <a:p>
                      <a:pPr algn="r"/>
                      <a:endParaRPr lang="en-US" sz="1000" b="0" noProof="0">
                        <a:solidFill>
                          <a:schemeClr val="bg1"/>
                        </a:solidFill>
                        <a:latin typeface="Nunito Sans"/>
                      </a:endParaRPr>
                    </a:p>
                  </a:txBody>
                  <a:tcPr marL="54000" marR="54000" marT="18000" marB="18000" anchor="ctr">
                    <a:solidFill>
                      <a:srgbClr val="202945"/>
                    </a:solidFill>
                  </a:tcPr>
                </a:tc>
                <a:tc>
                  <a:txBody>
                    <a:bodyPr/>
                    <a:lstStyle/>
                    <a:p>
                      <a:pPr algn="r"/>
                      <a:endParaRPr lang="en-US" sz="1000" b="0" noProof="0" dirty="0">
                        <a:solidFill>
                          <a:schemeClr val="bg1"/>
                        </a:solidFill>
                        <a:latin typeface="Nunito Sans"/>
                      </a:endParaRPr>
                    </a:p>
                  </a:txBody>
                  <a:tcPr marL="54000" marR="54000" marT="18000" marB="18000" anchor="ctr">
                    <a:solidFill>
                      <a:srgbClr val="202945"/>
                    </a:solidFill>
                  </a:tcPr>
                </a:tc>
                <a:tc>
                  <a:txBody>
                    <a:bodyPr/>
                    <a:lstStyle/>
                    <a:p>
                      <a:pPr algn="r"/>
                      <a:r>
                        <a:rPr lang="en-US" sz="1000" b="0" noProof="0" dirty="0">
                          <a:solidFill>
                            <a:schemeClr val="bg1"/>
                          </a:solidFill>
                          <a:latin typeface="Nunito Sans"/>
                        </a:rPr>
                        <a:t>2.36</a:t>
                      </a:r>
                    </a:p>
                  </a:txBody>
                  <a:tcPr marL="54000" marR="54000" marT="18000" marB="18000" anchor="ctr">
                    <a:solidFill>
                      <a:srgbClr val="202945"/>
                    </a:solidFill>
                  </a:tcPr>
                </a:tc>
                <a:tc>
                  <a:txBody>
                    <a:bodyPr/>
                    <a:lstStyle/>
                    <a:p>
                      <a:pPr algn="r"/>
                      <a:r>
                        <a:rPr lang="en-US" sz="1000" b="0" noProof="0" dirty="0">
                          <a:solidFill>
                            <a:schemeClr val="bg1"/>
                          </a:solidFill>
                          <a:latin typeface="Nunito Sans"/>
                        </a:rPr>
                        <a:t>3.6649</a:t>
                      </a:r>
                    </a:p>
                  </a:txBody>
                  <a:tcPr marL="54000" marR="54000" marT="18000" marB="18000" anchor="ctr">
                    <a:solidFill>
                      <a:srgbClr val="202945"/>
                    </a:solidFill>
                  </a:tcPr>
                </a:tc>
                <a:tc>
                  <a:txBody>
                    <a:bodyPr/>
                    <a:lstStyle/>
                    <a:p>
                      <a:pPr algn="r"/>
                      <a:endParaRPr lang="en-US" sz="1000" b="0" noProof="0" dirty="0">
                        <a:solidFill>
                          <a:schemeClr val="bg1"/>
                        </a:solidFill>
                        <a:latin typeface="Nunito Sans"/>
                      </a:endParaRPr>
                    </a:p>
                  </a:txBody>
                  <a:tcPr marL="54000" marR="54000" marT="18000" marB="18000" anchor="ctr">
                    <a:solidFill>
                      <a:srgbClr val="202945"/>
                    </a:solidFill>
                  </a:tcPr>
                </a:tc>
                <a:tc>
                  <a:txBody>
                    <a:bodyPr/>
                    <a:lstStyle/>
                    <a:p>
                      <a:pPr algn="r"/>
                      <a:endParaRPr lang="en-US" sz="1000" b="0" noProof="0" dirty="0">
                        <a:solidFill>
                          <a:schemeClr val="bg1"/>
                        </a:solidFill>
                        <a:latin typeface="Nunito Sans"/>
                      </a:endParaRPr>
                    </a:p>
                  </a:txBody>
                  <a:tcPr marL="54000" marR="54000" marT="18000" marB="18000" anchor="ctr">
                    <a:solidFill>
                      <a:srgbClr val="202945"/>
                    </a:solidFill>
                  </a:tcPr>
                </a:tc>
                <a:extLst>
                  <a:ext uri="{0D108BD9-81ED-4DB2-BD59-A6C34878D82A}">
                    <a16:rowId xmlns:a16="http://schemas.microsoft.com/office/drawing/2014/main" val="1809602680"/>
                  </a:ext>
                </a:extLst>
              </a:tr>
            </a:tbl>
          </a:graphicData>
        </a:graphic>
      </p:graphicFrame>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400">
                <a:solidFill>
                  <a:srgbClr val="3C445D"/>
                </a:solidFill>
                <a:latin typeface="Nunito" pitchFamily="34" charset="0"/>
                <a:ea typeface="Nunito" pitchFamily="34" charset="-122"/>
                <a:cs typeface="Nunito" pitchFamily="34" charset="-120"/>
              </a:rPr>
              <a:t>Proposed bond selection: 6 issues, EUR 600,000, equally weighted at EUR 100,000 each.</a:t>
            </a:r>
            <a:endParaRPr lang="en-US" sz="1400"/>
          </a:p>
        </p:txBody>
      </p:sp>
      <p:sp>
        <p:nvSpPr>
          <p:cNvPr id="4" name="Shape 2"/>
          <p:cNvSpPr/>
          <p:nvPr/>
        </p:nvSpPr>
        <p:spPr>
          <a:xfrm>
            <a:off x="671062" y="2161791"/>
            <a:ext cx="9350385" cy="4707183"/>
          </a:xfrm>
          <a:prstGeom prst="roundRect">
            <a:avLst>
              <a:gd name="adj" fmla="val 777"/>
            </a:avLst>
          </a:prstGeom>
          <a:noFill/>
          <a:ln w="12700">
            <a:solidFill>
              <a:srgbClr val="FAFAFB"/>
            </a:solidFill>
            <a:prstDash val="solid"/>
          </a:ln>
          <a:effectLst/>
        </p:spPr>
        <p:txBody>
          <a:bodyPr/>
          <a:lstStyle/>
          <a:p>
            <a:endParaRPr lang="en-CH"/>
          </a:p>
        </p:txBody>
      </p:sp>
      <p:sp>
        <p:nvSpPr>
          <p:cNvPr id="5" name="Text 3"/>
          <p:cNvSpPr/>
          <p:nvPr/>
        </p:nvSpPr>
        <p:spPr>
          <a:xfrm>
            <a:off x="872146"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700527141"/>
              </p:ext>
            </p:extLst>
          </p:nvPr>
        </p:nvGraphicFramePr>
        <p:xfrm>
          <a:off x="826445" y="2604945"/>
          <a:ext cx="1690930" cy="169093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2727599" y="2678067"/>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2901262" y="260037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States   16.7%</a:t>
            </a:r>
            <a:endParaRPr lang="en-US" sz="1200"/>
          </a:p>
        </p:txBody>
      </p:sp>
      <p:sp>
        <p:nvSpPr>
          <p:cNvPr id="9" name="Shape 6"/>
          <p:cNvSpPr/>
          <p:nvPr/>
        </p:nvSpPr>
        <p:spPr>
          <a:xfrm>
            <a:off x="2727599" y="2961412"/>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2901262" y="288372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France   16.7%</a:t>
            </a:r>
            <a:endParaRPr lang="en-US" sz="1200"/>
          </a:p>
        </p:txBody>
      </p:sp>
      <p:sp>
        <p:nvSpPr>
          <p:cNvPr id="11" name="Shape 8"/>
          <p:cNvSpPr/>
          <p:nvPr/>
        </p:nvSpPr>
        <p:spPr>
          <a:xfrm>
            <a:off x="2727599" y="3244757"/>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2901262" y="3167065"/>
            <a:ext cx="2513544" cy="28334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Luxembourg   16.7%</a:t>
            </a:r>
            <a:endParaRPr lang="en-US" sz="1200" dirty="0"/>
          </a:p>
        </p:txBody>
      </p:sp>
      <p:sp>
        <p:nvSpPr>
          <p:cNvPr id="13" name="Shape 10"/>
          <p:cNvSpPr/>
          <p:nvPr/>
        </p:nvSpPr>
        <p:spPr>
          <a:xfrm>
            <a:off x="2727599" y="3528102"/>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2901262" y="345041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Ireland   16.7%</a:t>
            </a:r>
            <a:endParaRPr lang="en-US" sz="1200"/>
          </a:p>
        </p:txBody>
      </p:sp>
      <p:sp>
        <p:nvSpPr>
          <p:cNvPr id="15" name="Shape 12"/>
          <p:cNvSpPr/>
          <p:nvPr/>
        </p:nvSpPr>
        <p:spPr>
          <a:xfrm>
            <a:off x="2727599" y="3811447"/>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2901262" y="373375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Japan   16.7%</a:t>
            </a:r>
            <a:endParaRPr lang="en-US" sz="1200"/>
          </a:p>
        </p:txBody>
      </p:sp>
      <p:sp>
        <p:nvSpPr>
          <p:cNvPr id="17" name="Shape 14"/>
          <p:cNvSpPr/>
          <p:nvPr/>
        </p:nvSpPr>
        <p:spPr>
          <a:xfrm>
            <a:off x="2727599" y="4094792"/>
            <a:ext cx="95972" cy="95972"/>
          </a:xfrm>
          <a:prstGeom prst="rect">
            <a:avLst/>
          </a:prstGeom>
          <a:solidFill>
            <a:srgbClr val="9BA3B4"/>
          </a:solidFill>
          <a:ln w="12700">
            <a:solidFill>
              <a:srgbClr val="9BA3B4"/>
            </a:solidFill>
            <a:prstDash val="solid"/>
          </a:ln>
        </p:spPr>
        <p:txBody>
          <a:bodyPr/>
          <a:lstStyle/>
          <a:p>
            <a:endParaRPr lang="en-CH"/>
          </a:p>
        </p:txBody>
      </p:sp>
      <p:sp>
        <p:nvSpPr>
          <p:cNvPr id="18" name="Text 15"/>
          <p:cNvSpPr/>
          <p:nvPr/>
        </p:nvSpPr>
        <p:spPr>
          <a:xfrm>
            <a:off x="2901262" y="401710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Kingdom   16.7%</a:t>
            </a:r>
            <a:endParaRPr lang="en-US" sz="1200"/>
          </a:p>
        </p:txBody>
      </p:sp>
      <p:sp>
        <p:nvSpPr>
          <p:cNvPr id="19" name="Text 16"/>
          <p:cNvSpPr/>
          <p:nvPr/>
        </p:nvSpPr>
        <p:spPr>
          <a:xfrm>
            <a:off x="5533628"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currency</a:t>
            </a:r>
          </a:p>
        </p:txBody>
      </p:sp>
      <p:graphicFrame>
        <p:nvGraphicFramePr>
          <p:cNvPr id="20" name="Chart 1"/>
          <p:cNvGraphicFramePr/>
          <p:nvPr>
            <p:extLst>
              <p:ext uri="{D42A27DB-BD31-4B8C-83A1-F6EECF244321}">
                <p14:modId xmlns:p14="http://schemas.microsoft.com/office/powerpoint/2010/main" val="3341096340"/>
              </p:ext>
            </p:extLst>
          </p:nvPr>
        </p:nvGraphicFramePr>
        <p:xfrm>
          <a:off x="5487927" y="2604945"/>
          <a:ext cx="1690930" cy="1690930"/>
        </p:xfrm>
        <a:graphic>
          <a:graphicData uri="http://schemas.openxmlformats.org/drawingml/2006/chart">
            <c:chart xmlns:c="http://schemas.openxmlformats.org/drawingml/2006/chart" xmlns:r="http://schemas.openxmlformats.org/officeDocument/2006/relationships" r:id="rId4"/>
          </a:graphicData>
        </a:graphic>
      </p:graphicFrame>
      <p:sp>
        <p:nvSpPr>
          <p:cNvPr id="21" name="Shape 17"/>
          <p:cNvSpPr/>
          <p:nvPr/>
        </p:nvSpPr>
        <p:spPr>
          <a:xfrm>
            <a:off x="7389081" y="3103084"/>
            <a:ext cx="95972" cy="95972"/>
          </a:xfrm>
          <a:prstGeom prst="rect">
            <a:avLst/>
          </a:prstGeom>
          <a:solidFill>
            <a:srgbClr val="FF6C0E"/>
          </a:solidFill>
          <a:ln w="12700">
            <a:solidFill>
              <a:srgbClr val="FF6C0E"/>
            </a:solidFill>
            <a:prstDash val="solid"/>
          </a:ln>
        </p:spPr>
        <p:txBody>
          <a:bodyPr/>
          <a:lstStyle/>
          <a:p>
            <a:endParaRPr lang="en-CH"/>
          </a:p>
        </p:txBody>
      </p:sp>
      <p:sp>
        <p:nvSpPr>
          <p:cNvPr id="22" name="Text 18"/>
          <p:cNvSpPr/>
          <p:nvPr/>
        </p:nvSpPr>
        <p:spPr>
          <a:xfrm>
            <a:off x="7562744" y="302539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USD   66.7%</a:t>
            </a:r>
            <a:endParaRPr lang="en-US" sz="1200"/>
          </a:p>
        </p:txBody>
      </p:sp>
      <p:sp>
        <p:nvSpPr>
          <p:cNvPr id="23" name="Shape 19"/>
          <p:cNvSpPr/>
          <p:nvPr/>
        </p:nvSpPr>
        <p:spPr>
          <a:xfrm>
            <a:off x="7389081" y="3386429"/>
            <a:ext cx="95972" cy="95972"/>
          </a:xfrm>
          <a:prstGeom prst="rect">
            <a:avLst/>
          </a:prstGeom>
          <a:solidFill>
            <a:srgbClr val="FFC545"/>
          </a:solidFill>
          <a:ln w="12700">
            <a:solidFill>
              <a:srgbClr val="FFC545"/>
            </a:solidFill>
            <a:prstDash val="solid"/>
          </a:ln>
        </p:spPr>
        <p:txBody>
          <a:bodyPr/>
          <a:lstStyle/>
          <a:p>
            <a:endParaRPr lang="en-CH"/>
          </a:p>
        </p:txBody>
      </p:sp>
      <p:sp>
        <p:nvSpPr>
          <p:cNvPr id="24" name="Text 20"/>
          <p:cNvSpPr/>
          <p:nvPr/>
        </p:nvSpPr>
        <p:spPr>
          <a:xfrm>
            <a:off x="7562744" y="330873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CHF  16.7%</a:t>
            </a:r>
            <a:endParaRPr lang="en-US" sz="1200"/>
          </a:p>
        </p:txBody>
      </p:sp>
      <p:sp>
        <p:nvSpPr>
          <p:cNvPr id="25" name="Shape 21"/>
          <p:cNvSpPr/>
          <p:nvPr/>
        </p:nvSpPr>
        <p:spPr>
          <a:xfrm>
            <a:off x="7389081" y="3669774"/>
            <a:ext cx="95972" cy="95972"/>
          </a:xfrm>
          <a:prstGeom prst="rect">
            <a:avLst/>
          </a:prstGeom>
          <a:solidFill>
            <a:srgbClr val="79D6FF"/>
          </a:solidFill>
          <a:ln w="12700">
            <a:solidFill>
              <a:srgbClr val="79D6FF"/>
            </a:solidFill>
            <a:prstDash val="solid"/>
          </a:ln>
        </p:spPr>
        <p:txBody>
          <a:bodyPr/>
          <a:lstStyle/>
          <a:p>
            <a:endParaRPr lang="en-CH"/>
          </a:p>
        </p:txBody>
      </p:sp>
      <p:sp>
        <p:nvSpPr>
          <p:cNvPr id="26" name="Text 22"/>
          <p:cNvSpPr/>
          <p:nvPr/>
        </p:nvSpPr>
        <p:spPr>
          <a:xfrm>
            <a:off x="7562744" y="359208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EUR  16.7%</a:t>
            </a:r>
            <a:endParaRPr lang="en-US" sz="1200"/>
          </a:p>
        </p:txBody>
      </p:sp>
      <p:sp>
        <p:nvSpPr>
          <p:cNvPr id="27" name="Text 23"/>
          <p:cNvSpPr/>
          <p:nvPr/>
        </p:nvSpPr>
        <p:spPr>
          <a:xfrm>
            <a:off x="872146"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maturity</a:t>
            </a:r>
          </a:p>
        </p:txBody>
      </p:sp>
      <p:graphicFrame>
        <p:nvGraphicFramePr>
          <p:cNvPr id="28" name="Chart 2"/>
          <p:cNvGraphicFramePr/>
          <p:nvPr>
            <p:extLst>
              <p:ext uri="{D42A27DB-BD31-4B8C-83A1-F6EECF244321}">
                <p14:modId xmlns:p14="http://schemas.microsoft.com/office/powerpoint/2010/main" val="2538154021"/>
              </p:ext>
            </p:extLst>
          </p:nvPr>
        </p:nvGraphicFramePr>
        <p:xfrm>
          <a:off x="826445" y="4889986"/>
          <a:ext cx="1690930" cy="1690930"/>
        </p:xfrm>
        <a:graphic>
          <a:graphicData uri="http://schemas.openxmlformats.org/drawingml/2006/chart">
            <c:chart xmlns:c="http://schemas.openxmlformats.org/drawingml/2006/chart" xmlns:r="http://schemas.openxmlformats.org/officeDocument/2006/relationships" r:id="rId5"/>
          </a:graphicData>
        </a:graphic>
      </p:graphicFrame>
      <p:sp>
        <p:nvSpPr>
          <p:cNvPr id="29" name="Shape 24"/>
          <p:cNvSpPr/>
          <p:nvPr/>
        </p:nvSpPr>
        <p:spPr>
          <a:xfrm>
            <a:off x="2727599" y="5388124"/>
            <a:ext cx="95972" cy="95972"/>
          </a:xfrm>
          <a:prstGeom prst="rect">
            <a:avLst/>
          </a:prstGeom>
          <a:solidFill>
            <a:srgbClr val="FF6C0E"/>
          </a:solidFill>
          <a:ln w="12700">
            <a:solidFill>
              <a:srgbClr val="FF6C0E"/>
            </a:solidFill>
            <a:prstDash val="solid"/>
          </a:ln>
        </p:spPr>
        <p:txBody>
          <a:bodyPr/>
          <a:lstStyle/>
          <a:p>
            <a:endParaRPr lang="en-CH"/>
          </a:p>
        </p:txBody>
      </p:sp>
      <p:sp>
        <p:nvSpPr>
          <p:cNvPr id="30" name="Text 25"/>
          <p:cNvSpPr/>
          <p:nvPr/>
        </p:nvSpPr>
        <p:spPr>
          <a:xfrm>
            <a:off x="2901262"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0 - 3 years   16.7%</a:t>
            </a:r>
            <a:endParaRPr lang="en-US" sz="1200"/>
          </a:p>
        </p:txBody>
      </p:sp>
      <p:sp>
        <p:nvSpPr>
          <p:cNvPr id="31" name="Shape 26"/>
          <p:cNvSpPr/>
          <p:nvPr/>
        </p:nvSpPr>
        <p:spPr>
          <a:xfrm>
            <a:off x="2727599" y="5671469"/>
            <a:ext cx="95972" cy="95972"/>
          </a:xfrm>
          <a:prstGeom prst="rect">
            <a:avLst/>
          </a:prstGeom>
          <a:solidFill>
            <a:srgbClr val="FFC545"/>
          </a:solidFill>
          <a:ln w="12700">
            <a:solidFill>
              <a:srgbClr val="FFC545"/>
            </a:solidFill>
            <a:prstDash val="solid"/>
          </a:ln>
        </p:spPr>
        <p:txBody>
          <a:bodyPr/>
          <a:lstStyle/>
          <a:p>
            <a:endParaRPr lang="en-CH"/>
          </a:p>
        </p:txBody>
      </p:sp>
      <p:sp>
        <p:nvSpPr>
          <p:cNvPr id="32" name="Text 27"/>
          <p:cNvSpPr/>
          <p:nvPr/>
        </p:nvSpPr>
        <p:spPr>
          <a:xfrm>
            <a:off x="2901262"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3 - 5 years   66.7%</a:t>
            </a:r>
            <a:endParaRPr lang="en-US" sz="1200"/>
          </a:p>
        </p:txBody>
      </p:sp>
      <p:sp>
        <p:nvSpPr>
          <p:cNvPr id="33" name="Shape 28"/>
          <p:cNvSpPr/>
          <p:nvPr/>
        </p:nvSpPr>
        <p:spPr>
          <a:xfrm>
            <a:off x="2727599" y="5954814"/>
            <a:ext cx="95972" cy="95972"/>
          </a:xfrm>
          <a:prstGeom prst="rect">
            <a:avLst/>
          </a:prstGeom>
          <a:solidFill>
            <a:srgbClr val="79D6FF"/>
          </a:solidFill>
          <a:ln w="12700">
            <a:solidFill>
              <a:srgbClr val="79D6FF"/>
            </a:solidFill>
            <a:prstDash val="solid"/>
          </a:ln>
        </p:spPr>
        <p:txBody>
          <a:bodyPr/>
          <a:lstStyle/>
          <a:p>
            <a:endParaRPr lang="en-CH"/>
          </a:p>
        </p:txBody>
      </p:sp>
      <p:sp>
        <p:nvSpPr>
          <p:cNvPr id="34" name="Text 29"/>
          <p:cNvSpPr/>
          <p:nvPr/>
        </p:nvSpPr>
        <p:spPr>
          <a:xfrm>
            <a:off x="2901262"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5 - 7 years   16.7%</a:t>
            </a:r>
            <a:endParaRPr lang="en-US" sz="1200"/>
          </a:p>
        </p:txBody>
      </p:sp>
      <p:sp>
        <p:nvSpPr>
          <p:cNvPr id="35" name="Text 30"/>
          <p:cNvSpPr/>
          <p:nvPr/>
        </p:nvSpPr>
        <p:spPr>
          <a:xfrm>
            <a:off x="5533628"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credit quality</a:t>
            </a:r>
          </a:p>
        </p:txBody>
      </p:sp>
      <p:graphicFrame>
        <p:nvGraphicFramePr>
          <p:cNvPr id="36" name="Chart 3"/>
          <p:cNvGraphicFramePr/>
          <p:nvPr>
            <p:extLst>
              <p:ext uri="{D42A27DB-BD31-4B8C-83A1-F6EECF244321}">
                <p14:modId xmlns:p14="http://schemas.microsoft.com/office/powerpoint/2010/main" val="384069647"/>
              </p:ext>
            </p:extLst>
          </p:nvPr>
        </p:nvGraphicFramePr>
        <p:xfrm>
          <a:off x="5487927" y="4889986"/>
          <a:ext cx="1690930" cy="1690930"/>
        </p:xfrm>
        <a:graphic>
          <a:graphicData uri="http://schemas.openxmlformats.org/drawingml/2006/chart">
            <c:chart xmlns:c="http://schemas.openxmlformats.org/drawingml/2006/chart" xmlns:r="http://schemas.openxmlformats.org/officeDocument/2006/relationships" r:id="rId6"/>
          </a:graphicData>
        </a:graphic>
      </p:graphicFrame>
      <p:sp>
        <p:nvSpPr>
          <p:cNvPr id="37" name="Shape 31"/>
          <p:cNvSpPr/>
          <p:nvPr/>
        </p:nvSpPr>
        <p:spPr>
          <a:xfrm>
            <a:off x="7389081" y="5104779"/>
            <a:ext cx="95972" cy="95972"/>
          </a:xfrm>
          <a:prstGeom prst="rect">
            <a:avLst/>
          </a:prstGeom>
          <a:solidFill>
            <a:srgbClr val="FF6C0E"/>
          </a:solidFill>
          <a:ln w="12700">
            <a:solidFill>
              <a:srgbClr val="FF6C0E"/>
            </a:solidFill>
            <a:prstDash val="solid"/>
          </a:ln>
        </p:spPr>
        <p:txBody>
          <a:bodyPr/>
          <a:lstStyle/>
          <a:p>
            <a:endParaRPr lang="en-CH"/>
          </a:p>
        </p:txBody>
      </p:sp>
      <p:sp>
        <p:nvSpPr>
          <p:cNvPr id="38" name="Text 32"/>
          <p:cNvSpPr/>
          <p:nvPr/>
        </p:nvSpPr>
        <p:spPr>
          <a:xfrm>
            <a:off x="7562744" y="502708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16.7%</a:t>
            </a:r>
            <a:endParaRPr lang="en-US" sz="1200"/>
          </a:p>
        </p:txBody>
      </p:sp>
      <p:sp>
        <p:nvSpPr>
          <p:cNvPr id="39" name="Shape 33"/>
          <p:cNvSpPr/>
          <p:nvPr/>
        </p:nvSpPr>
        <p:spPr>
          <a:xfrm>
            <a:off x="7389081" y="5388124"/>
            <a:ext cx="95972" cy="95972"/>
          </a:xfrm>
          <a:prstGeom prst="rect">
            <a:avLst/>
          </a:prstGeom>
          <a:solidFill>
            <a:srgbClr val="FFC545"/>
          </a:solidFill>
          <a:ln w="12700">
            <a:solidFill>
              <a:srgbClr val="FFC545"/>
            </a:solidFill>
            <a:prstDash val="solid"/>
          </a:ln>
        </p:spPr>
        <p:txBody>
          <a:bodyPr/>
          <a:lstStyle/>
          <a:p>
            <a:endParaRPr lang="en-CH"/>
          </a:p>
        </p:txBody>
      </p:sp>
      <p:sp>
        <p:nvSpPr>
          <p:cNvPr id="40" name="Text 34"/>
          <p:cNvSpPr/>
          <p:nvPr/>
        </p:nvSpPr>
        <p:spPr>
          <a:xfrm>
            <a:off x="7562744"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16.7%</a:t>
            </a:r>
            <a:endParaRPr lang="en-US" sz="1200"/>
          </a:p>
        </p:txBody>
      </p:sp>
      <p:sp>
        <p:nvSpPr>
          <p:cNvPr id="41" name="Shape 35"/>
          <p:cNvSpPr/>
          <p:nvPr/>
        </p:nvSpPr>
        <p:spPr>
          <a:xfrm>
            <a:off x="7389081" y="5671469"/>
            <a:ext cx="95972" cy="95972"/>
          </a:xfrm>
          <a:prstGeom prst="rect">
            <a:avLst/>
          </a:prstGeom>
          <a:solidFill>
            <a:srgbClr val="79D6FF"/>
          </a:solidFill>
          <a:ln w="12700">
            <a:solidFill>
              <a:srgbClr val="79D6FF"/>
            </a:solidFill>
            <a:prstDash val="solid"/>
          </a:ln>
        </p:spPr>
        <p:txBody>
          <a:bodyPr/>
          <a:lstStyle/>
          <a:p>
            <a:endParaRPr lang="en-CH"/>
          </a:p>
        </p:txBody>
      </p:sp>
      <p:sp>
        <p:nvSpPr>
          <p:cNvPr id="42" name="Text 36"/>
          <p:cNvSpPr/>
          <p:nvPr/>
        </p:nvSpPr>
        <p:spPr>
          <a:xfrm>
            <a:off x="7562744"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33.3%</a:t>
            </a:r>
            <a:endParaRPr lang="en-US" sz="1200"/>
          </a:p>
        </p:txBody>
      </p:sp>
      <p:sp>
        <p:nvSpPr>
          <p:cNvPr id="43" name="Shape 37"/>
          <p:cNvSpPr/>
          <p:nvPr/>
        </p:nvSpPr>
        <p:spPr>
          <a:xfrm>
            <a:off x="7389081" y="5954814"/>
            <a:ext cx="95972" cy="95972"/>
          </a:xfrm>
          <a:prstGeom prst="rect">
            <a:avLst/>
          </a:prstGeom>
          <a:solidFill>
            <a:srgbClr val="202945"/>
          </a:solidFill>
          <a:ln w="12700">
            <a:solidFill>
              <a:srgbClr val="202945"/>
            </a:solidFill>
            <a:prstDash val="solid"/>
          </a:ln>
        </p:spPr>
        <p:txBody>
          <a:bodyPr/>
          <a:lstStyle/>
          <a:p>
            <a:endParaRPr lang="en-CH"/>
          </a:p>
        </p:txBody>
      </p:sp>
      <p:sp>
        <p:nvSpPr>
          <p:cNvPr id="44" name="Text 38"/>
          <p:cNvSpPr/>
          <p:nvPr/>
        </p:nvSpPr>
        <p:spPr>
          <a:xfrm>
            <a:off x="7562744"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16.7%</a:t>
            </a:r>
            <a:endParaRPr lang="en-US" sz="1200"/>
          </a:p>
        </p:txBody>
      </p:sp>
      <p:sp>
        <p:nvSpPr>
          <p:cNvPr id="45" name="Shape 39"/>
          <p:cNvSpPr/>
          <p:nvPr/>
        </p:nvSpPr>
        <p:spPr>
          <a:xfrm>
            <a:off x="7389081" y="6238159"/>
            <a:ext cx="95972" cy="95972"/>
          </a:xfrm>
          <a:prstGeom prst="rect">
            <a:avLst/>
          </a:prstGeom>
          <a:solidFill>
            <a:srgbClr val="3BAF90"/>
          </a:solidFill>
          <a:ln w="12700">
            <a:solidFill>
              <a:srgbClr val="3BAF90"/>
            </a:solidFill>
            <a:prstDash val="solid"/>
          </a:ln>
        </p:spPr>
        <p:txBody>
          <a:bodyPr/>
          <a:lstStyle/>
          <a:p>
            <a:endParaRPr lang="en-CH"/>
          </a:p>
        </p:txBody>
      </p:sp>
      <p:sp>
        <p:nvSpPr>
          <p:cNvPr id="46" name="Text 40"/>
          <p:cNvSpPr/>
          <p:nvPr/>
        </p:nvSpPr>
        <p:spPr>
          <a:xfrm>
            <a:off x="7562744" y="616046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   16.7%</a:t>
            </a:r>
            <a:endParaRPr lang="en-US" sz="1200"/>
          </a:p>
        </p:txBody>
      </p:sp>
      <p:sp>
        <p:nvSpPr>
          <p:cNvPr id="47" name="Text 41"/>
          <p:cNvSpPr/>
          <p:nvPr/>
        </p:nvSpPr>
        <p:spPr>
          <a:xfrm>
            <a:off x="671062" y="6964802"/>
            <a:ext cx="8774555" cy="228504"/>
          </a:xfrm>
          <a:prstGeom prst="rect">
            <a:avLst/>
          </a:prstGeom>
          <a:noFill/>
          <a:ln/>
        </p:spPr>
        <p:txBody>
          <a:bodyPr wrap="square" lIns="0" tIns="0" rIns="0" bIns="0" rtlCol="0" anchor="ctr"/>
          <a:lstStyle/>
          <a:p>
            <a:r>
              <a:rPr lang="en-US" sz="900">
                <a:solidFill>
                  <a:srgbClr val="A8B0BF"/>
                </a:solidFill>
                <a:latin typeface="Nunito" pitchFamily="34" charset="0"/>
                <a:ea typeface="Nunito" pitchFamily="34" charset="-122"/>
                <a:cs typeface="Nunito" pitchFamily="34" charset="-120"/>
              </a:rPr>
              <a:t>Source: 'Fixed Income' tab; country, sector and rating as stated there. Percentages may not sum to 100 due to rounding.</a:t>
            </a:r>
            <a:endParaRPr lang="en-US" sz="900"/>
          </a:p>
        </p:txBody>
      </p:sp>
      <p:sp>
        <p:nvSpPr>
          <p:cNvPr id="48" name="Text 42"/>
          <p:cNvSpPr/>
          <p:nvPr/>
        </p:nvSpPr>
        <p:spPr>
          <a:xfrm>
            <a:off x="9601000" y="7129325"/>
            <a:ext cx="420447" cy="201084"/>
          </a:xfrm>
          <a:prstGeom prst="rect">
            <a:avLst/>
          </a:prstGeom>
          <a:noFill/>
          <a:ln/>
        </p:spPr>
        <p:txBody>
          <a:bodyPr wrap="square" lIns="0" tIns="0" rIns="0" bIns="0" rtlCol="0" anchor="ctr"/>
          <a:lstStyle/>
          <a:p>
            <a:pPr algn="r"/>
            <a:r>
              <a:rPr lang="en-US" sz="900">
                <a:solidFill>
                  <a:srgbClr val="A8B0BF"/>
                </a:solidFill>
                <a:latin typeface="Nunito" pitchFamily="34" charset="0"/>
                <a:ea typeface="Nunito" pitchFamily="34" charset="-122"/>
                <a:cs typeface="Nunito" pitchFamily="34" charset="-120"/>
              </a:rPr>
              <a:t>12</a:t>
            </a:r>
            <a:endParaRPr lang="en-US" sz="900"/>
          </a:p>
        </p:txBody>
      </p:sp>
      <p:sp>
        <p:nvSpPr>
          <p:cNvPr id="49" name="Text 43"/>
          <p:cNvSpPr/>
          <p:nvPr/>
        </p:nvSpPr>
        <p:spPr>
          <a:xfrm rot="5400000">
            <a:off x="8549881" y="3884568"/>
            <a:ext cx="3838868" cy="201084"/>
          </a:xfrm>
          <a:prstGeom prst="rect">
            <a:avLst/>
          </a:prstGeom>
          <a:noFill/>
          <a:ln/>
        </p:spPr>
        <p:txBody>
          <a:bodyPr wrap="square" lIns="0" tIns="0" rIns="0" bIns="0" rtlCol="0" anchor="ctr"/>
          <a:lstStyle/>
          <a:p>
            <a:pPr algn="ctr"/>
            <a:r>
              <a:rPr lang="en-US" sz="600">
                <a:solidFill>
                  <a:srgbClr val="D5D9E0"/>
                </a:solidFill>
                <a:latin typeface="Nunito" pitchFamily="34" charset="0"/>
                <a:ea typeface="Nunito" pitchFamily="34" charset="-122"/>
                <a:cs typeface="Nunito" pitchFamily="34" charset="-120"/>
              </a:rPr>
              <a:t>Please see important information at the end of the document</a:t>
            </a:r>
            <a:endParaRPr lang="en-US" sz="600"/>
          </a:p>
        </p:txBody>
      </p:sp>
      <p:sp>
        <p:nvSpPr>
          <p:cNvPr id="50" name="TextBox 49">
            <a:extLst>
              <a:ext uri="{FF2B5EF4-FFF2-40B4-BE49-F238E27FC236}">
                <a16:creationId xmlns:a16="http://schemas.microsoft.com/office/drawing/2014/main" id="{39325C91-09F5-798A-5623-60B86B5EEE9C}"/>
              </a:ext>
            </a:extLst>
          </p:cNvPr>
          <p:cNvSpPr txBox="1"/>
          <p:nvPr/>
        </p:nvSpPr>
        <p:spPr>
          <a:xfrm>
            <a:off x="5334000" y="457200"/>
            <a:ext cx="0" cy="0"/>
          </a:xfrm>
          <a:prstGeom prst="rect">
            <a:avLst/>
          </a:prstGeom>
          <a:noFill/>
        </p:spPr>
        <p:txBody>
          <a:bodyPr vert="horz" wrap="none" lIns="0" tIns="0" rIns="0" bIns="0" rtlCol="0">
            <a:noAutofit/>
          </a:bodyPr>
          <a:lstStyle/>
          <a:p>
            <a:pPr algn="l"/>
            <a:endParaRPr lang="en-CH" sz="1400" err="1"/>
          </a:p>
        </p:txBody>
      </p:sp>
      <p:sp>
        <p:nvSpPr>
          <p:cNvPr id="51" name="TextBox 50">
            <a:extLst>
              <a:ext uri="{FF2B5EF4-FFF2-40B4-BE49-F238E27FC236}">
                <a16:creationId xmlns:a16="http://schemas.microsoft.com/office/drawing/2014/main" id="{C5022B25-907A-1DE1-6103-7AC8388F0D0A}"/>
              </a:ext>
            </a:extLst>
          </p:cNvPr>
          <p:cNvSpPr txBox="1"/>
          <p:nvPr/>
        </p:nvSpPr>
        <p:spPr>
          <a:xfrm>
            <a:off x="10180320" y="525780"/>
            <a:ext cx="0" cy="0"/>
          </a:xfrm>
          <a:prstGeom prst="rect">
            <a:avLst/>
          </a:prstGeom>
          <a:noFill/>
        </p:spPr>
        <p:txBody>
          <a:bodyPr vert="horz" wrap="none" lIns="0" tIns="0" rIns="0" bIns="0" rtlCol="0">
            <a:noAutofit/>
          </a:bodyPr>
          <a:lstStyle/>
          <a:p>
            <a:pPr algn="l"/>
            <a:endParaRPr lang="en-CH" sz="1400" err="1"/>
          </a:p>
        </p:txBody>
      </p:sp>
      <p:sp>
        <p:nvSpPr>
          <p:cNvPr id="54" name="TextBox 53">
            <a:extLst>
              <a:ext uri="{FF2B5EF4-FFF2-40B4-BE49-F238E27FC236}">
                <a16:creationId xmlns:a16="http://schemas.microsoft.com/office/drawing/2014/main" id="{BCA8683E-CD77-48E5-4C08-80E574A96309}"/>
              </a:ext>
            </a:extLst>
          </p:cNvPr>
          <p:cNvSpPr txBox="1"/>
          <p:nvPr/>
        </p:nvSpPr>
        <p:spPr>
          <a:xfrm>
            <a:off x="-1295400" y="906780"/>
            <a:ext cx="0" cy="0"/>
          </a:xfrm>
          <a:prstGeom prst="rect">
            <a:avLst/>
          </a:prstGeom>
          <a:noFill/>
        </p:spPr>
        <p:txBody>
          <a:bodyPr vert="horz" wrap="none" lIns="0" tIns="0" rIns="0" bIns="0" rtlCol="0">
            <a:noAutofit/>
          </a:bodyPr>
          <a:lstStyle/>
          <a:p>
            <a:pPr algn="l"/>
            <a:endParaRPr lang="en-CH" sz="1400" dirty="0" err="1"/>
          </a:p>
        </p:txBody>
      </p:sp>
      <p:grpSp>
        <p:nvGrpSpPr>
          <p:cNvPr id="52" name="Group 51">
            <a:extLst>
              <a:ext uri="{FF2B5EF4-FFF2-40B4-BE49-F238E27FC236}">
                <a16:creationId xmlns:a16="http://schemas.microsoft.com/office/drawing/2014/main" id="{5EDFD447-8373-9482-A127-A4B91709C685}"/>
              </a:ext>
            </a:extLst>
          </p:cNvPr>
          <p:cNvGrpSpPr/>
          <p:nvPr/>
        </p:nvGrpSpPr>
        <p:grpSpPr>
          <a:xfrm>
            <a:off x="9966508" y="935038"/>
            <a:ext cx="540000" cy="540000"/>
            <a:chOff x="9862599" y="872588"/>
            <a:chExt cx="540000" cy="540000"/>
          </a:xfrm>
        </p:grpSpPr>
        <p:pic>
          <p:nvPicPr>
            <p:cNvPr id="55" name="Graphic 54" descr="Greek Pillar with solid fill">
              <a:extLst>
                <a:ext uri="{FF2B5EF4-FFF2-40B4-BE49-F238E27FC236}">
                  <a16:creationId xmlns:a16="http://schemas.microsoft.com/office/drawing/2014/main" id="{713BEBC4-B3D7-F7E4-6653-9CC7207D578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911195" y="935038"/>
              <a:ext cx="442808" cy="442808"/>
            </a:xfrm>
            <a:prstGeom prst="rect">
              <a:avLst/>
            </a:prstGeom>
          </p:spPr>
        </p:pic>
        <p:sp>
          <p:nvSpPr>
            <p:cNvPr id="56" name="Oval 55">
              <a:extLst>
                <a:ext uri="{FF2B5EF4-FFF2-40B4-BE49-F238E27FC236}">
                  <a16:creationId xmlns:a16="http://schemas.microsoft.com/office/drawing/2014/main" id="{4033B535-EA06-986B-9097-662991DBE177}"/>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graphicFrame>
        <p:nvGraphicFramePr>
          <p:cNvPr id="7" name="Table 6"/>
          <p:cNvGraphicFramePr>
            <a:graphicFrameLocks noGrp="1"/>
          </p:cNvGraphicFramePr>
          <p:nvPr>
            <p:extLst>
              <p:ext uri="{D42A27DB-BD31-4B8C-83A1-F6EECF244321}">
                <p14:modId xmlns:p14="http://schemas.microsoft.com/office/powerpoint/2010/main" val="30210442"/>
              </p:ext>
            </p:extLst>
          </p:nvPr>
        </p:nvGraphicFramePr>
        <p:xfrm>
          <a:off x="666000" y="4860000"/>
          <a:ext cx="9359812" cy="1667280"/>
        </p:xfrm>
        <a:graphic>
          <a:graphicData uri="http://schemas.openxmlformats.org/drawingml/2006/table">
            <a:tbl>
              <a:tblPr firstRow="1" bandRow="1">
                <a:tableStyleId>{5C22544A-7EE6-4342-B048-85BDC9FD1C3A}</a:tableStyleId>
              </a:tblPr>
              <a:tblGrid>
                <a:gridCol w="3551931">
                  <a:extLst>
                    <a:ext uri="{9D8B030D-6E8A-4147-A177-3AD203B41FA5}">
                      <a16:colId xmlns:a16="http://schemas.microsoft.com/office/drawing/2014/main" val="20000"/>
                    </a:ext>
                  </a:extLst>
                </a:gridCol>
                <a:gridCol w="1391973">
                  <a:extLst>
                    <a:ext uri="{9D8B030D-6E8A-4147-A177-3AD203B41FA5}">
                      <a16:colId xmlns:a16="http://schemas.microsoft.com/office/drawing/2014/main" val="20001"/>
                    </a:ext>
                  </a:extLst>
                </a:gridCol>
                <a:gridCol w="1103977">
                  <a:extLst>
                    <a:ext uri="{9D8B030D-6E8A-4147-A177-3AD203B41FA5}">
                      <a16:colId xmlns:a16="http://schemas.microsoft.com/office/drawing/2014/main" val="20002"/>
                    </a:ext>
                  </a:extLst>
                </a:gridCol>
                <a:gridCol w="1103977">
                  <a:extLst>
                    <a:ext uri="{9D8B030D-6E8A-4147-A177-3AD203B41FA5}">
                      <a16:colId xmlns:a16="http://schemas.microsoft.com/office/drawing/2014/main" val="1462099802"/>
                    </a:ext>
                  </a:extLst>
                </a:gridCol>
                <a:gridCol w="1103977">
                  <a:extLst>
                    <a:ext uri="{9D8B030D-6E8A-4147-A177-3AD203B41FA5}">
                      <a16:colId xmlns:a16="http://schemas.microsoft.com/office/drawing/2014/main" val="2564674112"/>
                    </a:ext>
                  </a:extLst>
                </a:gridCol>
                <a:gridCol w="1103977">
                  <a:extLst>
                    <a:ext uri="{9D8B030D-6E8A-4147-A177-3AD203B41FA5}">
                      <a16:colId xmlns:a16="http://schemas.microsoft.com/office/drawing/2014/main" val="2010241931"/>
                    </a:ext>
                  </a:extLst>
                </a:gridCol>
              </a:tblGrid>
              <a:tr h="324000">
                <a:tc>
                  <a:txBody>
                    <a:bodyPr/>
                    <a:lstStyle/>
                    <a:p>
                      <a:pPr algn="l"/>
                      <a:r>
                        <a:rPr lang="en-US" sz="11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Share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Country</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Sector</a:t>
                      </a:r>
                    </a:p>
                  </a:txBody>
                  <a:tcPr marL="54000" marR="54000" marT="18000" marB="18000" anchor="ctr">
                    <a:solidFill>
                      <a:srgbClr val="FFC545"/>
                    </a:solidFill>
                  </a:tcPr>
                </a:tc>
                <a:tc>
                  <a:txBody>
                    <a:bodyPr/>
                    <a:lstStyle/>
                    <a:p>
                      <a:pPr algn="r"/>
                      <a:r>
                        <a:rPr lang="en-US" sz="1100" b="1" noProof="0">
                          <a:solidFill>
                            <a:srgbClr val="202945"/>
                          </a:solidFill>
                          <a:latin typeface="Nunito Sans"/>
                        </a:rPr>
                        <a:t>Market Capitalisation</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dirty="0">
                          <a:solidFill>
                            <a:srgbClr val="202945"/>
                          </a:solidFill>
                          <a:latin typeface="Nunito Sans"/>
                        </a:rPr>
                        <a:t>BlackRock Global Funds SICAV - W…</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334k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18.2%</a:t>
                      </a: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1"/>
                  </a:ext>
                </a:extLst>
              </a:tr>
              <a:tr h="259200">
                <a:tc>
                  <a:txBody>
                    <a:bodyPr/>
                    <a:lstStyle/>
                    <a:p>
                      <a:pPr algn="l"/>
                      <a:r>
                        <a:rPr lang="en-US" sz="1000" b="0" noProof="0" dirty="0">
                          <a:solidFill>
                            <a:srgbClr val="202945"/>
                          </a:solidFill>
                          <a:latin typeface="Nunito Sans"/>
                        </a:rPr>
                        <a:t>Goldman Sachs Funds SICAV - Gold…</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USD 334k</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18.2%</a:t>
                      </a: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extLst>
                  <a:ext uri="{0D108BD9-81ED-4DB2-BD59-A6C34878D82A}">
                    <a16:rowId xmlns:a16="http://schemas.microsoft.com/office/drawing/2014/main" val="10002"/>
                  </a:ext>
                </a:extLst>
              </a:tr>
              <a:tr h="259200">
                <a:tc>
                  <a:txBody>
                    <a:bodyPr/>
                    <a:lstStyle/>
                    <a:p>
                      <a:pPr algn="l"/>
                      <a:r>
                        <a:rPr lang="en-US" sz="1000" b="0" noProof="0" dirty="0">
                          <a:solidFill>
                            <a:srgbClr val="202945"/>
                          </a:solidFill>
                          <a:latin typeface="Nunito Sans"/>
                        </a:rPr>
                        <a:t>Schroder International Selection…</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334k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18.2%</a:t>
                      </a: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3"/>
                  </a:ext>
                </a:extLst>
              </a:tr>
              <a:tr h="259200">
                <a:tc>
                  <a:txBody>
                    <a:bodyPr/>
                    <a:lstStyle/>
                    <a:p>
                      <a:pPr algn="l"/>
                      <a:r>
                        <a:rPr lang="en-US" sz="1000" b="0" noProof="0" dirty="0">
                          <a:solidFill>
                            <a:srgbClr val="202945"/>
                          </a:solidFill>
                          <a:latin typeface="Nunito Sans"/>
                        </a:rPr>
                        <a:t>Polar Capital Funds PLC - Biotec…</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USD 334k</a:t>
                      </a:r>
                    </a:p>
                  </a:txBody>
                  <a:tcPr marL="54000" marR="54000" marT="18000" marB="18000" anchor="ctr">
                    <a:solidFill>
                      <a:srgbClr val="F5F6F8"/>
                    </a:solidFill>
                  </a:tcPr>
                </a:tc>
                <a:tc>
                  <a:txBody>
                    <a:bodyPr/>
                    <a:lstStyle/>
                    <a:p>
                      <a:pPr algn="r"/>
                      <a:r>
                        <a:rPr lang="en-US" sz="1000" b="0" noProof="0" dirty="0">
                          <a:solidFill>
                            <a:srgbClr val="202945"/>
                          </a:solidFill>
                          <a:latin typeface="Nunito Sans"/>
                        </a:rPr>
                        <a:t>18.2%</a:t>
                      </a: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5F6F8"/>
                    </a:solidFill>
                  </a:tcPr>
                </a:tc>
                <a:extLst>
                  <a:ext uri="{0D108BD9-81ED-4DB2-BD59-A6C34878D82A}">
                    <a16:rowId xmlns:a16="http://schemas.microsoft.com/office/drawing/2014/main" val="10004"/>
                  </a:ext>
                </a:extLst>
              </a:tr>
              <a:tr h="259200">
                <a:tc>
                  <a:txBody>
                    <a:bodyPr/>
                    <a:lstStyle/>
                    <a:p>
                      <a:pPr algn="l"/>
                      <a:r>
                        <a:rPr lang="en-US" sz="1000" b="0" noProof="0" dirty="0">
                          <a:solidFill>
                            <a:srgbClr val="202945"/>
                          </a:solidFill>
                          <a:latin typeface="Nunito Sans"/>
                        </a:rPr>
                        <a:t>Goldman Sachs Eurozone Equity In…</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176k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9.6%</a:t>
                      </a: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endParaRPr lang="en-US" sz="1000" b="0" noProof="0" dirty="0">
                        <a:solidFill>
                          <a:srgbClr val="202945"/>
                        </a:solidFill>
                        <a:latin typeface="Nunito Sans"/>
                      </a:endParaRPr>
                    </a:p>
                  </a:txBody>
                  <a:tcPr marL="54000" marR="54000" marT="18000" marB="18000"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Equity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399" dirty="0">
                <a:solidFill>
                  <a:srgbClr val="3C445D"/>
                </a:solidFill>
                <a:latin typeface="Nunito" pitchFamily="34" charset="0"/>
                <a:ea typeface="Nunito" pitchFamily="34" charset="-122"/>
                <a:cs typeface="Nunito" pitchFamily="34" charset="-120"/>
              </a:rPr>
              <a:t>Equity sleeve: 23 lines, EUR 7.2m, 33.7% of the portfolio.</a:t>
            </a:r>
            <a:endParaRPr lang="en-US" sz="1399" dirty="0"/>
          </a:p>
        </p:txBody>
      </p:sp>
      <p:sp>
        <p:nvSpPr>
          <p:cNvPr id="4" name="Shape 2"/>
          <p:cNvSpPr/>
          <p:nvPr/>
        </p:nvSpPr>
        <p:spPr>
          <a:xfrm>
            <a:off x="671062" y="2147937"/>
            <a:ext cx="9350385" cy="4707183"/>
          </a:xfrm>
          <a:prstGeom prst="roundRect">
            <a:avLst>
              <a:gd name="adj" fmla="val 777"/>
            </a:avLst>
          </a:prstGeom>
          <a:noFill/>
          <a:ln w="12700">
            <a:solidFill>
              <a:srgbClr val="FAFAFB"/>
            </a:solidFill>
            <a:prstDash val="solid"/>
          </a:ln>
          <a:effectLst>
            <a:outerShdw blurRad="50800" dist="50800" dir="5400000" algn="ctr" rotWithShape="0">
              <a:schemeClr val="bg1">
                <a:alpha val="0"/>
              </a:schemeClr>
            </a:outerShdw>
          </a:effectLst>
        </p:spPr>
        <p:txBody>
          <a:bodyPr/>
          <a:lstStyle/>
          <a:p>
            <a:endParaRPr lang="en-CH"/>
          </a:p>
        </p:txBody>
      </p:sp>
      <p:sp>
        <p:nvSpPr>
          <p:cNvPr id="5" name="Text 3"/>
          <p:cNvSpPr/>
          <p:nvPr/>
        </p:nvSpPr>
        <p:spPr>
          <a:xfrm>
            <a:off x="77388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898557430"/>
              </p:ext>
            </p:extLst>
          </p:nvPr>
        </p:nvGraphicFramePr>
        <p:xfrm>
          <a:off x="1276598" y="2787749"/>
          <a:ext cx="1919434" cy="1919434"/>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100239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117605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Europe ex-Switzerland   38.1%</a:t>
            </a:r>
            <a:endParaRPr lang="en-US" sz="1200" dirty="0"/>
          </a:p>
        </p:txBody>
      </p:sp>
      <p:sp>
        <p:nvSpPr>
          <p:cNvPr id="9" name="Shape 6"/>
          <p:cNvSpPr/>
          <p:nvPr/>
        </p:nvSpPr>
        <p:spPr>
          <a:xfrm>
            <a:off x="100239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117605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Global / thematic   30.2%</a:t>
            </a:r>
            <a:endParaRPr lang="en-US" sz="1200" dirty="0"/>
          </a:p>
        </p:txBody>
      </p:sp>
      <p:sp>
        <p:nvSpPr>
          <p:cNvPr id="11" name="Shape 8"/>
          <p:cNvSpPr/>
          <p:nvPr/>
        </p:nvSpPr>
        <p:spPr>
          <a:xfrm>
            <a:off x="100239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117605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Switzerland   19.0%</a:t>
            </a:r>
            <a:endParaRPr lang="en-US" sz="1200" dirty="0"/>
          </a:p>
        </p:txBody>
      </p:sp>
      <p:sp>
        <p:nvSpPr>
          <p:cNvPr id="13" name="Shape 10"/>
          <p:cNvSpPr/>
          <p:nvPr/>
        </p:nvSpPr>
        <p:spPr>
          <a:xfrm>
            <a:off x="100239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117605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United States   6.6%</a:t>
            </a:r>
            <a:endParaRPr lang="en-US" sz="1200" dirty="0"/>
          </a:p>
        </p:txBody>
      </p:sp>
      <p:sp>
        <p:nvSpPr>
          <p:cNvPr id="15" name="Shape 12"/>
          <p:cNvSpPr/>
          <p:nvPr/>
        </p:nvSpPr>
        <p:spPr>
          <a:xfrm>
            <a:off x="1002393" y="6242729"/>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117605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China   6.1%</a:t>
            </a:r>
            <a:endParaRPr lang="en-US" sz="1200" dirty="0"/>
          </a:p>
        </p:txBody>
      </p:sp>
      <p:sp>
        <p:nvSpPr>
          <p:cNvPr id="17" name="Text 14"/>
          <p:cNvSpPr/>
          <p:nvPr/>
        </p:nvSpPr>
        <p:spPr>
          <a:xfrm>
            <a:off x="388382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sector</a:t>
            </a:r>
          </a:p>
        </p:txBody>
      </p:sp>
      <p:graphicFrame>
        <p:nvGraphicFramePr>
          <p:cNvPr id="18" name="Chart 1"/>
          <p:cNvGraphicFramePr/>
          <p:nvPr>
            <p:extLst>
              <p:ext uri="{D42A27DB-BD31-4B8C-83A1-F6EECF244321}">
                <p14:modId xmlns:p14="http://schemas.microsoft.com/office/powerpoint/2010/main" val="375775482"/>
              </p:ext>
            </p:extLst>
          </p:nvPr>
        </p:nvGraphicFramePr>
        <p:xfrm>
          <a:off x="4386538" y="2787749"/>
          <a:ext cx="1919434" cy="1919434"/>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5"/>
          <p:cNvSpPr/>
          <p:nvPr/>
        </p:nvSpPr>
        <p:spPr>
          <a:xfrm>
            <a:off x="411233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20" name="Text 16"/>
          <p:cNvSpPr/>
          <p:nvPr/>
        </p:nvSpPr>
        <p:spPr>
          <a:xfrm>
            <a:off x="428599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Electronic Technology   27.9%</a:t>
            </a:r>
            <a:endParaRPr lang="en-US" sz="1200" dirty="0"/>
          </a:p>
        </p:txBody>
      </p:sp>
      <p:sp>
        <p:nvSpPr>
          <p:cNvPr id="21" name="Shape 17"/>
          <p:cNvSpPr/>
          <p:nvPr/>
        </p:nvSpPr>
        <p:spPr>
          <a:xfrm>
            <a:off x="411233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22" name="Text 18"/>
          <p:cNvSpPr/>
          <p:nvPr/>
        </p:nvSpPr>
        <p:spPr>
          <a:xfrm>
            <a:off x="428599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Multi-sector funds   24.5%</a:t>
            </a:r>
            <a:endParaRPr lang="en-US" sz="1200" dirty="0"/>
          </a:p>
        </p:txBody>
      </p:sp>
      <p:sp>
        <p:nvSpPr>
          <p:cNvPr id="23" name="Shape 19"/>
          <p:cNvSpPr/>
          <p:nvPr/>
        </p:nvSpPr>
        <p:spPr>
          <a:xfrm>
            <a:off x="411233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24" name="Text 20"/>
          <p:cNvSpPr/>
          <p:nvPr/>
        </p:nvSpPr>
        <p:spPr>
          <a:xfrm>
            <a:off x="428599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Finance   22.5%</a:t>
            </a:r>
            <a:endParaRPr lang="en-US" sz="1200" dirty="0"/>
          </a:p>
        </p:txBody>
      </p:sp>
      <p:sp>
        <p:nvSpPr>
          <p:cNvPr id="25" name="Shape 21"/>
          <p:cNvSpPr/>
          <p:nvPr/>
        </p:nvSpPr>
        <p:spPr>
          <a:xfrm>
            <a:off x="411233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26" name="Text 22"/>
          <p:cNvSpPr/>
          <p:nvPr/>
        </p:nvSpPr>
        <p:spPr>
          <a:xfrm>
            <a:off x="428599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Non-Energy Minerals   12.3%</a:t>
            </a:r>
            <a:endParaRPr lang="en-US" sz="1200" dirty="0"/>
          </a:p>
        </p:txBody>
      </p:sp>
      <p:sp>
        <p:nvSpPr>
          <p:cNvPr id="27" name="Shape 23"/>
          <p:cNvSpPr/>
          <p:nvPr/>
        </p:nvSpPr>
        <p:spPr>
          <a:xfrm>
            <a:off x="4112333" y="6242729"/>
            <a:ext cx="95972" cy="95972"/>
          </a:xfrm>
          <a:prstGeom prst="rect">
            <a:avLst/>
          </a:prstGeom>
          <a:solidFill>
            <a:srgbClr val="9BA3B4"/>
          </a:solidFill>
          <a:ln w="12700">
            <a:solidFill>
              <a:srgbClr val="9BA3B4"/>
            </a:solidFill>
            <a:prstDash val="solid"/>
          </a:ln>
        </p:spPr>
        <p:txBody>
          <a:bodyPr/>
          <a:lstStyle/>
          <a:p>
            <a:endParaRPr lang="en-CH"/>
          </a:p>
        </p:txBody>
      </p:sp>
      <p:sp>
        <p:nvSpPr>
          <p:cNvPr id="28" name="Text 24"/>
          <p:cNvSpPr/>
          <p:nvPr/>
        </p:nvSpPr>
        <p:spPr>
          <a:xfrm>
            <a:off x="428599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Other   12.9%</a:t>
            </a:r>
            <a:endParaRPr lang="en-US" sz="1200" dirty="0"/>
          </a:p>
        </p:txBody>
      </p:sp>
      <p:sp>
        <p:nvSpPr>
          <p:cNvPr id="29" name="Text 25"/>
          <p:cNvSpPr/>
          <p:nvPr/>
        </p:nvSpPr>
        <p:spPr>
          <a:xfrm>
            <a:off x="699376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market cap</a:t>
            </a:r>
          </a:p>
        </p:txBody>
      </p:sp>
      <p:graphicFrame>
        <p:nvGraphicFramePr>
          <p:cNvPr id="30" name="Chart 2"/>
          <p:cNvGraphicFramePr/>
          <p:nvPr>
            <p:extLst>
              <p:ext uri="{D42A27DB-BD31-4B8C-83A1-F6EECF244321}">
                <p14:modId xmlns:p14="http://schemas.microsoft.com/office/powerpoint/2010/main" val="2822922399"/>
              </p:ext>
            </p:extLst>
          </p:nvPr>
        </p:nvGraphicFramePr>
        <p:xfrm>
          <a:off x="7496478" y="2787749"/>
          <a:ext cx="1919434" cy="1919434"/>
        </p:xfrm>
        <a:graphic>
          <a:graphicData uri="http://schemas.openxmlformats.org/drawingml/2006/chart">
            <c:chart xmlns:c="http://schemas.openxmlformats.org/drawingml/2006/chart" xmlns:r="http://schemas.openxmlformats.org/officeDocument/2006/relationships" r:id="rId5"/>
          </a:graphicData>
        </a:graphic>
      </p:graphicFrame>
      <p:sp>
        <p:nvSpPr>
          <p:cNvPr id="31" name="Shape 26"/>
          <p:cNvSpPr/>
          <p:nvPr/>
        </p:nvSpPr>
        <p:spPr>
          <a:xfrm>
            <a:off x="722227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32" name="Text 27"/>
          <p:cNvSpPr/>
          <p:nvPr/>
        </p:nvSpPr>
        <p:spPr>
          <a:xfrm>
            <a:off x="739593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Large cap   88.5%</a:t>
            </a:r>
            <a:endParaRPr lang="en-US" sz="1200" dirty="0"/>
          </a:p>
        </p:txBody>
      </p:sp>
      <p:sp>
        <p:nvSpPr>
          <p:cNvPr id="33" name="Shape 28"/>
          <p:cNvSpPr/>
          <p:nvPr/>
        </p:nvSpPr>
        <p:spPr>
          <a:xfrm>
            <a:off x="722227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34" name="Text 29"/>
          <p:cNvSpPr/>
          <p:nvPr/>
        </p:nvSpPr>
        <p:spPr>
          <a:xfrm>
            <a:off x="739593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Mid cap   9.8%</a:t>
            </a:r>
            <a:endParaRPr lang="en-US" sz="1200" dirty="0"/>
          </a:p>
        </p:txBody>
      </p:sp>
      <p:sp>
        <p:nvSpPr>
          <p:cNvPr id="35" name="Shape 30"/>
          <p:cNvSpPr/>
          <p:nvPr/>
        </p:nvSpPr>
        <p:spPr>
          <a:xfrm>
            <a:off x="722227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36" name="Text 31"/>
          <p:cNvSpPr/>
          <p:nvPr/>
        </p:nvSpPr>
        <p:spPr>
          <a:xfrm>
            <a:off x="739593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Small cap   1.7%</a:t>
            </a:r>
            <a:endParaRPr lang="en-US" sz="1200" dirty="0"/>
          </a:p>
        </p:txBody>
      </p:sp>
      <p:sp>
        <p:nvSpPr>
          <p:cNvPr id="37" name="Text 32"/>
          <p:cNvSpPr/>
          <p:nvPr/>
        </p:nvSpPr>
        <p:spPr>
          <a:xfrm>
            <a:off x="671062" y="6964802"/>
            <a:ext cx="8774555" cy="228504"/>
          </a:xfrm>
          <a:prstGeom prst="rect">
            <a:avLst/>
          </a:prstGeom>
          <a:noFill/>
          <a:ln/>
        </p:spPr>
        <p:txBody>
          <a:bodyPr wrap="square" lIns="0" tIns="0" rIns="0" bIns="0" rtlCol="0" anchor="ctr"/>
          <a:lstStyle/>
          <a:p>
            <a:r>
              <a:rPr lang="en-US" sz="800" dirty="0">
                <a:solidFill>
                  <a:srgbClr val="A8B0BF"/>
                </a:solidFill>
                <a:latin typeface="Nunito" pitchFamily="34" charset="0"/>
                <a:ea typeface="Nunito" pitchFamily="34" charset="-122"/>
                <a:cs typeface="Nunito" pitchFamily="34" charset="-120"/>
              </a:rPr>
              <a:t>Sector, region and size classified at issuer level for direct holdings and at mandate level for funds, ETFs and the structured note; these fields are not in the client file. Percentages may not sum to 100 due to rounding.</a:t>
            </a:r>
            <a:endParaRPr lang="en-US" sz="800" dirty="0"/>
          </a:p>
        </p:txBody>
      </p:sp>
      <p:sp>
        <p:nvSpPr>
          <p:cNvPr id="38" name="Text 33"/>
          <p:cNvSpPr/>
          <p:nvPr/>
        </p:nvSpPr>
        <p:spPr>
          <a:xfrm>
            <a:off x="9601000" y="7129325"/>
            <a:ext cx="420447" cy="201084"/>
          </a:xfrm>
          <a:prstGeom prst="rect">
            <a:avLst/>
          </a:prstGeom>
          <a:noFill/>
          <a:ln/>
        </p:spPr>
        <p:txBody>
          <a:bodyPr wrap="square" lIns="0" tIns="0" rIns="0" bIns="0" rtlCol="0" anchor="ctr"/>
          <a:lstStyle/>
          <a:p>
            <a:pPr algn="r"/>
            <a:r>
              <a:rPr lang="en-US" sz="900" dirty="0">
                <a:solidFill>
                  <a:srgbClr val="A8B0BF"/>
                </a:solidFill>
                <a:latin typeface="Nunito" pitchFamily="34" charset="0"/>
                <a:ea typeface="Nunito" pitchFamily="34" charset="-122"/>
                <a:cs typeface="Nunito" pitchFamily="34" charset="-120"/>
              </a:rPr>
              <a:t>13</a:t>
            </a:r>
            <a:endParaRPr lang="en-US" sz="900" dirty="0"/>
          </a:p>
        </p:txBody>
      </p:sp>
      <p:sp>
        <p:nvSpPr>
          <p:cNvPr id="39" name="Text 34"/>
          <p:cNvSpPr/>
          <p:nvPr/>
        </p:nvSpPr>
        <p:spPr>
          <a:xfrm rot="5400000">
            <a:off x="8549881" y="3884568"/>
            <a:ext cx="3838868" cy="201084"/>
          </a:xfrm>
          <a:prstGeom prst="rect">
            <a:avLst/>
          </a:prstGeom>
          <a:noFill/>
          <a:ln/>
        </p:spPr>
        <p:txBody>
          <a:bodyPr wrap="square" lIns="0" tIns="0" rIns="0" bIns="0" rtlCol="0" anchor="ctr"/>
          <a:lstStyle/>
          <a:p>
            <a:pPr algn="ctr"/>
            <a:r>
              <a:rPr lang="en-US" sz="600" dirty="0">
                <a:solidFill>
                  <a:srgbClr val="D5D9E0"/>
                </a:solidFill>
                <a:latin typeface="Nunito" pitchFamily="34" charset="0"/>
                <a:ea typeface="Nunito" pitchFamily="34" charset="-122"/>
                <a:cs typeface="Nunito" pitchFamily="34" charset="-120"/>
              </a:rPr>
              <a:t>Please see important information at the end of the document</a:t>
            </a:r>
            <a:endParaRPr lang="en-US" sz="600" dirty="0"/>
          </a:p>
        </p:txBody>
      </p:sp>
      <p:sp>
        <p:nvSpPr>
          <p:cNvPr id="43" name="Oval 42">
            <a:extLst>
              <a:ext uri="{FF2B5EF4-FFF2-40B4-BE49-F238E27FC236}">
                <a16:creationId xmlns:a16="http://schemas.microsoft.com/office/drawing/2014/main" id="{BBB68E68-FD7A-7CDF-9099-7C3E5966482F}"/>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45" name="Graphic 44" descr="Open hand with plant outline">
            <a:extLst>
              <a:ext uri="{FF2B5EF4-FFF2-40B4-BE49-F238E27FC236}">
                <a16:creationId xmlns:a16="http://schemas.microsoft.com/office/drawing/2014/main" id="{591D9520-9B26-CF2D-AECB-A006BB5C65B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04919" y="974519"/>
            <a:ext cx="463178" cy="4631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graphicFrame>
        <p:nvGraphicFramePr>
          <p:cNvPr id="7" name="Table 6"/>
          <p:cNvGraphicFramePr>
            <a:graphicFrameLocks noGrp="1"/>
          </p:cNvGraphicFramePr>
          <p:nvPr>
            <p:extLst>
              <p:ext uri="{D42A27DB-BD31-4B8C-83A1-F6EECF244321}">
                <p14:modId xmlns:p14="http://schemas.microsoft.com/office/powerpoint/2010/main" val="1173087155"/>
              </p:ext>
            </p:extLst>
          </p:nvPr>
        </p:nvGraphicFramePr>
        <p:xfrm>
          <a:off x="666000" y="4860000"/>
          <a:ext cx="4535999" cy="583200"/>
        </p:xfrm>
        <a:graphic>
          <a:graphicData uri="http://schemas.openxmlformats.org/drawingml/2006/table">
            <a:tbl>
              <a:tblPr firstRow="1" bandRow="1">
                <a:tableStyleId>{5C22544A-7EE6-4342-B048-85BDC9FD1C3A}</a:tableStyleId>
              </a:tblPr>
              <a:tblGrid>
                <a:gridCol w="2664000">
                  <a:extLst>
                    <a:ext uri="{9D8B030D-6E8A-4147-A177-3AD203B41FA5}">
                      <a16:colId xmlns:a16="http://schemas.microsoft.com/office/drawing/2014/main" val="20000"/>
                    </a:ext>
                  </a:extLst>
                </a:gridCol>
                <a:gridCol w="1044000">
                  <a:extLst>
                    <a:ext uri="{9D8B030D-6E8A-4147-A177-3AD203B41FA5}">
                      <a16:colId xmlns:a16="http://schemas.microsoft.com/office/drawing/2014/main" val="20001"/>
                    </a:ext>
                  </a:extLst>
                </a:gridCol>
                <a:gridCol w="827999">
                  <a:extLst>
                    <a:ext uri="{9D8B030D-6E8A-4147-A177-3AD203B41FA5}">
                      <a16:colId xmlns:a16="http://schemas.microsoft.com/office/drawing/2014/main" val="20002"/>
                    </a:ext>
                  </a:extLst>
                </a:gridCol>
              </a:tblGrid>
              <a:tr h="324000">
                <a:tc>
                  <a:txBody>
                    <a:bodyPr/>
                    <a:lstStyle/>
                    <a:p>
                      <a:pPr algn="l"/>
                      <a:r>
                        <a:rPr lang="en-US" sz="1100" b="1" noProof="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a:solidFill>
                            <a:srgbClr val="202945"/>
                          </a:solidFill>
                          <a:latin typeface="Nunito Sans"/>
                        </a:rPr>
                        <a:t>Share</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a:solidFill>
                            <a:srgbClr val="202945"/>
                          </a:solidFill>
                          <a:latin typeface="Nunito Sans"/>
                        </a:rPr>
                        <a:t>Scarce Assets Certificate</a:t>
                      </a:r>
                    </a:p>
                  </a:txBody>
                  <a:tcPr marL="54000" marR="54000" marT="18000" marB="18000" anchor="ctr">
                    <a:solidFill>
                      <a:srgbClr val="FFFFFF"/>
                    </a:solidFill>
                  </a:tcPr>
                </a:tc>
                <a:tc>
                  <a:txBody>
                    <a:bodyPr/>
                    <a:lstStyle/>
                    <a:p>
                      <a:pPr algn="r"/>
                      <a:r>
                        <a:rPr lang="en-US" sz="1000" b="0" noProof="0">
                          <a:solidFill>
                            <a:srgbClr val="202945"/>
                          </a:solidFill>
                          <a:latin typeface="Nunito Sans"/>
                        </a:rPr>
                        <a:t>USD 553k</a:t>
                      </a:r>
                    </a:p>
                  </a:txBody>
                  <a:tcPr marL="54000" marR="54000" marT="18000" marB="18000" anchor="ctr">
                    <a:solidFill>
                      <a:srgbClr val="FFFFFF"/>
                    </a:solidFill>
                  </a:tcPr>
                </a:tc>
                <a:tc>
                  <a:txBody>
                    <a:bodyPr/>
                    <a:lstStyle/>
                    <a:p>
                      <a:pPr algn="r"/>
                      <a:r>
                        <a:rPr lang="en-US" sz="1000" b="0" noProof="0">
                          <a:solidFill>
                            <a:srgbClr val="202945"/>
                          </a:solidFill>
                          <a:latin typeface="Nunito Sans"/>
                        </a:rPr>
                        <a:t>100.0%</a:t>
                      </a:r>
                    </a:p>
                  </a:txBody>
                  <a:tcPr marL="54000" marR="54000" marT="18000" marB="18000" anchor="ctr">
                    <a:solidFill>
                      <a:srgbClr val="FFFFFF"/>
                    </a:solidFill>
                  </a:tcPr>
                </a:tc>
                <a:extLst>
                  <a:ext uri="{0D108BD9-81ED-4DB2-BD59-A6C34878D82A}">
                    <a16:rowId xmlns:a16="http://schemas.microsoft.com/office/drawing/2014/main" val="10001"/>
                  </a:ext>
                </a:extLst>
              </a:tr>
            </a:tbl>
          </a:graphicData>
        </a:graphic>
      </p:graphicFrame>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2 of 23 fixed-income line(s) report no modified duration; portfolio duration reflects the 85% of the sleeve that does.</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graphicFrame>
        <p:nvGraphicFramePr>
          <p:cNvPr id="7" name="Table 6">
            <a:extLst>
              <a:ext uri="{FF2B5EF4-FFF2-40B4-BE49-F238E27FC236}">
                <a16:creationId xmlns:a16="http://schemas.microsoft.com/office/drawing/2014/main" id="{DDD24925-ED8F-0467-FB04-0616CB3D0627}"/>
              </a:ext>
            </a:extLst>
          </p:cNvPr>
          <p:cNvGraphicFramePr>
            <a:graphicFrameLocks noGrp="1"/>
          </p:cNvGraphicFramePr>
          <p:nvPr>
            <p:extLst>
              <p:ext uri="{D42A27DB-BD31-4B8C-83A1-F6EECF244321}">
                <p14:modId xmlns:p14="http://schemas.microsoft.com/office/powerpoint/2010/main" val="1335535978"/>
              </p:ext>
            </p:extLst>
          </p:nvPr>
        </p:nvGraphicFramePr>
        <p:xfrm>
          <a:off x="666000" y="4860000"/>
          <a:ext cx="4535999" cy="583200"/>
        </p:xfrm>
        <a:graphic>
          <a:graphicData uri="http://schemas.openxmlformats.org/drawingml/2006/table">
            <a:tbl>
              <a:tblPr firstRow="1" bandRow="1">
                <a:tableStyleId>{5C22544A-7EE6-4342-B048-85BDC9FD1C3A}</a:tableStyleId>
              </a:tblPr>
              <a:tblGrid>
                <a:gridCol w="2664000">
                  <a:extLst>
                    <a:ext uri="{9D8B030D-6E8A-4147-A177-3AD203B41FA5}">
                      <a16:colId xmlns:a16="http://schemas.microsoft.com/office/drawing/2014/main" val="20000"/>
                    </a:ext>
                  </a:extLst>
                </a:gridCol>
                <a:gridCol w="1044000">
                  <a:extLst>
                    <a:ext uri="{9D8B030D-6E8A-4147-A177-3AD203B41FA5}">
                      <a16:colId xmlns:a16="http://schemas.microsoft.com/office/drawing/2014/main" val="20001"/>
                    </a:ext>
                  </a:extLst>
                </a:gridCol>
                <a:gridCol w="827999">
                  <a:extLst>
                    <a:ext uri="{9D8B030D-6E8A-4147-A177-3AD203B41FA5}">
                      <a16:colId xmlns:a16="http://schemas.microsoft.com/office/drawing/2014/main" val="20002"/>
                    </a:ext>
                  </a:extLst>
                </a:gridCol>
              </a:tblGrid>
              <a:tr h="324000">
                <a:tc>
                  <a:txBody>
                    <a:bodyPr/>
                    <a:lstStyle/>
                    <a:p>
                      <a:pPr algn="l"/>
                      <a:r>
                        <a:rPr lang="en-US" sz="11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Share</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dirty="0">
                          <a:solidFill>
                            <a:srgbClr val="202945"/>
                          </a:solidFill>
                          <a:latin typeface="Nunito Sans"/>
                        </a:rPr>
                        <a:t>Gold</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553k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100.0%</a:t>
                      </a:r>
                    </a:p>
                  </a:txBody>
                  <a:tcPr marL="54000" marR="54000" marT="18000" marB="18000" anchor="ctr">
                    <a:solidFill>
                      <a:srgbClr val="FFFFFF"/>
                    </a:solidFill>
                  </a:tcP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graphicFrame>
        <p:nvGraphicFramePr>
          <p:cNvPr id="7" name="Table 6">
            <a:extLst>
              <a:ext uri="{FF2B5EF4-FFF2-40B4-BE49-F238E27FC236}">
                <a16:creationId xmlns:a16="http://schemas.microsoft.com/office/drawing/2014/main" id="{956DA3F0-A6EF-EAF5-053D-5FB94FD96D73}"/>
              </a:ext>
            </a:extLst>
          </p:cNvPr>
          <p:cNvGraphicFramePr>
            <a:graphicFrameLocks noGrp="1"/>
          </p:cNvGraphicFramePr>
          <p:nvPr>
            <p:extLst>
              <p:ext uri="{D42A27DB-BD31-4B8C-83A1-F6EECF244321}">
                <p14:modId xmlns:p14="http://schemas.microsoft.com/office/powerpoint/2010/main" val="1397773650"/>
              </p:ext>
            </p:extLst>
          </p:nvPr>
        </p:nvGraphicFramePr>
        <p:xfrm>
          <a:off x="666000" y="4860000"/>
          <a:ext cx="9341634" cy="583200"/>
        </p:xfrm>
        <a:graphic>
          <a:graphicData uri="http://schemas.openxmlformats.org/drawingml/2006/table">
            <a:tbl>
              <a:tblPr firstRow="1" bandRow="1">
                <a:tableStyleId>{5C22544A-7EE6-4342-B048-85BDC9FD1C3A}</a:tableStyleId>
              </a:tblPr>
              <a:tblGrid>
                <a:gridCol w="3060873">
                  <a:extLst>
                    <a:ext uri="{9D8B030D-6E8A-4147-A177-3AD203B41FA5}">
                      <a16:colId xmlns:a16="http://schemas.microsoft.com/office/drawing/2014/main" val="20000"/>
                    </a:ext>
                  </a:extLst>
                </a:gridCol>
                <a:gridCol w="2445327">
                  <a:extLst>
                    <a:ext uri="{9D8B030D-6E8A-4147-A177-3AD203B41FA5}">
                      <a16:colId xmlns:a16="http://schemas.microsoft.com/office/drawing/2014/main" val="20001"/>
                    </a:ext>
                  </a:extLst>
                </a:gridCol>
                <a:gridCol w="3835434">
                  <a:extLst>
                    <a:ext uri="{9D8B030D-6E8A-4147-A177-3AD203B41FA5}">
                      <a16:colId xmlns:a16="http://schemas.microsoft.com/office/drawing/2014/main" val="20002"/>
                    </a:ext>
                  </a:extLst>
                </a:gridCol>
              </a:tblGrid>
              <a:tr h="324000">
                <a:tc>
                  <a:txBody>
                    <a:bodyPr/>
                    <a:lstStyle/>
                    <a:p>
                      <a:pPr algn="l"/>
                      <a:r>
                        <a:rPr lang="en-US" sz="11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100" b="1" noProof="0" dirty="0">
                          <a:solidFill>
                            <a:srgbClr val="202945"/>
                          </a:solidFill>
                          <a:latin typeface="Nunito Sans"/>
                        </a:rPr>
                        <a:t>Share</a:t>
                      </a:r>
                    </a:p>
                  </a:txBody>
                  <a:tcPr marL="54000" marR="54000" marT="18000" marB="18000" anchor="ctr">
                    <a:solidFill>
                      <a:srgbClr val="FFC545"/>
                    </a:solidFill>
                  </a:tcPr>
                </a:tc>
                <a:extLst>
                  <a:ext uri="{0D108BD9-81ED-4DB2-BD59-A6C34878D82A}">
                    <a16:rowId xmlns:a16="http://schemas.microsoft.com/office/drawing/2014/main" val="10000"/>
                  </a:ext>
                </a:extLst>
              </a:tr>
              <a:tr h="259200">
                <a:tc>
                  <a:txBody>
                    <a:bodyPr/>
                    <a:lstStyle/>
                    <a:p>
                      <a:pPr algn="l"/>
                      <a:r>
                        <a:rPr lang="en-US" sz="1000" b="0" noProof="0" dirty="0">
                          <a:solidFill>
                            <a:srgbClr val="202945"/>
                          </a:solidFill>
                          <a:latin typeface="+mn-lt"/>
                        </a:rPr>
                        <a:t>8% DCI-XAGUSD-48.206 UBS  24.08.2026</a:t>
                      </a:r>
                      <a:endParaRPr lang="en-US" sz="1000" b="0" noProof="0" dirty="0">
                        <a:solidFill>
                          <a:srgbClr val="202945"/>
                        </a:solidFill>
                        <a:latin typeface="Nunito Sans"/>
                      </a:endParaRP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USD 553k</a:t>
                      </a:r>
                    </a:p>
                  </a:txBody>
                  <a:tcPr marL="54000" marR="54000" marT="18000" marB="18000" anchor="ctr">
                    <a:solidFill>
                      <a:srgbClr val="FFFFFF"/>
                    </a:solidFill>
                  </a:tcPr>
                </a:tc>
                <a:tc>
                  <a:txBody>
                    <a:bodyPr/>
                    <a:lstStyle/>
                    <a:p>
                      <a:pPr algn="r"/>
                      <a:r>
                        <a:rPr lang="en-US" sz="1000" b="0" noProof="0" dirty="0">
                          <a:solidFill>
                            <a:srgbClr val="202945"/>
                          </a:solidFill>
                          <a:latin typeface="Nunito Sans"/>
                        </a:rPr>
                        <a:t>100.0%</a:t>
                      </a:r>
                    </a:p>
                  </a:txBody>
                  <a:tcPr marL="54000" marR="54000" marT="18000" marB="18000" anchor="ctr">
                    <a:solidFill>
                      <a:srgbClr val="FFFFFF"/>
                    </a:solidFill>
                  </a:tcPr>
                </a:tc>
                <a:extLst>
                  <a:ext uri="{0D108BD9-81ED-4DB2-BD59-A6C34878D82A}">
                    <a16:rowId xmlns:a16="http://schemas.microsoft.com/office/drawing/2014/main" val="10001"/>
                  </a:ext>
                </a:extLst>
              </a:tr>
            </a:tbl>
          </a:graphicData>
        </a:graphic>
      </p:graphicFrame>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13.4% of the portfolio sits in private, hedge-fund and lock-up vehicles with redemption gates and notice periods.</a:t>
            </a:r>
          </a:p>
          <a:p>
            <a:pPr>
              <a:spcAft>
                <a:spcPts val="800"/>
              </a:spcAft>
            </a:pP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daily-liquid sleeve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a:lstStyle/>
                    <a:p>
                      <a:pPr algn="ctr"/>
                      <a:r>
                        <a:rPr lang="en-US" sz="1100" b="0" noProof="0" dirty="0">
                          <a:solidFill>
                            <a:srgbClr val="202945"/>
                          </a:solidFill>
                          <a:latin typeface="Nunito Sans"/>
                        </a:rPr>
                        <a:t>1</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Scarce Assets Certificate</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553,000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7.9%</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7.9%</a:t>
                      </a:r>
                    </a:p>
                  </a:txBody>
                  <a:tcPr marL="54000" marR="54000" marT="18000" marB="18000" anchor="ctr">
                    <a:solidFill>
                      <a:srgbClr val="FFFFFF"/>
                    </a:solidFill>
                  </a:tcPr>
                </a:tc>
                <a:extLst>
                  <a:ext uri="{0D108BD9-81ED-4DB2-BD59-A6C34878D82A}">
                    <a16:rowId xmlns:a16="http://schemas.microsoft.com/office/drawing/2014/main" val="10001"/>
                  </a:ext>
                </a:extLst>
              </a:tr>
              <a:tr h="288000">
                <a:tc>
                  <a:txBody>
                    <a:bodyPr/>
                    <a:lstStyle/>
                    <a:p>
                      <a:pPr algn="ctr"/>
                      <a:r>
                        <a:rPr lang="en-US" sz="1100" b="0" noProof="0" dirty="0">
                          <a:solidFill>
                            <a:srgbClr val="202945"/>
                          </a:solidFill>
                          <a:latin typeface="Nunito Sans"/>
                        </a:rPr>
                        <a:t>2</a:t>
                      </a:r>
                    </a:p>
                  </a:txBody>
                  <a:tcPr marL="54000" marR="54000" marT="18000" marB="18000" anchor="ctr">
                    <a:solidFill>
                      <a:srgbClr val="F5F6F8"/>
                    </a:solidFill>
                  </a:tcPr>
                </a:tc>
                <a:tc>
                  <a:txBody>
                    <a:bodyPr/>
                    <a:lstStyle/>
                    <a:p>
                      <a:pPr algn="l"/>
                      <a:r>
                        <a:rPr lang="en-US" sz="1100" b="0" noProof="0" dirty="0" err="1">
                          <a:solidFill>
                            <a:srgbClr val="202945"/>
                          </a:solidFill>
                          <a:latin typeface="+mn-lt"/>
                        </a:rPr>
                        <a:t>Syz</a:t>
                      </a:r>
                      <a:r>
                        <a:rPr lang="en-US" sz="1100" b="0" noProof="0" dirty="0">
                          <a:solidFill>
                            <a:srgbClr val="202945"/>
                          </a:solidFill>
                          <a:latin typeface="+mn-lt"/>
                        </a:rPr>
                        <a:t> Emerging Market Corporate Bond Cert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384,286</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5.5%</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13.4%</a:t>
                      </a:r>
                    </a:p>
                  </a:txBody>
                  <a:tcPr marL="54000" marR="54000" marT="18000" marB="18000" anchor="ctr">
                    <a:solidFill>
                      <a:srgbClr val="F5F6F8"/>
                    </a:solidFill>
                  </a:tcPr>
                </a:tc>
                <a:extLst>
                  <a:ext uri="{0D108BD9-81ED-4DB2-BD59-A6C34878D82A}">
                    <a16:rowId xmlns:a16="http://schemas.microsoft.com/office/drawing/2014/main" val="10002"/>
                  </a:ext>
                </a:extLst>
              </a:tr>
              <a:tr h="288000">
                <a:tc>
                  <a:txBody>
                    <a:bodyPr/>
                    <a:lstStyle/>
                    <a:p>
                      <a:pPr algn="ctr"/>
                      <a:r>
                        <a:rPr lang="en-US" sz="1100" b="0" noProof="0" dirty="0">
                          <a:solidFill>
                            <a:srgbClr val="202945"/>
                          </a:solidFill>
                          <a:latin typeface="Nunito Sans"/>
                        </a:rPr>
                        <a:t>3</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SYZ AM (CH) Liquidity </a:t>
                      </a:r>
                      <a:r>
                        <a:rPr lang="en-US" sz="1100" b="0" noProof="0" dirty="0" err="1">
                          <a:solidFill>
                            <a:srgbClr val="202945"/>
                          </a:solidFill>
                          <a:latin typeface="Nunito Sans"/>
                        </a:rPr>
                        <a:t>Mgmt</a:t>
                      </a:r>
                      <a:r>
                        <a:rPr lang="en-US" sz="1100" b="0" noProof="0" dirty="0">
                          <a:solidFill>
                            <a:srgbClr val="202945"/>
                          </a:solidFill>
                          <a:latin typeface="Nunito Sans"/>
                        </a:rPr>
                        <a:t> - USD…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376,520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5.4%</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18.8%</a:t>
                      </a:r>
                    </a:p>
                  </a:txBody>
                  <a:tcPr marL="54000" marR="54000" marT="18000" marB="18000" anchor="ctr">
                    <a:solidFill>
                      <a:srgbClr val="FFFFFF"/>
                    </a:solidFill>
                  </a:tcPr>
                </a:tc>
                <a:extLst>
                  <a:ext uri="{0D108BD9-81ED-4DB2-BD59-A6C34878D82A}">
                    <a16:rowId xmlns:a16="http://schemas.microsoft.com/office/drawing/2014/main" val="10003"/>
                  </a:ext>
                </a:extLst>
              </a:tr>
              <a:tr h="288000">
                <a:tc>
                  <a:txBody>
                    <a:bodyPr/>
                    <a:lstStyle/>
                    <a:p>
                      <a:pPr algn="ctr"/>
                      <a:r>
                        <a:rPr lang="en-US" sz="1100" b="0" noProof="0" dirty="0">
                          <a:solidFill>
                            <a:srgbClr val="202945"/>
                          </a:solidFill>
                          <a:latin typeface="Nunito Sans"/>
                        </a:rPr>
                        <a:t>4</a:t>
                      </a:r>
                    </a:p>
                  </a:txBody>
                  <a:tcPr marL="54000" marR="54000" marT="18000" marB="18000" anchor="ctr">
                    <a:solidFill>
                      <a:srgbClr val="F5F6F8"/>
                    </a:solidFill>
                  </a:tcPr>
                </a:tc>
                <a:tc>
                  <a:txBody>
                    <a:bodyPr/>
                    <a:lstStyle/>
                    <a:p>
                      <a:pPr algn="l"/>
                      <a:r>
                        <a:rPr lang="en-US" sz="1100" b="0" noProof="0" dirty="0">
                          <a:solidFill>
                            <a:srgbClr val="202945"/>
                          </a:solidFill>
                          <a:latin typeface="Nunito Sans"/>
                        </a:rPr>
                        <a:t>BlackRock Global Funds SICAV - Wo…</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334,250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4.8%</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23.5%</a:t>
                      </a:r>
                    </a:p>
                  </a:txBody>
                  <a:tcPr marL="54000" marR="54000" marT="18000" marB="18000" anchor="ctr">
                    <a:solidFill>
                      <a:srgbClr val="F5F6F8"/>
                    </a:solidFill>
                  </a:tcPr>
                </a:tc>
                <a:extLst>
                  <a:ext uri="{0D108BD9-81ED-4DB2-BD59-A6C34878D82A}">
                    <a16:rowId xmlns:a16="http://schemas.microsoft.com/office/drawing/2014/main" val="10004"/>
                  </a:ext>
                </a:extLst>
              </a:tr>
              <a:tr h="288000">
                <a:tc>
                  <a:txBody>
                    <a:bodyPr/>
                    <a:lstStyle/>
                    <a:p>
                      <a:pPr algn="ctr"/>
                      <a:r>
                        <a:rPr lang="en-US" sz="1100" b="0" noProof="0" dirty="0">
                          <a:solidFill>
                            <a:srgbClr val="202945"/>
                          </a:solidFill>
                          <a:latin typeface="Nunito Sans"/>
                        </a:rPr>
                        <a:t>5</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Goldman Sachs Funds SICAV - </a:t>
                      </a:r>
                      <a:r>
                        <a:rPr lang="en-US" sz="1100" b="0" noProof="0" dirty="0" err="1">
                          <a:solidFill>
                            <a:srgbClr val="202945"/>
                          </a:solidFill>
                          <a:latin typeface="Nunito Sans"/>
                        </a:rPr>
                        <a:t>Goldm</a:t>
                      </a:r>
                      <a:r>
                        <a:rPr lang="en-US" sz="1100" b="0" noProof="0" dirty="0">
                          <a:solidFill>
                            <a:srgbClr val="202945"/>
                          </a:solidFill>
                          <a:latin typeface="Nunito Sans"/>
                        </a:rPr>
                        <a:t>…</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334,250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4.8%</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28.3%</a:t>
                      </a:r>
                    </a:p>
                  </a:txBody>
                  <a:tcPr marL="54000" marR="54000" marT="18000" marB="18000" anchor="ctr">
                    <a:solidFill>
                      <a:srgbClr val="FFFFFF"/>
                    </a:solidFill>
                  </a:tcPr>
                </a:tc>
                <a:extLst>
                  <a:ext uri="{0D108BD9-81ED-4DB2-BD59-A6C34878D82A}">
                    <a16:rowId xmlns:a16="http://schemas.microsoft.com/office/drawing/2014/main" val="10005"/>
                  </a:ext>
                </a:extLst>
              </a:tr>
              <a:tr h="288000">
                <a:tc>
                  <a:txBody>
                    <a:bodyPr/>
                    <a:lstStyle/>
                    <a:p>
                      <a:pPr algn="ctr"/>
                      <a:r>
                        <a:rPr lang="en-US" sz="1100" b="0" noProof="0" dirty="0">
                          <a:solidFill>
                            <a:srgbClr val="202945"/>
                          </a:solidFill>
                          <a:latin typeface="Nunito Sans"/>
                        </a:rPr>
                        <a:t>6</a:t>
                      </a:r>
                    </a:p>
                  </a:txBody>
                  <a:tcPr marL="54000" marR="54000" marT="18000" marB="18000" anchor="ctr">
                    <a:solidFill>
                      <a:srgbClr val="F5F6F8"/>
                    </a:solidFill>
                  </a:tcPr>
                </a:tc>
                <a:tc>
                  <a:txBody>
                    <a:bodyPr/>
                    <a:lstStyle/>
                    <a:p>
                      <a:pPr algn="l"/>
                      <a:r>
                        <a:rPr lang="en-US" sz="1100" b="0" noProof="0" dirty="0">
                          <a:solidFill>
                            <a:srgbClr val="202945"/>
                          </a:solidFill>
                          <a:latin typeface="Nunito Sans"/>
                        </a:rPr>
                        <a:t>Schroder International Selection…</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334,250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4.8%</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33.1%</a:t>
                      </a:r>
                    </a:p>
                  </a:txBody>
                  <a:tcPr marL="54000" marR="54000" marT="18000" marB="18000" anchor="ctr">
                    <a:solidFill>
                      <a:srgbClr val="F5F6F8"/>
                    </a:solidFill>
                  </a:tcPr>
                </a:tc>
                <a:extLst>
                  <a:ext uri="{0D108BD9-81ED-4DB2-BD59-A6C34878D82A}">
                    <a16:rowId xmlns:a16="http://schemas.microsoft.com/office/drawing/2014/main" val="10006"/>
                  </a:ext>
                </a:extLst>
              </a:tr>
              <a:tr h="288000">
                <a:tc>
                  <a:txBody>
                    <a:bodyPr/>
                    <a:lstStyle/>
                    <a:p>
                      <a:pPr algn="ctr"/>
                      <a:r>
                        <a:rPr lang="en-US" sz="1100" b="0" noProof="0" dirty="0">
                          <a:solidFill>
                            <a:srgbClr val="202945"/>
                          </a:solidFill>
                          <a:latin typeface="Nunito Sans"/>
                        </a:rPr>
                        <a:t>7</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Polar Capital Funds PLC - Biotech…</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334,250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4.8%</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37.9%</a:t>
                      </a:r>
                    </a:p>
                  </a:txBody>
                  <a:tcPr marL="54000" marR="54000" marT="18000" marB="18000" anchor="ctr">
                    <a:solidFill>
                      <a:srgbClr val="FFFFFF"/>
                    </a:solidFill>
                  </a:tcPr>
                </a:tc>
                <a:extLst>
                  <a:ext uri="{0D108BD9-81ED-4DB2-BD59-A6C34878D82A}">
                    <a16:rowId xmlns:a16="http://schemas.microsoft.com/office/drawing/2014/main" val="10007"/>
                  </a:ext>
                </a:extLst>
              </a:tr>
              <a:tr h="288000">
                <a:tc>
                  <a:txBody>
                    <a:bodyPr/>
                    <a:lstStyle/>
                    <a:p>
                      <a:pPr algn="ctr"/>
                      <a:r>
                        <a:rPr lang="en-US" sz="1100" b="0" noProof="0" dirty="0">
                          <a:solidFill>
                            <a:srgbClr val="202945"/>
                          </a:solidFill>
                          <a:latin typeface="Nunito Sans"/>
                        </a:rPr>
                        <a:t>8</a:t>
                      </a:r>
                    </a:p>
                  </a:txBody>
                  <a:tcPr marL="54000" marR="54000" marT="18000" marB="18000" anchor="ctr">
                    <a:solidFill>
                      <a:srgbClr val="F5F6F8"/>
                    </a:solidFill>
                  </a:tcPr>
                </a:tc>
                <a:tc>
                  <a:txBody>
                    <a:bodyPr/>
                    <a:lstStyle/>
                    <a:p>
                      <a:pPr algn="l"/>
                      <a:r>
                        <a:rPr lang="en-US" sz="1100" b="0" noProof="0" dirty="0">
                          <a:solidFill>
                            <a:srgbClr val="202945"/>
                          </a:solidFill>
                          <a:latin typeface="Nunito Sans"/>
                        </a:rPr>
                        <a:t>BNY Mellon Global Funds PLC - BNY…</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279,018</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41.9%</a:t>
                      </a:r>
                    </a:p>
                  </a:txBody>
                  <a:tcPr marL="54000" marR="54000" marT="18000" marB="18000" anchor="ctr">
                    <a:solidFill>
                      <a:srgbClr val="F5F6F8"/>
                    </a:solidFill>
                  </a:tcPr>
                </a:tc>
                <a:extLst>
                  <a:ext uri="{0D108BD9-81ED-4DB2-BD59-A6C34878D82A}">
                    <a16:rowId xmlns:a16="http://schemas.microsoft.com/office/drawing/2014/main" val="10008"/>
                  </a:ext>
                </a:extLst>
              </a:tr>
              <a:tr h="288000">
                <a:tc>
                  <a:txBody>
                    <a:bodyPr/>
                    <a:lstStyle/>
                    <a:p>
                      <a:pPr algn="ctr"/>
                      <a:r>
                        <a:rPr lang="en-US" sz="1100" b="0" noProof="0" dirty="0">
                          <a:solidFill>
                            <a:srgbClr val="202945"/>
                          </a:solidFill>
                          <a:latin typeface="Nunito Sans"/>
                        </a:rPr>
                        <a:t>9</a:t>
                      </a:r>
                    </a:p>
                  </a:txBody>
                  <a:tcPr marL="54000" marR="54000" marT="18000" marB="18000" anchor="ctr">
                    <a:solidFill>
                      <a:srgbClr val="FFFFFF"/>
                    </a:solidFill>
                  </a:tcPr>
                </a:tc>
                <a:tc>
                  <a:txBody>
                    <a:bodyPr/>
                    <a:lstStyle/>
                    <a:p>
                      <a:pPr algn="l"/>
                      <a:r>
                        <a:rPr lang="en-US" sz="1100" b="0" noProof="0" dirty="0">
                          <a:solidFill>
                            <a:srgbClr val="202945"/>
                          </a:solidFill>
                          <a:latin typeface="Nunito Sans"/>
                        </a:rPr>
                        <a:t>Swiss Positive Fund - Physical Go…</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203,000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2.9%</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44.8%</a:t>
                      </a:r>
                    </a:p>
                  </a:txBody>
                  <a:tcPr marL="54000" marR="54000" marT="18000" marB="18000" anchor="ctr">
                    <a:solidFill>
                      <a:srgbClr val="FFFFFF"/>
                    </a:solidFill>
                  </a:tcPr>
                </a:tc>
                <a:extLst>
                  <a:ext uri="{0D108BD9-81ED-4DB2-BD59-A6C34878D82A}">
                    <a16:rowId xmlns:a16="http://schemas.microsoft.com/office/drawing/2014/main" val="10009"/>
                  </a:ext>
                </a:extLst>
              </a:tr>
              <a:tr h="288000">
                <a:tc>
                  <a:txBody>
                    <a:bodyPr/>
                    <a:lstStyle/>
                    <a:p>
                      <a:pPr algn="ctr"/>
                      <a:r>
                        <a:rPr lang="en-US" sz="1100" b="0" noProof="0" dirty="0">
                          <a:solidFill>
                            <a:srgbClr val="202945"/>
                          </a:solidFill>
                          <a:latin typeface="Nunito Sans"/>
                        </a:rPr>
                        <a:t>10</a:t>
                      </a:r>
                    </a:p>
                  </a:txBody>
                  <a:tcPr marL="54000" marR="54000" marT="18000" marB="18000" anchor="ctr">
                    <a:solidFill>
                      <a:srgbClr val="F5F6F8"/>
                    </a:solidFill>
                  </a:tcPr>
                </a:tc>
                <a:tc>
                  <a:txBody>
                    <a:bodyPr/>
                    <a:lstStyle/>
                    <a:p>
                      <a:pPr algn="l"/>
                      <a:r>
                        <a:rPr lang="en-US" sz="1100" b="0" noProof="0" dirty="0">
                          <a:solidFill>
                            <a:srgbClr val="202945"/>
                          </a:solidFill>
                          <a:latin typeface="Nunito Sans"/>
                        </a:rPr>
                        <a:t>Repsol E&amp;P Capital Markets US LLC…</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200,596</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2.9%</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47.6%</a:t>
                      </a:r>
                    </a:p>
                  </a:txBody>
                  <a:tcPr marL="54000" marR="54000" marT="18000" marB="18000" anchor="ctr">
                    <a:solidFill>
                      <a:srgbClr val="F5F6F8"/>
                    </a:solid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28.3%</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47.6%</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75.6%</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a:lstStyle/>
                    <a:p>
                      <a:pPr algn="l"/>
                      <a:r>
                        <a:rPr lang="en-US" sz="1100" b="0" noProof="0" dirty="0">
                          <a:solidFill>
                            <a:srgbClr val="202945"/>
                          </a:solidFill>
                          <a:latin typeface="Nunito Sans"/>
                        </a:rPr>
                        <a:t>Fixed Income</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146,330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85.6%</a:t>
                      </a:r>
                    </a:p>
                  </a:txBody>
                  <a:tcPr marL="54000" marR="54000" marT="18000" marB="18000" anchor="ctr">
                    <a:solidFill>
                      <a:srgbClr val="FFFFFF"/>
                    </a:solidFill>
                  </a:tcPr>
                </a:tc>
                <a:extLst>
                  <a:ext uri="{0D108BD9-81ED-4DB2-BD59-A6C34878D82A}">
                    <a16:rowId xmlns:a16="http://schemas.microsoft.com/office/drawing/2014/main" val="10001"/>
                  </a:ext>
                </a:extLst>
              </a:tr>
              <a:tr h="288000">
                <a:tc>
                  <a:txBody>
                    <a:bodyPr/>
                    <a:lstStyle/>
                    <a:p>
                      <a:pPr algn="l"/>
                      <a:r>
                        <a:rPr lang="en-US" sz="1100" b="0" noProof="0" dirty="0">
                          <a:solidFill>
                            <a:srgbClr val="202945"/>
                          </a:solidFill>
                          <a:latin typeface="Nunito Sans"/>
                        </a:rPr>
                        <a:t>Cash</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15,061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8.8%</a:t>
                      </a:r>
                    </a:p>
                  </a:txBody>
                  <a:tcPr marL="54000" marR="54000" marT="18000" marB="18000" anchor="ctr">
                    <a:solidFill>
                      <a:srgbClr val="F5F6F8"/>
                    </a:solidFill>
                  </a:tcPr>
                </a:tc>
                <a:extLst>
                  <a:ext uri="{0D108BD9-81ED-4DB2-BD59-A6C34878D82A}">
                    <a16:rowId xmlns:a16="http://schemas.microsoft.com/office/drawing/2014/main" val="10002"/>
                  </a:ext>
                </a:extLst>
              </a:tr>
              <a:tr h="288000">
                <a:tc>
                  <a:txBody>
                    <a:bodyPr/>
                    <a:lstStyle/>
                    <a:p>
                      <a:pPr algn="l"/>
                      <a:r>
                        <a:rPr lang="en-US" sz="1100" b="0" noProof="0" dirty="0">
                          <a:solidFill>
                            <a:srgbClr val="202945"/>
                          </a:solidFill>
                          <a:latin typeface="Nunito Sans"/>
                        </a:rPr>
                        <a:t>Equities</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9,509</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5.6%</a:t>
                      </a:r>
                    </a:p>
                  </a:txBody>
                  <a:tcPr marL="54000" marR="54000" marT="18000" marB="18000" anchor="ctr">
                    <a:solidFill>
                      <a:srgbClr val="FFFFFF"/>
                    </a:solid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4.2y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USD -139k</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extLst>
              <p:ext uri="{D42A27DB-BD31-4B8C-83A1-F6EECF244321}">
                <p14:modId xmlns:p14="http://schemas.microsoft.com/office/powerpoint/2010/main" val="646065821"/>
              </p:ext>
            </p:extLst>
          </p:nvPr>
        </p:nvGraphicFramePr>
        <p:xfrm>
          <a:off x="5544000" y="2736000"/>
          <a:ext cx="4791491" cy="4025520"/>
        </p:xfrm>
        <a:graphic>
          <a:graphicData uri="http://schemas.openxmlformats.org/drawingml/2006/table">
            <a:tbl>
              <a:tblPr firstRow="1" bandRow="1">
                <a:tableStyleId>{5C22544A-7EE6-4342-B048-85BDC9FD1C3A}</a:tableStyleId>
              </a:tblPr>
              <a:tblGrid>
                <a:gridCol w="1701927">
                  <a:extLst>
                    <a:ext uri="{9D8B030D-6E8A-4147-A177-3AD203B41FA5}">
                      <a16:colId xmlns:a16="http://schemas.microsoft.com/office/drawing/2014/main" val="20000"/>
                    </a:ext>
                  </a:extLst>
                </a:gridCol>
                <a:gridCol w="865909">
                  <a:extLst>
                    <a:ext uri="{9D8B030D-6E8A-4147-A177-3AD203B41FA5}">
                      <a16:colId xmlns:a16="http://schemas.microsoft.com/office/drawing/2014/main" val="20001"/>
                    </a:ext>
                  </a:extLst>
                </a:gridCol>
                <a:gridCol w="1073728">
                  <a:extLst>
                    <a:ext uri="{9D8B030D-6E8A-4147-A177-3AD203B41FA5}">
                      <a16:colId xmlns:a16="http://schemas.microsoft.com/office/drawing/2014/main" val="20002"/>
                    </a:ext>
                  </a:extLst>
                </a:gridCol>
                <a:gridCol w="1149927">
                  <a:extLst>
                    <a:ext uri="{9D8B030D-6E8A-4147-A177-3AD203B41FA5}">
                      <a16:colId xmlns:a16="http://schemas.microsoft.com/office/drawing/2014/main" val="20003"/>
                    </a:ext>
                  </a:extLst>
                </a:gridCol>
              </a:tblGrid>
              <a:tr h="360000">
                <a:tc>
                  <a:txBody>
                    <a:bodyPr/>
                    <a:lstStyle/>
                    <a:p>
                      <a:pPr algn="l"/>
                      <a:r>
                        <a:rPr lang="en-US" sz="1200" b="1" noProof="0" dirty="0">
                          <a:solidFill>
                            <a:srgbClr val="202945"/>
                          </a:solidFill>
                          <a:latin typeface="Nunito Sans"/>
                        </a:rPr>
                        <a:t>Sub-sleeve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Avg duration</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Contribution</a:t>
                      </a:r>
                    </a:p>
                  </a:txBody>
                  <a:tcPr marL="54000" marR="54000" marT="18000" marB="18000" anchor="ctr">
                    <a:solidFill>
                      <a:srgbClr val="FFC545"/>
                    </a:solidFill>
                  </a:tcPr>
                </a:tc>
                <a:extLst>
                  <a:ext uri="{0D108BD9-81ED-4DB2-BD59-A6C34878D82A}">
                    <a16:rowId xmlns:a16="http://schemas.microsoft.com/office/drawing/2014/main" val="10000"/>
                  </a:ext>
                </a:extLst>
              </a:tr>
              <a:tr h="120000">
                <a:tc>
                  <a:txBody>
                    <a:bodyPr/>
                    <a:lstStyle/>
                    <a:p>
                      <a:pPr algn="l"/>
                      <a:r>
                        <a:rPr lang="en-US" sz="1100" b="0" noProof="0" dirty="0">
                          <a:solidFill>
                            <a:srgbClr val="202945"/>
                          </a:solidFill>
                          <a:latin typeface="Nunito Sans"/>
                        </a:rPr>
                        <a:t>Corporate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388,370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5.5</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0.55</a:t>
                      </a:r>
                    </a:p>
                  </a:txBody>
                  <a:tcPr marL="54000" marR="54000" marT="18000" marB="18000" anchor="ctr">
                    <a:solidFill>
                      <a:srgbClr val="FFFFFF"/>
                    </a:solidFill>
                  </a:tcPr>
                </a:tc>
                <a:extLst>
                  <a:ext uri="{0D108BD9-81ED-4DB2-BD59-A6C34878D82A}">
                    <a16:rowId xmlns:a16="http://schemas.microsoft.com/office/drawing/2014/main" val="10001"/>
                  </a:ext>
                </a:extLst>
              </a:tr>
              <a:tr h="120000">
                <a:tc>
                  <a:txBody>
                    <a:bodyPr/>
                    <a:lstStyle/>
                    <a:p>
                      <a:pPr algn="l"/>
                      <a:r>
                        <a:rPr lang="en-US" sz="1100" b="0" noProof="0" dirty="0">
                          <a:solidFill>
                            <a:srgbClr val="202945"/>
                          </a:solidFill>
                          <a:latin typeface="Nunito Sans"/>
                        </a:rPr>
                        <a:t>Structured note / </a:t>
                      </a:r>
                      <a:r>
                        <a:rPr lang="en-US" sz="1100" b="0" noProof="0" dirty="0" err="1">
                          <a:solidFill>
                            <a:srgbClr val="202945"/>
                          </a:solidFill>
                          <a:latin typeface="Nunito Sans"/>
                        </a:rPr>
                        <a:t>ce</a:t>
                      </a:r>
                      <a:r>
                        <a:rPr lang="en-US" sz="1100" b="0" noProof="0" dirty="0">
                          <a:solidFill>
                            <a:srgbClr val="202945"/>
                          </a:solidFill>
                          <a:latin typeface="Nunito Sans"/>
                        </a:rPr>
                        <a: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384,286</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0.00</a:t>
                      </a:r>
                    </a:p>
                  </a:txBody>
                  <a:tcPr marL="54000" marR="54000" marT="18000" marB="18000" anchor="ctr">
                    <a:solidFill>
                      <a:srgbClr val="F5F6F8"/>
                    </a:solidFill>
                  </a:tcPr>
                </a:tc>
                <a:extLst>
                  <a:ext uri="{0D108BD9-81ED-4DB2-BD59-A6C34878D82A}">
                    <a16:rowId xmlns:a16="http://schemas.microsoft.com/office/drawing/2014/main" val="10002"/>
                  </a:ext>
                </a:extLst>
              </a:tr>
              <a:tr h="120000">
                <a:tc>
                  <a:txBody>
                    <a:bodyPr/>
                    <a:lstStyle/>
                    <a:p>
                      <a:pPr algn="l"/>
                      <a:r>
                        <a:rPr lang="en-US" sz="1100" b="0" noProof="0" dirty="0">
                          <a:solidFill>
                            <a:srgbClr val="202945"/>
                          </a:solidFill>
                          <a:latin typeface="Nunito Sans"/>
                        </a:rPr>
                        <a:t>Supranational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382,888</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0.42</a:t>
                      </a:r>
                    </a:p>
                  </a:txBody>
                  <a:tcPr marL="54000" marR="54000" marT="18000" marB="18000" anchor="ctr">
                    <a:solidFill>
                      <a:srgbClr val="FFFFFF"/>
                    </a:solidFill>
                  </a:tcPr>
                </a:tc>
                <a:extLst>
                  <a:ext uri="{0D108BD9-81ED-4DB2-BD59-A6C34878D82A}">
                    <a16:rowId xmlns:a16="http://schemas.microsoft.com/office/drawing/2014/main" val="10003"/>
                  </a:ext>
                </a:extLst>
              </a:tr>
              <a:tr h="120000">
                <a:tc>
                  <a:txBody>
                    <a:bodyPr/>
                    <a:lstStyle/>
                    <a:p>
                      <a:pPr algn="l"/>
                      <a:r>
                        <a:rPr lang="en-US" sz="1100" b="0" noProof="0" dirty="0">
                          <a:solidFill>
                            <a:srgbClr val="202945"/>
                          </a:solidFill>
                          <a:latin typeface="Nunito Sans"/>
                        </a:rPr>
                        <a:t>Corporate bond (auto…</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298,221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0.24</a:t>
                      </a:r>
                    </a:p>
                  </a:txBody>
                  <a:tcPr marL="54000" marR="54000" marT="18000" marB="18000" anchor="ctr">
                    <a:solidFill>
                      <a:srgbClr val="F5F6F8"/>
                    </a:solidFill>
                  </a:tcPr>
                </a:tc>
                <a:extLst>
                  <a:ext uri="{0D108BD9-81ED-4DB2-BD59-A6C34878D82A}">
                    <a16:rowId xmlns:a16="http://schemas.microsoft.com/office/drawing/2014/main" val="10004"/>
                  </a:ext>
                </a:extLst>
              </a:tr>
              <a:tr h="120000">
                <a:tc>
                  <a:txBody>
                    <a:bodyPr/>
                    <a:lstStyle/>
                    <a:p>
                      <a:pPr algn="l"/>
                      <a:r>
                        <a:rPr lang="en-US" sz="1100" b="0" noProof="0" dirty="0">
                          <a:solidFill>
                            <a:srgbClr val="202945"/>
                          </a:solidFill>
                          <a:latin typeface="Nunito Sans"/>
                        </a:rPr>
                        <a:t>High yield bond fund…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279,018</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2.5</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0.18</a:t>
                      </a:r>
                    </a:p>
                  </a:txBody>
                  <a:tcPr marL="54000" marR="54000" marT="18000" marB="18000" anchor="ctr">
                    <a:solidFill>
                      <a:srgbClr val="FFFFFF"/>
                    </a:solidFill>
                  </a:tcPr>
                </a:tc>
                <a:extLst>
                  <a:ext uri="{0D108BD9-81ED-4DB2-BD59-A6C34878D82A}">
                    <a16:rowId xmlns:a16="http://schemas.microsoft.com/office/drawing/2014/main" val="10005"/>
                  </a:ext>
                </a:extLst>
              </a:tr>
              <a:tr h="120000">
                <a:tc>
                  <a:txBody>
                    <a:bodyPr/>
                    <a:lstStyle/>
                    <a:p>
                      <a:pPr algn="l"/>
                      <a:r>
                        <a:rPr lang="en-US" sz="1100" b="0" noProof="0" dirty="0">
                          <a:solidFill>
                            <a:srgbClr val="202945"/>
                          </a:solidFill>
                          <a:latin typeface="Nunito Sans"/>
                        </a:rPr>
                        <a:t>Corporate bond (oil…</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200,596</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3.4</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0.18</a:t>
                      </a:r>
                    </a:p>
                  </a:txBody>
                  <a:tcPr marL="54000" marR="54000" marT="18000" marB="18000" anchor="ctr">
                    <a:solidFill>
                      <a:srgbClr val="F5F6F8"/>
                    </a:solidFill>
                  </a:tcPr>
                </a:tc>
                <a:extLst>
                  <a:ext uri="{0D108BD9-81ED-4DB2-BD59-A6C34878D82A}">
                    <a16:rowId xmlns:a16="http://schemas.microsoft.com/office/drawing/2014/main" val="10006"/>
                  </a:ext>
                </a:extLst>
              </a:tr>
              <a:tr h="120000">
                <a:tc>
                  <a:txBody>
                    <a:bodyPr/>
                    <a:lstStyle/>
                    <a:p>
                      <a:pPr algn="l"/>
                      <a:r>
                        <a:rPr lang="en-US" sz="1100" b="0" noProof="0" dirty="0">
                          <a:solidFill>
                            <a:srgbClr val="202945"/>
                          </a:solidFill>
                          <a:latin typeface="Nunito Sans"/>
                        </a:rPr>
                        <a:t>Bank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199,562</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5.1</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0.26</a:t>
                      </a:r>
                    </a:p>
                  </a:txBody>
                  <a:tcPr marL="54000" marR="54000" marT="18000" marB="18000" anchor="ctr">
                    <a:solidFill>
                      <a:srgbClr val="FFFFFF"/>
                    </a:solidFill>
                  </a:tcPr>
                </a:tc>
                <a:extLst>
                  <a:ext uri="{0D108BD9-81ED-4DB2-BD59-A6C34878D82A}">
                    <a16:rowId xmlns:a16="http://schemas.microsoft.com/office/drawing/2014/main" val="10007"/>
                  </a:ext>
                </a:extLst>
              </a:tr>
              <a:tr h="120000">
                <a:tc>
                  <a:txBody>
                    <a:bodyPr/>
                    <a:lstStyle/>
                    <a:p>
                      <a:pPr algn="l"/>
                      <a:r>
                        <a:rPr lang="en-US" sz="1100" b="0" noProof="0" dirty="0">
                          <a:solidFill>
                            <a:srgbClr val="202945"/>
                          </a:solidFill>
                          <a:latin typeface="Nunito Sans"/>
                        </a:rPr>
                        <a:t>Insurance-linked sec…</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198,800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0.00</a:t>
                      </a:r>
                    </a:p>
                  </a:txBody>
                  <a:tcPr marL="54000" marR="54000" marT="18000" marB="18000" anchor="ctr">
                    <a:solidFill>
                      <a:srgbClr val="F5F6F8"/>
                    </a:solidFill>
                  </a:tcPr>
                </a:tc>
                <a:extLst>
                  <a:ext uri="{0D108BD9-81ED-4DB2-BD59-A6C34878D82A}">
                    <a16:rowId xmlns:a16="http://schemas.microsoft.com/office/drawing/2014/main" val="10008"/>
                  </a:ext>
                </a:extLst>
              </a:tr>
              <a:tr h="120000">
                <a:tc>
                  <a:txBody>
                    <a:bodyPr/>
                    <a:lstStyle/>
                    <a:p>
                      <a:pPr algn="l"/>
                      <a:r>
                        <a:rPr lang="en-US" sz="1100" b="0" noProof="0" dirty="0">
                          <a:solidFill>
                            <a:srgbClr val="202945"/>
                          </a:solidFill>
                          <a:latin typeface="Nunito Sans"/>
                        </a:rPr>
                        <a:t>Quasi-sovereign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197,796</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3.4</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0.17</a:t>
                      </a:r>
                    </a:p>
                  </a:txBody>
                  <a:tcPr marL="54000" marR="54000" marT="18000" marB="18000" anchor="ctr">
                    <a:solidFill>
                      <a:srgbClr val="FFFFFF"/>
                    </a:solidFill>
                  </a:tcPr>
                </a:tc>
                <a:extLst>
                  <a:ext uri="{0D108BD9-81ED-4DB2-BD59-A6C34878D82A}">
                    <a16:rowId xmlns:a16="http://schemas.microsoft.com/office/drawing/2014/main" val="10009"/>
                  </a:ext>
                </a:extLst>
              </a:tr>
              <a:tr h="120000">
                <a:tc>
                  <a:txBody>
                    <a:bodyPr/>
                    <a:lstStyle/>
                    <a:p>
                      <a:pPr algn="l"/>
                      <a:r>
                        <a:rPr lang="en-US" sz="1100" b="0" noProof="0" dirty="0">
                          <a:solidFill>
                            <a:srgbClr val="202945"/>
                          </a:solidFill>
                          <a:latin typeface="Nunito Sans"/>
                        </a:rPr>
                        <a:t>Quasi-sovereign bond…</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194,084</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0.21</a:t>
                      </a:r>
                    </a:p>
                  </a:txBody>
                  <a:tcPr marL="54000" marR="54000" marT="18000" marB="18000" anchor="ctr">
                    <a:solidFill>
                      <a:srgbClr val="F5F6F8"/>
                    </a:solidFill>
                  </a:tcPr>
                </a:tc>
                <a:extLst>
                  <a:ext uri="{0D108BD9-81ED-4DB2-BD59-A6C34878D82A}">
                    <a16:rowId xmlns:a16="http://schemas.microsoft.com/office/drawing/2014/main" val="10010"/>
                  </a:ext>
                </a:extLst>
              </a:tr>
              <a:tr h="120000">
                <a:tc>
                  <a:txBody>
                    <a:bodyPr/>
                    <a:lstStyle/>
                    <a:p>
                      <a:pPr algn="l"/>
                      <a:r>
                        <a:rPr lang="en-US" sz="1100" b="0" noProof="0" dirty="0">
                          <a:solidFill>
                            <a:srgbClr val="202945"/>
                          </a:solidFill>
                          <a:latin typeface="Nunito Sans"/>
                        </a:rPr>
                        <a:t>Quasi-sovereign bond…</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192,970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0.21</a:t>
                      </a:r>
                    </a:p>
                  </a:txBody>
                  <a:tcPr marL="54000" marR="54000" marT="18000" marB="18000" anchor="ctr">
                    <a:solidFill>
                      <a:srgbClr val="FFFFFF"/>
                    </a:solidFill>
                  </a:tcPr>
                </a:tc>
                <a:extLst>
                  <a:ext uri="{0D108BD9-81ED-4DB2-BD59-A6C34878D82A}">
                    <a16:rowId xmlns:a16="http://schemas.microsoft.com/office/drawing/2014/main" val="10011"/>
                  </a:ext>
                </a:extLst>
              </a:tr>
              <a:tr h="120000">
                <a:tc>
                  <a:txBody>
                    <a:bodyPr/>
                    <a:lstStyle/>
                    <a:p>
                      <a:pPr algn="l"/>
                      <a:r>
                        <a:rPr lang="en-US" sz="1100" b="0" noProof="0" dirty="0">
                          <a:solidFill>
                            <a:srgbClr val="202945"/>
                          </a:solidFill>
                          <a:latin typeface="Nunito Sans"/>
                        </a:rPr>
                        <a:t>Quasi-sovereign bond…</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192,684</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0.21</a:t>
                      </a:r>
                    </a:p>
                  </a:txBody>
                  <a:tcPr marL="54000" marR="54000" marT="18000" marB="18000" anchor="ctr">
                    <a:solidFill>
                      <a:srgbClr val="F5F6F8"/>
                    </a:solidFill>
                  </a:tcPr>
                </a:tc>
                <a:extLst>
                  <a:ext uri="{0D108BD9-81ED-4DB2-BD59-A6C34878D82A}">
                    <a16:rowId xmlns:a16="http://schemas.microsoft.com/office/drawing/2014/main" val="10012"/>
                  </a:ext>
                </a:extLst>
              </a:tr>
              <a:tr h="120000">
                <a:tc>
                  <a:txBody>
                    <a:bodyPr/>
                    <a:lstStyle/>
                    <a:p>
                      <a:pPr algn="l"/>
                      <a:r>
                        <a:rPr lang="en-US" sz="1100" b="0" noProof="0" dirty="0">
                          <a:solidFill>
                            <a:srgbClr val="202945"/>
                          </a:solidFill>
                          <a:latin typeface="Nunito Sans"/>
                        </a:rPr>
                        <a:t>Corporate bond (port…</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190,880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2.5</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0.13</a:t>
                      </a:r>
                    </a:p>
                  </a:txBody>
                  <a:tcPr marL="54000" marR="54000" marT="18000" marB="18000" anchor="ctr">
                    <a:solidFill>
                      <a:srgbClr val="FFFFFF"/>
                    </a:solidFill>
                  </a:tcPr>
                </a:tc>
                <a:extLst>
                  <a:ext uri="{0D108BD9-81ED-4DB2-BD59-A6C34878D82A}">
                    <a16:rowId xmlns:a16="http://schemas.microsoft.com/office/drawing/2014/main" val="10013"/>
                  </a:ext>
                </a:extLst>
              </a:tr>
              <a:tr h="120000">
                <a:tc>
                  <a:txBody>
                    <a:bodyPr/>
                    <a:lstStyle/>
                    <a:p>
                      <a:pPr algn="l"/>
                      <a:r>
                        <a:rPr lang="en-US" sz="1100" b="0" noProof="0" dirty="0">
                          <a:solidFill>
                            <a:srgbClr val="202945"/>
                          </a:solidFill>
                          <a:latin typeface="Nunito Sans"/>
                        </a:rPr>
                        <a:t>Corporate bond (</a:t>
                      </a:r>
                      <a:r>
                        <a:rPr lang="en-US" sz="1100" b="0" noProof="0" dirty="0" err="1">
                          <a:solidFill>
                            <a:srgbClr val="202945"/>
                          </a:solidFill>
                          <a:latin typeface="Nunito Sans"/>
                        </a:rPr>
                        <a:t>airc</a:t>
                      </a:r>
                      <a:r>
                        <a:rPr lang="en-US" sz="1100" b="0" noProof="0" dirty="0">
                          <a:solidFill>
                            <a:srgbClr val="202945"/>
                          </a:solidFill>
                          <a:latin typeface="Nunito Sans"/>
                        </a:rPr>
                        <a: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190,732</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6.0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0.29</a:t>
                      </a:r>
                    </a:p>
                  </a:txBody>
                  <a:tcPr marL="54000" marR="54000" marT="18000" marB="18000" anchor="ctr">
                    <a:solidFill>
                      <a:srgbClr val="F5F6F8"/>
                    </a:solidFill>
                  </a:tcPr>
                </a:tc>
                <a:extLst>
                  <a:ext uri="{0D108BD9-81ED-4DB2-BD59-A6C34878D82A}">
                    <a16:rowId xmlns:a16="http://schemas.microsoft.com/office/drawing/2014/main" val="10014"/>
                  </a:ext>
                </a:extLst>
              </a:tr>
              <a:tr h="120000">
                <a:tc>
                  <a:txBody>
                    <a:bodyPr/>
                    <a:lstStyle/>
                    <a:p>
                      <a:pPr algn="l"/>
                      <a:r>
                        <a:rPr lang="en-US" sz="1100" b="0" noProof="0" dirty="0">
                          <a:solidFill>
                            <a:srgbClr val="202945"/>
                          </a:solidFill>
                          <a:latin typeface="Nunito Sans"/>
                        </a:rPr>
                        <a:t>Corporate bond (comm…</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98,990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6.0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0.15</a:t>
                      </a:r>
                    </a:p>
                  </a:txBody>
                  <a:tcPr marL="54000" marR="54000" marT="18000" marB="18000" anchor="ctr">
                    <a:solidFill>
                      <a:srgbClr val="FFFFFF"/>
                    </a:solidFill>
                  </a:tcPr>
                </a:tc>
                <a:extLst>
                  <a:ext uri="{0D108BD9-81ED-4DB2-BD59-A6C34878D82A}">
                    <a16:rowId xmlns:a16="http://schemas.microsoft.com/office/drawing/2014/main" val="10015"/>
                  </a:ext>
                </a:extLst>
              </a:tr>
              <a:tr h="120000">
                <a:tc>
                  <a:txBody>
                    <a:bodyPr/>
                    <a:lstStyle/>
                    <a:p>
                      <a:pPr algn="l"/>
                      <a:r>
                        <a:rPr lang="en-US" sz="1100" b="0" noProof="0" dirty="0">
                          <a:solidFill>
                            <a:srgbClr val="202945"/>
                          </a:solidFill>
                          <a:latin typeface="Nunito Sans"/>
                        </a:rPr>
                        <a:t>Corporate bond (</a:t>
                      </a:r>
                      <a:r>
                        <a:rPr lang="en-US" sz="1100" b="0" noProof="0" dirty="0" err="1">
                          <a:solidFill>
                            <a:srgbClr val="202945"/>
                          </a:solidFill>
                          <a:latin typeface="Nunito Sans"/>
                        </a:rPr>
                        <a:t>gami</a:t>
                      </a:r>
                      <a:r>
                        <a:rPr lang="en-US" sz="1100" b="0" noProof="0" dirty="0">
                          <a:solidFill>
                            <a:srgbClr val="202945"/>
                          </a:solidFill>
                          <a:latin typeface="Nunito Sans"/>
                        </a:rPr>
                        <a: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98,860</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4.2</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0.11</a:t>
                      </a:r>
                    </a:p>
                  </a:txBody>
                  <a:tcPr marL="54000" marR="54000" marT="18000" marB="18000" anchor="ctr">
                    <a:solidFill>
                      <a:srgbClr val="F5F6F8"/>
                    </a:solidFill>
                  </a:tcPr>
                </a:tc>
                <a:extLst>
                  <a:ext uri="{0D108BD9-81ED-4DB2-BD59-A6C34878D82A}">
                    <a16:rowId xmlns:a16="http://schemas.microsoft.com/office/drawing/2014/main" val="10016"/>
                  </a:ext>
                </a:extLst>
              </a:tr>
              <a:tr h="120000">
                <a:tc>
                  <a:txBody>
                    <a:bodyPr/>
                    <a:lstStyle/>
                    <a:p>
                      <a:pPr algn="l"/>
                      <a:r>
                        <a:rPr lang="en-US" sz="1100" b="0" noProof="0" dirty="0">
                          <a:solidFill>
                            <a:srgbClr val="202945"/>
                          </a:solidFill>
                          <a:latin typeface="Nunito Sans"/>
                        </a:rPr>
                        <a:t>Corporate bond (tele…</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97,315</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6.0</a:t>
                      </a:r>
                    </a:p>
                  </a:txBody>
                  <a:tcPr marL="54000" marR="54000" marT="18000" marB="18000" anchor="ctr">
                    <a:solidFill>
                      <a:srgbClr val="FFFFFF"/>
                    </a:solidFill>
                  </a:tcPr>
                </a:tc>
                <a:tc>
                  <a:txBody>
                    <a:bodyPr/>
                    <a:lstStyle/>
                    <a:p>
                      <a:pPr algn="r"/>
                      <a:r>
                        <a:rPr lang="en-US" sz="1100" b="0" noProof="0" dirty="0">
                          <a:solidFill>
                            <a:srgbClr val="202945"/>
                          </a:solidFill>
                          <a:latin typeface="Nunito Sans"/>
                        </a:rPr>
                        <a:t>0.15</a:t>
                      </a:r>
                    </a:p>
                  </a:txBody>
                  <a:tcPr marL="54000" marR="54000" marT="18000" marB="18000" anchor="ctr">
                    <a:solidFill>
                      <a:srgbClr val="FFFFFF"/>
                    </a:solidFill>
                  </a:tcPr>
                </a:tc>
                <a:extLst>
                  <a:ext uri="{0D108BD9-81ED-4DB2-BD59-A6C34878D82A}">
                    <a16:rowId xmlns:a16="http://schemas.microsoft.com/office/drawing/2014/main" val="10017"/>
                  </a:ext>
                </a:extLst>
              </a:tr>
              <a:tr h="120000">
                <a:tc>
                  <a:txBody>
                    <a:bodyPr/>
                    <a:lstStyle/>
                    <a:p>
                      <a:pPr algn="l"/>
                      <a:r>
                        <a:rPr lang="en-US" sz="1100" b="0" noProof="0" dirty="0">
                          <a:solidFill>
                            <a:srgbClr val="202945"/>
                          </a:solidFill>
                          <a:latin typeface="Nunito Sans"/>
                        </a:rPr>
                        <a:t>Corporate bond (REIT)</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94,801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5.1</a:t>
                      </a:r>
                    </a:p>
                  </a:txBody>
                  <a:tcPr marL="54000" marR="54000" marT="18000" marB="18000" anchor="ctr">
                    <a:solidFill>
                      <a:srgbClr val="F5F6F8"/>
                    </a:solidFill>
                  </a:tcPr>
                </a:tc>
                <a:tc>
                  <a:txBody>
                    <a:bodyPr/>
                    <a:lstStyle/>
                    <a:p>
                      <a:pPr algn="r"/>
                      <a:r>
                        <a:rPr lang="en-US" sz="1100" b="0" noProof="0" dirty="0">
                          <a:solidFill>
                            <a:srgbClr val="202945"/>
                          </a:solidFill>
                          <a:latin typeface="Nunito Sans"/>
                        </a:rPr>
                        <a:t>0.12</a:t>
                      </a:r>
                    </a:p>
                  </a:txBody>
                  <a:tcPr marL="54000" marR="54000" marT="18000" marB="18000" anchor="ctr">
                    <a:solidFill>
                      <a:srgbClr val="F5F6F8"/>
                    </a:solidFill>
                  </a:tcPr>
                </a:tc>
                <a:extLst>
                  <a:ext uri="{0D108BD9-81ED-4DB2-BD59-A6C34878D82A}">
                    <a16:rowId xmlns:a16="http://schemas.microsoft.com/office/drawing/2014/main" val="10018"/>
                  </a:ext>
                </a:extLst>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200" noProof="0" dirty="0">
                <a:solidFill>
                  <a:schemeClr val="tx2">
                    <a:lumMod val="95000"/>
                    <a:lumOff val="5000"/>
                  </a:schemeClr>
                </a:solidFill>
              </a:rPr>
              <a:t>Headquartered in Geneva, with several offices in Switzerland, Bank </a:t>
            </a:r>
            <a:r>
              <a:rPr lang="en-US" sz="1200" noProof="0" dirty="0" err="1">
                <a:solidFill>
                  <a:schemeClr val="tx2">
                    <a:lumMod val="95000"/>
                    <a:lumOff val="5000"/>
                  </a:schemeClr>
                </a:solidFill>
              </a:rPr>
              <a:t>Syz</a:t>
            </a:r>
            <a:r>
              <a:rPr lang="en-US" sz="12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