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Sheet1!$A$2:$A$6</c:f>
              <c:strCache>
                <c:ptCount val="5"/>
                <c:pt idx="0">
                  <c:v>Fixed Income  55%</c:v>
                </c:pt>
                <c:pt idx="1">
                  <c:v>Equities  26%</c:v>
                </c:pt>
                <c:pt idx="2">
                  <c:v>Alternatives  8%</c:v>
                </c:pt>
                <c:pt idx="3">
                  <c:v>Cash  5%</c:v>
                </c:pt>
                <c:pt idx="4">
                  <c:v>Commodities  5%</c:v>
                </c:pt>
              </c:strCache>
            </c:strRef>
          </c:cat>
          <c:val>
            <c:numRef>
              <c:f>Sheet1!$B$2:$B$6</c:f>
              <c:numCache>
                <c:formatCode>General</c:formatCode>
                <c:ptCount val="5"/>
                <c:pt idx="0">
                  <c:v>0.55440767206902586</c:v>
                </c:pt>
                <c:pt idx="1">
                  <c:v>0.2628036999846402</c:v>
                </c:pt>
                <c:pt idx="2">
                  <c:v>7.9000004577186547E-2</c:v>
                </c:pt>
                <c:pt idx="3">
                  <c:v>5.3788620472193828E-2</c:v>
                </c:pt>
                <c:pt idx="4">
                  <c:v>5.0000002896953499E-2</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Sheet1!$A$2:$A$5</c:f>
              <c:strCache>
                <c:ptCount val="4"/>
                <c:pt idx="0">
                  <c:v>USD  94%</c:v>
                </c:pt>
                <c:pt idx="1">
                  <c:v>EUR  3%</c:v>
                </c:pt>
                <c:pt idx="2">
                  <c:v>CHF  2%</c:v>
                </c:pt>
                <c:pt idx="3">
                  <c:v>JPY  1%</c:v>
                </c:pt>
              </c:strCache>
            </c:strRef>
          </c:cat>
          <c:val>
            <c:numRef>
              <c:f>Sheet1!$B$2:$B$5</c:f>
              <c:numCache>
                <c:formatCode>General</c:formatCode>
                <c:ptCount val="4"/>
                <c:pt idx="0">
                  <c:v>0.94267385742594012</c:v>
                </c:pt>
                <c:pt idx="1">
                  <c:v>2.5153268131258073E-2</c:v>
                </c:pt>
                <c:pt idx="2">
                  <c:v>2.0127667942303078E-2</c:v>
                </c:pt>
                <c:pt idx="3">
                  <c:v>1.2045206500498638E-2</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Global</c:v>
                </c:pt>
                <c:pt idx="1">
                  <c:v>MEA EM</c:v>
                </c:pt>
                <c:pt idx="2">
                  <c:v>US</c:v>
                </c:pt>
                <c:pt idx="3">
                  <c:v>Europe DM</c:v>
                </c:pt>
                <c:pt idx="4">
                  <c:v>Japan</c:v>
                </c:pt>
              </c:strCache>
            </c:strRef>
          </c:cat>
          <c:val>
            <c:numRef>
              <c:f>Sheet1!$B$2:$B$6</c:f>
              <c:numCache>
                <c:formatCode>General</c:formatCode>
                <c:ptCount val="5"/>
                <c:pt idx="0">
                  <c:v>0.31327594252215857</c:v>
                </c:pt>
                <c:pt idx="1">
                  <c:v>0.27518859723836719</c:v>
                </c:pt>
                <c:pt idx="2">
                  <c:v>0.25450730046020115</c:v>
                </c:pt>
                <c:pt idx="3">
                  <c:v>0.14498295327877442</c:v>
                </c:pt>
                <c:pt idx="4">
                  <c:v>1.2045206500498638E-2</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Diversified</c:v>
                </c:pt>
                <c:pt idx="1">
                  <c:v>Financials</c:v>
                </c:pt>
                <c:pt idx="2">
                  <c:v>Materials</c:v>
                </c:pt>
                <c:pt idx="3">
                  <c:v>Consumer Disc</c:v>
                </c:pt>
                <c:pt idx="4">
                  <c:v>Energy</c:v>
                </c:pt>
                <c:pt idx="5">
                  <c:v>Utilities</c:v>
                </c:pt>
                <c:pt idx="6">
                  <c:v>Commodities</c:v>
                </c:pt>
                <c:pt idx="7">
                  <c:v>Health Care</c:v>
                </c:pt>
              </c:strCache>
            </c:strRef>
          </c:cat>
          <c:val>
            <c:numRef>
              <c:f>Sheet1!$B$2:$B$9</c:f>
              <c:numCache>
                <c:formatCode>General</c:formatCode>
                <c:ptCount val="8"/>
                <c:pt idx="0">
                  <c:v>0.42237638939016992</c:v>
                </c:pt>
                <c:pt idx="1">
                  <c:v>0.11160719789498831</c:v>
                </c:pt>
                <c:pt idx="2">
                  <c:v>6.1891432157360385E-2</c:v>
                </c:pt>
                <c:pt idx="3">
                  <c:v>5.6725860429500556E-2</c:v>
                </c:pt>
                <c:pt idx="4">
                  <c:v>5.6382817552482103E-2</c:v>
                </c:pt>
                <c:pt idx="5">
                  <c:v>5.5823717520088377E-2</c:v>
                </c:pt>
                <c:pt idx="6">
                  <c:v>5.0000002896953499E-2</c:v>
                </c:pt>
                <c:pt idx="7">
                  <c:v>4.7750002766590596E-2</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52%</c:v>
                </c:pt>
                <c:pt idx="1">
                  <c:v>Fund  33%</c:v>
                </c:pt>
                <c:pt idx="2">
                  <c:v>Structured / AMC  15%</c:v>
                </c:pt>
              </c:strCache>
            </c:strRef>
          </c:cat>
          <c:val>
            <c:numRef>
              <c:f>Sheet1!$B$2:$B$4</c:f>
              <c:numCache>
                <c:formatCode>General</c:formatCode>
                <c:ptCount val="3"/>
                <c:pt idx="0">
                  <c:v>0.52324777801029698</c:v>
                </c:pt>
                <c:pt idx="1">
                  <c:v>0.32630897744983961</c:v>
                </c:pt>
                <c:pt idx="2">
                  <c:v>0.15044324453986341</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geography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Sheet1!$A$2:$A$7</c:f>
              <c:strCache>
                <c:ptCount val="6"/>
                <c:pt idx="0">
                  <c:v>United States</c:v>
                </c:pt>
                <c:pt idx="1">
                  <c:v>France</c:v>
                </c:pt>
                <c:pt idx="2">
                  <c:v>Luxembourg</c:v>
                </c:pt>
                <c:pt idx="3">
                  <c:v>Ireland</c:v>
                </c:pt>
                <c:pt idx="4">
                  <c:v>Japan</c:v>
                </c:pt>
                <c:pt idx="5">
                  <c:v>United Kingdom</c:v>
                </c:pt>
              </c:strCache>
            </c:strRef>
          </c:cat>
          <c:val>
            <c:numRef>
              <c:f>Sheet1!$B$2:$B$7</c:f>
              <c:numCache>
                <c:formatCode>General</c:formatCode>
                <c:ptCount val="6"/>
                <c:pt idx="0">
                  <c:v>16.666699999999999</c:v>
                </c:pt>
                <c:pt idx="1">
                  <c:v>16.666699999999999</c:v>
                </c:pt>
                <c:pt idx="2">
                  <c:v>16.666699999999999</c:v>
                </c:pt>
                <c:pt idx="3">
                  <c:v>16.666699999999999</c:v>
                </c:pt>
                <c:pt idx="4">
                  <c:v>16.666699999999999</c:v>
                </c:pt>
                <c:pt idx="5">
                  <c:v>16.666699999999999</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sector</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Sheet1!$A$2:$A$4</c:f>
              <c:strCache>
                <c:ptCount val="3"/>
                <c:pt idx="0">
                  <c:v>Finance</c:v>
                </c:pt>
                <c:pt idx="1">
                  <c:v>Non-Energy Minerals</c:v>
                </c:pt>
                <c:pt idx="2">
                  <c:v>Communications</c:v>
                </c:pt>
              </c:strCache>
            </c:strRef>
          </c:cat>
          <c:val>
            <c:numRef>
              <c:f>Sheet1!$B$2:$B$4</c:f>
              <c:numCache>
                <c:formatCode>General</c:formatCode>
                <c:ptCount val="3"/>
                <c:pt idx="0">
                  <c:v>66.666700000000006</c:v>
                </c:pt>
                <c:pt idx="1">
                  <c:v>16.666699999999999</c:v>
                </c:pt>
                <c:pt idx="2">
                  <c:v>16.666699999999999</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maturity</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Sheet1!$A$2:$A$4</c:f>
              <c:strCache>
                <c:ptCount val="3"/>
                <c:pt idx="0">
                  <c:v>0 - 3 years</c:v>
                </c:pt>
                <c:pt idx="1">
                  <c:v>3 - 5 years</c:v>
                </c:pt>
                <c:pt idx="2">
                  <c:v>5 - 7 years</c:v>
                </c:pt>
              </c:strCache>
            </c:strRef>
          </c:cat>
          <c:val>
            <c:numRef>
              <c:f>Sheet1!$B$2:$B$4</c:f>
              <c:numCache>
                <c:formatCode>General</c:formatCode>
                <c:ptCount val="3"/>
                <c:pt idx="0">
                  <c:v>16.666699999999999</c:v>
                </c:pt>
                <c:pt idx="1">
                  <c:v>66.666700000000006</c:v>
                </c:pt>
                <c:pt idx="2">
                  <c:v>16.666699999999999</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credit quality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Sheet1!$A$2:$A$6</c:f>
              <c:strCache>
                <c:ptCount val="5"/>
                <c:pt idx="0">
                  <c:v>A+</c:v>
                </c:pt>
                <c:pt idx="1">
                  <c:v>A-</c:v>
                </c:pt>
                <c:pt idx="2">
                  <c:v>BBB+</c:v>
                </c:pt>
                <c:pt idx="3">
                  <c:v>BBB</c:v>
                </c:pt>
                <c:pt idx="4">
                  <c:v>BB+</c:v>
                </c:pt>
              </c:strCache>
            </c:strRef>
          </c:cat>
          <c:val>
            <c:numRef>
              <c:f>Sheet1!$B$2:$B$6</c:f>
              <c:numCache>
                <c:formatCode>General</c:formatCode>
                <c:ptCount val="5"/>
                <c:pt idx="0">
                  <c:v>16.666699999999999</c:v>
                </c:pt>
                <c:pt idx="1">
                  <c:v>16.666699999999999</c:v>
                </c:pt>
                <c:pt idx="2">
                  <c:v>33.333300000000001</c:v>
                </c:pt>
                <c:pt idx="3">
                  <c:v>16.666699999999999</c:v>
                </c:pt>
                <c:pt idx="4">
                  <c:v>16.666699999999999</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ETF  6%</c:v>
                </c:pt>
              </c:strCache>
            </c:strRef>
          </c:cat>
          <c:val>
            <c:numRef>
              <c:f>Sheet1!$B$2:$B$3</c:f>
              <c:numCache>
                <c:formatCode>General</c:formatCode>
                <c:ptCount val="2"/>
                <c:pt idx="0">
                  <c:v>0.94491117763918775</c:v>
                </c:pt>
                <c:pt idx="1">
                  <c:v>5.5088822360812188E-2</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geography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Europe ex-Switzerland</c:v>
                </c:pt>
                <c:pt idx="1">
                  <c:v>Global / thematic</c:v>
                </c:pt>
                <c:pt idx="2">
                  <c:v>Switzerland</c:v>
                </c:pt>
                <c:pt idx="3">
                  <c:v>United States</c:v>
                </c:pt>
                <c:pt idx="4">
                  <c:v>China</c:v>
                </c:pt>
              </c:strCache>
            </c:strRef>
          </c:cat>
          <c:val>
            <c:numRef>
              <c:f>Sheet1!$B$2:$B$6</c:f>
              <c:numCache>
                <c:formatCode>General</c:formatCode>
                <c:ptCount val="5"/>
                <c:pt idx="0">
                  <c:v>38.076999999999998</c:v>
                </c:pt>
                <c:pt idx="1">
                  <c:v>30.248000000000001</c:v>
                </c:pt>
                <c:pt idx="2">
                  <c:v>18.984000000000002</c:v>
                </c:pt>
                <c:pt idx="3">
                  <c:v>6.6379999999999999</c:v>
                </c:pt>
                <c:pt idx="4">
                  <c:v>6.0529999999999999</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sector</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Sheet1!$A$2:$A$6</c:f>
              <c:strCache>
                <c:ptCount val="5"/>
                <c:pt idx="0">
                  <c:v>Electronic Technology</c:v>
                </c:pt>
                <c:pt idx="1">
                  <c:v>Multi-sector funds</c:v>
                </c:pt>
                <c:pt idx="2">
                  <c:v>Finance</c:v>
                </c:pt>
                <c:pt idx="3">
                  <c:v>Non-Energy Minerals</c:v>
                </c:pt>
                <c:pt idx="4">
                  <c:v>Other</c:v>
                </c:pt>
              </c:strCache>
            </c:strRef>
          </c:cat>
          <c:val>
            <c:numRef>
              <c:f>Sheet1!$B$2:$B$6</c:f>
              <c:numCache>
                <c:formatCode>General</c:formatCode>
                <c:ptCount val="5"/>
                <c:pt idx="0">
                  <c:v>27.869</c:v>
                </c:pt>
                <c:pt idx="1">
                  <c:v>24.521999999999998</c:v>
                </c:pt>
                <c:pt idx="2">
                  <c:v>22.504000000000001</c:v>
                </c:pt>
                <c:pt idx="3">
                  <c:v>12.253</c:v>
                </c:pt>
                <c:pt idx="4">
                  <c:v>12.852</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market cap</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Sheet1!$A$2:$A$4</c:f>
              <c:strCache>
                <c:ptCount val="3"/>
                <c:pt idx="0">
                  <c:v>Large cap</c:v>
                </c:pt>
                <c:pt idx="1">
                  <c:v>Mid cap</c:v>
                </c:pt>
                <c:pt idx="2">
                  <c:v>Small cap</c:v>
                </c:pt>
              </c:strCache>
            </c:strRef>
          </c:cat>
          <c:val>
            <c:numRef>
              <c:f>Sheet1!$B$2:$B$4</c:f>
              <c:numCache>
                <c:formatCode>General</c:formatCode>
                <c:ptCount val="3"/>
                <c:pt idx="0">
                  <c:v>88.495000000000005</c:v>
                </c:pt>
                <c:pt idx="1">
                  <c:v>9.76</c:v>
                </c:pt>
                <c:pt idx="2">
                  <c:v>1.7450000000000001</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Structured / AMC  100%</c:v>
                </c:pt>
              </c:strCache>
            </c:strRef>
          </c:cat>
          <c:val>
            <c:numRef>
              <c:f>Sheet1!$B$2:$B$2</c:f>
              <c:numCache>
                <c:formatCode>General</c:formatCode>
                <c:ptCount val="1"/>
                <c:pt idx="0">
                  <c:v>1</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Structured / AMC  100%</c:v>
                </c:pt>
              </c:strCache>
            </c:strRef>
          </c:cat>
          <c:val>
            <c:numRef>
              <c:f>Sheet1!$B$2:$B$2</c:f>
              <c:numCache>
                <c:formatCode>General</c:formatCode>
                <c:ptCount val="1"/>
                <c:pt idx="0">
                  <c:v>1</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Listed  45%</c:v>
                </c:pt>
                <c:pt idx="1">
                  <c:v>Daily-liquid fund  41%</c:v>
                </c:pt>
                <c:pt idx="2">
                  <c:v>Illiquid (lock-up)  13%</c:v>
                </c:pt>
              </c:strCache>
            </c:strRef>
          </c:cat>
          <c:val>
            <c:numRef>
              <c:f>Sheet1!$B$2:$B$4</c:f>
              <c:numCache>
                <c:formatCode>General</c:formatCode>
                <c:ptCount val="3"/>
                <c:pt idx="0">
                  <c:v>0.45224988906007935</c:v>
                </c:pt>
                <c:pt idx="1">
                  <c:v>0.41385208760208309</c:v>
                </c:pt>
                <c:pt idx="2">
                  <c:v>0.13389802333783751</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Moderate USD 7m</a:t>
            </a:r>
            <a:endParaRPr lang="en-GB" sz="1600" b="1" dirty="0"/>
          </a:p>
          <a:p>
            <a:endParaRPr lang="en-GB" sz="1400" b="1" dirty="0"/>
          </a:p>
          <a:p>
            <a:r>
              <a:rPr lang="en-CH" sz="1100" dirty="0"/>
              <a:t>Prepared for [Client Name ]</a:t>
            </a:r>
            <a:endParaRPr lang="en-US" sz="1100" dirty="0"/>
          </a:p>
          <a:p>
            <a:endParaRPr lang="en-US" sz="1100" dirty="0"/>
          </a:p>
          <a:p>
            <a:r>
              <a:rPr lang="en-CH" sz="1100" dirty="0"/>
              <a:t>Your Relationship Manager: [Name]</a:t>
            </a:r>
            <a:endParaRPr lang="en-US" sz="1100" dirty="0"/>
          </a:p>
          <a:p>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3" name="Text Placeholder 2"/>
          <p:cNvSpPr>
            <a:spLocks noGrp="1"/>
          </p:cNvSpPr>
          <p:nvPr>
            <p:ph type="body" sz="quarter" idx="14"/>
          </p:nvPr>
        </p:nvSpPr>
        <p:spPr>
          <a:xfrm>
            <a:off x="665163" y="1728947"/>
            <a:ext cx="9398001" cy="430887"/>
          </a:xfrm>
        </p:spPr>
        <p:txBody>
          <a:bodyPr>
            <a:spAutoFit/>
          </a:bodyPr>
          <a:lstStyle/>
          <a:p>
            <a:r>
              <a:rPr lang="en-US" sz="1400" noProof="0" dirty="0"/>
              <a:t>A violent, momentum-driven unwind across everything AI-adjacent, while energy and value led. Week of 20 July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-1.6%</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a:t>
            </a:r>
          </a:p>
          <a:p>
            <a:pPr algn="ctr"/>
            <a:r>
              <a:rPr lang="en-US" sz="1200" noProof="0" dirty="0">
                <a:solidFill>
                  <a:srgbClr val="202945"/>
                </a:solidFill>
                <a:latin typeface="Nunito Sans"/>
              </a:rPr>
              <a:t>SMH semiconductors,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-0.4%</a:t>
            </a:r>
          </a:p>
          <a:p>
            <a:pPr algn="ctr"/>
            <a:r>
              <a:rPr lang="en-US" sz="1200" noProof="0" dirty="0">
                <a:solidFill>
                  <a:srgbClr val="202945"/>
                </a:solidFill>
                <a:latin typeface="Nunito Sans"/>
              </a:rPr>
              <a:t>US CPI, June m/m</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$88</a:t>
            </a:r>
            <a:endParaRPr lang="en-US" sz="2400" noProof="0" dirty="0"/>
          </a:p>
          <a:p>
            <a:pPr algn="ctr"/>
            <a:r>
              <a:rPr lang="en-US" sz="1200" noProof="0" dirty="0">
                <a:solidFill>
                  <a:srgbClr val="202945"/>
                </a:solidFill>
                <a:latin typeface="Nunito Sans"/>
              </a:rPr>
              <a:t>WTI, week's high (+$12)</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MSCI World</a:t>
            </a:r>
          </a:p>
          <a:p>
            <a:pPr algn="l">
              <a:spcAft>
                <a:spcPts val="600"/>
              </a:spcAft>
            </a:pPr>
            <a:r>
              <a:rPr lang="en-US" sz="1100" b="0" noProof="0" dirty="0">
                <a:solidFill>
                  <a:srgbClr val="202945"/>
                </a:solidFill>
                <a:latin typeface="Nunito Sans"/>
              </a:rPr>
              <a:t>Nasdaq 100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CSI 300</a:t>
            </a:r>
          </a:p>
          <a:p>
            <a:pPr algn="l">
              <a:spcAft>
                <a:spcPts val="600"/>
              </a:spcAft>
            </a:pPr>
            <a:r>
              <a:rPr lang="en-US" sz="1100" b="0" noProof="0" dirty="0">
                <a:solidFill>
                  <a:srgbClr val="202945"/>
                </a:solidFill>
                <a:latin typeface="Nunito Sans"/>
              </a:rPr>
              <a:t>US Governments</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MSCI World Energy</a:t>
            </a:r>
          </a:p>
          <a:p>
            <a:pPr algn="l">
              <a:spcAft>
                <a:spcPts val="600"/>
              </a:spcAft>
            </a:pPr>
            <a:r>
              <a:rPr lang="en-US" sz="1100" b="0" noProof="0" dirty="0">
                <a:solidFill>
                  <a:srgbClr val="202945"/>
                </a:solidFill>
                <a:latin typeface="Nunito Sans"/>
              </a:rPr>
              <a:t>MSCI World Info Tech</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FF6C0E"/>
                </a:solidFill>
                <a:latin typeface="Nunito Sans"/>
              </a:rPr>
              <a:t>-1.2%</a:t>
            </a:r>
          </a:p>
          <a:p>
            <a:pPr algn="r">
              <a:spcAft>
                <a:spcPts val="600"/>
              </a:spcAft>
            </a:pPr>
            <a:r>
              <a:rPr lang="en-US" sz="1100" b="0" noProof="0" dirty="0">
                <a:solidFill>
                  <a:srgbClr val="FF6C0E"/>
                </a:solidFill>
                <a:latin typeface="Nunito Sans"/>
              </a:rPr>
              <a:t>-4.1%</a:t>
            </a:r>
          </a:p>
          <a:p>
            <a:pPr algn="r">
              <a:spcAft>
                <a:spcPts val="600"/>
              </a:spcAft>
            </a:pPr>
            <a:r>
              <a:rPr lang="en-US" sz="1100" b="0" noProof="0" dirty="0">
                <a:solidFill>
                  <a:srgbClr val="FF6C0E"/>
                </a:solidFill>
                <a:latin typeface="Nunito Sans"/>
              </a:rPr>
              <a:t>-4.1%</a:t>
            </a:r>
          </a:p>
          <a:p>
            <a:pPr algn="r">
              <a:spcAft>
                <a:spcPts val="600"/>
              </a:spcAft>
            </a:pPr>
            <a:r>
              <a:rPr lang="en-US" sz="1100" b="0" noProof="0" dirty="0">
                <a:solidFill>
                  <a:srgbClr val="FF6C0E"/>
                </a:solidFill>
                <a:latin typeface="Nunito Sans"/>
              </a:rPr>
              <a:t>-5.1%</a:t>
            </a:r>
          </a:p>
          <a:p>
            <a:pPr algn="r">
              <a:spcAft>
                <a:spcPts val="600"/>
              </a:spcAft>
            </a:pPr>
            <a:r>
              <a:rPr lang="en-US" sz="1100" b="0" noProof="0" dirty="0">
                <a:solidFill>
                  <a:srgbClr val="3BAF90"/>
                </a:solidFill>
                <a:latin typeface="Nunito Sans"/>
              </a:rPr>
              <a:t>+0.2%</a:t>
            </a:r>
          </a:p>
          <a:p>
            <a:pPr algn="r">
              <a:spcAft>
                <a:spcPts val="600"/>
              </a:spcAft>
            </a:pPr>
            <a:r>
              <a:rPr lang="en-US" sz="1100" b="0" noProof="0" dirty="0">
                <a:solidFill>
                  <a:srgbClr val="3BAF90"/>
                </a:solidFill>
                <a:latin typeface="Nunito Sans"/>
              </a:rPr>
              <a:t>+19.1%</a:t>
            </a:r>
          </a:p>
          <a:p>
            <a:pPr algn="r">
              <a:spcAft>
                <a:spcPts val="600"/>
              </a:spcAft>
            </a:pPr>
            <a:r>
              <a:rPr lang="en-US" sz="1100" b="0" noProof="0" dirty="0">
                <a:solidFill>
                  <a:srgbClr val="3BAF90"/>
                </a:solidFill>
                <a:latin typeface="Nunito Sans"/>
              </a:rPr>
              <a:t>+0.4%</a:t>
            </a:r>
          </a:p>
          <a:p>
            <a:pPr algn="r">
              <a:spcAft>
                <a:spcPts val="600"/>
              </a:spcAft>
            </a:pPr>
            <a:r>
              <a:rPr lang="en-US" sz="1100" b="0" noProof="0" dirty="0">
                <a:solidFill>
                  <a:srgbClr val="3BAF90"/>
                </a:solidFill>
                <a:latin typeface="Nunito Sans"/>
              </a:rPr>
              <a:t>+4.7%</a:t>
            </a:r>
          </a:p>
          <a:p>
            <a:pPr algn="r">
              <a:spcAft>
                <a:spcPts val="600"/>
              </a:spcAft>
            </a:pPr>
            <a:r>
              <a:rPr lang="en-US" sz="1100" b="0" noProof="0" dirty="0">
                <a:solidFill>
                  <a:srgbClr val="FF6C0E"/>
                </a:solidFill>
                <a:latin typeface="Nunito Sans"/>
              </a:rPr>
              <a:t>-4.0%</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+9.6%</a:t>
            </a:r>
          </a:p>
          <a:p>
            <a:pPr algn="r">
              <a:spcAft>
                <a:spcPts val="600"/>
              </a:spcAft>
            </a:pPr>
            <a:r>
              <a:rPr lang="en-US" sz="1100" b="0" noProof="0" dirty="0">
                <a:solidFill>
                  <a:srgbClr val="3BAF90"/>
                </a:solidFill>
                <a:latin typeface="Nunito Sans"/>
              </a:rPr>
              <a:t>+13.6%</a:t>
            </a:r>
          </a:p>
          <a:p>
            <a:pPr algn="r">
              <a:spcAft>
                <a:spcPts val="600"/>
              </a:spcAft>
            </a:pPr>
            <a:r>
              <a:rPr lang="en-US" sz="1100" b="0" noProof="0" dirty="0">
                <a:solidFill>
                  <a:srgbClr val="3BAF90"/>
                </a:solidFill>
                <a:latin typeface="Nunito Sans"/>
              </a:rPr>
              <a:t>+16.9%</a:t>
            </a:r>
          </a:p>
          <a:p>
            <a:pPr algn="r">
              <a:spcAft>
                <a:spcPts val="600"/>
              </a:spcAft>
            </a:pPr>
            <a:r>
              <a:rPr lang="en-US" sz="1100" b="0" noProof="0" dirty="0">
                <a:solidFill>
                  <a:srgbClr val="FF6C0E"/>
                </a:solidFill>
                <a:latin typeface="Nunito Sans"/>
              </a:rPr>
              <a:t>-0.8%</a:t>
            </a:r>
          </a:p>
          <a:p>
            <a:pPr algn="r">
              <a:spcAft>
                <a:spcPts val="600"/>
              </a:spcAft>
            </a:pPr>
            <a:r>
              <a:rPr lang="en-US" sz="1100" b="0" noProof="0" dirty="0">
                <a:solidFill>
                  <a:srgbClr val="FF6C0E"/>
                </a:solidFill>
                <a:latin typeface="Nunito Sans"/>
              </a:rPr>
              <a:t>-0.1%</a:t>
            </a:r>
          </a:p>
          <a:p>
            <a:pPr algn="r">
              <a:spcAft>
                <a:spcPts val="600"/>
              </a:spcAft>
            </a:pPr>
            <a:r>
              <a:rPr lang="en-US" sz="1100" b="0" noProof="0" dirty="0">
                <a:solidFill>
                  <a:srgbClr val="3BAF90"/>
                </a:solidFill>
                <a:latin typeface="Nunito Sans"/>
              </a:rPr>
              <a:t>+63.2%</a:t>
            </a:r>
          </a:p>
          <a:p>
            <a:pPr algn="r">
              <a:spcAft>
                <a:spcPts val="600"/>
              </a:spcAft>
            </a:pPr>
            <a:r>
              <a:rPr lang="en-US" sz="1100" b="0" noProof="0" dirty="0">
                <a:solidFill>
                  <a:srgbClr val="FF6C0E"/>
                </a:solidFill>
                <a:latin typeface="Nunito Sans"/>
              </a:rPr>
              <a:t>-7.0%</a:t>
            </a:r>
          </a:p>
          <a:p>
            <a:pPr algn="r">
              <a:spcAft>
                <a:spcPts val="600"/>
              </a:spcAft>
            </a:pPr>
            <a:r>
              <a:rPr lang="en-US" sz="1100" b="0" noProof="0" dirty="0">
                <a:solidFill>
                  <a:srgbClr val="3BAF90"/>
                </a:solidFill>
                <a:latin typeface="Nunito Sans"/>
              </a:rPr>
              <a:t>+29.1%</a:t>
            </a:r>
          </a:p>
          <a:p>
            <a:pPr algn="r">
              <a:spcAft>
                <a:spcPts val="600"/>
              </a:spcAft>
            </a:pPr>
            <a:r>
              <a:rPr lang="en-US" sz="1100" b="0" noProof="0" dirty="0">
                <a:solidFill>
                  <a:srgbClr val="3BAF90"/>
                </a:solidFill>
                <a:latin typeface="Nunito Sans"/>
              </a:rPr>
              <a:t>+16.4%</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Tech and China led the losses</a:t>
            </a:r>
            <a:endParaRPr lang="en-US" sz="1200" noProof="0" dirty="0"/>
          </a:p>
          <a:p>
            <a:pPr algn="l"/>
            <a:r>
              <a:rPr lang="en-US" sz="1100" b="0" noProof="0" dirty="0">
                <a:solidFill>
                  <a:srgbClr val="202945"/>
                </a:solidFill>
                <a:latin typeface="Nunito Sans"/>
              </a:rPr>
              <a:t>CSI 300, Nasdaq 100 and MSCI EM sat at the bottom of the board; the SOX closed more than 20% below its June record.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Value reasserting itself</a:t>
            </a:r>
            <a:endParaRPr lang="en-US" sz="1200" noProof="0" dirty="0"/>
          </a:p>
          <a:p>
            <a:pPr algn="l"/>
            <a:r>
              <a:rPr lang="en-US" sz="1100" b="0" noProof="0" dirty="0">
                <a:solidFill>
                  <a:srgbClr val="202945"/>
                </a:solidFill>
                <a:latin typeface="Nunito Sans"/>
              </a:rPr>
              <a:t>Energy, Financials and Consumer Staples were among the only sectors positive on the week, while Information Technology fell 4.0%.</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Fixed income stayed defensive</a:t>
            </a:r>
            <a:endParaRPr lang="en-US" sz="1200" noProof="0" dirty="0"/>
          </a:p>
          <a:p>
            <a:pPr algn="l"/>
            <a:r>
              <a:rPr lang="en-US" sz="1100" b="0" noProof="0" dirty="0">
                <a:solidFill>
                  <a:srgbClr val="202945"/>
                </a:solidFill>
                <a:latin typeface="Nunito Sans"/>
              </a:rPr>
              <a:t>US Governments and USD high yield were little changed; European credit slipped on the energy-driven inflation scare.</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3" name="Text Placeholder 2">
            <a:extLst>
              <a:ext uri="{FF2B5EF4-FFF2-40B4-BE49-F238E27FC236}">
                <a16:creationId xmlns:a16="http://schemas.microsoft.com/office/drawing/2014/main" id="{BC7CB425-A197-FF68-020E-2E808D0A6105}"/>
              </a:ext>
            </a:extLst>
          </p:cNvPr>
          <p:cNvSpPr>
            <a:spLocks noGrp="1"/>
          </p:cNvSpPr>
          <p:nvPr>
            <p:ph type="body" sz="quarter" idx="14"/>
          </p:nvPr>
        </p:nvSpPr>
        <p:spPr>
          <a:xfrm>
            <a:off x="665163" y="1699200"/>
            <a:ext cx="9398001" cy="251511"/>
          </a:xfrm>
        </p:spPr>
        <p:txBody>
          <a:bodyPr/>
          <a:lstStyle/>
          <a:p>
            <a:r>
              <a:rPr lang="en-US" sz="1400" noProof="0" dirty="0"/>
              <a:t>A Beijing lab moved markets more than the Fed did; oil, momentum and Korean leverage did the rest.</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a:t>
            </a:r>
            <a:endParaRPr lang="en-US" sz="1200" noProof="0" dirty="0">
              <a:solidFill>
                <a:schemeClr val="tx2"/>
              </a:solidFill>
            </a:endParaRPr>
          </a:p>
          <a:p>
            <a:pPr algn="l">
              <a:spcAft>
                <a:spcPts val="800"/>
              </a:spcAft>
            </a:pPr>
            <a:r>
              <a:rPr lang="en-US" sz="1100" b="0" noProof="0" dirty="0">
                <a:solidFill>
                  <a:srgbClr val="202945"/>
                </a:solidFill>
                <a:latin typeface="Nunito Sans"/>
              </a:rPr>
              <a:t>A seventh night of US-Iran strikes pushed WTI up $12 to $88, its biggest weekly gain since the war began. Hormuz cargo crossings collapsed to 2 vessels against a one-year average of 72.</a:t>
            </a:r>
          </a:p>
          <a:p>
            <a:pPr>
              <a:spcAft>
                <a:spcPts val="800"/>
              </a:spcAft>
            </a:pPr>
            <a:r>
              <a:rPr lang="en-US" sz="1200" b="1" noProof="0" dirty="0">
                <a:solidFill>
                  <a:schemeClr val="tx2"/>
                </a:solidFill>
                <a:latin typeface="Nunito Sans ExtraBold"/>
              </a:rPr>
              <a:t>$88 WTI  </a:t>
            </a:r>
          </a:p>
          <a:p>
            <a:pPr>
              <a:spcAft>
                <a:spcPts val="800"/>
              </a:spcAft>
            </a:pPr>
            <a:r>
              <a:rPr lang="en-US" sz="1200" b="1" noProof="0" dirty="0">
                <a:solidFill>
                  <a:schemeClr val="tx2"/>
                </a:solidFill>
                <a:latin typeface="Nunito Sans ExtraBold"/>
              </a:rPr>
              <a:t>Hormuz traffic near zero</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China closes the AI gap</a:t>
            </a:r>
          </a:p>
          <a:p>
            <a:pPr algn="l">
              <a:spcAft>
                <a:spcPts val="800"/>
              </a:spcAft>
            </a:pPr>
            <a:r>
              <a:rPr lang="en-US" sz="1100" b="0" noProof="0" dirty="0">
                <a:solidFill>
                  <a:srgbClr val="202945"/>
                </a:solidFill>
                <a:latin typeface="Nunito Sans"/>
              </a:rPr>
              <a:t>Moonshot AI's Kimi K3 took the number one spot on the Frontend Code Arena leaderboard, a 17-place jump, ahead of every closed </a:t>
            </a:r>
            <a:r>
              <a:rPr lang="en-US" sz="1100" b="0" noProof="0" dirty="0">
                <a:solidFill>
                  <a:schemeClr val="tx2"/>
                </a:solidFill>
                <a:latin typeface="Nunito Sans"/>
              </a:rPr>
              <a:t>US frontier model, read as a second "DeepSeek moment".</a:t>
            </a:r>
          </a:p>
          <a:p>
            <a:pPr>
              <a:spcAft>
                <a:spcPts val="800"/>
              </a:spcAft>
            </a:pPr>
            <a:r>
              <a:rPr lang="en-US" sz="1200" b="1" noProof="0" dirty="0">
                <a:solidFill>
                  <a:schemeClr val="tx2"/>
                </a:solidFill>
                <a:latin typeface="Nunito Sans ExtraBold"/>
              </a:rPr>
              <a:t>Kimi K3: 18th to 1st</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Momentum unwind, not capex unwind</a:t>
            </a:r>
          </a:p>
          <a:p>
            <a:pPr algn="l">
              <a:spcAft>
                <a:spcPts val="800"/>
              </a:spcAft>
            </a:pPr>
            <a:r>
              <a:rPr lang="en-US" sz="1100" b="0" noProof="0" dirty="0">
                <a:solidFill>
                  <a:srgbClr val="202945"/>
                </a:solidFill>
                <a:latin typeface="Nunito Sans"/>
              </a:rPr>
              <a:t>Goldman's high-beta momentum basket heads for its worst month in roughly 17 years; $3.3tn erased from global chip stocks since 22 </a:t>
            </a:r>
            <a:r>
              <a:rPr lang="en-US" sz="1100" b="0" noProof="0" dirty="0">
                <a:solidFill>
                  <a:schemeClr val="tx2"/>
                </a:solidFill>
                <a:latin typeface="Nunito Sans"/>
              </a:rPr>
              <a:t>June. </a:t>
            </a:r>
            <a:r>
              <a:rPr lang="en-US" sz="1100" b="0" noProof="0" dirty="0" err="1">
                <a:solidFill>
                  <a:schemeClr val="tx2"/>
                </a:solidFill>
                <a:latin typeface="Nunito Sans"/>
              </a:rPr>
              <a:t>Hyperscaler</a:t>
            </a:r>
            <a:r>
              <a:rPr lang="en-US" sz="1100" b="0" noProof="0" dirty="0">
                <a:solidFill>
                  <a:schemeClr val="tx2"/>
                </a:solidFill>
                <a:latin typeface="Nunito Sans"/>
              </a:rPr>
              <a:t> backlogs still point to an intact $730bn buildout.</a:t>
            </a:r>
          </a:p>
          <a:p>
            <a:pPr>
              <a:spcAft>
                <a:spcPts val="800"/>
              </a:spcAft>
            </a:pPr>
            <a:r>
              <a:rPr lang="en-US" sz="1200" b="1" noProof="0" dirty="0">
                <a:solidFill>
                  <a:schemeClr val="tx2"/>
                </a:solidFill>
                <a:latin typeface="Nunito Sans ExtraBold"/>
              </a:rPr>
              <a:t>-$3.3tn chip stocks   </a:t>
            </a:r>
          </a:p>
          <a:p>
            <a:pPr>
              <a:spcAft>
                <a:spcPts val="800"/>
              </a:spcAft>
            </a:pPr>
            <a:r>
              <a:rPr lang="en-US" sz="1200" b="1" noProof="0" dirty="0">
                <a:solidFill>
                  <a:schemeClr val="tx2"/>
                </a:solidFill>
                <a:latin typeface="Nunito Sans ExtraBold"/>
              </a:rPr>
              <a:t>SOX -20%</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Korea's leverage problem</a:t>
            </a:r>
          </a:p>
          <a:p>
            <a:pPr algn="l">
              <a:spcAft>
                <a:spcPts val="800"/>
              </a:spcAft>
            </a:pPr>
            <a:r>
              <a:rPr lang="en-US" sz="1100" b="0" noProof="0" dirty="0">
                <a:solidFill>
                  <a:srgbClr val="202945"/>
                </a:solidFill>
                <a:latin typeface="Nunito Sans"/>
              </a:rPr>
              <a:t>Heavy foreign selling left Korea dependent on retail investors and single-stock leveraged ETFs tied to Samsung and SK Hynix, turning falling prices into forced selling. Banks now push a rotation </a:t>
            </a:r>
            <a:r>
              <a:rPr lang="en-US" sz="1100" b="0" noProof="0" dirty="0">
                <a:solidFill>
                  <a:schemeClr val="tx2"/>
                </a:solidFill>
                <a:latin typeface="Nunito Sans"/>
              </a:rPr>
              <a:t>into China.</a:t>
            </a:r>
          </a:p>
          <a:p>
            <a:pPr>
              <a:spcAft>
                <a:spcPts val="800"/>
              </a:spcAft>
            </a:pPr>
            <a:r>
              <a:rPr lang="en-US" sz="1200" b="1" noProof="0" dirty="0">
                <a:solidFill>
                  <a:schemeClr val="tx2"/>
                </a:solidFill>
                <a:latin typeface="Nunito Sans ExtraBold"/>
              </a:rPr>
              <a:t>Kospi was +88% YTD at its peak</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Moderate - 39%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Medium to long term ( 5 to 10 years)</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EUR</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Moderate</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Regular distribution but stable capital</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5991063" y="3729580"/>
              <a:ext cx="314873" cy="314873"/>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200" noProof="0" dirty="0"/>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1796" y="3187360"/>
              <a:ext cx="251048" cy="251047"/>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100" noProof="0" dirty="0"/>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cash and fixed income</a:t>
            </a:r>
          </a:p>
        </p:txBody>
      </p:sp>
      <p:sp>
        <p:nvSpPr>
          <p:cNvPr id="3" name="Text Placeholder 2"/>
          <p:cNvSpPr>
            <a:spLocks noGrp="1"/>
          </p:cNvSpPr>
          <p:nvPr>
            <p:ph type="body" sz="quarter" idx="14"/>
          </p:nvPr>
        </p:nvSpPr>
        <p:spPr>
          <a:xfrm>
            <a:off x="665163" y="1645086"/>
            <a:ext cx="9398001" cy="251511"/>
          </a:xfrm>
        </p:spPr>
        <p:txBody>
          <a:bodyPr/>
          <a:lstStyle/>
          <a:p>
            <a:r>
              <a:rPr lang="en-US" sz="1400" noProof="0" dirty="0"/>
              <a:t>All positions of the proposed USD 7.0m allocation, part 1 of 2. Weights as at 6 August 2026.</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equity, alternatives and commodities</a:t>
            </a:r>
          </a:p>
        </p:txBody>
      </p:sp>
      <p:sp>
        <p:nvSpPr>
          <p:cNvPr id="3" name="Text Placeholder 2"/>
          <p:cNvSpPr>
            <a:spLocks noGrp="1"/>
          </p:cNvSpPr>
          <p:nvPr>
            <p:ph type="body" sz="quarter" idx="14"/>
          </p:nvPr>
        </p:nvSpPr>
        <p:spPr>
          <a:xfrm>
            <a:off x="665163" y="1658941"/>
            <a:ext cx="9398001" cy="251511"/>
          </a:xfrm>
        </p:spPr>
        <p:txBody>
          <a:bodyPr/>
          <a:lstStyle/>
          <a:p>
            <a:r>
              <a:rPr lang="en-US" sz="1400" noProof="0" dirty="0"/>
              <a:t>All positions of the proposed USD 7.0m allocation, part 2 of 2. Weights as at 6 August 2026.</a:t>
            </a: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USD 7.0M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36</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7.9%</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86.6%</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p:cNvGraphicFramePr>
            <a:graphicFrameLocks noGrp="1"/>
          </p:cNvGraphicFramePr>
          <p:nvPr>
            <p:custDataLst>
              <p:tags r:id="rId1"/>
            </p:custDataLst>
            <p:extLst>
              <p:ext uri="{D42A27DB-BD31-4B8C-83A1-F6EECF244321}">
                <p14:modId xmlns:p14="http://schemas.microsoft.com/office/powerpoint/2010/main" val="330564794"/>
              </p:ext>
            </p:extLst>
          </p:nvPr>
        </p:nvGraphicFramePr>
        <p:xfrm>
          <a:off x="666000" y="4860000"/>
          <a:ext cx="9396001" cy="1879200"/>
        </p:xfrm>
        <a:graphic>
          <a:graphicData uri="http://schemas.openxmlformats.org/drawingml/2006/table">
            <a:tbl>
              <a:tblPr firstRow="1" bandRow="1">
                <a:tableStyleId>{5C22544A-7EE6-4342-B048-85BDC9FD1C3A}</a:tableStyleId>
              </a:tblPr>
              <a:tblGrid>
                <a:gridCol w="2645091">
                  <a:extLst>
                    <a:ext uri="{9D8B030D-6E8A-4147-A177-3AD203B41FA5}">
                      <a16:colId xmlns:a16="http://schemas.microsoft.com/office/drawing/2014/main" val="20000"/>
                    </a:ext>
                  </a:extLst>
                </a:gridCol>
                <a:gridCol w="872982">
                  <a:extLst>
                    <a:ext uri="{9D8B030D-6E8A-4147-A177-3AD203B41FA5}">
                      <a16:colId xmlns:a16="http://schemas.microsoft.com/office/drawing/2014/main" val="20001"/>
                    </a:ext>
                  </a:extLst>
                </a:gridCol>
                <a:gridCol w="775854">
                  <a:extLst>
                    <a:ext uri="{9D8B030D-6E8A-4147-A177-3AD203B41FA5}">
                      <a16:colId xmlns:a16="http://schemas.microsoft.com/office/drawing/2014/main" val="20002"/>
                    </a:ext>
                  </a:extLst>
                </a:gridCol>
                <a:gridCol w="940359">
                  <a:extLst>
                    <a:ext uri="{9D8B030D-6E8A-4147-A177-3AD203B41FA5}">
                      <a16:colId xmlns:a16="http://schemas.microsoft.com/office/drawing/2014/main" val="872078039"/>
                    </a:ext>
                  </a:extLst>
                </a:gridCol>
                <a:gridCol w="1183908">
                  <a:extLst>
                    <a:ext uri="{9D8B030D-6E8A-4147-A177-3AD203B41FA5}">
                      <a16:colId xmlns:a16="http://schemas.microsoft.com/office/drawing/2014/main" val="3082724075"/>
                    </a:ext>
                  </a:extLst>
                </a:gridCol>
                <a:gridCol w="1251958">
                  <a:extLst>
                    <a:ext uri="{9D8B030D-6E8A-4147-A177-3AD203B41FA5}">
                      <a16:colId xmlns:a16="http://schemas.microsoft.com/office/drawing/2014/main" val="2004377814"/>
                    </a:ext>
                  </a:extLst>
                </a:gridCol>
                <a:gridCol w="1725849">
                  <a:extLst>
                    <a:ext uri="{9D8B030D-6E8A-4147-A177-3AD203B41FA5}">
                      <a16:colId xmlns:a16="http://schemas.microsoft.com/office/drawing/2014/main" val="3250012267"/>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tc>
                  <a:txBody>
                    <a:bodyPr/>
                    <a:lstStyle/>
                    <a:p>
                      <a:pPr algn="r"/>
                      <a:r>
                        <a:rPr lang="en-US" sz="1100" b="1" noProof="0">
                          <a:solidFill>
                            <a:srgbClr val="202945"/>
                          </a:solidFill>
                          <a:latin typeface="Nunito Sans"/>
                        </a:rPr>
                        <a:t>Duration</a:t>
                      </a:r>
                    </a:p>
                  </a:txBody>
                  <a:tcPr marL="54000" marR="54000" marT="18000" marB="18000" anchor="ctr">
                    <a:solidFill>
                      <a:srgbClr val="FFC545"/>
                    </a:solidFill>
                  </a:tcPr>
                </a:tc>
                <a:tc>
                  <a:txBody>
                    <a:bodyPr/>
                    <a:lstStyle/>
                    <a:p>
                      <a:pPr algn="r"/>
                      <a:r>
                        <a:rPr lang="en-US" sz="1100" b="1" noProof="0">
                          <a:solidFill>
                            <a:srgbClr val="202945"/>
                          </a:solidFill>
                          <a:latin typeface="Nunito Sans"/>
                        </a:rPr>
                        <a:t>Yield</a:t>
                      </a:r>
                    </a:p>
                  </a:txBody>
                  <a:tcPr marL="54000" marR="54000" marT="18000" marB="18000" anchor="ctr">
                    <a:solidFill>
                      <a:srgbClr val="FFC545"/>
                    </a:solidFill>
                  </a:tcPr>
                </a:tc>
                <a:tc>
                  <a:txBody>
                    <a:bodyPr/>
                    <a:lstStyle/>
                    <a:p>
                      <a:pPr algn="r"/>
                      <a:r>
                        <a:rPr lang="en-US" sz="1100" b="1" noProof="0">
                          <a:solidFill>
                            <a:srgbClr val="202945"/>
                          </a:solidFill>
                          <a:latin typeface="+mn-lt"/>
                        </a:rPr>
                        <a:t>Price</a:t>
                      </a:r>
                      <a:endParaRPr lang="en-US" sz="1100" b="1" noProof="0">
                        <a:solidFill>
                          <a:srgbClr val="202945"/>
                        </a:solidFill>
                        <a:latin typeface="Nunito Sans"/>
                      </a:endParaRPr>
                    </a:p>
                  </a:txBody>
                  <a:tcPr marL="54000" marR="54000" marT="18000" marB="18000" anchor="ctr">
                    <a:solidFill>
                      <a:srgbClr val="FFC545"/>
                    </a:solidFill>
                  </a:tcPr>
                </a:tc>
                <a:tc>
                  <a:txBody>
                    <a:bodyPr/>
                    <a:lstStyle/>
                    <a:p>
                      <a:pPr algn="r"/>
                      <a:r>
                        <a:rPr lang="en-US" sz="1100" b="1" noProof="0">
                          <a:solidFill>
                            <a:srgbClr val="202945"/>
                          </a:solidFill>
                          <a:latin typeface="Nunito Sans"/>
                        </a:rPr>
                        <a:t>Bid ask</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err="1">
                          <a:solidFill>
                            <a:srgbClr val="202945"/>
                          </a:solidFill>
                          <a:latin typeface="Nunito Sans"/>
                        </a:rPr>
                        <a:t>Syz</a:t>
                      </a:r>
                      <a:r>
                        <a:rPr lang="en-US" sz="1000" b="0" noProof="0" dirty="0">
                          <a:solidFill>
                            <a:srgbClr val="202945"/>
                          </a:solidFill>
                          <a:latin typeface="Nunito Sans"/>
                        </a:rPr>
                        <a:t> Emerging Market Corporate Bond Cert</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384k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9.9%</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99.79</a:t>
                      </a:r>
                    </a:p>
                  </a:txBody>
                  <a:tcPr marL="54000" marR="54000" marT="18000" marB="18000" anchor="ctr">
                    <a:solidFill>
                      <a:srgbClr val="FFFFFF"/>
                    </a:solidFill>
                  </a:tcPr>
                </a:tc>
                <a:tc>
                  <a:txBody>
                    <a:bodyPr/>
                    <a:lstStyle/>
                    <a:p>
                      <a:pPr algn="r"/>
                      <a:r>
                        <a:rPr lang="en-US" sz="1000" b="0" noProof="0">
                          <a:solidFill>
                            <a:srgbClr val="202945"/>
                          </a:solidFill>
                          <a:latin typeface="Nunito Sans"/>
                        </a:rPr>
                        <a:t>Bloomberg</a:t>
                      </a:r>
                    </a:p>
                  </a:txBody>
                  <a:tcPr marL="54000" marR="54000" marT="18000" marB="18000" anchor="ctr">
                    <a:solidFill>
                      <a:srgbClr val="FFFFFF"/>
                    </a:solidFill>
                  </a:tcPr>
                </a:tc>
                <a:extLst>
                  <a:ext uri="{0D108BD9-81ED-4DB2-BD59-A6C34878D82A}">
                    <a16:rowId xmlns:a16="http://schemas.microsoft.com/office/drawing/2014/main" val="10001"/>
                  </a:ext>
                </a:extLst>
              </a:tr>
              <a:tr h="259200">
                <a:tc>
                  <a:txBody>
                    <a:bodyPr/>
                    <a:lstStyle/>
                    <a:p>
                      <a:pPr algn="l"/>
                      <a:r>
                        <a:rPr lang="en-US" sz="1000" b="0" noProof="0" dirty="0">
                          <a:solidFill>
                            <a:srgbClr val="202945"/>
                          </a:solidFill>
                          <a:latin typeface="Nunito Sans"/>
                        </a:rPr>
                        <a:t>BNY Mellon Global Funds PLC - BN…</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279k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7.2%</a:t>
                      </a:r>
                    </a:p>
                  </a:txBody>
                  <a:tcPr marL="54000" marR="54000" marT="18000" marB="18000" anchor="ctr">
                    <a:solidFill>
                      <a:srgbClr val="F5F6F8"/>
                    </a:solidFill>
                  </a:tcPr>
                </a:tc>
                <a:tc>
                  <a:txBody>
                    <a:bodyPr/>
                    <a:lstStyle/>
                    <a:p>
                      <a:pPr algn="r"/>
                      <a:r>
                        <a:rPr lang="en-US" sz="1000" b="0" noProof="0">
                          <a:solidFill>
                            <a:srgbClr val="202945"/>
                          </a:solidFill>
                          <a:latin typeface="Nunito Sans"/>
                        </a:rPr>
                        <a:t>4.50</a:t>
                      </a:r>
                    </a:p>
                  </a:txBody>
                  <a:tcPr marL="54000" marR="54000" marT="18000" marB="18000" anchor="ctr">
                    <a:solidFill>
                      <a:srgbClr val="F5F6F8"/>
                    </a:solidFill>
                  </a:tcPr>
                </a:tc>
                <a:tc>
                  <a:txBody>
                    <a:bodyPr/>
                    <a:lstStyle/>
                    <a:p>
                      <a:pPr algn="r"/>
                      <a:r>
                        <a:rPr lang="en-US" sz="1000" b="0" noProof="0">
                          <a:solidFill>
                            <a:srgbClr val="202945"/>
                          </a:solidFill>
                          <a:latin typeface="Nunito Sans"/>
                        </a:rPr>
                        <a:t>3.40</a:t>
                      </a:r>
                    </a:p>
                  </a:txBody>
                  <a:tcPr marL="54000" marR="54000" marT="18000" marB="18000" anchor="ctr">
                    <a:solidFill>
                      <a:srgbClr val="F5F6F8"/>
                    </a:solidFill>
                  </a:tcPr>
                </a:tc>
                <a:tc>
                  <a:txBody>
                    <a:bodyPr/>
                    <a:lstStyle/>
                    <a:p>
                      <a:pPr algn="r"/>
                      <a:r>
                        <a:rPr lang="en-US" sz="1000" b="0" noProof="0">
                          <a:solidFill>
                            <a:srgbClr val="202945"/>
                          </a:solidFill>
                          <a:latin typeface="Nunito Sans"/>
                        </a:rPr>
                        <a:t>98.47</a:t>
                      </a:r>
                    </a:p>
                  </a:txBody>
                  <a:tcPr marL="54000" marR="54000" marT="18000" marB="18000" anchor="ctr">
                    <a:solidFill>
                      <a:srgbClr val="F5F6F8"/>
                    </a:solidFill>
                  </a:tcPr>
                </a:tc>
                <a:tc>
                  <a:txBody>
                    <a:bodyPr/>
                    <a:lstStyle/>
                    <a:p>
                      <a:pPr algn="r"/>
                      <a:endParaRPr lang="en-US" sz="1000" b="0" noProof="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2"/>
                  </a:ext>
                </a:extLst>
              </a:tr>
              <a:tr h="259200">
                <a:tc>
                  <a:txBody>
                    <a:bodyPr/>
                    <a:lstStyle/>
                    <a:p>
                      <a:pPr algn="l"/>
                      <a:r>
                        <a:rPr lang="en-US" sz="1000" b="0" noProof="0" dirty="0">
                          <a:solidFill>
                            <a:srgbClr val="202945"/>
                          </a:solidFill>
                          <a:latin typeface="Nunito Sans"/>
                        </a:rPr>
                        <a:t>Repsol E&amp;P Capital Markets US LL…</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201k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5.2%</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3.74</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98.69</a:t>
                      </a:r>
                    </a:p>
                  </a:txBody>
                  <a:tcPr marL="54000" marR="54000" marT="18000" marB="18000" anchor="ctr">
                    <a:solidFill>
                      <a:srgbClr val="FFFFFF"/>
                    </a:solidFill>
                  </a:tcPr>
                </a:tc>
                <a:tc>
                  <a:txBody>
                    <a:bodyPr/>
                    <a:lstStyle/>
                    <a:p>
                      <a:pPr algn="r"/>
                      <a:endParaRPr lang="en-US" sz="1000" b="0" noProof="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3"/>
                  </a:ext>
                </a:extLst>
              </a:tr>
              <a:tr h="259200">
                <a:tc>
                  <a:txBody>
                    <a:bodyPr/>
                    <a:lstStyle/>
                    <a:p>
                      <a:pPr algn="l"/>
                      <a:r>
                        <a:rPr lang="en-US" sz="1000" b="0" noProof="0" dirty="0">
                          <a:solidFill>
                            <a:srgbClr val="202945"/>
                          </a:solidFill>
                          <a:latin typeface="Nunito Sans"/>
                        </a:rPr>
                        <a:t>Africa Finance Corp. 5.375% 23-J…</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200k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5.2%</a:t>
                      </a:r>
                    </a:p>
                  </a:txBody>
                  <a:tcPr marL="54000" marR="54000" marT="18000" marB="18000" anchor="ctr">
                    <a:solidFill>
                      <a:srgbClr val="F5F6F8"/>
                    </a:solidFill>
                  </a:tcPr>
                </a:tc>
                <a:tc>
                  <a:txBody>
                    <a:bodyPr/>
                    <a:lstStyle/>
                    <a:p>
                      <a:pPr algn="r"/>
                      <a:r>
                        <a:rPr lang="en-US" sz="1000" b="0" noProof="0">
                          <a:solidFill>
                            <a:srgbClr val="202945"/>
                          </a:solidFill>
                          <a:latin typeface="Nunito Sans"/>
                        </a:rPr>
                        <a:t>4.85</a:t>
                      </a:r>
                    </a:p>
                  </a:txBody>
                  <a:tcPr marL="54000" marR="54000" marT="18000" marB="18000" anchor="ctr">
                    <a:solidFill>
                      <a:srgbClr val="F5F6F8"/>
                    </a:solidFill>
                  </a:tcPr>
                </a:tc>
                <a:tc>
                  <a:txBody>
                    <a:bodyPr/>
                    <a:lstStyle/>
                    <a:p>
                      <a:pPr algn="r"/>
                      <a:r>
                        <a:rPr lang="en-US" sz="1000" b="0" noProof="0">
                          <a:solidFill>
                            <a:srgbClr val="202945"/>
                          </a:solidFill>
                          <a:latin typeface="Nunito Sans"/>
                        </a:rPr>
                        <a:t>3.74</a:t>
                      </a:r>
                    </a:p>
                  </a:txBody>
                  <a:tcPr marL="54000" marR="54000" marT="18000" marB="18000" anchor="ctr">
                    <a:solidFill>
                      <a:srgbClr val="F5F6F8"/>
                    </a:solidFill>
                  </a:tcPr>
                </a:tc>
                <a:tc>
                  <a:txBody>
                    <a:bodyPr/>
                    <a:lstStyle/>
                    <a:p>
                      <a:pPr algn="r"/>
                      <a:r>
                        <a:rPr lang="en-US" sz="1000" b="0" noProof="0">
                          <a:solidFill>
                            <a:srgbClr val="202945"/>
                          </a:solidFill>
                          <a:latin typeface="Nunito Sans"/>
                        </a:rPr>
                        <a:t>99.46</a:t>
                      </a:r>
                    </a:p>
                  </a:txBody>
                  <a:tcPr marL="54000" marR="54000" marT="18000" marB="18000" anchor="ctr">
                    <a:solidFill>
                      <a:srgbClr val="F5F6F8"/>
                    </a:solidFill>
                  </a:tcPr>
                </a:tc>
                <a:tc>
                  <a:txBody>
                    <a:bodyPr/>
                    <a:lstStyle/>
                    <a:p>
                      <a:pPr algn="r"/>
                      <a:endParaRPr lang="en-US" sz="1000" b="0" noProof="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4"/>
                  </a:ext>
                </a:extLst>
              </a:tr>
              <a:tr h="259200">
                <a:tc>
                  <a:txBody>
                    <a:bodyPr/>
                    <a:lstStyle/>
                    <a:p>
                      <a:pPr algn="l"/>
                      <a:r>
                        <a:rPr lang="en-US" sz="1000" b="0" noProof="0" dirty="0">
                          <a:solidFill>
                            <a:srgbClr val="202945"/>
                          </a:solidFill>
                          <a:latin typeface="Nunito Sans"/>
                        </a:rPr>
                        <a:t>Societe Generale SA 5.371 % Note…</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200k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5.1%</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1.46</a:t>
                      </a:r>
                    </a:p>
                  </a:txBody>
                  <a:tcPr marL="54000" marR="54000" marT="18000" marB="18000" anchor="ctr">
                    <a:solidFill>
                      <a:srgbClr val="FFFFFF"/>
                    </a:solidFill>
                  </a:tcPr>
                </a:tc>
                <a:tc>
                  <a:txBody>
                    <a:bodyPr/>
                    <a:lstStyle/>
                    <a:p>
                      <a:pPr algn="r"/>
                      <a:r>
                        <a:rPr lang="en-US" sz="1000" b="0" noProof="0">
                          <a:solidFill>
                            <a:srgbClr val="202945"/>
                          </a:solidFill>
                          <a:latin typeface="Nunito Sans"/>
                        </a:rPr>
                        <a:t>4.33</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101.16</a:t>
                      </a:r>
                    </a:p>
                  </a:txBody>
                  <a:tcPr marL="54000" marR="54000" marT="18000" marB="18000" anchor="ctr">
                    <a:solidFill>
                      <a:srgbClr val="FFFFFF"/>
                    </a:solidFill>
                  </a:tcPr>
                </a:tc>
                <a:tc>
                  <a:txBody>
                    <a:bodyPr/>
                    <a:lstStyle/>
                    <a:p>
                      <a:pPr algn="r"/>
                      <a:endParaRPr lang="en-US" sz="1000" b="0" noProof="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5"/>
                  </a:ext>
                </a:extLst>
              </a:tr>
              <a:tr h="259200">
                <a:tc>
                  <a:txBody>
                    <a:bodyPr/>
                    <a:lstStyle/>
                    <a:p>
                      <a:pPr algn="l"/>
                      <a:r>
                        <a:rPr lang="en-US" sz="1000" b="0" noProof="0" dirty="0">
                          <a:solidFill>
                            <a:schemeClr val="bg1"/>
                          </a:solidFill>
                          <a:latin typeface="Nunito Sans"/>
                        </a:rPr>
                        <a:t>Average</a:t>
                      </a:r>
                    </a:p>
                  </a:txBody>
                  <a:tcPr marL="54000" marR="54000" marT="18000" marB="18000" anchor="ctr">
                    <a:solidFill>
                      <a:srgbClr val="202945"/>
                    </a:solidFill>
                  </a:tcPr>
                </a:tc>
                <a:tc>
                  <a:txBody>
                    <a:bodyPr/>
                    <a:lstStyle/>
                    <a:p>
                      <a:pPr algn="r"/>
                      <a:endParaRPr lang="en-US" sz="1000" b="0" noProof="0">
                        <a:solidFill>
                          <a:schemeClr val="bg1"/>
                        </a:solidFill>
                        <a:latin typeface="Nunito Sans"/>
                      </a:endParaRP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tc>
                  <a:txBody>
                    <a:bodyPr/>
                    <a:lstStyle/>
                    <a:p>
                      <a:pPr algn="r"/>
                      <a:r>
                        <a:rPr lang="en-US" sz="1000" b="0" noProof="0" dirty="0">
                          <a:solidFill>
                            <a:schemeClr val="bg1"/>
                          </a:solidFill>
                          <a:latin typeface="Nunito Sans"/>
                        </a:rPr>
                        <a:t>2.36</a:t>
                      </a:r>
                    </a:p>
                  </a:txBody>
                  <a:tcPr marL="54000" marR="54000" marT="18000" marB="18000" anchor="ctr">
                    <a:solidFill>
                      <a:srgbClr val="202945"/>
                    </a:solidFill>
                  </a:tcPr>
                </a:tc>
                <a:tc>
                  <a:txBody>
                    <a:bodyPr/>
                    <a:lstStyle/>
                    <a:p>
                      <a:pPr algn="r"/>
                      <a:r>
                        <a:rPr lang="en-US" sz="1000" b="0" noProof="0" dirty="0">
                          <a:solidFill>
                            <a:schemeClr val="bg1"/>
                          </a:solidFill>
                          <a:latin typeface="Nunito Sans"/>
                        </a:rPr>
                        <a:t>3.6649</a:t>
                      </a: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extLst>
                  <a:ext uri="{0D108BD9-81ED-4DB2-BD59-A6C34878D82A}">
                    <a16:rowId xmlns:a16="http://schemas.microsoft.com/office/drawing/2014/main" val="1809602680"/>
                  </a:ext>
                </a:extLst>
              </a:tr>
            </a:tbl>
          </a:graphicData>
        </a:graphic>
      </p:graphicFrame>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6 issues, EUR 600,000,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16.7%</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16.7%</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16.7%</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16.7%</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16.7%</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16.7%</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USD   66.7%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CHF  16.7%</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16.7%</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16.7%</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66.7%</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16.7%</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16.7%</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16.7%</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33.3%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16.7%</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16.7%</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Source: 'Fixed Income' tab; country, sector and rating as stated there. Percentages may not sum to 100 due to rounding.</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p:cNvGraphicFramePr>
            <a:graphicFrameLocks noGrp="1"/>
          </p:cNvGraphicFramePr>
          <p:nvPr>
            <p:extLst>
              <p:ext uri="{D42A27DB-BD31-4B8C-83A1-F6EECF244321}">
                <p14:modId xmlns:p14="http://schemas.microsoft.com/office/powerpoint/2010/main" val="30210442"/>
              </p:ext>
            </p:extLst>
          </p:nvPr>
        </p:nvGraphicFramePr>
        <p:xfrm>
          <a:off x="666000" y="4860000"/>
          <a:ext cx="9359812" cy="1667280"/>
        </p:xfrm>
        <a:graphic>
          <a:graphicData uri="http://schemas.openxmlformats.org/drawingml/2006/table">
            <a:tbl>
              <a:tblPr firstRow="1" bandRow="1">
                <a:tableStyleId>{5C22544A-7EE6-4342-B048-85BDC9FD1C3A}</a:tableStyleId>
              </a:tblPr>
              <a:tblGrid>
                <a:gridCol w="3551931">
                  <a:extLst>
                    <a:ext uri="{9D8B030D-6E8A-4147-A177-3AD203B41FA5}">
                      <a16:colId xmlns:a16="http://schemas.microsoft.com/office/drawing/2014/main" val="20000"/>
                    </a:ext>
                  </a:extLst>
                </a:gridCol>
                <a:gridCol w="1391973">
                  <a:extLst>
                    <a:ext uri="{9D8B030D-6E8A-4147-A177-3AD203B41FA5}">
                      <a16:colId xmlns:a16="http://schemas.microsoft.com/office/drawing/2014/main" val="20001"/>
                    </a:ext>
                  </a:extLst>
                </a:gridCol>
                <a:gridCol w="1103977">
                  <a:extLst>
                    <a:ext uri="{9D8B030D-6E8A-4147-A177-3AD203B41FA5}">
                      <a16:colId xmlns:a16="http://schemas.microsoft.com/office/drawing/2014/main" val="20002"/>
                    </a:ext>
                  </a:extLst>
                </a:gridCol>
                <a:gridCol w="1103977">
                  <a:extLst>
                    <a:ext uri="{9D8B030D-6E8A-4147-A177-3AD203B41FA5}">
                      <a16:colId xmlns:a16="http://schemas.microsoft.com/office/drawing/2014/main" val="1462099802"/>
                    </a:ext>
                  </a:extLst>
                </a:gridCol>
                <a:gridCol w="1103977">
                  <a:extLst>
                    <a:ext uri="{9D8B030D-6E8A-4147-A177-3AD203B41FA5}">
                      <a16:colId xmlns:a16="http://schemas.microsoft.com/office/drawing/2014/main" val="2564674112"/>
                    </a:ext>
                  </a:extLst>
                </a:gridCol>
                <a:gridCol w="1103977">
                  <a:extLst>
                    <a:ext uri="{9D8B030D-6E8A-4147-A177-3AD203B41FA5}">
                      <a16:colId xmlns:a16="http://schemas.microsoft.com/office/drawing/2014/main" val="2010241931"/>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Country</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Sector</a:t>
                      </a:r>
                    </a:p>
                  </a:txBody>
                  <a:tcPr marL="54000" marR="54000" marT="18000" marB="18000" anchor="ctr">
                    <a:solidFill>
                      <a:srgbClr val="FFC545"/>
                    </a:solidFill>
                  </a:tcPr>
                </a:tc>
                <a:tc>
                  <a:txBody>
                    <a:bodyPr/>
                    <a:lstStyle/>
                    <a:p>
                      <a:pPr algn="r"/>
                      <a:r>
                        <a:rPr lang="en-US" sz="1100" b="1" noProof="0">
                          <a:solidFill>
                            <a:srgbClr val="202945"/>
                          </a:solidFill>
                          <a:latin typeface="Nunito Sans"/>
                        </a:rPr>
                        <a:t>Market Capitalisation</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Nunito Sans"/>
                        </a:rPr>
                        <a:t>BlackRock Global Funds SICAV - W…</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1"/>
                  </a:ext>
                </a:extLst>
              </a:tr>
              <a:tr h="259200">
                <a:tc>
                  <a:txBody>
                    <a:bodyPr/>
                    <a:lstStyle/>
                    <a:p>
                      <a:pPr algn="l"/>
                      <a:r>
                        <a:rPr lang="en-US" sz="1000" b="0" noProof="0" dirty="0">
                          <a:solidFill>
                            <a:srgbClr val="202945"/>
                          </a:solidFill>
                          <a:latin typeface="Nunito Sans"/>
                        </a:rPr>
                        <a:t>Goldman Sachs Funds SICAV - Gold…</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2"/>
                  </a:ext>
                </a:extLst>
              </a:tr>
              <a:tr h="259200">
                <a:tc>
                  <a:txBody>
                    <a:bodyPr/>
                    <a:lstStyle/>
                    <a:p>
                      <a:pPr algn="l"/>
                      <a:r>
                        <a:rPr lang="en-US" sz="1000" b="0" noProof="0" dirty="0">
                          <a:solidFill>
                            <a:srgbClr val="202945"/>
                          </a:solidFill>
                          <a:latin typeface="Nunito Sans"/>
                        </a:rPr>
                        <a:t>Schroder International Selection…</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3"/>
                  </a:ext>
                </a:extLst>
              </a:tr>
              <a:tr h="259200">
                <a:tc>
                  <a:txBody>
                    <a:bodyPr/>
                    <a:lstStyle/>
                    <a:p>
                      <a:pPr algn="l"/>
                      <a:r>
                        <a:rPr lang="en-US" sz="1000" b="0" noProof="0" dirty="0">
                          <a:solidFill>
                            <a:srgbClr val="202945"/>
                          </a:solidFill>
                          <a:latin typeface="Nunito Sans"/>
                        </a:rPr>
                        <a:t>Polar Capital Funds PLC - Biotec…</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4"/>
                  </a:ext>
                </a:extLst>
              </a:tr>
              <a:tr h="259200">
                <a:tc>
                  <a:txBody>
                    <a:bodyPr/>
                    <a:lstStyle/>
                    <a:p>
                      <a:pPr algn="l"/>
                      <a:r>
                        <a:rPr lang="en-US" sz="1000" b="0" noProof="0" dirty="0">
                          <a:solidFill>
                            <a:srgbClr val="202945"/>
                          </a:solidFill>
                          <a:latin typeface="Nunito Sans"/>
                        </a:rPr>
                        <a:t>Goldman Sachs Eurozone Equity In…</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176k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9.6%</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Europe ex-Switzerland   38.1%</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30.2%</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United States   6.6%</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China   6.1%</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Electronic Technology   27.9%</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Multi-sector funds   24.5%</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Finance   22.5%</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Non-Energy Minerals   12.3%</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Other   12.9%</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Large cap   88.5%</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Mid cap   9.8%</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Small cap   1.7%</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Sector, region and size classified at issuer level for direct holdings and at mandate level for funds, ETFs and the structured note; these fields are not in the client file. Percentages may not sum to 100 due to rounding.</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graphicFrame>
        <p:nvGraphicFramePr>
          <p:cNvPr id="7" name="Table 6"/>
          <p:cNvGraphicFramePr>
            <a:graphicFrameLocks noGrp="1"/>
          </p:cNvGraphicFramePr>
          <p:nvPr>
            <p:extLst>
              <p:ext uri="{D42A27DB-BD31-4B8C-83A1-F6EECF244321}">
                <p14:modId xmlns:p14="http://schemas.microsoft.com/office/powerpoint/2010/main" val="1173087155"/>
              </p:ext>
            </p:extLst>
          </p:nvPr>
        </p:nvGraphicFramePr>
        <p:xfrm>
          <a:off x="666000" y="4860000"/>
          <a:ext cx="4535999" cy="583200"/>
        </p:xfrm>
        <a:graphic>
          <a:graphicData uri="http://schemas.openxmlformats.org/drawingml/2006/table">
            <a:tbl>
              <a:tblPr firstRow="1" bandRow="1">
                <a:tableStyleId>{5C22544A-7EE6-4342-B048-85BDC9FD1C3A}</a:tableStyleId>
              </a:tblPr>
              <a:tblGrid>
                <a:gridCol w="2664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827999">
                  <a:extLst>
                    <a:ext uri="{9D8B030D-6E8A-4147-A177-3AD203B41FA5}">
                      <a16:colId xmlns:a16="http://schemas.microsoft.com/office/drawing/2014/main" val="20002"/>
                    </a:ext>
                  </a:extLst>
                </a:gridCol>
              </a:tblGrid>
              <a:tr h="324000">
                <a:tc>
                  <a:txBody>
                    <a:bodyPr/>
                    <a:lstStyle/>
                    <a:p>
                      <a:pPr algn="l"/>
                      <a:r>
                        <a:rPr lang="en-US" sz="1100" b="1" noProof="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a:solidFill>
                            <a:srgbClr val="202945"/>
                          </a:solidFill>
                          <a:latin typeface="Nunito Sans"/>
                        </a:rPr>
                        <a:t>Scarce Assets Certificate</a:t>
                      </a:r>
                    </a:p>
                  </a:txBody>
                  <a:tcPr marL="54000" marR="54000" marT="18000" marB="18000" anchor="ctr">
                    <a:solidFill>
                      <a:srgbClr val="FFFFFF"/>
                    </a:solidFill>
                  </a:tcPr>
                </a:tc>
                <a:tc>
                  <a:txBody>
                    <a:bodyPr/>
                    <a:lstStyle/>
                    <a:p>
                      <a:pPr algn="r"/>
                      <a:r>
                        <a:rPr lang="en-US" sz="1000" b="0" noProof="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2 of 23 fixed-income line(s) report no modified duration; portfolio duration reflects the 85% of the sleeve that does.</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a:extLst>
              <a:ext uri="{FF2B5EF4-FFF2-40B4-BE49-F238E27FC236}">
                <a16:creationId xmlns:a16="http://schemas.microsoft.com/office/drawing/2014/main" id="{DDD24925-ED8F-0467-FB04-0616CB3D0627}"/>
              </a:ext>
            </a:extLst>
          </p:cNvPr>
          <p:cNvGraphicFramePr>
            <a:graphicFrameLocks noGrp="1"/>
          </p:cNvGraphicFramePr>
          <p:nvPr>
            <p:extLst>
              <p:ext uri="{D42A27DB-BD31-4B8C-83A1-F6EECF244321}">
                <p14:modId xmlns:p14="http://schemas.microsoft.com/office/powerpoint/2010/main" val="1335535978"/>
              </p:ext>
            </p:extLst>
          </p:nvPr>
        </p:nvGraphicFramePr>
        <p:xfrm>
          <a:off x="666000" y="4860000"/>
          <a:ext cx="4535999" cy="583200"/>
        </p:xfrm>
        <a:graphic>
          <a:graphicData uri="http://schemas.openxmlformats.org/drawingml/2006/table">
            <a:tbl>
              <a:tblPr firstRow="1" bandRow="1">
                <a:tableStyleId>{5C22544A-7EE6-4342-B048-85BDC9FD1C3A}</a:tableStyleId>
              </a:tblPr>
              <a:tblGrid>
                <a:gridCol w="2664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827999">
                  <a:extLst>
                    <a:ext uri="{9D8B030D-6E8A-4147-A177-3AD203B41FA5}">
                      <a16:colId xmlns:a16="http://schemas.microsoft.com/office/drawing/2014/main" val="20002"/>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Nunito Sans"/>
                        </a:rPr>
                        <a:t>Gold</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a:extLst>
              <a:ext uri="{FF2B5EF4-FFF2-40B4-BE49-F238E27FC236}">
                <a16:creationId xmlns:a16="http://schemas.microsoft.com/office/drawing/2014/main" id="{956DA3F0-A6EF-EAF5-053D-5FB94FD96D73}"/>
              </a:ext>
            </a:extLst>
          </p:cNvPr>
          <p:cNvGraphicFramePr>
            <a:graphicFrameLocks noGrp="1"/>
          </p:cNvGraphicFramePr>
          <p:nvPr>
            <p:extLst>
              <p:ext uri="{D42A27DB-BD31-4B8C-83A1-F6EECF244321}">
                <p14:modId xmlns:p14="http://schemas.microsoft.com/office/powerpoint/2010/main" val="1397773650"/>
              </p:ext>
            </p:extLst>
          </p:nvPr>
        </p:nvGraphicFramePr>
        <p:xfrm>
          <a:off x="666000" y="4860000"/>
          <a:ext cx="9341634" cy="583200"/>
        </p:xfrm>
        <a:graphic>
          <a:graphicData uri="http://schemas.openxmlformats.org/drawingml/2006/table">
            <a:tbl>
              <a:tblPr firstRow="1" bandRow="1">
                <a:tableStyleId>{5C22544A-7EE6-4342-B048-85BDC9FD1C3A}</a:tableStyleId>
              </a:tblPr>
              <a:tblGrid>
                <a:gridCol w="3060873">
                  <a:extLst>
                    <a:ext uri="{9D8B030D-6E8A-4147-A177-3AD203B41FA5}">
                      <a16:colId xmlns:a16="http://schemas.microsoft.com/office/drawing/2014/main" val="20000"/>
                    </a:ext>
                  </a:extLst>
                </a:gridCol>
                <a:gridCol w="2445327">
                  <a:extLst>
                    <a:ext uri="{9D8B030D-6E8A-4147-A177-3AD203B41FA5}">
                      <a16:colId xmlns:a16="http://schemas.microsoft.com/office/drawing/2014/main" val="20001"/>
                    </a:ext>
                  </a:extLst>
                </a:gridCol>
                <a:gridCol w="3835434">
                  <a:extLst>
                    <a:ext uri="{9D8B030D-6E8A-4147-A177-3AD203B41FA5}">
                      <a16:colId xmlns:a16="http://schemas.microsoft.com/office/drawing/2014/main" val="20002"/>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mn-lt"/>
                        </a:rPr>
                        <a:t>8% DCI-XAGUSD-48.206 UBS  24.08.2026</a:t>
                      </a: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13.4% of the portfolio sits in private, hedge-fund and lock-up vehicles with redemption gates and notice periods.</a:t>
            </a:r>
          </a:p>
          <a:p>
            <a:pPr>
              <a:spcAft>
                <a:spcPts val="800"/>
              </a:spcAft>
            </a:pP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a:lstStyle/>
                    <a:p>
                      <a:pPr algn="ctr"/>
                      <a:r>
                        <a:rPr lang="en-US" sz="1100" b="0" noProof="0" dirty="0">
                          <a:solidFill>
                            <a:srgbClr val="202945"/>
                          </a:solidFill>
                          <a:latin typeface="Nunito Sans"/>
                        </a:rPr>
                        <a:t>1</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Scarce Assets Certificate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553,000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7.9%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7.9%</a:t>
                      </a:r>
                    </a:p>
                  </a:txBody>
                  <a:tcPr marL="54000" marR="54000" marT="18000" marB="18000" anchor="ctr">
                    <a:solidFill>
                      <a:srgbClr val="FFFFFF"/>
                    </a:solidFill>
                  </a:tcPr>
                </a:tc>
                <a:extLst>
                  <a:ext uri="{0D108BD9-81ED-4DB2-BD59-A6C34878D82A}">
                    <a16:rowId xmlns:a16="http://schemas.microsoft.com/office/drawing/2014/main" val="10001"/>
                  </a:ext>
                </a:extLst>
              </a:tr>
              <a:tr h="288000">
                <a:tc>
                  <a:txBody>
                    <a:bodyPr/>
                    <a:lstStyle/>
                    <a:p>
                      <a:pPr algn="ctr"/>
                      <a:r>
                        <a:rPr lang="en-US" sz="1100" b="0" noProof="0" dirty="0">
                          <a:solidFill>
                            <a:srgbClr val="202945"/>
                          </a:solidFill>
                          <a:latin typeface="Nunito Sans"/>
                        </a:rPr>
                        <a:t>2</a:t>
                      </a:r>
                    </a:p>
                  </a:txBody>
                  <a:tcPr marL="54000" marR="54000" marT="18000" marB="18000" anchor="ctr">
                    <a:solidFill>
                      <a:srgbClr val="F5F6F8"/>
                    </a:solidFill>
                  </a:tcPr>
                </a:tc>
                <a:tc>
                  <a:txBody>
                    <a:bodyPr/>
                    <a:lstStyle/>
                    <a:p>
                      <a:pPr algn="l"/>
                      <a:r>
                        <a:rPr lang="en-US" sz="1100" b="0" noProof="0" dirty="0" err="1">
                          <a:solidFill>
                            <a:srgbClr val="202945"/>
                          </a:solidFill>
                          <a:latin typeface="+mn-lt"/>
                        </a:rPr>
                        <a:t>Syz</a:t>
                      </a:r>
                      <a:r>
                        <a:rPr lang="en-US" sz="1100" b="0" noProof="0" dirty="0">
                          <a:solidFill>
                            <a:srgbClr val="202945"/>
                          </a:solidFill>
                          <a:latin typeface="+mn-lt"/>
                        </a:rPr>
                        <a:t> Emerging Market Corporate Bond Cert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384,286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5.5%</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13.4%</a:t>
                      </a:r>
                    </a:p>
                  </a:txBody>
                  <a:tcPr marL="54000" marR="54000" marT="18000" marB="18000" anchor="ctr">
                    <a:solidFill>
                      <a:srgbClr val="F5F6F8"/>
                    </a:solidFill>
                  </a:tcPr>
                </a:tc>
                <a:extLst>
                  <a:ext uri="{0D108BD9-81ED-4DB2-BD59-A6C34878D82A}">
                    <a16:rowId xmlns:a16="http://schemas.microsoft.com/office/drawing/2014/main" val="10002"/>
                  </a:ext>
                </a:extLst>
              </a:tr>
              <a:tr h="288000">
                <a:tc>
                  <a:txBody>
                    <a:bodyPr/>
                    <a:lstStyle/>
                    <a:p>
                      <a:pPr algn="ctr"/>
                      <a:r>
                        <a:rPr lang="en-US" sz="1100" b="0" noProof="0" dirty="0">
                          <a:solidFill>
                            <a:srgbClr val="202945"/>
                          </a:solidFill>
                          <a:latin typeface="Nunito Sans"/>
                        </a:rPr>
                        <a:t>3</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SYZ AM (CH) Liquidity </a:t>
                      </a:r>
                      <a:r>
                        <a:rPr lang="en-US" sz="1100" b="0" noProof="0" dirty="0" err="1">
                          <a:solidFill>
                            <a:srgbClr val="202945"/>
                          </a:solidFill>
                          <a:latin typeface="Nunito Sans"/>
                        </a:rPr>
                        <a:t>Mgmt</a:t>
                      </a:r>
                      <a:r>
                        <a:rPr lang="en-US" sz="1100" b="0" noProof="0" dirty="0">
                          <a:solidFill>
                            <a:srgbClr val="202945"/>
                          </a:solidFill>
                          <a:latin typeface="Nunito Sans"/>
                        </a:rPr>
                        <a:t> - USD…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376,520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5.4%</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18.8%</a:t>
                      </a:r>
                    </a:p>
                  </a:txBody>
                  <a:tcPr marL="54000" marR="54000" marT="18000" marB="18000" anchor="ctr">
                    <a:solidFill>
                      <a:srgbClr val="FFFFFF"/>
                    </a:solidFill>
                  </a:tcPr>
                </a:tc>
                <a:extLst>
                  <a:ext uri="{0D108BD9-81ED-4DB2-BD59-A6C34878D82A}">
                    <a16:rowId xmlns:a16="http://schemas.microsoft.com/office/drawing/2014/main" val="10003"/>
                  </a:ext>
                </a:extLst>
              </a:tr>
              <a:tr h="288000">
                <a:tc>
                  <a:txBody>
                    <a:bodyPr/>
                    <a:lstStyle/>
                    <a:p>
                      <a:pPr algn="ctr"/>
                      <a:r>
                        <a:rPr lang="en-US" sz="1100" b="0" noProof="0" dirty="0">
                          <a:solidFill>
                            <a:srgbClr val="202945"/>
                          </a:solidFill>
                          <a:latin typeface="Nunito Sans"/>
                        </a:rPr>
                        <a:t>4</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BlackRock Global Funds SICAV - Wo…</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23.5%</a:t>
                      </a:r>
                    </a:p>
                  </a:txBody>
                  <a:tcPr marL="54000" marR="54000" marT="18000" marB="18000" anchor="ctr">
                    <a:solidFill>
                      <a:srgbClr val="F5F6F8"/>
                    </a:solidFill>
                  </a:tcPr>
                </a:tc>
                <a:extLst>
                  <a:ext uri="{0D108BD9-81ED-4DB2-BD59-A6C34878D82A}">
                    <a16:rowId xmlns:a16="http://schemas.microsoft.com/office/drawing/2014/main" val="10004"/>
                  </a:ext>
                </a:extLst>
              </a:tr>
              <a:tr h="288000">
                <a:tc>
                  <a:txBody>
                    <a:bodyPr/>
                    <a:lstStyle/>
                    <a:p>
                      <a:pPr algn="ctr"/>
                      <a:r>
                        <a:rPr lang="en-US" sz="1100" b="0" noProof="0" dirty="0">
                          <a:solidFill>
                            <a:srgbClr val="202945"/>
                          </a:solidFill>
                          <a:latin typeface="Nunito Sans"/>
                        </a:rPr>
                        <a:t>5</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Goldman Sachs Funds SICAV - </a:t>
                      </a:r>
                      <a:r>
                        <a:rPr lang="en-US" sz="1100" b="0" noProof="0" dirty="0" err="1">
                          <a:solidFill>
                            <a:srgbClr val="202945"/>
                          </a:solidFill>
                          <a:latin typeface="Nunito Sans"/>
                        </a:rPr>
                        <a:t>Goldm</a:t>
                      </a:r>
                      <a:r>
                        <a:rPr lang="en-US" sz="1100" b="0" noProof="0" dirty="0">
                          <a:solidFill>
                            <a:srgbClr val="202945"/>
                          </a:solidFill>
                          <a:latin typeface="Nunito Sans"/>
                        </a:rPr>
                        <a:t>…</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28.3%</a:t>
                      </a:r>
                    </a:p>
                  </a:txBody>
                  <a:tcPr marL="54000" marR="54000" marT="18000" marB="18000" anchor="ctr">
                    <a:solidFill>
                      <a:srgbClr val="FFFFFF"/>
                    </a:solidFill>
                  </a:tcPr>
                </a:tc>
                <a:extLst>
                  <a:ext uri="{0D108BD9-81ED-4DB2-BD59-A6C34878D82A}">
                    <a16:rowId xmlns:a16="http://schemas.microsoft.com/office/drawing/2014/main" val="10005"/>
                  </a:ext>
                </a:extLst>
              </a:tr>
              <a:tr h="288000">
                <a:tc>
                  <a:txBody>
                    <a:bodyPr/>
                    <a:lstStyle/>
                    <a:p>
                      <a:pPr algn="ctr"/>
                      <a:r>
                        <a:rPr lang="en-US" sz="1100" b="0" noProof="0" dirty="0">
                          <a:solidFill>
                            <a:srgbClr val="202945"/>
                          </a:solidFill>
                          <a:latin typeface="Nunito Sans"/>
                        </a:rPr>
                        <a:t>6</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Schroder International Selection…</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33.1%</a:t>
                      </a:r>
                    </a:p>
                  </a:txBody>
                  <a:tcPr marL="54000" marR="54000" marT="18000" marB="18000" anchor="ctr">
                    <a:solidFill>
                      <a:srgbClr val="F5F6F8"/>
                    </a:solidFill>
                  </a:tcPr>
                </a:tc>
                <a:extLst>
                  <a:ext uri="{0D108BD9-81ED-4DB2-BD59-A6C34878D82A}">
                    <a16:rowId xmlns:a16="http://schemas.microsoft.com/office/drawing/2014/main" val="10006"/>
                  </a:ext>
                </a:extLst>
              </a:tr>
              <a:tr h="288000">
                <a:tc>
                  <a:txBody>
                    <a:bodyPr/>
                    <a:lstStyle/>
                    <a:p>
                      <a:pPr algn="ctr"/>
                      <a:r>
                        <a:rPr lang="en-US" sz="1100" b="0" noProof="0" dirty="0">
                          <a:solidFill>
                            <a:srgbClr val="202945"/>
                          </a:solidFill>
                          <a:latin typeface="Nunito Sans"/>
                        </a:rPr>
                        <a:t>7</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Polar Capital Funds PLC - Biotech…</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37.9%</a:t>
                      </a:r>
                    </a:p>
                  </a:txBody>
                  <a:tcPr marL="54000" marR="54000" marT="18000" marB="18000" anchor="ctr">
                    <a:solidFill>
                      <a:srgbClr val="FFFFFF"/>
                    </a:solidFill>
                  </a:tcPr>
                </a:tc>
                <a:extLst>
                  <a:ext uri="{0D108BD9-81ED-4DB2-BD59-A6C34878D82A}">
                    <a16:rowId xmlns:a16="http://schemas.microsoft.com/office/drawing/2014/main" val="10007"/>
                  </a:ext>
                </a:extLst>
              </a:tr>
              <a:tr h="288000">
                <a:tc>
                  <a:txBody>
                    <a:bodyPr/>
                    <a:lstStyle/>
                    <a:p>
                      <a:pPr algn="ctr"/>
                      <a:r>
                        <a:rPr lang="en-US" sz="1100" b="0" noProof="0" dirty="0">
                          <a:solidFill>
                            <a:srgbClr val="202945"/>
                          </a:solidFill>
                          <a:latin typeface="Nunito Sans"/>
                        </a:rPr>
                        <a:t>8</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BNY Mellon Global Funds PLC - BNY…</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279,018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41.9%</a:t>
                      </a:r>
                    </a:p>
                  </a:txBody>
                  <a:tcPr marL="54000" marR="54000" marT="18000" marB="18000" anchor="ctr">
                    <a:solidFill>
                      <a:srgbClr val="F5F6F8"/>
                    </a:solidFill>
                  </a:tcPr>
                </a:tc>
                <a:extLst>
                  <a:ext uri="{0D108BD9-81ED-4DB2-BD59-A6C34878D82A}">
                    <a16:rowId xmlns:a16="http://schemas.microsoft.com/office/drawing/2014/main" val="10008"/>
                  </a:ext>
                </a:extLst>
              </a:tr>
              <a:tr h="288000">
                <a:tc>
                  <a:txBody>
                    <a:bodyPr/>
                    <a:lstStyle/>
                    <a:p>
                      <a:pPr algn="ctr"/>
                      <a:r>
                        <a:rPr lang="en-US" sz="1100" b="0" noProof="0" dirty="0">
                          <a:solidFill>
                            <a:srgbClr val="202945"/>
                          </a:solidFill>
                          <a:latin typeface="Nunito Sans"/>
                        </a:rPr>
                        <a:t>9</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Swiss Positive Fund - Physical Go…</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203,000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44.8%</a:t>
                      </a:r>
                    </a:p>
                  </a:txBody>
                  <a:tcPr marL="54000" marR="54000" marT="18000" marB="18000" anchor="ctr">
                    <a:solidFill>
                      <a:srgbClr val="FFFFFF"/>
                    </a:solidFill>
                  </a:tcPr>
                </a:tc>
                <a:extLst>
                  <a:ext uri="{0D108BD9-81ED-4DB2-BD59-A6C34878D82A}">
                    <a16:rowId xmlns:a16="http://schemas.microsoft.com/office/drawing/2014/main" val="10009"/>
                  </a:ext>
                </a:extLst>
              </a:tr>
              <a:tr h="288000">
                <a:tc>
                  <a:txBody>
                    <a:bodyPr/>
                    <a:lstStyle/>
                    <a:p>
                      <a:pPr algn="ctr"/>
                      <a:r>
                        <a:rPr lang="en-US" sz="1100" b="0" noProof="0" dirty="0">
                          <a:solidFill>
                            <a:srgbClr val="202945"/>
                          </a:solidFill>
                          <a:latin typeface="Nunito Sans"/>
                        </a:rPr>
                        <a:t>10</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Repsol E&amp;P Capital Markets US LLC…</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200,596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2.9%</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47.6%</a:t>
                      </a:r>
                    </a:p>
                  </a:txBody>
                  <a:tcPr marL="54000" marR="54000" marT="18000" marB="18000" anchor="ctr">
                    <a:solidFill>
                      <a:srgbClr val="F5F6F8"/>
                    </a:solid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28.3%</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47.6%</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75.6%</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a:lstStyle/>
                    <a:p>
                      <a:pPr algn="l"/>
                      <a:r>
                        <a:rPr lang="en-US" sz="1100" b="0" noProof="0" dirty="0">
                          <a:solidFill>
                            <a:srgbClr val="202945"/>
                          </a:solidFill>
                          <a:latin typeface="Nunito Sans"/>
                        </a:rPr>
                        <a:t>Fixed Income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146,330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85.6%</a:t>
                      </a:r>
                    </a:p>
                  </a:txBody>
                  <a:tcPr marL="54000" marR="54000" marT="18000" marB="18000" anchor="ctr">
                    <a:solidFill>
                      <a:srgbClr val="FFFFFF"/>
                    </a:solidFill>
                  </a:tcPr>
                </a:tc>
                <a:extLst>
                  <a:ext uri="{0D108BD9-81ED-4DB2-BD59-A6C34878D82A}">
                    <a16:rowId xmlns:a16="http://schemas.microsoft.com/office/drawing/2014/main" val="10001"/>
                  </a:ext>
                </a:extLst>
              </a:tr>
              <a:tr h="288000">
                <a:tc>
                  <a:txBody>
                    <a:bodyPr/>
                    <a:lstStyle/>
                    <a:p>
                      <a:pPr algn="l"/>
                      <a:r>
                        <a:rPr lang="en-US" sz="1100" b="0" noProof="0" dirty="0">
                          <a:solidFill>
                            <a:srgbClr val="202945"/>
                          </a:solidFill>
                          <a:latin typeface="Nunito Sans"/>
                        </a:rPr>
                        <a:t>Cash</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15,061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8.8%</a:t>
                      </a:r>
                    </a:p>
                  </a:txBody>
                  <a:tcPr marL="54000" marR="54000" marT="18000" marB="18000" anchor="ctr">
                    <a:solidFill>
                      <a:srgbClr val="F5F6F8"/>
                    </a:solidFill>
                  </a:tcPr>
                </a:tc>
                <a:extLst>
                  <a:ext uri="{0D108BD9-81ED-4DB2-BD59-A6C34878D82A}">
                    <a16:rowId xmlns:a16="http://schemas.microsoft.com/office/drawing/2014/main" val="10002"/>
                  </a:ext>
                </a:extLst>
              </a:tr>
              <a:tr h="288000">
                <a:tc>
                  <a:txBody>
                    <a:bodyPr/>
                    <a:lstStyle/>
                    <a:p>
                      <a:pPr algn="l"/>
                      <a:r>
                        <a:rPr lang="en-US" sz="1100" b="0" noProof="0" dirty="0">
                          <a:solidFill>
                            <a:srgbClr val="202945"/>
                          </a:solidFill>
                          <a:latin typeface="Nunito Sans"/>
                        </a:rPr>
                        <a:t>Equities</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9,509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5.6%</a:t>
                      </a:r>
                    </a:p>
                  </a:txBody>
                  <a:tcPr marL="54000" marR="54000" marT="18000" marB="18000" anchor="ctr">
                    <a:solidFill>
                      <a:srgbClr val="FFFFFF"/>
                    </a:solid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4.2y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USD -139k</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extLst>
              <p:ext uri="{D42A27DB-BD31-4B8C-83A1-F6EECF244321}">
                <p14:modId xmlns:p14="http://schemas.microsoft.com/office/powerpoint/2010/main" val="646065821"/>
              </p:ext>
            </p:extLst>
          </p:nvPr>
        </p:nvGraphicFramePr>
        <p:xfrm>
          <a:off x="5544000" y="2736000"/>
          <a:ext cx="4791491" cy="4025520"/>
        </p:xfrm>
        <a:graphic>
          <a:graphicData uri="http://schemas.openxmlformats.org/drawingml/2006/table">
            <a:tbl>
              <a:tblPr firstRow="1" bandRow="1">
                <a:tableStyleId>{5C22544A-7EE6-4342-B048-85BDC9FD1C3A}</a:tableStyleId>
              </a:tblPr>
              <a:tblGrid>
                <a:gridCol w="1701927">
                  <a:extLst>
                    <a:ext uri="{9D8B030D-6E8A-4147-A177-3AD203B41FA5}">
                      <a16:colId xmlns:a16="http://schemas.microsoft.com/office/drawing/2014/main" val="20000"/>
                    </a:ext>
                  </a:extLst>
                </a:gridCol>
                <a:gridCol w="865909">
                  <a:extLst>
                    <a:ext uri="{9D8B030D-6E8A-4147-A177-3AD203B41FA5}">
                      <a16:colId xmlns:a16="http://schemas.microsoft.com/office/drawing/2014/main" val="20001"/>
                    </a:ext>
                  </a:extLst>
                </a:gridCol>
                <a:gridCol w="1073728">
                  <a:extLst>
                    <a:ext uri="{9D8B030D-6E8A-4147-A177-3AD203B41FA5}">
                      <a16:colId xmlns:a16="http://schemas.microsoft.com/office/drawing/2014/main" val="20002"/>
                    </a:ext>
                  </a:extLst>
                </a:gridCol>
                <a:gridCol w="1149927">
                  <a:extLst>
                    <a:ext uri="{9D8B030D-6E8A-4147-A177-3AD203B41FA5}">
                      <a16:colId xmlns:a16="http://schemas.microsoft.com/office/drawing/2014/main" val="20003"/>
                    </a:ext>
                  </a:extLst>
                </a:gridCol>
              </a:tblGrid>
              <a:tr h="360000">
                <a:tc>
                  <a:txBody>
                    <a:bodyPr/>
                    <a:lstStyle/>
                    <a:p>
                      <a:pPr algn="l"/>
                      <a:r>
                        <a:rPr lang="en-US" sz="1200" b="1" noProof="0" dirty="0">
                          <a:solidFill>
                            <a:srgbClr val="202945"/>
                          </a:solidFill>
                          <a:latin typeface="Nunito Sans"/>
                        </a:rPr>
                        <a:t>Sub-sleeve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Avg duration</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Contribution</a:t>
                      </a:r>
                    </a:p>
                  </a:txBody>
                  <a:tcPr marL="54000" marR="54000" marT="18000" marB="18000" anchor="ctr">
                    <a:solidFill>
                      <a:srgbClr val="FFC545"/>
                    </a:solidFill>
                  </a:tcPr>
                </a:tc>
                <a:extLst>
                  <a:ext uri="{0D108BD9-81ED-4DB2-BD59-A6C34878D82A}">
                    <a16:rowId xmlns:a16="http://schemas.microsoft.com/office/drawing/2014/main" val="10000"/>
                  </a:ext>
                </a:extLst>
              </a:tr>
              <a:tr h="120000">
                <a:tc>
                  <a:txBody>
                    <a:bodyPr/>
                    <a:lstStyle/>
                    <a:p>
                      <a:pPr algn="l"/>
                      <a:r>
                        <a:rPr lang="en-US" sz="1100" b="0" noProof="0" dirty="0">
                          <a:solidFill>
                            <a:srgbClr val="202945"/>
                          </a:solidFill>
                          <a:latin typeface="Nunito Sans"/>
                        </a:rPr>
                        <a:t>Corporate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388,370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0.55</a:t>
                      </a:r>
                    </a:p>
                  </a:txBody>
                  <a:tcPr marL="54000" marR="54000" marT="18000" marB="18000" anchor="ctr">
                    <a:solidFill>
                      <a:srgbClr val="FFFFFF"/>
                    </a:solidFill>
                  </a:tcPr>
                </a:tc>
                <a:extLst>
                  <a:ext uri="{0D108BD9-81ED-4DB2-BD59-A6C34878D82A}">
                    <a16:rowId xmlns:a16="http://schemas.microsoft.com/office/drawing/2014/main" val="10001"/>
                  </a:ext>
                </a:extLst>
              </a:tr>
              <a:tr h="120000">
                <a:tc>
                  <a:txBody>
                    <a:bodyPr/>
                    <a:lstStyle/>
                    <a:p>
                      <a:pPr algn="l"/>
                      <a:r>
                        <a:rPr lang="en-US" sz="1100" b="0" noProof="0" dirty="0">
                          <a:solidFill>
                            <a:srgbClr val="202945"/>
                          </a:solidFill>
                          <a:latin typeface="Nunito Sans"/>
                        </a:rPr>
                        <a:t>Structured note / </a:t>
                      </a:r>
                      <a:r>
                        <a:rPr lang="en-US" sz="1100" b="0" noProof="0" dirty="0" err="1">
                          <a:solidFill>
                            <a:srgbClr val="202945"/>
                          </a:solidFill>
                          <a:latin typeface="Nunito Sans"/>
                        </a:rPr>
                        <a:t>ce</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384,286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0.00</a:t>
                      </a:r>
                    </a:p>
                  </a:txBody>
                  <a:tcPr marL="54000" marR="54000" marT="18000" marB="18000" anchor="ctr">
                    <a:solidFill>
                      <a:srgbClr val="F5F6F8"/>
                    </a:solidFill>
                  </a:tcPr>
                </a:tc>
                <a:extLst>
                  <a:ext uri="{0D108BD9-81ED-4DB2-BD59-A6C34878D82A}">
                    <a16:rowId xmlns:a16="http://schemas.microsoft.com/office/drawing/2014/main" val="10002"/>
                  </a:ext>
                </a:extLst>
              </a:tr>
              <a:tr h="120000">
                <a:tc>
                  <a:txBody>
                    <a:bodyPr/>
                    <a:lstStyle/>
                    <a:p>
                      <a:pPr algn="l"/>
                      <a:r>
                        <a:rPr lang="en-US" sz="1100" b="0" noProof="0" dirty="0">
                          <a:solidFill>
                            <a:srgbClr val="202945"/>
                          </a:solidFill>
                          <a:latin typeface="Nunito Sans"/>
                        </a:rPr>
                        <a:t>Supranational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382,888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0.42</a:t>
                      </a:r>
                    </a:p>
                  </a:txBody>
                  <a:tcPr marL="54000" marR="54000" marT="18000" marB="18000" anchor="ctr">
                    <a:solidFill>
                      <a:srgbClr val="FFFFFF"/>
                    </a:solidFill>
                  </a:tcPr>
                </a:tc>
                <a:extLst>
                  <a:ext uri="{0D108BD9-81ED-4DB2-BD59-A6C34878D82A}">
                    <a16:rowId xmlns:a16="http://schemas.microsoft.com/office/drawing/2014/main" val="10003"/>
                  </a:ext>
                </a:extLst>
              </a:tr>
              <a:tr h="120000">
                <a:tc>
                  <a:txBody>
                    <a:bodyPr/>
                    <a:lstStyle/>
                    <a:p>
                      <a:pPr algn="l"/>
                      <a:r>
                        <a:rPr lang="en-US" sz="1100" b="0" noProof="0" dirty="0">
                          <a:solidFill>
                            <a:srgbClr val="202945"/>
                          </a:solidFill>
                          <a:latin typeface="Nunito Sans"/>
                        </a:rPr>
                        <a:t>Corporate bond (auto…</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298,221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0.24</a:t>
                      </a:r>
                    </a:p>
                  </a:txBody>
                  <a:tcPr marL="54000" marR="54000" marT="18000" marB="18000" anchor="ctr">
                    <a:solidFill>
                      <a:srgbClr val="F5F6F8"/>
                    </a:solidFill>
                  </a:tcPr>
                </a:tc>
                <a:extLst>
                  <a:ext uri="{0D108BD9-81ED-4DB2-BD59-A6C34878D82A}">
                    <a16:rowId xmlns:a16="http://schemas.microsoft.com/office/drawing/2014/main" val="10004"/>
                  </a:ext>
                </a:extLst>
              </a:tr>
              <a:tr h="120000">
                <a:tc>
                  <a:txBody>
                    <a:bodyPr/>
                    <a:lstStyle/>
                    <a:p>
                      <a:pPr algn="l"/>
                      <a:r>
                        <a:rPr lang="en-US" sz="1100" b="0" noProof="0" dirty="0">
                          <a:solidFill>
                            <a:srgbClr val="202945"/>
                          </a:solidFill>
                          <a:latin typeface="Nunito Sans"/>
                        </a:rPr>
                        <a:t>High yield bond fund…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279,018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0.18</a:t>
                      </a:r>
                    </a:p>
                  </a:txBody>
                  <a:tcPr marL="54000" marR="54000" marT="18000" marB="18000" anchor="ctr">
                    <a:solidFill>
                      <a:srgbClr val="FFFFFF"/>
                    </a:solidFill>
                  </a:tcPr>
                </a:tc>
                <a:extLst>
                  <a:ext uri="{0D108BD9-81ED-4DB2-BD59-A6C34878D82A}">
                    <a16:rowId xmlns:a16="http://schemas.microsoft.com/office/drawing/2014/main" val="10005"/>
                  </a:ext>
                </a:extLst>
              </a:tr>
              <a:tr h="120000">
                <a:tc>
                  <a:txBody>
                    <a:bodyPr/>
                    <a:lstStyle/>
                    <a:p>
                      <a:pPr algn="l"/>
                      <a:r>
                        <a:rPr lang="en-US" sz="1100" b="0" noProof="0" dirty="0">
                          <a:solidFill>
                            <a:srgbClr val="202945"/>
                          </a:solidFill>
                          <a:latin typeface="Nunito Sans"/>
                        </a:rPr>
                        <a:t>Corporate bond (oil…</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200,596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0.18</a:t>
                      </a:r>
                    </a:p>
                  </a:txBody>
                  <a:tcPr marL="54000" marR="54000" marT="18000" marB="18000" anchor="ctr">
                    <a:solidFill>
                      <a:srgbClr val="F5F6F8"/>
                    </a:solidFill>
                  </a:tcPr>
                </a:tc>
                <a:extLst>
                  <a:ext uri="{0D108BD9-81ED-4DB2-BD59-A6C34878D82A}">
                    <a16:rowId xmlns:a16="http://schemas.microsoft.com/office/drawing/2014/main" val="10006"/>
                  </a:ext>
                </a:extLst>
              </a:tr>
              <a:tr h="120000">
                <a:tc>
                  <a:txBody>
                    <a:bodyPr/>
                    <a:lstStyle/>
                    <a:p>
                      <a:pPr algn="l"/>
                      <a:r>
                        <a:rPr lang="en-US" sz="1100" b="0" noProof="0" dirty="0">
                          <a:solidFill>
                            <a:srgbClr val="202945"/>
                          </a:solidFill>
                          <a:latin typeface="Nunito Sans"/>
                        </a:rPr>
                        <a:t>Bank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199,562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5.1</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0.26</a:t>
                      </a:r>
                    </a:p>
                  </a:txBody>
                  <a:tcPr marL="54000" marR="54000" marT="18000" marB="18000" anchor="ctr">
                    <a:solidFill>
                      <a:srgbClr val="FFFFFF"/>
                    </a:solidFill>
                  </a:tcPr>
                </a:tc>
                <a:extLst>
                  <a:ext uri="{0D108BD9-81ED-4DB2-BD59-A6C34878D82A}">
                    <a16:rowId xmlns:a16="http://schemas.microsoft.com/office/drawing/2014/main" val="10007"/>
                  </a:ext>
                </a:extLst>
              </a:tr>
              <a:tr h="120000">
                <a:tc>
                  <a:txBody>
                    <a:bodyPr/>
                    <a:lstStyle/>
                    <a:p>
                      <a:pPr algn="l"/>
                      <a:r>
                        <a:rPr lang="en-US" sz="1100" b="0" noProof="0" dirty="0">
                          <a:solidFill>
                            <a:srgbClr val="202945"/>
                          </a:solidFill>
                          <a:latin typeface="Nunito Sans"/>
                        </a:rPr>
                        <a:t>Insurance-linked sec…</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198,800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0.00</a:t>
                      </a:r>
                    </a:p>
                  </a:txBody>
                  <a:tcPr marL="54000" marR="54000" marT="18000" marB="18000" anchor="ctr">
                    <a:solidFill>
                      <a:srgbClr val="F5F6F8"/>
                    </a:solidFill>
                  </a:tcPr>
                </a:tc>
                <a:extLst>
                  <a:ext uri="{0D108BD9-81ED-4DB2-BD59-A6C34878D82A}">
                    <a16:rowId xmlns:a16="http://schemas.microsoft.com/office/drawing/2014/main" val="10008"/>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197,796</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3.4</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0.17</a:t>
                      </a:r>
                    </a:p>
                  </a:txBody>
                  <a:tcPr marL="54000" marR="54000" marT="18000" marB="18000" anchor="ctr">
                    <a:solidFill>
                      <a:srgbClr val="FFFFFF"/>
                    </a:solidFill>
                  </a:tcPr>
                </a:tc>
                <a:extLst>
                  <a:ext uri="{0D108BD9-81ED-4DB2-BD59-A6C34878D82A}">
                    <a16:rowId xmlns:a16="http://schemas.microsoft.com/office/drawing/2014/main" val="10009"/>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194,084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5F6F8"/>
                    </a:solidFill>
                  </a:tcPr>
                </a:tc>
                <a:extLst>
                  <a:ext uri="{0D108BD9-81ED-4DB2-BD59-A6C34878D82A}">
                    <a16:rowId xmlns:a16="http://schemas.microsoft.com/office/drawing/2014/main" val="10010"/>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192,970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FFFFF"/>
                    </a:solidFill>
                  </a:tcPr>
                </a:tc>
                <a:extLst>
                  <a:ext uri="{0D108BD9-81ED-4DB2-BD59-A6C34878D82A}">
                    <a16:rowId xmlns:a16="http://schemas.microsoft.com/office/drawing/2014/main" val="10011"/>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192,684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5F6F8"/>
                    </a:solidFill>
                  </a:tcPr>
                </a:tc>
                <a:extLst>
                  <a:ext uri="{0D108BD9-81ED-4DB2-BD59-A6C34878D82A}">
                    <a16:rowId xmlns:a16="http://schemas.microsoft.com/office/drawing/2014/main" val="10012"/>
                  </a:ext>
                </a:extLst>
              </a:tr>
              <a:tr h="120000">
                <a:tc>
                  <a:txBody>
                    <a:bodyPr/>
                    <a:lstStyle/>
                    <a:p>
                      <a:pPr algn="l"/>
                      <a:r>
                        <a:rPr lang="en-US" sz="1100" b="0" noProof="0" dirty="0">
                          <a:solidFill>
                            <a:srgbClr val="202945"/>
                          </a:solidFill>
                          <a:latin typeface="Nunito Sans"/>
                        </a:rPr>
                        <a:t>Corporate bond (port…</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190,880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0.13</a:t>
                      </a:r>
                    </a:p>
                  </a:txBody>
                  <a:tcPr marL="54000" marR="54000" marT="18000" marB="18000" anchor="ctr">
                    <a:solidFill>
                      <a:srgbClr val="FFFFFF"/>
                    </a:solidFill>
                  </a:tcPr>
                </a:tc>
                <a:extLst>
                  <a:ext uri="{0D108BD9-81ED-4DB2-BD59-A6C34878D82A}">
                    <a16:rowId xmlns:a16="http://schemas.microsoft.com/office/drawing/2014/main" val="10013"/>
                  </a:ext>
                </a:extLst>
              </a:tr>
              <a:tr h="120000">
                <a:tc>
                  <a:txBody>
                    <a:bodyPr/>
                    <a:lstStyle/>
                    <a:p>
                      <a:pPr algn="l"/>
                      <a:r>
                        <a:rPr lang="en-US" sz="1100" b="0" noProof="0" dirty="0">
                          <a:solidFill>
                            <a:srgbClr val="202945"/>
                          </a:solidFill>
                          <a:latin typeface="Nunito Sans"/>
                        </a:rPr>
                        <a:t>Corporate bond (</a:t>
                      </a:r>
                      <a:r>
                        <a:rPr lang="en-US" sz="1100" b="0" noProof="0" dirty="0" err="1">
                          <a:solidFill>
                            <a:srgbClr val="202945"/>
                          </a:solidFill>
                          <a:latin typeface="Nunito Sans"/>
                        </a:rPr>
                        <a:t>airc</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190,732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0.29</a:t>
                      </a:r>
                    </a:p>
                  </a:txBody>
                  <a:tcPr marL="54000" marR="54000" marT="18000" marB="18000" anchor="ctr">
                    <a:solidFill>
                      <a:srgbClr val="F5F6F8"/>
                    </a:solidFill>
                  </a:tcPr>
                </a:tc>
                <a:extLst>
                  <a:ext uri="{0D108BD9-81ED-4DB2-BD59-A6C34878D82A}">
                    <a16:rowId xmlns:a16="http://schemas.microsoft.com/office/drawing/2014/main" val="10014"/>
                  </a:ext>
                </a:extLst>
              </a:tr>
              <a:tr h="120000">
                <a:tc>
                  <a:txBody>
                    <a:bodyPr/>
                    <a:lstStyle/>
                    <a:p>
                      <a:pPr algn="l"/>
                      <a:r>
                        <a:rPr lang="en-US" sz="1100" b="0" noProof="0" dirty="0">
                          <a:solidFill>
                            <a:srgbClr val="202945"/>
                          </a:solidFill>
                          <a:latin typeface="Nunito Sans"/>
                        </a:rPr>
                        <a:t>Corporate bond (comm…</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98,990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0.15</a:t>
                      </a:r>
                    </a:p>
                  </a:txBody>
                  <a:tcPr marL="54000" marR="54000" marT="18000" marB="18000" anchor="ctr">
                    <a:solidFill>
                      <a:srgbClr val="FFFFFF"/>
                    </a:solidFill>
                  </a:tcPr>
                </a:tc>
                <a:extLst>
                  <a:ext uri="{0D108BD9-81ED-4DB2-BD59-A6C34878D82A}">
                    <a16:rowId xmlns:a16="http://schemas.microsoft.com/office/drawing/2014/main" val="10015"/>
                  </a:ext>
                </a:extLst>
              </a:tr>
              <a:tr h="120000">
                <a:tc>
                  <a:txBody>
                    <a:bodyPr/>
                    <a:lstStyle/>
                    <a:p>
                      <a:pPr algn="l"/>
                      <a:r>
                        <a:rPr lang="en-US" sz="1100" b="0" noProof="0" dirty="0">
                          <a:solidFill>
                            <a:srgbClr val="202945"/>
                          </a:solidFill>
                          <a:latin typeface="Nunito Sans"/>
                        </a:rPr>
                        <a:t>Corporate bond (</a:t>
                      </a:r>
                      <a:r>
                        <a:rPr lang="en-US" sz="1100" b="0" noProof="0" dirty="0" err="1">
                          <a:solidFill>
                            <a:srgbClr val="202945"/>
                          </a:solidFill>
                          <a:latin typeface="Nunito Sans"/>
                        </a:rPr>
                        <a:t>gami</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98,860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0.11</a:t>
                      </a:r>
                    </a:p>
                  </a:txBody>
                  <a:tcPr marL="54000" marR="54000" marT="18000" marB="18000" anchor="ctr">
                    <a:solidFill>
                      <a:srgbClr val="F5F6F8"/>
                    </a:solidFill>
                  </a:tcPr>
                </a:tc>
                <a:extLst>
                  <a:ext uri="{0D108BD9-81ED-4DB2-BD59-A6C34878D82A}">
                    <a16:rowId xmlns:a16="http://schemas.microsoft.com/office/drawing/2014/main" val="10016"/>
                  </a:ext>
                </a:extLst>
              </a:tr>
              <a:tr h="120000">
                <a:tc>
                  <a:txBody>
                    <a:bodyPr/>
                    <a:lstStyle/>
                    <a:p>
                      <a:pPr algn="l"/>
                      <a:r>
                        <a:rPr lang="en-US" sz="1100" b="0" noProof="0" dirty="0">
                          <a:solidFill>
                            <a:srgbClr val="202945"/>
                          </a:solidFill>
                          <a:latin typeface="Nunito Sans"/>
                        </a:rPr>
                        <a:t>Corporate bond (tele…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97,315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0.15</a:t>
                      </a:r>
                    </a:p>
                  </a:txBody>
                  <a:tcPr marL="54000" marR="54000" marT="18000" marB="18000" anchor="ctr">
                    <a:solidFill>
                      <a:srgbClr val="FFFFFF"/>
                    </a:solidFill>
                  </a:tcPr>
                </a:tc>
                <a:extLst>
                  <a:ext uri="{0D108BD9-81ED-4DB2-BD59-A6C34878D82A}">
                    <a16:rowId xmlns:a16="http://schemas.microsoft.com/office/drawing/2014/main" val="10017"/>
                  </a:ext>
                </a:extLst>
              </a:tr>
              <a:tr h="120000">
                <a:tc>
                  <a:txBody>
                    <a:bodyPr/>
                    <a:lstStyle/>
                    <a:p>
                      <a:pPr algn="l"/>
                      <a:r>
                        <a:rPr lang="en-US" sz="1100" b="0" noProof="0" dirty="0">
                          <a:solidFill>
                            <a:srgbClr val="202945"/>
                          </a:solidFill>
                          <a:latin typeface="Nunito Sans"/>
                        </a:rPr>
                        <a:t>Corporate bond (REIT)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94,801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5.1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0.12</a:t>
                      </a:r>
                    </a:p>
                  </a:txBody>
                  <a:tcPr marL="54000" marR="54000" marT="18000" marB="18000" anchor="ctr">
                    <a:solidFill>
                      <a:srgbClr val="F5F6F8"/>
                    </a:solidFill>
                  </a:tcPr>
                </a:tc>
                <a:extLst>
                  <a:ext uri="{0D108BD9-81ED-4DB2-BD59-A6C34878D82A}">
                    <a16:rowId xmlns:a16="http://schemas.microsoft.com/office/drawing/2014/main" val="10018"/>
                  </a:ext>
                </a:extLst>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