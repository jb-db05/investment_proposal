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ommentAuthors.xml" ContentType="application/vnd.openxmlformats-officedocument.presentationml.commentAuthors+xml"/>
  <Override PartName="/ppt/comments/modernComment_10A_0.xml" ContentType="application/vnd.ms-powerpoint.comments+xml"/>
  <Override PartName="/ppt/comments/modernComment_7FFE63D7_0.xml" ContentType="application/vnd.ms-powerpoint.comments+xml"/>
  <Override PartName="/ppt/comments/modernComment_7FFE63D8_0.xml" ContentType="application/vnd.ms-powerpoint.comments+xml"/>
  <Override PartName="/ppt/drawings/drawing1.xml" ContentType="application/vnd.openxmlformats-officedocument.drawingml.chartshapes+xml"/>
  <Override PartName="/ppt/drawings/drawing2.xml" ContentType="application/vnd.openxmlformats-officedocument.drawingml.chartshape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6.svg" ContentType="image/svg"/>
  <Override PartName="/ppt/media/image27.svg" ContentType="image/svg"/>
  <Override PartName="/ppt/media/image28.svg" ContentType="image/svg"/>
  <Override PartName="/ppt/media/image29.svg" ContentType="image/svg"/>
  <Override PartName="/ppt/media/image30.svg" ContentType="image/svg+xml"/>
  <Override PartName="/ppt/media/image31.svg" ContentType="image/svg"/>
  <Override PartName="/ppt/media/image32.svg" ContentType="image/svg"/>
  <Override PartName="/ppt/media/image33.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1"/>
  </p:notesMasterIdLst>
  <p:handoutMasterIdLst>
    <p:handoutMasterId r:id="rId42"/>
  </p:handoutMasterIdLst>
  <p:sldIdLst>
    <p:sldId id="2147377584" r:id="rId5"/>
    <p:sldId id="2147377586" r:id="rId6"/>
    <p:sldId id="256" r:id="rId7"/>
    <p:sldId id="2147379389" r:id="rId8"/>
    <p:sldId id="271" r:id="rId9"/>
    <p:sldId id="272" r:id="rId10"/>
    <p:sldId id="2147378131" r:id="rId11"/>
    <p:sldId id="2147379390" r:id="rId12"/>
    <p:sldId id="2147377582" r:id="rId13"/>
    <p:sldId id="2147377583" r:id="rId14"/>
    <p:sldId id="2147378133" r:id="rId15"/>
    <p:sldId id="263" r:id="rId16"/>
    <p:sldId id="2147378134" r:id="rId17"/>
    <p:sldId id="2147379392" r:id="rId18"/>
    <p:sldId id="2147378135" r:id="rId19"/>
    <p:sldId id="2147379393" r:id="rId20"/>
    <p:sldId id="2147378136" r:id="rId21"/>
    <p:sldId id="2147379394" r:id="rId22"/>
    <p:sldId id="2147379395" r:id="rId23"/>
    <p:sldId id="264" r:id="rId24"/>
    <p:sldId id="265" r:id="rId25"/>
    <p:sldId id="266" r:id="rId26"/>
    <p:sldId id="2147379388" r:id="rId27"/>
    <p:sldId id="2147378129" r:id="rId28"/>
    <p:sldId id="270" r:id="rId29"/>
    <p:sldId id="2147377382" r:id="rId30"/>
    <p:sldId id="2147377387" r:id="rId31"/>
    <p:sldId id="2147379398" r:id="rId32"/>
    <p:sldId id="2461" r:id="rId33"/>
    <p:sldId id="2147377376" r:id="rId34"/>
    <p:sldId id="2147377579" r:id="rId35"/>
    <p:sldId id="3162" r:id="rId36"/>
    <p:sldId id="2147377546" r:id="rId37"/>
    <p:sldId id="2147377580" r:id="rId38"/>
    <p:sldId id="3161" r:id="rId39"/>
    <p:sldId id="282" r:id="rId40"/>
  </p:sldIdLst>
  <p:sldSz cx="10691813" cy="7559675"/>
  <p:notesSz cx="6797675" cy="9926638"/>
  <p:custDataLst>
    <p:tags r:id="rId43"/>
  </p:custDataLst>
  <p:defaultTextStyle>
    <a:defPPr>
      <a:defRPr lang="en-US"/>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1" algn="l" defTabSz="457129" rtl="0" eaLnBrk="1" latinLnBrk="0" hangingPunct="1">
      <a:defRPr sz="1800" kern="1200">
        <a:solidFill>
          <a:schemeClr val="tx1"/>
        </a:solidFill>
        <a:latin typeface="+mn-lt"/>
        <a:ea typeface="+mn-ea"/>
        <a:cs typeface="+mn-cs"/>
      </a:defRPr>
    </a:lvl3pPr>
    <a:lvl4pPr marL="1371389" algn="l" defTabSz="457129" rtl="0" eaLnBrk="1" latinLnBrk="0" hangingPunct="1">
      <a:defRPr sz="1800" kern="1200">
        <a:solidFill>
          <a:schemeClr val="tx1"/>
        </a:solidFill>
        <a:latin typeface="+mn-lt"/>
        <a:ea typeface="+mn-ea"/>
        <a:cs typeface="+mn-cs"/>
      </a:defRPr>
    </a:lvl4pPr>
    <a:lvl5pPr marL="1828519" algn="l" defTabSz="457129" rtl="0" eaLnBrk="1" latinLnBrk="0" hangingPunct="1">
      <a:defRPr sz="1800" kern="1200">
        <a:solidFill>
          <a:schemeClr val="tx1"/>
        </a:solidFill>
        <a:latin typeface="+mn-lt"/>
        <a:ea typeface="+mn-ea"/>
        <a:cs typeface="+mn-cs"/>
      </a:defRPr>
    </a:lvl5pPr>
    <a:lvl6pPr marL="2285649"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7" algn="l" defTabSz="457129" rtl="0" eaLnBrk="1" latinLnBrk="0" hangingPunct="1">
      <a:defRPr sz="1800" kern="1200">
        <a:solidFill>
          <a:schemeClr val="tx1"/>
        </a:solidFill>
        <a:latin typeface="+mn-lt"/>
        <a:ea typeface="+mn-ea"/>
        <a:cs typeface="+mn-cs"/>
      </a:defRPr>
    </a:lvl8pPr>
    <a:lvl9pPr marL="3657037" algn="l" defTabSz="45712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774" userDrawn="1">
          <p15:clr>
            <a:srgbClr val="A4A3A4"/>
          </p15:clr>
        </p15:guide>
        <p15:guide id="2" orient="horz" pos="240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8AF9A35-6AE5-A2FB-2940-04F802A6076F}" name="Vincent Lambert" initials="VL" userId="S::vincent.lambert@syzgroup.com::c1750bfc-5312-4ea4-9fc7-fa5e6cda99f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Cadet, Clara (GVA-WSW)" initials="CC(W" lastIdx="0" clrIdx="1"/>
  <p:cmAuthor id="1" name="Hugo Lestiboudois SCA" initials="HLS" lastIdx="0" clrIdx="2"/>
  <p:cmAuthor id="2" name="Philippe Turrian" initials="PT" lastIdx="0" clrIdx="3"/>
  <p:cmAuthor id="3" name="Antoine Denis" initials="AD" lastIdx="0" clrIdx="4"/>
  <p:cmAuthor id="4" name="Richard Byworth SCA" initials="RBS" lastIdx="0" clrIdx="5"/>
  <p:cmAuthor id="5" name="Kevin Morrison" initials="KM" lastIdx="0" clrIdx="6"/>
  <p:cmAuthor id="6" name="Daudre-Vignier, Alphonse (GVA-WSW)" initials="AD" lastIdx="0" clrIdx="7"/>
  <p:cmAuthor id="7" name="Diellza Kolloni" initials="DK" lastIdx="0" clrIdx="8"/>
  <p:cmAuthor id="8" name="Achille Touchais SCA" initials="AS" lastIdx="0" clrIdx="9"/>
  <p:cmAuthor id="9" name="Gabrielle Slavik" initials="GS" lastIdx="0" clrIdx="10"/>
  <p:cmAuthor id="10" name="Pablo Perez SCA" initials="PPS" lastIdx="0" clrIdx="11"/>
  <p:cmAuthor id="11" name="Marc Syz SCA" initials="MSS" lastIdx="0" clrIdx="12"/>
  <p:cmAuthor id="12" name="Eric Syz" initials="ES" lastIdx="0" clrIdx="13"/>
  <p:cmAuthor id="13" name="Solal Dubois du Nilac" initials="SDdN" lastIdx="0" clrIdx="14"/>
  <p:cmAuthor id="14" name="Fabian Gebhardt SCA" initials="FGS" lastIdx="0" clrIdx="15"/>
  <p:cmAuthor id="15" name="Olivier Maurice SCA" initials="OMS" lastIdx="0" clrIdx="16"/>
  <p:cmAuthor id="16" name="Milena Dold SCA" initials="MDS" lastIdx="0" clrIdx="17"/>
  <p:cmAuthor id="17" name="Martu Germinario Rodriguez" initials="MGR" lastIdx="0" clrIdx="18"/>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029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A252E3-91D7-4E53-9C9C-784FAEBE78A5}" v="391" dt="2026-08-18T07:30:28.946"/>
    <p1510:client id="{C6C6AC61-3EB3-4C84-B933-0988C22879DD}" v="730" dt="2026-08-18T07:57:33.359"/>
    <p1510:client id="{F4FFBFA8-BBE2-4669-BF12-65E5C32AA67E}" v="230" dt="2026-08-17T14:08:17.1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23"/>
  </p:normalViewPr>
  <p:slideViewPr>
    <p:cSldViewPr snapToGrid="0">
      <p:cViewPr varScale="1">
        <p:scale>
          <a:sx n="110" d="100"/>
          <a:sy n="110" d="100"/>
        </p:scale>
        <p:origin x="1459" y="82"/>
      </p:cViewPr>
      <p:guideLst>
        <p:guide pos="4774"/>
        <p:guide orient="horz" pos="2404"/>
      </p:guideLst>
    </p:cSldViewPr>
  </p:slideViewPr>
  <p:notesTextViewPr>
    <p:cViewPr>
      <p:scale>
        <a:sx n="1" d="1"/>
        <a:sy n="1" d="1"/>
      </p:scale>
      <p:origin x="0" y="0"/>
    </p:cViewPr>
  </p:notesTextViewPr>
  <p:notesViewPr>
    <p:cSldViewPr snapToGrid="0">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tags" Target="tags/tag1.xml"/><Relationship Id="rId44" Type="http://schemas.openxmlformats.org/officeDocument/2006/relationships/commentAuthors" Target="commentAuthors.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microsoft.com/office/2015/10/relationships/revisionInfo" Target="revisionInfo.xml"/><Relationship Id="rId5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fscap01.ad.syzgroup.com\dept\WM\INVS\Team\Nevine\222.xlsx" TargetMode="External"/></Relationships>
</file>

<file path=ppt/charts/_rels/chart19.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7.xlsx"/></Relationships>
</file>

<file path=ppt/charts/_rels/chart20.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https://syzerland.sharepoint.com/sites/DEPT-Investment/Shared%20Documents/General/Team/Nevine/swiss%20income%20.xlsx" TargetMode="External"/></Relationships>
</file>

<file path=ppt/charts/_rels/chart21.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themeOverride" Target="../theme/themeOverride1.xml"/><Relationship Id="rId4" Type="http://schemas.openxmlformats.org/officeDocument/2006/relationships/package" Target="../embeddings/Microsoft_Excel_Worksheet18.xlsx"/><Relationship Id="rId5" Type="http://schemas.openxmlformats.org/officeDocument/2006/relationships/chartUserShapes" Target="../drawings/drawing1.xml"/></Relationships>
</file>

<file path=ppt/charts/_rels/chart22.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embeddings/oleObject3.bin"/></Relationships>
</file>

<file path=ppt/charts/_rels/chart23.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https://syzerland.sharepoint.com/sites/DEPT-Investment/Shared%20Documents/General/Team/Nevine/Book1.xlsx" TargetMode="External"/></Relationships>
</file>

<file path=ppt/charts/_rels/chart24.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themeOverride" Target="../theme/themeOverride2.xml"/><Relationship Id="rId4" Type="http://schemas.openxmlformats.org/officeDocument/2006/relationships/package" Target="../embeddings/Microsoft_Excel_Worksheet19.xlsx"/><Relationship Id="rId5"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6DCB-4C5A-9D45-1DB0C87C1D63}"/>
              </c:ext>
            </c:extLst>
          </c:dPt>
          <c:dPt>
            <c:idx val="1"/>
            <c:bubble3D val="0"/>
            <c:spPr>
              <a:solidFill>
                <a:srgbClr val="FFC545"/>
              </a:solidFill>
            </c:spPr>
            <c:extLst>
              <c:ext xmlns:c16="http://schemas.microsoft.com/office/drawing/2014/chart" uri="{C3380CC4-5D6E-409C-BE32-E72D297353CC}">
                <c16:uniqueId val="{00000003-6DCB-4C5A-9D45-1DB0C87C1D63}"/>
              </c:ext>
            </c:extLst>
          </c:dPt>
          <c:dPt>
            <c:idx val="2"/>
            <c:bubble3D val="0"/>
            <c:spPr>
              <a:solidFill>
                <a:srgbClr val="79D6FF"/>
              </a:solidFill>
            </c:spPr>
            <c:extLst>
              <c:ext xmlns:c16="http://schemas.microsoft.com/office/drawing/2014/chart" uri="{C3380CC4-5D6E-409C-BE32-E72D297353CC}">
                <c16:uniqueId val="{00000005-6DCB-4C5A-9D45-1DB0C87C1D63}"/>
              </c:ext>
            </c:extLst>
          </c:dPt>
          <c:dPt>
            <c:idx val="3"/>
            <c:bubble3D val="0"/>
            <c:spPr>
              <a:solidFill>
                <a:srgbClr val="202945"/>
              </a:solidFill>
            </c:spPr>
            <c:extLst>
              <c:ext xmlns:c16="http://schemas.microsoft.com/office/drawing/2014/chart" uri="{C3380CC4-5D6E-409C-BE32-E72D297353CC}">
                <c16:uniqueId val="{00000007-6DCB-4C5A-9D45-1DB0C87C1D63}"/>
              </c:ext>
            </c:extLst>
          </c:dPt>
          <c:dPt>
            <c:idx val="4"/>
            <c:bubble3D val="0"/>
            <c:spPr>
              <a:solidFill>
                <a:srgbClr val="3BAF90"/>
              </a:solidFill>
            </c:spPr>
            <c:extLst>
              <c:ext xmlns:c16="http://schemas.microsoft.com/office/drawing/2014/chart" uri="{C3380CC4-5D6E-409C-BE32-E72D297353CC}">
                <c16:uniqueId val="{00000009-6DCB-4C5A-9D45-1DB0C87C1D63}"/>
              </c:ext>
            </c:extLst>
          </c:dPt>
          <c:cat>
            <c:strRef>
              <c:f>Sheet1!$A$2:$A$6</c:f>
              <c:strCache>
                <c:ptCount val="5"/>
                <c:pt idx="0">
                  <c:v>Fixed Income  55%</c:v>
                </c:pt>
                <c:pt idx="1">
                  <c:v>Equities  26%</c:v>
                </c:pt>
                <c:pt idx="2">
                  <c:v>Alternatives  8%</c:v>
                </c:pt>
                <c:pt idx="3">
                  <c:v>Cash  5%</c:v>
                </c:pt>
                <c:pt idx="4">
                  <c:v>Commodities  5%</c:v>
                </c:pt>
              </c:strCache>
            </c:strRef>
          </c:cat>
          <c:val>
            <c:numRef>
              <c:f>Sheet1!$B$2:$B$6</c:f>
              <c:numCache>
                <c:formatCode>General</c:formatCode>
                <c:ptCount val="5"/>
                <c:pt idx="0">
                  <c:v>0.55440767206902586</c:v>
                </c:pt>
                <c:pt idx="1">
                  <c:v>0.2628036999846402</c:v>
                </c:pt>
                <c:pt idx="2">
                  <c:v>7.9000004577186547E-2</c:v>
                </c:pt>
                <c:pt idx="3">
                  <c:v>5.3788620472193828E-2</c:v>
                </c:pt>
                <c:pt idx="4">
                  <c:v>5.0000002896953499E-2</c:v>
                </c:pt>
              </c:numCache>
            </c:numRef>
          </c:val>
          <c:extLst>
            <c:ext xmlns:c16="http://schemas.microsoft.com/office/drawing/2014/chart" uri="{C3380CC4-5D6E-409C-BE32-E72D297353CC}">
              <c16:uniqueId val="{0000000A-6DCB-4C5A-9D45-1DB0C87C1D63}"/>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12FC-40BB-BF3C-F2EDC4F748DA}"/>
              </c:ext>
            </c:extLst>
          </c:dPt>
          <c:dPt>
            <c:idx val="1"/>
            <c:bubble3D val="0"/>
            <c:spPr>
              <a:solidFill>
                <a:srgbClr val="FFC545"/>
              </a:solidFill>
            </c:spPr>
            <c:extLst>
              <c:ext xmlns:c16="http://schemas.microsoft.com/office/drawing/2014/chart" uri="{C3380CC4-5D6E-409C-BE32-E72D297353CC}">
                <c16:uniqueId val="{00000003-12FC-40BB-BF3C-F2EDC4F748DA}"/>
              </c:ext>
            </c:extLst>
          </c:dPt>
          <c:dPt>
            <c:idx val="2"/>
            <c:bubble3D val="0"/>
            <c:spPr>
              <a:solidFill>
                <a:srgbClr val="79D6FF"/>
              </a:solidFill>
            </c:spPr>
            <c:extLst>
              <c:ext xmlns:c16="http://schemas.microsoft.com/office/drawing/2014/chart" uri="{C3380CC4-5D6E-409C-BE32-E72D297353CC}">
                <c16:uniqueId val="{00000005-12FC-40BB-BF3C-F2EDC4F748DA}"/>
              </c:ext>
            </c:extLst>
          </c:dPt>
          <c:dPt>
            <c:idx val="3"/>
            <c:bubble3D val="0"/>
            <c:spPr>
              <a:solidFill>
                <a:srgbClr val="202945"/>
              </a:solidFill>
            </c:spPr>
            <c:extLst>
              <c:ext xmlns:c16="http://schemas.microsoft.com/office/drawing/2014/chart" uri="{C3380CC4-5D6E-409C-BE32-E72D297353CC}">
                <c16:uniqueId val="{00000007-12FC-40BB-BF3C-F2EDC4F748DA}"/>
              </c:ext>
            </c:extLst>
          </c:dPt>
          <c:cat>
            <c:strRef>
              <c:f>Sheet1!$A$2:$A$5</c:f>
              <c:strCache>
                <c:ptCount val="4"/>
                <c:pt idx="0">
                  <c:v>USD  94%</c:v>
                </c:pt>
                <c:pt idx="1">
                  <c:v>EUR  3%</c:v>
                </c:pt>
                <c:pt idx="2">
                  <c:v>CHF  2%</c:v>
                </c:pt>
                <c:pt idx="3">
                  <c:v>JPY  1%</c:v>
                </c:pt>
              </c:strCache>
            </c:strRef>
          </c:cat>
          <c:val>
            <c:numRef>
              <c:f>Sheet1!$B$2:$B$5</c:f>
              <c:numCache>
                <c:formatCode>General</c:formatCode>
                <c:ptCount val="4"/>
                <c:pt idx="0">
                  <c:v>0.94267385742594012</c:v>
                </c:pt>
                <c:pt idx="1">
                  <c:v>2.5153268131258073E-2</c:v>
                </c:pt>
                <c:pt idx="2">
                  <c:v>2.0127667942303078E-2</c:v>
                </c:pt>
                <c:pt idx="3">
                  <c:v>1.2045206500498638E-2</c:v>
                </c:pt>
              </c:numCache>
            </c:numRef>
          </c:val>
          <c:extLst>
            <c:ext xmlns:c16="http://schemas.microsoft.com/office/drawing/2014/chart" uri="{C3380CC4-5D6E-409C-BE32-E72D297353CC}">
              <c16:uniqueId val="{00000008-12FC-40BB-BF3C-F2EDC4F748DA}"/>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strCache>
            </c:strRef>
          </c:tx>
          <c:invertIfNegative val="0"/>
          <c:dPt>
            <c:idx val="0"/>
            <c:invertIfNegative val="0"/>
            <c:bubble3D val="0"/>
            <c:spPr>
              <a:solidFill>
                <a:srgbClr val="FF6C0E"/>
              </a:solidFill>
            </c:spPr>
            <c:extLst>
              <c:ext xmlns:c16="http://schemas.microsoft.com/office/drawing/2014/chart" uri="{C3380CC4-5D6E-409C-BE32-E72D297353CC}">
                <c16:uniqueId val="{00000001-9BC4-41CE-A2D6-DB7B98CABE3A}"/>
              </c:ext>
            </c:extLst>
          </c:dPt>
          <c:dPt>
            <c:idx val="1"/>
            <c:invertIfNegative val="0"/>
            <c:bubble3D val="0"/>
            <c:spPr>
              <a:solidFill>
                <a:srgbClr val="202945"/>
              </a:solidFill>
            </c:spPr>
            <c:extLst>
              <c:ext xmlns:c16="http://schemas.microsoft.com/office/drawing/2014/chart" uri="{C3380CC4-5D6E-409C-BE32-E72D297353CC}">
                <c16:uniqueId val="{00000003-9BC4-41CE-A2D6-DB7B98CABE3A}"/>
              </c:ext>
            </c:extLst>
          </c:dPt>
          <c:dPt>
            <c:idx val="2"/>
            <c:invertIfNegative val="0"/>
            <c:bubble3D val="0"/>
            <c:spPr>
              <a:solidFill>
                <a:srgbClr val="FFC545"/>
              </a:solidFill>
            </c:spPr>
            <c:extLst>
              <c:ext xmlns:c16="http://schemas.microsoft.com/office/drawing/2014/chart" uri="{C3380CC4-5D6E-409C-BE32-E72D297353CC}">
                <c16:uniqueId val="{00000005-9BC4-41CE-A2D6-DB7B98CABE3A}"/>
              </c:ext>
            </c:extLst>
          </c:dPt>
          <c:dPt>
            <c:idx val="3"/>
            <c:invertIfNegative val="0"/>
            <c:bubble3D val="0"/>
            <c:spPr>
              <a:solidFill>
                <a:srgbClr val="79D6FF"/>
              </a:solidFill>
            </c:spPr>
            <c:extLst>
              <c:ext xmlns:c16="http://schemas.microsoft.com/office/drawing/2014/chart" uri="{C3380CC4-5D6E-409C-BE32-E72D297353CC}">
                <c16:uniqueId val="{00000007-9BC4-41CE-A2D6-DB7B98CABE3A}"/>
              </c:ext>
            </c:extLst>
          </c:dPt>
          <c:dPt>
            <c:idx val="4"/>
            <c:invertIfNegative val="0"/>
            <c:bubble3D val="0"/>
            <c:spPr>
              <a:solidFill>
                <a:srgbClr val="3BAF90"/>
              </a:solidFill>
            </c:spPr>
            <c:extLst>
              <c:ext xmlns:c16="http://schemas.microsoft.com/office/drawing/2014/chart" uri="{C3380CC4-5D6E-409C-BE32-E72D297353CC}">
                <c16:uniqueId val="{00000009-9BC4-41CE-A2D6-DB7B98CABE3A}"/>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Global</c:v>
                </c:pt>
                <c:pt idx="1">
                  <c:v>MEA EM</c:v>
                </c:pt>
                <c:pt idx="2">
                  <c:v>US</c:v>
                </c:pt>
                <c:pt idx="3">
                  <c:v>Europe DM</c:v>
                </c:pt>
                <c:pt idx="4">
                  <c:v>Japan</c:v>
                </c:pt>
              </c:strCache>
            </c:strRef>
          </c:cat>
          <c:val>
            <c:numRef>
              <c:f>Sheet1!$B$2:$B$6</c:f>
              <c:numCache>
                <c:formatCode>General</c:formatCode>
                <c:ptCount val="5"/>
                <c:pt idx="0">
                  <c:v>0.31327594252215857</c:v>
                </c:pt>
                <c:pt idx="1">
                  <c:v>0.27518859723836719</c:v>
                </c:pt>
                <c:pt idx="2">
                  <c:v>0.25450730046020115</c:v>
                </c:pt>
                <c:pt idx="3">
                  <c:v>0.14498295327877442</c:v>
                </c:pt>
                <c:pt idx="4">
                  <c:v>1.2045206500498638E-2</c:v>
                </c:pt>
              </c:numCache>
            </c:numRef>
          </c:val>
          <c:extLst>
            <c:ext xmlns:c16="http://schemas.microsoft.com/office/drawing/2014/chart" uri="{C3380CC4-5D6E-409C-BE32-E72D297353CC}">
              <c16:uniqueId val="{0000000A-9BC4-41CE-A2D6-DB7B98CABE3A}"/>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strCache>
            </c:strRef>
          </c:tx>
          <c:invertIfNegative val="0"/>
          <c:dPt>
            <c:idx val="0"/>
            <c:invertIfNegative val="0"/>
            <c:bubble3D val="0"/>
            <c:spPr>
              <a:solidFill>
                <a:srgbClr val="FF6C0E"/>
              </a:solidFill>
            </c:spPr>
            <c:extLst>
              <c:ext xmlns:c16="http://schemas.microsoft.com/office/drawing/2014/chart" uri="{C3380CC4-5D6E-409C-BE32-E72D297353CC}">
                <c16:uniqueId val="{00000001-8A61-4B6B-AB01-2A584015E766}"/>
              </c:ext>
            </c:extLst>
          </c:dPt>
          <c:dPt>
            <c:idx val="1"/>
            <c:invertIfNegative val="0"/>
            <c:bubble3D val="0"/>
            <c:spPr>
              <a:solidFill>
                <a:srgbClr val="202945"/>
              </a:solidFill>
            </c:spPr>
            <c:extLst>
              <c:ext xmlns:c16="http://schemas.microsoft.com/office/drawing/2014/chart" uri="{C3380CC4-5D6E-409C-BE32-E72D297353CC}">
                <c16:uniqueId val="{00000003-8A61-4B6B-AB01-2A584015E766}"/>
              </c:ext>
            </c:extLst>
          </c:dPt>
          <c:dPt>
            <c:idx val="2"/>
            <c:invertIfNegative val="0"/>
            <c:bubble3D val="0"/>
            <c:spPr>
              <a:solidFill>
                <a:srgbClr val="FFC545"/>
              </a:solidFill>
            </c:spPr>
            <c:extLst>
              <c:ext xmlns:c16="http://schemas.microsoft.com/office/drawing/2014/chart" uri="{C3380CC4-5D6E-409C-BE32-E72D297353CC}">
                <c16:uniqueId val="{00000005-8A61-4B6B-AB01-2A584015E766}"/>
              </c:ext>
            </c:extLst>
          </c:dPt>
          <c:dPt>
            <c:idx val="3"/>
            <c:invertIfNegative val="0"/>
            <c:bubble3D val="0"/>
            <c:spPr>
              <a:solidFill>
                <a:srgbClr val="79D6FF"/>
              </a:solidFill>
            </c:spPr>
            <c:extLst>
              <c:ext xmlns:c16="http://schemas.microsoft.com/office/drawing/2014/chart" uri="{C3380CC4-5D6E-409C-BE32-E72D297353CC}">
                <c16:uniqueId val="{00000007-8A61-4B6B-AB01-2A584015E766}"/>
              </c:ext>
            </c:extLst>
          </c:dPt>
          <c:dPt>
            <c:idx val="4"/>
            <c:invertIfNegative val="0"/>
            <c:bubble3D val="0"/>
            <c:spPr>
              <a:solidFill>
                <a:srgbClr val="3BAF90"/>
              </a:solidFill>
            </c:spPr>
            <c:extLst>
              <c:ext xmlns:c16="http://schemas.microsoft.com/office/drawing/2014/chart" uri="{C3380CC4-5D6E-409C-BE32-E72D297353CC}">
                <c16:uniqueId val="{00000009-8A61-4B6B-AB01-2A584015E766}"/>
              </c:ext>
            </c:extLst>
          </c:dPt>
          <c:dPt>
            <c:idx val="5"/>
            <c:invertIfNegative val="0"/>
            <c:bubble3D val="0"/>
            <c:spPr>
              <a:solidFill>
                <a:srgbClr val="AC5D85"/>
              </a:solidFill>
            </c:spPr>
            <c:extLst>
              <c:ext xmlns:c16="http://schemas.microsoft.com/office/drawing/2014/chart" uri="{C3380CC4-5D6E-409C-BE32-E72D297353CC}">
                <c16:uniqueId val="{0000000B-8A61-4B6B-AB01-2A584015E766}"/>
              </c:ext>
            </c:extLst>
          </c:dPt>
          <c:dPt>
            <c:idx val="6"/>
            <c:invertIfNegative val="0"/>
            <c:bubble3D val="0"/>
            <c:spPr>
              <a:solidFill>
                <a:srgbClr val="FFA400"/>
              </a:solidFill>
            </c:spPr>
            <c:extLst>
              <c:ext xmlns:c16="http://schemas.microsoft.com/office/drawing/2014/chart" uri="{C3380CC4-5D6E-409C-BE32-E72D297353CC}">
                <c16:uniqueId val="{0000000D-8A61-4B6B-AB01-2A584015E766}"/>
              </c:ext>
            </c:extLst>
          </c:dPt>
          <c:dPt>
            <c:idx val="7"/>
            <c:invertIfNegative val="0"/>
            <c:bubble3D val="0"/>
            <c:spPr>
              <a:solidFill>
                <a:srgbClr val="4B5F80"/>
              </a:solidFill>
            </c:spPr>
            <c:extLst>
              <c:ext xmlns:c16="http://schemas.microsoft.com/office/drawing/2014/chart" uri="{C3380CC4-5D6E-409C-BE32-E72D297353CC}">
                <c16:uniqueId val="{0000000F-8A61-4B6B-AB01-2A584015E766}"/>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Diversified</c:v>
                </c:pt>
                <c:pt idx="1">
                  <c:v>Financials</c:v>
                </c:pt>
                <c:pt idx="2">
                  <c:v>Materials</c:v>
                </c:pt>
                <c:pt idx="3">
                  <c:v>Consumer Disc</c:v>
                </c:pt>
                <c:pt idx="4">
                  <c:v>Energy</c:v>
                </c:pt>
                <c:pt idx="5">
                  <c:v>Utilities</c:v>
                </c:pt>
                <c:pt idx="6">
                  <c:v>Commodities</c:v>
                </c:pt>
                <c:pt idx="7">
                  <c:v>Health Care</c:v>
                </c:pt>
              </c:strCache>
            </c:strRef>
          </c:cat>
          <c:val>
            <c:numRef>
              <c:f>Sheet1!$B$2:$B$9</c:f>
              <c:numCache>
                <c:formatCode>General</c:formatCode>
                <c:ptCount val="8"/>
                <c:pt idx="0">
                  <c:v>0.42237638939016992</c:v>
                </c:pt>
                <c:pt idx="1">
                  <c:v>0.11160719789498831</c:v>
                </c:pt>
                <c:pt idx="2">
                  <c:v>6.1891432157360385E-2</c:v>
                </c:pt>
                <c:pt idx="3">
                  <c:v>5.6725860429500556E-2</c:v>
                </c:pt>
                <c:pt idx="4">
                  <c:v>5.6382817552482103E-2</c:v>
                </c:pt>
                <c:pt idx="5">
                  <c:v>5.5823717520088377E-2</c:v>
                </c:pt>
                <c:pt idx="6">
                  <c:v>5.0000002896953499E-2</c:v>
                </c:pt>
                <c:pt idx="7">
                  <c:v>4.7750002766590596E-2</c:v>
                </c:pt>
              </c:numCache>
            </c:numRef>
          </c:val>
          <c:extLst>
            <c:ext xmlns:c16="http://schemas.microsoft.com/office/drawing/2014/chart" uri="{C3380CC4-5D6E-409C-BE32-E72D297353CC}">
              <c16:uniqueId val="{00000010-8A61-4B6B-AB01-2A584015E766}"/>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7E78-4776-BAC0-45DF06E8E22D}"/>
              </c:ext>
            </c:extLst>
          </c:dPt>
          <c:dPt>
            <c:idx val="1"/>
            <c:bubble3D val="0"/>
            <c:spPr>
              <a:solidFill>
                <a:srgbClr val="FFC545"/>
              </a:solidFill>
            </c:spPr>
            <c:extLst>
              <c:ext xmlns:c16="http://schemas.microsoft.com/office/drawing/2014/chart" uri="{C3380CC4-5D6E-409C-BE32-E72D297353CC}">
                <c16:uniqueId val="{00000003-7E78-4776-BAC0-45DF06E8E22D}"/>
              </c:ext>
            </c:extLst>
          </c:dPt>
          <c:dPt>
            <c:idx val="2"/>
            <c:bubble3D val="0"/>
            <c:spPr>
              <a:solidFill>
                <a:srgbClr val="79D6FF"/>
              </a:solidFill>
            </c:spPr>
            <c:extLst>
              <c:ext xmlns:c16="http://schemas.microsoft.com/office/drawing/2014/chart" uri="{C3380CC4-5D6E-409C-BE32-E72D297353CC}">
                <c16:uniqueId val="{00000005-7E78-4776-BAC0-45DF06E8E22D}"/>
              </c:ext>
            </c:extLst>
          </c:dPt>
          <c:cat>
            <c:strRef>
              <c:f>Sheet1!$A$2:$A$4</c:f>
              <c:strCache>
                <c:ptCount val="3"/>
                <c:pt idx="0">
                  <c:v>Direct line  52%</c:v>
                </c:pt>
                <c:pt idx="1">
                  <c:v>Fund  33%</c:v>
                </c:pt>
                <c:pt idx="2">
                  <c:v>Structured / AMC  15%</c:v>
                </c:pt>
              </c:strCache>
            </c:strRef>
          </c:cat>
          <c:val>
            <c:numRef>
              <c:f>Sheet1!$B$2:$B$4</c:f>
              <c:numCache>
                <c:formatCode>General</c:formatCode>
                <c:ptCount val="3"/>
                <c:pt idx="0">
                  <c:v>0.52324777801029698</c:v>
                </c:pt>
                <c:pt idx="1">
                  <c:v>0.32630897744983961</c:v>
                </c:pt>
                <c:pt idx="2">
                  <c:v>0.15044324453986341</c:v>
                </c:pt>
              </c:numCache>
            </c:numRef>
          </c:val>
          <c:extLst>
            <c:ext xmlns:c16="http://schemas.microsoft.com/office/drawing/2014/chart" uri="{C3380CC4-5D6E-409C-BE32-E72D297353CC}">
              <c16:uniqueId val="{00000006-7E78-4776-BAC0-45DF06E8E22D}"/>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geography</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4D04-4F23-9F99-238125506A13}"/>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4D04-4F23-9F99-238125506A13}"/>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4D04-4F23-9F99-238125506A13}"/>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4D04-4F23-9F99-238125506A13}"/>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4D04-4F23-9F99-238125506A13}"/>
              </c:ext>
            </c:extLst>
          </c:dPt>
          <c:dPt>
            <c:idx val="5"/>
            <c:bubble3D val="0"/>
            <c:spPr>
              <a:solidFill>
                <a:srgbClr val="9BA3B4"/>
              </a:solidFill>
              <a:ln w="9525" cap="flat">
                <a:noFill/>
                <a:prstDash val="solid"/>
                <a:round/>
              </a:ln>
              <a:effectLst/>
            </c:spPr>
            <c:extLst>
              <c:ext xmlns:c16="http://schemas.microsoft.com/office/drawing/2014/chart" uri="{C3380CC4-5D6E-409C-BE32-E72D297353CC}">
                <c16:uniqueId val="{0000000B-4D04-4F23-9F99-238125506A13}"/>
              </c:ext>
            </c:extLst>
          </c:dPt>
          <c:cat>
            <c:strRef>
              <c:f>Sheet1!$A$2:$A$7</c:f>
              <c:strCache>
                <c:ptCount val="6"/>
                <c:pt idx="0">
                  <c:v>United States</c:v>
                </c:pt>
                <c:pt idx="1">
                  <c:v>France</c:v>
                </c:pt>
                <c:pt idx="2">
                  <c:v>Luxembourg</c:v>
                </c:pt>
                <c:pt idx="3">
                  <c:v>Ireland</c:v>
                </c:pt>
                <c:pt idx="4">
                  <c:v>Japan</c:v>
                </c:pt>
                <c:pt idx="5">
                  <c:v>United Kingdom</c:v>
                </c:pt>
              </c:strCache>
            </c:strRef>
          </c:cat>
          <c:val>
            <c:numRef>
              <c:f>Sheet1!$B$2:$B$7</c:f>
              <c:numCache>
                <c:formatCode>General</c:formatCode>
                <c:ptCount val="6"/>
                <c:pt idx="0">
                  <c:v>16.666699999999999</c:v>
                </c:pt>
                <c:pt idx="1">
                  <c:v>16.666699999999999</c:v>
                </c:pt>
                <c:pt idx="2">
                  <c:v>16.666699999999999</c:v>
                </c:pt>
                <c:pt idx="3">
                  <c:v>16.666699999999999</c:v>
                </c:pt>
                <c:pt idx="4">
                  <c:v>16.666699999999999</c:v>
                </c:pt>
                <c:pt idx="5">
                  <c:v>16.666699999999999</c:v>
                </c:pt>
              </c:numCache>
            </c:numRef>
          </c:val>
          <c:extLst>
            <c:ext xmlns:c16="http://schemas.microsoft.com/office/drawing/2014/chart" uri="{C3380CC4-5D6E-409C-BE32-E72D297353CC}">
              <c16:uniqueId val="{0000000C-4D04-4F23-9F99-238125506A13}"/>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sector</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B8B3-44D7-964B-8347C60FDD09}"/>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B8B3-44D7-964B-8347C60FDD09}"/>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B8B3-44D7-964B-8347C60FDD09}"/>
              </c:ext>
            </c:extLst>
          </c:dPt>
          <c:cat>
            <c:strRef>
              <c:f>Sheet1!$A$2:$A$4</c:f>
              <c:strCache>
                <c:ptCount val="3"/>
                <c:pt idx="0">
                  <c:v>Finance</c:v>
                </c:pt>
                <c:pt idx="1">
                  <c:v>Non-Energy Minerals</c:v>
                </c:pt>
                <c:pt idx="2">
                  <c:v>Communications</c:v>
                </c:pt>
              </c:strCache>
            </c:strRef>
          </c:cat>
          <c:val>
            <c:numRef>
              <c:f>Sheet1!$B$2:$B$4</c:f>
              <c:numCache>
                <c:formatCode>General</c:formatCode>
                <c:ptCount val="3"/>
                <c:pt idx="0">
                  <c:v>66.666700000000006</c:v>
                </c:pt>
                <c:pt idx="1">
                  <c:v>16.666699999999999</c:v>
                </c:pt>
                <c:pt idx="2">
                  <c:v>16.666699999999999</c:v>
                </c:pt>
              </c:numCache>
            </c:numRef>
          </c:val>
          <c:extLst>
            <c:ext xmlns:c16="http://schemas.microsoft.com/office/drawing/2014/chart" uri="{C3380CC4-5D6E-409C-BE32-E72D297353CC}">
              <c16:uniqueId val="{00000006-B8B3-44D7-964B-8347C60FDD09}"/>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maturity</c:v>
                </c:pt>
              </c:strCache>
            </c:strRef>
          </c:tx>
          <c:spPr>
            <a:solidFill>
              <a:schemeClr val="accent1"/>
            </a:solidFill>
            <a:ln w="9525" cap="flat">
              <a:solidFill>
                <a:srgbClr val="F9F9F9"/>
              </a:solidFill>
              <a:prstDash val="solid"/>
              <a:round/>
            </a:ln>
            <a:effectLst/>
          </c:spPr>
          <c:dPt>
            <c:idx val="0"/>
            <c:bubble3D val="0"/>
            <c:spPr>
              <a:solidFill>
                <a:srgbClr val="FF6C0E"/>
              </a:solidFill>
              <a:ln w="9525" cap="flat">
                <a:solidFill>
                  <a:srgbClr val="FAFAFB"/>
                </a:solidFill>
                <a:prstDash val="solid"/>
                <a:round/>
              </a:ln>
              <a:effectLst/>
            </c:spPr>
            <c:extLst>
              <c:ext xmlns:c16="http://schemas.microsoft.com/office/drawing/2014/chart" uri="{C3380CC4-5D6E-409C-BE32-E72D297353CC}">
                <c16:uniqueId val="{00000001-F801-48E9-B837-D9C81C3857EA}"/>
              </c:ext>
            </c:extLst>
          </c:dPt>
          <c:dPt>
            <c:idx val="1"/>
            <c:bubble3D val="0"/>
            <c:spPr>
              <a:solidFill>
                <a:srgbClr val="FFC545"/>
              </a:solidFill>
              <a:ln w="9525" cap="flat">
                <a:solidFill>
                  <a:srgbClr val="FAFAFB"/>
                </a:solidFill>
                <a:prstDash val="solid"/>
                <a:round/>
              </a:ln>
              <a:effectLst/>
            </c:spPr>
            <c:extLst>
              <c:ext xmlns:c16="http://schemas.microsoft.com/office/drawing/2014/chart" uri="{C3380CC4-5D6E-409C-BE32-E72D297353CC}">
                <c16:uniqueId val="{00000003-F801-48E9-B837-D9C81C3857EA}"/>
              </c:ext>
            </c:extLst>
          </c:dPt>
          <c:dPt>
            <c:idx val="2"/>
            <c:bubble3D val="0"/>
            <c:spPr>
              <a:solidFill>
                <a:srgbClr val="79D6FF"/>
              </a:solidFill>
              <a:ln w="9525" cap="flat">
                <a:solidFill>
                  <a:srgbClr val="FAFAFB"/>
                </a:solidFill>
                <a:prstDash val="solid"/>
                <a:round/>
              </a:ln>
              <a:effectLst/>
            </c:spPr>
            <c:extLst>
              <c:ext xmlns:c16="http://schemas.microsoft.com/office/drawing/2014/chart" uri="{C3380CC4-5D6E-409C-BE32-E72D297353CC}">
                <c16:uniqueId val="{00000005-F801-48E9-B837-D9C81C3857EA}"/>
              </c:ext>
            </c:extLst>
          </c:dPt>
          <c:cat>
            <c:strRef>
              <c:f>Sheet1!$A$2:$A$4</c:f>
              <c:strCache>
                <c:ptCount val="3"/>
                <c:pt idx="0">
                  <c:v>0 - 3 years</c:v>
                </c:pt>
                <c:pt idx="1">
                  <c:v>3 - 5 years</c:v>
                </c:pt>
                <c:pt idx="2">
                  <c:v>5 - 7 years</c:v>
                </c:pt>
              </c:strCache>
            </c:strRef>
          </c:cat>
          <c:val>
            <c:numRef>
              <c:f>Sheet1!$B$2:$B$4</c:f>
              <c:numCache>
                <c:formatCode>General</c:formatCode>
                <c:ptCount val="3"/>
                <c:pt idx="0">
                  <c:v>16.666699999999999</c:v>
                </c:pt>
                <c:pt idx="1">
                  <c:v>66.666700000000006</c:v>
                </c:pt>
                <c:pt idx="2">
                  <c:v>16.666699999999999</c:v>
                </c:pt>
              </c:numCache>
            </c:numRef>
          </c:val>
          <c:extLst>
            <c:ext xmlns:c16="http://schemas.microsoft.com/office/drawing/2014/chart" uri="{C3380CC4-5D6E-409C-BE32-E72D297353CC}">
              <c16:uniqueId val="{00000006-F801-48E9-B837-D9C81C3857EA}"/>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credit quality</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D28A-4F7B-AAC0-EB5D8BC7AD46}"/>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D28A-4F7B-AAC0-EB5D8BC7AD46}"/>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D28A-4F7B-AAC0-EB5D8BC7AD46}"/>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D28A-4F7B-AAC0-EB5D8BC7AD46}"/>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D28A-4F7B-AAC0-EB5D8BC7AD46}"/>
              </c:ext>
            </c:extLst>
          </c:dPt>
          <c:cat>
            <c:strRef>
              <c:f>Sheet1!$A$2:$A$6</c:f>
              <c:strCache>
                <c:ptCount val="5"/>
                <c:pt idx="0">
                  <c:v>A+</c:v>
                </c:pt>
                <c:pt idx="1">
                  <c:v>A-</c:v>
                </c:pt>
                <c:pt idx="2">
                  <c:v>BBB+</c:v>
                </c:pt>
                <c:pt idx="3">
                  <c:v>BBB</c:v>
                </c:pt>
                <c:pt idx="4">
                  <c:v>BB+</c:v>
                </c:pt>
              </c:strCache>
            </c:strRef>
          </c:cat>
          <c:val>
            <c:numRef>
              <c:f>Sheet1!$B$2:$B$6</c:f>
              <c:numCache>
                <c:formatCode>General</c:formatCode>
                <c:ptCount val="5"/>
                <c:pt idx="0">
                  <c:v>16.666699999999999</c:v>
                </c:pt>
                <c:pt idx="1">
                  <c:v>16.666699999999999</c:v>
                </c:pt>
                <c:pt idx="2">
                  <c:v>33.333300000000001</c:v>
                </c:pt>
                <c:pt idx="3">
                  <c:v>16.666699999999999</c:v>
                </c:pt>
                <c:pt idx="4">
                  <c:v>16.666699999999999</c:v>
                </c:pt>
              </c:numCache>
            </c:numRef>
          </c:val>
          <c:extLst>
            <c:ext xmlns:c16="http://schemas.microsoft.com/office/drawing/2014/chart" uri="{C3380CC4-5D6E-409C-BE32-E72D297353CC}">
              <c16:uniqueId val="{0000000A-D28A-4F7B-AAC0-EB5D8BC7AD46}"/>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4C58-46F0-85EB-19DB55FECB80}"/>
              </c:ext>
            </c:extLst>
          </c:dPt>
          <c:dPt>
            <c:idx val="1"/>
            <c:bubble3D val="0"/>
            <c:spPr>
              <a:solidFill>
                <a:srgbClr val="FFC545"/>
              </a:solidFill>
            </c:spPr>
            <c:extLst>
              <c:ext xmlns:c16="http://schemas.microsoft.com/office/drawing/2014/chart" uri="{C3380CC4-5D6E-409C-BE32-E72D297353CC}">
                <c16:uniqueId val="{00000003-4C58-46F0-85EB-19DB55FECB80}"/>
              </c:ext>
            </c:extLst>
          </c:dPt>
          <c:cat>
            <c:strRef>
              <c:f>Sheet1!$A$2:$A$3</c:f>
              <c:strCache>
                <c:ptCount val="2"/>
                <c:pt idx="0">
                  <c:v>Fund  94%</c:v>
                </c:pt>
                <c:pt idx="1">
                  <c:v>ETF  6%</c:v>
                </c:pt>
              </c:strCache>
            </c:strRef>
          </c:cat>
          <c:val>
            <c:numRef>
              <c:f>Sheet1!$B$2:$B$3</c:f>
              <c:numCache>
                <c:formatCode>General</c:formatCode>
                <c:ptCount val="2"/>
                <c:pt idx="0">
                  <c:v>0.94491117763918775</c:v>
                </c:pt>
                <c:pt idx="1">
                  <c:v>5.5088822360812188E-2</c:v>
                </c:pt>
              </c:numCache>
            </c:numRef>
          </c:val>
          <c:extLst>
            <c:ext xmlns:c16="http://schemas.microsoft.com/office/drawing/2014/chart" uri="{C3380CC4-5D6E-409C-BE32-E72D297353CC}">
              <c16:uniqueId val="{00000004-4C58-46F0-85EB-19DB55FECB80}"/>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3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dLbls>
          <c:showLegendKey val="0"/>
          <c:showVal val="0"/>
          <c:showCatName val="0"/>
          <c:showSerName val="0"/>
          <c:showPercent val="0"/>
          <c:showBubbleSize val="0"/>
          <c:showLeaderLines val="0"/>
        </c:dLbls>
        <c:firstSliceAng val="0"/>
        <c:holeSize val="70"/>
      </c:doughnutChart>
    </c:plotArea>
    <c:legend>
      <c:legendPos val="r"/>
      <c:overlay val="0"/>
    </c:legend>
    <c:plotVisOnly val="1"/>
    <c:dispBlanksAs val="gap"/>
    <c:showDLblsOverMax val="0"/>
  </c:chart>
  <c:spPr>
    <a:ln>
      <a:noFill/>
    </a:ln>
    <a:effectLst/>
  </c:spPr>
  <c:txPr>
    <a:bodyPr/>
    <a:lstStyle/>
    <a:p>
      <a:pPr>
        <a:defRPr sz="1400">
          <a:solidFill>
            <a:srgbClr val="202945"/>
          </a:solidFill>
          <a:latin typeface="Nunito Sans"/>
        </a:defRPr>
      </a:pPr>
      <a:endParaRPr lang="en-CH"/>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geography</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7858-40CB-B006-9C099370F2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7858-40CB-B006-9C099370F2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7858-40CB-B006-9C099370F25F}"/>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7858-40CB-B006-9C099370F25F}"/>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7858-40CB-B006-9C099370F25F}"/>
              </c:ext>
            </c:extLst>
          </c:dPt>
          <c:cat>
            <c:strRef>
              <c:f>Sheet1!$A$2:$A$6</c:f>
              <c:strCache>
                <c:ptCount val="5"/>
                <c:pt idx="0">
                  <c:v>Europe ex-Switzerland</c:v>
                </c:pt>
                <c:pt idx="1">
                  <c:v>Global / thematic</c:v>
                </c:pt>
                <c:pt idx="2">
                  <c:v>Switzerland</c:v>
                </c:pt>
                <c:pt idx="3">
                  <c:v>United States</c:v>
                </c:pt>
                <c:pt idx="4">
                  <c:v>China</c:v>
                </c:pt>
              </c:strCache>
            </c:strRef>
          </c:cat>
          <c:val>
            <c:numRef>
              <c:f>Sheet1!$B$2:$B$6</c:f>
              <c:numCache>
                <c:formatCode>General</c:formatCode>
                <c:ptCount val="5"/>
                <c:pt idx="0">
                  <c:v>38.076999999999998</c:v>
                </c:pt>
                <c:pt idx="1">
                  <c:v>30.248000000000001</c:v>
                </c:pt>
                <c:pt idx="2">
                  <c:v>18.984000000000002</c:v>
                </c:pt>
                <c:pt idx="3">
                  <c:v>6.6379999999999999</c:v>
                </c:pt>
                <c:pt idx="4">
                  <c:v>6.0529999999999999</c:v>
                </c:pt>
              </c:numCache>
            </c:numRef>
          </c:val>
          <c:extLst>
            <c:ext xmlns:c16="http://schemas.microsoft.com/office/drawing/2014/chart" uri="{C3380CC4-5D6E-409C-BE32-E72D297353CC}">
              <c16:uniqueId val="{0000000A-7858-40CB-B006-9C099370F25F}"/>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sector</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EBB8-42C2-89E7-A36B30CA2114}"/>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EBB8-42C2-89E7-A36B30CA2114}"/>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EBB8-42C2-89E7-A36B30CA2114}"/>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EBB8-42C2-89E7-A36B30CA2114}"/>
              </c:ext>
            </c:extLst>
          </c:dPt>
          <c:dPt>
            <c:idx val="4"/>
            <c:bubble3D val="0"/>
            <c:spPr>
              <a:solidFill>
                <a:srgbClr val="9BA3B4"/>
              </a:solidFill>
              <a:ln w="9525" cap="flat">
                <a:noFill/>
                <a:prstDash val="solid"/>
                <a:round/>
              </a:ln>
              <a:effectLst/>
            </c:spPr>
            <c:extLst>
              <c:ext xmlns:c16="http://schemas.microsoft.com/office/drawing/2014/chart" uri="{C3380CC4-5D6E-409C-BE32-E72D297353CC}">
                <c16:uniqueId val="{00000009-EBB8-42C2-89E7-A36B30CA2114}"/>
              </c:ext>
            </c:extLst>
          </c:dPt>
          <c:cat>
            <c:strRef>
              <c:f>Sheet1!$A$2:$A$6</c:f>
              <c:strCache>
                <c:ptCount val="5"/>
                <c:pt idx="0">
                  <c:v>Electronic Technology</c:v>
                </c:pt>
                <c:pt idx="1">
                  <c:v>Multi-sector funds</c:v>
                </c:pt>
                <c:pt idx="2">
                  <c:v>Finance</c:v>
                </c:pt>
                <c:pt idx="3">
                  <c:v>Non-Energy Minerals</c:v>
                </c:pt>
                <c:pt idx="4">
                  <c:v>Other</c:v>
                </c:pt>
              </c:strCache>
            </c:strRef>
          </c:cat>
          <c:val>
            <c:numRef>
              <c:f>Sheet1!$B$2:$B$6</c:f>
              <c:numCache>
                <c:formatCode>General</c:formatCode>
                <c:ptCount val="5"/>
                <c:pt idx="0">
                  <c:v>27.869</c:v>
                </c:pt>
                <c:pt idx="1">
                  <c:v>24.521999999999998</c:v>
                </c:pt>
                <c:pt idx="2">
                  <c:v>22.504000000000001</c:v>
                </c:pt>
                <c:pt idx="3">
                  <c:v>12.253</c:v>
                </c:pt>
                <c:pt idx="4">
                  <c:v>12.852</c:v>
                </c:pt>
              </c:numCache>
            </c:numRef>
          </c:val>
          <c:extLst>
            <c:ext xmlns:c16="http://schemas.microsoft.com/office/drawing/2014/chart" uri="{C3380CC4-5D6E-409C-BE32-E72D297353CC}">
              <c16:uniqueId val="{0000000A-EBB8-42C2-89E7-A36B30CA2114}"/>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By market cap</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BB36-45C4-B629-418875BB24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BB36-45C4-B629-418875BB24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BB36-45C4-B629-418875BB245F}"/>
              </c:ext>
            </c:extLst>
          </c:dPt>
          <c:cat>
            <c:strRef>
              <c:f>Sheet1!$A$2:$A$4</c:f>
              <c:strCache>
                <c:ptCount val="3"/>
                <c:pt idx="0">
                  <c:v>Large cap</c:v>
                </c:pt>
                <c:pt idx="1">
                  <c:v>Mid cap</c:v>
                </c:pt>
                <c:pt idx="2">
                  <c:v>Small cap</c:v>
                </c:pt>
              </c:strCache>
            </c:strRef>
          </c:cat>
          <c:val>
            <c:numRef>
              <c:f>Sheet1!$B$2:$B$4</c:f>
              <c:numCache>
                <c:formatCode>General</c:formatCode>
                <c:ptCount val="3"/>
                <c:pt idx="0">
                  <c:v>88.495000000000005</c:v>
                </c:pt>
                <c:pt idx="1">
                  <c:v>9.76</c:v>
                </c:pt>
                <c:pt idx="2">
                  <c:v>1.7450000000000001</c:v>
                </c:pt>
              </c:numCache>
            </c:numRef>
          </c:val>
          <c:extLst>
            <c:ext xmlns:c16="http://schemas.microsoft.com/office/drawing/2014/chart" uri="{C3380CC4-5D6E-409C-BE32-E72D297353CC}">
              <c16:uniqueId val="{00000006-BB36-45C4-B629-418875BB245F}"/>
            </c:ext>
          </c:extLst>
        </c:ser>
        <c:dLbls>
          <c:showLegendKey val="0"/>
          <c:showVal val="0"/>
          <c:showCatName val="0"/>
          <c:showSerName val="0"/>
          <c:showPercent val="0"/>
          <c:showBubbleSize val="0"/>
          <c:showLeaderLines val="0"/>
        </c:dLbls>
        <c:firstSliceAng val="0"/>
        <c:holeSize val="70"/>
      </c:doughnutChart>
      <c:spPr>
        <a:solidFill>
          <a:schemeClr val="bg1"/>
        </a:solid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AED1-461B-9628-3BCC513998CA}"/>
              </c:ext>
            </c:extLst>
          </c:dPt>
          <c:cat>
            <c:strRef>
              <c:f>Sheet1!$A$2:$A$2</c:f>
              <c:strCache>
                <c:ptCount val="1"/>
                <c:pt idx="0">
                  <c:v>Structured / AMC  100%</c:v>
                </c:pt>
              </c:strCache>
            </c:strRef>
          </c:cat>
          <c:val>
            <c:numRef>
              <c:f>Sheet1!$B$2:$B$2</c:f>
              <c:numCache>
                <c:formatCode>General</c:formatCode>
                <c:ptCount val="1"/>
                <c:pt idx="0">
                  <c:v>1</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AED1-461B-9628-3BCC513998CA}"/>
              </c:ext>
            </c:extLst>
          </c:dPt>
          <c:cat>
            <c:strRef>
              <c:f>Sheet1!$A$2:$A$2</c:f>
              <c:strCache>
                <c:ptCount val="1"/>
                <c:pt idx="0">
                  <c:v>Structured / AMC  100%</c:v>
                </c:pt>
              </c:strCache>
            </c:strRef>
          </c:cat>
          <c:val>
            <c:numRef>
              <c:f>Sheet1!$B$2:$B$2</c:f>
              <c:numCache>
                <c:formatCode>General</c:formatCode>
                <c:ptCount val="1"/>
                <c:pt idx="0">
                  <c:v>1</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strCache>
            </c:strRef>
          </c:tx>
          <c:dPt>
            <c:idx val="0"/>
            <c:bubble3D val="0"/>
            <c:spPr>
              <a:solidFill>
                <a:srgbClr val="FF6C0E"/>
              </a:solidFill>
            </c:spPr>
            <c:extLst>
              <c:ext xmlns:c16="http://schemas.microsoft.com/office/drawing/2014/chart" uri="{C3380CC4-5D6E-409C-BE32-E72D297353CC}">
                <c16:uniqueId val="{00000001-8EC8-4112-B258-3651A3B751D3}"/>
              </c:ext>
            </c:extLst>
          </c:dPt>
          <c:dPt>
            <c:idx val="1"/>
            <c:bubble3D val="0"/>
            <c:spPr>
              <a:solidFill>
                <a:srgbClr val="FFC545"/>
              </a:solidFill>
            </c:spPr>
            <c:extLst>
              <c:ext xmlns:c16="http://schemas.microsoft.com/office/drawing/2014/chart" uri="{C3380CC4-5D6E-409C-BE32-E72D297353CC}">
                <c16:uniqueId val="{00000003-8EC8-4112-B258-3651A3B751D3}"/>
              </c:ext>
            </c:extLst>
          </c:dPt>
          <c:dPt>
            <c:idx val="2"/>
            <c:bubble3D val="0"/>
            <c:spPr>
              <a:solidFill>
                <a:srgbClr val="79D6FF"/>
              </a:solidFill>
            </c:spPr>
            <c:extLst>
              <c:ext xmlns:c16="http://schemas.microsoft.com/office/drawing/2014/chart" uri="{C3380CC4-5D6E-409C-BE32-E72D297353CC}">
                <c16:uniqueId val="{00000005-8EC8-4112-B258-3651A3B751D3}"/>
              </c:ext>
            </c:extLst>
          </c:dPt>
          <c:cat>
            <c:strRef>
              <c:f>Sheet1!$A$2:$A$4</c:f>
              <c:strCache>
                <c:ptCount val="3"/>
                <c:pt idx="0">
                  <c:v>Listed  45%</c:v>
                </c:pt>
                <c:pt idx="1">
                  <c:v>Daily-liquid fund  41%</c:v>
                </c:pt>
                <c:pt idx="2">
                  <c:v>Illiquid (lock-up)  13%</c:v>
                </c:pt>
              </c:strCache>
            </c:strRef>
          </c:cat>
          <c:val>
            <c:numRef>
              <c:f>Sheet1!$B$2:$B$4</c:f>
              <c:numCache>
                <c:formatCode>General</c:formatCode>
                <c:ptCount val="3"/>
                <c:pt idx="0">
                  <c:v>0.45224988906007935</c:v>
                </c:pt>
                <c:pt idx="1">
                  <c:v>0.41385208760208309</c:v>
                </c:pt>
                <c:pt idx="2">
                  <c:v>0.13389802333783751</c:v>
                </c:pt>
              </c:numCache>
            </c:numRef>
          </c:val>
          <c:extLst>
            <c:ext xmlns:c16="http://schemas.microsoft.com/office/drawing/2014/chart" uri="{C3380CC4-5D6E-409C-BE32-E72D297353CC}">
              <c16:uniqueId val="{00000006-8EC8-4112-B258-3651A3B751D3}"/>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900" b="1" i="0" u="none" strike="noStrike" kern="1200" spc="0" baseline="0">
                <a:solidFill>
                  <a:schemeClr val="accent2"/>
                </a:solidFill>
                <a:latin typeface="+mn-lt"/>
                <a:ea typeface="+mn-ea"/>
                <a:cs typeface="+mn-cs"/>
              </a:defRPr>
            </a:pPr>
            <a:r>
              <a:rPr lang="en-US" sz="900" b="1" kern="1200" noProof="0" dirty="0">
                <a:solidFill>
                  <a:schemeClr val="accent2"/>
                </a:solidFill>
                <a:latin typeface="+mn-lt"/>
                <a:ea typeface="+mn-ea"/>
                <a:cs typeface="+mn-cs"/>
              </a:rPr>
              <a:t>JPM Global Select  12-month performance</a:t>
            </a:r>
          </a:p>
        </c:rich>
      </c:tx>
      <c:overlay val="0"/>
      <c:spPr>
        <a:noFill/>
        <a:ln>
          <a:noFill/>
        </a:ln>
        <a:effectLst/>
      </c:spPr>
      <c:txPr>
        <a:bodyPr rot="0" spcFirstLastPara="1" vertOverflow="ellipsis" vert="horz" wrap="square" anchor="ctr" anchorCtr="1"/>
        <a:lstStyle/>
        <a:p>
          <a:pPr>
            <a:defRPr lang="en-US" sz="900" b="1" i="0" u="none" strike="noStrike" kern="1200" spc="0" baseline="0">
              <a:solidFill>
                <a:schemeClr val="accent2"/>
              </a:solidFill>
              <a:latin typeface="+mn-lt"/>
              <a:ea typeface="+mn-ea"/>
              <a:cs typeface="+mn-cs"/>
            </a:defRPr>
          </a:pPr>
          <a:endParaRPr lang="fr-FR"/>
        </a:p>
      </c:txPr>
    </c:title>
    <c:autoTitleDeleted val="0"/>
    <c:plotArea>
      <c:layout/>
      <c:lineChart>
        <c:grouping val="standard"/>
        <c:varyColors val="0"/>
        <c:dLbls>
          <c:showLegendKey val="0"/>
          <c:showVal val="0"/>
          <c:showCatName val="0"/>
          <c:showSerName val="0"/>
          <c:showPercent val="0"/>
          <c:showBubbleSize val="0"/>
        </c:dLbls>
        <c:marker val="1"/>
        <c:smooth val="0"/>
        <c:axId val="35404319"/>
        <c:axId val="35399999"/>
      </c:lineChart>
      <c:catAx>
        <c:axId val="35404319"/>
        <c:scaling>
          <c:orientation val="minMax"/>
        </c:scaling>
        <c:delete val="0"/>
        <c:axPos val="b"/>
        <c:numFmt formatCode="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fr-FR"/>
          </a:p>
        </c:txPr>
        <c:crossAx val="35399999"/>
        <c:crosses val="autoZero"/>
        <c:auto val="1"/>
        <c:lblAlgn val="ctr"/>
        <c:lblOffset val="100"/>
        <c:noMultiLvlLbl val="1"/>
      </c:catAx>
      <c:valAx>
        <c:axId val="35399999"/>
        <c:scaling>
          <c:orientation val="minMax"/>
          <c:min val="5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fr-FR"/>
          </a:p>
        </c:txPr>
        <c:crossAx val="3540431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accent2"/>
                </a:solidFill>
                <a:latin typeface="+mn-lt"/>
                <a:ea typeface="+mn-ea"/>
                <a:cs typeface="+mn-cs"/>
              </a:defRPr>
            </a:pPr>
            <a:r>
              <a:rPr lang="en-US" sz="1200" b="1" i="0" u="none" strike="noStrike" kern="1200" spc="0" baseline="0" noProof="0" dirty="0">
                <a:solidFill>
                  <a:schemeClr val="accent2"/>
                </a:solidFill>
              </a:rPr>
              <a:t>BNY Mellon Global Short Dated High Yield - annualized return  </a:t>
            </a:r>
            <a:endParaRPr lang="en-US" sz="1200" b="1" noProof="0" dirty="0">
              <a:solidFill>
                <a:schemeClr val="accent2"/>
              </a:solidFill>
            </a:endParaRPr>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accent2"/>
              </a:solidFill>
              <a:latin typeface="+mn-lt"/>
              <a:ea typeface="+mn-ea"/>
              <a:cs typeface="+mn-cs"/>
            </a:defRPr>
          </a:pPr>
          <a:endParaRPr lang="en-US"/>
        </a:p>
      </c:txPr>
    </c:title>
    <c:autoTitleDeleted val="0"/>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Sheet1!$A$2:$A$1233</c:f>
              <c:numCache>
                <c:formatCode>m/d/yyyy</c:formatCode>
                <c:ptCount val="1232"/>
                <c:pt idx="0">
                  <c:v>44012</c:v>
                </c:pt>
                <c:pt idx="1">
                  <c:v>44013</c:v>
                </c:pt>
                <c:pt idx="2">
                  <c:v>44014</c:v>
                </c:pt>
                <c:pt idx="3">
                  <c:v>44015</c:v>
                </c:pt>
                <c:pt idx="4">
                  <c:v>44018</c:v>
                </c:pt>
                <c:pt idx="5">
                  <c:v>44019</c:v>
                </c:pt>
                <c:pt idx="6">
                  <c:v>44020</c:v>
                </c:pt>
                <c:pt idx="7">
                  <c:v>44021</c:v>
                </c:pt>
                <c:pt idx="8">
                  <c:v>44022</c:v>
                </c:pt>
                <c:pt idx="9">
                  <c:v>44025</c:v>
                </c:pt>
                <c:pt idx="10">
                  <c:v>44026</c:v>
                </c:pt>
                <c:pt idx="11">
                  <c:v>44027</c:v>
                </c:pt>
                <c:pt idx="12">
                  <c:v>44028</c:v>
                </c:pt>
                <c:pt idx="13">
                  <c:v>44029</c:v>
                </c:pt>
                <c:pt idx="14">
                  <c:v>44032</c:v>
                </c:pt>
                <c:pt idx="15">
                  <c:v>44033</c:v>
                </c:pt>
                <c:pt idx="16">
                  <c:v>44034</c:v>
                </c:pt>
                <c:pt idx="17">
                  <c:v>44035</c:v>
                </c:pt>
                <c:pt idx="18">
                  <c:v>44036</c:v>
                </c:pt>
                <c:pt idx="19">
                  <c:v>44039</c:v>
                </c:pt>
                <c:pt idx="20">
                  <c:v>44040</c:v>
                </c:pt>
                <c:pt idx="21">
                  <c:v>44041</c:v>
                </c:pt>
                <c:pt idx="22">
                  <c:v>44042</c:v>
                </c:pt>
                <c:pt idx="23">
                  <c:v>44043</c:v>
                </c:pt>
                <c:pt idx="24">
                  <c:v>44047</c:v>
                </c:pt>
                <c:pt idx="25">
                  <c:v>44048</c:v>
                </c:pt>
                <c:pt idx="26">
                  <c:v>44049</c:v>
                </c:pt>
                <c:pt idx="27">
                  <c:v>44050</c:v>
                </c:pt>
                <c:pt idx="28">
                  <c:v>44053</c:v>
                </c:pt>
                <c:pt idx="29">
                  <c:v>44054</c:v>
                </c:pt>
                <c:pt idx="30">
                  <c:v>44055</c:v>
                </c:pt>
                <c:pt idx="31">
                  <c:v>44056</c:v>
                </c:pt>
                <c:pt idx="32">
                  <c:v>44057</c:v>
                </c:pt>
                <c:pt idx="33">
                  <c:v>44060</c:v>
                </c:pt>
                <c:pt idx="34">
                  <c:v>44061</c:v>
                </c:pt>
                <c:pt idx="35">
                  <c:v>44062</c:v>
                </c:pt>
                <c:pt idx="36">
                  <c:v>44063</c:v>
                </c:pt>
                <c:pt idx="37">
                  <c:v>44064</c:v>
                </c:pt>
                <c:pt idx="38">
                  <c:v>44067</c:v>
                </c:pt>
                <c:pt idx="39">
                  <c:v>44068</c:v>
                </c:pt>
                <c:pt idx="40">
                  <c:v>44069</c:v>
                </c:pt>
                <c:pt idx="41">
                  <c:v>44070</c:v>
                </c:pt>
                <c:pt idx="42">
                  <c:v>44071</c:v>
                </c:pt>
                <c:pt idx="43">
                  <c:v>44074</c:v>
                </c:pt>
                <c:pt idx="44">
                  <c:v>44075</c:v>
                </c:pt>
                <c:pt idx="45">
                  <c:v>44076</c:v>
                </c:pt>
                <c:pt idx="46">
                  <c:v>44077</c:v>
                </c:pt>
                <c:pt idx="47">
                  <c:v>44078</c:v>
                </c:pt>
                <c:pt idx="48">
                  <c:v>44081</c:v>
                </c:pt>
                <c:pt idx="49">
                  <c:v>44082</c:v>
                </c:pt>
                <c:pt idx="50">
                  <c:v>44083</c:v>
                </c:pt>
                <c:pt idx="51">
                  <c:v>44084</c:v>
                </c:pt>
                <c:pt idx="52">
                  <c:v>44085</c:v>
                </c:pt>
                <c:pt idx="53">
                  <c:v>44088</c:v>
                </c:pt>
                <c:pt idx="54">
                  <c:v>44089</c:v>
                </c:pt>
                <c:pt idx="55">
                  <c:v>44090</c:v>
                </c:pt>
                <c:pt idx="56">
                  <c:v>44091</c:v>
                </c:pt>
                <c:pt idx="57">
                  <c:v>44092</c:v>
                </c:pt>
                <c:pt idx="58">
                  <c:v>44095</c:v>
                </c:pt>
                <c:pt idx="59">
                  <c:v>44096</c:v>
                </c:pt>
                <c:pt idx="60">
                  <c:v>44097</c:v>
                </c:pt>
                <c:pt idx="61">
                  <c:v>44098</c:v>
                </c:pt>
                <c:pt idx="62">
                  <c:v>44099</c:v>
                </c:pt>
                <c:pt idx="63">
                  <c:v>44102</c:v>
                </c:pt>
                <c:pt idx="64">
                  <c:v>44103</c:v>
                </c:pt>
                <c:pt idx="65">
                  <c:v>44104</c:v>
                </c:pt>
                <c:pt idx="66">
                  <c:v>44105</c:v>
                </c:pt>
                <c:pt idx="67">
                  <c:v>44106</c:v>
                </c:pt>
                <c:pt idx="68">
                  <c:v>44109</c:v>
                </c:pt>
                <c:pt idx="69">
                  <c:v>44110</c:v>
                </c:pt>
                <c:pt idx="70">
                  <c:v>44111</c:v>
                </c:pt>
                <c:pt idx="71">
                  <c:v>44112</c:v>
                </c:pt>
                <c:pt idx="72">
                  <c:v>44113</c:v>
                </c:pt>
                <c:pt idx="73">
                  <c:v>44116</c:v>
                </c:pt>
                <c:pt idx="74">
                  <c:v>44117</c:v>
                </c:pt>
                <c:pt idx="75">
                  <c:v>44118</c:v>
                </c:pt>
                <c:pt idx="76">
                  <c:v>44119</c:v>
                </c:pt>
                <c:pt idx="77">
                  <c:v>44120</c:v>
                </c:pt>
                <c:pt idx="78">
                  <c:v>44123</c:v>
                </c:pt>
                <c:pt idx="79">
                  <c:v>44124</c:v>
                </c:pt>
                <c:pt idx="80">
                  <c:v>44125</c:v>
                </c:pt>
                <c:pt idx="81">
                  <c:v>44126</c:v>
                </c:pt>
                <c:pt idx="82">
                  <c:v>44127</c:v>
                </c:pt>
                <c:pt idx="83">
                  <c:v>44131</c:v>
                </c:pt>
                <c:pt idx="84">
                  <c:v>44132</c:v>
                </c:pt>
                <c:pt idx="85">
                  <c:v>44133</c:v>
                </c:pt>
                <c:pt idx="86">
                  <c:v>44134</c:v>
                </c:pt>
                <c:pt idx="87">
                  <c:v>44137</c:v>
                </c:pt>
                <c:pt idx="88">
                  <c:v>44138</c:v>
                </c:pt>
                <c:pt idx="89">
                  <c:v>44139</c:v>
                </c:pt>
                <c:pt idx="90">
                  <c:v>44140</c:v>
                </c:pt>
                <c:pt idx="91">
                  <c:v>44141</c:v>
                </c:pt>
                <c:pt idx="92">
                  <c:v>44144</c:v>
                </c:pt>
                <c:pt idx="93">
                  <c:v>44145</c:v>
                </c:pt>
                <c:pt idx="94">
                  <c:v>44146</c:v>
                </c:pt>
                <c:pt idx="95">
                  <c:v>44147</c:v>
                </c:pt>
                <c:pt idx="96">
                  <c:v>44148</c:v>
                </c:pt>
                <c:pt idx="97">
                  <c:v>44151</c:v>
                </c:pt>
                <c:pt idx="98">
                  <c:v>44152</c:v>
                </c:pt>
                <c:pt idx="99">
                  <c:v>44153</c:v>
                </c:pt>
                <c:pt idx="100">
                  <c:v>44154</c:v>
                </c:pt>
                <c:pt idx="101">
                  <c:v>44155</c:v>
                </c:pt>
                <c:pt idx="102">
                  <c:v>44158</c:v>
                </c:pt>
                <c:pt idx="103">
                  <c:v>44159</c:v>
                </c:pt>
                <c:pt idx="104">
                  <c:v>44160</c:v>
                </c:pt>
                <c:pt idx="105">
                  <c:v>44161</c:v>
                </c:pt>
                <c:pt idx="106">
                  <c:v>44162</c:v>
                </c:pt>
                <c:pt idx="107">
                  <c:v>44165</c:v>
                </c:pt>
                <c:pt idx="108">
                  <c:v>44166</c:v>
                </c:pt>
                <c:pt idx="109">
                  <c:v>44167</c:v>
                </c:pt>
                <c:pt idx="110">
                  <c:v>44168</c:v>
                </c:pt>
                <c:pt idx="111">
                  <c:v>44169</c:v>
                </c:pt>
                <c:pt idx="112">
                  <c:v>44172</c:v>
                </c:pt>
                <c:pt idx="113">
                  <c:v>44173</c:v>
                </c:pt>
                <c:pt idx="114">
                  <c:v>44174</c:v>
                </c:pt>
                <c:pt idx="115">
                  <c:v>44175</c:v>
                </c:pt>
                <c:pt idx="116">
                  <c:v>44176</c:v>
                </c:pt>
                <c:pt idx="117">
                  <c:v>44179</c:v>
                </c:pt>
                <c:pt idx="118">
                  <c:v>44180</c:v>
                </c:pt>
                <c:pt idx="119">
                  <c:v>44181</c:v>
                </c:pt>
                <c:pt idx="120">
                  <c:v>44182</c:v>
                </c:pt>
                <c:pt idx="121">
                  <c:v>44183</c:v>
                </c:pt>
                <c:pt idx="122">
                  <c:v>44186</c:v>
                </c:pt>
                <c:pt idx="123">
                  <c:v>44187</c:v>
                </c:pt>
                <c:pt idx="124">
                  <c:v>44188</c:v>
                </c:pt>
                <c:pt idx="125">
                  <c:v>44189</c:v>
                </c:pt>
                <c:pt idx="126">
                  <c:v>44194</c:v>
                </c:pt>
                <c:pt idx="127">
                  <c:v>44195</c:v>
                </c:pt>
                <c:pt idx="128">
                  <c:v>44196</c:v>
                </c:pt>
                <c:pt idx="129">
                  <c:v>44200</c:v>
                </c:pt>
                <c:pt idx="130">
                  <c:v>44201</c:v>
                </c:pt>
                <c:pt idx="131">
                  <c:v>44202</c:v>
                </c:pt>
                <c:pt idx="132">
                  <c:v>44203</c:v>
                </c:pt>
                <c:pt idx="133">
                  <c:v>44204</c:v>
                </c:pt>
                <c:pt idx="134">
                  <c:v>44207</c:v>
                </c:pt>
                <c:pt idx="135">
                  <c:v>44208</c:v>
                </c:pt>
                <c:pt idx="136">
                  <c:v>44209</c:v>
                </c:pt>
                <c:pt idx="137">
                  <c:v>44210</c:v>
                </c:pt>
                <c:pt idx="138">
                  <c:v>44211</c:v>
                </c:pt>
                <c:pt idx="139">
                  <c:v>44214</c:v>
                </c:pt>
                <c:pt idx="140">
                  <c:v>44215</c:v>
                </c:pt>
                <c:pt idx="141">
                  <c:v>44216</c:v>
                </c:pt>
                <c:pt idx="142">
                  <c:v>44217</c:v>
                </c:pt>
                <c:pt idx="143">
                  <c:v>44218</c:v>
                </c:pt>
                <c:pt idx="144">
                  <c:v>44221</c:v>
                </c:pt>
                <c:pt idx="145">
                  <c:v>44222</c:v>
                </c:pt>
                <c:pt idx="146">
                  <c:v>44223</c:v>
                </c:pt>
                <c:pt idx="147">
                  <c:v>44224</c:v>
                </c:pt>
                <c:pt idx="148">
                  <c:v>44225</c:v>
                </c:pt>
                <c:pt idx="149">
                  <c:v>44228</c:v>
                </c:pt>
                <c:pt idx="150">
                  <c:v>44229</c:v>
                </c:pt>
                <c:pt idx="151">
                  <c:v>44230</c:v>
                </c:pt>
                <c:pt idx="152">
                  <c:v>44231</c:v>
                </c:pt>
                <c:pt idx="153">
                  <c:v>44232</c:v>
                </c:pt>
                <c:pt idx="154">
                  <c:v>44235</c:v>
                </c:pt>
                <c:pt idx="155">
                  <c:v>44236</c:v>
                </c:pt>
                <c:pt idx="156">
                  <c:v>44237</c:v>
                </c:pt>
                <c:pt idx="157">
                  <c:v>44238</c:v>
                </c:pt>
                <c:pt idx="158">
                  <c:v>44239</c:v>
                </c:pt>
                <c:pt idx="159">
                  <c:v>44242</c:v>
                </c:pt>
                <c:pt idx="160">
                  <c:v>44243</c:v>
                </c:pt>
                <c:pt idx="161">
                  <c:v>44244</c:v>
                </c:pt>
                <c:pt idx="162">
                  <c:v>44245</c:v>
                </c:pt>
                <c:pt idx="163">
                  <c:v>44246</c:v>
                </c:pt>
                <c:pt idx="164">
                  <c:v>44249</c:v>
                </c:pt>
                <c:pt idx="165">
                  <c:v>44250</c:v>
                </c:pt>
                <c:pt idx="166">
                  <c:v>44251</c:v>
                </c:pt>
                <c:pt idx="167">
                  <c:v>44252</c:v>
                </c:pt>
                <c:pt idx="168">
                  <c:v>44253</c:v>
                </c:pt>
                <c:pt idx="169">
                  <c:v>44256</c:v>
                </c:pt>
                <c:pt idx="170">
                  <c:v>44257</c:v>
                </c:pt>
                <c:pt idx="171">
                  <c:v>44258</c:v>
                </c:pt>
                <c:pt idx="172">
                  <c:v>44259</c:v>
                </c:pt>
                <c:pt idx="173">
                  <c:v>44260</c:v>
                </c:pt>
                <c:pt idx="174">
                  <c:v>44263</c:v>
                </c:pt>
                <c:pt idx="175">
                  <c:v>44264</c:v>
                </c:pt>
                <c:pt idx="176">
                  <c:v>44265</c:v>
                </c:pt>
                <c:pt idx="177">
                  <c:v>44266</c:v>
                </c:pt>
                <c:pt idx="178">
                  <c:v>44267</c:v>
                </c:pt>
                <c:pt idx="179">
                  <c:v>44270</c:v>
                </c:pt>
                <c:pt idx="180">
                  <c:v>44271</c:v>
                </c:pt>
                <c:pt idx="181">
                  <c:v>44273</c:v>
                </c:pt>
                <c:pt idx="182">
                  <c:v>44274</c:v>
                </c:pt>
                <c:pt idx="183">
                  <c:v>44277</c:v>
                </c:pt>
                <c:pt idx="184">
                  <c:v>44278</c:v>
                </c:pt>
                <c:pt idx="185">
                  <c:v>44279</c:v>
                </c:pt>
                <c:pt idx="186">
                  <c:v>44280</c:v>
                </c:pt>
                <c:pt idx="187">
                  <c:v>44281</c:v>
                </c:pt>
                <c:pt idx="188">
                  <c:v>44284</c:v>
                </c:pt>
                <c:pt idx="189">
                  <c:v>44285</c:v>
                </c:pt>
                <c:pt idx="190">
                  <c:v>44286</c:v>
                </c:pt>
                <c:pt idx="191">
                  <c:v>44287</c:v>
                </c:pt>
                <c:pt idx="192">
                  <c:v>44292</c:v>
                </c:pt>
                <c:pt idx="193">
                  <c:v>44293</c:v>
                </c:pt>
                <c:pt idx="194">
                  <c:v>44294</c:v>
                </c:pt>
                <c:pt idx="195">
                  <c:v>44295</c:v>
                </c:pt>
                <c:pt idx="196">
                  <c:v>44298</c:v>
                </c:pt>
                <c:pt idx="197">
                  <c:v>44299</c:v>
                </c:pt>
                <c:pt idx="198">
                  <c:v>44300</c:v>
                </c:pt>
                <c:pt idx="199">
                  <c:v>44301</c:v>
                </c:pt>
                <c:pt idx="200">
                  <c:v>44302</c:v>
                </c:pt>
                <c:pt idx="201">
                  <c:v>44305</c:v>
                </c:pt>
                <c:pt idx="202">
                  <c:v>44306</c:v>
                </c:pt>
                <c:pt idx="203">
                  <c:v>44307</c:v>
                </c:pt>
                <c:pt idx="204">
                  <c:v>44308</c:v>
                </c:pt>
                <c:pt idx="205">
                  <c:v>44309</c:v>
                </c:pt>
                <c:pt idx="206">
                  <c:v>44312</c:v>
                </c:pt>
                <c:pt idx="207">
                  <c:v>44313</c:v>
                </c:pt>
                <c:pt idx="208">
                  <c:v>44314</c:v>
                </c:pt>
                <c:pt idx="209">
                  <c:v>44315</c:v>
                </c:pt>
                <c:pt idx="210">
                  <c:v>44316</c:v>
                </c:pt>
                <c:pt idx="211">
                  <c:v>44320</c:v>
                </c:pt>
                <c:pt idx="212">
                  <c:v>44321</c:v>
                </c:pt>
                <c:pt idx="213">
                  <c:v>44322</c:v>
                </c:pt>
                <c:pt idx="214">
                  <c:v>44323</c:v>
                </c:pt>
                <c:pt idx="215">
                  <c:v>44326</c:v>
                </c:pt>
                <c:pt idx="216">
                  <c:v>44327</c:v>
                </c:pt>
                <c:pt idx="217">
                  <c:v>44328</c:v>
                </c:pt>
                <c:pt idx="218">
                  <c:v>44329</c:v>
                </c:pt>
                <c:pt idx="219">
                  <c:v>44330</c:v>
                </c:pt>
                <c:pt idx="220">
                  <c:v>44333</c:v>
                </c:pt>
                <c:pt idx="221">
                  <c:v>44334</c:v>
                </c:pt>
                <c:pt idx="222">
                  <c:v>44335</c:v>
                </c:pt>
                <c:pt idx="223">
                  <c:v>44336</c:v>
                </c:pt>
                <c:pt idx="224">
                  <c:v>44337</c:v>
                </c:pt>
                <c:pt idx="225">
                  <c:v>44340</c:v>
                </c:pt>
                <c:pt idx="226">
                  <c:v>44341</c:v>
                </c:pt>
                <c:pt idx="227">
                  <c:v>44342</c:v>
                </c:pt>
                <c:pt idx="228">
                  <c:v>44343</c:v>
                </c:pt>
                <c:pt idx="229">
                  <c:v>44344</c:v>
                </c:pt>
                <c:pt idx="230">
                  <c:v>44347</c:v>
                </c:pt>
                <c:pt idx="231">
                  <c:v>44348</c:v>
                </c:pt>
                <c:pt idx="232">
                  <c:v>44349</c:v>
                </c:pt>
                <c:pt idx="233">
                  <c:v>44350</c:v>
                </c:pt>
                <c:pt idx="234">
                  <c:v>44351</c:v>
                </c:pt>
                <c:pt idx="235">
                  <c:v>44355</c:v>
                </c:pt>
                <c:pt idx="236">
                  <c:v>44356</c:v>
                </c:pt>
                <c:pt idx="237">
                  <c:v>44357</c:v>
                </c:pt>
                <c:pt idx="238">
                  <c:v>44358</c:v>
                </c:pt>
                <c:pt idx="239">
                  <c:v>44361</c:v>
                </c:pt>
                <c:pt idx="240">
                  <c:v>44362</c:v>
                </c:pt>
                <c:pt idx="241">
                  <c:v>44363</c:v>
                </c:pt>
                <c:pt idx="242">
                  <c:v>44364</c:v>
                </c:pt>
                <c:pt idx="243">
                  <c:v>44365</c:v>
                </c:pt>
                <c:pt idx="244">
                  <c:v>44368</c:v>
                </c:pt>
                <c:pt idx="245">
                  <c:v>44369</c:v>
                </c:pt>
                <c:pt idx="246">
                  <c:v>44370</c:v>
                </c:pt>
                <c:pt idx="247">
                  <c:v>44371</c:v>
                </c:pt>
                <c:pt idx="248">
                  <c:v>44372</c:v>
                </c:pt>
                <c:pt idx="249">
                  <c:v>44375</c:v>
                </c:pt>
                <c:pt idx="250">
                  <c:v>44376</c:v>
                </c:pt>
                <c:pt idx="251">
                  <c:v>44377</c:v>
                </c:pt>
                <c:pt idx="252">
                  <c:v>44378</c:v>
                </c:pt>
                <c:pt idx="253">
                  <c:v>44379</c:v>
                </c:pt>
                <c:pt idx="254">
                  <c:v>44382</c:v>
                </c:pt>
                <c:pt idx="255">
                  <c:v>44383</c:v>
                </c:pt>
                <c:pt idx="256">
                  <c:v>44384</c:v>
                </c:pt>
                <c:pt idx="257">
                  <c:v>44385</c:v>
                </c:pt>
                <c:pt idx="258">
                  <c:v>44386</c:v>
                </c:pt>
                <c:pt idx="259">
                  <c:v>44389</c:v>
                </c:pt>
                <c:pt idx="260">
                  <c:v>44390</c:v>
                </c:pt>
                <c:pt idx="261">
                  <c:v>44391</c:v>
                </c:pt>
                <c:pt idx="262">
                  <c:v>44392</c:v>
                </c:pt>
                <c:pt idx="263">
                  <c:v>44393</c:v>
                </c:pt>
                <c:pt idx="264">
                  <c:v>44396</c:v>
                </c:pt>
                <c:pt idx="265">
                  <c:v>44397</c:v>
                </c:pt>
                <c:pt idx="266">
                  <c:v>44398</c:v>
                </c:pt>
                <c:pt idx="267">
                  <c:v>44399</c:v>
                </c:pt>
                <c:pt idx="268">
                  <c:v>44400</c:v>
                </c:pt>
                <c:pt idx="269">
                  <c:v>44403</c:v>
                </c:pt>
                <c:pt idx="270">
                  <c:v>44404</c:v>
                </c:pt>
                <c:pt idx="271">
                  <c:v>44405</c:v>
                </c:pt>
                <c:pt idx="272">
                  <c:v>44406</c:v>
                </c:pt>
                <c:pt idx="273">
                  <c:v>44407</c:v>
                </c:pt>
                <c:pt idx="274">
                  <c:v>44411</c:v>
                </c:pt>
                <c:pt idx="275">
                  <c:v>44412</c:v>
                </c:pt>
                <c:pt idx="276">
                  <c:v>44413</c:v>
                </c:pt>
                <c:pt idx="277">
                  <c:v>44414</c:v>
                </c:pt>
                <c:pt idx="278">
                  <c:v>44417</c:v>
                </c:pt>
                <c:pt idx="279">
                  <c:v>44418</c:v>
                </c:pt>
                <c:pt idx="280">
                  <c:v>44419</c:v>
                </c:pt>
                <c:pt idx="281">
                  <c:v>44420</c:v>
                </c:pt>
                <c:pt idx="282">
                  <c:v>44421</c:v>
                </c:pt>
                <c:pt idx="283">
                  <c:v>44424</c:v>
                </c:pt>
                <c:pt idx="284">
                  <c:v>44425</c:v>
                </c:pt>
                <c:pt idx="285">
                  <c:v>44426</c:v>
                </c:pt>
                <c:pt idx="286">
                  <c:v>44427</c:v>
                </c:pt>
                <c:pt idx="287">
                  <c:v>44428</c:v>
                </c:pt>
                <c:pt idx="288">
                  <c:v>44431</c:v>
                </c:pt>
                <c:pt idx="289">
                  <c:v>44432</c:v>
                </c:pt>
                <c:pt idx="290">
                  <c:v>44433</c:v>
                </c:pt>
                <c:pt idx="291">
                  <c:v>44434</c:v>
                </c:pt>
                <c:pt idx="292">
                  <c:v>44435</c:v>
                </c:pt>
                <c:pt idx="293">
                  <c:v>44438</c:v>
                </c:pt>
                <c:pt idx="294">
                  <c:v>44439</c:v>
                </c:pt>
                <c:pt idx="295">
                  <c:v>44440</c:v>
                </c:pt>
                <c:pt idx="296">
                  <c:v>44441</c:v>
                </c:pt>
                <c:pt idx="297">
                  <c:v>44442</c:v>
                </c:pt>
                <c:pt idx="298">
                  <c:v>44445</c:v>
                </c:pt>
                <c:pt idx="299">
                  <c:v>44446</c:v>
                </c:pt>
                <c:pt idx="300">
                  <c:v>44447</c:v>
                </c:pt>
                <c:pt idx="301">
                  <c:v>44448</c:v>
                </c:pt>
                <c:pt idx="302">
                  <c:v>44449</c:v>
                </c:pt>
                <c:pt idx="303">
                  <c:v>44452</c:v>
                </c:pt>
                <c:pt idx="304">
                  <c:v>44453</c:v>
                </c:pt>
                <c:pt idx="305">
                  <c:v>44454</c:v>
                </c:pt>
                <c:pt idx="306">
                  <c:v>44455</c:v>
                </c:pt>
                <c:pt idx="307">
                  <c:v>44456</c:v>
                </c:pt>
                <c:pt idx="308">
                  <c:v>44459</c:v>
                </c:pt>
                <c:pt idx="309">
                  <c:v>44460</c:v>
                </c:pt>
                <c:pt idx="310">
                  <c:v>44461</c:v>
                </c:pt>
                <c:pt idx="311">
                  <c:v>44462</c:v>
                </c:pt>
                <c:pt idx="312">
                  <c:v>44463</c:v>
                </c:pt>
                <c:pt idx="313">
                  <c:v>44466</c:v>
                </c:pt>
                <c:pt idx="314">
                  <c:v>44467</c:v>
                </c:pt>
                <c:pt idx="315">
                  <c:v>44468</c:v>
                </c:pt>
                <c:pt idx="316">
                  <c:v>44469</c:v>
                </c:pt>
                <c:pt idx="317">
                  <c:v>44470</c:v>
                </c:pt>
                <c:pt idx="318">
                  <c:v>44473</c:v>
                </c:pt>
                <c:pt idx="319">
                  <c:v>44474</c:v>
                </c:pt>
                <c:pt idx="320">
                  <c:v>44475</c:v>
                </c:pt>
                <c:pt idx="321">
                  <c:v>44476</c:v>
                </c:pt>
                <c:pt idx="322">
                  <c:v>44477</c:v>
                </c:pt>
                <c:pt idx="323">
                  <c:v>44480</c:v>
                </c:pt>
                <c:pt idx="324">
                  <c:v>44481</c:v>
                </c:pt>
                <c:pt idx="325">
                  <c:v>44482</c:v>
                </c:pt>
                <c:pt idx="326">
                  <c:v>44483</c:v>
                </c:pt>
                <c:pt idx="327">
                  <c:v>44484</c:v>
                </c:pt>
                <c:pt idx="328">
                  <c:v>44487</c:v>
                </c:pt>
                <c:pt idx="329">
                  <c:v>44488</c:v>
                </c:pt>
                <c:pt idx="330">
                  <c:v>44489</c:v>
                </c:pt>
                <c:pt idx="331">
                  <c:v>44490</c:v>
                </c:pt>
                <c:pt idx="332">
                  <c:v>44491</c:v>
                </c:pt>
                <c:pt idx="333">
                  <c:v>44495</c:v>
                </c:pt>
                <c:pt idx="334">
                  <c:v>44496</c:v>
                </c:pt>
                <c:pt idx="335">
                  <c:v>44497</c:v>
                </c:pt>
                <c:pt idx="336">
                  <c:v>44498</c:v>
                </c:pt>
                <c:pt idx="337">
                  <c:v>44501</c:v>
                </c:pt>
                <c:pt idx="338">
                  <c:v>44502</c:v>
                </c:pt>
                <c:pt idx="339">
                  <c:v>44503</c:v>
                </c:pt>
                <c:pt idx="340">
                  <c:v>44504</c:v>
                </c:pt>
                <c:pt idx="341">
                  <c:v>44505</c:v>
                </c:pt>
                <c:pt idx="342">
                  <c:v>44508</c:v>
                </c:pt>
                <c:pt idx="343">
                  <c:v>44509</c:v>
                </c:pt>
                <c:pt idx="344">
                  <c:v>44510</c:v>
                </c:pt>
                <c:pt idx="345">
                  <c:v>44511</c:v>
                </c:pt>
                <c:pt idx="346">
                  <c:v>44512</c:v>
                </c:pt>
                <c:pt idx="347">
                  <c:v>44515</c:v>
                </c:pt>
                <c:pt idx="348">
                  <c:v>44516</c:v>
                </c:pt>
                <c:pt idx="349">
                  <c:v>44517</c:v>
                </c:pt>
                <c:pt idx="350">
                  <c:v>44518</c:v>
                </c:pt>
                <c:pt idx="351">
                  <c:v>44519</c:v>
                </c:pt>
                <c:pt idx="352">
                  <c:v>44522</c:v>
                </c:pt>
                <c:pt idx="353">
                  <c:v>44523</c:v>
                </c:pt>
                <c:pt idx="354">
                  <c:v>44524</c:v>
                </c:pt>
                <c:pt idx="355">
                  <c:v>44525</c:v>
                </c:pt>
                <c:pt idx="356">
                  <c:v>44526</c:v>
                </c:pt>
                <c:pt idx="357">
                  <c:v>44529</c:v>
                </c:pt>
                <c:pt idx="358">
                  <c:v>44530</c:v>
                </c:pt>
                <c:pt idx="359">
                  <c:v>44531</c:v>
                </c:pt>
                <c:pt idx="360">
                  <c:v>44532</c:v>
                </c:pt>
                <c:pt idx="361">
                  <c:v>44533</c:v>
                </c:pt>
                <c:pt idx="362">
                  <c:v>44536</c:v>
                </c:pt>
                <c:pt idx="363">
                  <c:v>44537</c:v>
                </c:pt>
                <c:pt idx="364">
                  <c:v>44538</c:v>
                </c:pt>
                <c:pt idx="365">
                  <c:v>44539</c:v>
                </c:pt>
                <c:pt idx="366">
                  <c:v>44540</c:v>
                </c:pt>
                <c:pt idx="367">
                  <c:v>44543</c:v>
                </c:pt>
                <c:pt idx="368">
                  <c:v>44544</c:v>
                </c:pt>
                <c:pt idx="369">
                  <c:v>44545</c:v>
                </c:pt>
                <c:pt idx="370">
                  <c:v>44546</c:v>
                </c:pt>
                <c:pt idx="371">
                  <c:v>44547</c:v>
                </c:pt>
                <c:pt idx="372">
                  <c:v>44550</c:v>
                </c:pt>
                <c:pt idx="373">
                  <c:v>44551</c:v>
                </c:pt>
                <c:pt idx="374">
                  <c:v>44552</c:v>
                </c:pt>
                <c:pt idx="375">
                  <c:v>44553</c:v>
                </c:pt>
                <c:pt idx="376">
                  <c:v>44554</c:v>
                </c:pt>
                <c:pt idx="377">
                  <c:v>44559</c:v>
                </c:pt>
                <c:pt idx="378">
                  <c:v>44560</c:v>
                </c:pt>
                <c:pt idx="379">
                  <c:v>44561</c:v>
                </c:pt>
                <c:pt idx="380">
                  <c:v>44565</c:v>
                </c:pt>
                <c:pt idx="381">
                  <c:v>44566</c:v>
                </c:pt>
                <c:pt idx="382">
                  <c:v>44567</c:v>
                </c:pt>
                <c:pt idx="383">
                  <c:v>44568</c:v>
                </c:pt>
                <c:pt idx="384">
                  <c:v>44571</c:v>
                </c:pt>
                <c:pt idx="385">
                  <c:v>44572</c:v>
                </c:pt>
                <c:pt idx="386">
                  <c:v>44573</c:v>
                </c:pt>
                <c:pt idx="387">
                  <c:v>44574</c:v>
                </c:pt>
                <c:pt idx="388">
                  <c:v>44575</c:v>
                </c:pt>
                <c:pt idx="389">
                  <c:v>44578</c:v>
                </c:pt>
                <c:pt idx="390">
                  <c:v>44579</c:v>
                </c:pt>
                <c:pt idx="391">
                  <c:v>44580</c:v>
                </c:pt>
                <c:pt idx="392">
                  <c:v>44581</c:v>
                </c:pt>
                <c:pt idx="393">
                  <c:v>44582</c:v>
                </c:pt>
                <c:pt idx="394">
                  <c:v>44585</c:v>
                </c:pt>
                <c:pt idx="395">
                  <c:v>44586</c:v>
                </c:pt>
                <c:pt idx="396">
                  <c:v>44587</c:v>
                </c:pt>
                <c:pt idx="397">
                  <c:v>44588</c:v>
                </c:pt>
                <c:pt idx="398">
                  <c:v>44589</c:v>
                </c:pt>
                <c:pt idx="399">
                  <c:v>44592</c:v>
                </c:pt>
                <c:pt idx="400">
                  <c:v>44593</c:v>
                </c:pt>
                <c:pt idx="401">
                  <c:v>44594</c:v>
                </c:pt>
                <c:pt idx="402">
                  <c:v>44595</c:v>
                </c:pt>
                <c:pt idx="403">
                  <c:v>44596</c:v>
                </c:pt>
                <c:pt idx="404">
                  <c:v>44599</c:v>
                </c:pt>
                <c:pt idx="405">
                  <c:v>44600</c:v>
                </c:pt>
                <c:pt idx="406">
                  <c:v>44601</c:v>
                </c:pt>
                <c:pt idx="407">
                  <c:v>44602</c:v>
                </c:pt>
                <c:pt idx="408">
                  <c:v>44603</c:v>
                </c:pt>
                <c:pt idx="409">
                  <c:v>44606</c:v>
                </c:pt>
                <c:pt idx="410">
                  <c:v>44607</c:v>
                </c:pt>
                <c:pt idx="411">
                  <c:v>44608</c:v>
                </c:pt>
                <c:pt idx="412">
                  <c:v>44609</c:v>
                </c:pt>
                <c:pt idx="413">
                  <c:v>44610</c:v>
                </c:pt>
                <c:pt idx="414">
                  <c:v>44613</c:v>
                </c:pt>
                <c:pt idx="415">
                  <c:v>44614</c:v>
                </c:pt>
                <c:pt idx="416">
                  <c:v>44615</c:v>
                </c:pt>
                <c:pt idx="417">
                  <c:v>44616</c:v>
                </c:pt>
                <c:pt idx="418">
                  <c:v>44617</c:v>
                </c:pt>
                <c:pt idx="419">
                  <c:v>44620</c:v>
                </c:pt>
                <c:pt idx="420">
                  <c:v>44621</c:v>
                </c:pt>
                <c:pt idx="421">
                  <c:v>44622</c:v>
                </c:pt>
                <c:pt idx="422">
                  <c:v>44623</c:v>
                </c:pt>
                <c:pt idx="423">
                  <c:v>44624</c:v>
                </c:pt>
                <c:pt idx="424">
                  <c:v>44627</c:v>
                </c:pt>
                <c:pt idx="425">
                  <c:v>44628</c:v>
                </c:pt>
                <c:pt idx="426">
                  <c:v>44629</c:v>
                </c:pt>
                <c:pt idx="427">
                  <c:v>44630</c:v>
                </c:pt>
                <c:pt idx="428">
                  <c:v>44631</c:v>
                </c:pt>
                <c:pt idx="429">
                  <c:v>44634</c:v>
                </c:pt>
                <c:pt idx="430">
                  <c:v>44635</c:v>
                </c:pt>
                <c:pt idx="431">
                  <c:v>44636</c:v>
                </c:pt>
                <c:pt idx="432">
                  <c:v>44641</c:v>
                </c:pt>
                <c:pt idx="433">
                  <c:v>44642</c:v>
                </c:pt>
                <c:pt idx="434">
                  <c:v>44643</c:v>
                </c:pt>
                <c:pt idx="435">
                  <c:v>44644</c:v>
                </c:pt>
                <c:pt idx="436">
                  <c:v>44645</c:v>
                </c:pt>
                <c:pt idx="437">
                  <c:v>44648</c:v>
                </c:pt>
                <c:pt idx="438">
                  <c:v>44649</c:v>
                </c:pt>
                <c:pt idx="439">
                  <c:v>44650</c:v>
                </c:pt>
                <c:pt idx="440">
                  <c:v>44651</c:v>
                </c:pt>
                <c:pt idx="441">
                  <c:v>44652</c:v>
                </c:pt>
                <c:pt idx="442">
                  <c:v>44655</c:v>
                </c:pt>
                <c:pt idx="443">
                  <c:v>44656</c:v>
                </c:pt>
                <c:pt idx="444">
                  <c:v>44657</c:v>
                </c:pt>
                <c:pt idx="445">
                  <c:v>44658</c:v>
                </c:pt>
                <c:pt idx="446">
                  <c:v>44659</c:v>
                </c:pt>
                <c:pt idx="447">
                  <c:v>44662</c:v>
                </c:pt>
                <c:pt idx="448">
                  <c:v>44663</c:v>
                </c:pt>
                <c:pt idx="449">
                  <c:v>44664</c:v>
                </c:pt>
                <c:pt idx="450">
                  <c:v>44665</c:v>
                </c:pt>
                <c:pt idx="451">
                  <c:v>44670</c:v>
                </c:pt>
                <c:pt idx="452">
                  <c:v>44671</c:v>
                </c:pt>
                <c:pt idx="453">
                  <c:v>44672</c:v>
                </c:pt>
                <c:pt idx="454">
                  <c:v>44673</c:v>
                </c:pt>
                <c:pt idx="455">
                  <c:v>44676</c:v>
                </c:pt>
                <c:pt idx="456">
                  <c:v>44677</c:v>
                </c:pt>
                <c:pt idx="457">
                  <c:v>44678</c:v>
                </c:pt>
                <c:pt idx="458">
                  <c:v>44679</c:v>
                </c:pt>
                <c:pt idx="459">
                  <c:v>44680</c:v>
                </c:pt>
                <c:pt idx="460">
                  <c:v>44684</c:v>
                </c:pt>
                <c:pt idx="461">
                  <c:v>44685</c:v>
                </c:pt>
                <c:pt idx="462">
                  <c:v>44686</c:v>
                </c:pt>
                <c:pt idx="463">
                  <c:v>44687</c:v>
                </c:pt>
                <c:pt idx="464">
                  <c:v>44690</c:v>
                </c:pt>
                <c:pt idx="465">
                  <c:v>44691</c:v>
                </c:pt>
                <c:pt idx="466">
                  <c:v>44692</c:v>
                </c:pt>
                <c:pt idx="467">
                  <c:v>44693</c:v>
                </c:pt>
                <c:pt idx="468">
                  <c:v>44694</c:v>
                </c:pt>
                <c:pt idx="469">
                  <c:v>44697</c:v>
                </c:pt>
                <c:pt idx="470">
                  <c:v>44698</c:v>
                </c:pt>
                <c:pt idx="471">
                  <c:v>44699</c:v>
                </c:pt>
                <c:pt idx="472">
                  <c:v>44700</c:v>
                </c:pt>
                <c:pt idx="473">
                  <c:v>44701</c:v>
                </c:pt>
                <c:pt idx="474">
                  <c:v>44704</c:v>
                </c:pt>
                <c:pt idx="475">
                  <c:v>44705</c:v>
                </c:pt>
                <c:pt idx="476">
                  <c:v>44706</c:v>
                </c:pt>
                <c:pt idx="477">
                  <c:v>44707</c:v>
                </c:pt>
                <c:pt idx="478">
                  <c:v>44708</c:v>
                </c:pt>
                <c:pt idx="479">
                  <c:v>44711</c:v>
                </c:pt>
                <c:pt idx="480">
                  <c:v>44712</c:v>
                </c:pt>
                <c:pt idx="481">
                  <c:v>44713</c:v>
                </c:pt>
                <c:pt idx="482">
                  <c:v>44714</c:v>
                </c:pt>
                <c:pt idx="483">
                  <c:v>44715</c:v>
                </c:pt>
                <c:pt idx="484">
                  <c:v>44719</c:v>
                </c:pt>
                <c:pt idx="485">
                  <c:v>44720</c:v>
                </c:pt>
                <c:pt idx="486">
                  <c:v>44721</c:v>
                </c:pt>
                <c:pt idx="487">
                  <c:v>44722</c:v>
                </c:pt>
                <c:pt idx="488">
                  <c:v>44725</c:v>
                </c:pt>
                <c:pt idx="489">
                  <c:v>44726</c:v>
                </c:pt>
                <c:pt idx="490">
                  <c:v>44727</c:v>
                </c:pt>
                <c:pt idx="491">
                  <c:v>44728</c:v>
                </c:pt>
                <c:pt idx="492">
                  <c:v>44729</c:v>
                </c:pt>
                <c:pt idx="493">
                  <c:v>44732</c:v>
                </c:pt>
                <c:pt idx="494">
                  <c:v>44733</c:v>
                </c:pt>
                <c:pt idx="495">
                  <c:v>44734</c:v>
                </c:pt>
                <c:pt idx="496">
                  <c:v>44735</c:v>
                </c:pt>
                <c:pt idx="497">
                  <c:v>44736</c:v>
                </c:pt>
                <c:pt idx="498">
                  <c:v>44739</c:v>
                </c:pt>
                <c:pt idx="499">
                  <c:v>44740</c:v>
                </c:pt>
                <c:pt idx="500">
                  <c:v>44741</c:v>
                </c:pt>
                <c:pt idx="501">
                  <c:v>44742</c:v>
                </c:pt>
                <c:pt idx="502">
                  <c:v>44743</c:v>
                </c:pt>
                <c:pt idx="503">
                  <c:v>44746</c:v>
                </c:pt>
                <c:pt idx="504">
                  <c:v>44747</c:v>
                </c:pt>
                <c:pt idx="505">
                  <c:v>44748</c:v>
                </c:pt>
                <c:pt idx="506">
                  <c:v>44749</c:v>
                </c:pt>
                <c:pt idx="507">
                  <c:v>44750</c:v>
                </c:pt>
                <c:pt idx="508">
                  <c:v>44753</c:v>
                </c:pt>
                <c:pt idx="509">
                  <c:v>44754</c:v>
                </c:pt>
                <c:pt idx="510">
                  <c:v>44755</c:v>
                </c:pt>
                <c:pt idx="511">
                  <c:v>44756</c:v>
                </c:pt>
                <c:pt idx="512">
                  <c:v>44757</c:v>
                </c:pt>
                <c:pt idx="513">
                  <c:v>44760</c:v>
                </c:pt>
                <c:pt idx="514">
                  <c:v>44761</c:v>
                </c:pt>
                <c:pt idx="515">
                  <c:v>44762</c:v>
                </c:pt>
                <c:pt idx="516">
                  <c:v>44763</c:v>
                </c:pt>
                <c:pt idx="517">
                  <c:v>44764</c:v>
                </c:pt>
                <c:pt idx="518">
                  <c:v>44767</c:v>
                </c:pt>
                <c:pt idx="519">
                  <c:v>44768</c:v>
                </c:pt>
                <c:pt idx="520">
                  <c:v>44769</c:v>
                </c:pt>
                <c:pt idx="521">
                  <c:v>44770</c:v>
                </c:pt>
                <c:pt idx="522">
                  <c:v>44771</c:v>
                </c:pt>
                <c:pt idx="523">
                  <c:v>44775</c:v>
                </c:pt>
                <c:pt idx="524">
                  <c:v>44776</c:v>
                </c:pt>
                <c:pt idx="525">
                  <c:v>44777</c:v>
                </c:pt>
                <c:pt idx="526">
                  <c:v>44778</c:v>
                </c:pt>
                <c:pt idx="527">
                  <c:v>44781</c:v>
                </c:pt>
                <c:pt idx="528">
                  <c:v>44782</c:v>
                </c:pt>
                <c:pt idx="529">
                  <c:v>44783</c:v>
                </c:pt>
                <c:pt idx="530">
                  <c:v>44784</c:v>
                </c:pt>
                <c:pt idx="531">
                  <c:v>44785</c:v>
                </c:pt>
                <c:pt idx="532">
                  <c:v>44788</c:v>
                </c:pt>
                <c:pt idx="533">
                  <c:v>44789</c:v>
                </c:pt>
                <c:pt idx="534">
                  <c:v>44790</c:v>
                </c:pt>
                <c:pt idx="535">
                  <c:v>44791</c:v>
                </c:pt>
                <c:pt idx="536">
                  <c:v>44792</c:v>
                </c:pt>
                <c:pt idx="537">
                  <c:v>44795</c:v>
                </c:pt>
                <c:pt idx="538">
                  <c:v>44796</c:v>
                </c:pt>
                <c:pt idx="539">
                  <c:v>44797</c:v>
                </c:pt>
                <c:pt idx="540">
                  <c:v>44798</c:v>
                </c:pt>
                <c:pt idx="541">
                  <c:v>44799</c:v>
                </c:pt>
                <c:pt idx="542">
                  <c:v>44802</c:v>
                </c:pt>
                <c:pt idx="543">
                  <c:v>44803</c:v>
                </c:pt>
                <c:pt idx="544">
                  <c:v>44804</c:v>
                </c:pt>
                <c:pt idx="545">
                  <c:v>44805</c:v>
                </c:pt>
                <c:pt idx="546">
                  <c:v>44806</c:v>
                </c:pt>
                <c:pt idx="547">
                  <c:v>44809</c:v>
                </c:pt>
                <c:pt idx="548">
                  <c:v>44810</c:v>
                </c:pt>
                <c:pt idx="549">
                  <c:v>44811</c:v>
                </c:pt>
                <c:pt idx="550">
                  <c:v>44812</c:v>
                </c:pt>
                <c:pt idx="551">
                  <c:v>44813</c:v>
                </c:pt>
                <c:pt idx="552">
                  <c:v>44816</c:v>
                </c:pt>
                <c:pt idx="553">
                  <c:v>44817</c:v>
                </c:pt>
                <c:pt idx="554">
                  <c:v>44818</c:v>
                </c:pt>
                <c:pt idx="555">
                  <c:v>44819</c:v>
                </c:pt>
                <c:pt idx="556">
                  <c:v>44820</c:v>
                </c:pt>
                <c:pt idx="557">
                  <c:v>44823</c:v>
                </c:pt>
                <c:pt idx="558">
                  <c:v>44824</c:v>
                </c:pt>
                <c:pt idx="559">
                  <c:v>44825</c:v>
                </c:pt>
                <c:pt idx="560">
                  <c:v>44826</c:v>
                </c:pt>
                <c:pt idx="561">
                  <c:v>44827</c:v>
                </c:pt>
                <c:pt idx="562">
                  <c:v>44830</c:v>
                </c:pt>
                <c:pt idx="563">
                  <c:v>44831</c:v>
                </c:pt>
                <c:pt idx="564">
                  <c:v>44832</c:v>
                </c:pt>
                <c:pt idx="565">
                  <c:v>44833</c:v>
                </c:pt>
                <c:pt idx="566">
                  <c:v>44834</c:v>
                </c:pt>
                <c:pt idx="567">
                  <c:v>44837</c:v>
                </c:pt>
                <c:pt idx="568">
                  <c:v>44838</c:v>
                </c:pt>
                <c:pt idx="569">
                  <c:v>44839</c:v>
                </c:pt>
                <c:pt idx="570">
                  <c:v>44840</c:v>
                </c:pt>
                <c:pt idx="571">
                  <c:v>44841</c:v>
                </c:pt>
                <c:pt idx="572">
                  <c:v>44844</c:v>
                </c:pt>
                <c:pt idx="573">
                  <c:v>44845</c:v>
                </c:pt>
                <c:pt idx="574">
                  <c:v>44846</c:v>
                </c:pt>
                <c:pt idx="575">
                  <c:v>44847</c:v>
                </c:pt>
                <c:pt idx="576">
                  <c:v>44848</c:v>
                </c:pt>
                <c:pt idx="577">
                  <c:v>44851</c:v>
                </c:pt>
                <c:pt idx="578">
                  <c:v>44852</c:v>
                </c:pt>
                <c:pt idx="579">
                  <c:v>44853</c:v>
                </c:pt>
                <c:pt idx="580">
                  <c:v>44854</c:v>
                </c:pt>
                <c:pt idx="581">
                  <c:v>44855</c:v>
                </c:pt>
                <c:pt idx="582">
                  <c:v>44858</c:v>
                </c:pt>
                <c:pt idx="583">
                  <c:v>44859</c:v>
                </c:pt>
                <c:pt idx="584">
                  <c:v>44860</c:v>
                </c:pt>
                <c:pt idx="585">
                  <c:v>44861</c:v>
                </c:pt>
                <c:pt idx="586">
                  <c:v>44862</c:v>
                </c:pt>
                <c:pt idx="587">
                  <c:v>44866</c:v>
                </c:pt>
                <c:pt idx="588">
                  <c:v>44867</c:v>
                </c:pt>
                <c:pt idx="589">
                  <c:v>44868</c:v>
                </c:pt>
                <c:pt idx="590">
                  <c:v>44869</c:v>
                </c:pt>
                <c:pt idx="591">
                  <c:v>44872</c:v>
                </c:pt>
                <c:pt idx="592">
                  <c:v>44873</c:v>
                </c:pt>
                <c:pt idx="593">
                  <c:v>44874</c:v>
                </c:pt>
                <c:pt idx="594">
                  <c:v>44875</c:v>
                </c:pt>
                <c:pt idx="595">
                  <c:v>44876</c:v>
                </c:pt>
                <c:pt idx="596">
                  <c:v>44879</c:v>
                </c:pt>
                <c:pt idx="597">
                  <c:v>44880</c:v>
                </c:pt>
                <c:pt idx="598">
                  <c:v>44881</c:v>
                </c:pt>
                <c:pt idx="599">
                  <c:v>44882</c:v>
                </c:pt>
                <c:pt idx="600">
                  <c:v>44883</c:v>
                </c:pt>
                <c:pt idx="601">
                  <c:v>44886</c:v>
                </c:pt>
                <c:pt idx="602">
                  <c:v>44887</c:v>
                </c:pt>
                <c:pt idx="603">
                  <c:v>44888</c:v>
                </c:pt>
                <c:pt idx="604">
                  <c:v>44889</c:v>
                </c:pt>
                <c:pt idx="605">
                  <c:v>44890</c:v>
                </c:pt>
                <c:pt idx="606">
                  <c:v>44893</c:v>
                </c:pt>
                <c:pt idx="607">
                  <c:v>44894</c:v>
                </c:pt>
                <c:pt idx="608">
                  <c:v>44895</c:v>
                </c:pt>
                <c:pt idx="609">
                  <c:v>44896</c:v>
                </c:pt>
                <c:pt idx="610">
                  <c:v>44897</c:v>
                </c:pt>
                <c:pt idx="611">
                  <c:v>44900</c:v>
                </c:pt>
                <c:pt idx="612">
                  <c:v>44901</c:v>
                </c:pt>
                <c:pt idx="613">
                  <c:v>44902</c:v>
                </c:pt>
                <c:pt idx="614">
                  <c:v>44903</c:v>
                </c:pt>
                <c:pt idx="615">
                  <c:v>44904</c:v>
                </c:pt>
                <c:pt idx="616">
                  <c:v>44907</c:v>
                </c:pt>
                <c:pt idx="617">
                  <c:v>44908</c:v>
                </c:pt>
                <c:pt idx="618">
                  <c:v>44909</c:v>
                </c:pt>
                <c:pt idx="619">
                  <c:v>44910</c:v>
                </c:pt>
                <c:pt idx="620">
                  <c:v>44911</c:v>
                </c:pt>
                <c:pt idx="621">
                  <c:v>44914</c:v>
                </c:pt>
                <c:pt idx="622">
                  <c:v>44915</c:v>
                </c:pt>
                <c:pt idx="623">
                  <c:v>44916</c:v>
                </c:pt>
                <c:pt idx="624">
                  <c:v>44917</c:v>
                </c:pt>
                <c:pt idx="625">
                  <c:v>44918</c:v>
                </c:pt>
                <c:pt idx="626">
                  <c:v>44923</c:v>
                </c:pt>
                <c:pt idx="627">
                  <c:v>44924</c:v>
                </c:pt>
                <c:pt idx="628">
                  <c:v>44925</c:v>
                </c:pt>
                <c:pt idx="629">
                  <c:v>44929</c:v>
                </c:pt>
                <c:pt idx="630">
                  <c:v>44930</c:v>
                </c:pt>
                <c:pt idx="631">
                  <c:v>44931</c:v>
                </c:pt>
                <c:pt idx="632">
                  <c:v>44932</c:v>
                </c:pt>
                <c:pt idx="633">
                  <c:v>44935</c:v>
                </c:pt>
                <c:pt idx="634">
                  <c:v>44936</c:v>
                </c:pt>
                <c:pt idx="635">
                  <c:v>44937</c:v>
                </c:pt>
                <c:pt idx="636">
                  <c:v>44938</c:v>
                </c:pt>
                <c:pt idx="637">
                  <c:v>44939</c:v>
                </c:pt>
                <c:pt idx="638">
                  <c:v>44942</c:v>
                </c:pt>
                <c:pt idx="639">
                  <c:v>44943</c:v>
                </c:pt>
                <c:pt idx="640">
                  <c:v>44944</c:v>
                </c:pt>
                <c:pt idx="641">
                  <c:v>44945</c:v>
                </c:pt>
                <c:pt idx="642">
                  <c:v>44946</c:v>
                </c:pt>
                <c:pt idx="643">
                  <c:v>44949</c:v>
                </c:pt>
                <c:pt idx="644">
                  <c:v>44950</c:v>
                </c:pt>
                <c:pt idx="645">
                  <c:v>44951</c:v>
                </c:pt>
                <c:pt idx="646">
                  <c:v>44952</c:v>
                </c:pt>
                <c:pt idx="647">
                  <c:v>44953</c:v>
                </c:pt>
                <c:pt idx="648">
                  <c:v>44956</c:v>
                </c:pt>
                <c:pt idx="649">
                  <c:v>44957</c:v>
                </c:pt>
                <c:pt idx="650">
                  <c:v>44958</c:v>
                </c:pt>
                <c:pt idx="651">
                  <c:v>44959</c:v>
                </c:pt>
                <c:pt idx="652">
                  <c:v>44960</c:v>
                </c:pt>
                <c:pt idx="653">
                  <c:v>44964</c:v>
                </c:pt>
                <c:pt idx="654">
                  <c:v>44965</c:v>
                </c:pt>
                <c:pt idx="655">
                  <c:v>44966</c:v>
                </c:pt>
                <c:pt idx="656">
                  <c:v>44967</c:v>
                </c:pt>
                <c:pt idx="657">
                  <c:v>44970</c:v>
                </c:pt>
                <c:pt idx="658">
                  <c:v>44971</c:v>
                </c:pt>
                <c:pt idx="659">
                  <c:v>44972</c:v>
                </c:pt>
                <c:pt idx="660">
                  <c:v>44973</c:v>
                </c:pt>
                <c:pt idx="661">
                  <c:v>44974</c:v>
                </c:pt>
                <c:pt idx="662">
                  <c:v>44977</c:v>
                </c:pt>
                <c:pt idx="663">
                  <c:v>44978</c:v>
                </c:pt>
                <c:pt idx="664">
                  <c:v>44979</c:v>
                </c:pt>
                <c:pt idx="665">
                  <c:v>44980</c:v>
                </c:pt>
                <c:pt idx="666">
                  <c:v>44981</c:v>
                </c:pt>
                <c:pt idx="667">
                  <c:v>44984</c:v>
                </c:pt>
                <c:pt idx="668">
                  <c:v>44985</c:v>
                </c:pt>
                <c:pt idx="669">
                  <c:v>44986</c:v>
                </c:pt>
                <c:pt idx="670">
                  <c:v>44987</c:v>
                </c:pt>
                <c:pt idx="671">
                  <c:v>44988</c:v>
                </c:pt>
                <c:pt idx="672">
                  <c:v>44991</c:v>
                </c:pt>
                <c:pt idx="673">
                  <c:v>44992</c:v>
                </c:pt>
                <c:pt idx="674">
                  <c:v>44993</c:v>
                </c:pt>
                <c:pt idx="675">
                  <c:v>44994</c:v>
                </c:pt>
                <c:pt idx="676">
                  <c:v>44995</c:v>
                </c:pt>
                <c:pt idx="677">
                  <c:v>44998</c:v>
                </c:pt>
                <c:pt idx="678">
                  <c:v>44999</c:v>
                </c:pt>
                <c:pt idx="679">
                  <c:v>45000</c:v>
                </c:pt>
                <c:pt idx="680">
                  <c:v>45001</c:v>
                </c:pt>
                <c:pt idx="681">
                  <c:v>45005</c:v>
                </c:pt>
                <c:pt idx="682">
                  <c:v>45006</c:v>
                </c:pt>
                <c:pt idx="683">
                  <c:v>45007</c:v>
                </c:pt>
                <c:pt idx="684">
                  <c:v>45008</c:v>
                </c:pt>
                <c:pt idx="685">
                  <c:v>45009</c:v>
                </c:pt>
                <c:pt idx="686">
                  <c:v>45012</c:v>
                </c:pt>
                <c:pt idx="687">
                  <c:v>45013</c:v>
                </c:pt>
                <c:pt idx="688">
                  <c:v>45014</c:v>
                </c:pt>
                <c:pt idx="689">
                  <c:v>45015</c:v>
                </c:pt>
                <c:pt idx="690">
                  <c:v>45016</c:v>
                </c:pt>
                <c:pt idx="691">
                  <c:v>45019</c:v>
                </c:pt>
                <c:pt idx="692">
                  <c:v>45020</c:v>
                </c:pt>
                <c:pt idx="693">
                  <c:v>45021</c:v>
                </c:pt>
                <c:pt idx="694">
                  <c:v>45022</c:v>
                </c:pt>
                <c:pt idx="695">
                  <c:v>45027</c:v>
                </c:pt>
                <c:pt idx="696">
                  <c:v>45028</c:v>
                </c:pt>
                <c:pt idx="697">
                  <c:v>45029</c:v>
                </c:pt>
                <c:pt idx="698">
                  <c:v>45030</c:v>
                </c:pt>
                <c:pt idx="699">
                  <c:v>45033</c:v>
                </c:pt>
                <c:pt idx="700">
                  <c:v>45034</c:v>
                </c:pt>
                <c:pt idx="701">
                  <c:v>45035</c:v>
                </c:pt>
                <c:pt idx="702">
                  <c:v>45036</c:v>
                </c:pt>
                <c:pt idx="703">
                  <c:v>45037</c:v>
                </c:pt>
                <c:pt idx="704">
                  <c:v>45040</c:v>
                </c:pt>
                <c:pt idx="705">
                  <c:v>45041</c:v>
                </c:pt>
                <c:pt idx="706">
                  <c:v>45042</c:v>
                </c:pt>
                <c:pt idx="707">
                  <c:v>45043</c:v>
                </c:pt>
                <c:pt idx="708">
                  <c:v>45044</c:v>
                </c:pt>
                <c:pt idx="709">
                  <c:v>45048</c:v>
                </c:pt>
                <c:pt idx="710">
                  <c:v>45049</c:v>
                </c:pt>
                <c:pt idx="711">
                  <c:v>45050</c:v>
                </c:pt>
                <c:pt idx="712">
                  <c:v>45051</c:v>
                </c:pt>
                <c:pt idx="713">
                  <c:v>45054</c:v>
                </c:pt>
                <c:pt idx="714">
                  <c:v>45055</c:v>
                </c:pt>
                <c:pt idx="715">
                  <c:v>45056</c:v>
                </c:pt>
                <c:pt idx="716">
                  <c:v>45057</c:v>
                </c:pt>
                <c:pt idx="717">
                  <c:v>45058</c:v>
                </c:pt>
                <c:pt idx="718">
                  <c:v>45061</c:v>
                </c:pt>
                <c:pt idx="719">
                  <c:v>45062</c:v>
                </c:pt>
                <c:pt idx="720">
                  <c:v>45063</c:v>
                </c:pt>
                <c:pt idx="721">
                  <c:v>45064</c:v>
                </c:pt>
                <c:pt idx="722">
                  <c:v>45065</c:v>
                </c:pt>
                <c:pt idx="723">
                  <c:v>45068</c:v>
                </c:pt>
                <c:pt idx="724">
                  <c:v>45069</c:v>
                </c:pt>
                <c:pt idx="725">
                  <c:v>45070</c:v>
                </c:pt>
                <c:pt idx="726">
                  <c:v>45071</c:v>
                </c:pt>
                <c:pt idx="727">
                  <c:v>45072</c:v>
                </c:pt>
                <c:pt idx="728">
                  <c:v>45075</c:v>
                </c:pt>
                <c:pt idx="729">
                  <c:v>45076</c:v>
                </c:pt>
                <c:pt idx="730">
                  <c:v>45077</c:v>
                </c:pt>
                <c:pt idx="731">
                  <c:v>45078</c:v>
                </c:pt>
                <c:pt idx="732">
                  <c:v>45079</c:v>
                </c:pt>
                <c:pt idx="733">
                  <c:v>45083</c:v>
                </c:pt>
                <c:pt idx="734">
                  <c:v>45084</c:v>
                </c:pt>
                <c:pt idx="735">
                  <c:v>45085</c:v>
                </c:pt>
                <c:pt idx="736">
                  <c:v>45086</c:v>
                </c:pt>
                <c:pt idx="737">
                  <c:v>45089</c:v>
                </c:pt>
                <c:pt idx="738">
                  <c:v>45090</c:v>
                </c:pt>
                <c:pt idx="739">
                  <c:v>45091</c:v>
                </c:pt>
                <c:pt idx="740">
                  <c:v>45092</c:v>
                </c:pt>
                <c:pt idx="741">
                  <c:v>45093</c:v>
                </c:pt>
                <c:pt idx="742">
                  <c:v>45096</c:v>
                </c:pt>
                <c:pt idx="743">
                  <c:v>45097</c:v>
                </c:pt>
                <c:pt idx="744">
                  <c:v>45098</c:v>
                </c:pt>
                <c:pt idx="745">
                  <c:v>45099</c:v>
                </c:pt>
                <c:pt idx="746">
                  <c:v>45100</c:v>
                </c:pt>
                <c:pt idx="747">
                  <c:v>45103</c:v>
                </c:pt>
                <c:pt idx="748">
                  <c:v>45104</c:v>
                </c:pt>
                <c:pt idx="749">
                  <c:v>45105</c:v>
                </c:pt>
                <c:pt idx="750">
                  <c:v>45106</c:v>
                </c:pt>
                <c:pt idx="751">
                  <c:v>45107</c:v>
                </c:pt>
                <c:pt idx="752">
                  <c:v>45110</c:v>
                </c:pt>
                <c:pt idx="753">
                  <c:v>45111</c:v>
                </c:pt>
                <c:pt idx="754">
                  <c:v>45112</c:v>
                </c:pt>
                <c:pt idx="755">
                  <c:v>45113</c:v>
                </c:pt>
                <c:pt idx="756">
                  <c:v>45114</c:v>
                </c:pt>
                <c:pt idx="757">
                  <c:v>45117</c:v>
                </c:pt>
                <c:pt idx="758">
                  <c:v>45118</c:v>
                </c:pt>
                <c:pt idx="759">
                  <c:v>45119</c:v>
                </c:pt>
                <c:pt idx="760">
                  <c:v>45120</c:v>
                </c:pt>
                <c:pt idx="761">
                  <c:v>45121</c:v>
                </c:pt>
                <c:pt idx="762">
                  <c:v>45124</c:v>
                </c:pt>
                <c:pt idx="763">
                  <c:v>45125</c:v>
                </c:pt>
                <c:pt idx="764">
                  <c:v>45126</c:v>
                </c:pt>
                <c:pt idx="765">
                  <c:v>45127</c:v>
                </c:pt>
                <c:pt idx="766">
                  <c:v>45128</c:v>
                </c:pt>
                <c:pt idx="767">
                  <c:v>45131</c:v>
                </c:pt>
                <c:pt idx="768">
                  <c:v>45132</c:v>
                </c:pt>
                <c:pt idx="769">
                  <c:v>45133</c:v>
                </c:pt>
                <c:pt idx="770">
                  <c:v>45134</c:v>
                </c:pt>
                <c:pt idx="771">
                  <c:v>45135</c:v>
                </c:pt>
                <c:pt idx="772">
                  <c:v>45138</c:v>
                </c:pt>
                <c:pt idx="773">
                  <c:v>45139</c:v>
                </c:pt>
                <c:pt idx="774">
                  <c:v>45140</c:v>
                </c:pt>
                <c:pt idx="775">
                  <c:v>45141</c:v>
                </c:pt>
                <c:pt idx="776">
                  <c:v>45142</c:v>
                </c:pt>
                <c:pt idx="777">
                  <c:v>45146</c:v>
                </c:pt>
                <c:pt idx="778">
                  <c:v>45147</c:v>
                </c:pt>
                <c:pt idx="779">
                  <c:v>45148</c:v>
                </c:pt>
                <c:pt idx="780">
                  <c:v>45149</c:v>
                </c:pt>
                <c:pt idx="781">
                  <c:v>45152</c:v>
                </c:pt>
                <c:pt idx="782">
                  <c:v>45153</c:v>
                </c:pt>
                <c:pt idx="783">
                  <c:v>45154</c:v>
                </c:pt>
                <c:pt idx="784">
                  <c:v>45155</c:v>
                </c:pt>
                <c:pt idx="785">
                  <c:v>45156</c:v>
                </c:pt>
                <c:pt idx="786">
                  <c:v>45159</c:v>
                </c:pt>
                <c:pt idx="787">
                  <c:v>45160</c:v>
                </c:pt>
                <c:pt idx="788">
                  <c:v>45161</c:v>
                </c:pt>
                <c:pt idx="789">
                  <c:v>45162</c:v>
                </c:pt>
                <c:pt idx="790">
                  <c:v>45163</c:v>
                </c:pt>
                <c:pt idx="791">
                  <c:v>45166</c:v>
                </c:pt>
                <c:pt idx="792">
                  <c:v>45167</c:v>
                </c:pt>
                <c:pt idx="793">
                  <c:v>45168</c:v>
                </c:pt>
                <c:pt idx="794">
                  <c:v>45169</c:v>
                </c:pt>
                <c:pt idx="795">
                  <c:v>45170</c:v>
                </c:pt>
                <c:pt idx="796">
                  <c:v>45173</c:v>
                </c:pt>
                <c:pt idx="797">
                  <c:v>45174</c:v>
                </c:pt>
                <c:pt idx="798">
                  <c:v>45175</c:v>
                </c:pt>
                <c:pt idx="799">
                  <c:v>45176</c:v>
                </c:pt>
                <c:pt idx="800">
                  <c:v>45177</c:v>
                </c:pt>
                <c:pt idx="801">
                  <c:v>45180</c:v>
                </c:pt>
                <c:pt idx="802">
                  <c:v>45181</c:v>
                </c:pt>
                <c:pt idx="803">
                  <c:v>45182</c:v>
                </c:pt>
                <c:pt idx="804">
                  <c:v>45183</c:v>
                </c:pt>
                <c:pt idx="805">
                  <c:v>45184</c:v>
                </c:pt>
                <c:pt idx="806">
                  <c:v>45187</c:v>
                </c:pt>
                <c:pt idx="807">
                  <c:v>45188</c:v>
                </c:pt>
                <c:pt idx="808">
                  <c:v>45189</c:v>
                </c:pt>
                <c:pt idx="809">
                  <c:v>45190</c:v>
                </c:pt>
                <c:pt idx="810">
                  <c:v>45191</c:v>
                </c:pt>
                <c:pt idx="811">
                  <c:v>45194</c:v>
                </c:pt>
                <c:pt idx="812">
                  <c:v>45195</c:v>
                </c:pt>
                <c:pt idx="813">
                  <c:v>45196</c:v>
                </c:pt>
                <c:pt idx="814">
                  <c:v>45197</c:v>
                </c:pt>
                <c:pt idx="815">
                  <c:v>45198</c:v>
                </c:pt>
                <c:pt idx="816">
                  <c:v>45201</c:v>
                </c:pt>
                <c:pt idx="817">
                  <c:v>45202</c:v>
                </c:pt>
                <c:pt idx="818">
                  <c:v>45203</c:v>
                </c:pt>
                <c:pt idx="819">
                  <c:v>45204</c:v>
                </c:pt>
                <c:pt idx="820">
                  <c:v>45205</c:v>
                </c:pt>
                <c:pt idx="821">
                  <c:v>45208</c:v>
                </c:pt>
                <c:pt idx="822">
                  <c:v>45209</c:v>
                </c:pt>
                <c:pt idx="823">
                  <c:v>45210</c:v>
                </c:pt>
                <c:pt idx="824">
                  <c:v>45211</c:v>
                </c:pt>
                <c:pt idx="825">
                  <c:v>45212</c:v>
                </c:pt>
                <c:pt idx="826">
                  <c:v>45215</c:v>
                </c:pt>
                <c:pt idx="827">
                  <c:v>45216</c:v>
                </c:pt>
                <c:pt idx="828">
                  <c:v>45217</c:v>
                </c:pt>
                <c:pt idx="829">
                  <c:v>45218</c:v>
                </c:pt>
                <c:pt idx="830">
                  <c:v>45219</c:v>
                </c:pt>
                <c:pt idx="831">
                  <c:v>45222</c:v>
                </c:pt>
                <c:pt idx="832">
                  <c:v>45223</c:v>
                </c:pt>
                <c:pt idx="833">
                  <c:v>45224</c:v>
                </c:pt>
                <c:pt idx="834">
                  <c:v>45225</c:v>
                </c:pt>
                <c:pt idx="835">
                  <c:v>45226</c:v>
                </c:pt>
                <c:pt idx="836">
                  <c:v>45230</c:v>
                </c:pt>
                <c:pt idx="837">
                  <c:v>45231</c:v>
                </c:pt>
                <c:pt idx="838">
                  <c:v>45232</c:v>
                </c:pt>
                <c:pt idx="839">
                  <c:v>45233</c:v>
                </c:pt>
                <c:pt idx="840">
                  <c:v>45236</c:v>
                </c:pt>
                <c:pt idx="841">
                  <c:v>45237</c:v>
                </c:pt>
                <c:pt idx="842">
                  <c:v>45238</c:v>
                </c:pt>
                <c:pt idx="843">
                  <c:v>45239</c:v>
                </c:pt>
                <c:pt idx="844">
                  <c:v>45240</c:v>
                </c:pt>
                <c:pt idx="845">
                  <c:v>45243</c:v>
                </c:pt>
                <c:pt idx="846">
                  <c:v>45244</c:v>
                </c:pt>
                <c:pt idx="847">
                  <c:v>45245</c:v>
                </c:pt>
                <c:pt idx="848">
                  <c:v>45246</c:v>
                </c:pt>
                <c:pt idx="849">
                  <c:v>45247</c:v>
                </c:pt>
                <c:pt idx="850">
                  <c:v>45250</c:v>
                </c:pt>
                <c:pt idx="851">
                  <c:v>45251</c:v>
                </c:pt>
                <c:pt idx="852">
                  <c:v>45252</c:v>
                </c:pt>
                <c:pt idx="853">
                  <c:v>45253</c:v>
                </c:pt>
                <c:pt idx="854">
                  <c:v>45254</c:v>
                </c:pt>
                <c:pt idx="855">
                  <c:v>45257</c:v>
                </c:pt>
                <c:pt idx="856">
                  <c:v>45258</c:v>
                </c:pt>
                <c:pt idx="857">
                  <c:v>45259</c:v>
                </c:pt>
                <c:pt idx="858">
                  <c:v>45260</c:v>
                </c:pt>
                <c:pt idx="859">
                  <c:v>45261</c:v>
                </c:pt>
                <c:pt idx="860">
                  <c:v>45264</c:v>
                </c:pt>
                <c:pt idx="861">
                  <c:v>45265</c:v>
                </c:pt>
                <c:pt idx="862">
                  <c:v>45266</c:v>
                </c:pt>
                <c:pt idx="863">
                  <c:v>45267</c:v>
                </c:pt>
                <c:pt idx="864">
                  <c:v>45268</c:v>
                </c:pt>
                <c:pt idx="865">
                  <c:v>45271</c:v>
                </c:pt>
                <c:pt idx="866">
                  <c:v>45272</c:v>
                </c:pt>
                <c:pt idx="867">
                  <c:v>45273</c:v>
                </c:pt>
                <c:pt idx="868">
                  <c:v>45274</c:v>
                </c:pt>
                <c:pt idx="869">
                  <c:v>45275</c:v>
                </c:pt>
                <c:pt idx="870">
                  <c:v>45278</c:v>
                </c:pt>
                <c:pt idx="871">
                  <c:v>45279</c:v>
                </c:pt>
                <c:pt idx="872">
                  <c:v>45280</c:v>
                </c:pt>
                <c:pt idx="873">
                  <c:v>45281</c:v>
                </c:pt>
                <c:pt idx="874">
                  <c:v>45282</c:v>
                </c:pt>
                <c:pt idx="875">
                  <c:v>45287</c:v>
                </c:pt>
                <c:pt idx="876">
                  <c:v>45288</c:v>
                </c:pt>
                <c:pt idx="877">
                  <c:v>45289</c:v>
                </c:pt>
                <c:pt idx="878">
                  <c:v>45293</c:v>
                </c:pt>
                <c:pt idx="879">
                  <c:v>45294</c:v>
                </c:pt>
                <c:pt idx="880">
                  <c:v>45295</c:v>
                </c:pt>
                <c:pt idx="881">
                  <c:v>45296</c:v>
                </c:pt>
                <c:pt idx="882">
                  <c:v>45299</c:v>
                </c:pt>
                <c:pt idx="883">
                  <c:v>45300</c:v>
                </c:pt>
                <c:pt idx="884">
                  <c:v>45301</c:v>
                </c:pt>
                <c:pt idx="885">
                  <c:v>45302</c:v>
                </c:pt>
                <c:pt idx="886">
                  <c:v>45303</c:v>
                </c:pt>
                <c:pt idx="887">
                  <c:v>45306</c:v>
                </c:pt>
                <c:pt idx="888">
                  <c:v>45307</c:v>
                </c:pt>
                <c:pt idx="889">
                  <c:v>45308</c:v>
                </c:pt>
                <c:pt idx="890">
                  <c:v>45309</c:v>
                </c:pt>
                <c:pt idx="891">
                  <c:v>45310</c:v>
                </c:pt>
                <c:pt idx="892">
                  <c:v>45313</c:v>
                </c:pt>
                <c:pt idx="893">
                  <c:v>45314</c:v>
                </c:pt>
                <c:pt idx="894">
                  <c:v>45315</c:v>
                </c:pt>
                <c:pt idx="895">
                  <c:v>45316</c:v>
                </c:pt>
                <c:pt idx="896">
                  <c:v>45317</c:v>
                </c:pt>
                <c:pt idx="897">
                  <c:v>45320</c:v>
                </c:pt>
                <c:pt idx="898">
                  <c:v>45321</c:v>
                </c:pt>
                <c:pt idx="899">
                  <c:v>45322</c:v>
                </c:pt>
                <c:pt idx="900">
                  <c:v>45323</c:v>
                </c:pt>
                <c:pt idx="901">
                  <c:v>45324</c:v>
                </c:pt>
                <c:pt idx="902">
                  <c:v>45328</c:v>
                </c:pt>
                <c:pt idx="903">
                  <c:v>45329</c:v>
                </c:pt>
                <c:pt idx="904">
                  <c:v>45330</c:v>
                </c:pt>
                <c:pt idx="905">
                  <c:v>45331</c:v>
                </c:pt>
                <c:pt idx="906">
                  <c:v>45334</c:v>
                </c:pt>
                <c:pt idx="907">
                  <c:v>45335</c:v>
                </c:pt>
                <c:pt idx="908">
                  <c:v>45336</c:v>
                </c:pt>
                <c:pt idx="909">
                  <c:v>45337</c:v>
                </c:pt>
                <c:pt idx="910">
                  <c:v>45338</c:v>
                </c:pt>
                <c:pt idx="911">
                  <c:v>45341</c:v>
                </c:pt>
                <c:pt idx="912">
                  <c:v>45342</c:v>
                </c:pt>
                <c:pt idx="913">
                  <c:v>45343</c:v>
                </c:pt>
                <c:pt idx="914">
                  <c:v>45344</c:v>
                </c:pt>
                <c:pt idx="915">
                  <c:v>45345</c:v>
                </c:pt>
                <c:pt idx="916">
                  <c:v>45348</c:v>
                </c:pt>
                <c:pt idx="917">
                  <c:v>45349</c:v>
                </c:pt>
                <c:pt idx="918">
                  <c:v>45350</c:v>
                </c:pt>
                <c:pt idx="919">
                  <c:v>45351</c:v>
                </c:pt>
                <c:pt idx="920">
                  <c:v>45352</c:v>
                </c:pt>
                <c:pt idx="921">
                  <c:v>45355</c:v>
                </c:pt>
                <c:pt idx="922">
                  <c:v>45356</c:v>
                </c:pt>
                <c:pt idx="923">
                  <c:v>45357</c:v>
                </c:pt>
                <c:pt idx="924">
                  <c:v>45358</c:v>
                </c:pt>
                <c:pt idx="925">
                  <c:v>45359</c:v>
                </c:pt>
                <c:pt idx="926">
                  <c:v>45362</c:v>
                </c:pt>
                <c:pt idx="927">
                  <c:v>45363</c:v>
                </c:pt>
                <c:pt idx="928">
                  <c:v>45364</c:v>
                </c:pt>
                <c:pt idx="929">
                  <c:v>45365</c:v>
                </c:pt>
                <c:pt idx="930">
                  <c:v>45366</c:v>
                </c:pt>
                <c:pt idx="931">
                  <c:v>45370</c:v>
                </c:pt>
                <c:pt idx="932">
                  <c:v>45371</c:v>
                </c:pt>
                <c:pt idx="933">
                  <c:v>45372</c:v>
                </c:pt>
                <c:pt idx="934">
                  <c:v>45373</c:v>
                </c:pt>
                <c:pt idx="935">
                  <c:v>45376</c:v>
                </c:pt>
                <c:pt idx="936">
                  <c:v>45377</c:v>
                </c:pt>
                <c:pt idx="937">
                  <c:v>45378</c:v>
                </c:pt>
                <c:pt idx="938">
                  <c:v>45379</c:v>
                </c:pt>
                <c:pt idx="939">
                  <c:v>45384</c:v>
                </c:pt>
                <c:pt idx="940">
                  <c:v>45385</c:v>
                </c:pt>
                <c:pt idx="941">
                  <c:v>45386</c:v>
                </c:pt>
                <c:pt idx="942">
                  <c:v>45387</c:v>
                </c:pt>
                <c:pt idx="943">
                  <c:v>45390</c:v>
                </c:pt>
                <c:pt idx="944">
                  <c:v>45391</c:v>
                </c:pt>
                <c:pt idx="945">
                  <c:v>45392</c:v>
                </c:pt>
                <c:pt idx="946">
                  <c:v>45393</c:v>
                </c:pt>
                <c:pt idx="947">
                  <c:v>45394</c:v>
                </c:pt>
                <c:pt idx="948">
                  <c:v>45397</c:v>
                </c:pt>
                <c:pt idx="949">
                  <c:v>45398</c:v>
                </c:pt>
                <c:pt idx="950">
                  <c:v>45399</c:v>
                </c:pt>
                <c:pt idx="951">
                  <c:v>45400</c:v>
                </c:pt>
                <c:pt idx="952">
                  <c:v>45401</c:v>
                </c:pt>
                <c:pt idx="953">
                  <c:v>45404</c:v>
                </c:pt>
                <c:pt idx="954">
                  <c:v>45405</c:v>
                </c:pt>
                <c:pt idx="955">
                  <c:v>45406</c:v>
                </c:pt>
                <c:pt idx="956">
                  <c:v>45407</c:v>
                </c:pt>
                <c:pt idx="957">
                  <c:v>45408</c:v>
                </c:pt>
                <c:pt idx="958">
                  <c:v>45411</c:v>
                </c:pt>
                <c:pt idx="959">
                  <c:v>45412</c:v>
                </c:pt>
                <c:pt idx="960">
                  <c:v>45413</c:v>
                </c:pt>
                <c:pt idx="961">
                  <c:v>45414</c:v>
                </c:pt>
                <c:pt idx="962">
                  <c:v>45415</c:v>
                </c:pt>
                <c:pt idx="963">
                  <c:v>45419</c:v>
                </c:pt>
                <c:pt idx="964">
                  <c:v>45420</c:v>
                </c:pt>
                <c:pt idx="965">
                  <c:v>45421</c:v>
                </c:pt>
                <c:pt idx="966">
                  <c:v>45422</c:v>
                </c:pt>
                <c:pt idx="967">
                  <c:v>45425</c:v>
                </c:pt>
                <c:pt idx="968">
                  <c:v>45426</c:v>
                </c:pt>
                <c:pt idx="969">
                  <c:v>45427</c:v>
                </c:pt>
                <c:pt idx="970">
                  <c:v>45428</c:v>
                </c:pt>
                <c:pt idx="971">
                  <c:v>45429</c:v>
                </c:pt>
                <c:pt idx="972">
                  <c:v>45432</c:v>
                </c:pt>
                <c:pt idx="973">
                  <c:v>45433</c:v>
                </c:pt>
                <c:pt idx="974">
                  <c:v>45434</c:v>
                </c:pt>
                <c:pt idx="975">
                  <c:v>45435</c:v>
                </c:pt>
                <c:pt idx="976">
                  <c:v>45436</c:v>
                </c:pt>
                <c:pt idx="977">
                  <c:v>45439</c:v>
                </c:pt>
                <c:pt idx="978">
                  <c:v>45440</c:v>
                </c:pt>
                <c:pt idx="979">
                  <c:v>45441</c:v>
                </c:pt>
                <c:pt idx="980">
                  <c:v>45442</c:v>
                </c:pt>
                <c:pt idx="981">
                  <c:v>45443</c:v>
                </c:pt>
                <c:pt idx="982">
                  <c:v>45447</c:v>
                </c:pt>
                <c:pt idx="983">
                  <c:v>45448</c:v>
                </c:pt>
                <c:pt idx="984">
                  <c:v>45449</c:v>
                </c:pt>
                <c:pt idx="985">
                  <c:v>45450</c:v>
                </c:pt>
                <c:pt idx="986">
                  <c:v>45453</c:v>
                </c:pt>
                <c:pt idx="987">
                  <c:v>45454</c:v>
                </c:pt>
                <c:pt idx="988">
                  <c:v>45455</c:v>
                </c:pt>
                <c:pt idx="989">
                  <c:v>45456</c:v>
                </c:pt>
                <c:pt idx="990">
                  <c:v>45457</c:v>
                </c:pt>
                <c:pt idx="991">
                  <c:v>45460</c:v>
                </c:pt>
                <c:pt idx="992">
                  <c:v>45461</c:v>
                </c:pt>
                <c:pt idx="993">
                  <c:v>45462</c:v>
                </c:pt>
                <c:pt idx="994">
                  <c:v>45463</c:v>
                </c:pt>
                <c:pt idx="995">
                  <c:v>45464</c:v>
                </c:pt>
                <c:pt idx="996">
                  <c:v>45467</c:v>
                </c:pt>
                <c:pt idx="997">
                  <c:v>45468</c:v>
                </c:pt>
                <c:pt idx="998">
                  <c:v>45469</c:v>
                </c:pt>
                <c:pt idx="999">
                  <c:v>45470</c:v>
                </c:pt>
                <c:pt idx="1000">
                  <c:v>45471</c:v>
                </c:pt>
                <c:pt idx="1001">
                  <c:v>45474</c:v>
                </c:pt>
                <c:pt idx="1002">
                  <c:v>45475</c:v>
                </c:pt>
                <c:pt idx="1003">
                  <c:v>45476</c:v>
                </c:pt>
                <c:pt idx="1004">
                  <c:v>45477</c:v>
                </c:pt>
                <c:pt idx="1005">
                  <c:v>45478</c:v>
                </c:pt>
                <c:pt idx="1006">
                  <c:v>45481</c:v>
                </c:pt>
                <c:pt idx="1007">
                  <c:v>45482</c:v>
                </c:pt>
                <c:pt idx="1008">
                  <c:v>45483</c:v>
                </c:pt>
                <c:pt idx="1009">
                  <c:v>45484</c:v>
                </c:pt>
                <c:pt idx="1010">
                  <c:v>45485</c:v>
                </c:pt>
                <c:pt idx="1011">
                  <c:v>45488</c:v>
                </c:pt>
                <c:pt idx="1012">
                  <c:v>45489</c:v>
                </c:pt>
                <c:pt idx="1013">
                  <c:v>45490</c:v>
                </c:pt>
                <c:pt idx="1014">
                  <c:v>45491</c:v>
                </c:pt>
                <c:pt idx="1015">
                  <c:v>45492</c:v>
                </c:pt>
                <c:pt idx="1016">
                  <c:v>45495</c:v>
                </c:pt>
                <c:pt idx="1017">
                  <c:v>45496</c:v>
                </c:pt>
                <c:pt idx="1018">
                  <c:v>45497</c:v>
                </c:pt>
                <c:pt idx="1019">
                  <c:v>45498</c:v>
                </c:pt>
                <c:pt idx="1020">
                  <c:v>45499</c:v>
                </c:pt>
                <c:pt idx="1021">
                  <c:v>45502</c:v>
                </c:pt>
                <c:pt idx="1022">
                  <c:v>45503</c:v>
                </c:pt>
                <c:pt idx="1023">
                  <c:v>45504</c:v>
                </c:pt>
                <c:pt idx="1024">
                  <c:v>45505</c:v>
                </c:pt>
                <c:pt idx="1025">
                  <c:v>45506</c:v>
                </c:pt>
                <c:pt idx="1026">
                  <c:v>45510</c:v>
                </c:pt>
                <c:pt idx="1027">
                  <c:v>45511</c:v>
                </c:pt>
                <c:pt idx="1028">
                  <c:v>45512</c:v>
                </c:pt>
                <c:pt idx="1029">
                  <c:v>45513</c:v>
                </c:pt>
                <c:pt idx="1030">
                  <c:v>45516</c:v>
                </c:pt>
                <c:pt idx="1031">
                  <c:v>45517</c:v>
                </c:pt>
                <c:pt idx="1032">
                  <c:v>45518</c:v>
                </c:pt>
                <c:pt idx="1033">
                  <c:v>45519</c:v>
                </c:pt>
                <c:pt idx="1034">
                  <c:v>45520</c:v>
                </c:pt>
                <c:pt idx="1035">
                  <c:v>45523</c:v>
                </c:pt>
                <c:pt idx="1036">
                  <c:v>45524</c:v>
                </c:pt>
                <c:pt idx="1037">
                  <c:v>45525</c:v>
                </c:pt>
                <c:pt idx="1038">
                  <c:v>45526</c:v>
                </c:pt>
                <c:pt idx="1039">
                  <c:v>45527</c:v>
                </c:pt>
                <c:pt idx="1040">
                  <c:v>45530</c:v>
                </c:pt>
                <c:pt idx="1041">
                  <c:v>45531</c:v>
                </c:pt>
                <c:pt idx="1042">
                  <c:v>45532</c:v>
                </c:pt>
                <c:pt idx="1043">
                  <c:v>45533</c:v>
                </c:pt>
                <c:pt idx="1044">
                  <c:v>45534</c:v>
                </c:pt>
                <c:pt idx="1045">
                  <c:v>45537</c:v>
                </c:pt>
                <c:pt idx="1046">
                  <c:v>45538</c:v>
                </c:pt>
                <c:pt idx="1047">
                  <c:v>45539</c:v>
                </c:pt>
                <c:pt idx="1048">
                  <c:v>45540</c:v>
                </c:pt>
                <c:pt idx="1049">
                  <c:v>45541</c:v>
                </c:pt>
                <c:pt idx="1050">
                  <c:v>45544</c:v>
                </c:pt>
                <c:pt idx="1051">
                  <c:v>45545</c:v>
                </c:pt>
                <c:pt idx="1052">
                  <c:v>45546</c:v>
                </c:pt>
                <c:pt idx="1053">
                  <c:v>45547</c:v>
                </c:pt>
                <c:pt idx="1054">
                  <c:v>45548</c:v>
                </c:pt>
                <c:pt idx="1055">
                  <c:v>45551</c:v>
                </c:pt>
                <c:pt idx="1056">
                  <c:v>45552</c:v>
                </c:pt>
                <c:pt idx="1057">
                  <c:v>45553</c:v>
                </c:pt>
                <c:pt idx="1058">
                  <c:v>45554</c:v>
                </c:pt>
                <c:pt idx="1059">
                  <c:v>45555</c:v>
                </c:pt>
                <c:pt idx="1060">
                  <c:v>45558</c:v>
                </c:pt>
                <c:pt idx="1061">
                  <c:v>45559</c:v>
                </c:pt>
                <c:pt idx="1062">
                  <c:v>45560</c:v>
                </c:pt>
                <c:pt idx="1063">
                  <c:v>45561</c:v>
                </c:pt>
                <c:pt idx="1064">
                  <c:v>45562</c:v>
                </c:pt>
                <c:pt idx="1065">
                  <c:v>45565</c:v>
                </c:pt>
                <c:pt idx="1066">
                  <c:v>45566</c:v>
                </c:pt>
                <c:pt idx="1067">
                  <c:v>45567</c:v>
                </c:pt>
                <c:pt idx="1068">
                  <c:v>45568</c:v>
                </c:pt>
                <c:pt idx="1069">
                  <c:v>45569</c:v>
                </c:pt>
                <c:pt idx="1070">
                  <c:v>45572</c:v>
                </c:pt>
                <c:pt idx="1071">
                  <c:v>45573</c:v>
                </c:pt>
                <c:pt idx="1072">
                  <c:v>45574</c:v>
                </c:pt>
                <c:pt idx="1073">
                  <c:v>45575</c:v>
                </c:pt>
                <c:pt idx="1074">
                  <c:v>45576</c:v>
                </c:pt>
                <c:pt idx="1075">
                  <c:v>45579</c:v>
                </c:pt>
                <c:pt idx="1076">
                  <c:v>45580</c:v>
                </c:pt>
                <c:pt idx="1077">
                  <c:v>45581</c:v>
                </c:pt>
                <c:pt idx="1078">
                  <c:v>45582</c:v>
                </c:pt>
                <c:pt idx="1079">
                  <c:v>45583</c:v>
                </c:pt>
                <c:pt idx="1080">
                  <c:v>45586</c:v>
                </c:pt>
                <c:pt idx="1081">
                  <c:v>45587</c:v>
                </c:pt>
                <c:pt idx="1082">
                  <c:v>45588</c:v>
                </c:pt>
                <c:pt idx="1083">
                  <c:v>45589</c:v>
                </c:pt>
                <c:pt idx="1084">
                  <c:v>45590</c:v>
                </c:pt>
                <c:pt idx="1085">
                  <c:v>45594</c:v>
                </c:pt>
                <c:pt idx="1086">
                  <c:v>45595</c:v>
                </c:pt>
                <c:pt idx="1087">
                  <c:v>45596</c:v>
                </c:pt>
                <c:pt idx="1088">
                  <c:v>45597</c:v>
                </c:pt>
                <c:pt idx="1089">
                  <c:v>45600</c:v>
                </c:pt>
                <c:pt idx="1090">
                  <c:v>45601</c:v>
                </c:pt>
                <c:pt idx="1091">
                  <c:v>45602</c:v>
                </c:pt>
                <c:pt idx="1092">
                  <c:v>45603</c:v>
                </c:pt>
                <c:pt idx="1093">
                  <c:v>45604</c:v>
                </c:pt>
                <c:pt idx="1094">
                  <c:v>45607</c:v>
                </c:pt>
                <c:pt idx="1095">
                  <c:v>45608</c:v>
                </c:pt>
                <c:pt idx="1096">
                  <c:v>45609</c:v>
                </c:pt>
                <c:pt idx="1097">
                  <c:v>45610</c:v>
                </c:pt>
                <c:pt idx="1098">
                  <c:v>45611</c:v>
                </c:pt>
                <c:pt idx="1099">
                  <c:v>45614</c:v>
                </c:pt>
                <c:pt idx="1100">
                  <c:v>45615</c:v>
                </c:pt>
                <c:pt idx="1101">
                  <c:v>45616</c:v>
                </c:pt>
                <c:pt idx="1102">
                  <c:v>45617</c:v>
                </c:pt>
                <c:pt idx="1103">
                  <c:v>45618</c:v>
                </c:pt>
                <c:pt idx="1104">
                  <c:v>45621</c:v>
                </c:pt>
                <c:pt idx="1105">
                  <c:v>45622</c:v>
                </c:pt>
                <c:pt idx="1106">
                  <c:v>45623</c:v>
                </c:pt>
                <c:pt idx="1107">
                  <c:v>45624</c:v>
                </c:pt>
                <c:pt idx="1108">
                  <c:v>45625</c:v>
                </c:pt>
                <c:pt idx="1109">
                  <c:v>45628</c:v>
                </c:pt>
                <c:pt idx="1110">
                  <c:v>45629</c:v>
                </c:pt>
                <c:pt idx="1111">
                  <c:v>45630</c:v>
                </c:pt>
                <c:pt idx="1112">
                  <c:v>45631</c:v>
                </c:pt>
                <c:pt idx="1113">
                  <c:v>45632</c:v>
                </c:pt>
                <c:pt idx="1114">
                  <c:v>45635</c:v>
                </c:pt>
                <c:pt idx="1115">
                  <c:v>45636</c:v>
                </c:pt>
                <c:pt idx="1116">
                  <c:v>45637</c:v>
                </c:pt>
                <c:pt idx="1117">
                  <c:v>45638</c:v>
                </c:pt>
                <c:pt idx="1118">
                  <c:v>45639</c:v>
                </c:pt>
                <c:pt idx="1119">
                  <c:v>45642</c:v>
                </c:pt>
                <c:pt idx="1120">
                  <c:v>45643</c:v>
                </c:pt>
                <c:pt idx="1121">
                  <c:v>45644</c:v>
                </c:pt>
                <c:pt idx="1122">
                  <c:v>45645</c:v>
                </c:pt>
                <c:pt idx="1123">
                  <c:v>45646</c:v>
                </c:pt>
                <c:pt idx="1124">
                  <c:v>45649</c:v>
                </c:pt>
                <c:pt idx="1125">
                  <c:v>45650</c:v>
                </c:pt>
                <c:pt idx="1126">
                  <c:v>45653</c:v>
                </c:pt>
                <c:pt idx="1127">
                  <c:v>45656</c:v>
                </c:pt>
                <c:pt idx="1128">
                  <c:v>45657</c:v>
                </c:pt>
                <c:pt idx="1129">
                  <c:v>45659</c:v>
                </c:pt>
                <c:pt idx="1130">
                  <c:v>45660</c:v>
                </c:pt>
                <c:pt idx="1131">
                  <c:v>45663</c:v>
                </c:pt>
                <c:pt idx="1132">
                  <c:v>45664</c:v>
                </c:pt>
                <c:pt idx="1133">
                  <c:v>45665</c:v>
                </c:pt>
                <c:pt idx="1134">
                  <c:v>45666</c:v>
                </c:pt>
                <c:pt idx="1135">
                  <c:v>45667</c:v>
                </c:pt>
                <c:pt idx="1136">
                  <c:v>45670</c:v>
                </c:pt>
                <c:pt idx="1137">
                  <c:v>45671</c:v>
                </c:pt>
                <c:pt idx="1138">
                  <c:v>45672</c:v>
                </c:pt>
                <c:pt idx="1139">
                  <c:v>45673</c:v>
                </c:pt>
                <c:pt idx="1140">
                  <c:v>45674</c:v>
                </c:pt>
                <c:pt idx="1141">
                  <c:v>45677</c:v>
                </c:pt>
                <c:pt idx="1142">
                  <c:v>45678</c:v>
                </c:pt>
                <c:pt idx="1143">
                  <c:v>45679</c:v>
                </c:pt>
                <c:pt idx="1144">
                  <c:v>45680</c:v>
                </c:pt>
                <c:pt idx="1145">
                  <c:v>45681</c:v>
                </c:pt>
                <c:pt idx="1146">
                  <c:v>45684</c:v>
                </c:pt>
                <c:pt idx="1147">
                  <c:v>45685</c:v>
                </c:pt>
                <c:pt idx="1148">
                  <c:v>45686</c:v>
                </c:pt>
                <c:pt idx="1149">
                  <c:v>45687</c:v>
                </c:pt>
                <c:pt idx="1150">
                  <c:v>45688</c:v>
                </c:pt>
                <c:pt idx="1151">
                  <c:v>45692</c:v>
                </c:pt>
                <c:pt idx="1152">
                  <c:v>45693</c:v>
                </c:pt>
                <c:pt idx="1153">
                  <c:v>45694</c:v>
                </c:pt>
                <c:pt idx="1154">
                  <c:v>45695</c:v>
                </c:pt>
                <c:pt idx="1155">
                  <c:v>45698</c:v>
                </c:pt>
                <c:pt idx="1156">
                  <c:v>45699</c:v>
                </c:pt>
                <c:pt idx="1157">
                  <c:v>45700</c:v>
                </c:pt>
                <c:pt idx="1158">
                  <c:v>45701</c:v>
                </c:pt>
                <c:pt idx="1159">
                  <c:v>45702</c:v>
                </c:pt>
                <c:pt idx="1160">
                  <c:v>45705</c:v>
                </c:pt>
                <c:pt idx="1161">
                  <c:v>45706</c:v>
                </c:pt>
                <c:pt idx="1162">
                  <c:v>45707</c:v>
                </c:pt>
                <c:pt idx="1163">
                  <c:v>45708</c:v>
                </c:pt>
                <c:pt idx="1164">
                  <c:v>45709</c:v>
                </c:pt>
                <c:pt idx="1165">
                  <c:v>45712</c:v>
                </c:pt>
                <c:pt idx="1166">
                  <c:v>45713</c:v>
                </c:pt>
                <c:pt idx="1167">
                  <c:v>45714</c:v>
                </c:pt>
                <c:pt idx="1168">
                  <c:v>45715</c:v>
                </c:pt>
                <c:pt idx="1169">
                  <c:v>45716</c:v>
                </c:pt>
                <c:pt idx="1170">
                  <c:v>45719</c:v>
                </c:pt>
                <c:pt idx="1171">
                  <c:v>45720</c:v>
                </c:pt>
                <c:pt idx="1172">
                  <c:v>45721</c:v>
                </c:pt>
                <c:pt idx="1173">
                  <c:v>45722</c:v>
                </c:pt>
                <c:pt idx="1174">
                  <c:v>45723</c:v>
                </c:pt>
                <c:pt idx="1175">
                  <c:v>45726</c:v>
                </c:pt>
                <c:pt idx="1176">
                  <c:v>45727</c:v>
                </c:pt>
                <c:pt idx="1177">
                  <c:v>45728</c:v>
                </c:pt>
                <c:pt idx="1178">
                  <c:v>45729</c:v>
                </c:pt>
                <c:pt idx="1179">
                  <c:v>45730</c:v>
                </c:pt>
                <c:pt idx="1180">
                  <c:v>45734</c:v>
                </c:pt>
                <c:pt idx="1181">
                  <c:v>45735</c:v>
                </c:pt>
                <c:pt idx="1182">
                  <c:v>45736</c:v>
                </c:pt>
                <c:pt idx="1183">
                  <c:v>45737</c:v>
                </c:pt>
                <c:pt idx="1184">
                  <c:v>45740</c:v>
                </c:pt>
                <c:pt idx="1185">
                  <c:v>45741</c:v>
                </c:pt>
                <c:pt idx="1186">
                  <c:v>45742</c:v>
                </c:pt>
                <c:pt idx="1187">
                  <c:v>45743</c:v>
                </c:pt>
                <c:pt idx="1188">
                  <c:v>45744</c:v>
                </c:pt>
                <c:pt idx="1189">
                  <c:v>45747</c:v>
                </c:pt>
                <c:pt idx="1190">
                  <c:v>45748</c:v>
                </c:pt>
                <c:pt idx="1191">
                  <c:v>45749</c:v>
                </c:pt>
                <c:pt idx="1192">
                  <c:v>45750</c:v>
                </c:pt>
                <c:pt idx="1193">
                  <c:v>45751</c:v>
                </c:pt>
                <c:pt idx="1194">
                  <c:v>45754</c:v>
                </c:pt>
                <c:pt idx="1195">
                  <c:v>45755</c:v>
                </c:pt>
                <c:pt idx="1196">
                  <c:v>45756</c:v>
                </c:pt>
                <c:pt idx="1197">
                  <c:v>45757</c:v>
                </c:pt>
                <c:pt idx="1198">
                  <c:v>45758</c:v>
                </c:pt>
                <c:pt idx="1199">
                  <c:v>45761</c:v>
                </c:pt>
                <c:pt idx="1200">
                  <c:v>45762</c:v>
                </c:pt>
                <c:pt idx="1201">
                  <c:v>45763</c:v>
                </c:pt>
                <c:pt idx="1202">
                  <c:v>45764</c:v>
                </c:pt>
                <c:pt idx="1203">
                  <c:v>45769</c:v>
                </c:pt>
                <c:pt idx="1204">
                  <c:v>45770</c:v>
                </c:pt>
                <c:pt idx="1205">
                  <c:v>45771</c:v>
                </c:pt>
                <c:pt idx="1206">
                  <c:v>45772</c:v>
                </c:pt>
                <c:pt idx="1207">
                  <c:v>45775</c:v>
                </c:pt>
                <c:pt idx="1208">
                  <c:v>45776</c:v>
                </c:pt>
                <c:pt idx="1209">
                  <c:v>45777</c:v>
                </c:pt>
                <c:pt idx="1210">
                  <c:v>45778</c:v>
                </c:pt>
                <c:pt idx="1211">
                  <c:v>45779</c:v>
                </c:pt>
                <c:pt idx="1212">
                  <c:v>45783</c:v>
                </c:pt>
                <c:pt idx="1213">
                  <c:v>45784</c:v>
                </c:pt>
                <c:pt idx="1214">
                  <c:v>45785</c:v>
                </c:pt>
                <c:pt idx="1215">
                  <c:v>45786</c:v>
                </c:pt>
                <c:pt idx="1216">
                  <c:v>45789</c:v>
                </c:pt>
                <c:pt idx="1217">
                  <c:v>45790</c:v>
                </c:pt>
                <c:pt idx="1218">
                  <c:v>45791</c:v>
                </c:pt>
                <c:pt idx="1219">
                  <c:v>45792</c:v>
                </c:pt>
                <c:pt idx="1220">
                  <c:v>45793</c:v>
                </c:pt>
                <c:pt idx="1221">
                  <c:v>45796</c:v>
                </c:pt>
                <c:pt idx="1222">
                  <c:v>45797</c:v>
                </c:pt>
                <c:pt idx="1223">
                  <c:v>45798</c:v>
                </c:pt>
                <c:pt idx="1224">
                  <c:v>45799</c:v>
                </c:pt>
                <c:pt idx="1225">
                  <c:v>45800</c:v>
                </c:pt>
                <c:pt idx="1226">
                  <c:v>45803</c:v>
                </c:pt>
                <c:pt idx="1227">
                  <c:v>45804</c:v>
                </c:pt>
                <c:pt idx="1228">
                  <c:v>45805</c:v>
                </c:pt>
                <c:pt idx="1229">
                  <c:v>45806</c:v>
                </c:pt>
                <c:pt idx="1230">
                  <c:v>45807</c:v>
                </c:pt>
                <c:pt idx="1231">
                  <c:v>45811</c:v>
                </c:pt>
              </c:numCache>
            </c:numRef>
          </c:cat>
          <c:val>
            <c:numRef>
              <c:f>Sheet1!$B$2:$B$1233</c:f>
            </c:numRef>
          </c:val>
          <c:smooth val="0"/>
          <c:extLst>
            <c:ext xmlns:c16="http://schemas.microsoft.com/office/drawing/2014/chart" uri="{C3380CC4-5D6E-409C-BE32-E72D297353CC}">
              <c16:uniqueId val="{00000000-6E3A-4E7F-A676-2610DFB25496}"/>
            </c:ext>
          </c:extLst>
        </c:ser>
        <c:ser>
          <c:idx val="1"/>
          <c:order val="1"/>
          <c:tx>
            <c:strRef>
              <c:f>Sheet1!$C$1</c:f>
              <c:strCache>
                <c:ptCount val="1"/>
                <c:pt idx="0">
                  <c:v>Series 2</c:v>
                </c:pt>
              </c:strCache>
            </c:strRef>
          </c:tx>
          <c:spPr>
            <a:ln w="28575" cap="rnd">
              <a:solidFill>
                <a:schemeClr val="accent1"/>
              </a:solidFill>
              <a:round/>
            </a:ln>
            <a:effectLst/>
          </c:spPr>
          <c:marker>
            <c:symbol val="none"/>
          </c:marker>
          <c:dLbls>
            <c:dLbl>
              <c:idx val="1231"/>
              <c:layout>
                <c:manualLayout>
                  <c:x val="-6.9306813623793029E-3"/>
                  <c:y val="-0.10859991619848988"/>
                </c:manualLayout>
              </c:layout>
              <c:tx>
                <c:rich>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fld id="{12626641-16F9-4D01-8E88-9139B06064C6}" type="VALUE">
                      <a:rPr lang="en-US" sz="1000" smtClean="0">
                        <a:solidFill>
                          <a:schemeClr val="tx1"/>
                        </a:solidFill>
                      </a:rPr>
                      <a:pPr>
                        <a:defRPr sz="1000">
                          <a:solidFill>
                            <a:schemeClr val="tx1"/>
                          </a:solidFill>
                        </a:defRPr>
                      </a:pPr>
                      <a:t>[VALUE]</a:t>
                    </a:fld>
                    <a:r>
                      <a:rPr lang="en-US" sz="1000" dirty="0">
                        <a:solidFill>
                          <a:schemeClr val="tx1"/>
                        </a:solidFill>
                      </a:rPr>
                      <a:t>%</a:t>
                    </a:r>
                  </a:p>
                </c:rich>
              </c:tx>
              <c:numFmt formatCode="#,##0.00" sourceLinked="0"/>
              <c:spPr>
                <a:solidFill>
                  <a:schemeClr val="bg1">
                    <a:lumMod val="95000"/>
                  </a:schemeClr>
                </a:solid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CH"/>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6E3A-4E7F-A676-2610DFB25496}"/>
                </c:ext>
              </c:extLst>
            </c:dLbl>
            <c:numFmt formatCode="#,##0.00" sourceLinked="0"/>
            <c:spPr>
              <a:solidFill>
                <a:schemeClr val="bg1">
                  <a:lumMod val="95000"/>
                </a:schemeClr>
              </a:solid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CH"/>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Sheet1!$A$2:$A$1233</c:f>
              <c:numCache>
                <c:formatCode>m/d/yyyy</c:formatCode>
                <c:ptCount val="1232"/>
                <c:pt idx="0">
                  <c:v>44012</c:v>
                </c:pt>
                <c:pt idx="1">
                  <c:v>44013</c:v>
                </c:pt>
                <c:pt idx="2">
                  <c:v>44014</c:v>
                </c:pt>
                <c:pt idx="3">
                  <c:v>44015</c:v>
                </c:pt>
                <c:pt idx="4">
                  <c:v>44018</c:v>
                </c:pt>
                <c:pt idx="5">
                  <c:v>44019</c:v>
                </c:pt>
                <c:pt idx="6">
                  <c:v>44020</c:v>
                </c:pt>
                <c:pt idx="7">
                  <c:v>44021</c:v>
                </c:pt>
                <c:pt idx="8">
                  <c:v>44022</c:v>
                </c:pt>
                <c:pt idx="9">
                  <c:v>44025</c:v>
                </c:pt>
                <c:pt idx="10">
                  <c:v>44026</c:v>
                </c:pt>
                <c:pt idx="11">
                  <c:v>44027</c:v>
                </c:pt>
                <c:pt idx="12">
                  <c:v>44028</c:v>
                </c:pt>
                <c:pt idx="13">
                  <c:v>44029</c:v>
                </c:pt>
                <c:pt idx="14">
                  <c:v>44032</c:v>
                </c:pt>
                <c:pt idx="15">
                  <c:v>44033</c:v>
                </c:pt>
                <c:pt idx="16">
                  <c:v>44034</c:v>
                </c:pt>
                <c:pt idx="17">
                  <c:v>44035</c:v>
                </c:pt>
                <c:pt idx="18">
                  <c:v>44036</c:v>
                </c:pt>
                <c:pt idx="19">
                  <c:v>44039</c:v>
                </c:pt>
                <c:pt idx="20">
                  <c:v>44040</c:v>
                </c:pt>
                <c:pt idx="21">
                  <c:v>44041</c:v>
                </c:pt>
                <c:pt idx="22">
                  <c:v>44042</c:v>
                </c:pt>
                <c:pt idx="23">
                  <c:v>44043</c:v>
                </c:pt>
                <c:pt idx="24">
                  <c:v>44047</c:v>
                </c:pt>
                <c:pt idx="25">
                  <c:v>44048</c:v>
                </c:pt>
                <c:pt idx="26">
                  <c:v>44049</c:v>
                </c:pt>
                <c:pt idx="27">
                  <c:v>44050</c:v>
                </c:pt>
                <c:pt idx="28">
                  <c:v>44053</c:v>
                </c:pt>
                <c:pt idx="29">
                  <c:v>44054</c:v>
                </c:pt>
                <c:pt idx="30">
                  <c:v>44055</c:v>
                </c:pt>
                <c:pt idx="31">
                  <c:v>44056</c:v>
                </c:pt>
                <c:pt idx="32">
                  <c:v>44057</c:v>
                </c:pt>
                <c:pt idx="33">
                  <c:v>44060</c:v>
                </c:pt>
                <c:pt idx="34">
                  <c:v>44061</c:v>
                </c:pt>
                <c:pt idx="35">
                  <c:v>44062</c:v>
                </c:pt>
                <c:pt idx="36">
                  <c:v>44063</c:v>
                </c:pt>
                <c:pt idx="37">
                  <c:v>44064</c:v>
                </c:pt>
                <c:pt idx="38">
                  <c:v>44067</c:v>
                </c:pt>
                <c:pt idx="39">
                  <c:v>44068</c:v>
                </c:pt>
                <c:pt idx="40">
                  <c:v>44069</c:v>
                </c:pt>
                <c:pt idx="41">
                  <c:v>44070</c:v>
                </c:pt>
                <c:pt idx="42">
                  <c:v>44071</c:v>
                </c:pt>
                <c:pt idx="43">
                  <c:v>44074</c:v>
                </c:pt>
                <c:pt idx="44">
                  <c:v>44075</c:v>
                </c:pt>
                <c:pt idx="45">
                  <c:v>44076</c:v>
                </c:pt>
                <c:pt idx="46">
                  <c:v>44077</c:v>
                </c:pt>
                <c:pt idx="47">
                  <c:v>44078</c:v>
                </c:pt>
                <c:pt idx="48">
                  <c:v>44081</c:v>
                </c:pt>
                <c:pt idx="49">
                  <c:v>44082</c:v>
                </c:pt>
                <c:pt idx="50">
                  <c:v>44083</c:v>
                </c:pt>
                <c:pt idx="51">
                  <c:v>44084</c:v>
                </c:pt>
                <c:pt idx="52">
                  <c:v>44085</c:v>
                </c:pt>
                <c:pt idx="53">
                  <c:v>44088</c:v>
                </c:pt>
                <c:pt idx="54">
                  <c:v>44089</c:v>
                </c:pt>
                <c:pt idx="55">
                  <c:v>44090</c:v>
                </c:pt>
                <c:pt idx="56">
                  <c:v>44091</c:v>
                </c:pt>
                <c:pt idx="57">
                  <c:v>44092</c:v>
                </c:pt>
                <c:pt idx="58">
                  <c:v>44095</c:v>
                </c:pt>
                <c:pt idx="59">
                  <c:v>44096</c:v>
                </c:pt>
                <c:pt idx="60">
                  <c:v>44097</c:v>
                </c:pt>
                <c:pt idx="61">
                  <c:v>44098</c:v>
                </c:pt>
                <c:pt idx="62">
                  <c:v>44099</c:v>
                </c:pt>
                <c:pt idx="63">
                  <c:v>44102</c:v>
                </c:pt>
                <c:pt idx="64">
                  <c:v>44103</c:v>
                </c:pt>
                <c:pt idx="65">
                  <c:v>44104</c:v>
                </c:pt>
                <c:pt idx="66">
                  <c:v>44105</c:v>
                </c:pt>
                <c:pt idx="67">
                  <c:v>44106</c:v>
                </c:pt>
                <c:pt idx="68">
                  <c:v>44109</c:v>
                </c:pt>
                <c:pt idx="69">
                  <c:v>44110</c:v>
                </c:pt>
                <c:pt idx="70">
                  <c:v>44111</c:v>
                </c:pt>
                <c:pt idx="71">
                  <c:v>44112</c:v>
                </c:pt>
                <c:pt idx="72">
                  <c:v>44113</c:v>
                </c:pt>
                <c:pt idx="73">
                  <c:v>44116</c:v>
                </c:pt>
                <c:pt idx="74">
                  <c:v>44117</c:v>
                </c:pt>
                <c:pt idx="75">
                  <c:v>44118</c:v>
                </c:pt>
                <c:pt idx="76">
                  <c:v>44119</c:v>
                </c:pt>
                <c:pt idx="77">
                  <c:v>44120</c:v>
                </c:pt>
                <c:pt idx="78">
                  <c:v>44123</c:v>
                </c:pt>
                <c:pt idx="79">
                  <c:v>44124</c:v>
                </c:pt>
                <c:pt idx="80">
                  <c:v>44125</c:v>
                </c:pt>
                <c:pt idx="81">
                  <c:v>44126</c:v>
                </c:pt>
                <c:pt idx="82">
                  <c:v>44127</c:v>
                </c:pt>
                <c:pt idx="83">
                  <c:v>44131</c:v>
                </c:pt>
                <c:pt idx="84">
                  <c:v>44132</c:v>
                </c:pt>
                <c:pt idx="85">
                  <c:v>44133</c:v>
                </c:pt>
                <c:pt idx="86">
                  <c:v>44134</c:v>
                </c:pt>
                <c:pt idx="87">
                  <c:v>44137</c:v>
                </c:pt>
                <c:pt idx="88">
                  <c:v>44138</c:v>
                </c:pt>
                <c:pt idx="89">
                  <c:v>44139</c:v>
                </c:pt>
                <c:pt idx="90">
                  <c:v>44140</c:v>
                </c:pt>
                <c:pt idx="91">
                  <c:v>44141</c:v>
                </c:pt>
                <c:pt idx="92">
                  <c:v>44144</c:v>
                </c:pt>
                <c:pt idx="93">
                  <c:v>44145</c:v>
                </c:pt>
                <c:pt idx="94">
                  <c:v>44146</c:v>
                </c:pt>
                <c:pt idx="95">
                  <c:v>44147</c:v>
                </c:pt>
                <c:pt idx="96">
                  <c:v>44148</c:v>
                </c:pt>
                <c:pt idx="97">
                  <c:v>44151</c:v>
                </c:pt>
                <c:pt idx="98">
                  <c:v>44152</c:v>
                </c:pt>
                <c:pt idx="99">
                  <c:v>44153</c:v>
                </c:pt>
                <c:pt idx="100">
                  <c:v>44154</c:v>
                </c:pt>
                <c:pt idx="101">
                  <c:v>44155</c:v>
                </c:pt>
                <c:pt idx="102">
                  <c:v>44158</c:v>
                </c:pt>
                <c:pt idx="103">
                  <c:v>44159</c:v>
                </c:pt>
                <c:pt idx="104">
                  <c:v>44160</c:v>
                </c:pt>
                <c:pt idx="105">
                  <c:v>44161</c:v>
                </c:pt>
                <c:pt idx="106">
                  <c:v>44162</c:v>
                </c:pt>
                <c:pt idx="107">
                  <c:v>44165</c:v>
                </c:pt>
                <c:pt idx="108">
                  <c:v>44166</c:v>
                </c:pt>
                <c:pt idx="109">
                  <c:v>44167</c:v>
                </c:pt>
                <c:pt idx="110">
                  <c:v>44168</c:v>
                </c:pt>
                <c:pt idx="111">
                  <c:v>44169</c:v>
                </c:pt>
                <c:pt idx="112">
                  <c:v>44172</c:v>
                </c:pt>
                <c:pt idx="113">
                  <c:v>44173</c:v>
                </c:pt>
                <c:pt idx="114">
                  <c:v>44174</c:v>
                </c:pt>
                <c:pt idx="115">
                  <c:v>44175</c:v>
                </c:pt>
                <c:pt idx="116">
                  <c:v>44176</c:v>
                </c:pt>
                <c:pt idx="117">
                  <c:v>44179</c:v>
                </c:pt>
                <c:pt idx="118">
                  <c:v>44180</c:v>
                </c:pt>
                <c:pt idx="119">
                  <c:v>44181</c:v>
                </c:pt>
                <c:pt idx="120">
                  <c:v>44182</c:v>
                </c:pt>
                <c:pt idx="121">
                  <c:v>44183</c:v>
                </c:pt>
                <c:pt idx="122">
                  <c:v>44186</c:v>
                </c:pt>
                <c:pt idx="123">
                  <c:v>44187</c:v>
                </c:pt>
                <c:pt idx="124">
                  <c:v>44188</c:v>
                </c:pt>
                <c:pt idx="125">
                  <c:v>44189</c:v>
                </c:pt>
                <c:pt idx="126">
                  <c:v>44194</c:v>
                </c:pt>
                <c:pt idx="127">
                  <c:v>44195</c:v>
                </c:pt>
                <c:pt idx="128">
                  <c:v>44196</c:v>
                </c:pt>
                <c:pt idx="129">
                  <c:v>44200</c:v>
                </c:pt>
                <c:pt idx="130">
                  <c:v>44201</c:v>
                </c:pt>
                <c:pt idx="131">
                  <c:v>44202</c:v>
                </c:pt>
                <c:pt idx="132">
                  <c:v>44203</c:v>
                </c:pt>
                <c:pt idx="133">
                  <c:v>44204</c:v>
                </c:pt>
                <c:pt idx="134">
                  <c:v>44207</c:v>
                </c:pt>
                <c:pt idx="135">
                  <c:v>44208</c:v>
                </c:pt>
                <c:pt idx="136">
                  <c:v>44209</c:v>
                </c:pt>
                <c:pt idx="137">
                  <c:v>44210</c:v>
                </c:pt>
                <c:pt idx="138">
                  <c:v>44211</c:v>
                </c:pt>
                <c:pt idx="139">
                  <c:v>44214</c:v>
                </c:pt>
                <c:pt idx="140">
                  <c:v>44215</c:v>
                </c:pt>
                <c:pt idx="141">
                  <c:v>44216</c:v>
                </c:pt>
                <c:pt idx="142">
                  <c:v>44217</c:v>
                </c:pt>
                <c:pt idx="143">
                  <c:v>44218</c:v>
                </c:pt>
                <c:pt idx="144">
                  <c:v>44221</c:v>
                </c:pt>
                <c:pt idx="145">
                  <c:v>44222</c:v>
                </c:pt>
                <c:pt idx="146">
                  <c:v>44223</c:v>
                </c:pt>
                <c:pt idx="147">
                  <c:v>44224</c:v>
                </c:pt>
                <c:pt idx="148">
                  <c:v>44225</c:v>
                </c:pt>
                <c:pt idx="149">
                  <c:v>44228</c:v>
                </c:pt>
                <c:pt idx="150">
                  <c:v>44229</c:v>
                </c:pt>
                <c:pt idx="151">
                  <c:v>44230</c:v>
                </c:pt>
                <c:pt idx="152">
                  <c:v>44231</c:v>
                </c:pt>
                <c:pt idx="153">
                  <c:v>44232</c:v>
                </c:pt>
                <c:pt idx="154">
                  <c:v>44235</c:v>
                </c:pt>
                <c:pt idx="155">
                  <c:v>44236</c:v>
                </c:pt>
                <c:pt idx="156">
                  <c:v>44237</c:v>
                </c:pt>
                <c:pt idx="157">
                  <c:v>44238</c:v>
                </c:pt>
                <c:pt idx="158">
                  <c:v>44239</c:v>
                </c:pt>
                <c:pt idx="159">
                  <c:v>44242</c:v>
                </c:pt>
                <c:pt idx="160">
                  <c:v>44243</c:v>
                </c:pt>
                <c:pt idx="161">
                  <c:v>44244</c:v>
                </c:pt>
                <c:pt idx="162">
                  <c:v>44245</c:v>
                </c:pt>
                <c:pt idx="163">
                  <c:v>44246</c:v>
                </c:pt>
                <c:pt idx="164">
                  <c:v>44249</c:v>
                </c:pt>
                <c:pt idx="165">
                  <c:v>44250</c:v>
                </c:pt>
                <c:pt idx="166">
                  <c:v>44251</c:v>
                </c:pt>
                <c:pt idx="167">
                  <c:v>44252</c:v>
                </c:pt>
                <c:pt idx="168">
                  <c:v>44253</c:v>
                </c:pt>
                <c:pt idx="169">
                  <c:v>44256</c:v>
                </c:pt>
                <c:pt idx="170">
                  <c:v>44257</c:v>
                </c:pt>
                <c:pt idx="171">
                  <c:v>44258</c:v>
                </c:pt>
                <c:pt idx="172">
                  <c:v>44259</c:v>
                </c:pt>
                <c:pt idx="173">
                  <c:v>44260</c:v>
                </c:pt>
                <c:pt idx="174">
                  <c:v>44263</c:v>
                </c:pt>
                <c:pt idx="175">
                  <c:v>44264</c:v>
                </c:pt>
                <c:pt idx="176">
                  <c:v>44265</c:v>
                </c:pt>
                <c:pt idx="177">
                  <c:v>44266</c:v>
                </c:pt>
                <c:pt idx="178">
                  <c:v>44267</c:v>
                </c:pt>
                <c:pt idx="179">
                  <c:v>44270</c:v>
                </c:pt>
                <c:pt idx="180">
                  <c:v>44271</c:v>
                </c:pt>
                <c:pt idx="181">
                  <c:v>44273</c:v>
                </c:pt>
                <c:pt idx="182">
                  <c:v>44274</c:v>
                </c:pt>
                <c:pt idx="183">
                  <c:v>44277</c:v>
                </c:pt>
                <c:pt idx="184">
                  <c:v>44278</c:v>
                </c:pt>
                <c:pt idx="185">
                  <c:v>44279</c:v>
                </c:pt>
                <c:pt idx="186">
                  <c:v>44280</c:v>
                </c:pt>
                <c:pt idx="187">
                  <c:v>44281</c:v>
                </c:pt>
                <c:pt idx="188">
                  <c:v>44284</c:v>
                </c:pt>
                <c:pt idx="189">
                  <c:v>44285</c:v>
                </c:pt>
                <c:pt idx="190">
                  <c:v>44286</c:v>
                </c:pt>
                <c:pt idx="191">
                  <c:v>44287</c:v>
                </c:pt>
                <c:pt idx="192">
                  <c:v>44292</c:v>
                </c:pt>
                <c:pt idx="193">
                  <c:v>44293</c:v>
                </c:pt>
                <c:pt idx="194">
                  <c:v>44294</c:v>
                </c:pt>
                <c:pt idx="195">
                  <c:v>44295</c:v>
                </c:pt>
                <c:pt idx="196">
                  <c:v>44298</c:v>
                </c:pt>
                <c:pt idx="197">
                  <c:v>44299</c:v>
                </c:pt>
                <c:pt idx="198">
                  <c:v>44300</c:v>
                </c:pt>
                <c:pt idx="199">
                  <c:v>44301</c:v>
                </c:pt>
                <c:pt idx="200">
                  <c:v>44302</c:v>
                </c:pt>
                <c:pt idx="201">
                  <c:v>44305</c:v>
                </c:pt>
                <c:pt idx="202">
                  <c:v>44306</c:v>
                </c:pt>
                <c:pt idx="203">
                  <c:v>44307</c:v>
                </c:pt>
                <c:pt idx="204">
                  <c:v>44308</c:v>
                </c:pt>
                <c:pt idx="205">
                  <c:v>44309</c:v>
                </c:pt>
                <c:pt idx="206">
                  <c:v>44312</c:v>
                </c:pt>
                <c:pt idx="207">
                  <c:v>44313</c:v>
                </c:pt>
                <c:pt idx="208">
                  <c:v>44314</c:v>
                </c:pt>
                <c:pt idx="209">
                  <c:v>44315</c:v>
                </c:pt>
                <c:pt idx="210">
                  <c:v>44316</c:v>
                </c:pt>
                <c:pt idx="211">
                  <c:v>44320</c:v>
                </c:pt>
                <c:pt idx="212">
                  <c:v>44321</c:v>
                </c:pt>
                <c:pt idx="213">
                  <c:v>44322</c:v>
                </c:pt>
                <c:pt idx="214">
                  <c:v>44323</c:v>
                </c:pt>
                <c:pt idx="215">
                  <c:v>44326</c:v>
                </c:pt>
                <c:pt idx="216">
                  <c:v>44327</c:v>
                </c:pt>
                <c:pt idx="217">
                  <c:v>44328</c:v>
                </c:pt>
                <c:pt idx="218">
                  <c:v>44329</c:v>
                </c:pt>
                <c:pt idx="219">
                  <c:v>44330</c:v>
                </c:pt>
                <c:pt idx="220">
                  <c:v>44333</c:v>
                </c:pt>
                <c:pt idx="221">
                  <c:v>44334</c:v>
                </c:pt>
                <c:pt idx="222">
                  <c:v>44335</c:v>
                </c:pt>
                <c:pt idx="223">
                  <c:v>44336</c:v>
                </c:pt>
                <c:pt idx="224">
                  <c:v>44337</c:v>
                </c:pt>
                <c:pt idx="225">
                  <c:v>44340</c:v>
                </c:pt>
                <c:pt idx="226">
                  <c:v>44341</c:v>
                </c:pt>
                <c:pt idx="227">
                  <c:v>44342</c:v>
                </c:pt>
                <c:pt idx="228">
                  <c:v>44343</c:v>
                </c:pt>
                <c:pt idx="229">
                  <c:v>44344</c:v>
                </c:pt>
                <c:pt idx="230">
                  <c:v>44347</c:v>
                </c:pt>
                <c:pt idx="231">
                  <c:v>44348</c:v>
                </c:pt>
                <c:pt idx="232">
                  <c:v>44349</c:v>
                </c:pt>
                <c:pt idx="233">
                  <c:v>44350</c:v>
                </c:pt>
                <c:pt idx="234">
                  <c:v>44351</c:v>
                </c:pt>
                <c:pt idx="235">
                  <c:v>44355</c:v>
                </c:pt>
                <c:pt idx="236">
                  <c:v>44356</c:v>
                </c:pt>
                <c:pt idx="237">
                  <c:v>44357</c:v>
                </c:pt>
                <c:pt idx="238">
                  <c:v>44358</c:v>
                </c:pt>
                <c:pt idx="239">
                  <c:v>44361</c:v>
                </c:pt>
                <c:pt idx="240">
                  <c:v>44362</c:v>
                </c:pt>
                <c:pt idx="241">
                  <c:v>44363</c:v>
                </c:pt>
                <c:pt idx="242">
                  <c:v>44364</c:v>
                </c:pt>
                <c:pt idx="243">
                  <c:v>44365</c:v>
                </c:pt>
                <c:pt idx="244">
                  <c:v>44368</c:v>
                </c:pt>
                <c:pt idx="245">
                  <c:v>44369</c:v>
                </c:pt>
                <c:pt idx="246">
                  <c:v>44370</c:v>
                </c:pt>
                <c:pt idx="247">
                  <c:v>44371</c:v>
                </c:pt>
                <c:pt idx="248">
                  <c:v>44372</c:v>
                </c:pt>
                <c:pt idx="249">
                  <c:v>44375</c:v>
                </c:pt>
                <c:pt idx="250">
                  <c:v>44376</c:v>
                </c:pt>
                <c:pt idx="251">
                  <c:v>44377</c:v>
                </c:pt>
                <c:pt idx="252">
                  <c:v>44378</c:v>
                </c:pt>
                <c:pt idx="253">
                  <c:v>44379</c:v>
                </c:pt>
                <c:pt idx="254">
                  <c:v>44382</c:v>
                </c:pt>
                <c:pt idx="255">
                  <c:v>44383</c:v>
                </c:pt>
                <c:pt idx="256">
                  <c:v>44384</c:v>
                </c:pt>
                <c:pt idx="257">
                  <c:v>44385</c:v>
                </c:pt>
                <c:pt idx="258">
                  <c:v>44386</c:v>
                </c:pt>
                <c:pt idx="259">
                  <c:v>44389</c:v>
                </c:pt>
                <c:pt idx="260">
                  <c:v>44390</c:v>
                </c:pt>
                <c:pt idx="261">
                  <c:v>44391</c:v>
                </c:pt>
                <c:pt idx="262">
                  <c:v>44392</c:v>
                </c:pt>
                <c:pt idx="263">
                  <c:v>44393</c:v>
                </c:pt>
                <c:pt idx="264">
                  <c:v>44396</c:v>
                </c:pt>
                <c:pt idx="265">
                  <c:v>44397</c:v>
                </c:pt>
                <c:pt idx="266">
                  <c:v>44398</c:v>
                </c:pt>
                <c:pt idx="267">
                  <c:v>44399</c:v>
                </c:pt>
                <c:pt idx="268">
                  <c:v>44400</c:v>
                </c:pt>
                <c:pt idx="269">
                  <c:v>44403</c:v>
                </c:pt>
                <c:pt idx="270">
                  <c:v>44404</c:v>
                </c:pt>
                <c:pt idx="271">
                  <c:v>44405</c:v>
                </c:pt>
                <c:pt idx="272">
                  <c:v>44406</c:v>
                </c:pt>
                <c:pt idx="273">
                  <c:v>44407</c:v>
                </c:pt>
                <c:pt idx="274">
                  <c:v>44411</c:v>
                </c:pt>
                <c:pt idx="275">
                  <c:v>44412</c:v>
                </c:pt>
                <c:pt idx="276">
                  <c:v>44413</c:v>
                </c:pt>
                <c:pt idx="277">
                  <c:v>44414</c:v>
                </c:pt>
                <c:pt idx="278">
                  <c:v>44417</c:v>
                </c:pt>
                <c:pt idx="279">
                  <c:v>44418</c:v>
                </c:pt>
                <c:pt idx="280">
                  <c:v>44419</c:v>
                </c:pt>
                <c:pt idx="281">
                  <c:v>44420</c:v>
                </c:pt>
                <c:pt idx="282">
                  <c:v>44421</c:v>
                </c:pt>
                <c:pt idx="283">
                  <c:v>44424</c:v>
                </c:pt>
                <c:pt idx="284">
                  <c:v>44425</c:v>
                </c:pt>
                <c:pt idx="285">
                  <c:v>44426</c:v>
                </c:pt>
                <c:pt idx="286">
                  <c:v>44427</c:v>
                </c:pt>
                <c:pt idx="287">
                  <c:v>44428</c:v>
                </c:pt>
                <c:pt idx="288">
                  <c:v>44431</c:v>
                </c:pt>
                <c:pt idx="289">
                  <c:v>44432</c:v>
                </c:pt>
                <c:pt idx="290">
                  <c:v>44433</c:v>
                </c:pt>
                <c:pt idx="291">
                  <c:v>44434</c:v>
                </c:pt>
                <c:pt idx="292">
                  <c:v>44435</c:v>
                </c:pt>
                <c:pt idx="293">
                  <c:v>44438</c:v>
                </c:pt>
                <c:pt idx="294">
                  <c:v>44439</c:v>
                </c:pt>
                <c:pt idx="295">
                  <c:v>44440</c:v>
                </c:pt>
                <c:pt idx="296">
                  <c:v>44441</c:v>
                </c:pt>
                <c:pt idx="297">
                  <c:v>44442</c:v>
                </c:pt>
                <c:pt idx="298">
                  <c:v>44445</c:v>
                </c:pt>
                <c:pt idx="299">
                  <c:v>44446</c:v>
                </c:pt>
                <c:pt idx="300">
                  <c:v>44447</c:v>
                </c:pt>
                <c:pt idx="301">
                  <c:v>44448</c:v>
                </c:pt>
                <c:pt idx="302">
                  <c:v>44449</c:v>
                </c:pt>
                <c:pt idx="303">
                  <c:v>44452</c:v>
                </c:pt>
                <c:pt idx="304">
                  <c:v>44453</c:v>
                </c:pt>
                <c:pt idx="305">
                  <c:v>44454</c:v>
                </c:pt>
                <c:pt idx="306">
                  <c:v>44455</c:v>
                </c:pt>
                <c:pt idx="307">
                  <c:v>44456</c:v>
                </c:pt>
                <c:pt idx="308">
                  <c:v>44459</c:v>
                </c:pt>
                <c:pt idx="309">
                  <c:v>44460</c:v>
                </c:pt>
                <c:pt idx="310">
                  <c:v>44461</c:v>
                </c:pt>
                <c:pt idx="311">
                  <c:v>44462</c:v>
                </c:pt>
                <c:pt idx="312">
                  <c:v>44463</c:v>
                </c:pt>
                <c:pt idx="313">
                  <c:v>44466</c:v>
                </c:pt>
                <c:pt idx="314">
                  <c:v>44467</c:v>
                </c:pt>
                <c:pt idx="315">
                  <c:v>44468</c:v>
                </c:pt>
                <c:pt idx="316">
                  <c:v>44469</c:v>
                </c:pt>
                <c:pt idx="317">
                  <c:v>44470</c:v>
                </c:pt>
                <c:pt idx="318">
                  <c:v>44473</c:v>
                </c:pt>
                <c:pt idx="319">
                  <c:v>44474</c:v>
                </c:pt>
                <c:pt idx="320">
                  <c:v>44475</c:v>
                </c:pt>
                <c:pt idx="321">
                  <c:v>44476</c:v>
                </c:pt>
                <c:pt idx="322">
                  <c:v>44477</c:v>
                </c:pt>
                <c:pt idx="323">
                  <c:v>44480</c:v>
                </c:pt>
                <c:pt idx="324">
                  <c:v>44481</c:v>
                </c:pt>
                <c:pt idx="325">
                  <c:v>44482</c:v>
                </c:pt>
                <c:pt idx="326">
                  <c:v>44483</c:v>
                </c:pt>
                <c:pt idx="327">
                  <c:v>44484</c:v>
                </c:pt>
                <c:pt idx="328">
                  <c:v>44487</c:v>
                </c:pt>
                <c:pt idx="329">
                  <c:v>44488</c:v>
                </c:pt>
                <c:pt idx="330">
                  <c:v>44489</c:v>
                </c:pt>
                <c:pt idx="331">
                  <c:v>44490</c:v>
                </c:pt>
                <c:pt idx="332">
                  <c:v>44491</c:v>
                </c:pt>
                <c:pt idx="333">
                  <c:v>44495</c:v>
                </c:pt>
                <c:pt idx="334">
                  <c:v>44496</c:v>
                </c:pt>
                <c:pt idx="335">
                  <c:v>44497</c:v>
                </c:pt>
                <c:pt idx="336">
                  <c:v>44498</c:v>
                </c:pt>
                <c:pt idx="337">
                  <c:v>44501</c:v>
                </c:pt>
                <c:pt idx="338">
                  <c:v>44502</c:v>
                </c:pt>
                <c:pt idx="339">
                  <c:v>44503</c:v>
                </c:pt>
                <c:pt idx="340">
                  <c:v>44504</c:v>
                </c:pt>
                <c:pt idx="341">
                  <c:v>44505</c:v>
                </c:pt>
                <c:pt idx="342">
                  <c:v>44508</c:v>
                </c:pt>
                <c:pt idx="343">
                  <c:v>44509</c:v>
                </c:pt>
                <c:pt idx="344">
                  <c:v>44510</c:v>
                </c:pt>
                <c:pt idx="345">
                  <c:v>44511</c:v>
                </c:pt>
                <c:pt idx="346">
                  <c:v>44512</c:v>
                </c:pt>
                <c:pt idx="347">
                  <c:v>44515</c:v>
                </c:pt>
                <c:pt idx="348">
                  <c:v>44516</c:v>
                </c:pt>
                <c:pt idx="349">
                  <c:v>44517</c:v>
                </c:pt>
                <c:pt idx="350">
                  <c:v>44518</c:v>
                </c:pt>
                <c:pt idx="351">
                  <c:v>44519</c:v>
                </c:pt>
                <c:pt idx="352">
                  <c:v>44522</c:v>
                </c:pt>
                <c:pt idx="353">
                  <c:v>44523</c:v>
                </c:pt>
                <c:pt idx="354">
                  <c:v>44524</c:v>
                </c:pt>
                <c:pt idx="355">
                  <c:v>44525</c:v>
                </c:pt>
                <c:pt idx="356">
                  <c:v>44526</c:v>
                </c:pt>
                <c:pt idx="357">
                  <c:v>44529</c:v>
                </c:pt>
                <c:pt idx="358">
                  <c:v>44530</c:v>
                </c:pt>
                <c:pt idx="359">
                  <c:v>44531</c:v>
                </c:pt>
                <c:pt idx="360">
                  <c:v>44532</c:v>
                </c:pt>
                <c:pt idx="361">
                  <c:v>44533</c:v>
                </c:pt>
                <c:pt idx="362">
                  <c:v>44536</c:v>
                </c:pt>
                <c:pt idx="363">
                  <c:v>44537</c:v>
                </c:pt>
                <c:pt idx="364">
                  <c:v>44538</c:v>
                </c:pt>
                <c:pt idx="365">
                  <c:v>44539</c:v>
                </c:pt>
                <c:pt idx="366">
                  <c:v>44540</c:v>
                </c:pt>
                <c:pt idx="367">
                  <c:v>44543</c:v>
                </c:pt>
                <c:pt idx="368">
                  <c:v>44544</c:v>
                </c:pt>
                <c:pt idx="369">
                  <c:v>44545</c:v>
                </c:pt>
                <c:pt idx="370">
                  <c:v>44546</c:v>
                </c:pt>
                <c:pt idx="371">
                  <c:v>44547</c:v>
                </c:pt>
                <c:pt idx="372">
                  <c:v>44550</c:v>
                </c:pt>
                <c:pt idx="373">
                  <c:v>44551</c:v>
                </c:pt>
                <c:pt idx="374">
                  <c:v>44552</c:v>
                </c:pt>
                <c:pt idx="375">
                  <c:v>44553</c:v>
                </c:pt>
                <c:pt idx="376">
                  <c:v>44554</c:v>
                </c:pt>
                <c:pt idx="377">
                  <c:v>44559</c:v>
                </c:pt>
                <c:pt idx="378">
                  <c:v>44560</c:v>
                </c:pt>
                <c:pt idx="379">
                  <c:v>44561</c:v>
                </c:pt>
                <c:pt idx="380">
                  <c:v>44565</c:v>
                </c:pt>
                <c:pt idx="381">
                  <c:v>44566</c:v>
                </c:pt>
                <c:pt idx="382">
                  <c:v>44567</c:v>
                </c:pt>
                <c:pt idx="383">
                  <c:v>44568</c:v>
                </c:pt>
                <c:pt idx="384">
                  <c:v>44571</c:v>
                </c:pt>
                <c:pt idx="385">
                  <c:v>44572</c:v>
                </c:pt>
                <c:pt idx="386">
                  <c:v>44573</c:v>
                </c:pt>
                <c:pt idx="387">
                  <c:v>44574</c:v>
                </c:pt>
                <c:pt idx="388">
                  <c:v>44575</c:v>
                </c:pt>
                <c:pt idx="389">
                  <c:v>44578</c:v>
                </c:pt>
                <c:pt idx="390">
                  <c:v>44579</c:v>
                </c:pt>
                <c:pt idx="391">
                  <c:v>44580</c:v>
                </c:pt>
                <c:pt idx="392">
                  <c:v>44581</c:v>
                </c:pt>
                <c:pt idx="393">
                  <c:v>44582</c:v>
                </c:pt>
                <c:pt idx="394">
                  <c:v>44585</c:v>
                </c:pt>
                <c:pt idx="395">
                  <c:v>44586</c:v>
                </c:pt>
                <c:pt idx="396">
                  <c:v>44587</c:v>
                </c:pt>
                <c:pt idx="397">
                  <c:v>44588</c:v>
                </c:pt>
                <c:pt idx="398">
                  <c:v>44589</c:v>
                </c:pt>
                <c:pt idx="399">
                  <c:v>44592</c:v>
                </c:pt>
                <c:pt idx="400">
                  <c:v>44593</c:v>
                </c:pt>
                <c:pt idx="401">
                  <c:v>44594</c:v>
                </c:pt>
                <c:pt idx="402">
                  <c:v>44595</c:v>
                </c:pt>
                <c:pt idx="403">
                  <c:v>44596</c:v>
                </c:pt>
                <c:pt idx="404">
                  <c:v>44599</c:v>
                </c:pt>
                <c:pt idx="405">
                  <c:v>44600</c:v>
                </c:pt>
                <c:pt idx="406">
                  <c:v>44601</c:v>
                </c:pt>
                <c:pt idx="407">
                  <c:v>44602</c:v>
                </c:pt>
                <c:pt idx="408">
                  <c:v>44603</c:v>
                </c:pt>
                <c:pt idx="409">
                  <c:v>44606</c:v>
                </c:pt>
                <c:pt idx="410">
                  <c:v>44607</c:v>
                </c:pt>
                <c:pt idx="411">
                  <c:v>44608</c:v>
                </c:pt>
                <c:pt idx="412">
                  <c:v>44609</c:v>
                </c:pt>
                <c:pt idx="413">
                  <c:v>44610</c:v>
                </c:pt>
                <c:pt idx="414">
                  <c:v>44613</c:v>
                </c:pt>
                <c:pt idx="415">
                  <c:v>44614</c:v>
                </c:pt>
                <c:pt idx="416">
                  <c:v>44615</c:v>
                </c:pt>
                <c:pt idx="417">
                  <c:v>44616</c:v>
                </c:pt>
                <c:pt idx="418">
                  <c:v>44617</c:v>
                </c:pt>
                <c:pt idx="419">
                  <c:v>44620</c:v>
                </c:pt>
                <c:pt idx="420">
                  <c:v>44621</c:v>
                </c:pt>
                <c:pt idx="421">
                  <c:v>44622</c:v>
                </c:pt>
                <c:pt idx="422">
                  <c:v>44623</c:v>
                </c:pt>
                <c:pt idx="423">
                  <c:v>44624</c:v>
                </c:pt>
                <c:pt idx="424">
                  <c:v>44627</c:v>
                </c:pt>
                <c:pt idx="425">
                  <c:v>44628</c:v>
                </c:pt>
                <c:pt idx="426">
                  <c:v>44629</c:v>
                </c:pt>
                <c:pt idx="427">
                  <c:v>44630</c:v>
                </c:pt>
                <c:pt idx="428">
                  <c:v>44631</c:v>
                </c:pt>
                <c:pt idx="429">
                  <c:v>44634</c:v>
                </c:pt>
                <c:pt idx="430">
                  <c:v>44635</c:v>
                </c:pt>
                <c:pt idx="431">
                  <c:v>44636</c:v>
                </c:pt>
                <c:pt idx="432">
                  <c:v>44641</c:v>
                </c:pt>
                <c:pt idx="433">
                  <c:v>44642</c:v>
                </c:pt>
                <c:pt idx="434">
                  <c:v>44643</c:v>
                </c:pt>
                <c:pt idx="435">
                  <c:v>44644</c:v>
                </c:pt>
                <c:pt idx="436">
                  <c:v>44645</c:v>
                </c:pt>
                <c:pt idx="437">
                  <c:v>44648</c:v>
                </c:pt>
                <c:pt idx="438">
                  <c:v>44649</c:v>
                </c:pt>
                <c:pt idx="439">
                  <c:v>44650</c:v>
                </c:pt>
                <c:pt idx="440">
                  <c:v>44651</c:v>
                </c:pt>
                <c:pt idx="441">
                  <c:v>44652</c:v>
                </c:pt>
                <c:pt idx="442">
                  <c:v>44655</c:v>
                </c:pt>
                <c:pt idx="443">
                  <c:v>44656</c:v>
                </c:pt>
                <c:pt idx="444">
                  <c:v>44657</c:v>
                </c:pt>
                <c:pt idx="445">
                  <c:v>44658</c:v>
                </c:pt>
                <c:pt idx="446">
                  <c:v>44659</c:v>
                </c:pt>
                <c:pt idx="447">
                  <c:v>44662</c:v>
                </c:pt>
                <c:pt idx="448">
                  <c:v>44663</c:v>
                </c:pt>
                <c:pt idx="449">
                  <c:v>44664</c:v>
                </c:pt>
                <c:pt idx="450">
                  <c:v>44665</c:v>
                </c:pt>
                <c:pt idx="451">
                  <c:v>44670</c:v>
                </c:pt>
                <c:pt idx="452">
                  <c:v>44671</c:v>
                </c:pt>
                <c:pt idx="453">
                  <c:v>44672</c:v>
                </c:pt>
                <c:pt idx="454">
                  <c:v>44673</c:v>
                </c:pt>
                <c:pt idx="455">
                  <c:v>44676</c:v>
                </c:pt>
                <c:pt idx="456">
                  <c:v>44677</c:v>
                </c:pt>
                <c:pt idx="457">
                  <c:v>44678</c:v>
                </c:pt>
                <c:pt idx="458">
                  <c:v>44679</c:v>
                </c:pt>
                <c:pt idx="459">
                  <c:v>44680</c:v>
                </c:pt>
                <c:pt idx="460">
                  <c:v>44684</c:v>
                </c:pt>
                <c:pt idx="461">
                  <c:v>44685</c:v>
                </c:pt>
                <c:pt idx="462">
                  <c:v>44686</c:v>
                </c:pt>
                <c:pt idx="463">
                  <c:v>44687</c:v>
                </c:pt>
                <c:pt idx="464">
                  <c:v>44690</c:v>
                </c:pt>
                <c:pt idx="465">
                  <c:v>44691</c:v>
                </c:pt>
                <c:pt idx="466">
                  <c:v>44692</c:v>
                </c:pt>
                <c:pt idx="467">
                  <c:v>44693</c:v>
                </c:pt>
                <c:pt idx="468">
                  <c:v>44694</c:v>
                </c:pt>
                <c:pt idx="469">
                  <c:v>44697</c:v>
                </c:pt>
                <c:pt idx="470">
                  <c:v>44698</c:v>
                </c:pt>
                <c:pt idx="471">
                  <c:v>44699</c:v>
                </c:pt>
                <c:pt idx="472">
                  <c:v>44700</c:v>
                </c:pt>
                <c:pt idx="473">
                  <c:v>44701</c:v>
                </c:pt>
                <c:pt idx="474">
                  <c:v>44704</c:v>
                </c:pt>
                <c:pt idx="475">
                  <c:v>44705</c:v>
                </c:pt>
                <c:pt idx="476">
                  <c:v>44706</c:v>
                </c:pt>
                <c:pt idx="477">
                  <c:v>44707</c:v>
                </c:pt>
                <c:pt idx="478">
                  <c:v>44708</c:v>
                </c:pt>
                <c:pt idx="479">
                  <c:v>44711</c:v>
                </c:pt>
                <c:pt idx="480">
                  <c:v>44712</c:v>
                </c:pt>
                <c:pt idx="481">
                  <c:v>44713</c:v>
                </c:pt>
                <c:pt idx="482">
                  <c:v>44714</c:v>
                </c:pt>
                <c:pt idx="483">
                  <c:v>44715</c:v>
                </c:pt>
                <c:pt idx="484">
                  <c:v>44719</c:v>
                </c:pt>
                <c:pt idx="485">
                  <c:v>44720</c:v>
                </c:pt>
                <c:pt idx="486">
                  <c:v>44721</c:v>
                </c:pt>
                <c:pt idx="487">
                  <c:v>44722</c:v>
                </c:pt>
                <c:pt idx="488">
                  <c:v>44725</c:v>
                </c:pt>
                <c:pt idx="489">
                  <c:v>44726</c:v>
                </c:pt>
                <c:pt idx="490">
                  <c:v>44727</c:v>
                </c:pt>
                <c:pt idx="491">
                  <c:v>44728</c:v>
                </c:pt>
                <c:pt idx="492">
                  <c:v>44729</c:v>
                </c:pt>
                <c:pt idx="493">
                  <c:v>44732</c:v>
                </c:pt>
                <c:pt idx="494">
                  <c:v>44733</c:v>
                </c:pt>
                <c:pt idx="495">
                  <c:v>44734</c:v>
                </c:pt>
                <c:pt idx="496">
                  <c:v>44735</c:v>
                </c:pt>
                <c:pt idx="497">
                  <c:v>44736</c:v>
                </c:pt>
                <c:pt idx="498">
                  <c:v>44739</c:v>
                </c:pt>
                <c:pt idx="499">
                  <c:v>44740</c:v>
                </c:pt>
                <c:pt idx="500">
                  <c:v>44741</c:v>
                </c:pt>
                <c:pt idx="501">
                  <c:v>44742</c:v>
                </c:pt>
                <c:pt idx="502">
                  <c:v>44743</c:v>
                </c:pt>
                <c:pt idx="503">
                  <c:v>44746</c:v>
                </c:pt>
                <c:pt idx="504">
                  <c:v>44747</c:v>
                </c:pt>
                <c:pt idx="505">
                  <c:v>44748</c:v>
                </c:pt>
                <c:pt idx="506">
                  <c:v>44749</c:v>
                </c:pt>
                <c:pt idx="507">
                  <c:v>44750</c:v>
                </c:pt>
                <c:pt idx="508">
                  <c:v>44753</c:v>
                </c:pt>
                <c:pt idx="509">
                  <c:v>44754</c:v>
                </c:pt>
                <c:pt idx="510">
                  <c:v>44755</c:v>
                </c:pt>
                <c:pt idx="511">
                  <c:v>44756</c:v>
                </c:pt>
                <c:pt idx="512">
                  <c:v>44757</c:v>
                </c:pt>
                <c:pt idx="513">
                  <c:v>44760</c:v>
                </c:pt>
                <c:pt idx="514">
                  <c:v>44761</c:v>
                </c:pt>
                <c:pt idx="515">
                  <c:v>44762</c:v>
                </c:pt>
                <c:pt idx="516">
                  <c:v>44763</c:v>
                </c:pt>
                <c:pt idx="517">
                  <c:v>44764</c:v>
                </c:pt>
                <c:pt idx="518">
                  <c:v>44767</c:v>
                </c:pt>
                <c:pt idx="519">
                  <c:v>44768</c:v>
                </c:pt>
                <c:pt idx="520">
                  <c:v>44769</c:v>
                </c:pt>
                <c:pt idx="521">
                  <c:v>44770</c:v>
                </c:pt>
                <c:pt idx="522">
                  <c:v>44771</c:v>
                </c:pt>
                <c:pt idx="523">
                  <c:v>44775</c:v>
                </c:pt>
                <c:pt idx="524">
                  <c:v>44776</c:v>
                </c:pt>
                <c:pt idx="525">
                  <c:v>44777</c:v>
                </c:pt>
                <c:pt idx="526">
                  <c:v>44778</c:v>
                </c:pt>
                <c:pt idx="527">
                  <c:v>44781</c:v>
                </c:pt>
                <c:pt idx="528">
                  <c:v>44782</c:v>
                </c:pt>
                <c:pt idx="529">
                  <c:v>44783</c:v>
                </c:pt>
                <c:pt idx="530">
                  <c:v>44784</c:v>
                </c:pt>
                <c:pt idx="531">
                  <c:v>44785</c:v>
                </c:pt>
                <c:pt idx="532">
                  <c:v>44788</c:v>
                </c:pt>
                <c:pt idx="533">
                  <c:v>44789</c:v>
                </c:pt>
                <c:pt idx="534">
                  <c:v>44790</c:v>
                </c:pt>
                <c:pt idx="535">
                  <c:v>44791</c:v>
                </c:pt>
                <c:pt idx="536">
                  <c:v>44792</c:v>
                </c:pt>
                <c:pt idx="537">
                  <c:v>44795</c:v>
                </c:pt>
                <c:pt idx="538">
                  <c:v>44796</c:v>
                </c:pt>
                <c:pt idx="539">
                  <c:v>44797</c:v>
                </c:pt>
                <c:pt idx="540">
                  <c:v>44798</c:v>
                </c:pt>
                <c:pt idx="541">
                  <c:v>44799</c:v>
                </c:pt>
                <c:pt idx="542">
                  <c:v>44802</c:v>
                </c:pt>
                <c:pt idx="543">
                  <c:v>44803</c:v>
                </c:pt>
                <c:pt idx="544">
                  <c:v>44804</c:v>
                </c:pt>
                <c:pt idx="545">
                  <c:v>44805</c:v>
                </c:pt>
                <c:pt idx="546">
                  <c:v>44806</c:v>
                </c:pt>
                <c:pt idx="547">
                  <c:v>44809</c:v>
                </c:pt>
                <c:pt idx="548">
                  <c:v>44810</c:v>
                </c:pt>
                <c:pt idx="549">
                  <c:v>44811</c:v>
                </c:pt>
                <c:pt idx="550">
                  <c:v>44812</c:v>
                </c:pt>
                <c:pt idx="551">
                  <c:v>44813</c:v>
                </c:pt>
                <c:pt idx="552">
                  <c:v>44816</c:v>
                </c:pt>
                <c:pt idx="553">
                  <c:v>44817</c:v>
                </c:pt>
                <c:pt idx="554">
                  <c:v>44818</c:v>
                </c:pt>
                <c:pt idx="555">
                  <c:v>44819</c:v>
                </c:pt>
                <c:pt idx="556">
                  <c:v>44820</c:v>
                </c:pt>
                <c:pt idx="557">
                  <c:v>44823</c:v>
                </c:pt>
                <c:pt idx="558">
                  <c:v>44824</c:v>
                </c:pt>
                <c:pt idx="559">
                  <c:v>44825</c:v>
                </c:pt>
                <c:pt idx="560">
                  <c:v>44826</c:v>
                </c:pt>
                <c:pt idx="561">
                  <c:v>44827</c:v>
                </c:pt>
                <c:pt idx="562">
                  <c:v>44830</c:v>
                </c:pt>
                <c:pt idx="563">
                  <c:v>44831</c:v>
                </c:pt>
                <c:pt idx="564">
                  <c:v>44832</c:v>
                </c:pt>
                <c:pt idx="565">
                  <c:v>44833</c:v>
                </c:pt>
                <c:pt idx="566">
                  <c:v>44834</c:v>
                </c:pt>
                <c:pt idx="567">
                  <c:v>44837</c:v>
                </c:pt>
                <c:pt idx="568">
                  <c:v>44838</c:v>
                </c:pt>
                <c:pt idx="569">
                  <c:v>44839</c:v>
                </c:pt>
                <c:pt idx="570">
                  <c:v>44840</c:v>
                </c:pt>
                <c:pt idx="571">
                  <c:v>44841</c:v>
                </c:pt>
                <c:pt idx="572">
                  <c:v>44844</c:v>
                </c:pt>
                <c:pt idx="573">
                  <c:v>44845</c:v>
                </c:pt>
                <c:pt idx="574">
                  <c:v>44846</c:v>
                </c:pt>
                <c:pt idx="575">
                  <c:v>44847</c:v>
                </c:pt>
                <c:pt idx="576">
                  <c:v>44848</c:v>
                </c:pt>
                <c:pt idx="577">
                  <c:v>44851</c:v>
                </c:pt>
                <c:pt idx="578">
                  <c:v>44852</c:v>
                </c:pt>
                <c:pt idx="579">
                  <c:v>44853</c:v>
                </c:pt>
                <c:pt idx="580">
                  <c:v>44854</c:v>
                </c:pt>
                <c:pt idx="581">
                  <c:v>44855</c:v>
                </c:pt>
                <c:pt idx="582">
                  <c:v>44858</c:v>
                </c:pt>
                <c:pt idx="583">
                  <c:v>44859</c:v>
                </c:pt>
                <c:pt idx="584">
                  <c:v>44860</c:v>
                </c:pt>
                <c:pt idx="585">
                  <c:v>44861</c:v>
                </c:pt>
                <c:pt idx="586">
                  <c:v>44862</c:v>
                </c:pt>
                <c:pt idx="587">
                  <c:v>44866</c:v>
                </c:pt>
                <c:pt idx="588">
                  <c:v>44867</c:v>
                </c:pt>
                <c:pt idx="589">
                  <c:v>44868</c:v>
                </c:pt>
                <c:pt idx="590">
                  <c:v>44869</c:v>
                </c:pt>
                <c:pt idx="591">
                  <c:v>44872</c:v>
                </c:pt>
                <c:pt idx="592">
                  <c:v>44873</c:v>
                </c:pt>
                <c:pt idx="593">
                  <c:v>44874</c:v>
                </c:pt>
                <c:pt idx="594">
                  <c:v>44875</c:v>
                </c:pt>
                <c:pt idx="595">
                  <c:v>44876</c:v>
                </c:pt>
                <c:pt idx="596">
                  <c:v>44879</c:v>
                </c:pt>
                <c:pt idx="597">
                  <c:v>44880</c:v>
                </c:pt>
                <c:pt idx="598">
                  <c:v>44881</c:v>
                </c:pt>
                <c:pt idx="599">
                  <c:v>44882</c:v>
                </c:pt>
                <c:pt idx="600">
                  <c:v>44883</c:v>
                </c:pt>
                <c:pt idx="601">
                  <c:v>44886</c:v>
                </c:pt>
                <c:pt idx="602">
                  <c:v>44887</c:v>
                </c:pt>
                <c:pt idx="603">
                  <c:v>44888</c:v>
                </c:pt>
                <c:pt idx="604">
                  <c:v>44889</c:v>
                </c:pt>
                <c:pt idx="605">
                  <c:v>44890</c:v>
                </c:pt>
                <c:pt idx="606">
                  <c:v>44893</c:v>
                </c:pt>
                <c:pt idx="607">
                  <c:v>44894</c:v>
                </c:pt>
                <c:pt idx="608">
                  <c:v>44895</c:v>
                </c:pt>
                <c:pt idx="609">
                  <c:v>44896</c:v>
                </c:pt>
                <c:pt idx="610">
                  <c:v>44897</c:v>
                </c:pt>
                <c:pt idx="611">
                  <c:v>44900</c:v>
                </c:pt>
                <c:pt idx="612">
                  <c:v>44901</c:v>
                </c:pt>
                <c:pt idx="613">
                  <c:v>44902</c:v>
                </c:pt>
                <c:pt idx="614">
                  <c:v>44903</c:v>
                </c:pt>
                <c:pt idx="615">
                  <c:v>44904</c:v>
                </c:pt>
                <c:pt idx="616">
                  <c:v>44907</c:v>
                </c:pt>
                <c:pt idx="617">
                  <c:v>44908</c:v>
                </c:pt>
                <c:pt idx="618">
                  <c:v>44909</c:v>
                </c:pt>
                <c:pt idx="619">
                  <c:v>44910</c:v>
                </c:pt>
                <c:pt idx="620">
                  <c:v>44911</c:v>
                </c:pt>
                <c:pt idx="621">
                  <c:v>44914</c:v>
                </c:pt>
                <c:pt idx="622">
                  <c:v>44915</c:v>
                </c:pt>
                <c:pt idx="623">
                  <c:v>44916</c:v>
                </c:pt>
                <c:pt idx="624">
                  <c:v>44917</c:v>
                </c:pt>
                <c:pt idx="625">
                  <c:v>44918</c:v>
                </c:pt>
                <c:pt idx="626">
                  <c:v>44923</c:v>
                </c:pt>
                <c:pt idx="627">
                  <c:v>44924</c:v>
                </c:pt>
                <c:pt idx="628">
                  <c:v>44925</c:v>
                </c:pt>
                <c:pt idx="629">
                  <c:v>44929</c:v>
                </c:pt>
                <c:pt idx="630">
                  <c:v>44930</c:v>
                </c:pt>
                <c:pt idx="631">
                  <c:v>44931</c:v>
                </c:pt>
                <c:pt idx="632">
                  <c:v>44932</c:v>
                </c:pt>
                <c:pt idx="633">
                  <c:v>44935</c:v>
                </c:pt>
                <c:pt idx="634">
                  <c:v>44936</c:v>
                </c:pt>
                <c:pt idx="635">
                  <c:v>44937</c:v>
                </c:pt>
                <c:pt idx="636">
                  <c:v>44938</c:v>
                </c:pt>
                <c:pt idx="637">
                  <c:v>44939</c:v>
                </c:pt>
                <c:pt idx="638">
                  <c:v>44942</c:v>
                </c:pt>
                <c:pt idx="639">
                  <c:v>44943</c:v>
                </c:pt>
                <c:pt idx="640">
                  <c:v>44944</c:v>
                </c:pt>
                <c:pt idx="641">
                  <c:v>44945</c:v>
                </c:pt>
                <c:pt idx="642">
                  <c:v>44946</c:v>
                </c:pt>
                <c:pt idx="643">
                  <c:v>44949</c:v>
                </c:pt>
                <c:pt idx="644">
                  <c:v>44950</c:v>
                </c:pt>
                <c:pt idx="645">
                  <c:v>44951</c:v>
                </c:pt>
                <c:pt idx="646">
                  <c:v>44952</c:v>
                </c:pt>
                <c:pt idx="647">
                  <c:v>44953</c:v>
                </c:pt>
                <c:pt idx="648">
                  <c:v>44956</c:v>
                </c:pt>
                <c:pt idx="649">
                  <c:v>44957</c:v>
                </c:pt>
                <c:pt idx="650">
                  <c:v>44958</c:v>
                </c:pt>
                <c:pt idx="651">
                  <c:v>44959</c:v>
                </c:pt>
                <c:pt idx="652">
                  <c:v>44960</c:v>
                </c:pt>
                <c:pt idx="653">
                  <c:v>44964</c:v>
                </c:pt>
                <c:pt idx="654">
                  <c:v>44965</c:v>
                </c:pt>
                <c:pt idx="655">
                  <c:v>44966</c:v>
                </c:pt>
                <c:pt idx="656">
                  <c:v>44967</c:v>
                </c:pt>
                <c:pt idx="657">
                  <c:v>44970</c:v>
                </c:pt>
                <c:pt idx="658">
                  <c:v>44971</c:v>
                </c:pt>
                <c:pt idx="659">
                  <c:v>44972</c:v>
                </c:pt>
                <c:pt idx="660">
                  <c:v>44973</c:v>
                </c:pt>
                <c:pt idx="661">
                  <c:v>44974</c:v>
                </c:pt>
                <c:pt idx="662">
                  <c:v>44977</c:v>
                </c:pt>
                <c:pt idx="663">
                  <c:v>44978</c:v>
                </c:pt>
                <c:pt idx="664">
                  <c:v>44979</c:v>
                </c:pt>
                <c:pt idx="665">
                  <c:v>44980</c:v>
                </c:pt>
                <c:pt idx="666">
                  <c:v>44981</c:v>
                </c:pt>
                <c:pt idx="667">
                  <c:v>44984</c:v>
                </c:pt>
                <c:pt idx="668">
                  <c:v>44985</c:v>
                </c:pt>
                <c:pt idx="669">
                  <c:v>44986</c:v>
                </c:pt>
                <c:pt idx="670">
                  <c:v>44987</c:v>
                </c:pt>
                <c:pt idx="671">
                  <c:v>44988</c:v>
                </c:pt>
                <c:pt idx="672">
                  <c:v>44991</c:v>
                </c:pt>
                <c:pt idx="673">
                  <c:v>44992</c:v>
                </c:pt>
                <c:pt idx="674">
                  <c:v>44993</c:v>
                </c:pt>
                <c:pt idx="675">
                  <c:v>44994</c:v>
                </c:pt>
                <c:pt idx="676">
                  <c:v>44995</c:v>
                </c:pt>
                <c:pt idx="677">
                  <c:v>44998</c:v>
                </c:pt>
                <c:pt idx="678">
                  <c:v>44999</c:v>
                </c:pt>
                <c:pt idx="679">
                  <c:v>45000</c:v>
                </c:pt>
                <c:pt idx="680">
                  <c:v>45001</c:v>
                </c:pt>
                <c:pt idx="681">
                  <c:v>45005</c:v>
                </c:pt>
                <c:pt idx="682">
                  <c:v>45006</c:v>
                </c:pt>
                <c:pt idx="683">
                  <c:v>45007</c:v>
                </c:pt>
                <c:pt idx="684">
                  <c:v>45008</c:v>
                </c:pt>
                <c:pt idx="685">
                  <c:v>45009</c:v>
                </c:pt>
                <c:pt idx="686">
                  <c:v>45012</c:v>
                </c:pt>
                <c:pt idx="687">
                  <c:v>45013</c:v>
                </c:pt>
                <c:pt idx="688">
                  <c:v>45014</c:v>
                </c:pt>
                <c:pt idx="689">
                  <c:v>45015</c:v>
                </c:pt>
                <c:pt idx="690">
                  <c:v>45016</c:v>
                </c:pt>
                <c:pt idx="691">
                  <c:v>45019</c:v>
                </c:pt>
                <c:pt idx="692">
                  <c:v>45020</c:v>
                </c:pt>
                <c:pt idx="693">
                  <c:v>45021</c:v>
                </c:pt>
                <c:pt idx="694">
                  <c:v>45022</c:v>
                </c:pt>
                <c:pt idx="695">
                  <c:v>45027</c:v>
                </c:pt>
                <c:pt idx="696">
                  <c:v>45028</c:v>
                </c:pt>
                <c:pt idx="697">
                  <c:v>45029</c:v>
                </c:pt>
                <c:pt idx="698">
                  <c:v>45030</c:v>
                </c:pt>
                <c:pt idx="699">
                  <c:v>45033</c:v>
                </c:pt>
                <c:pt idx="700">
                  <c:v>45034</c:v>
                </c:pt>
                <c:pt idx="701">
                  <c:v>45035</c:v>
                </c:pt>
                <c:pt idx="702">
                  <c:v>45036</c:v>
                </c:pt>
                <c:pt idx="703">
                  <c:v>45037</c:v>
                </c:pt>
                <c:pt idx="704">
                  <c:v>45040</c:v>
                </c:pt>
                <c:pt idx="705">
                  <c:v>45041</c:v>
                </c:pt>
                <c:pt idx="706">
                  <c:v>45042</c:v>
                </c:pt>
                <c:pt idx="707">
                  <c:v>45043</c:v>
                </c:pt>
                <c:pt idx="708">
                  <c:v>45044</c:v>
                </c:pt>
                <c:pt idx="709">
                  <c:v>45048</c:v>
                </c:pt>
                <c:pt idx="710">
                  <c:v>45049</c:v>
                </c:pt>
                <c:pt idx="711">
                  <c:v>45050</c:v>
                </c:pt>
                <c:pt idx="712">
                  <c:v>45051</c:v>
                </c:pt>
                <c:pt idx="713">
                  <c:v>45054</c:v>
                </c:pt>
                <c:pt idx="714">
                  <c:v>45055</c:v>
                </c:pt>
                <c:pt idx="715">
                  <c:v>45056</c:v>
                </c:pt>
                <c:pt idx="716">
                  <c:v>45057</c:v>
                </c:pt>
                <c:pt idx="717">
                  <c:v>45058</c:v>
                </c:pt>
                <c:pt idx="718">
                  <c:v>45061</c:v>
                </c:pt>
                <c:pt idx="719">
                  <c:v>45062</c:v>
                </c:pt>
                <c:pt idx="720">
                  <c:v>45063</c:v>
                </c:pt>
                <c:pt idx="721">
                  <c:v>45064</c:v>
                </c:pt>
                <c:pt idx="722">
                  <c:v>45065</c:v>
                </c:pt>
                <c:pt idx="723">
                  <c:v>45068</c:v>
                </c:pt>
                <c:pt idx="724">
                  <c:v>45069</c:v>
                </c:pt>
                <c:pt idx="725">
                  <c:v>45070</c:v>
                </c:pt>
                <c:pt idx="726">
                  <c:v>45071</c:v>
                </c:pt>
                <c:pt idx="727">
                  <c:v>45072</c:v>
                </c:pt>
                <c:pt idx="728">
                  <c:v>45075</c:v>
                </c:pt>
                <c:pt idx="729">
                  <c:v>45076</c:v>
                </c:pt>
                <c:pt idx="730">
                  <c:v>45077</c:v>
                </c:pt>
                <c:pt idx="731">
                  <c:v>45078</c:v>
                </c:pt>
                <c:pt idx="732">
                  <c:v>45079</c:v>
                </c:pt>
                <c:pt idx="733">
                  <c:v>45083</c:v>
                </c:pt>
                <c:pt idx="734">
                  <c:v>45084</c:v>
                </c:pt>
                <c:pt idx="735">
                  <c:v>45085</c:v>
                </c:pt>
                <c:pt idx="736">
                  <c:v>45086</c:v>
                </c:pt>
                <c:pt idx="737">
                  <c:v>45089</c:v>
                </c:pt>
                <c:pt idx="738">
                  <c:v>45090</c:v>
                </c:pt>
                <c:pt idx="739">
                  <c:v>45091</c:v>
                </c:pt>
                <c:pt idx="740">
                  <c:v>45092</c:v>
                </c:pt>
                <c:pt idx="741">
                  <c:v>45093</c:v>
                </c:pt>
                <c:pt idx="742">
                  <c:v>45096</c:v>
                </c:pt>
                <c:pt idx="743">
                  <c:v>45097</c:v>
                </c:pt>
                <c:pt idx="744">
                  <c:v>45098</c:v>
                </c:pt>
                <c:pt idx="745">
                  <c:v>45099</c:v>
                </c:pt>
                <c:pt idx="746">
                  <c:v>45100</c:v>
                </c:pt>
                <c:pt idx="747">
                  <c:v>45103</c:v>
                </c:pt>
                <c:pt idx="748">
                  <c:v>45104</c:v>
                </c:pt>
                <c:pt idx="749">
                  <c:v>45105</c:v>
                </c:pt>
                <c:pt idx="750">
                  <c:v>45106</c:v>
                </c:pt>
                <c:pt idx="751">
                  <c:v>45107</c:v>
                </c:pt>
                <c:pt idx="752">
                  <c:v>45110</c:v>
                </c:pt>
                <c:pt idx="753">
                  <c:v>45111</c:v>
                </c:pt>
                <c:pt idx="754">
                  <c:v>45112</c:v>
                </c:pt>
                <c:pt idx="755">
                  <c:v>45113</c:v>
                </c:pt>
                <c:pt idx="756">
                  <c:v>45114</c:v>
                </c:pt>
                <c:pt idx="757">
                  <c:v>45117</c:v>
                </c:pt>
                <c:pt idx="758">
                  <c:v>45118</c:v>
                </c:pt>
                <c:pt idx="759">
                  <c:v>45119</c:v>
                </c:pt>
                <c:pt idx="760">
                  <c:v>45120</c:v>
                </c:pt>
                <c:pt idx="761">
                  <c:v>45121</c:v>
                </c:pt>
                <c:pt idx="762">
                  <c:v>45124</c:v>
                </c:pt>
                <c:pt idx="763">
                  <c:v>45125</c:v>
                </c:pt>
                <c:pt idx="764">
                  <c:v>45126</c:v>
                </c:pt>
                <c:pt idx="765">
                  <c:v>45127</c:v>
                </c:pt>
                <c:pt idx="766">
                  <c:v>45128</c:v>
                </c:pt>
                <c:pt idx="767">
                  <c:v>45131</c:v>
                </c:pt>
                <c:pt idx="768">
                  <c:v>45132</c:v>
                </c:pt>
                <c:pt idx="769">
                  <c:v>45133</c:v>
                </c:pt>
                <c:pt idx="770">
                  <c:v>45134</c:v>
                </c:pt>
                <c:pt idx="771">
                  <c:v>45135</c:v>
                </c:pt>
                <c:pt idx="772">
                  <c:v>45138</c:v>
                </c:pt>
                <c:pt idx="773">
                  <c:v>45139</c:v>
                </c:pt>
                <c:pt idx="774">
                  <c:v>45140</c:v>
                </c:pt>
                <c:pt idx="775">
                  <c:v>45141</c:v>
                </c:pt>
                <c:pt idx="776">
                  <c:v>45142</c:v>
                </c:pt>
                <c:pt idx="777">
                  <c:v>45146</c:v>
                </c:pt>
                <c:pt idx="778">
                  <c:v>45147</c:v>
                </c:pt>
                <c:pt idx="779">
                  <c:v>45148</c:v>
                </c:pt>
                <c:pt idx="780">
                  <c:v>45149</c:v>
                </c:pt>
                <c:pt idx="781">
                  <c:v>45152</c:v>
                </c:pt>
                <c:pt idx="782">
                  <c:v>45153</c:v>
                </c:pt>
                <c:pt idx="783">
                  <c:v>45154</c:v>
                </c:pt>
                <c:pt idx="784">
                  <c:v>45155</c:v>
                </c:pt>
                <c:pt idx="785">
                  <c:v>45156</c:v>
                </c:pt>
                <c:pt idx="786">
                  <c:v>45159</c:v>
                </c:pt>
                <c:pt idx="787">
                  <c:v>45160</c:v>
                </c:pt>
                <c:pt idx="788">
                  <c:v>45161</c:v>
                </c:pt>
                <c:pt idx="789">
                  <c:v>45162</c:v>
                </c:pt>
                <c:pt idx="790">
                  <c:v>45163</c:v>
                </c:pt>
                <c:pt idx="791">
                  <c:v>45166</c:v>
                </c:pt>
                <c:pt idx="792">
                  <c:v>45167</c:v>
                </c:pt>
                <c:pt idx="793">
                  <c:v>45168</c:v>
                </c:pt>
                <c:pt idx="794">
                  <c:v>45169</c:v>
                </c:pt>
                <c:pt idx="795">
                  <c:v>45170</c:v>
                </c:pt>
                <c:pt idx="796">
                  <c:v>45173</c:v>
                </c:pt>
                <c:pt idx="797">
                  <c:v>45174</c:v>
                </c:pt>
                <c:pt idx="798">
                  <c:v>45175</c:v>
                </c:pt>
                <c:pt idx="799">
                  <c:v>45176</c:v>
                </c:pt>
                <c:pt idx="800">
                  <c:v>45177</c:v>
                </c:pt>
                <c:pt idx="801">
                  <c:v>45180</c:v>
                </c:pt>
                <c:pt idx="802">
                  <c:v>45181</c:v>
                </c:pt>
                <c:pt idx="803">
                  <c:v>45182</c:v>
                </c:pt>
                <c:pt idx="804">
                  <c:v>45183</c:v>
                </c:pt>
                <c:pt idx="805">
                  <c:v>45184</c:v>
                </c:pt>
                <c:pt idx="806">
                  <c:v>45187</c:v>
                </c:pt>
                <c:pt idx="807">
                  <c:v>45188</c:v>
                </c:pt>
                <c:pt idx="808">
                  <c:v>45189</c:v>
                </c:pt>
                <c:pt idx="809">
                  <c:v>45190</c:v>
                </c:pt>
                <c:pt idx="810">
                  <c:v>45191</c:v>
                </c:pt>
                <c:pt idx="811">
                  <c:v>45194</c:v>
                </c:pt>
                <c:pt idx="812">
                  <c:v>45195</c:v>
                </c:pt>
                <c:pt idx="813">
                  <c:v>45196</c:v>
                </c:pt>
                <c:pt idx="814">
                  <c:v>45197</c:v>
                </c:pt>
                <c:pt idx="815">
                  <c:v>45198</c:v>
                </c:pt>
                <c:pt idx="816">
                  <c:v>45201</c:v>
                </c:pt>
                <c:pt idx="817">
                  <c:v>45202</c:v>
                </c:pt>
                <c:pt idx="818">
                  <c:v>45203</c:v>
                </c:pt>
                <c:pt idx="819">
                  <c:v>45204</c:v>
                </c:pt>
                <c:pt idx="820">
                  <c:v>45205</c:v>
                </c:pt>
                <c:pt idx="821">
                  <c:v>45208</c:v>
                </c:pt>
                <c:pt idx="822">
                  <c:v>45209</c:v>
                </c:pt>
                <c:pt idx="823">
                  <c:v>45210</c:v>
                </c:pt>
                <c:pt idx="824">
                  <c:v>45211</c:v>
                </c:pt>
                <c:pt idx="825">
                  <c:v>45212</c:v>
                </c:pt>
                <c:pt idx="826">
                  <c:v>45215</c:v>
                </c:pt>
                <c:pt idx="827">
                  <c:v>45216</c:v>
                </c:pt>
                <c:pt idx="828">
                  <c:v>45217</c:v>
                </c:pt>
                <c:pt idx="829">
                  <c:v>45218</c:v>
                </c:pt>
                <c:pt idx="830">
                  <c:v>45219</c:v>
                </c:pt>
                <c:pt idx="831">
                  <c:v>45222</c:v>
                </c:pt>
                <c:pt idx="832">
                  <c:v>45223</c:v>
                </c:pt>
                <c:pt idx="833">
                  <c:v>45224</c:v>
                </c:pt>
                <c:pt idx="834">
                  <c:v>45225</c:v>
                </c:pt>
                <c:pt idx="835">
                  <c:v>45226</c:v>
                </c:pt>
                <c:pt idx="836">
                  <c:v>45230</c:v>
                </c:pt>
                <c:pt idx="837">
                  <c:v>45231</c:v>
                </c:pt>
                <c:pt idx="838">
                  <c:v>45232</c:v>
                </c:pt>
                <c:pt idx="839">
                  <c:v>45233</c:v>
                </c:pt>
                <c:pt idx="840">
                  <c:v>45236</c:v>
                </c:pt>
                <c:pt idx="841">
                  <c:v>45237</c:v>
                </c:pt>
                <c:pt idx="842">
                  <c:v>45238</c:v>
                </c:pt>
                <c:pt idx="843">
                  <c:v>45239</c:v>
                </c:pt>
                <c:pt idx="844">
                  <c:v>45240</c:v>
                </c:pt>
                <c:pt idx="845">
                  <c:v>45243</c:v>
                </c:pt>
                <c:pt idx="846">
                  <c:v>45244</c:v>
                </c:pt>
                <c:pt idx="847">
                  <c:v>45245</c:v>
                </c:pt>
                <c:pt idx="848">
                  <c:v>45246</c:v>
                </c:pt>
                <c:pt idx="849">
                  <c:v>45247</c:v>
                </c:pt>
                <c:pt idx="850">
                  <c:v>45250</c:v>
                </c:pt>
                <c:pt idx="851">
                  <c:v>45251</c:v>
                </c:pt>
                <c:pt idx="852">
                  <c:v>45252</c:v>
                </c:pt>
                <c:pt idx="853">
                  <c:v>45253</c:v>
                </c:pt>
                <c:pt idx="854">
                  <c:v>45254</c:v>
                </c:pt>
                <c:pt idx="855">
                  <c:v>45257</c:v>
                </c:pt>
                <c:pt idx="856">
                  <c:v>45258</c:v>
                </c:pt>
                <c:pt idx="857">
                  <c:v>45259</c:v>
                </c:pt>
                <c:pt idx="858">
                  <c:v>45260</c:v>
                </c:pt>
                <c:pt idx="859">
                  <c:v>45261</c:v>
                </c:pt>
                <c:pt idx="860">
                  <c:v>45264</c:v>
                </c:pt>
                <c:pt idx="861">
                  <c:v>45265</c:v>
                </c:pt>
                <c:pt idx="862">
                  <c:v>45266</c:v>
                </c:pt>
                <c:pt idx="863">
                  <c:v>45267</c:v>
                </c:pt>
                <c:pt idx="864">
                  <c:v>45268</c:v>
                </c:pt>
                <c:pt idx="865">
                  <c:v>45271</c:v>
                </c:pt>
                <c:pt idx="866">
                  <c:v>45272</c:v>
                </c:pt>
                <c:pt idx="867">
                  <c:v>45273</c:v>
                </c:pt>
                <c:pt idx="868">
                  <c:v>45274</c:v>
                </c:pt>
                <c:pt idx="869">
                  <c:v>45275</c:v>
                </c:pt>
                <c:pt idx="870">
                  <c:v>45278</c:v>
                </c:pt>
                <c:pt idx="871">
                  <c:v>45279</c:v>
                </c:pt>
                <c:pt idx="872">
                  <c:v>45280</c:v>
                </c:pt>
                <c:pt idx="873">
                  <c:v>45281</c:v>
                </c:pt>
                <c:pt idx="874">
                  <c:v>45282</c:v>
                </c:pt>
                <c:pt idx="875">
                  <c:v>45287</c:v>
                </c:pt>
                <c:pt idx="876">
                  <c:v>45288</c:v>
                </c:pt>
                <c:pt idx="877">
                  <c:v>45289</c:v>
                </c:pt>
                <c:pt idx="878">
                  <c:v>45293</c:v>
                </c:pt>
                <c:pt idx="879">
                  <c:v>45294</c:v>
                </c:pt>
                <c:pt idx="880">
                  <c:v>45295</c:v>
                </c:pt>
                <c:pt idx="881">
                  <c:v>45296</c:v>
                </c:pt>
                <c:pt idx="882">
                  <c:v>45299</c:v>
                </c:pt>
                <c:pt idx="883">
                  <c:v>45300</c:v>
                </c:pt>
                <c:pt idx="884">
                  <c:v>45301</c:v>
                </c:pt>
                <c:pt idx="885">
                  <c:v>45302</c:v>
                </c:pt>
                <c:pt idx="886">
                  <c:v>45303</c:v>
                </c:pt>
                <c:pt idx="887">
                  <c:v>45306</c:v>
                </c:pt>
                <c:pt idx="888">
                  <c:v>45307</c:v>
                </c:pt>
                <c:pt idx="889">
                  <c:v>45308</c:v>
                </c:pt>
                <c:pt idx="890">
                  <c:v>45309</c:v>
                </c:pt>
                <c:pt idx="891">
                  <c:v>45310</c:v>
                </c:pt>
                <c:pt idx="892">
                  <c:v>45313</c:v>
                </c:pt>
                <c:pt idx="893">
                  <c:v>45314</c:v>
                </c:pt>
                <c:pt idx="894">
                  <c:v>45315</c:v>
                </c:pt>
                <c:pt idx="895">
                  <c:v>45316</c:v>
                </c:pt>
                <c:pt idx="896">
                  <c:v>45317</c:v>
                </c:pt>
                <c:pt idx="897">
                  <c:v>45320</c:v>
                </c:pt>
                <c:pt idx="898">
                  <c:v>45321</c:v>
                </c:pt>
                <c:pt idx="899">
                  <c:v>45322</c:v>
                </c:pt>
                <c:pt idx="900">
                  <c:v>45323</c:v>
                </c:pt>
                <c:pt idx="901">
                  <c:v>45324</c:v>
                </c:pt>
                <c:pt idx="902">
                  <c:v>45328</c:v>
                </c:pt>
                <c:pt idx="903">
                  <c:v>45329</c:v>
                </c:pt>
                <c:pt idx="904">
                  <c:v>45330</c:v>
                </c:pt>
                <c:pt idx="905">
                  <c:v>45331</c:v>
                </c:pt>
                <c:pt idx="906">
                  <c:v>45334</c:v>
                </c:pt>
                <c:pt idx="907">
                  <c:v>45335</c:v>
                </c:pt>
                <c:pt idx="908">
                  <c:v>45336</c:v>
                </c:pt>
                <c:pt idx="909">
                  <c:v>45337</c:v>
                </c:pt>
                <c:pt idx="910">
                  <c:v>45338</c:v>
                </c:pt>
                <c:pt idx="911">
                  <c:v>45341</c:v>
                </c:pt>
                <c:pt idx="912">
                  <c:v>45342</c:v>
                </c:pt>
                <c:pt idx="913">
                  <c:v>45343</c:v>
                </c:pt>
                <c:pt idx="914">
                  <c:v>45344</c:v>
                </c:pt>
                <c:pt idx="915">
                  <c:v>45345</c:v>
                </c:pt>
                <c:pt idx="916">
                  <c:v>45348</c:v>
                </c:pt>
                <c:pt idx="917">
                  <c:v>45349</c:v>
                </c:pt>
                <c:pt idx="918">
                  <c:v>45350</c:v>
                </c:pt>
                <c:pt idx="919">
                  <c:v>45351</c:v>
                </c:pt>
                <c:pt idx="920">
                  <c:v>45352</c:v>
                </c:pt>
                <c:pt idx="921">
                  <c:v>45355</c:v>
                </c:pt>
                <c:pt idx="922">
                  <c:v>45356</c:v>
                </c:pt>
                <c:pt idx="923">
                  <c:v>45357</c:v>
                </c:pt>
                <c:pt idx="924">
                  <c:v>45358</c:v>
                </c:pt>
                <c:pt idx="925">
                  <c:v>45359</c:v>
                </c:pt>
                <c:pt idx="926">
                  <c:v>45362</c:v>
                </c:pt>
                <c:pt idx="927">
                  <c:v>45363</c:v>
                </c:pt>
                <c:pt idx="928">
                  <c:v>45364</c:v>
                </c:pt>
                <c:pt idx="929">
                  <c:v>45365</c:v>
                </c:pt>
                <c:pt idx="930">
                  <c:v>45366</c:v>
                </c:pt>
                <c:pt idx="931">
                  <c:v>45370</c:v>
                </c:pt>
                <c:pt idx="932">
                  <c:v>45371</c:v>
                </c:pt>
                <c:pt idx="933">
                  <c:v>45372</c:v>
                </c:pt>
                <c:pt idx="934">
                  <c:v>45373</c:v>
                </c:pt>
                <c:pt idx="935">
                  <c:v>45376</c:v>
                </c:pt>
                <c:pt idx="936">
                  <c:v>45377</c:v>
                </c:pt>
                <c:pt idx="937">
                  <c:v>45378</c:v>
                </c:pt>
                <c:pt idx="938">
                  <c:v>45379</c:v>
                </c:pt>
                <c:pt idx="939">
                  <c:v>45384</c:v>
                </c:pt>
                <c:pt idx="940">
                  <c:v>45385</c:v>
                </c:pt>
                <c:pt idx="941">
                  <c:v>45386</c:v>
                </c:pt>
                <c:pt idx="942">
                  <c:v>45387</c:v>
                </c:pt>
                <c:pt idx="943">
                  <c:v>45390</c:v>
                </c:pt>
                <c:pt idx="944">
                  <c:v>45391</c:v>
                </c:pt>
                <c:pt idx="945">
                  <c:v>45392</c:v>
                </c:pt>
                <c:pt idx="946">
                  <c:v>45393</c:v>
                </c:pt>
                <c:pt idx="947">
                  <c:v>45394</c:v>
                </c:pt>
                <c:pt idx="948">
                  <c:v>45397</c:v>
                </c:pt>
                <c:pt idx="949">
                  <c:v>45398</c:v>
                </c:pt>
                <c:pt idx="950">
                  <c:v>45399</c:v>
                </c:pt>
                <c:pt idx="951">
                  <c:v>45400</c:v>
                </c:pt>
                <c:pt idx="952">
                  <c:v>45401</c:v>
                </c:pt>
                <c:pt idx="953">
                  <c:v>45404</c:v>
                </c:pt>
                <c:pt idx="954">
                  <c:v>45405</c:v>
                </c:pt>
                <c:pt idx="955">
                  <c:v>45406</c:v>
                </c:pt>
                <c:pt idx="956">
                  <c:v>45407</c:v>
                </c:pt>
                <c:pt idx="957">
                  <c:v>45408</c:v>
                </c:pt>
                <c:pt idx="958">
                  <c:v>45411</c:v>
                </c:pt>
                <c:pt idx="959">
                  <c:v>45412</c:v>
                </c:pt>
                <c:pt idx="960">
                  <c:v>45413</c:v>
                </c:pt>
                <c:pt idx="961">
                  <c:v>45414</c:v>
                </c:pt>
                <c:pt idx="962">
                  <c:v>45415</c:v>
                </c:pt>
                <c:pt idx="963">
                  <c:v>45419</c:v>
                </c:pt>
                <c:pt idx="964">
                  <c:v>45420</c:v>
                </c:pt>
                <c:pt idx="965">
                  <c:v>45421</c:v>
                </c:pt>
                <c:pt idx="966">
                  <c:v>45422</c:v>
                </c:pt>
                <c:pt idx="967">
                  <c:v>45425</c:v>
                </c:pt>
                <c:pt idx="968">
                  <c:v>45426</c:v>
                </c:pt>
                <c:pt idx="969">
                  <c:v>45427</c:v>
                </c:pt>
                <c:pt idx="970">
                  <c:v>45428</c:v>
                </c:pt>
                <c:pt idx="971">
                  <c:v>45429</c:v>
                </c:pt>
                <c:pt idx="972">
                  <c:v>45432</c:v>
                </c:pt>
                <c:pt idx="973">
                  <c:v>45433</c:v>
                </c:pt>
                <c:pt idx="974">
                  <c:v>45434</c:v>
                </c:pt>
                <c:pt idx="975">
                  <c:v>45435</c:v>
                </c:pt>
                <c:pt idx="976">
                  <c:v>45436</c:v>
                </c:pt>
                <c:pt idx="977">
                  <c:v>45439</c:v>
                </c:pt>
                <c:pt idx="978">
                  <c:v>45440</c:v>
                </c:pt>
                <c:pt idx="979">
                  <c:v>45441</c:v>
                </c:pt>
                <c:pt idx="980">
                  <c:v>45442</c:v>
                </c:pt>
                <c:pt idx="981">
                  <c:v>45443</c:v>
                </c:pt>
                <c:pt idx="982">
                  <c:v>45447</c:v>
                </c:pt>
                <c:pt idx="983">
                  <c:v>45448</c:v>
                </c:pt>
                <c:pt idx="984">
                  <c:v>45449</c:v>
                </c:pt>
                <c:pt idx="985">
                  <c:v>45450</c:v>
                </c:pt>
                <c:pt idx="986">
                  <c:v>45453</c:v>
                </c:pt>
                <c:pt idx="987">
                  <c:v>45454</c:v>
                </c:pt>
                <c:pt idx="988">
                  <c:v>45455</c:v>
                </c:pt>
                <c:pt idx="989">
                  <c:v>45456</c:v>
                </c:pt>
                <c:pt idx="990">
                  <c:v>45457</c:v>
                </c:pt>
                <c:pt idx="991">
                  <c:v>45460</c:v>
                </c:pt>
                <c:pt idx="992">
                  <c:v>45461</c:v>
                </c:pt>
                <c:pt idx="993">
                  <c:v>45462</c:v>
                </c:pt>
                <c:pt idx="994">
                  <c:v>45463</c:v>
                </c:pt>
                <c:pt idx="995">
                  <c:v>45464</c:v>
                </c:pt>
                <c:pt idx="996">
                  <c:v>45467</c:v>
                </c:pt>
                <c:pt idx="997">
                  <c:v>45468</c:v>
                </c:pt>
                <c:pt idx="998">
                  <c:v>45469</c:v>
                </c:pt>
                <c:pt idx="999">
                  <c:v>45470</c:v>
                </c:pt>
                <c:pt idx="1000">
                  <c:v>45471</c:v>
                </c:pt>
                <c:pt idx="1001">
                  <c:v>45474</c:v>
                </c:pt>
                <c:pt idx="1002">
                  <c:v>45475</c:v>
                </c:pt>
                <c:pt idx="1003">
                  <c:v>45476</c:v>
                </c:pt>
                <c:pt idx="1004">
                  <c:v>45477</c:v>
                </c:pt>
                <c:pt idx="1005">
                  <c:v>45478</c:v>
                </c:pt>
                <c:pt idx="1006">
                  <c:v>45481</c:v>
                </c:pt>
                <c:pt idx="1007">
                  <c:v>45482</c:v>
                </c:pt>
                <c:pt idx="1008">
                  <c:v>45483</c:v>
                </c:pt>
                <c:pt idx="1009">
                  <c:v>45484</c:v>
                </c:pt>
                <c:pt idx="1010">
                  <c:v>45485</c:v>
                </c:pt>
                <c:pt idx="1011">
                  <c:v>45488</c:v>
                </c:pt>
                <c:pt idx="1012">
                  <c:v>45489</c:v>
                </c:pt>
                <c:pt idx="1013">
                  <c:v>45490</c:v>
                </c:pt>
                <c:pt idx="1014">
                  <c:v>45491</c:v>
                </c:pt>
                <c:pt idx="1015">
                  <c:v>45492</c:v>
                </c:pt>
                <c:pt idx="1016">
                  <c:v>45495</c:v>
                </c:pt>
                <c:pt idx="1017">
                  <c:v>45496</c:v>
                </c:pt>
                <c:pt idx="1018">
                  <c:v>45497</c:v>
                </c:pt>
                <c:pt idx="1019">
                  <c:v>45498</c:v>
                </c:pt>
                <c:pt idx="1020">
                  <c:v>45499</c:v>
                </c:pt>
                <c:pt idx="1021">
                  <c:v>45502</c:v>
                </c:pt>
                <c:pt idx="1022">
                  <c:v>45503</c:v>
                </c:pt>
                <c:pt idx="1023">
                  <c:v>45504</c:v>
                </c:pt>
                <c:pt idx="1024">
                  <c:v>45505</c:v>
                </c:pt>
                <c:pt idx="1025">
                  <c:v>45506</c:v>
                </c:pt>
                <c:pt idx="1026">
                  <c:v>45510</c:v>
                </c:pt>
                <c:pt idx="1027">
                  <c:v>45511</c:v>
                </c:pt>
                <c:pt idx="1028">
                  <c:v>45512</c:v>
                </c:pt>
                <c:pt idx="1029">
                  <c:v>45513</c:v>
                </c:pt>
                <c:pt idx="1030">
                  <c:v>45516</c:v>
                </c:pt>
                <c:pt idx="1031">
                  <c:v>45517</c:v>
                </c:pt>
                <c:pt idx="1032">
                  <c:v>45518</c:v>
                </c:pt>
                <c:pt idx="1033">
                  <c:v>45519</c:v>
                </c:pt>
                <c:pt idx="1034">
                  <c:v>45520</c:v>
                </c:pt>
                <c:pt idx="1035">
                  <c:v>45523</c:v>
                </c:pt>
                <c:pt idx="1036">
                  <c:v>45524</c:v>
                </c:pt>
                <c:pt idx="1037">
                  <c:v>45525</c:v>
                </c:pt>
                <c:pt idx="1038">
                  <c:v>45526</c:v>
                </c:pt>
                <c:pt idx="1039">
                  <c:v>45527</c:v>
                </c:pt>
                <c:pt idx="1040">
                  <c:v>45530</c:v>
                </c:pt>
                <c:pt idx="1041">
                  <c:v>45531</c:v>
                </c:pt>
                <c:pt idx="1042">
                  <c:v>45532</c:v>
                </c:pt>
                <c:pt idx="1043">
                  <c:v>45533</c:v>
                </c:pt>
                <c:pt idx="1044">
                  <c:v>45534</c:v>
                </c:pt>
                <c:pt idx="1045">
                  <c:v>45537</c:v>
                </c:pt>
                <c:pt idx="1046">
                  <c:v>45538</c:v>
                </c:pt>
                <c:pt idx="1047">
                  <c:v>45539</c:v>
                </c:pt>
                <c:pt idx="1048">
                  <c:v>45540</c:v>
                </c:pt>
                <c:pt idx="1049">
                  <c:v>45541</c:v>
                </c:pt>
                <c:pt idx="1050">
                  <c:v>45544</c:v>
                </c:pt>
                <c:pt idx="1051">
                  <c:v>45545</c:v>
                </c:pt>
                <c:pt idx="1052">
                  <c:v>45546</c:v>
                </c:pt>
                <c:pt idx="1053">
                  <c:v>45547</c:v>
                </c:pt>
                <c:pt idx="1054">
                  <c:v>45548</c:v>
                </c:pt>
                <c:pt idx="1055">
                  <c:v>45551</c:v>
                </c:pt>
                <c:pt idx="1056">
                  <c:v>45552</c:v>
                </c:pt>
                <c:pt idx="1057">
                  <c:v>45553</c:v>
                </c:pt>
                <c:pt idx="1058">
                  <c:v>45554</c:v>
                </c:pt>
                <c:pt idx="1059">
                  <c:v>45555</c:v>
                </c:pt>
                <c:pt idx="1060">
                  <c:v>45558</c:v>
                </c:pt>
                <c:pt idx="1061">
                  <c:v>45559</c:v>
                </c:pt>
                <c:pt idx="1062">
                  <c:v>45560</c:v>
                </c:pt>
                <c:pt idx="1063">
                  <c:v>45561</c:v>
                </c:pt>
                <c:pt idx="1064">
                  <c:v>45562</c:v>
                </c:pt>
                <c:pt idx="1065">
                  <c:v>45565</c:v>
                </c:pt>
                <c:pt idx="1066">
                  <c:v>45566</c:v>
                </c:pt>
                <c:pt idx="1067">
                  <c:v>45567</c:v>
                </c:pt>
                <c:pt idx="1068">
                  <c:v>45568</c:v>
                </c:pt>
                <c:pt idx="1069">
                  <c:v>45569</c:v>
                </c:pt>
                <c:pt idx="1070">
                  <c:v>45572</c:v>
                </c:pt>
                <c:pt idx="1071">
                  <c:v>45573</c:v>
                </c:pt>
                <c:pt idx="1072">
                  <c:v>45574</c:v>
                </c:pt>
                <c:pt idx="1073">
                  <c:v>45575</c:v>
                </c:pt>
                <c:pt idx="1074">
                  <c:v>45576</c:v>
                </c:pt>
                <c:pt idx="1075">
                  <c:v>45579</c:v>
                </c:pt>
                <c:pt idx="1076">
                  <c:v>45580</c:v>
                </c:pt>
                <c:pt idx="1077">
                  <c:v>45581</c:v>
                </c:pt>
                <c:pt idx="1078">
                  <c:v>45582</c:v>
                </c:pt>
                <c:pt idx="1079">
                  <c:v>45583</c:v>
                </c:pt>
                <c:pt idx="1080">
                  <c:v>45586</c:v>
                </c:pt>
                <c:pt idx="1081">
                  <c:v>45587</c:v>
                </c:pt>
                <c:pt idx="1082">
                  <c:v>45588</c:v>
                </c:pt>
                <c:pt idx="1083">
                  <c:v>45589</c:v>
                </c:pt>
                <c:pt idx="1084">
                  <c:v>45590</c:v>
                </c:pt>
                <c:pt idx="1085">
                  <c:v>45594</c:v>
                </c:pt>
                <c:pt idx="1086">
                  <c:v>45595</c:v>
                </c:pt>
                <c:pt idx="1087">
                  <c:v>45596</c:v>
                </c:pt>
                <c:pt idx="1088">
                  <c:v>45597</c:v>
                </c:pt>
                <c:pt idx="1089">
                  <c:v>45600</c:v>
                </c:pt>
                <c:pt idx="1090">
                  <c:v>45601</c:v>
                </c:pt>
                <c:pt idx="1091">
                  <c:v>45602</c:v>
                </c:pt>
                <c:pt idx="1092">
                  <c:v>45603</c:v>
                </c:pt>
                <c:pt idx="1093">
                  <c:v>45604</c:v>
                </c:pt>
                <c:pt idx="1094">
                  <c:v>45607</c:v>
                </c:pt>
                <c:pt idx="1095">
                  <c:v>45608</c:v>
                </c:pt>
                <c:pt idx="1096">
                  <c:v>45609</c:v>
                </c:pt>
                <c:pt idx="1097">
                  <c:v>45610</c:v>
                </c:pt>
                <c:pt idx="1098">
                  <c:v>45611</c:v>
                </c:pt>
                <c:pt idx="1099">
                  <c:v>45614</c:v>
                </c:pt>
                <c:pt idx="1100">
                  <c:v>45615</c:v>
                </c:pt>
                <c:pt idx="1101">
                  <c:v>45616</c:v>
                </c:pt>
                <c:pt idx="1102">
                  <c:v>45617</c:v>
                </c:pt>
                <c:pt idx="1103">
                  <c:v>45618</c:v>
                </c:pt>
                <c:pt idx="1104">
                  <c:v>45621</c:v>
                </c:pt>
                <c:pt idx="1105">
                  <c:v>45622</c:v>
                </c:pt>
                <c:pt idx="1106">
                  <c:v>45623</c:v>
                </c:pt>
                <c:pt idx="1107">
                  <c:v>45624</c:v>
                </c:pt>
                <c:pt idx="1108">
                  <c:v>45625</c:v>
                </c:pt>
                <c:pt idx="1109">
                  <c:v>45628</c:v>
                </c:pt>
                <c:pt idx="1110">
                  <c:v>45629</c:v>
                </c:pt>
                <c:pt idx="1111">
                  <c:v>45630</c:v>
                </c:pt>
                <c:pt idx="1112">
                  <c:v>45631</c:v>
                </c:pt>
                <c:pt idx="1113">
                  <c:v>45632</c:v>
                </c:pt>
                <c:pt idx="1114">
                  <c:v>45635</c:v>
                </c:pt>
                <c:pt idx="1115">
                  <c:v>45636</c:v>
                </c:pt>
                <c:pt idx="1116">
                  <c:v>45637</c:v>
                </c:pt>
                <c:pt idx="1117">
                  <c:v>45638</c:v>
                </c:pt>
                <c:pt idx="1118">
                  <c:v>45639</c:v>
                </c:pt>
                <c:pt idx="1119">
                  <c:v>45642</c:v>
                </c:pt>
                <c:pt idx="1120">
                  <c:v>45643</c:v>
                </c:pt>
                <c:pt idx="1121">
                  <c:v>45644</c:v>
                </c:pt>
                <c:pt idx="1122">
                  <c:v>45645</c:v>
                </c:pt>
                <c:pt idx="1123">
                  <c:v>45646</c:v>
                </c:pt>
                <c:pt idx="1124">
                  <c:v>45649</c:v>
                </c:pt>
                <c:pt idx="1125">
                  <c:v>45650</c:v>
                </c:pt>
                <c:pt idx="1126">
                  <c:v>45653</c:v>
                </c:pt>
                <c:pt idx="1127">
                  <c:v>45656</c:v>
                </c:pt>
                <c:pt idx="1128">
                  <c:v>45657</c:v>
                </c:pt>
                <c:pt idx="1129">
                  <c:v>45659</c:v>
                </c:pt>
                <c:pt idx="1130">
                  <c:v>45660</c:v>
                </c:pt>
                <c:pt idx="1131">
                  <c:v>45663</c:v>
                </c:pt>
                <c:pt idx="1132">
                  <c:v>45664</c:v>
                </c:pt>
                <c:pt idx="1133">
                  <c:v>45665</c:v>
                </c:pt>
                <c:pt idx="1134">
                  <c:v>45666</c:v>
                </c:pt>
                <c:pt idx="1135">
                  <c:v>45667</c:v>
                </c:pt>
                <c:pt idx="1136">
                  <c:v>45670</c:v>
                </c:pt>
                <c:pt idx="1137">
                  <c:v>45671</c:v>
                </c:pt>
                <c:pt idx="1138">
                  <c:v>45672</c:v>
                </c:pt>
                <c:pt idx="1139">
                  <c:v>45673</c:v>
                </c:pt>
                <c:pt idx="1140">
                  <c:v>45674</c:v>
                </c:pt>
                <c:pt idx="1141">
                  <c:v>45677</c:v>
                </c:pt>
                <c:pt idx="1142">
                  <c:v>45678</c:v>
                </c:pt>
                <c:pt idx="1143">
                  <c:v>45679</c:v>
                </c:pt>
                <c:pt idx="1144">
                  <c:v>45680</c:v>
                </c:pt>
                <c:pt idx="1145">
                  <c:v>45681</c:v>
                </c:pt>
                <c:pt idx="1146">
                  <c:v>45684</c:v>
                </c:pt>
                <c:pt idx="1147">
                  <c:v>45685</c:v>
                </c:pt>
                <c:pt idx="1148">
                  <c:v>45686</c:v>
                </c:pt>
                <c:pt idx="1149">
                  <c:v>45687</c:v>
                </c:pt>
                <c:pt idx="1150">
                  <c:v>45688</c:v>
                </c:pt>
                <c:pt idx="1151">
                  <c:v>45692</c:v>
                </c:pt>
                <c:pt idx="1152">
                  <c:v>45693</c:v>
                </c:pt>
                <c:pt idx="1153">
                  <c:v>45694</c:v>
                </c:pt>
                <c:pt idx="1154">
                  <c:v>45695</c:v>
                </c:pt>
                <c:pt idx="1155">
                  <c:v>45698</c:v>
                </c:pt>
                <c:pt idx="1156">
                  <c:v>45699</c:v>
                </c:pt>
                <c:pt idx="1157">
                  <c:v>45700</c:v>
                </c:pt>
                <c:pt idx="1158">
                  <c:v>45701</c:v>
                </c:pt>
                <c:pt idx="1159">
                  <c:v>45702</c:v>
                </c:pt>
                <c:pt idx="1160">
                  <c:v>45705</c:v>
                </c:pt>
                <c:pt idx="1161">
                  <c:v>45706</c:v>
                </c:pt>
                <c:pt idx="1162">
                  <c:v>45707</c:v>
                </c:pt>
                <c:pt idx="1163">
                  <c:v>45708</c:v>
                </c:pt>
                <c:pt idx="1164">
                  <c:v>45709</c:v>
                </c:pt>
                <c:pt idx="1165">
                  <c:v>45712</c:v>
                </c:pt>
                <c:pt idx="1166">
                  <c:v>45713</c:v>
                </c:pt>
                <c:pt idx="1167">
                  <c:v>45714</c:v>
                </c:pt>
                <c:pt idx="1168">
                  <c:v>45715</c:v>
                </c:pt>
                <c:pt idx="1169">
                  <c:v>45716</c:v>
                </c:pt>
                <c:pt idx="1170">
                  <c:v>45719</c:v>
                </c:pt>
                <c:pt idx="1171">
                  <c:v>45720</c:v>
                </c:pt>
                <c:pt idx="1172">
                  <c:v>45721</c:v>
                </c:pt>
                <c:pt idx="1173">
                  <c:v>45722</c:v>
                </c:pt>
                <c:pt idx="1174">
                  <c:v>45723</c:v>
                </c:pt>
                <c:pt idx="1175">
                  <c:v>45726</c:v>
                </c:pt>
                <c:pt idx="1176">
                  <c:v>45727</c:v>
                </c:pt>
                <c:pt idx="1177">
                  <c:v>45728</c:v>
                </c:pt>
                <c:pt idx="1178">
                  <c:v>45729</c:v>
                </c:pt>
                <c:pt idx="1179">
                  <c:v>45730</c:v>
                </c:pt>
                <c:pt idx="1180">
                  <c:v>45734</c:v>
                </c:pt>
                <c:pt idx="1181">
                  <c:v>45735</c:v>
                </c:pt>
                <c:pt idx="1182">
                  <c:v>45736</c:v>
                </c:pt>
                <c:pt idx="1183">
                  <c:v>45737</c:v>
                </c:pt>
                <c:pt idx="1184">
                  <c:v>45740</c:v>
                </c:pt>
                <c:pt idx="1185">
                  <c:v>45741</c:v>
                </c:pt>
                <c:pt idx="1186">
                  <c:v>45742</c:v>
                </c:pt>
                <c:pt idx="1187">
                  <c:v>45743</c:v>
                </c:pt>
                <c:pt idx="1188">
                  <c:v>45744</c:v>
                </c:pt>
                <c:pt idx="1189">
                  <c:v>45747</c:v>
                </c:pt>
                <c:pt idx="1190">
                  <c:v>45748</c:v>
                </c:pt>
                <c:pt idx="1191">
                  <c:v>45749</c:v>
                </c:pt>
                <c:pt idx="1192">
                  <c:v>45750</c:v>
                </c:pt>
                <c:pt idx="1193">
                  <c:v>45751</c:v>
                </c:pt>
                <c:pt idx="1194">
                  <c:v>45754</c:v>
                </c:pt>
                <c:pt idx="1195">
                  <c:v>45755</c:v>
                </c:pt>
                <c:pt idx="1196">
                  <c:v>45756</c:v>
                </c:pt>
                <c:pt idx="1197">
                  <c:v>45757</c:v>
                </c:pt>
                <c:pt idx="1198">
                  <c:v>45758</c:v>
                </c:pt>
                <c:pt idx="1199">
                  <c:v>45761</c:v>
                </c:pt>
                <c:pt idx="1200">
                  <c:v>45762</c:v>
                </c:pt>
                <c:pt idx="1201">
                  <c:v>45763</c:v>
                </c:pt>
                <c:pt idx="1202">
                  <c:v>45764</c:v>
                </c:pt>
                <c:pt idx="1203">
                  <c:v>45769</c:v>
                </c:pt>
                <c:pt idx="1204">
                  <c:v>45770</c:v>
                </c:pt>
                <c:pt idx="1205">
                  <c:v>45771</c:v>
                </c:pt>
                <c:pt idx="1206">
                  <c:v>45772</c:v>
                </c:pt>
                <c:pt idx="1207">
                  <c:v>45775</c:v>
                </c:pt>
                <c:pt idx="1208">
                  <c:v>45776</c:v>
                </c:pt>
                <c:pt idx="1209">
                  <c:v>45777</c:v>
                </c:pt>
                <c:pt idx="1210">
                  <c:v>45778</c:v>
                </c:pt>
                <c:pt idx="1211">
                  <c:v>45779</c:v>
                </c:pt>
                <c:pt idx="1212">
                  <c:v>45783</c:v>
                </c:pt>
                <c:pt idx="1213">
                  <c:v>45784</c:v>
                </c:pt>
                <c:pt idx="1214">
                  <c:v>45785</c:v>
                </c:pt>
                <c:pt idx="1215">
                  <c:v>45786</c:v>
                </c:pt>
                <c:pt idx="1216">
                  <c:v>45789</c:v>
                </c:pt>
                <c:pt idx="1217">
                  <c:v>45790</c:v>
                </c:pt>
                <c:pt idx="1218">
                  <c:v>45791</c:v>
                </c:pt>
                <c:pt idx="1219">
                  <c:v>45792</c:v>
                </c:pt>
                <c:pt idx="1220">
                  <c:v>45793</c:v>
                </c:pt>
                <c:pt idx="1221">
                  <c:v>45796</c:v>
                </c:pt>
                <c:pt idx="1222">
                  <c:v>45797</c:v>
                </c:pt>
                <c:pt idx="1223">
                  <c:v>45798</c:v>
                </c:pt>
                <c:pt idx="1224">
                  <c:v>45799</c:v>
                </c:pt>
                <c:pt idx="1225">
                  <c:v>45800</c:v>
                </c:pt>
                <c:pt idx="1226">
                  <c:v>45803</c:v>
                </c:pt>
                <c:pt idx="1227">
                  <c:v>45804</c:v>
                </c:pt>
                <c:pt idx="1228">
                  <c:v>45805</c:v>
                </c:pt>
                <c:pt idx="1229">
                  <c:v>45806</c:v>
                </c:pt>
                <c:pt idx="1230">
                  <c:v>45807</c:v>
                </c:pt>
                <c:pt idx="1231">
                  <c:v>45811</c:v>
                </c:pt>
              </c:numCache>
            </c:numRef>
          </c:cat>
          <c:val>
            <c:numRef>
              <c:f>Sheet1!$C$2:$C$1233</c:f>
              <c:numCache>
                <c:formatCode>General</c:formatCode>
                <c:ptCount val="1232"/>
                <c:pt idx="1">
                  <c:v>0.12603528988117674</c:v>
                </c:pt>
                <c:pt idx="2">
                  <c:v>0.28808066258552145</c:v>
                </c:pt>
                <c:pt idx="3">
                  <c:v>0.31508822470291964</c:v>
                </c:pt>
                <c:pt idx="4">
                  <c:v>0.49513863881887055</c:v>
                </c:pt>
                <c:pt idx="5">
                  <c:v>0.64818149081744547</c:v>
                </c:pt>
                <c:pt idx="6">
                  <c:v>0.60316888728844109</c:v>
                </c:pt>
                <c:pt idx="7">
                  <c:v>0.54015124234785272</c:v>
                </c:pt>
                <c:pt idx="8">
                  <c:v>0.51314368023047674</c:v>
                </c:pt>
                <c:pt idx="9">
                  <c:v>0.71119913575801164</c:v>
                </c:pt>
                <c:pt idx="10">
                  <c:v>0.68419157364061345</c:v>
                </c:pt>
                <c:pt idx="11">
                  <c:v>0.96326971552034291</c:v>
                </c:pt>
                <c:pt idx="12">
                  <c:v>1.0352898811667233</c:v>
                </c:pt>
                <c:pt idx="13">
                  <c:v>1.0712999639899135</c:v>
                </c:pt>
                <c:pt idx="14">
                  <c:v>1.2243428159884884</c:v>
                </c:pt>
                <c:pt idx="15">
                  <c:v>1.3773856679870411</c:v>
                </c:pt>
                <c:pt idx="16">
                  <c:v>1.4764133957507974</c:v>
                </c:pt>
                <c:pt idx="17">
                  <c:v>1.5754411235145982</c:v>
                </c:pt>
                <c:pt idx="18">
                  <c:v>1.557436082102992</c:v>
                </c:pt>
                <c:pt idx="19">
                  <c:v>1.6564638098667706</c:v>
                </c:pt>
                <c:pt idx="20">
                  <c:v>1.6924738926899385</c:v>
                </c:pt>
                <c:pt idx="21">
                  <c:v>1.7374864962189429</c:v>
                </c:pt>
                <c:pt idx="22">
                  <c:v>1.7464890169247571</c:v>
                </c:pt>
                <c:pt idx="23">
                  <c:v>1.7554915376305491</c:v>
                </c:pt>
                <c:pt idx="24">
                  <c:v>1.9175369103348938</c:v>
                </c:pt>
                <c:pt idx="25">
                  <c:v>2.0795822830392385</c:v>
                </c:pt>
                <c:pt idx="26">
                  <c:v>2.1696074900972251</c:v>
                </c:pt>
                <c:pt idx="27">
                  <c:v>2.1516024486856411</c:v>
                </c:pt>
                <c:pt idx="28">
                  <c:v>2.1966150522146233</c:v>
                </c:pt>
                <c:pt idx="29">
                  <c:v>2.2596326971551894</c:v>
                </c:pt>
                <c:pt idx="30">
                  <c:v>2.2686352178609814</c:v>
                </c:pt>
                <c:pt idx="31">
                  <c:v>2.3226503420958</c:v>
                </c:pt>
                <c:pt idx="32">
                  <c:v>2.2326251350378135</c:v>
                </c:pt>
                <c:pt idx="33">
                  <c:v>2.2506301764493974</c:v>
                </c:pt>
                <c:pt idx="34">
                  <c:v>2.340655383507384</c:v>
                </c:pt>
                <c:pt idx="35">
                  <c:v>2.3676629456247822</c:v>
                </c:pt>
                <c:pt idx="36">
                  <c:v>2.3856679870363662</c:v>
                </c:pt>
                <c:pt idx="37">
                  <c:v>2.3766654663305742</c:v>
                </c:pt>
                <c:pt idx="38">
                  <c:v>2.5027007562117509</c:v>
                </c:pt>
                <c:pt idx="39">
                  <c:v>2.6467410875045116</c:v>
                </c:pt>
                <c:pt idx="40">
                  <c:v>2.6647461289160956</c:v>
                </c:pt>
                <c:pt idx="41">
                  <c:v>2.736766294562476</c:v>
                </c:pt>
                <c:pt idx="42">
                  <c:v>2.745768815268268</c:v>
                </c:pt>
                <c:pt idx="43">
                  <c:v>2.75477133597406</c:v>
                </c:pt>
                <c:pt idx="44">
                  <c:v>2.8267915016204626</c:v>
                </c:pt>
                <c:pt idx="45">
                  <c:v>2.8537990637378607</c:v>
                </c:pt>
                <c:pt idx="46">
                  <c:v>2.1876125315088313</c:v>
                </c:pt>
                <c:pt idx="47">
                  <c:v>2.0165646380986724</c:v>
                </c:pt>
                <c:pt idx="48">
                  <c:v>2.8628015844436527</c:v>
                </c:pt>
                <c:pt idx="49">
                  <c:v>2.8357940223262545</c:v>
                </c:pt>
                <c:pt idx="50">
                  <c:v>2.8808066258552367</c:v>
                </c:pt>
                <c:pt idx="51">
                  <c:v>2.9168167086784269</c:v>
                </c:pt>
                <c:pt idx="52">
                  <c:v>2.8357940223262545</c:v>
                </c:pt>
                <c:pt idx="53">
                  <c:v>2.9078141879726349</c:v>
                </c:pt>
                <c:pt idx="54">
                  <c:v>2.9348217500900109</c:v>
                </c:pt>
                <c:pt idx="55">
                  <c:v>2.9438242707958251</c:v>
                </c:pt>
                <c:pt idx="56">
                  <c:v>2.8718041051494447</c:v>
                </c:pt>
                <c:pt idx="57">
                  <c:v>2.8628015844436527</c:v>
                </c:pt>
                <c:pt idx="58">
                  <c:v>2.5747209218581091</c:v>
                </c:pt>
                <c:pt idx="59">
                  <c:v>2.3856679870363662</c:v>
                </c:pt>
                <c:pt idx="60">
                  <c:v>2.4666906733885607</c:v>
                </c:pt>
                <c:pt idx="61">
                  <c:v>2.0795822830392385</c:v>
                </c:pt>
                <c:pt idx="62">
                  <c:v>1.1343176089305018</c:v>
                </c:pt>
                <c:pt idx="63">
                  <c:v>2.1516024486856411</c:v>
                </c:pt>
                <c:pt idx="64">
                  <c:v>2.1876125315088313</c:v>
                </c:pt>
                <c:pt idx="65">
                  <c:v>1.5394310406913858</c:v>
                </c:pt>
                <c:pt idx="66">
                  <c:v>2.4936982355059367</c:v>
                </c:pt>
                <c:pt idx="67">
                  <c:v>2.5117032769175429</c:v>
                </c:pt>
                <c:pt idx="68">
                  <c:v>2.6737486496219098</c:v>
                </c:pt>
                <c:pt idx="69">
                  <c:v>2.7907814187972502</c:v>
                </c:pt>
                <c:pt idx="70">
                  <c:v>2.8357940223262545</c:v>
                </c:pt>
                <c:pt idx="71">
                  <c:v>2.9348217500900109</c:v>
                </c:pt>
                <c:pt idx="72">
                  <c:v>2.9618293122074091</c:v>
                </c:pt>
                <c:pt idx="73">
                  <c:v>3.0248469571479975</c:v>
                </c:pt>
                <c:pt idx="74">
                  <c:v>3.0518545192653956</c:v>
                </c:pt>
                <c:pt idx="75">
                  <c:v>3.0068419157364135</c:v>
                </c:pt>
                <c:pt idx="76">
                  <c:v>2.7817788980914582</c:v>
                </c:pt>
                <c:pt idx="77">
                  <c:v>2.8537990637378607</c:v>
                </c:pt>
                <c:pt idx="78">
                  <c:v>2.9168167086784269</c:v>
                </c:pt>
                <c:pt idx="79">
                  <c:v>2.9168167086784269</c:v>
                </c:pt>
                <c:pt idx="80">
                  <c:v>2.9168167086784269</c:v>
                </c:pt>
                <c:pt idx="81">
                  <c:v>2.9078141879726349</c:v>
                </c:pt>
                <c:pt idx="82">
                  <c:v>2.9348217500900109</c:v>
                </c:pt>
                <c:pt idx="83">
                  <c:v>2.7817788980914582</c:v>
                </c:pt>
                <c:pt idx="84">
                  <c:v>2.340655383507384</c:v>
                </c:pt>
                <c:pt idx="85">
                  <c:v>1.5304285199855938</c:v>
                </c:pt>
                <c:pt idx="86">
                  <c:v>2.2146200936262073</c:v>
                </c:pt>
                <c:pt idx="87">
                  <c:v>2.3226503420958</c:v>
                </c:pt>
                <c:pt idx="88">
                  <c:v>2.6557436082103036</c:v>
                </c:pt>
                <c:pt idx="89">
                  <c:v>2.9078141879726349</c:v>
                </c:pt>
                <c:pt idx="90">
                  <c:v>3.3039250990277269</c:v>
                </c:pt>
                <c:pt idx="91">
                  <c:v>3.3129276197335189</c:v>
                </c:pt>
                <c:pt idx="92">
                  <c:v>3.8710839034929778</c:v>
                </c:pt>
                <c:pt idx="93">
                  <c:v>3.9791141519625484</c:v>
                </c:pt>
                <c:pt idx="94">
                  <c:v>4.0511343176089287</c:v>
                </c:pt>
                <c:pt idx="95">
                  <c:v>3.9971191933741546</c:v>
                </c:pt>
                <c:pt idx="96">
                  <c:v>3.9791141519625484</c:v>
                </c:pt>
                <c:pt idx="97">
                  <c:v>4.2311847317248796</c:v>
                </c:pt>
                <c:pt idx="98">
                  <c:v>4.294202376665468</c:v>
                </c:pt>
                <c:pt idx="99">
                  <c:v>4.3572200216060564</c:v>
                </c:pt>
                <c:pt idx="100">
                  <c:v>4.3662225423118484</c:v>
                </c:pt>
                <c:pt idx="101">
                  <c:v>4.3572200216060564</c:v>
                </c:pt>
                <c:pt idx="102">
                  <c:v>4.4832553114872331</c:v>
                </c:pt>
                <c:pt idx="103">
                  <c:v>4.6453006841915778</c:v>
                </c:pt>
                <c:pt idx="104">
                  <c:v>4.7353258912495422</c:v>
                </c:pt>
                <c:pt idx="105">
                  <c:v>4.7893410154843385</c:v>
                </c:pt>
                <c:pt idx="106">
                  <c:v>4.8703637018365109</c:v>
                </c:pt>
                <c:pt idx="107">
                  <c:v>4.8793662225423251</c:v>
                </c:pt>
                <c:pt idx="108">
                  <c:v>4.9963989917176654</c:v>
                </c:pt>
                <c:pt idx="109">
                  <c:v>5.059416636658276</c:v>
                </c:pt>
                <c:pt idx="110">
                  <c:v>5.1854519265394305</c:v>
                </c:pt>
                <c:pt idx="111">
                  <c:v>5.2844796543032091</c:v>
                </c:pt>
                <c:pt idx="112">
                  <c:v>5.4015124234785716</c:v>
                </c:pt>
                <c:pt idx="113">
                  <c:v>5.3655023406553815</c:v>
                </c:pt>
                <c:pt idx="114">
                  <c:v>5.3925099027727796</c:v>
                </c:pt>
                <c:pt idx="115">
                  <c:v>5.3294922578321913</c:v>
                </c:pt>
                <c:pt idx="116">
                  <c:v>5.2934821750090011</c:v>
                </c:pt>
                <c:pt idx="117">
                  <c:v>5.4285199855959698</c:v>
                </c:pt>
                <c:pt idx="118">
                  <c:v>5.4015124234785716</c:v>
                </c:pt>
                <c:pt idx="119">
                  <c:v>5.4195174648901778</c:v>
                </c:pt>
                <c:pt idx="120">
                  <c:v>5.473532589124952</c:v>
                </c:pt>
                <c:pt idx="121">
                  <c:v>5.5095426719481422</c:v>
                </c:pt>
                <c:pt idx="122">
                  <c:v>5.3294922578321913</c:v>
                </c:pt>
                <c:pt idx="123">
                  <c:v>5.3835073820669876</c:v>
                </c:pt>
                <c:pt idx="124">
                  <c:v>5.4285199855959698</c:v>
                </c:pt>
                <c:pt idx="125">
                  <c:v>5.455527547713368</c:v>
                </c:pt>
                <c:pt idx="126">
                  <c:v>5.6085703997119207</c:v>
                </c:pt>
                <c:pt idx="127">
                  <c:v>5.6715880446524869</c:v>
                </c:pt>
                <c:pt idx="128">
                  <c:v>5.6535830032409029</c:v>
                </c:pt>
                <c:pt idx="129">
                  <c:v>5.7526107310046815</c:v>
                </c:pt>
                <c:pt idx="130">
                  <c:v>5.7976233345336636</c:v>
                </c:pt>
                <c:pt idx="131">
                  <c:v>5.8966510622974422</c:v>
                </c:pt>
                <c:pt idx="132">
                  <c:v>5.9146561037090484</c:v>
                </c:pt>
                <c:pt idx="133">
                  <c:v>5.9776737486496145</c:v>
                </c:pt>
                <c:pt idx="134">
                  <c:v>5.9686712279438225</c:v>
                </c:pt>
                <c:pt idx="135">
                  <c:v>5.9146561037090484</c:v>
                </c:pt>
                <c:pt idx="136">
                  <c:v>5.9776737486496145</c:v>
                </c:pt>
                <c:pt idx="137">
                  <c:v>6.0136838314728047</c:v>
                </c:pt>
                <c:pt idx="138">
                  <c:v>6.0046813107670127</c:v>
                </c:pt>
                <c:pt idx="139">
                  <c:v>5.6715880446524869</c:v>
                </c:pt>
                <c:pt idx="140">
                  <c:v>6.1217140799423975</c:v>
                </c:pt>
                <c:pt idx="141">
                  <c:v>6.2207418077061538</c:v>
                </c:pt>
                <c:pt idx="142">
                  <c:v>6.2927619733525342</c:v>
                </c:pt>
                <c:pt idx="143">
                  <c:v>6.265754411235136</c:v>
                </c:pt>
                <c:pt idx="144">
                  <c:v>6.2027367662945698</c:v>
                </c:pt>
                <c:pt idx="145">
                  <c:v>6.1487216420597735</c:v>
                </c:pt>
                <c:pt idx="146">
                  <c:v>6.0406913935902029</c:v>
                </c:pt>
                <c:pt idx="147">
                  <c:v>6.0316888728844109</c:v>
                </c:pt>
                <c:pt idx="148">
                  <c:v>6.0767014764133931</c:v>
                </c:pt>
                <c:pt idx="149">
                  <c:v>6.2027367662945698</c:v>
                </c:pt>
                <c:pt idx="150">
                  <c:v>6.3197695354699324</c:v>
                </c:pt>
                <c:pt idx="151">
                  <c:v>6.4277997839395029</c:v>
                </c:pt>
                <c:pt idx="152">
                  <c:v>6.5178249909974895</c:v>
                </c:pt>
                <c:pt idx="153">
                  <c:v>6.5718401152322636</c:v>
                </c:pt>
                <c:pt idx="154">
                  <c:v>6.6168527187612458</c:v>
                </c:pt>
                <c:pt idx="155">
                  <c:v>6.6258552394670378</c:v>
                </c:pt>
                <c:pt idx="156">
                  <c:v>6.6528628015844582</c:v>
                </c:pt>
                <c:pt idx="157">
                  <c:v>6.7158804465250244</c:v>
                </c:pt>
                <c:pt idx="158">
                  <c:v>6.6978754051134404</c:v>
                </c:pt>
                <c:pt idx="159">
                  <c:v>6.7698955707597985</c:v>
                </c:pt>
                <c:pt idx="160">
                  <c:v>6.8149081742888029</c:v>
                </c:pt>
                <c:pt idx="161">
                  <c:v>6.7879006121714047</c:v>
                </c:pt>
                <c:pt idx="162">
                  <c:v>6.8239106949946171</c:v>
                </c:pt>
                <c:pt idx="163">
                  <c:v>6.8239106949946171</c:v>
                </c:pt>
                <c:pt idx="164">
                  <c:v>6.7698955707597985</c:v>
                </c:pt>
                <c:pt idx="165">
                  <c:v>6.7879006121714047</c:v>
                </c:pt>
                <c:pt idx="166">
                  <c:v>6.8329132157004091</c:v>
                </c:pt>
                <c:pt idx="167">
                  <c:v>6.7608930500540065</c:v>
                </c:pt>
                <c:pt idx="168">
                  <c:v>6.5898451566438476</c:v>
                </c:pt>
                <c:pt idx="169">
                  <c:v>6.7248829672308164</c:v>
                </c:pt>
                <c:pt idx="170">
                  <c:v>6.7698955707597985</c:v>
                </c:pt>
                <c:pt idx="171">
                  <c:v>6.7879006121714047</c:v>
                </c:pt>
                <c:pt idx="172">
                  <c:v>6.7518905293482145</c:v>
                </c:pt>
                <c:pt idx="173">
                  <c:v>6.643860280878644</c:v>
                </c:pt>
                <c:pt idx="174">
                  <c:v>6.6258552394670378</c:v>
                </c:pt>
                <c:pt idx="175">
                  <c:v>6.643860280878644</c:v>
                </c:pt>
                <c:pt idx="176">
                  <c:v>6.6618653222902502</c:v>
                </c:pt>
                <c:pt idx="177">
                  <c:v>6.7788980914656127</c:v>
                </c:pt>
                <c:pt idx="178">
                  <c:v>6.7608930500540065</c:v>
                </c:pt>
                <c:pt idx="179">
                  <c:v>6.8149081742888029</c:v>
                </c:pt>
                <c:pt idx="180">
                  <c:v>6.8239106949946171</c:v>
                </c:pt>
                <c:pt idx="181">
                  <c:v>6.6798703637018342</c:v>
                </c:pt>
                <c:pt idx="182">
                  <c:v>6.6618653222902502</c:v>
                </c:pt>
                <c:pt idx="183">
                  <c:v>6.7338854879366306</c:v>
                </c:pt>
                <c:pt idx="184">
                  <c:v>6.8329132157004091</c:v>
                </c:pt>
                <c:pt idx="185">
                  <c:v>6.8959308606409753</c:v>
                </c:pt>
                <c:pt idx="186">
                  <c:v>6.9319409434641654</c:v>
                </c:pt>
                <c:pt idx="187">
                  <c:v>6.9679510262873556</c:v>
                </c:pt>
                <c:pt idx="188">
                  <c:v>7.039971191933736</c:v>
                </c:pt>
                <c:pt idx="189">
                  <c:v>7.0669787540511342</c:v>
                </c:pt>
                <c:pt idx="190">
                  <c:v>7.1299963989917226</c:v>
                </c:pt>
                <c:pt idx="191">
                  <c:v>7.2020165646381029</c:v>
                </c:pt>
                <c:pt idx="192">
                  <c:v>7.3190493338134655</c:v>
                </c:pt>
                <c:pt idx="193">
                  <c:v>7.3910694994598458</c:v>
                </c:pt>
                <c:pt idx="194">
                  <c:v>7.4540871444004342</c:v>
                </c:pt>
                <c:pt idx="195">
                  <c:v>7.418077061577244</c:v>
                </c:pt>
                <c:pt idx="196">
                  <c:v>7.4450846236946422</c:v>
                </c:pt>
                <c:pt idx="197">
                  <c:v>7.418077061577244</c:v>
                </c:pt>
                <c:pt idx="198">
                  <c:v>7.4540871444004342</c:v>
                </c:pt>
                <c:pt idx="199">
                  <c:v>7.4900972272236244</c:v>
                </c:pt>
                <c:pt idx="200">
                  <c:v>7.5171047893410003</c:v>
                </c:pt>
                <c:pt idx="201">
                  <c:v>7.5171047893410003</c:v>
                </c:pt>
                <c:pt idx="202">
                  <c:v>7.418077061577244</c:v>
                </c:pt>
                <c:pt idx="203">
                  <c:v>7.40007202016566</c:v>
                </c:pt>
                <c:pt idx="204">
                  <c:v>7.0759812747569262</c:v>
                </c:pt>
                <c:pt idx="205">
                  <c:v>7.4810947065178102</c:v>
                </c:pt>
                <c:pt idx="206">
                  <c:v>7.5351098307526065</c:v>
                </c:pt>
                <c:pt idx="207">
                  <c:v>7.5531148721642127</c:v>
                </c:pt>
                <c:pt idx="208">
                  <c:v>7.5531148721642127</c:v>
                </c:pt>
                <c:pt idx="209">
                  <c:v>7.5981274756931949</c:v>
                </c:pt>
                <c:pt idx="210">
                  <c:v>7.6161325171048011</c:v>
                </c:pt>
                <c:pt idx="211">
                  <c:v>7.2650342095786913</c:v>
                </c:pt>
                <c:pt idx="212">
                  <c:v>7.6791501620453673</c:v>
                </c:pt>
                <c:pt idx="213">
                  <c:v>7.6881526827511593</c:v>
                </c:pt>
                <c:pt idx="214">
                  <c:v>7.7331652862801636</c:v>
                </c:pt>
                <c:pt idx="215">
                  <c:v>7.7511703276917698</c:v>
                </c:pt>
                <c:pt idx="216">
                  <c:v>7.6881526827511593</c:v>
                </c:pt>
                <c:pt idx="217">
                  <c:v>7.6431400792221771</c:v>
                </c:pt>
                <c:pt idx="218">
                  <c:v>7.5801224342816109</c:v>
                </c:pt>
                <c:pt idx="219">
                  <c:v>7.6521425999279691</c:v>
                </c:pt>
                <c:pt idx="220">
                  <c:v>7.7151602448685574</c:v>
                </c:pt>
                <c:pt idx="221">
                  <c:v>7.7601728483975618</c:v>
                </c:pt>
                <c:pt idx="222">
                  <c:v>7.6791501620453673</c:v>
                </c:pt>
                <c:pt idx="223">
                  <c:v>7.6971552034569513</c:v>
                </c:pt>
                <c:pt idx="224">
                  <c:v>7.7511703276917698</c:v>
                </c:pt>
                <c:pt idx="225">
                  <c:v>7.805185451926544</c:v>
                </c:pt>
                <c:pt idx="226">
                  <c:v>7.8592005761613182</c:v>
                </c:pt>
                <c:pt idx="227">
                  <c:v>7.9132157003961145</c:v>
                </c:pt>
                <c:pt idx="228">
                  <c:v>7.9492257832193047</c:v>
                </c:pt>
                <c:pt idx="229">
                  <c:v>8.01224342815987</c:v>
                </c:pt>
                <c:pt idx="230">
                  <c:v>8.0572560316888762</c:v>
                </c:pt>
                <c:pt idx="231">
                  <c:v>7.823190493338128</c:v>
                </c:pt>
                <c:pt idx="232">
                  <c:v>8.2823190493338306</c:v>
                </c:pt>
                <c:pt idx="233">
                  <c:v>8.3003240907454146</c:v>
                </c:pt>
                <c:pt idx="234">
                  <c:v>8.3273316528628136</c:v>
                </c:pt>
                <c:pt idx="235">
                  <c:v>8.4803745048613663</c:v>
                </c:pt>
                <c:pt idx="236">
                  <c:v>8.5613971912135369</c:v>
                </c:pt>
                <c:pt idx="237">
                  <c:v>8.5703997119193289</c:v>
                </c:pt>
                <c:pt idx="238">
                  <c:v>8.6604249189773164</c:v>
                </c:pt>
                <c:pt idx="239">
                  <c:v>8.7054375225062977</c:v>
                </c:pt>
                <c:pt idx="240">
                  <c:v>8.6964350018005057</c:v>
                </c:pt>
                <c:pt idx="241">
                  <c:v>8.6964350018005057</c:v>
                </c:pt>
                <c:pt idx="242">
                  <c:v>8.6424198775657324</c:v>
                </c:pt>
                <c:pt idx="243">
                  <c:v>8.5794022326251209</c:v>
                </c:pt>
                <c:pt idx="244">
                  <c:v>8.6334173568599404</c:v>
                </c:pt>
                <c:pt idx="245">
                  <c:v>8.9755131436802138</c:v>
                </c:pt>
                <c:pt idx="246">
                  <c:v>8.6964350018005057</c:v>
                </c:pt>
                <c:pt idx="247">
                  <c:v>8.7504501260352807</c:v>
                </c:pt>
                <c:pt idx="248">
                  <c:v>8.7324450846236967</c:v>
                </c:pt>
                <c:pt idx="249">
                  <c:v>8.7954627295642638</c:v>
                </c:pt>
                <c:pt idx="250">
                  <c:v>9.1375585163845798</c:v>
                </c:pt>
                <c:pt idx="251">
                  <c:v>8.7954627295642638</c:v>
                </c:pt>
                <c:pt idx="252">
                  <c:v>8.8044652502700558</c:v>
                </c:pt>
                <c:pt idx="253">
                  <c:v>8.8314728123874744</c:v>
                </c:pt>
                <c:pt idx="254">
                  <c:v>8.8764854159164575</c:v>
                </c:pt>
                <c:pt idx="255">
                  <c:v>9.2725963269715486</c:v>
                </c:pt>
                <c:pt idx="256">
                  <c:v>8.9665106229744218</c:v>
                </c:pt>
                <c:pt idx="257">
                  <c:v>8.9214980194454405</c:v>
                </c:pt>
                <c:pt idx="258">
                  <c:v>8.9214980194454405</c:v>
                </c:pt>
                <c:pt idx="259">
                  <c:v>8.9665106229744218</c:v>
                </c:pt>
                <c:pt idx="260">
                  <c:v>8.9845156643860271</c:v>
                </c:pt>
                <c:pt idx="261">
                  <c:v>9.0205257472092182</c:v>
                </c:pt>
                <c:pt idx="262">
                  <c:v>9.0115232265034262</c:v>
                </c:pt>
                <c:pt idx="263">
                  <c:v>9.0115232265034262</c:v>
                </c:pt>
                <c:pt idx="264">
                  <c:v>8.8854879366222494</c:v>
                </c:pt>
                <c:pt idx="265">
                  <c:v>8.8944904573280414</c:v>
                </c:pt>
                <c:pt idx="266">
                  <c:v>8.9485055815628378</c:v>
                </c:pt>
                <c:pt idx="267">
                  <c:v>9.0205257472092182</c:v>
                </c:pt>
                <c:pt idx="268">
                  <c:v>9.0385307886208253</c:v>
                </c:pt>
                <c:pt idx="269">
                  <c:v>9.0475333093266173</c:v>
                </c:pt>
                <c:pt idx="270">
                  <c:v>9.0295282679150102</c:v>
                </c:pt>
                <c:pt idx="271">
                  <c:v>9.0655383507382012</c:v>
                </c:pt>
                <c:pt idx="272">
                  <c:v>9.1195534749729958</c:v>
                </c:pt>
                <c:pt idx="273">
                  <c:v>9.1015484335613905</c:v>
                </c:pt>
                <c:pt idx="274">
                  <c:v>9.1285559956787878</c:v>
                </c:pt>
                <c:pt idx="275">
                  <c:v>9.1465610370903718</c:v>
                </c:pt>
                <c:pt idx="276">
                  <c:v>9.182571119913586</c:v>
                </c:pt>
                <c:pt idx="277">
                  <c:v>9.20057616132517</c:v>
                </c:pt>
                <c:pt idx="278">
                  <c:v>9.2275837234425673</c:v>
                </c:pt>
                <c:pt idx="279">
                  <c:v>9.2185812027367753</c:v>
                </c:pt>
                <c:pt idx="280">
                  <c:v>9.20057616132517</c:v>
                </c:pt>
                <c:pt idx="281">
                  <c:v>9.2185812027367753</c:v>
                </c:pt>
                <c:pt idx="282">
                  <c:v>9.2545912855599646</c:v>
                </c:pt>
                <c:pt idx="283">
                  <c:v>9.2996038890889476</c:v>
                </c:pt>
                <c:pt idx="284">
                  <c:v>9.3356139719121156</c:v>
                </c:pt>
                <c:pt idx="285">
                  <c:v>9.2996038890889476</c:v>
                </c:pt>
                <c:pt idx="286">
                  <c:v>9.2545912855599646</c:v>
                </c:pt>
                <c:pt idx="287">
                  <c:v>9.2996038890889476</c:v>
                </c:pt>
                <c:pt idx="288">
                  <c:v>9.38062657544112</c:v>
                </c:pt>
                <c:pt idx="289">
                  <c:v>9.3896290961469333</c:v>
                </c:pt>
                <c:pt idx="290">
                  <c:v>9.4346416996759164</c:v>
                </c:pt>
                <c:pt idx="291">
                  <c:v>9.4256391789701013</c:v>
                </c:pt>
                <c:pt idx="292">
                  <c:v>9.4976593446164834</c:v>
                </c:pt>
                <c:pt idx="293">
                  <c:v>9.5876845516744691</c:v>
                </c:pt>
                <c:pt idx="294">
                  <c:v>9.5786820309686771</c:v>
                </c:pt>
                <c:pt idx="295">
                  <c:v>9.6146921137918682</c:v>
                </c:pt>
                <c:pt idx="296">
                  <c:v>9.6777097587324334</c:v>
                </c:pt>
                <c:pt idx="297">
                  <c:v>9.7227223622614378</c:v>
                </c:pt>
                <c:pt idx="298">
                  <c:v>9.7677349657904209</c:v>
                </c:pt>
                <c:pt idx="299">
                  <c:v>9.7857400072020262</c:v>
                </c:pt>
                <c:pt idx="300">
                  <c:v>9.8037450486136102</c:v>
                </c:pt>
                <c:pt idx="301">
                  <c:v>9.8307526107310075</c:v>
                </c:pt>
                <c:pt idx="302">
                  <c:v>9.8577601728483835</c:v>
                </c:pt>
                <c:pt idx="303">
                  <c:v>9.9297803384947869</c:v>
                </c:pt>
                <c:pt idx="304">
                  <c:v>10.019805545552751</c:v>
                </c:pt>
                <c:pt idx="305">
                  <c:v>10.08282319049334</c:v>
                </c:pt>
                <c:pt idx="306">
                  <c:v>10.109830752610737</c:v>
                </c:pt>
                <c:pt idx="307">
                  <c:v>10.118833273316529</c:v>
                </c:pt>
                <c:pt idx="308">
                  <c:v>10.010803024846959</c:v>
                </c:pt>
                <c:pt idx="309">
                  <c:v>10.037810586964335</c:v>
                </c:pt>
                <c:pt idx="310">
                  <c:v>10.064818149081734</c:v>
                </c:pt>
                <c:pt idx="311">
                  <c:v>10.055815628375942</c:v>
                </c:pt>
                <c:pt idx="312">
                  <c:v>10.04681310767015</c:v>
                </c:pt>
                <c:pt idx="313">
                  <c:v>10.028808066258543</c:v>
                </c:pt>
                <c:pt idx="314">
                  <c:v>9.9297803384947869</c:v>
                </c:pt>
                <c:pt idx="315">
                  <c:v>9.6597047173208495</c:v>
                </c:pt>
                <c:pt idx="316">
                  <c:v>9.9837954627295602</c:v>
                </c:pt>
                <c:pt idx="317">
                  <c:v>9.9027727763773896</c:v>
                </c:pt>
                <c:pt idx="318">
                  <c:v>9.8757652142599905</c:v>
                </c:pt>
                <c:pt idx="319">
                  <c:v>9.8487576521425915</c:v>
                </c:pt>
                <c:pt idx="320">
                  <c:v>9.7227223622614378</c:v>
                </c:pt>
                <c:pt idx="321">
                  <c:v>9.7677349657904209</c:v>
                </c:pt>
                <c:pt idx="322">
                  <c:v>9.7407274036730449</c:v>
                </c:pt>
                <c:pt idx="323">
                  <c:v>9.6326971552034522</c:v>
                </c:pt>
                <c:pt idx="324">
                  <c:v>9.4886568239106914</c:v>
                </c:pt>
                <c:pt idx="325">
                  <c:v>9.5336694274396727</c:v>
                </c:pt>
                <c:pt idx="326">
                  <c:v>9.7137198415556227</c:v>
                </c:pt>
                <c:pt idx="327">
                  <c:v>9.7497299243788369</c:v>
                </c:pt>
                <c:pt idx="328">
                  <c:v>9.7317248829672298</c:v>
                </c:pt>
                <c:pt idx="329">
                  <c:v>9.7587324450846289</c:v>
                </c:pt>
                <c:pt idx="330">
                  <c:v>9.8037450486136102</c:v>
                </c:pt>
                <c:pt idx="331">
                  <c:v>9.7497299243788369</c:v>
                </c:pt>
                <c:pt idx="332">
                  <c:v>9.6867122794382254</c:v>
                </c:pt>
                <c:pt idx="333">
                  <c:v>9.7497299243788369</c:v>
                </c:pt>
                <c:pt idx="334">
                  <c:v>9.7857400072020262</c:v>
                </c:pt>
                <c:pt idx="335">
                  <c:v>9.7947425279078182</c:v>
                </c:pt>
                <c:pt idx="336">
                  <c:v>9.7587324450846289</c:v>
                </c:pt>
                <c:pt idx="337">
                  <c:v>9.8127475693194022</c:v>
                </c:pt>
                <c:pt idx="338">
                  <c:v>9.4976593446164834</c:v>
                </c:pt>
                <c:pt idx="339">
                  <c:v>9.8397551314367995</c:v>
                </c:pt>
                <c:pt idx="340">
                  <c:v>9.9297803384947869</c:v>
                </c:pt>
                <c:pt idx="341">
                  <c:v>10.055815628375942</c:v>
                </c:pt>
                <c:pt idx="342">
                  <c:v>10.172848397551304</c:v>
                </c:pt>
                <c:pt idx="343">
                  <c:v>10.208858480374495</c:v>
                </c:pt>
                <c:pt idx="344">
                  <c:v>10.091825711199153</c:v>
                </c:pt>
                <c:pt idx="345">
                  <c:v>10.118833273316529</c:v>
                </c:pt>
                <c:pt idx="346">
                  <c:v>10.460929060136849</c:v>
                </c:pt>
                <c:pt idx="347">
                  <c:v>10.469931580842641</c:v>
                </c:pt>
                <c:pt idx="348">
                  <c:v>10.15484335613972</c:v>
                </c:pt>
                <c:pt idx="349">
                  <c:v>10.208858480374495</c:v>
                </c:pt>
                <c:pt idx="350">
                  <c:v>10.172848397551304</c:v>
                </c:pt>
                <c:pt idx="351">
                  <c:v>10.163845876845512</c:v>
                </c:pt>
                <c:pt idx="352">
                  <c:v>10.118833273316529</c:v>
                </c:pt>
                <c:pt idx="353">
                  <c:v>10.037810586964335</c:v>
                </c:pt>
                <c:pt idx="354">
                  <c:v>10.001800504141167</c:v>
                </c:pt>
                <c:pt idx="355">
                  <c:v>9.9747929420237682</c:v>
                </c:pt>
                <c:pt idx="356">
                  <c:v>9.5966870723802611</c:v>
                </c:pt>
                <c:pt idx="357">
                  <c:v>9.5786820309686771</c:v>
                </c:pt>
                <c:pt idx="358">
                  <c:v>9.542671948145486</c:v>
                </c:pt>
                <c:pt idx="359">
                  <c:v>9.6957148001440387</c:v>
                </c:pt>
                <c:pt idx="360">
                  <c:v>9.7857400072020262</c:v>
                </c:pt>
                <c:pt idx="361">
                  <c:v>9.9027727763773896</c:v>
                </c:pt>
                <c:pt idx="362">
                  <c:v>9.9927979834353522</c:v>
                </c:pt>
                <c:pt idx="363">
                  <c:v>10.2268635217861</c:v>
                </c:pt>
                <c:pt idx="364">
                  <c:v>10.280878646020897</c:v>
                </c:pt>
                <c:pt idx="365">
                  <c:v>10.316888728844088</c:v>
                </c:pt>
                <c:pt idx="366">
                  <c:v>10.298883687432481</c:v>
                </c:pt>
                <c:pt idx="367">
                  <c:v>10.370903853078861</c:v>
                </c:pt>
                <c:pt idx="368">
                  <c:v>10.352898811667256</c:v>
                </c:pt>
                <c:pt idx="369">
                  <c:v>10.361901332373069</c:v>
                </c:pt>
                <c:pt idx="370">
                  <c:v>10.433921498019426</c:v>
                </c:pt>
                <c:pt idx="371">
                  <c:v>10.433921498019426</c:v>
                </c:pt>
                <c:pt idx="372">
                  <c:v>10.397911415196258</c:v>
                </c:pt>
                <c:pt idx="373">
                  <c:v>10.433921498019426</c:v>
                </c:pt>
                <c:pt idx="374">
                  <c:v>10.50594166366583</c:v>
                </c:pt>
                <c:pt idx="375">
                  <c:v>10.550954267194811</c:v>
                </c:pt>
                <c:pt idx="376">
                  <c:v>10.559956787900603</c:v>
                </c:pt>
                <c:pt idx="377">
                  <c:v>10.640979474252799</c:v>
                </c:pt>
                <c:pt idx="378">
                  <c:v>10.68599207778178</c:v>
                </c:pt>
                <c:pt idx="379">
                  <c:v>10.694994598487572</c:v>
                </c:pt>
                <c:pt idx="380">
                  <c:v>10.830032409074541</c:v>
                </c:pt>
                <c:pt idx="381">
                  <c:v>10.866042491897732</c:v>
                </c:pt>
                <c:pt idx="382">
                  <c:v>10.839034929780333</c:v>
                </c:pt>
                <c:pt idx="383">
                  <c:v>10.875045012603524</c:v>
                </c:pt>
                <c:pt idx="384">
                  <c:v>10.839034929780333</c:v>
                </c:pt>
                <c:pt idx="385">
                  <c:v>10.884047533309339</c:v>
                </c:pt>
                <c:pt idx="386">
                  <c:v>10.956067698955696</c:v>
                </c:pt>
                <c:pt idx="387">
                  <c:v>10.983075261073093</c:v>
                </c:pt>
                <c:pt idx="388">
                  <c:v>10.938062657544112</c:v>
                </c:pt>
                <c:pt idx="389">
                  <c:v>10.938062657544112</c:v>
                </c:pt>
                <c:pt idx="390">
                  <c:v>10.848037450486148</c:v>
                </c:pt>
                <c:pt idx="391">
                  <c:v>10.812027367662957</c:v>
                </c:pt>
                <c:pt idx="392">
                  <c:v>10.839034929780333</c:v>
                </c:pt>
                <c:pt idx="393">
                  <c:v>10.758012243428162</c:v>
                </c:pt>
                <c:pt idx="394">
                  <c:v>10.550954267194811</c:v>
                </c:pt>
                <c:pt idx="395">
                  <c:v>10.460929060136849</c:v>
                </c:pt>
                <c:pt idx="396">
                  <c:v>10.631976953547007</c:v>
                </c:pt>
                <c:pt idx="397">
                  <c:v>10.460929060136849</c:v>
                </c:pt>
                <c:pt idx="398">
                  <c:v>10.26287360460929</c:v>
                </c:pt>
                <c:pt idx="399">
                  <c:v>10.127835794022321</c:v>
                </c:pt>
                <c:pt idx="400">
                  <c:v>10.2268635217861</c:v>
                </c:pt>
                <c:pt idx="401">
                  <c:v>10.415916456607842</c:v>
                </c:pt>
                <c:pt idx="402">
                  <c:v>10.235866042491892</c:v>
                </c:pt>
                <c:pt idx="403">
                  <c:v>9.6507021966150575</c:v>
                </c:pt>
                <c:pt idx="404">
                  <c:v>9.4346416996759164</c:v>
                </c:pt>
                <c:pt idx="405">
                  <c:v>9.551674468851278</c:v>
                </c:pt>
                <c:pt idx="406">
                  <c:v>9.7857400072020262</c:v>
                </c:pt>
                <c:pt idx="407">
                  <c:v>9.6687072380266414</c:v>
                </c:pt>
                <c:pt idx="408">
                  <c:v>9.4886568239106914</c:v>
                </c:pt>
                <c:pt idx="409">
                  <c:v>9.2095786820309833</c:v>
                </c:pt>
                <c:pt idx="410">
                  <c:v>9.3356139719121156</c:v>
                </c:pt>
                <c:pt idx="411">
                  <c:v>9.4436442203817084</c:v>
                </c:pt>
                <c:pt idx="412">
                  <c:v>9.4526467410875004</c:v>
                </c:pt>
                <c:pt idx="413">
                  <c:v>9.4256391789701013</c:v>
                </c:pt>
                <c:pt idx="414">
                  <c:v>9.3986316168527253</c:v>
                </c:pt>
                <c:pt idx="415">
                  <c:v>9.191573640619378</c:v>
                </c:pt>
                <c:pt idx="416">
                  <c:v>9.2635938062657566</c:v>
                </c:pt>
                <c:pt idx="417">
                  <c:v>8.6964350018005057</c:v>
                </c:pt>
                <c:pt idx="418">
                  <c:v>8.9485055815628378</c:v>
                </c:pt>
                <c:pt idx="419">
                  <c:v>8.8854879366222494</c:v>
                </c:pt>
                <c:pt idx="420">
                  <c:v>8.9755131436802138</c:v>
                </c:pt>
                <c:pt idx="421">
                  <c:v>8.8764854159164575</c:v>
                </c:pt>
                <c:pt idx="422">
                  <c:v>8.9034929780338565</c:v>
                </c:pt>
                <c:pt idx="423">
                  <c:v>8.6784299603889217</c:v>
                </c:pt>
                <c:pt idx="424">
                  <c:v>8.1562837594526538</c:v>
                </c:pt>
                <c:pt idx="425">
                  <c:v>6.8329132157004091</c:v>
                </c:pt>
                <c:pt idx="426">
                  <c:v>8.0752610731004602</c:v>
                </c:pt>
                <c:pt idx="427">
                  <c:v>8.0842635938062521</c:v>
                </c:pt>
                <c:pt idx="428">
                  <c:v>8.0392509902772691</c:v>
                </c:pt>
                <c:pt idx="429">
                  <c:v>7.9222182211019065</c:v>
                </c:pt>
                <c:pt idx="430">
                  <c:v>7.6611451206337833</c:v>
                </c:pt>
                <c:pt idx="431">
                  <c:v>7.9312207418077207</c:v>
                </c:pt>
                <c:pt idx="432">
                  <c:v>8.597407274036728</c:v>
                </c:pt>
                <c:pt idx="433">
                  <c:v>8.6874324810947137</c:v>
                </c:pt>
                <c:pt idx="434">
                  <c:v>8.7954627295642638</c:v>
                </c:pt>
                <c:pt idx="435">
                  <c:v>8.7954627295642638</c:v>
                </c:pt>
                <c:pt idx="436">
                  <c:v>8.7774576881526798</c:v>
                </c:pt>
                <c:pt idx="437">
                  <c:v>8.8584803745048735</c:v>
                </c:pt>
                <c:pt idx="438">
                  <c:v>9.1285559956787878</c:v>
                </c:pt>
                <c:pt idx="439">
                  <c:v>9.2996038890889476</c:v>
                </c:pt>
                <c:pt idx="440">
                  <c:v>9.3536190133237227</c:v>
                </c:pt>
                <c:pt idx="441">
                  <c:v>9.38062657544112</c:v>
                </c:pt>
                <c:pt idx="442">
                  <c:v>9.4706517824991074</c:v>
                </c:pt>
                <c:pt idx="443">
                  <c:v>9.4886568239106914</c:v>
                </c:pt>
                <c:pt idx="444">
                  <c:v>9.2545912855599646</c:v>
                </c:pt>
                <c:pt idx="445">
                  <c:v>9.1555635577961638</c:v>
                </c:pt>
                <c:pt idx="446">
                  <c:v>9.1195534749729958</c:v>
                </c:pt>
                <c:pt idx="447">
                  <c:v>9.0295282679150102</c:v>
                </c:pt>
                <c:pt idx="448">
                  <c:v>7.83219301404392</c:v>
                </c:pt>
                <c:pt idx="449">
                  <c:v>8.8854879366222494</c:v>
                </c:pt>
                <c:pt idx="450">
                  <c:v>8.8674828952106655</c:v>
                </c:pt>
                <c:pt idx="451">
                  <c:v>8.7504501260352807</c:v>
                </c:pt>
                <c:pt idx="452">
                  <c:v>8.8224702916816824</c:v>
                </c:pt>
                <c:pt idx="453">
                  <c:v>8.8494778537990584</c:v>
                </c:pt>
                <c:pt idx="454">
                  <c:v>8.8584803745048735</c:v>
                </c:pt>
                <c:pt idx="455">
                  <c:v>8.6964350018005057</c:v>
                </c:pt>
                <c:pt idx="456">
                  <c:v>8.6604249189773164</c:v>
                </c:pt>
                <c:pt idx="457">
                  <c:v>8.3813467770975869</c:v>
                </c:pt>
                <c:pt idx="458">
                  <c:v>7.2110190853438949</c:v>
                </c:pt>
                <c:pt idx="459">
                  <c:v>8.1202736766294628</c:v>
                </c:pt>
                <c:pt idx="460">
                  <c:v>7.9312207418077207</c:v>
                </c:pt>
                <c:pt idx="461">
                  <c:v>7.7781778898091458</c:v>
                </c:pt>
                <c:pt idx="462">
                  <c:v>7.6251350378105931</c:v>
                </c:pt>
                <c:pt idx="463">
                  <c:v>6.9409434641699574</c:v>
                </c:pt>
                <c:pt idx="464">
                  <c:v>6.4368023046452949</c:v>
                </c:pt>
                <c:pt idx="465">
                  <c:v>5.46453006841916</c:v>
                </c:pt>
                <c:pt idx="466">
                  <c:v>5.7886208138278716</c:v>
                </c:pt>
                <c:pt idx="467">
                  <c:v>6.7428880086424225</c:v>
                </c:pt>
                <c:pt idx="468">
                  <c:v>6.8329132157004091</c:v>
                </c:pt>
                <c:pt idx="469">
                  <c:v>6.8419157364062011</c:v>
                </c:pt>
                <c:pt idx="470">
                  <c:v>6.8869283399351833</c:v>
                </c:pt>
                <c:pt idx="471">
                  <c:v>6.8239106949946171</c:v>
                </c:pt>
                <c:pt idx="472">
                  <c:v>6.4368023046452949</c:v>
                </c:pt>
                <c:pt idx="473">
                  <c:v>6.4097947425278967</c:v>
                </c:pt>
                <c:pt idx="474">
                  <c:v>6.4638098667626931</c:v>
                </c:pt>
                <c:pt idx="475">
                  <c:v>6.3737846597047065</c:v>
                </c:pt>
                <c:pt idx="476">
                  <c:v>6.4007922218221047</c:v>
                </c:pt>
                <c:pt idx="477">
                  <c:v>5.6355779618293189</c:v>
                </c:pt>
                <c:pt idx="478">
                  <c:v>6.9589485055815636</c:v>
                </c:pt>
                <c:pt idx="479">
                  <c:v>7.1389989196975145</c:v>
                </c:pt>
                <c:pt idx="480">
                  <c:v>7.0939863161685324</c:v>
                </c:pt>
                <c:pt idx="481">
                  <c:v>7.1480014404033065</c:v>
                </c:pt>
                <c:pt idx="482">
                  <c:v>7.1480014404033065</c:v>
                </c:pt>
                <c:pt idx="483">
                  <c:v>7.1209938782859084</c:v>
                </c:pt>
                <c:pt idx="484">
                  <c:v>7.1209938782859084</c:v>
                </c:pt>
                <c:pt idx="485">
                  <c:v>5.9776737486496145</c:v>
                </c:pt>
                <c:pt idx="486">
                  <c:v>6.7518905293482145</c:v>
                </c:pt>
                <c:pt idx="487">
                  <c:v>6.0947065178249993</c:v>
                </c:pt>
                <c:pt idx="488">
                  <c:v>4.8343536190133207</c:v>
                </c:pt>
                <c:pt idx="489">
                  <c:v>4.4022326251350385</c:v>
                </c:pt>
                <c:pt idx="490">
                  <c:v>4.4112351458408305</c:v>
                </c:pt>
                <c:pt idx="491">
                  <c:v>3.9431040691393582</c:v>
                </c:pt>
                <c:pt idx="492">
                  <c:v>3.7450486136118233</c:v>
                </c:pt>
                <c:pt idx="493">
                  <c:v>3.7180410514944029</c:v>
                </c:pt>
                <c:pt idx="494">
                  <c:v>3.7270435722001949</c:v>
                </c:pt>
                <c:pt idx="495">
                  <c:v>3.52898811667266</c:v>
                </c:pt>
                <c:pt idx="496">
                  <c:v>3.2949225783219349</c:v>
                </c:pt>
                <c:pt idx="497">
                  <c:v>3.123874684911776</c:v>
                </c:pt>
                <c:pt idx="498">
                  <c:v>3.0608570399711876</c:v>
                </c:pt>
                <c:pt idx="499">
                  <c:v>2.9168167086784269</c:v>
                </c:pt>
                <c:pt idx="500">
                  <c:v>2.4396831112711403</c:v>
                </c:pt>
                <c:pt idx="501">
                  <c:v>1.7824990997479251</c:v>
                </c:pt>
                <c:pt idx="502">
                  <c:v>1.7014764133957527</c:v>
                </c:pt>
                <c:pt idx="503">
                  <c:v>1.6294562477493724</c:v>
                </c:pt>
                <c:pt idx="504">
                  <c:v>1.6294562477493724</c:v>
                </c:pt>
                <c:pt idx="505">
                  <c:v>1.5484335613971778</c:v>
                </c:pt>
                <c:pt idx="506">
                  <c:v>1.6924738926899385</c:v>
                </c:pt>
                <c:pt idx="507">
                  <c:v>2.0165646380986724</c:v>
                </c:pt>
                <c:pt idx="508">
                  <c:v>2.0435722002160484</c:v>
                </c:pt>
                <c:pt idx="509">
                  <c:v>2.0525747209218625</c:v>
                </c:pt>
                <c:pt idx="510">
                  <c:v>1.8725243068058894</c:v>
                </c:pt>
                <c:pt idx="511">
                  <c:v>0.59416636658262689</c:v>
                </c:pt>
                <c:pt idx="512">
                  <c:v>1.6204537270435804</c:v>
                </c:pt>
                <c:pt idx="513">
                  <c:v>1.9085343896290796</c:v>
                </c:pt>
                <c:pt idx="514">
                  <c:v>2.0615772416276545</c:v>
                </c:pt>
                <c:pt idx="515">
                  <c:v>2.8447965430320465</c:v>
                </c:pt>
                <c:pt idx="516">
                  <c:v>3.2679150162045367</c:v>
                </c:pt>
                <c:pt idx="517">
                  <c:v>3.6100108030248546</c:v>
                </c:pt>
                <c:pt idx="518">
                  <c:v>4.0331292761973225</c:v>
                </c:pt>
                <c:pt idx="519">
                  <c:v>4.0241267554915305</c:v>
                </c:pt>
                <c:pt idx="520">
                  <c:v>3.9881166726683404</c:v>
                </c:pt>
                <c:pt idx="521">
                  <c:v>4.4112351458408305</c:v>
                </c:pt>
                <c:pt idx="522">
                  <c:v>4.8343536190133207</c:v>
                </c:pt>
                <c:pt idx="523">
                  <c:v>5.1854519265394305</c:v>
                </c:pt>
                <c:pt idx="524">
                  <c:v>5.4285199855959698</c:v>
                </c:pt>
                <c:pt idx="525">
                  <c:v>5.5905653583003367</c:v>
                </c:pt>
                <c:pt idx="526">
                  <c:v>5.7075981274756771</c:v>
                </c:pt>
                <c:pt idx="527">
                  <c:v>5.9866762693554287</c:v>
                </c:pt>
                <c:pt idx="528">
                  <c:v>5.9596687072380305</c:v>
                </c:pt>
                <c:pt idx="529">
                  <c:v>6.0947065178249993</c:v>
                </c:pt>
                <c:pt idx="530">
                  <c:v>6.247749369823552</c:v>
                </c:pt>
                <c:pt idx="531">
                  <c:v>6.5178249909974895</c:v>
                </c:pt>
                <c:pt idx="532">
                  <c:v>6.634857760172852</c:v>
                </c:pt>
                <c:pt idx="533">
                  <c:v>6.6618653222902502</c:v>
                </c:pt>
                <c:pt idx="534">
                  <c:v>6.3917897011163127</c:v>
                </c:pt>
                <c:pt idx="535">
                  <c:v>6.2117392870003618</c:v>
                </c:pt>
                <c:pt idx="536">
                  <c:v>6.0586964350017869</c:v>
                </c:pt>
                <c:pt idx="537">
                  <c:v>5.6085703997119207</c:v>
                </c:pt>
                <c:pt idx="538">
                  <c:v>5.473532589124952</c:v>
                </c:pt>
                <c:pt idx="539">
                  <c:v>5.491537630536536</c:v>
                </c:pt>
                <c:pt idx="540">
                  <c:v>5.6805905653583011</c:v>
                </c:pt>
                <c:pt idx="541">
                  <c:v>5.7616132517104734</c:v>
                </c:pt>
                <c:pt idx="542">
                  <c:v>6.7428880086424225</c:v>
                </c:pt>
                <c:pt idx="543">
                  <c:v>5.4465250270075538</c:v>
                </c:pt>
                <c:pt idx="544">
                  <c:v>5.07742167806986</c:v>
                </c:pt>
                <c:pt idx="545">
                  <c:v>4.6002880806625734</c:v>
                </c:pt>
                <c:pt idx="546">
                  <c:v>4.69031328772056</c:v>
                </c:pt>
                <c:pt idx="547">
                  <c:v>4.5102628736046091</c:v>
                </c:pt>
                <c:pt idx="548">
                  <c:v>4.6272956427799716</c:v>
                </c:pt>
                <c:pt idx="549">
                  <c:v>4.7533309326611484</c:v>
                </c:pt>
                <c:pt idx="550">
                  <c:v>5.059416636658276</c:v>
                </c:pt>
                <c:pt idx="551">
                  <c:v>5.2664746128916029</c:v>
                </c:pt>
                <c:pt idx="552">
                  <c:v>5.6175729204177127</c:v>
                </c:pt>
                <c:pt idx="553">
                  <c:v>5.491537630536536</c:v>
                </c:pt>
                <c:pt idx="554">
                  <c:v>5.1674468851278244</c:v>
                </c:pt>
                <c:pt idx="555">
                  <c:v>5.0324090745408778</c:v>
                </c:pt>
                <c:pt idx="556">
                  <c:v>4.6092906013683654</c:v>
                </c:pt>
                <c:pt idx="557">
                  <c:v>4.6453006841915778</c:v>
                </c:pt>
                <c:pt idx="558">
                  <c:v>4.4652502700756269</c:v>
                </c:pt>
                <c:pt idx="559">
                  <c:v>4.294202376665468</c:v>
                </c:pt>
                <c:pt idx="560">
                  <c:v>3.0608570399711876</c:v>
                </c:pt>
                <c:pt idx="561">
                  <c:v>3.7360460929060313</c:v>
                </c:pt>
                <c:pt idx="562">
                  <c:v>2.0525747209218625</c:v>
                </c:pt>
                <c:pt idx="563">
                  <c:v>2.9708318329132011</c:v>
                </c:pt>
                <c:pt idx="564">
                  <c:v>1.3683831472812269</c:v>
                </c:pt>
                <c:pt idx="565">
                  <c:v>2.0615772416276545</c:v>
                </c:pt>
                <c:pt idx="566">
                  <c:v>2.1245948865682429</c:v>
                </c:pt>
                <c:pt idx="567">
                  <c:v>2.1966150522146233</c:v>
                </c:pt>
                <c:pt idx="568">
                  <c:v>3.0518545192653956</c:v>
                </c:pt>
                <c:pt idx="569">
                  <c:v>2.1425999279798491</c:v>
                </c:pt>
                <c:pt idx="570">
                  <c:v>2.9978393950305993</c:v>
                </c:pt>
                <c:pt idx="571">
                  <c:v>2.6017284839755073</c:v>
                </c:pt>
                <c:pt idx="572">
                  <c:v>2.2866402592726098</c:v>
                </c:pt>
                <c:pt idx="573">
                  <c:v>1.9175369103348938</c:v>
                </c:pt>
                <c:pt idx="574">
                  <c:v>1.8365142239827215</c:v>
                </c:pt>
                <c:pt idx="575">
                  <c:v>1.6024486856319742</c:v>
                </c:pt>
                <c:pt idx="576">
                  <c:v>1.7824990997479251</c:v>
                </c:pt>
                <c:pt idx="577">
                  <c:v>2.0435722002160484</c:v>
                </c:pt>
                <c:pt idx="578">
                  <c:v>2.4216780698595564</c:v>
                </c:pt>
                <c:pt idx="579">
                  <c:v>2.3676629456247822</c:v>
                </c:pt>
                <c:pt idx="580">
                  <c:v>2.2506301764493974</c:v>
                </c:pt>
                <c:pt idx="581">
                  <c:v>2.0165646380986724</c:v>
                </c:pt>
                <c:pt idx="582">
                  <c:v>2.2416276557436055</c:v>
                </c:pt>
                <c:pt idx="583">
                  <c:v>2.4036730284479502</c:v>
                </c:pt>
                <c:pt idx="584">
                  <c:v>2.6557436082103036</c:v>
                </c:pt>
                <c:pt idx="585">
                  <c:v>2.9708318329132011</c:v>
                </c:pt>
                <c:pt idx="586">
                  <c:v>3.150882247029152</c:v>
                </c:pt>
                <c:pt idx="587">
                  <c:v>3.6910334893770269</c:v>
                </c:pt>
                <c:pt idx="588">
                  <c:v>3.7090385307886109</c:v>
                </c:pt>
                <c:pt idx="589">
                  <c:v>3.3309326611451029</c:v>
                </c:pt>
                <c:pt idx="590">
                  <c:v>3.519985595966868</c:v>
                </c:pt>
                <c:pt idx="591">
                  <c:v>3.8350738206697876</c:v>
                </c:pt>
                <c:pt idx="592">
                  <c:v>4.0061217140799465</c:v>
                </c:pt>
                <c:pt idx="593">
                  <c:v>3.9971191933741546</c:v>
                </c:pt>
                <c:pt idx="594">
                  <c:v>4.4922578321930251</c:v>
                </c:pt>
                <c:pt idx="595">
                  <c:v>5.2664746128916029</c:v>
                </c:pt>
                <c:pt idx="596">
                  <c:v>5.4375225063017618</c:v>
                </c:pt>
                <c:pt idx="597">
                  <c:v>5.5365502340655182</c:v>
                </c:pt>
                <c:pt idx="598">
                  <c:v>5.3835073820669876</c:v>
                </c:pt>
                <c:pt idx="599">
                  <c:v>5.2124594886568287</c:v>
                </c:pt>
                <c:pt idx="600">
                  <c:v>5.086424198775652</c:v>
                </c:pt>
                <c:pt idx="601">
                  <c:v>5.1494418437162404</c:v>
                </c:pt>
                <c:pt idx="602">
                  <c:v>5.3294922578321913</c:v>
                </c:pt>
                <c:pt idx="603">
                  <c:v>5.6805905653583011</c:v>
                </c:pt>
                <c:pt idx="604">
                  <c:v>6.0226863521785967</c:v>
                </c:pt>
                <c:pt idx="605">
                  <c:v>6.1127115592365833</c:v>
                </c:pt>
                <c:pt idx="606">
                  <c:v>5.9866762693554287</c:v>
                </c:pt>
                <c:pt idx="607">
                  <c:v>5.9056535830032342</c:v>
                </c:pt>
                <c:pt idx="608">
                  <c:v>6.0767014764133931</c:v>
                </c:pt>
                <c:pt idx="609">
                  <c:v>6.4097947425278967</c:v>
                </c:pt>
                <c:pt idx="610">
                  <c:v>6.5628375945264716</c:v>
                </c:pt>
                <c:pt idx="611">
                  <c:v>6.6258552394670378</c:v>
                </c:pt>
                <c:pt idx="612">
                  <c:v>6.6078501980554538</c:v>
                </c:pt>
                <c:pt idx="613">
                  <c:v>6.5178249909974895</c:v>
                </c:pt>
                <c:pt idx="614">
                  <c:v>6.4998199495858833</c:v>
                </c:pt>
                <c:pt idx="615">
                  <c:v>6.6258552394670378</c:v>
                </c:pt>
                <c:pt idx="616">
                  <c:v>6.5988476773496618</c:v>
                </c:pt>
                <c:pt idx="617">
                  <c:v>6.8779258192293913</c:v>
                </c:pt>
                <c:pt idx="618">
                  <c:v>7.1209938782859084</c:v>
                </c:pt>
                <c:pt idx="619">
                  <c:v>7.0579762333453422</c:v>
                </c:pt>
                <c:pt idx="620">
                  <c:v>6.5268275117032815</c:v>
                </c:pt>
                <c:pt idx="621">
                  <c:v>6.4277997839395029</c:v>
                </c:pt>
                <c:pt idx="622">
                  <c:v>6.2117392870003618</c:v>
                </c:pt>
                <c:pt idx="623">
                  <c:v>6.2297443284119458</c:v>
                </c:pt>
                <c:pt idx="624">
                  <c:v>6.3287720561757244</c:v>
                </c:pt>
                <c:pt idx="625">
                  <c:v>6.2837594526467422</c:v>
                </c:pt>
                <c:pt idx="626">
                  <c:v>6.3287720561757244</c:v>
                </c:pt>
                <c:pt idx="627">
                  <c:v>6.3557796182931225</c:v>
                </c:pt>
                <c:pt idx="628">
                  <c:v>6.3377745768815386</c:v>
                </c:pt>
                <c:pt idx="629">
                  <c:v>7.7061577241627655</c:v>
                </c:pt>
                <c:pt idx="630">
                  <c:v>7.030968671227944</c:v>
                </c:pt>
                <c:pt idx="631">
                  <c:v>7.1299963989917226</c:v>
                </c:pt>
                <c:pt idx="632">
                  <c:v>7.3370543752250494</c:v>
                </c:pt>
                <c:pt idx="633">
                  <c:v>7.7871804105149378</c:v>
                </c:pt>
                <c:pt idx="634">
                  <c:v>7.7781778898091458</c:v>
                </c:pt>
                <c:pt idx="635">
                  <c:v>8.003240907454078</c:v>
                </c:pt>
                <c:pt idx="636">
                  <c:v>8.3633417356859816</c:v>
                </c:pt>
                <c:pt idx="637">
                  <c:v>8.7144400432120896</c:v>
                </c:pt>
                <c:pt idx="638">
                  <c:v>8.8674828952106655</c:v>
                </c:pt>
                <c:pt idx="639">
                  <c:v>8.9034929780338565</c:v>
                </c:pt>
                <c:pt idx="640">
                  <c:v>9.2455887648541513</c:v>
                </c:pt>
                <c:pt idx="641">
                  <c:v>9.0655383507382012</c:v>
                </c:pt>
                <c:pt idx="642">
                  <c:v>9.0295282679150102</c:v>
                </c:pt>
                <c:pt idx="643">
                  <c:v>9.1375585163845798</c:v>
                </c:pt>
                <c:pt idx="644">
                  <c:v>9.2185812027367753</c:v>
                </c:pt>
                <c:pt idx="645">
                  <c:v>9.2906013683831326</c:v>
                </c:pt>
                <c:pt idx="646">
                  <c:v>9.5066618653222754</c:v>
                </c:pt>
                <c:pt idx="647">
                  <c:v>9.5246669067338807</c:v>
                </c:pt>
                <c:pt idx="648">
                  <c:v>9.4436442203817084</c:v>
                </c:pt>
                <c:pt idx="649">
                  <c:v>9.4796543032048994</c:v>
                </c:pt>
                <c:pt idx="650">
                  <c:v>9.6146921137918682</c:v>
                </c:pt>
                <c:pt idx="651">
                  <c:v>10.424918977313634</c:v>
                </c:pt>
                <c:pt idx="652">
                  <c:v>10.496939142960038</c:v>
                </c:pt>
                <c:pt idx="653">
                  <c:v>10.40691393590205</c:v>
                </c:pt>
                <c:pt idx="654">
                  <c:v>10.541951746489019</c:v>
                </c:pt>
                <c:pt idx="655">
                  <c:v>10.694994598487572</c:v>
                </c:pt>
                <c:pt idx="656">
                  <c:v>10.334893770255672</c:v>
                </c:pt>
                <c:pt idx="657">
                  <c:v>10.307886208138273</c:v>
                </c:pt>
                <c:pt idx="658">
                  <c:v>10.280878646020897</c:v>
                </c:pt>
                <c:pt idx="659">
                  <c:v>10.235866042491892</c:v>
                </c:pt>
                <c:pt idx="660">
                  <c:v>10.26287360460929</c:v>
                </c:pt>
                <c:pt idx="661">
                  <c:v>10.163845876845512</c:v>
                </c:pt>
                <c:pt idx="662">
                  <c:v>10.190853438962911</c:v>
                </c:pt>
                <c:pt idx="663">
                  <c:v>9.9387828592005789</c:v>
                </c:pt>
                <c:pt idx="664">
                  <c:v>9.7677349657904209</c:v>
                </c:pt>
                <c:pt idx="665">
                  <c:v>9.9837954627295602</c:v>
                </c:pt>
                <c:pt idx="666">
                  <c:v>9.9927979834353522</c:v>
                </c:pt>
                <c:pt idx="667">
                  <c:v>10.073820669787526</c:v>
                </c:pt>
                <c:pt idx="668">
                  <c:v>10.055815628375942</c:v>
                </c:pt>
                <c:pt idx="669">
                  <c:v>9.9837954627295602</c:v>
                </c:pt>
                <c:pt idx="670">
                  <c:v>9.8307526107310075</c:v>
                </c:pt>
                <c:pt idx="671">
                  <c:v>10.019805545552751</c:v>
                </c:pt>
                <c:pt idx="672">
                  <c:v>10.307886208138273</c:v>
                </c:pt>
                <c:pt idx="673">
                  <c:v>10.469931580842641</c:v>
                </c:pt>
                <c:pt idx="674">
                  <c:v>10.361901332373069</c:v>
                </c:pt>
                <c:pt idx="675">
                  <c:v>10.316888728844088</c:v>
                </c:pt>
                <c:pt idx="676">
                  <c:v>9.9927979834353522</c:v>
                </c:pt>
                <c:pt idx="677">
                  <c:v>9.6777097587324334</c:v>
                </c:pt>
                <c:pt idx="678">
                  <c:v>9.7947425279078182</c:v>
                </c:pt>
                <c:pt idx="679">
                  <c:v>9.5606769895570931</c:v>
                </c:pt>
                <c:pt idx="680">
                  <c:v>9.5066618653222754</c:v>
                </c:pt>
                <c:pt idx="681">
                  <c:v>7.9492257832193047</c:v>
                </c:pt>
                <c:pt idx="682">
                  <c:v>9.6867122794382254</c:v>
                </c:pt>
                <c:pt idx="683">
                  <c:v>9.8937702556715745</c:v>
                </c:pt>
                <c:pt idx="684">
                  <c:v>10.109830752610737</c:v>
                </c:pt>
                <c:pt idx="685">
                  <c:v>9.8847677349657825</c:v>
                </c:pt>
                <c:pt idx="686">
                  <c:v>10.100828231904945</c:v>
                </c:pt>
                <c:pt idx="687">
                  <c:v>10.208858480374495</c:v>
                </c:pt>
                <c:pt idx="688">
                  <c:v>10.433921498019426</c:v>
                </c:pt>
                <c:pt idx="689">
                  <c:v>10.740007202016555</c:v>
                </c:pt>
                <c:pt idx="690">
                  <c:v>10.85703997119194</c:v>
                </c:pt>
                <c:pt idx="691">
                  <c:v>11.028087864602099</c:v>
                </c:pt>
                <c:pt idx="692">
                  <c:v>11.10911055095427</c:v>
                </c:pt>
                <c:pt idx="693">
                  <c:v>10.92906013683832</c:v>
                </c:pt>
                <c:pt idx="694">
                  <c:v>10.974072740367301</c:v>
                </c:pt>
                <c:pt idx="695">
                  <c:v>11.073100468131081</c:v>
                </c:pt>
                <c:pt idx="696">
                  <c:v>11.181130716600652</c:v>
                </c:pt>
                <c:pt idx="697">
                  <c:v>11.289160965070222</c:v>
                </c:pt>
                <c:pt idx="698">
                  <c:v>11.361181130716602</c:v>
                </c:pt>
                <c:pt idx="699">
                  <c:v>11.35217861001081</c:v>
                </c:pt>
                <c:pt idx="700">
                  <c:v>11.415196254951399</c:v>
                </c:pt>
                <c:pt idx="701">
                  <c:v>11.334173568599205</c:v>
                </c:pt>
                <c:pt idx="702">
                  <c:v>11.433201296362983</c:v>
                </c:pt>
                <c:pt idx="703">
                  <c:v>11.415196254951399</c:v>
                </c:pt>
                <c:pt idx="704">
                  <c:v>11.451206337774567</c:v>
                </c:pt>
                <c:pt idx="705">
                  <c:v>11.487216420597758</c:v>
                </c:pt>
                <c:pt idx="706">
                  <c:v>12.513503781058688</c:v>
                </c:pt>
                <c:pt idx="707">
                  <c:v>11.514223982715155</c:v>
                </c:pt>
                <c:pt idx="708">
                  <c:v>11.739287000360111</c:v>
                </c:pt>
                <c:pt idx="709">
                  <c:v>11.865322290241265</c:v>
                </c:pt>
                <c:pt idx="710">
                  <c:v>11.847317248829658</c:v>
                </c:pt>
                <c:pt idx="711">
                  <c:v>11.784299603889092</c:v>
                </c:pt>
                <c:pt idx="712">
                  <c:v>11.784299603889092</c:v>
                </c:pt>
                <c:pt idx="713">
                  <c:v>11.928339935181853</c:v>
                </c:pt>
                <c:pt idx="714">
                  <c:v>11.865322290241265</c:v>
                </c:pt>
                <c:pt idx="715">
                  <c:v>11.937342455887645</c:v>
                </c:pt>
                <c:pt idx="716">
                  <c:v>11.991357580122441</c:v>
                </c:pt>
                <c:pt idx="717">
                  <c:v>11.964350018005042</c:v>
                </c:pt>
                <c:pt idx="718">
                  <c:v>11.964350018005042</c:v>
                </c:pt>
                <c:pt idx="719">
                  <c:v>12.018365142239817</c:v>
                </c:pt>
                <c:pt idx="720">
                  <c:v>13.161685271876111</c:v>
                </c:pt>
                <c:pt idx="721">
                  <c:v>13.242707958228305</c:v>
                </c:pt>
                <c:pt idx="722">
                  <c:v>12.243428159884751</c:v>
                </c:pt>
                <c:pt idx="723">
                  <c:v>12.315448325531154</c:v>
                </c:pt>
                <c:pt idx="724">
                  <c:v>12.342455887648551</c:v>
                </c:pt>
                <c:pt idx="725">
                  <c:v>12.144400432120994</c:v>
                </c:pt>
                <c:pt idx="726">
                  <c:v>12.072380266474593</c:v>
                </c:pt>
                <c:pt idx="727">
                  <c:v>12.063377745768801</c:v>
                </c:pt>
                <c:pt idx="728">
                  <c:v>12.144400432120994</c:v>
                </c:pt>
                <c:pt idx="729">
                  <c:v>12.261433201296379</c:v>
                </c:pt>
                <c:pt idx="730">
                  <c:v>12.252430680590564</c:v>
                </c:pt>
                <c:pt idx="731">
                  <c:v>12.333453366942738</c:v>
                </c:pt>
                <c:pt idx="732">
                  <c:v>12.549513863881877</c:v>
                </c:pt>
                <c:pt idx="733">
                  <c:v>12.891609650702197</c:v>
                </c:pt>
                <c:pt idx="734">
                  <c:v>13.008642419877582</c:v>
                </c:pt>
                <c:pt idx="735">
                  <c:v>13.152682751170319</c:v>
                </c:pt>
                <c:pt idx="736">
                  <c:v>13.260712999639889</c:v>
                </c:pt>
                <c:pt idx="737">
                  <c:v>13.431760893050049</c:v>
                </c:pt>
                <c:pt idx="738">
                  <c:v>13.539791141519641</c:v>
                </c:pt>
                <c:pt idx="739">
                  <c:v>13.611811307166001</c:v>
                </c:pt>
                <c:pt idx="740">
                  <c:v>13.521786100108013</c:v>
                </c:pt>
                <c:pt idx="741">
                  <c:v>13.593806265754417</c:v>
                </c:pt>
                <c:pt idx="742">
                  <c:v>13.64782138998919</c:v>
                </c:pt>
                <c:pt idx="743">
                  <c:v>13.485776017284824</c:v>
                </c:pt>
                <c:pt idx="744">
                  <c:v>13.251710478934097</c:v>
                </c:pt>
                <c:pt idx="745">
                  <c:v>13.107670147641336</c:v>
                </c:pt>
                <c:pt idx="746">
                  <c:v>13.107670147641336</c:v>
                </c:pt>
                <c:pt idx="747">
                  <c:v>13.053655023406563</c:v>
                </c:pt>
                <c:pt idx="748">
                  <c:v>11.901332373064477</c:v>
                </c:pt>
                <c:pt idx="749">
                  <c:v>13.134677709758735</c:v>
                </c:pt>
                <c:pt idx="750">
                  <c:v>14.232985235866025</c:v>
                </c:pt>
                <c:pt idx="751">
                  <c:v>13.260712999639889</c:v>
                </c:pt>
                <c:pt idx="752">
                  <c:v>13.386748289521066</c:v>
                </c:pt>
                <c:pt idx="753">
                  <c:v>13.46777097587324</c:v>
                </c:pt>
                <c:pt idx="754">
                  <c:v>14.521065898451567</c:v>
                </c:pt>
                <c:pt idx="755">
                  <c:v>13.260712999639889</c:v>
                </c:pt>
                <c:pt idx="756">
                  <c:v>13.12567518905292</c:v>
                </c:pt>
                <c:pt idx="757">
                  <c:v>13.134677709758735</c:v>
                </c:pt>
                <c:pt idx="758">
                  <c:v>13.251710478934097</c:v>
                </c:pt>
                <c:pt idx="759">
                  <c:v>13.602808786460209</c:v>
                </c:pt>
                <c:pt idx="760">
                  <c:v>13.971912135397901</c:v>
                </c:pt>
                <c:pt idx="761">
                  <c:v>14.052934821750075</c:v>
                </c:pt>
                <c:pt idx="762">
                  <c:v>13.962909614692109</c:v>
                </c:pt>
                <c:pt idx="763">
                  <c:v>13.9989196975153</c:v>
                </c:pt>
                <c:pt idx="764">
                  <c:v>14.205977673748649</c:v>
                </c:pt>
                <c:pt idx="765">
                  <c:v>14.160965070219667</c:v>
                </c:pt>
                <c:pt idx="766">
                  <c:v>14.160965070219667</c:v>
                </c:pt>
                <c:pt idx="767">
                  <c:v>14.196975153042857</c:v>
                </c:pt>
                <c:pt idx="768">
                  <c:v>14.232985235866025</c:v>
                </c:pt>
                <c:pt idx="769">
                  <c:v>14.287000360100844</c:v>
                </c:pt>
                <c:pt idx="770">
                  <c:v>14.395030608570391</c:v>
                </c:pt>
                <c:pt idx="771">
                  <c:v>15.61937342455888</c:v>
                </c:pt>
                <c:pt idx="772">
                  <c:v>14.557075981274759</c:v>
                </c:pt>
                <c:pt idx="773">
                  <c:v>14.530068419157359</c:v>
                </c:pt>
                <c:pt idx="774">
                  <c:v>14.404033129276183</c:v>
                </c:pt>
                <c:pt idx="775">
                  <c:v>14.241987756571838</c:v>
                </c:pt>
                <c:pt idx="776">
                  <c:v>14.259992797983445</c:v>
                </c:pt>
                <c:pt idx="777">
                  <c:v>14.31400792221822</c:v>
                </c:pt>
                <c:pt idx="778">
                  <c:v>14.395030608570391</c:v>
                </c:pt>
                <c:pt idx="779">
                  <c:v>14.503060857039962</c:v>
                </c:pt>
                <c:pt idx="780">
                  <c:v>14.503060857039962</c:v>
                </c:pt>
                <c:pt idx="781">
                  <c:v>14.512063377745775</c:v>
                </c:pt>
                <c:pt idx="782">
                  <c:v>14.440043212099397</c:v>
                </c:pt>
                <c:pt idx="783">
                  <c:v>14.458048253510981</c:v>
                </c:pt>
                <c:pt idx="784">
                  <c:v>14.296002880806636</c:v>
                </c:pt>
                <c:pt idx="785">
                  <c:v>14.214980194454441</c:v>
                </c:pt>
                <c:pt idx="786">
                  <c:v>14.214980194454441</c:v>
                </c:pt>
                <c:pt idx="787">
                  <c:v>14.350018005041409</c:v>
                </c:pt>
                <c:pt idx="788">
                  <c:v>14.476053294922586</c:v>
                </c:pt>
                <c:pt idx="789">
                  <c:v>14.584083543392135</c:v>
                </c:pt>
                <c:pt idx="790">
                  <c:v>14.602088584803742</c:v>
                </c:pt>
                <c:pt idx="791">
                  <c:v>14.67410875045012</c:v>
                </c:pt>
                <c:pt idx="792">
                  <c:v>14.91717680950666</c:v>
                </c:pt>
                <c:pt idx="793">
                  <c:v>14.980194454447226</c:v>
                </c:pt>
                <c:pt idx="794">
                  <c:v>15.043212099387837</c:v>
                </c:pt>
                <c:pt idx="795">
                  <c:v>15.061217140799421</c:v>
                </c:pt>
                <c:pt idx="796">
                  <c:v>15.160244868563177</c:v>
                </c:pt>
                <c:pt idx="797">
                  <c:v>15.133237306445801</c:v>
                </c:pt>
                <c:pt idx="798">
                  <c:v>15.124234785740009</c:v>
                </c:pt>
                <c:pt idx="799">
                  <c:v>15.151242347857385</c:v>
                </c:pt>
                <c:pt idx="800">
                  <c:v>15.19625495138639</c:v>
                </c:pt>
                <c:pt idx="801">
                  <c:v>15.322290241267545</c:v>
                </c:pt>
                <c:pt idx="802">
                  <c:v>15.358300324090756</c:v>
                </c:pt>
                <c:pt idx="803">
                  <c:v>15.37630536550234</c:v>
                </c:pt>
                <c:pt idx="804">
                  <c:v>15.565358300324107</c:v>
                </c:pt>
                <c:pt idx="805">
                  <c:v>15.637378465970464</c:v>
                </c:pt>
                <c:pt idx="806">
                  <c:v>15.646380986676256</c:v>
                </c:pt>
                <c:pt idx="807">
                  <c:v>15.664386028087861</c:v>
                </c:pt>
                <c:pt idx="808">
                  <c:v>15.700396110911052</c:v>
                </c:pt>
                <c:pt idx="809">
                  <c:v>15.574360821029899</c:v>
                </c:pt>
                <c:pt idx="810">
                  <c:v>15.556355779618292</c:v>
                </c:pt>
                <c:pt idx="811">
                  <c:v>15.5473532589125</c:v>
                </c:pt>
                <c:pt idx="812">
                  <c:v>15.394310406913947</c:v>
                </c:pt>
                <c:pt idx="813">
                  <c:v>15.367302844796548</c:v>
                </c:pt>
                <c:pt idx="814">
                  <c:v>15.277277637738562</c:v>
                </c:pt>
                <c:pt idx="815">
                  <c:v>15.367302844796548</c:v>
                </c:pt>
                <c:pt idx="816">
                  <c:v>15.385307886208132</c:v>
                </c:pt>
                <c:pt idx="817">
                  <c:v>15.169247389269014</c:v>
                </c:pt>
                <c:pt idx="818">
                  <c:v>14.84515664386028</c:v>
                </c:pt>
                <c:pt idx="819">
                  <c:v>14.854159164566072</c:v>
                </c:pt>
                <c:pt idx="820">
                  <c:v>14.782138998919692</c:v>
                </c:pt>
                <c:pt idx="821">
                  <c:v>14.7731364782139</c:v>
                </c:pt>
                <c:pt idx="822">
                  <c:v>15.025207057976232</c:v>
                </c:pt>
                <c:pt idx="823">
                  <c:v>15.26827511703277</c:v>
                </c:pt>
                <c:pt idx="824">
                  <c:v>15.277277637738562</c:v>
                </c:pt>
                <c:pt idx="825">
                  <c:v>15.160244868563177</c:v>
                </c:pt>
                <c:pt idx="826">
                  <c:v>15.088224702916818</c:v>
                </c:pt>
                <c:pt idx="827">
                  <c:v>14.899171768095055</c:v>
                </c:pt>
                <c:pt idx="828">
                  <c:v>14.755131436802294</c:v>
                </c:pt>
                <c:pt idx="829">
                  <c:v>14.521065898451567</c:v>
                </c:pt>
                <c:pt idx="830">
                  <c:v>14.42203817068779</c:v>
                </c:pt>
                <c:pt idx="831">
                  <c:v>14.458048253510981</c:v>
                </c:pt>
                <c:pt idx="832">
                  <c:v>14.836154123154488</c:v>
                </c:pt>
                <c:pt idx="833">
                  <c:v>14.935181850918244</c:v>
                </c:pt>
                <c:pt idx="834">
                  <c:v>14.782138998919692</c:v>
                </c:pt>
                <c:pt idx="835">
                  <c:v>14.800144040331276</c:v>
                </c:pt>
                <c:pt idx="836">
                  <c:v>15.19625495138639</c:v>
                </c:pt>
                <c:pt idx="837">
                  <c:v>15.421317969031323</c:v>
                </c:pt>
                <c:pt idx="838">
                  <c:v>15.979474252790782</c:v>
                </c:pt>
                <c:pt idx="839">
                  <c:v>16.240547353258904</c:v>
                </c:pt>
                <c:pt idx="840">
                  <c:v>16.357580122434289</c:v>
                </c:pt>
                <c:pt idx="841">
                  <c:v>16.348577601728476</c:v>
                </c:pt>
                <c:pt idx="842">
                  <c:v>16.411595246669066</c:v>
                </c:pt>
                <c:pt idx="843">
                  <c:v>16.438602808786463</c:v>
                </c:pt>
                <c:pt idx="844">
                  <c:v>16.366582643140081</c:v>
                </c:pt>
                <c:pt idx="845">
                  <c:v>16.456607850198068</c:v>
                </c:pt>
                <c:pt idx="846">
                  <c:v>16.816708678429968</c:v>
                </c:pt>
                <c:pt idx="847">
                  <c:v>15.862441483615397</c:v>
                </c:pt>
                <c:pt idx="848">
                  <c:v>17.032769175369111</c:v>
                </c:pt>
                <c:pt idx="849">
                  <c:v>17.158804465250267</c:v>
                </c:pt>
                <c:pt idx="850">
                  <c:v>17.221822110190853</c:v>
                </c:pt>
                <c:pt idx="851">
                  <c:v>17.320849837954611</c:v>
                </c:pt>
                <c:pt idx="852">
                  <c:v>17.446885127835788</c:v>
                </c:pt>
                <c:pt idx="853">
                  <c:v>17.581922938422757</c:v>
                </c:pt>
                <c:pt idx="854">
                  <c:v>17.662945624774927</c:v>
                </c:pt>
                <c:pt idx="855">
                  <c:v>17.806985956067688</c:v>
                </c:pt>
                <c:pt idx="856">
                  <c:v>17.87900612171407</c:v>
                </c:pt>
                <c:pt idx="857">
                  <c:v>18.311127115592374</c:v>
                </c:pt>
                <c:pt idx="858">
                  <c:v>18.491177529708324</c:v>
                </c:pt>
                <c:pt idx="859">
                  <c:v>18.644220381706877</c:v>
                </c:pt>
                <c:pt idx="860">
                  <c:v>18.770255671588032</c:v>
                </c:pt>
                <c:pt idx="861">
                  <c:v>18.914296002880793</c:v>
                </c:pt>
                <c:pt idx="862">
                  <c:v>19.049333813467761</c:v>
                </c:pt>
                <c:pt idx="863">
                  <c:v>19.112351458408348</c:v>
                </c:pt>
                <c:pt idx="864">
                  <c:v>19.139359020525749</c:v>
                </c:pt>
                <c:pt idx="865">
                  <c:v>19.18437162405473</c:v>
                </c:pt>
                <c:pt idx="866">
                  <c:v>19.220381706877919</c:v>
                </c:pt>
                <c:pt idx="867">
                  <c:v>19.454447245228668</c:v>
                </c:pt>
                <c:pt idx="868">
                  <c:v>21.516024486856324</c:v>
                </c:pt>
                <c:pt idx="869">
                  <c:v>20.435722002160617</c:v>
                </c:pt>
                <c:pt idx="870">
                  <c:v>20.444724522866409</c:v>
                </c:pt>
                <c:pt idx="871">
                  <c:v>20.534749729924371</c:v>
                </c:pt>
                <c:pt idx="872">
                  <c:v>20.65178249909976</c:v>
                </c:pt>
                <c:pt idx="873">
                  <c:v>20.714800144040325</c:v>
                </c:pt>
                <c:pt idx="874">
                  <c:v>20.723802664746117</c:v>
                </c:pt>
                <c:pt idx="875">
                  <c:v>20.91285559956788</c:v>
                </c:pt>
                <c:pt idx="876">
                  <c:v>20.921858120273672</c:v>
                </c:pt>
                <c:pt idx="877">
                  <c:v>20.97587324450847</c:v>
                </c:pt>
                <c:pt idx="878">
                  <c:v>20.957868203096865</c:v>
                </c:pt>
                <c:pt idx="879">
                  <c:v>20.633777457688151</c:v>
                </c:pt>
                <c:pt idx="880">
                  <c:v>20.534749729924371</c:v>
                </c:pt>
                <c:pt idx="881">
                  <c:v>20.390709398631614</c:v>
                </c:pt>
                <c:pt idx="882">
                  <c:v>20.516744688512787</c:v>
                </c:pt>
                <c:pt idx="883">
                  <c:v>20.669787540511344</c:v>
                </c:pt>
                <c:pt idx="884">
                  <c:v>21.01188332733166</c:v>
                </c:pt>
                <c:pt idx="885">
                  <c:v>21.281958948505576</c:v>
                </c:pt>
                <c:pt idx="886">
                  <c:v>21.326971552034557</c:v>
                </c:pt>
                <c:pt idx="887">
                  <c:v>21.380986676269352</c:v>
                </c:pt>
                <c:pt idx="888">
                  <c:v>22.479294202376664</c:v>
                </c:pt>
                <c:pt idx="889">
                  <c:v>21.137918617212815</c:v>
                </c:pt>
                <c:pt idx="890">
                  <c:v>21.290961469211368</c:v>
                </c:pt>
                <c:pt idx="891">
                  <c:v>21.37198415556356</c:v>
                </c:pt>
                <c:pt idx="892">
                  <c:v>21.579042131796911</c:v>
                </c:pt>
                <c:pt idx="893">
                  <c:v>21.723082463089671</c:v>
                </c:pt>
                <c:pt idx="894">
                  <c:v>21.813107670147637</c:v>
                </c:pt>
                <c:pt idx="895">
                  <c:v>21.867122794382411</c:v>
                </c:pt>
                <c:pt idx="896">
                  <c:v>22.029168167086777</c:v>
                </c:pt>
                <c:pt idx="897">
                  <c:v>22.038170687792569</c:v>
                </c:pt>
                <c:pt idx="898">
                  <c:v>22.137198415556348</c:v>
                </c:pt>
                <c:pt idx="899">
                  <c:v>22.038170687792569</c:v>
                </c:pt>
                <c:pt idx="900">
                  <c:v>21.984155563557795</c:v>
                </c:pt>
                <c:pt idx="901">
                  <c:v>22.038170687792569</c:v>
                </c:pt>
                <c:pt idx="902">
                  <c:v>21.903132877205621</c:v>
                </c:pt>
                <c:pt idx="903">
                  <c:v>21.984155563557795</c:v>
                </c:pt>
                <c:pt idx="904">
                  <c:v>22.038170687792569</c:v>
                </c:pt>
                <c:pt idx="905">
                  <c:v>22.173208498379537</c:v>
                </c:pt>
                <c:pt idx="906">
                  <c:v>22.272236226143317</c:v>
                </c:pt>
                <c:pt idx="907">
                  <c:v>22.155203456967953</c:v>
                </c:pt>
                <c:pt idx="908">
                  <c:v>22.236226143320124</c:v>
                </c:pt>
                <c:pt idx="909">
                  <c:v>22.362261433201304</c:v>
                </c:pt>
                <c:pt idx="910">
                  <c:v>22.416276557436078</c:v>
                </c:pt>
                <c:pt idx="911">
                  <c:v>22.470291681670872</c:v>
                </c:pt>
                <c:pt idx="912">
                  <c:v>22.46128916096508</c:v>
                </c:pt>
                <c:pt idx="913">
                  <c:v>22.470291681670872</c:v>
                </c:pt>
                <c:pt idx="914">
                  <c:v>22.614332012963633</c:v>
                </c:pt>
                <c:pt idx="915">
                  <c:v>22.740367302844788</c:v>
                </c:pt>
                <c:pt idx="916">
                  <c:v>22.821389989196984</c:v>
                </c:pt>
                <c:pt idx="917">
                  <c:v>22.78537990637377</c:v>
                </c:pt>
                <c:pt idx="918">
                  <c:v>22.731364782138996</c:v>
                </c:pt>
                <c:pt idx="919">
                  <c:v>22.74936982355058</c:v>
                </c:pt>
                <c:pt idx="920">
                  <c:v>22.776377385667978</c:v>
                </c:pt>
                <c:pt idx="921">
                  <c:v>22.875405113431757</c:v>
                </c:pt>
                <c:pt idx="922">
                  <c:v>22.893410154843362</c:v>
                </c:pt>
                <c:pt idx="923">
                  <c:v>22.893410154843362</c:v>
                </c:pt>
                <c:pt idx="924">
                  <c:v>23.622614332012958</c:v>
                </c:pt>
                <c:pt idx="925">
                  <c:v>23.154483255311487</c:v>
                </c:pt>
                <c:pt idx="926">
                  <c:v>23.217500900252077</c:v>
                </c:pt>
                <c:pt idx="927">
                  <c:v>23.27151602448685</c:v>
                </c:pt>
                <c:pt idx="928">
                  <c:v>23.361541231544834</c:v>
                </c:pt>
                <c:pt idx="929">
                  <c:v>23.397551314368027</c:v>
                </c:pt>
                <c:pt idx="930">
                  <c:v>23.352538710839042</c:v>
                </c:pt>
                <c:pt idx="931">
                  <c:v>23.415556355779611</c:v>
                </c:pt>
                <c:pt idx="932">
                  <c:v>23.478574000720197</c:v>
                </c:pt>
                <c:pt idx="933">
                  <c:v>23.595606769895561</c:v>
                </c:pt>
                <c:pt idx="934">
                  <c:v>23.559596687072393</c:v>
                </c:pt>
                <c:pt idx="935">
                  <c:v>23.496579042131781</c:v>
                </c:pt>
                <c:pt idx="936">
                  <c:v>23.460568959308592</c:v>
                </c:pt>
                <c:pt idx="937">
                  <c:v>23.487576521425989</c:v>
                </c:pt>
                <c:pt idx="938">
                  <c:v>23.541591645660787</c:v>
                </c:pt>
                <c:pt idx="939">
                  <c:v>23.469571480014405</c:v>
                </c:pt>
                <c:pt idx="940">
                  <c:v>23.469571480014405</c:v>
                </c:pt>
                <c:pt idx="941">
                  <c:v>23.595606769895561</c:v>
                </c:pt>
                <c:pt idx="942">
                  <c:v>23.577601728483977</c:v>
                </c:pt>
                <c:pt idx="943">
                  <c:v>23.595606769895561</c:v>
                </c:pt>
                <c:pt idx="944">
                  <c:v>23.730644580482529</c:v>
                </c:pt>
                <c:pt idx="945">
                  <c:v>24.270795822830404</c:v>
                </c:pt>
                <c:pt idx="946">
                  <c:v>23.559596687072393</c:v>
                </c:pt>
                <c:pt idx="947">
                  <c:v>23.487576521425989</c:v>
                </c:pt>
                <c:pt idx="948">
                  <c:v>23.442563917897008</c:v>
                </c:pt>
                <c:pt idx="949">
                  <c:v>23.10947065178248</c:v>
                </c:pt>
                <c:pt idx="950">
                  <c:v>23.199495858840468</c:v>
                </c:pt>
                <c:pt idx="951">
                  <c:v>23.253510983075266</c:v>
                </c:pt>
                <c:pt idx="952">
                  <c:v>23.307526107310039</c:v>
                </c:pt>
                <c:pt idx="953">
                  <c:v>23.4515664386028</c:v>
                </c:pt>
                <c:pt idx="954">
                  <c:v>23.703637018365153</c:v>
                </c:pt>
                <c:pt idx="955">
                  <c:v>23.739647101188343</c:v>
                </c:pt>
                <c:pt idx="956">
                  <c:v>23.568599207778185</c:v>
                </c:pt>
                <c:pt idx="957">
                  <c:v>23.658624414836147</c:v>
                </c:pt>
                <c:pt idx="958">
                  <c:v>23.811667266834704</c:v>
                </c:pt>
                <c:pt idx="959">
                  <c:v>23.784659704717328</c:v>
                </c:pt>
                <c:pt idx="960">
                  <c:v>23.820669787540517</c:v>
                </c:pt>
                <c:pt idx="961">
                  <c:v>23.937702556715877</c:v>
                </c:pt>
                <c:pt idx="962">
                  <c:v>24.126755491537622</c:v>
                </c:pt>
                <c:pt idx="963">
                  <c:v>24.387828592005746</c:v>
                </c:pt>
                <c:pt idx="964">
                  <c:v>24.450846236946354</c:v>
                </c:pt>
                <c:pt idx="965">
                  <c:v>24.486856319769544</c:v>
                </c:pt>
                <c:pt idx="966">
                  <c:v>25.153042851998574</c:v>
                </c:pt>
                <c:pt idx="967">
                  <c:v>24.603889088944907</c:v>
                </c:pt>
                <c:pt idx="968">
                  <c:v>24.57688152682751</c:v>
                </c:pt>
                <c:pt idx="969">
                  <c:v>24.720921858120271</c:v>
                </c:pt>
                <c:pt idx="970">
                  <c:v>24.855959668707239</c:v>
                </c:pt>
                <c:pt idx="971">
                  <c:v>24.855959668707239</c:v>
                </c:pt>
                <c:pt idx="972">
                  <c:v>24.936982355059413</c:v>
                </c:pt>
                <c:pt idx="973">
                  <c:v>24.990997479294208</c:v>
                </c:pt>
                <c:pt idx="974">
                  <c:v>24.954987396470997</c:v>
                </c:pt>
                <c:pt idx="975">
                  <c:v>24.972992437882624</c:v>
                </c:pt>
                <c:pt idx="976">
                  <c:v>24.33381346777097</c:v>
                </c:pt>
                <c:pt idx="977">
                  <c:v>25.027007562117397</c:v>
                </c:pt>
                <c:pt idx="978">
                  <c:v>25.072020165646379</c:v>
                </c:pt>
                <c:pt idx="979">
                  <c:v>25</c:v>
                </c:pt>
                <c:pt idx="980">
                  <c:v>25.018005041411605</c:v>
                </c:pt>
                <c:pt idx="981">
                  <c:v>25.045012603528981</c:v>
                </c:pt>
                <c:pt idx="982">
                  <c:v>25.333093266114524</c:v>
                </c:pt>
                <c:pt idx="983">
                  <c:v>25.42311847317249</c:v>
                </c:pt>
                <c:pt idx="984">
                  <c:v>25.468131076701471</c:v>
                </c:pt>
                <c:pt idx="985">
                  <c:v>25.42311847317249</c:v>
                </c:pt>
                <c:pt idx="986">
                  <c:v>25.3601008282319</c:v>
                </c:pt>
                <c:pt idx="987">
                  <c:v>25.351098307526108</c:v>
                </c:pt>
                <c:pt idx="988">
                  <c:v>25.540151242347854</c:v>
                </c:pt>
                <c:pt idx="989">
                  <c:v>25.585163845876856</c:v>
                </c:pt>
                <c:pt idx="990">
                  <c:v>25.396110911055093</c:v>
                </c:pt>
                <c:pt idx="991">
                  <c:v>25.3601008282319</c:v>
                </c:pt>
                <c:pt idx="992">
                  <c:v>25.52214620093627</c:v>
                </c:pt>
                <c:pt idx="993">
                  <c:v>25.567158804465251</c:v>
                </c:pt>
                <c:pt idx="994">
                  <c:v>25.675189052934822</c:v>
                </c:pt>
                <c:pt idx="995">
                  <c:v>25.729204177169617</c:v>
                </c:pt>
                <c:pt idx="996">
                  <c:v>25.873244508462378</c:v>
                </c:pt>
                <c:pt idx="997">
                  <c:v>25.88224702916817</c:v>
                </c:pt>
                <c:pt idx="998">
                  <c:v>25.828231904933375</c:v>
                </c:pt>
                <c:pt idx="999">
                  <c:v>25.864241987756564</c:v>
                </c:pt>
                <c:pt idx="1000">
                  <c:v>25.846236946344959</c:v>
                </c:pt>
                <c:pt idx="1001">
                  <c:v>26.566438602808784</c:v>
                </c:pt>
                <c:pt idx="1002">
                  <c:v>25.963269715520344</c:v>
                </c:pt>
                <c:pt idx="1003">
                  <c:v>26.044292401872514</c:v>
                </c:pt>
                <c:pt idx="1004">
                  <c:v>26.098307526107313</c:v>
                </c:pt>
                <c:pt idx="1005">
                  <c:v>26.20633777457688</c:v>
                </c:pt>
                <c:pt idx="1006">
                  <c:v>26.332373064458036</c:v>
                </c:pt>
                <c:pt idx="1007">
                  <c:v>26.350378105869645</c:v>
                </c:pt>
                <c:pt idx="1008">
                  <c:v>26.359380626575437</c:v>
                </c:pt>
                <c:pt idx="1009">
                  <c:v>26.503420957868194</c:v>
                </c:pt>
                <c:pt idx="1010">
                  <c:v>26.602448685631998</c:v>
                </c:pt>
                <c:pt idx="1011">
                  <c:v>26.665466330572563</c:v>
                </c:pt>
                <c:pt idx="1012">
                  <c:v>26.710478934101545</c:v>
                </c:pt>
                <c:pt idx="1013">
                  <c:v>26.719481454807337</c:v>
                </c:pt>
                <c:pt idx="1014">
                  <c:v>26.746489016924734</c:v>
                </c:pt>
                <c:pt idx="1015">
                  <c:v>26.737486496218942</c:v>
                </c:pt>
                <c:pt idx="1016">
                  <c:v>26.79150162045374</c:v>
                </c:pt>
                <c:pt idx="1017">
                  <c:v>26.908534389629104</c:v>
                </c:pt>
                <c:pt idx="1018">
                  <c:v>26.296362981634868</c:v>
                </c:pt>
                <c:pt idx="1019">
                  <c:v>26.962549513863898</c:v>
                </c:pt>
                <c:pt idx="1020">
                  <c:v>26.998559596687066</c:v>
                </c:pt>
                <c:pt idx="1021">
                  <c:v>27.106589845156638</c:v>
                </c:pt>
                <c:pt idx="1022">
                  <c:v>27.169607490097224</c:v>
                </c:pt>
                <c:pt idx="1023">
                  <c:v>27.277637738566796</c:v>
                </c:pt>
                <c:pt idx="1024">
                  <c:v>27.340655383507382</c:v>
                </c:pt>
                <c:pt idx="1025">
                  <c:v>27.15160244868564</c:v>
                </c:pt>
                <c:pt idx="1026">
                  <c:v>26.818509182571116</c:v>
                </c:pt>
                <c:pt idx="1027">
                  <c:v>27.070579762333445</c:v>
                </c:pt>
                <c:pt idx="1028">
                  <c:v>27.097587324450846</c:v>
                </c:pt>
                <c:pt idx="1029">
                  <c:v>27.169607490097224</c:v>
                </c:pt>
                <c:pt idx="1030">
                  <c:v>27.313647821389985</c:v>
                </c:pt>
                <c:pt idx="1031">
                  <c:v>27.394670507742159</c:v>
                </c:pt>
                <c:pt idx="1032">
                  <c:v>27.538710839034941</c:v>
                </c:pt>
                <c:pt idx="1033">
                  <c:v>27.646741087504488</c:v>
                </c:pt>
                <c:pt idx="1034">
                  <c:v>27.763773856679876</c:v>
                </c:pt>
                <c:pt idx="1035">
                  <c:v>27.889809146561049</c:v>
                </c:pt>
                <c:pt idx="1036">
                  <c:v>27.952826791501618</c:v>
                </c:pt>
                <c:pt idx="1037">
                  <c:v>27.988836874324807</c:v>
                </c:pt>
                <c:pt idx="1038">
                  <c:v>28.006841915736391</c:v>
                </c:pt>
                <c:pt idx="1039">
                  <c:v>28.096867122794379</c:v>
                </c:pt>
                <c:pt idx="1040">
                  <c:v>28.186892329852341</c:v>
                </c:pt>
                <c:pt idx="1041">
                  <c:v>28.249909974792953</c:v>
                </c:pt>
                <c:pt idx="1042">
                  <c:v>28.285920057616142</c:v>
                </c:pt>
                <c:pt idx="1043">
                  <c:v>28.357940223262503</c:v>
                </c:pt>
                <c:pt idx="1044">
                  <c:v>28.402952826791484</c:v>
                </c:pt>
                <c:pt idx="1045">
                  <c:v>28.465970471732092</c:v>
                </c:pt>
                <c:pt idx="1046">
                  <c:v>28.429960388908903</c:v>
                </c:pt>
                <c:pt idx="1047">
                  <c:v>28.357940223262503</c:v>
                </c:pt>
                <c:pt idx="1048">
                  <c:v>28.411955347497297</c:v>
                </c:pt>
                <c:pt idx="1049">
                  <c:v>28.429960388908903</c:v>
                </c:pt>
                <c:pt idx="1050">
                  <c:v>28.501980554555285</c:v>
                </c:pt>
                <c:pt idx="1051">
                  <c:v>28.555995678790058</c:v>
                </c:pt>
                <c:pt idx="1052">
                  <c:v>28.438962909614695</c:v>
                </c:pt>
                <c:pt idx="1053">
                  <c:v>28.574000720201642</c:v>
                </c:pt>
                <c:pt idx="1054">
                  <c:v>28.691033489377027</c:v>
                </c:pt>
                <c:pt idx="1055">
                  <c:v>28.790061217140806</c:v>
                </c:pt>
                <c:pt idx="1056">
                  <c:v>28.898091465610378</c:v>
                </c:pt>
                <c:pt idx="1057">
                  <c:v>28.970111631256756</c:v>
                </c:pt>
                <c:pt idx="1058">
                  <c:v>29.213179690313297</c:v>
                </c:pt>
                <c:pt idx="1059">
                  <c:v>29.240187252430673</c:v>
                </c:pt>
                <c:pt idx="1060">
                  <c:v>29.303204897371259</c:v>
                </c:pt>
                <c:pt idx="1061">
                  <c:v>29.357220021606057</c:v>
                </c:pt>
                <c:pt idx="1062">
                  <c:v>29.375225063017641</c:v>
                </c:pt>
                <c:pt idx="1063">
                  <c:v>29.456247749369812</c:v>
                </c:pt>
                <c:pt idx="1064">
                  <c:v>29.501260352898797</c:v>
                </c:pt>
                <c:pt idx="1065">
                  <c:v>29.573280518545197</c:v>
                </c:pt>
                <c:pt idx="1066">
                  <c:v>29.573280518545197</c:v>
                </c:pt>
                <c:pt idx="1067">
                  <c:v>29.564277997839405</c:v>
                </c:pt>
                <c:pt idx="1068">
                  <c:v>29.582283039250989</c:v>
                </c:pt>
                <c:pt idx="1069">
                  <c:v>29.564277997839405</c:v>
                </c:pt>
                <c:pt idx="1070">
                  <c:v>29.546272956427799</c:v>
                </c:pt>
                <c:pt idx="1071">
                  <c:v>29.501260352898797</c:v>
                </c:pt>
                <c:pt idx="1072">
                  <c:v>29.528267915016215</c:v>
                </c:pt>
                <c:pt idx="1073">
                  <c:v>29.546272956427799</c:v>
                </c:pt>
                <c:pt idx="1074">
                  <c:v>29.645300684191579</c:v>
                </c:pt>
                <c:pt idx="1075">
                  <c:v>29.780338494778547</c:v>
                </c:pt>
                <c:pt idx="1076">
                  <c:v>29.888368743248115</c:v>
                </c:pt>
                <c:pt idx="1077">
                  <c:v>29.951386388188684</c:v>
                </c:pt>
                <c:pt idx="1078">
                  <c:v>30.014404033129271</c:v>
                </c:pt>
                <c:pt idx="1079">
                  <c:v>30.095426719481466</c:v>
                </c:pt>
                <c:pt idx="1080">
                  <c:v>30.104429240187258</c:v>
                </c:pt>
                <c:pt idx="1081">
                  <c:v>30.041411595246647</c:v>
                </c:pt>
                <c:pt idx="1082">
                  <c:v>30.005401512423479</c:v>
                </c:pt>
                <c:pt idx="1083">
                  <c:v>30.059416636658277</c:v>
                </c:pt>
                <c:pt idx="1084">
                  <c:v>30.086424198775653</c:v>
                </c:pt>
                <c:pt idx="1085">
                  <c:v>30.221462009362622</c:v>
                </c:pt>
                <c:pt idx="1086">
                  <c:v>30.275477133597416</c:v>
                </c:pt>
                <c:pt idx="1087">
                  <c:v>30.230464530068435</c:v>
                </c:pt>
                <c:pt idx="1088">
                  <c:v>30.203456967951013</c:v>
                </c:pt>
                <c:pt idx="1089">
                  <c:v>30.230464530068435</c:v>
                </c:pt>
                <c:pt idx="1090">
                  <c:v>30.212459488656805</c:v>
                </c:pt>
                <c:pt idx="1091">
                  <c:v>30.347497299243777</c:v>
                </c:pt>
                <c:pt idx="1092">
                  <c:v>30.428519985595969</c:v>
                </c:pt>
                <c:pt idx="1093">
                  <c:v>30.491537630536559</c:v>
                </c:pt>
                <c:pt idx="1094">
                  <c:v>30.590565358300314</c:v>
                </c:pt>
                <c:pt idx="1095">
                  <c:v>30.545552754771332</c:v>
                </c:pt>
                <c:pt idx="1096">
                  <c:v>30.57256031688873</c:v>
                </c:pt>
                <c:pt idx="1097">
                  <c:v>30.608570399711923</c:v>
                </c:pt>
                <c:pt idx="1098">
                  <c:v>30.527547713359727</c:v>
                </c:pt>
                <c:pt idx="1099">
                  <c:v>30.617572920417714</c:v>
                </c:pt>
                <c:pt idx="1100">
                  <c:v>30.608570399711923</c:v>
                </c:pt>
                <c:pt idx="1101">
                  <c:v>30.63557796182932</c:v>
                </c:pt>
                <c:pt idx="1102">
                  <c:v>30.671588044652509</c:v>
                </c:pt>
                <c:pt idx="1103">
                  <c:v>30.707598127475698</c:v>
                </c:pt>
                <c:pt idx="1104">
                  <c:v>30.81562837594527</c:v>
                </c:pt>
                <c:pt idx="1105">
                  <c:v>30.878646020885835</c:v>
                </c:pt>
                <c:pt idx="1106">
                  <c:v>31.562837594526471</c:v>
                </c:pt>
                <c:pt idx="1107">
                  <c:v>30.950666186532217</c:v>
                </c:pt>
                <c:pt idx="1108">
                  <c:v>31.013683831472804</c:v>
                </c:pt>
                <c:pt idx="1109">
                  <c:v>31.085703997119186</c:v>
                </c:pt>
                <c:pt idx="1110">
                  <c:v>31.166726683471381</c:v>
                </c:pt>
                <c:pt idx="1111">
                  <c:v>31.265754411235136</c:v>
                </c:pt>
                <c:pt idx="1112">
                  <c:v>31.337774576881539</c:v>
                </c:pt>
                <c:pt idx="1113">
                  <c:v>31.436802304645294</c:v>
                </c:pt>
                <c:pt idx="1114">
                  <c:v>31.517824990997489</c:v>
                </c:pt>
                <c:pt idx="1115">
                  <c:v>31.571840115232263</c:v>
                </c:pt>
                <c:pt idx="1116">
                  <c:v>31.589845156643868</c:v>
                </c:pt>
                <c:pt idx="1117">
                  <c:v>31.607850198055452</c:v>
                </c:pt>
                <c:pt idx="1118">
                  <c:v>31.571840115232263</c:v>
                </c:pt>
                <c:pt idx="1119">
                  <c:v>31.643860280878645</c:v>
                </c:pt>
                <c:pt idx="1120">
                  <c:v>31.625855239467036</c:v>
                </c:pt>
                <c:pt idx="1121">
                  <c:v>31.59884767734966</c:v>
                </c:pt>
                <c:pt idx="1122">
                  <c:v>31.41879726323371</c:v>
                </c:pt>
                <c:pt idx="1123">
                  <c:v>31.427799783939502</c:v>
                </c:pt>
                <c:pt idx="1124">
                  <c:v>31.472812387468487</c:v>
                </c:pt>
                <c:pt idx="1125">
                  <c:v>31.490817428880071</c:v>
                </c:pt>
                <c:pt idx="1126">
                  <c:v>31.571840115232263</c:v>
                </c:pt>
                <c:pt idx="1127">
                  <c:v>31.661865322290229</c:v>
                </c:pt>
                <c:pt idx="1128">
                  <c:v>31.679870363701834</c:v>
                </c:pt>
                <c:pt idx="1129">
                  <c:v>31.769895570759822</c:v>
                </c:pt>
                <c:pt idx="1130">
                  <c:v>31.823910694994595</c:v>
                </c:pt>
                <c:pt idx="1131">
                  <c:v>31.931940943464166</c:v>
                </c:pt>
                <c:pt idx="1132">
                  <c:v>31.895930860640973</c:v>
                </c:pt>
                <c:pt idx="1133">
                  <c:v>31.814908174288803</c:v>
                </c:pt>
                <c:pt idx="1134">
                  <c:v>31.670867842996021</c:v>
                </c:pt>
                <c:pt idx="1135">
                  <c:v>31.535830032409073</c:v>
                </c:pt>
                <c:pt idx="1136">
                  <c:v>31.355779618293123</c:v>
                </c:pt>
                <c:pt idx="1137">
                  <c:v>31.445804825351086</c:v>
                </c:pt>
                <c:pt idx="1138">
                  <c:v>31.72488296723084</c:v>
                </c:pt>
                <c:pt idx="1139">
                  <c:v>31.886928339935181</c:v>
                </c:pt>
                <c:pt idx="1140">
                  <c:v>31.940943464169958</c:v>
                </c:pt>
                <c:pt idx="1141">
                  <c:v>32.021966150522132</c:v>
                </c:pt>
                <c:pt idx="1142">
                  <c:v>32.102988836874324</c:v>
                </c:pt>
                <c:pt idx="1143">
                  <c:v>32.148001440403306</c:v>
                </c:pt>
                <c:pt idx="1144">
                  <c:v>32.166006481814911</c:v>
                </c:pt>
                <c:pt idx="1145">
                  <c:v>32.202016564638079</c:v>
                </c:pt>
                <c:pt idx="1146">
                  <c:v>32.220021606049684</c:v>
                </c:pt>
                <c:pt idx="1147">
                  <c:v>32.256031688872902</c:v>
                </c:pt>
                <c:pt idx="1148">
                  <c:v>32.382066978754033</c:v>
                </c:pt>
                <c:pt idx="1149">
                  <c:v>32.508102268635206</c:v>
                </c:pt>
                <c:pt idx="1150">
                  <c:v>32.598127475693197</c:v>
                </c:pt>
                <c:pt idx="1151">
                  <c:v>32.625135037810594</c:v>
                </c:pt>
                <c:pt idx="1152">
                  <c:v>32.778177889809143</c:v>
                </c:pt>
                <c:pt idx="1153">
                  <c:v>32.904213179690302</c:v>
                </c:pt>
                <c:pt idx="1154">
                  <c:v>32.922218221101907</c:v>
                </c:pt>
                <c:pt idx="1155">
                  <c:v>32.985235866042494</c:v>
                </c:pt>
                <c:pt idx="1156">
                  <c:v>32.976233345336702</c:v>
                </c:pt>
                <c:pt idx="1157">
                  <c:v>32.949225783219283</c:v>
                </c:pt>
                <c:pt idx="1158">
                  <c:v>33.138278718041072</c:v>
                </c:pt>
                <c:pt idx="1159">
                  <c:v>33.948505581562841</c:v>
                </c:pt>
                <c:pt idx="1160">
                  <c:v>34.065538350738223</c:v>
                </c:pt>
                <c:pt idx="1161">
                  <c:v>34.164566078501977</c:v>
                </c:pt>
                <c:pt idx="1162">
                  <c:v>33.480374504861345</c:v>
                </c:pt>
                <c:pt idx="1163">
                  <c:v>33.561397191213537</c:v>
                </c:pt>
                <c:pt idx="1164">
                  <c:v>33.597407274036726</c:v>
                </c:pt>
                <c:pt idx="1165">
                  <c:v>33.669427439683105</c:v>
                </c:pt>
                <c:pt idx="1166">
                  <c:v>33.696435001800509</c:v>
                </c:pt>
                <c:pt idx="1167">
                  <c:v>33.849477853799058</c:v>
                </c:pt>
                <c:pt idx="1168">
                  <c:v>34.560676989557074</c:v>
                </c:pt>
                <c:pt idx="1169">
                  <c:v>33.948505581562841</c:v>
                </c:pt>
                <c:pt idx="1170">
                  <c:v>34.011523226503407</c:v>
                </c:pt>
                <c:pt idx="1171">
                  <c:v>33.876485415916456</c:v>
                </c:pt>
                <c:pt idx="1172">
                  <c:v>33.77745768815268</c:v>
                </c:pt>
                <c:pt idx="1173">
                  <c:v>33.579402232625142</c:v>
                </c:pt>
                <c:pt idx="1174">
                  <c:v>33.561397191213537</c:v>
                </c:pt>
                <c:pt idx="1175">
                  <c:v>33.498379546272972</c:v>
                </c:pt>
                <c:pt idx="1176">
                  <c:v>33.354339214980186</c:v>
                </c:pt>
                <c:pt idx="1177">
                  <c:v>33.372344256391798</c:v>
                </c:pt>
                <c:pt idx="1178">
                  <c:v>33.147281238746864</c:v>
                </c:pt>
                <c:pt idx="1179">
                  <c:v>33.138278718041072</c:v>
                </c:pt>
                <c:pt idx="1180">
                  <c:v>33.399351818509174</c:v>
                </c:pt>
                <c:pt idx="1181">
                  <c:v>33.498379546272972</c:v>
                </c:pt>
                <c:pt idx="1182">
                  <c:v>33.660424918977291</c:v>
                </c:pt>
                <c:pt idx="1183">
                  <c:v>33.61541231544831</c:v>
                </c:pt>
                <c:pt idx="1184">
                  <c:v>33.759452646741096</c:v>
                </c:pt>
                <c:pt idx="1185">
                  <c:v>33.77745768815268</c:v>
                </c:pt>
                <c:pt idx="1186">
                  <c:v>33.660424918977291</c:v>
                </c:pt>
                <c:pt idx="1187">
                  <c:v>33.471371984155553</c:v>
                </c:pt>
                <c:pt idx="1188">
                  <c:v>33.363341735686006</c:v>
                </c:pt>
                <c:pt idx="1189">
                  <c:v>33.219301404393221</c:v>
                </c:pt>
                <c:pt idx="1190">
                  <c:v>33.273316528628015</c:v>
                </c:pt>
                <c:pt idx="1191">
                  <c:v>33.318329132157018</c:v>
                </c:pt>
                <c:pt idx="1192">
                  <c:v>32.733165286280141</c:v>
                </c:pt>
                <c:pt idx="1193">
                  <c:v>32.436082102988848</c:v>
                </c:pt>
                <c:pt idx="1194">
                  <c:v>30.662585523946717</c:v>
                </c:pt>
                <c:pt idx="1195">
                  <c:v>31.067698955707602</c:v>
                </c:pt>
                <c:pt idx="1196">
                  <c:v>30.275477133597416</c:v>
                </c:pt>
                <c:pt idx="1197">
                  <c:v>31.166726683471381</c:v>
                </c:pt>
                <c:pt idx="1198">
                  <c:v>30.887648541591652</c:v>
                </c:pt>
                <c:pt idx="1199">
                  <c:v>31.265754411235136</c:v>
                </c:pt>
                <c:pt idx="1200">
                  <c:v>31.580842635938055</c:v>
                </c:pt>
                <c:pt idx="1201">
                  <c:v>31.679870363701834</c:v>
                </c:pt>
                <c:pt idx="1202">
                  <c:v>31.967951026287356</c:v>
                </c:pt>
                <c:pt idx="1203">
                  <c:v>32.166006481814911</c:v>
                </c:pt>
                <c:pt idx="1204">
                  <c:v>32.769175369103351</c:v>
                </c:pt>
                <c:pt idx="1205">
                  <c:v>32.96723082463091</c:v>
                </c:pt>
                <c:pt idx="1206">
                  <c:v>33.183291321570053</c:v>
                </c:pt>
                <c:pt idx="1207">
                  <c:v>33.372344256391798</c:v>
                </c:pt>
                <c:pt idx="1208">
                  <c:v>33.399351818509174</c:v>
                </c:pt>
                <c:pt idx="1209">
                  <c:v>34.578682030968658</c:v>
                </c:pt>
                <c:pt idx="1210">
                  <c:v>33.300324090745391</c:v>
                </c:pt>
                <c:pt idx="1211">
                  <c:v>33.32733165286281</c:v>
                </c:pt>
                <c:pt idx="1212">
                  <c:v>33.38134677709759</c:v>
                </c:pt>
                <c:pt idx="1213">
                  <c:v>33.453366942743969</c:v>
                </c:pt>
                <c:pt idx="1214">
                  <c:v>33.579402232625142</c:v>
                </c:pt>
                <c:pt idx="1215">
                  <c:v>33.6514223982715</c:v>
                </c:pt>
                <c:pt idx="1216">
                  <c:v>34.128555995678788</c:v>
                </c:pt>
                <c:pt idx="1217">
                  <c:v>34.362621534029515</c:v>
                </c:pt>
                <c:pt idx="1218">
                  <c:v>34.425639178970123</c:v>
                </c:pt>
                <c:pt idx="1219">
                  <c:v>34.371624054735328</c:v>
                </c:pt>
                <c:pt idx="1220">
                  <c:v>34.488656823910688</c:v>
                </c:pt>
                <c:pt idx="1221">
                  <c:v>34.524666906733884</c:v>
                </c:pt>
                <c:pt idx="1222">
                  <c:v>34.62369463449766</c:v>
                </c:pt>
                <c:pt idx="1223">
                  <c:v>34.578682030968658</c:v>
                </c:pt>
                <c:pt idx="1224">
                  <c:v>34.587684551674471</c:v>
                </c:pt>
                <c:pt idx="1225">
                  <c:v>34.479654303204896</c:v>
                </c:pt>
                <c:pt idx="1226">
                  <c:v>34.542671948145468</c:v>
                </c:pt>
                <c:pt idx="1227">
                  <c:v>34.767734965790417</c:v>
                </c:pt>
                <c:pt idx="1228">
                  <c:v>34.794742527907815</c:v>
                </c:pt>
                <c:pt idx="1229">
                  <c:v>34.992797983435374</c:v>
                </c:pt>
                <c:pt idx="1230">
                  <c:v>35.055815628375939</c:v>
                </c:pt>
                <c:pt idx="1231">
                  <c:v>35.316888728844084</c:v>
                </c:pt>
              </c:numCache>
            </c:numRef>
          </c:val>
          <c:smooth val="0"/>
          <c:extLst>
            <c:ext xmlns:c16="http://schemas.microsoft.com/office/drawing/2014/chart" uri="{C3380CC4-5D6E-409C-BE32-E72D297353CC}">
              <c16:uniqueId val="{00000001-6E3A-4E7F-A676-2610DFB25496}"/>
            </c:ext>
          </c:extLst>
        </c:ser>
        <c:dLbls>
          <c:showLegendKey val="0"/>
          <c:showVal val="0"/>
          <c:showCatName val="0"/>
          <c:showSerName val="0"/>
          <c:showPercent val="0"/>
          <c:showBubbleSize val="0"/>
        </c:dLbls>
        <c:smooth val="0"/>
        <c:axId val="1224776159"/>
        <c:axId val="1224765119"/>
      </c:lineChart>
      <c:dateAx>
        <c:axId val="1224776159"/>
        <c:scaling>
          <c:orientation val="minMax"/>
        </c:scaling>
        <c:delete val="0"/>
        <c:axPos val="b"/>
        <c:numFmt formatCode="mm/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H"/>
          </a:p>
        </c:txPr>
        <c:crossAx val="1224765119"/>
        <c:crosses val="autoZero"/>
        <c:auto val="1"/>
        <c:lblOffset val="100"/>
        <c:baseTimeUnit val="days"/>
      </c:dateAx>
      <c:valAx>
        <c:axId val="12247651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CH"/>
          </a:p>
        </c:txPr>
        <c:crossAx val="12247761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CH"/>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Sheet1!$O$13</c:f>
              <c:strCache>
                <c:ptCount val="1"/>
                <c:pt idx="0">
                  <c:v>SPI Index TR</c:v>
                </c:pt>
              </c:strCache>
            </c:strRef>
          </c:tx>
          <c:spPr>
            <a:ln w="28575" cap="rnd">
              <a:solidFill>
                <a:schemeClr val="accent1"/>
              </a:solidFill>
              <a:round/>
            </a:ln>
            <a:effectLst/>
          </c:spPr>
          <c:marker>
            <c:symbol val="none"/>
          </c:marker>
          <c:cat>
            <c:numRef>
              <c:f>Sheet1!$N$14:$N$185</c:f>
              <c:numCache>
                <c:formatCode>m/d/yyyy</c:formatCode>
                <c:ptCount val="172"/>
                <c:pt idx="0">
                  <c:v>45905</c:v>
                </c:pt>
                <c:pt idx="1">
                  <c:v>45898</c:v>
                </c:pt>
                <c:pt idx="2">
                  <c:v>45891</c:v>
                </c:pt>
                <c:pt idx="3">
                  <c:v>45884</c:v>
                </c:pt>
                <c:pt idx="4">
                  <c:v>45877</c:v>
                </c:pt>
                <c:pt idx="5">
                  <c:v>45870</c:v>
                </c:pt>
                <c:pt idx="6">
                  <c:v>45863</c:v>
                </c:pt>
                <c:pt idx="7">
                  <c:v>45856</c:v>
                </c:pt>
                <c:pt idx="8">
                  <c:v>45849</c:v>
                </c:pt>
                <c:pt idx="9">
                  <c:v>45842</c:v>
                </c:pt>
                <c:pt idx="10">
                  <c:v>45835</c:v>
                </c:pt>
                <c:pt idx="11">
                  <c:v>45828</c:v>
                </c:pt>
                <c:pt idx="12">
                  <c:v>45821</c:v>
                </c:pt>
                <c:pt idx="13">
                  <c:v>45814</c:v>
                </c:pt>
                <c:pt idx="14">
                  <c:v>45807</c:v>
                </c:pt>
                <c:pt idx="15">
                  <c:v>45800</c:v>
                </c:pt>
                <c:pt idx="16">
                  <c:v>45793</c:v>
                </c:pt>
                <c:pt idx="17">
                  <c:v>45786</c:v>
                </c:pt>
                <c:pt idx="18">
                  <c:v>45779</c:v>
                </c:pt>
                <c:pt idx="19">
                  <c:v>45772</c:v>
                </c:pt>
                <c:pt idx="20">
                  <c:v>45765</c:v>
                </c:pt>
                <c:pt idx="21">
                  <c:v>45758</c:v>
                </c:pt>
                <c:pt idx="22">
                  <c:v>45751</c:v>
                </c:pt>
                <c:pt idx="23">
                  <c:v>45744</c:v>
                </c:pt>
                <c:pt idx="24">
                  <c:v>45737</c:v>
                </c:pt>
                <c:pt idx="25">
                  <c:v>45730</c:v>
                </c:pt>
                <c:pt idx="26">
                  <c:v>45723</c:v>
                </c:pt>
                <c:pt idx="27">
                  <c:v>45716</c:v>
                </c:pt>
                <c:pt idx="28">
                  <c:v>45709</c:v>
                </c:pt>
                <c:pt idx="29">
                  <c:v>45702</c:v>
                </c:pt>
                <c:pt idx="30">
                  <c:v>45695</c:v>
                </c:pt>
                <c:pt idx="31">
                  <c:v>45688</c:v>
                </c:pt>
                <c:pt idx="32">
                  <c:v>45681</c:v>
                </c:pt>
                <c:pt idx="33">
                  <c:v>45674</c:v>
                </c:pt>
                <c:pt idx="34">
                  <c:v>45667</c:v>
                </c:pt>
                <c:pt idx="35">
                  <c:v>45660</c:v>
                </c:pt>
                <c:pt idx="36">
                  <c:v>45653</c:v>
                </c:pt>
                <c:pt idx="37">
                  <c:v>45646</c:v>
                </c:pt>
                <c:pt idx="38">
                  <c:v>45639</c:v>
                </c:pt>
                <c:pt idx="39">
                  <c:v>45632</c:v>
                </c:pt>
                <c:pt idx="40">
                  <c:v>45625</c:v>
                </c:pt>
                <c:pt idx="41">
                  <c:v>45618</c:v>
                </c:pt>
                <c:pt idx="42">
                  <c:v>45611</c:v>
                </c:pt>
                <c:pt idx="43">
                  <c:v>45604</c:v>
                </c:pt>
                <c:pt idx="44">
                  <c:v>45597</c:v>
                </c:pt>
                <c:pt idx="45">
                  <c:v>45590</c:v>
                </c:pt>
                <c:pt idx="46">
                  <c:v>45583</c:v>
                </c:pt>
                <c:pt idx="47">
                  <c:v>45576</c:v>
                </c:pt>
                <c:pt idx="48">
                  <c:v>45569</c:v>
                </c:pt>
                <c:pt idx="49">
                  <c:v>45562</c:v>
                </c:pt>
                <c:pt idx="50">
                  <c:v>45555</c:v>
                </c:pt>
                <c:pt idx="51">
                  <c:v>45548</c:v>
                </c:pt>
                <c:pt idx="52">
                  <c:v>45541</c:v>
                </c:pt>
                <c:pt idx="53">
                  <c:v>45534</c:v>
                </c:pt>
                <c:pt idx="54">
                  <c:v>45527</c:v>
                </c:pt>
                <c:pt idx="55">
                  <c:v>45520</c:v>
                </c:pt>
                <c:pt idx="56">
                  <c:v>45513</c:v>
                </c:pt>
                <c:pt idx="57">
                  <c:v>45506</c:v>
                </c:pt>
                <c:pt idx="58">
                  <c:v>45499</c:v>
                </c:pt>
                <c:pt idx="59">
                  <c:v>45492</c:v>
                </c:pt>
                <c:pt idx="60">
                  <c:v>45485</c:v>
                </c:pt>
                <c:pt idx="61">
                  <c:v>45478</c:v>
                </c:pt>
                <c:pt idx="62">
                  <c:v>45471</c:v>
                </c:pt>
                <c:pt idx="63">
                  <c:v>45464</c:v>
                </c:pt>
                <c:pt idx="64">
                  <c:v>45457</c:v>
                </c:pt>
                <c:pt idx="65">
                  <c:v>45450</c:v>
                </c:pt>
                <c:pt idx="66">
                  <c:v>45443</c:v>
                </c:pt>
                <c:pt idx="67">
                  <c:v>45436</c:v>
                </c:pt>
                <c:pt idx="68">
                  <c:v>45429</c:v>
                </c:pt>
                <c:pt idx="69">
                  <c:v>45422</c:v>
                </c:pt>
                <c:pt idx="70">
                  <c:v>45415</c:v>
                </c:pt>
                <c:pt idx="71">
                  <c:v>45408</c:v>
                </c:pt>
                <c:pt idx="72">
                  <c:v>45401</c:v>
                </c:pt>
                <c:pt idx="73">
                  <c:v>45394</c:v>
                </c:pt>
                <c:pt idx="74">
                  <c:v>45387</c:v>
                </c:pt>
                <c:pt idx="75">
                  <c:v>45380</c:v>
                </c:pt>
                <c:pt idx="76">
                  <c:v>45373</c:v>
                </c:pt>
                <c:pt idx="77">
                  <c:v>45366</c:v>
                </c:pt>
                <c:pt idx="78">
                  <c:v>45359</c:v>
                </c:pt>
                <c:pt idx="79">
                  <c:v>45352</c:v>
                </c:pt>
                <c:pt idx="80">
                  <c:v>45345</c:v>
                </c:pt>
                <c:pt idx="81">
                  <c:v>45338</c:v>
                </c:pt>
                <c:pt idx="82">
                  <c:v>45331</c:v>
                </c:pt>
                <c:pt idx="83">
                  <c:v>45324</c:v>
                </c:pt>
                <c:pt idx="84">
                  <c:v>45317</c:v>
                </c:pt>
                <c:pt idx="85">
                  <c:v>45310</c:v>
                </c:pt>
                <c:pt idx="86">
                  <c:v>45303</c:v>
                </c:pt>
                <c:pt idx="87">
                  <c:v>45296</c:v>
                </c:pt>
                <c:pt idx="88">
                  <c:v>45289</c:v>
                </c:pt>
                <c:pt idx="89">
                  <c:v>45282</c:v>
                </c:pt>
                <c:pt idx="90">
                  <c:v>45275</c:v>
                </c:pt>
                <c:pt idx="91">
                  <c:v>45268</c:v>
                </c:pt>
                <c:pt idx="92">
                  <c:v>45261</c:v>
                </c:pt>
                <c:pt idx="93">
                  <c:v>45254</c:v>
                </c:pt>
                <c:pt idx="94">
                  <c:v>45247</c:v>
                </c:pt>
                <c:pt idx="95">
                  <c:v>45240</c:v>
                </c:pt>
                <c:pt idx="96">
                  <c:v>45233</c:v>
                </c:pt>
                <c:pt idx="97">
                  <c:v>45226</c:v>
                </c:pt>
                <c:pt idx="98">
                  <c:v>45219</c:v>
                </c:pt>
                <c:pt idx="99">
                  <c:v>45212</c:v>
                </c:pt>
                <c:pt idx="100">
                  <c:v>45205</c:v>
                </c:pt>
                <c:pt idx="101">
                  <c:v>45198</c:v>
                </c:pt>
                <c:pt idx="102">
                  <c:v>45191</c:v>
                </c:pt>
                <c:pt idx="103">
                  <c:v>45184</c:v>
                </c:pt>
                <c:pt idx="104">
                  <c:v>45177</c:v>
                </c:pt>
                <c:pt idx="105">
                  <c:v>45170</c:v>
                </c:pt>
                <c:pt idx="106">
                  <c:v>45163</c:v>
                </c:pt>
                <c:pt idx="107">
                  <c:v>45156</c:v>
                </c:pt>
                <c:pt idx="108">
                  <c:v>45149</c:v>
                </c:pt>
                <c:pt idx="109">
                  <c:v>45142</c:v>
                </c:pt>
                <c:pt idx="110">
                  <c:v>45135</c:v>
                </c:pt>
                <c:pt idx="111">
                  <c:v>45128</c:v>
                </c:pt>
                <c:pt idx="112">
                  <c:v>45121</c:v>
                </c:pt>
                <c:pt idx="113">
                  <c:v>45114</c:v>
                </c:pt>
                <c:pt idx="114">
                  <c:v>45107</c:v>
                </c:pt>
                <c:pt idx="115">
                  <c:v>45100</c:v>
                </c:pt>
                <c:pt idx="116">
                  <c:v>45093</c:v>
                </c:pt>
                <c:pt idx="117">
                  <c:v>45086</c:v>
                </c:pt>
                <c:pt idx="118">
                  <c:v>45079</c:v>
                </c:pt>
                <c:pt idx="119">
                  <c:v>45072</c:v>
                </c:pt>
                <c:pt idx="120">
                  <c:v>45065</c:v>
                </c:pt>
                <c:pt idx="121">
                  <c:v>45058</c:v>
                </c:pt>
                <c:pt idx="122">
                  <c:v>45051</c:v>
                </c:pt>
                <c:pt idx="123">
                  <c:v>45044</c:v>
                </c:pt>
                <c:pt idx="124">
                  <c:v>45037</c:v>
                </c:pt>
                <c:pt idx="125">
                  <c:v>45030</c:v>
                </c:pt>
                <c:pt idx="126">
                  <c:v>45023</c:v>
                </c:pt>
                <c:pt idx="127">
                  <c:v>45016</c:v>
                </c:pt>
                <c:pt idx="128">
                  <c:v>45009</c:v>
                </c:pt>
                <c:pt idx="129">
                  <c:v>45002</c:v>
                </c:pt>
                <c:pt idx="130">
                  <c:v>44995</c:v>
                </c:pt>
                <c:pt idx="131">
                  <c:v>44988</c:v>
                </c:pt>
                <c:pt idx="132">
                  <c:v>44981</c:v>
                </c:pt>
                <c:pt idx="133">
                  <c:v>44974</c:v>
                </c:pt>
                <c:pt idx="134">
                  <c:v>44967</c:v>
                </c:pt>
                <c:pt idx="135">
                  <c:v>44960</c:v>
                </c:pt>
                <c:pt idx="136">
                  <c:v>44953</c:v>
                </c:pt>
                <c:pt idx="137">
                  <c:v>44946</c:v>
                </c:pt>
                <c:pt idx="138">
                  <c:v>44939</c:v>
                </c:pt>
                <c:pt idx="139">
                  <c:v>44932</c:v>
                </c:pt>
                <c:pt idx="140">
                  <c:v>44925</c:v>
                </c:pt>
                <c:pt idx="141">
                  <c:v>44918</c:v>
                </c:pt>
                <c:pt idx="142">
                  <c:v>44911</c:v>
                </c:pt>
                <c:pt idx="143">
                  <c:v>44904</c:v>
                </c:pt>
                <c:pt idx="144">
                  <c:v>44897</c:v>
                </c:pt>
                <c:pt idx="145">
                  <c:v>44890</c:v>
                </c:pt>
                <c:pt idx="146">
                  <c:v>44883</c:v>
                </c:pt>
                <c:pt idx="147">
                  <c:v>44876</c:v>
                </c:pt>
                <c:pt idx="148">
                  <c:v>44869</c:v>
                </c:pt>
                <c:pt idx="149">
                  <c:v>44862</c:v>
                </c:pt>
                <c:pt idx="150">
                  <c:v>44855</c:v>
                </c:pt>
                <c:pt idx="151">
                  <c:v>44848</c:v>
                </c:pt>
                <c:pt idx="152">
                  <c:v>44841</c:v>
                </c:pt>
                <c:pt idx="153">
                  <c:v>44834</c:v>
                </c:pt>
                <c:pt idx="154">
                  <c:v>44827</c:v>
                </c:pt>
                <c:pt idx="155">
                  <c:v>44820</c:v>
                </c:pt>
                <c:pt idx="156">
                  <c:v>44813</c:v>
                </c:pt>
                <c:pt idx="157">
                  <c:v>44806</c:v>
                </c:pt>
                <c:pt idx="158">
                  <c:v>44799</c:v>
                </c:pt>
                <c:pt idx="159">
                  <c:v>44792</c:v>
                </c:pt>
                <c:pt idx="160">
                  <c:v>44785</c:v>
                </c:pt>
                <c:pt idx="161">
                  <c:v>44778</c:v>
                </c:pt>
                <c:pt idx="162">
                  <c:v>44771</c:v>
                </c:pt>
                <c:pt idx="163">
                  <c:v>44764</c:v>
                </c:pt>
                <c:pt idx="164">
                  <c:v>44757</c:v>
                </c:pt>
                <c:pt idx="165">
                  <c:v>44750</c:v>
                </c:pt>
                <c:pt idx="166">
                  <c:v>44743</c:v>
                </c:pt>
                <c:pt idx="167">
                  <c:v>44736</c:v>
                </c:pt>
                <c:pt idx="168">
                  <c:v>44729</c:v>
                </c:pt>
                <c:pt idx="169">
                  <c:v>44722</c:v>
                </c:pt>
                <c:pt idx="170">
                  <c:v>44715</c:v>
                </c:pt>
                <c:pt idx="171">
                  <c:v>44708</c:v>
                </c:pt>
              </c:numCache>
            </c:numRef>
          </c:cat>
          <c:val>
            <c:numRef>
              <c:f>Sheet1!$O$14:$O$185</c:f>
              <c:numCache>
                <c:formatCode>General</c:formatCode>
                <c:ptCount val="172"/>
                <c:pt idx="0">
                  <c:v>22.024000000000001</c:v>
                </c:pt>
                <c:pt idx="1">
                  <c:v>20.6157</c:v>
                </c:pt>
                <c:pt idx="2">
                  <c:v>21.555800000000001</c:v>
                </c:pt>
                <c:pt idx="3">
                  <c:v>19.622499999999999</c:v>
                </c:pt>
                <c:pt idx="4">
                  <c:v>18.1782</c:v>
                </c:pt>
                <c:pt idx="5">
                  <c:v>17.887599999999999</c:v>
                </c:pt>
                <c:pt idx="6">
                  <c:v>19.2181</c:v>
                </c:pt>
                <c:pt idx="7">
                  <c:v>19.4666</c:v>
                </c:pt>
                <c:pt idx="8">
                  <c:v>18.625699999999998</c:v>
                </c:pt>
                <c:pt idx="9">
                  <c:v>18.456600000000002</c:v>
                </c:pt>
                <c:pt idx="10">
                  <c:v>18.4725</c:v>
                </c:pt>
                <c:pt idx="11">
                  <c:v>17.334199999999999</c:v>
                </c:pt>
                <c:pt idx="12">
                  <c:v>19.626200000000001</c:v>
                </c:pt>
                <c:pt idx="13">
                  <c:v>21.577999999999999</c:v>
                </c:pt>
                <c:pt idx="14">
                  <c:v>20.205400000000001</c:v>
                </c:pt>
                <c:pt idx="15">
                  <c:v>19.650099999999998</c:v>
                </c:pt>
                <c:pt idx="16">
                  <c:v>20.593800000000002</c:v>
                </c:pt>
                <c:pt idx="17">
                  <c:v>18.040500000000002</c:v>
                </c:pt>
                <c:pt idx="18">
                  <c:v>19.029499999999999</c:v>
                </c:pt>
                <c:pt idx="19">
                  <c:v>15.643800000000001</c:v>
                </c:pt>
                <c:pt idx="20">
                  <c:v>12.0352</c:v>
                </c:pt>
                <c:pt idx="21">
                  <c:v>7.8087</c:v>
                </c:pt>
                <c:pt idx="22">
                  <c:v>10.9138</c:v>
                </c:pt>
                <c:pt idx="23">
                  <c:v>21.963999999999999</c:v>
                </c:pt>
                <c:pt idx="24">
                  <c:v>23.3491</c:v>
                </c:pt>
                <c:pt idx="25">
                  <c:v>21.937899999999999</c:v>
                </c:pt>
                <c:pt idx="26">
                  <c:v>22.9786</c:v>
                </c:pt>
                <c:pt idx="27">
                  <c:v>22.343</c:v>
                </c:pt>
                <c:pt idx="28">
                  <c:v>22.3843</c:v>
                </c:pt>
                <c:pt idx="29">
                  <c:v>21.5501</c:v>
                </c:pt>
                <c:pt idx="30">
                  <c:v>19.2042</c:v>
                </c:pt>
                <c:pt idx="31">
                  <c:v>19.427499999999998</c:v>
                </c:pt>
                <c:pt idx="32">
                  <c:v>16.782499999999999</c:v>
                </c:pt>
                <c:pt idx="33">
                  <c:v>14.021000000000001</c:v>
                </c:pt>
                <c:pt idx="34">
                  <c:v>12.1721</c:v>
                </c:pt>
                <c:pt idx="35">
                  <c:v>10.7043</c:v>
                </c:pt>
                <c:pt idx="36">
                  <c:v>10.314500000000001</c:v>
                </c:pt>
                <c:pt idx="37">
                  <c:v>8.4274000000000004</c:v>
                </c:pt>
                <c:pt idx="38">
                  <c:v>11.1556</c:v>
                </c:pt>
                <c:pt idx="39">
                  <c:v>11.956099999999999</c:v>
                </c:pt>
                <c:pt idx="40">
                  <c:v>11.8032</c:v>
                </c:pt>
                <c:pt idx="41">
                  <c:v>11.2258</c:v>
                </c:pt>
                <c:pt idx="42">
                  <c:v>10.4879</c:v>
                </c:pt>
                <c:pt idx="43">
                  <c:v>12.2216</c:v>
                </c:pt>
                <c:pt idx="44">
                  <c:v>13.636799999999999</c:v>
                </c:pt>
                <c:pt idx="45">
                  <c:v>15.606199999999999</c:v>
                </c:pt>
                <c:pt idx="46">
                  <c:v>16.9574</c:v>
                </c:pt>
                <c:pt idx="47">
                  <c:v>15.645300000000001</c:v>
                </c:pt>
                <c:pt idx="48">
                  <c:v>14.379</c:v>
                </c:pt>
                <c:pt idx="49">
                  <c:v>16.4467</c:v>
                </c:pt>
                <c:pt idx="50">
                  <c:v>13.3772</c:v>
                </c:pt>
                <c:pt idx="51">
                  <c:v>14.182700000000001</c:v>
                </c:pt>
                <c:pt idx="52">
                  <c:v>12.898999999999999</c:v>
                </c:pt>
                <c:pt idx="53">
                  <c:v>17.7361</c:v>
                </c:pt>
                <c:pt idx="54">
                  <c:v>16.986499999999999</c:v>
                </c:pt>
                <c:pt idx="55">
                  <c:v>15.588800000000001</c:v>
                </c:pt>
                <c:pt idx="56">
                  <c:v>12.654999999999999</c:v>
                </c:pt>
                <c:pt idx="57">
                  <c:v>12.7844</c:v>
                </c:pt>
                <c:pt idx="58">
                  <c:v>15.9009</c:v>
                </c:pt>
                <c:pt idx="59">
                  <c:v>15.2379</c:v>
                </c:pt>
                <c:pt idx="60">
                  <c:v>17.109400000000001</c:v>
                </c:pt>
                <c:pt idx="61">
                  <c:v>14.236599999999999</c:v>
                </c:pt>
                <c:pt idx="62">
                  <c:v>13.563800000000001</c:v>
                </c:pt>
                <c:pt idx="63">
                  <c:v>13.9236</c:v>
                </c:pt>
                <c:pt idx="64">
                  <c:v>14.096500000000001</c:v>
                </c:pt>
                <c:pt idx="65">
                  <c:v>16.021000000000001</c:v>
                </c:pt>
                <c:pt idx="66">
                  <c:v>14.0845</c:v>
                </c:pt>
                <c:pt idx="67">
                  <c:v>13.685600000000001</c:v>
                </c:pt>
                <c:pt idx="68">
                  <c:v>14.411899999999999</c:v>
                </c:pt>
                <c:pt idx="69">
                  <c:v>11.835800000000001</c:v>
                </c:pt>
                <c:pt idx="70">
                  <c:v>7.673</c:v>
                </c:pt>
                <c:pt idx="71">
                  <c:v>7.9762000000000004</c:v>
                </c:pt>
                <c:pt idx="72">
                  <c:v>6.8807</c:v>
                </c:pt>
                <c:pt idx="73">
                  <c:v>7.3716999999999997</c:v>
                </c:pt>
                <c:pt idx="74">
                  <c:v>8.1129999999999995</c:v>
                </c:pt>
                <c:pt idx="75">
                  <c:v>10.165100000000001</c:v>
                </c:pt>
                <c:pt idx="76">
                  <c:v>9.1965000000000003</c:v>
                </c:pt>
                <c:pt idx="77">
                  <c:v>9.3493999999999993</c:v>
                </c:pt>
                <c:pt idx="78">
                  <c:v>8.5725999999999996</c:v>
                </c:pt>
                <c:pt idx="79">
                  <c:v>6.5650000000000004</c:v>
                </c:pt>
                <c:pt idx="80">
                  <c:v>6.9123999999999999</c:v>
                </c:pt>
                <c:pt idx="81">
                  <c:v>5.5716999999999999</c:v>
                </c:pt>
                <c:pt idx="82">
                  <c:v>3.5510000000000002</c:v>
                </c:pt>
                <c:pt idx="83">
                  <c:v>4.6990999999999996</c:v>
                </c:pt>
                <c:pt idx="84">
                  <c:v>5.8582000000000001</c:v>
                </c:pt>
                <c:pt idx="85">
                  <c:v>3.5857999999999999</c:v>
                </c:pt>
                <c:pt idx="86">
                  <c:v>4.3747999999999996</c:v>
                </c:pt>
                <c:pt idx="87">
                  <c:v>4.04</c:v>
                </c:pt>
                <c:pt idx="88">
                  <c:v>3.9472</c:v>
                </c:pt>
                <c:pt idx="89">
                  <c:v>4.0198999999999998</c:v>
                </c:pt>
                <c:pt idx="90">
                  <c:v>4.5617000000000001</c:v>
                </c:pt>
                <c:pt idx="91">
                  <c:v>3.2149000000000001</c:v>
                </c:pt>
                <c:pt idx="92">
                  <c:v>1.7396</c:v>
                </c:pt>
                <c:pt idx="93">
                  <c:v>1.7796000000000001</c:v>
                </c:pt>
                <c:pt idx="94">
                  <c:v>0.75980000000000003</c:v>
                </c:pt>
                <c:pt idx="95">
                  <c:v>-1.123</c:v>
                </c:pt>
                <c:pt idx="96">
                  <c:v>-0.87890000000000001</c:v>
                </c:pt>
                <c:pt idx="97">
                  <c:v>-3.6354000000000002</c:v>
                </c:pt>
                <c:pt idx="98">
                  <c:v>-3.2042999999999999</c:v>
                </c:pt>
                <c:pt idx="99">
                  <c:v>1.5860000000000001</c:v>
                </c:pt>
                <c:pt idx="100">
                  <c:v>1.0327</c:v>
                </c:pt>
                <c:pt idx="101">
                  <c:v>2.5017</c:v>
                </c:pt>
                <c:pt idx="102">
                  <c:v>3.1724000000000001</c:v>
                </c:pt>
                <c:pt idx="103">
                  <c:v>4.7012999999999998</c:v>
                </c:pt>
                <c:pt idx="104">
                  <c:v>2.9382999999999999</c:v>
                </c:pt>
                <c:pt idx="105">
                  <c:v>4.1303999999999998</c:v>
                </c:pt>
                <c:pt idx="106">
                  <c:v>3.0369999999999999</c:v>
                </c:pt>
                <c:pt idx="107">
                  <c:v>2.0194999999999999</c:v>
                </c:pt>
                <c:pt idx="108">
                  <c:v>4.3228</c:v>
                </c:pt>
                <c:pt idx="109">
                  <c:v>4.5640000000000001</c:v>
                </c:pt>
                <c:pt idx="110">
                  <c:v>6.6037999999999997</c:v>
                </c:pt>
                <c:pt idx="111">
                  <c:v>5.3281999999999998</c:v>
                </c:pt>
                <c:pt idx="112">
                  <c:v>4.8662000000000001</c:v>
                </c:pt>
                <c:pt idx="113">
                  <c:v>2.5672999999999999</c:v>
                </c:pt>
                <c:pt idx="114">
                  <c:v>6.0198</c:v>
                </c:pt>
                <c:pt idx="115">
                  <c:v>5.2488999999999999</c:v>
                </c:pt>
                <c:pt idx="116">
                  <c:v>7.0507999999999997</c:v>
                </c:pt>
                <c:pt idx="117">
                  <c:v>5.7919999999999998</c:v>
                </c:pt>
                <c:pt idx="118">
                  <c:v>7.5439999999999996</c:v>
                </c:pt>
                <c:pt idx="119">
                  <c:v>7.4798</c:v>
                </c:pt>
                <c:pt idx="120">
                  <c:v>8.8216000000000001</c:v>
                </c:pt>
                <c:pt idx="121">
                  <c:v>8.7707999999999995</c:v>
                </c:pt>
                <c:pt idx="122">
                  <c:v>8.7666000000000004</c:v>
                </c:pt>
                <c:pt idx="123">
                  <c:v>7.5265000000000004</c:v>
                </c:pt>
                <c:pt idx="124">
                  <c:v>7.3583999999999996</c:v>
                </c:pt>
                <c:pt idx="125">
                  <c:v>6.0045000000000002</c:v>
                </c:pt>
                <c:pt idx="126">
                  <c:v>4.4951999999999996</c:v>
                </c:pt>
                <c:pt idx="127">
                  <c:v>3.7749000000000001</c:v>
                </c:pt>
                <c:pt idx="128">
                  <c:v>-0.56479999999999997</c:v>
                </c:pt>
                <c:pt idx="129">
                  <c:v>-0.80330000000000001</c:v>
                </c:pt>
                <c:pt idx="130">
                  <c:v>-0.20300000000000001</c:v>
                </c:pt>
                <c:pt idx="131">
                  <c:v>2.9857</c:v>
                </c:pt>
                <c:pt idx="132">
                  <c:v>2.6265999999999998</c:v>
                </c:pt>
                <c:pt idx="133">
                  <c:v>3.3727</c:v>
                </c:pt>
                <c:pt idx="134">
                  <c:v>2.2764000000000002</c:v>
                </c:pt>
                <c:pt idx="135">
                  <c:v>4.5034999999999998</c:v>
                </c:pt>
                <c:pt idx="136">
                  <c:v>3.8117999999999999</c:v>
                </c:pt>
                <c:pt idx="137">
                  <c:v>3.4487000000000001</c:v>
                </c:pt>
                <c:pt idx="138">
                  <c:v>3.3826999999999998</c:v>
                </c:pt>
                <c:pt idx="139">
                  <c:v>1.8391999999999999</c:v>
                </c:pt>
                <c:pt idx="140">
                  <c:v>-2.0192999999999999</c:v>
                </c:pt>
                <c:pt idx="141">
                  <c:v>-1.4367000000000001</c:v>
                </c:pt>
                <c:pt idx="142">
                  <c:v>-1.7959000000000001</c:v>
                </c:pt>
                <c:pt idx="143">
                  <c:v>0.67759999999999998</c:v>
                </c:pt>
                <c:pt idx="144">
                  <c:v>2.0752000000000002</c:v>
                </c:pt>
                <c:pt idx="145">
                  <c:v>1.9560999999999999</c:v>
                </c:pt>
                <c:pt idx="146">
                  <c:v>0.69650000000000001</c:v>
                </c:pt>
                <c:pt idx="147">
                  <c:v>1.7002999999999999</c:v>
                </c:pt>
                <c:pt idx="148">
                  <c:v>-1.8544</c:v>
                </c:pt>
                <c:pt idx="149">
                  <c:v>-2.0270999999999999</c:v>
                </c:pt>
                <c:pt idx="150">
                  <c:v>-4.9621000000000004</c:v>
                </c:pt>
                <c:pt idx="151">
                  <c:v>-5.8518999999999997</c:v>
                </c:pt>
                <c:pt idx="152">
                  <c:v>-5.8992000000000004</c:v>
                </c:pt>
                <c:pt idx="153">
                  <c:v>-6.0747</c:v>
                </c:pt>
                <c:pt idx="154">
                  <c:v>-7.1547999999999998</c:v>
                </c:pt>
                <c:pt idx="155">
                  <c:v>-3.1019000000000001</c:v>
                </c:pt>
                <c:pt idx="156">
                  <c:v>-0.16270000000000001</c:v>
                </c:pt>
                <c:pt idx="157">
                  <c:v>0</c:v>
                </c:pt>
                <c:pt idx="158">
                  <c:v>0.65620000000000001</c:v>
                </c:pt>
                <c:pt idx="159">
                  <c:v>2.7949000000000002</c:v>
                </c:pt>
                <c:pt idx="160">
                  <c:v>3.0228999999999999</c:v>
                </c:pt>
                <c:pt idx="161">
                  <c:v>2.8347000000000002</c:v>
                </c:pt>
                <c:pt idx="162">
                  <c:v>3.0566</c:v>
                </c:pt>
                <c:pt idx="163">
                  <c:v>2.31</c:v>
                </c:pt>
                <c:pt idx="164">
                  <c:v>1.026</c:v>
                </c:pt>
                <c:pt idx="165">
                  <c:v>1.3469</c:v>
                </c:pt>
                <c:pt idx="166">
                  <c:v>-0.99009999999999998</c:v>
                </c:pt>
                <c:pt idx="167">
                  <c:v>-0.51349999999999996</c:v>
                </c:pt>
                <c:pt idx="168">
                  <c:v>-3.9771000000000001</c:v>
                </c:pt>
                <c:pt idx="169">
                  <c:v>1.6277999999999999</c:v>
                </c:pt>
                <c:pt idx="170">
                  <c:v>5.5945999999999998</c:v>
                </c:pt>
                <c:pt idx="171">
                  <c:v>6.5880999999999998</c:v>
                </c:pt>
              </c:numCache>
            </c:numRef>
          </c:val>
          <c:smooth val="0"/>
          <c:extLst>
            <c:ext xmlns:c16="http://schemas.microsoft.com/office/drawing/2014/chart" uri="{C3380CC4-5D6E-409C-BE32-E72D297353CC}">
              <c16:uniqueId val="{00000000-3F3D-4331-99A0-C67349C5421A}"/>
            </c:ext>
          </c:extLst>
        </c:ser>
        <c:ser>
          <c:idx val="1"/>
          <c:order val="1"/>
          <c:tx>
            <c:strRef>
              <c:f>Sheet1!$P$13</c:f>
              <c:strCache>
                <c:ptCount val="1"/>
                <c:pt idx="0">
                  <c:v>UBS Swiss Income Fund</c:v>
                </c:pt>
              </c:strCache>
            </c:strRef>
          </c:tx>
          <c:spPr>
            <a:ln w="28575" cap="rnd">
              <a:solidFill>
                <a:schemeClr val="accent2"/>
              </a:solidFill>
              <a:round/>
            </a:ln>
            <a:effectLst/>
          </c:spPr>
          <c:marker>
            <c:symbol val="none"/>
          </c:marker>
          <c:cat>
            <c:numRef>
              <c:f>Sheet1!$N$14:$N$185</c:f>
              <c:numCache>
                <c:formatCode>m/d/yyyy</c:formatCode>
                <c:ptCount val="172"/>
                <c:pt idx="0">
                  <c:v>45905</c:v>
                </c:pt>
                <c:pt idx="1">
                  <c:v>45898</c:v>
                </c:pt>
                <c:pt idx="2">
                  <c:v>45891</c:v>
                </c:pt>
                <c:pt idx="3">
                  <c:v>45884</c:v>
                </c:pt>
                <c:pt idx="4">
                  <c:v>45877</c:v>
                </c:pt>
                <c:pt idx="5">
                  <c:v>45870</c:v>
                </c:pt>
                <c:pt idx="6">
                  <c:v>45863</c:v>
                </c:pt>
                <c:pt idx="7">
                  <c:v>45856</c:v>
                </c:pt>
                <c:pt idx="8">
                  <c:v>45849</c:v>
                </c:pt>
                <c:pt idx="9">
                  <c:v>45842</c:v>
                </c:pt>
                <c:pt idx="10">
                  <c:v>45835</c:v>
                </c:pt>
                <c:pt idx="11">
                  <c:v>45828</c:v>
                </c:pt>
                <c:pt idx="12">
                  <c:v>45821</c:v>
                </c:pt>
                <c:pt idx="13">
                  <c:v>45814</c:v>
                </c:pt>
                <c:pt idx="14">
                  <c:v>45807</c:v>
                </c:pt>
                <c:pt idx="15">
                  <c:v>45800</c:v>
                </c:pt>
                <c:pt idx="16">
                  <c:v>45793</c:v>
                </c:pt>
                <c:pt idx="17">
                  <c:v>45786</c:v>
                </c:pt>
                <c:pt idx="18">
                  <c:v>45779</c:v>
                </c:pt>
                <c:pt idx="19">
                  <c:v>45772</c:v>
                </c:pt>
                <c:pt idx="20">
                  <c:v>45765</c:v>
                </c:pt>
                <c:pt idx="21">
                  <c:v>45758</c:v>
                </c:pt>
                <c:pt idx="22">
                  <c:v>45751</c:v>
                </c:pt>
                <c:pt idx="23">
                  <c:v>45744</c:v>
                </c:pt>
                <c:pt idx="24">
                  <c:v>45737</c:v>
                </c:pt>
                <c:pt idx="25">
                  <c:v>45730</c:v>
                </c:pt>
                <c:pt idx="26">
                  <c:v>45723</c:v>
                </c:pt>
                <c:pt idx="27">
                  <c:v>45716</c:v>
                </c:pt>
                <c:pt idx="28">
                  <c:v>45709</c:v>
                </c:pt>
                <c:pt idx="29">
                  <c:v>45702</c:v>
                </c:pt>
                <c:pt idx="30">
                  <c:v>45695</c:v>
                </c:pt>
                <c:pt idx="31">
                  <c:v>45688</c:v>
                </c:pt>
                <c:pt idx="32">
                  <c:v>45681</c:v>
                </c:pt>
                <c:pt idx="33">
                  <c:v>45674</c:v>
                </c:pt>
                <c:pt idx="34">
                  <c:v>45667</c:v>
                </c:pt>
                <c:pt idx="35">
                  <c:v>45660</c:v>
                </c:pt>
                <c:pt idx="36">
                  <c:v>45653</c:v>
                </c:pt>
                <c:pt idx="37">
                  <c:v>45646</c:v>
                </c:pt>
                <c:pt idx="38">
                  <c:v>45639</c:v>
                </c:pt>
                <c:pt idx="39">
                  <c:v>45632</c:v>
                </c:pt>
                <c:pt idx="40">
                  <c:v>45625</c:v>
                </c:pt>
                <c:pt idx="41">
                  <c:v>45618</c:v>
                </c:pt>
                <c:pt idx="42">
                  <c:v>45611</c:v>
                </c:pt>
                <c:pt idx="43">
                  <c:v>45604</c:v>
                </c:pt>
                <c:pt idx="44">
                  <c:v>45597</c:v>
                </c:pt>
                <c:pt idx="45">
                  <c:v>45590</c:v>
                </c:pt>
                <c:pt idx="46">
                  <c:v>45583</c:v>
                </c:pt>
                <c:pt idx="47">
                  <c:v>45576</c:v>
                </c:pt>
                <c:pt idx="48">
                  <c:v>45569</c:v>
                </c:pt>
                <c:pt idx="49">
                  <c:v>45562</c:v>
                </c:pt>
                <c:pt idx="50">
                  <c:v>45555</c:v>
                </c:pt>
                <c:pt idx="51">
                  <c:v>45548</c:v>
                </c:pt>
                <c:pt idx="52">
                  <c:v>45541</c:v>
                </c:pt>
                <c:pt idx="53">
                  <c:v>45534</c:v>
                </c:pt>
                <c:pt idx="54">
                  <c:v>45527</c:v>
                </c:pt>
                <c:pt idx="55">
                  <c:v>45520</c:v>
                </c:pt>
                <c:pt idx="56">
                  <c:v>45513</c:v>
                </c:pt>
                <c:pt idx="57">
                  <c:v>45506</c:v>
                </c:pt>
                <c:pt idx="58">
                  <c:v>45499</c:v>
                </c:pt>
                <c:pt idx="59">
                  <c:v>45492</c:v>
                </c:pt>
                <c:pt idx="60">
                  <c:v>45485</c:v>
                </c:pt>
                <c:pt idx="61">
                  <c:v>45478</c:v>
                </c:pt>
                <c:pt idx="62">
                  <c:v>45471</c:v>
                </c:pt>
                <c:pt idx="63">
                  <c:v>45464</c:v>
                </c:pt>
                <c:pt idx="64">
                  <c:v>45457</c:v>
                </c:pt>
                <c:pt idx="65">
                  <c:v>45450</c:v>
                </c:pt>
                <c:pt idx="66">
                  <c:v>45443</c:v>
                </c:pt>
                <c:pt idx="67">
                  <c:v>45436</c:v>
                </c:pt>
                <c:pt idx="68">
                  <c:v>45429</c:v>
                </c:pt>
                <c:pt idx="69">
                  <c:v>45422</c:v>
                </c:pt>
                <c:pt idx="70">
                  <c:v>45415</c:v>
                </c:pt>
                <c:pt idx="71">
                  <c:v>45408</c:v>
                </c:pt>
                <c:pt idx="72">
                  <c:v>45401</c:v>
                </c:pt>
                <c:pt idx="73">
                  <c:v>45394</c:v>
                </c:pt>
                <c:pt idx="74">
                  <c:v>45387</c:v>
                </c:pt>
                <c:pt idx="75">
                  <c:v>45380</c:v>
                </c:pt>
                <c:pt idx="76">
                  <c:v>45373</c:v>
                </c:pt>
                <c:pt idx="77">
                  <c:v>45366</c:v>
                </c:pt>
                <c:pt idx="78">
                  <c:v>45359</c:v>
                </c:pt>
                <c:pt idx="79">
                  <c:v>45352</c:v>
                </c:pt>
                <c:pt idx="80">
                  <c:v>45345</c:v>
                </c:pt>
                <c:pt idx="81">
                  <c:v>45338</c:v>
                </c:pt>
                <c:pt idx="82">
                  <c:v>45331</c:v>
                </c:pt>
                <c:pt idx="83">
                  <c:v>45324</c:v>
                </c:pt>
                <c:pt idx="84">
                  <c:v>45317</c:v>
                </c:pt>
                <c:pt idx="85">
                  <c:v>45310</c:v>
                </c:pt>
                <c:pt idx="86">
                  <c:v>45303</c:v>
                </c:pt>
                <c:pt idx="87">
                  <c:v>45296</c:v>
                </c:pt>
                <c:pt idx="88">
                  <c:v>45289</c:v>
                </c:pt>
                <c:pt idx="89">
                  <c:v>45282</c:v>
                </c:pt>
                <c:pt idx="90">
                  <c:v>45275</c:v>
                </c:pt>
                <c:pt idx="91">
                  <c:v>45268</c:v>
                </c:pt>
                <c:pt idx="92">
                  <c:v>45261</c:v>
                </c:pt>
                <c:pt idx="93">
                  <c:v>45254</c:v>
                </c:pt>
                <c:pt idx="94">
                  <c:v>45247</c:v>
                </c:pt>
                <c:pt idx="95">
                  <c:v>45240</c:v>
                </c:pt>
                <c:pt idx="96">
                  <c:v>45233</c:v>
                </c:pt>
                <c:pt idx="97">
                  <c:v>45226</c:v>
                </c:pt>
                <c:pt idx="98">
                  <c:v>45219</c:v>
                </c:pt>
                <c:pt idx="99">
                  <c:v>45212</c:v>
                </c:pt>
                <c:pt idx="100">
                  <c:v>45205</c:v>
                </c:pt>
                <c:pt idx="101">
                  <c:v>45198</c:v>
                </c:pt>
                <c:pt idx="102">
                  <c:v>45191</c:v>
                </c:pt>
                <c:pt idx="103">
                  <c:v>45184</c:v>
                </c:pt>
                <c:pt idx="104">
                  <c:v>45177</c:v>
                </c:pt>
                <c:pt idx="105">
                  <c:v>45170</c:v>
                </c:pt>
                <c:pt idx="106">
                  <c:v>45163</c:v>
                </c:pt>
                <c:pt idx="107">
                  <c:v>45156</c:v>
                </c:pt>
                <c:pt idx="108">
                  <c:v>45149</c:v>
                </c:pt>
                <c:pt idx="109">
                  <c:v>45142</c:v>
                </c:pt>
                <c:pt idx="110">
                  <c:v>45135</c:v>
                </c:pt>
                <c:pt idx="111">
                  <c:v>45128</c:v>
                </c:pt>
                <c:pt idx="112">
                  <c:v>45121</c:v>
                </c:pt>
                <c:pt idx="113">
                  <c:v>45114</c:v>
                </c:pt>
                <c:pt idx="114">
                  <c:v>45107</c:v>
                </c:pt>
                <c:pt idx="115">
                  <c:v>45100</c:v>
                </c:pt>
                <c:pt idx="116">
                  <c:v>45093</c:v>
                </c:pt>
                <c:pt idx="117">
                  <c:v>45086</c:v>
                </c:pt>
                <c:pt idx="118">
                  <c:v>45079</c:v>
                </c:pt>
                <c:pt idx="119">
                  <c:v>45072</c:v>
                </c:pt>
                <c:pt idx="120">
                  <c:v>45065</c:v>
                </c:pt>
                <c:pt idx="121">
                  <c:v>45058</c:v>
                </c:pt>
                <c:pt idx="122">
                  <c:v>45051</c:v>
                </c:pt>
                <c:pt idx="123">
                  <c:v>45044</c:v>
                </c:pt>
                <c:pt idx="124">
                  <c:v>45037</c:v>
                </c:pt>
                <c:pt idx="125">
                  <c:v>45030</c:v>
                </c:pt>
                <c:pt idx="126">
                  <c:v>45023</c:v>
                </c:pt>
                <c:pt idx="127">
                  <c:v>45016</c:v>
                </c:pt>
                <c:pt idx="128">
                  <c:v>45009</c:v>
                </c:pt>
                <c:pt idx="129">
                  <c:v>45002</c:v>
                </c:pt>
                <c:pt idx="130">
                  <c:v>44995</c:v>
                </c:pt>
                <c:pt idx="131">
                  <c:v>44988</c:v>
                </c:pt>
                <c:pt idx="132">
                  <c:v>44981</c:v>
                </c:pt>
                <c:pt idx="133">
                  <c:v>44974</c:v>
                </c:pt>
                <c:pt idx="134">
                  <c:v>44967</c:v>
                </c:pt>
                <c:pt idx="135">
                  <c:v>44960</c:v>
                </c:pt>
                <c:pt idx="136">
                  <c:v>44953</c:v>
                </c:pt>
                <c:pt idx="137">
                  <c:v>44946</c:v>
                </c:pt>
                <c:pt idx="138">
                  <c:v>44939</c:v>
                </c:pt>
                <c:pt idx="139">
                  <c:v>44932</c:v>
                </c:pt>
                <c:pt idx="140">
                  <c:v>44925</c:v>
                </c:pt>
                <c:pt idx="141">
                  <c:v>44918</c:v>
                </c:pt>
                <c:pt idx="142">
                  <c:v>44911</c:v>
                </c:pt>
                <c:pt idx="143">
                  <c:v>44904</c:v>
                </c:pt>
                <c:pt idx="144">
                  <c:v>44897</c:v>
                </c:pt>
                <c:pt idx="145">
                  <c:v>44890</c:v>
                </c:pt>
                <c:pt idx="146">
                  <c:v>44883</c:v>
                </c:pt>
                <c:pt idx="147">
                  <c:v>44876</c:v>
                </c:pt>
                <c:pt idx="148">
                  <c:v>44869</c:v>
                </c:pt>
                <c:pt idx="149">
                  <c:v>44862</c:v>
                </c:pt>
                <c:pt idx="150">
                  <c:v>44855</c:v>
                </c:pt>
                <c:pt idx="151">
                  <c:v>44848</c:v>
                </c:pt>
                <c:pt idx="152">
                  <c:v>44841</c:v>
                </c:pt>
                <c:pt idx="153">
                  <c:v>44834</c:v>
                </c:pt>
                <c:pt idx="154">
                  <c:v>44827</c:v>
                </c:pt>
                <c:pt idx="155">
                  <c:v>44820</c:v>
                </c:pt>
                <c:pt idx="156">
                  <c:v>44813</c:v>
                </c:pt>
                <c:pt idx="157">
                  <c:v>44806</c:v>
                </c:pt>
                <c:pt idx="158">
                  <c:v>44799</c:v>
                </c:pt>
                <c:pt idx="159">
                  <c:v>44792</c:v>
                </c:pt>
                <c:pt idx="160">
                  <c:v>44785</c:v>
                </c:pt>
                <c:pt idx="161">
                  <c:v>44778</c:v>
                </c:pt>
                <c:pt idx="162">
                  <c:v>44771</c:v>
                </c:pt>
                <c:pt idx="163">
                  <c:v>44764</c:v>
                </c:pt>
                <c:pt idx="164">
                  <c:v>44757</c:v>
                </c:pt>
                <c:pt idx="165">
                  <c:v>44750</c:v>
                </c:pt>
                <c:pt idx="166">
                  <c:v>44743</c:v>
                </c:pt>
                <c:pt idx="167">
                  <c:v>44736</c:v>
                </c:pt>
                <c:pt idx="168">
                  <c:v>44729</c:v>
                </c:pt>
                <c:pt idx="169">
                  <c:v>44722</c:v>
                </c:pt>
                <c:pt idx="170">
                  <c:v>44715</c:v>
                </c:pt>
                <c:pt idx="171">
                  <c:v>44708</c:v>
                </c:pt>
              </c:numCache>
            </c:numRef>
          </c:cat>
          <c:val>
            <c:numRef>
              <c:f>Sheet1!$P$14:$P$185</c:f>
              <c:numCache>
                <c:formatCode>General</c:formatCode>
                <c:ptCount val="172"/>
                <c:pt idx="0">
                  <c:v>26.3916</c:v>
                </c:pt>
                <c:pt idx="1">
                  <c:v>25.3706</c:v>
                </c:pt>
                <c:pt idx="2">
                  <c:v>26.2729</c:v>
                </c:pt>
                <c:pt idx="3">
                  <c:v>24.337700000000002</c:v>
                </c:pt>
                <c:pt idx="4">
                  <c:v>23.435400000000001</c:v>
                </c:pt>
                <c:pt idx="5">
                  <c:v>22.64</c:v>
                </c:pt>
                <c:pt idx="6">
                  <c:v>23.399799999999999</c:v>
                </c:pt>
                <c:pt idx="7">
                  <c:v>24.183399999999999</c:v>
                </c:pt>
                <c:pt idx="8">
                  <c:v>22.841799999999999</c:v>
                </c:pt>
                <c:pt idx="9">
                  <c:v>22.604399999999998</c:v>
                </c:pt>
                <c:pt idx="10">
                  <c:v>22.426300000000001</c:v>
                </c:pt>
                <c:pt idx="11">
                  <c:v>21.2865</c:v>
                </c:pt>
                <c:pt idx="12">
                  <c:v>23.067399999999999</c:v>
                </c:pt>
                <c:pt idx="13">
                  <c:v>25.3706</c:v>
                </c:pt>
                <c:pt idx="14">
                  <c:v>24.040900000000001</c:v>
                </c:pt>
                <c:pt idx="15">
                  <c:v>23.6966</c:v>
                </c:pt>
                <c:pt idx="16">
                  <c:v>24.1952</c:v>
                </c:pt>
                <c:pt idx="17">
                  <c:v>22.4619</c:v>
                </c:pt>
                <c:pt idx="18">
                  <c:v>22.841799999999999</c:v>
                </c:pt>
                <c:pt idx="19">
                  <c:v>20.1112</c:v>
                </c:pt>
                <c:pt idx="20">
                  <c:v>16.9057</c:v>
                </c:pt>
                <c:pt idx="21">
                  <c:v>12.4536</c:v>
                </c:pt>
                <c:pt idx="22">
                  <c:v>15.3979</c:v>
                </c:pt>
                <c:pt idx="23">
                  <c:v>25.299299999999999</c:v>
                </c:pt>
                <c:pt idx="24">
                  <c:v>26.3797</c:v>
                </c:pt>
                <c:pt idx="25">
                  <c:v>25.109400000000001</c:v>
                </c:pt>
                <c:pt idx="26">
                  <c:v>25.786100000000001</c:v>
                </c:pt>
                <c:pt idx="27">
                  <c:v>25.109400000000001</c:v>
                </c:pt>
                <c:pt idx="28">
                  <c:v>24.717600000000001</c:v>
                </c:pt>
                <c:pt idx="29">
                  <c:v>24.432700000000001</c:v>
                </c:pt>
                <c:pt idx="30">
                  <c:v>22.984300000000001</c:v>
                </c:pt>
                <c:pt idx="31">
                  <c:v>22.924900000000001</c:v>
                </c:pt>
                <c:pt idx="32">
                  <c:v>21.061</c:v>
                </c:pt>
                <c:pt idx="33">
                  <c:v>19.588799999999999</c:v>
                </c:pt>
                <c:pt idx="34">
                  <c:v>18.290199999999999</c:v>
                </c:pt>
                <c:pt idx="35">
                  <c:v>17.600899999999999</c:v>
                </c:pt>
                <c:pt idx="36">
                  <c:v>16.8782</c:v>
                </c:pt>
                <c:pt idx="37">
                  <c:v>15.0436</c:v>
                </c:pt>
                <c:pt idx="38">
                  <c:v>17.923300000000001</c:v>
                </c:pt>
                <c:pt idx="39">
                  <c:v>18.5793</c:v>
                </c:pt>
                <c:pt idx="40">
                  <c:v>18.3569</c:v>
                </c:pt>
                <c:pt idx="41">
                  <c:v>17.989999999999998</c:v>
                </c:pt>
                <c:pt idx="42">
                  <c:v>16.678000000000001</c:v>
                </c:pt>
                <c:pt idx="43">
                  <c:v>17.867699999999999</c:v>
                </c:pt>
                <c:pt idx="44">
                  <c:v>18.3903</c:v>
                </c:pt>
                <c:pt idx="45">
                  <c:v>20.135899999999999</c:v>
                </c:pt>
                <c:pt idx="46">
                  <c:v>21.559100000000001</c:v>
                </c:pt>
                <c:pt idx="47">
                  <c:v>20.135899999999999</c:v>
                </c:pt>
                <c:pt idx="48">
                  <c:v>18.757200000000001</c:v>
                </c:pt>
                <c:pt idx="49">
                  <c:v>20.502800000000001</c:v>
                </c:pt>
                <c:pt idx="50">
                  <c:v>18.523700000000002</c:v>
                </c:pt>
                <c:pt idx="51">
                  <c:v>18.701599999999999</c:v>
                </c:pt>
                <c:pt idx="52">
                  <c:v>17.200600000000001</c:v>
                </c:pt>
                <c:pt idx="53">
                  <c:v>20.8475</c:v>
                </c:pt>
                <c:pt idx="54">
                  <c:v>19.9802</c:v>
                </c:pt>
                <c:pt idx="55">
                  <c:v>18.835000000000001</c:v>
                </c:pt>
                <c:pt idx="56">
                  <c:v>15.977600000000001</c:v>
                </c:pt>
                <c:pt idx="57">
                  <c:v>15.977600000000001</c:v>
                </c:pt>
                <c:pt idx="58">
                  <c:v>19.190799999999999</c:v>
                </c:pt>
                <c:pt idx="59">
                  <c:v>18.6571</c:v>
                </c:pt>
                <c:pt idx="60">
                  <c:v>20.402699999999999</c:v>
                </c:pt>
                <c:pt idx="61">
                  <c:v>17.678699999999999</c:v>
                </c:pt>
                <c:pt idx="62">
                  <c:v>17.189499999999999</c:v>
                </c:pt>
                <c:pt idx="63">
                  <c:v>17.678699999999999</c:v>
                </c:pt>
                <c:pt idx="64">
                  <c:v>17.145</c:v>
                </c:pt>
                <c:pt idx="65">
                  <c:v>18.901700000000002</c:v>
                </c:pt>
                <c:pt idx="66">
                  <c:v>17.400700000000001</c:v>
                </c:pt>
                <c:pt idx="67">
                  <c:v>17.1005</c:v>
                </c:pt>
                <c:pt idx="68">
                  <c:v>17.245100000000001</c:v>
                </c:pt>
                <c:pt idx="69">
                  <c:v>15.6996</c:v>
                </c:pt>
                <c:pt idx="70">
                  <c:v>12.0527</c:v>
                </c:pt>
                <c:pt idx="71">
                  <c:v>12.1083</c:v>
                </c:pt>
                <c:pt idx="72">
                  <c:v>11.207700000000001</c:v>
                </c:pt>
                <c:pt idx="73">
                  <c:v>11.585699999999999</c:v>
                </c:pt>
                <c:pt idx="74">
                  <c:v>12.4419</c:v>
                </c:pt>
                <c:pt idx="75">
                  <c:v>14.365399999999999</c:v>
                </c:pt>
                <c:pt idx="76">
                  <c:v>13.5648</c:v>
                </c:pt>
                <c:pt idx="77">
                  <c:v>13.153499999999999</c:v>
                </c:pt>
                <c:pt idx="78">
                  <c:v>12.2973</c:v>
                </c:pt>
                <c:pt idx="79">
                  <c:v>10.262600000000001</c:v>
                </c:pt>
                <c:pt idx="80">
                  <c:v>10.807399999999999</c:v>
                </c:pt>
                <c:pt idx="81">
                  <c:v>8.8394999999999992</c:v>
                </c:pt>
                <c:pt idx="82">
                  <c:v>6.9603999999999999</c:v>
                </c:pt>
                <c:pt idx="83">
                  <c:v>8.3169000000000004</c:v>
                </c:pt>
                <c:pt idx="84">
                  <c:v>9.2174999999999994</c:v>
                </c:pt>
                <c:pt idx="85">
                  <c:v>6.7157999999999998</c:v>
                </c:pt>
                <c:pt idx="86">
                  <c:v>7.6942000000000004</c:v>
                </c:pt>
                <c:pt idx="87">
                  <c:v>7.2107999999999999</c:v>
                </c:pt>
                <c:pt idx="88">
                  <c:v>7.2419000000000002</c:v>
                </c:pt>
                <c:pt idx="89">
                  <c:v>7.2107999999999999</c:v>
                </c:pt>
                <c:pt idx="90">
                  <c:v>7.3456999999999999</c:v>
                </c:pt>
                <c:pt idx="91">
                  <c:v>6.7332000000000001</c:v>
                </c:pt>
                <c:pt idx="92">
                  <c:v>5.6222000000000003</c:v>
                </c:pt>
                <c:pt idx="93">
                  <c:v>5.6534000000000004</c:v>
                </c:pt>
                <c:pt idx="94">
                  <c:v>4.6463000000000001</c:v>
                </c:pt>
                <c:pt idx="95">
                  <c:v>2.8085</c:v>
                </c:pt>
                <c:pt idx="96">
                  <c:v>2.9020000000000001</c:v>
                </c:pt>
                <c:pt idx="97">
                  <c:v>0.3271</c:v>
                </c:pt>
                <c:pt idx="98">
                  <c:v>0.25440000000000002</c:v>
                </c:pt>
                <c:pt idx="99">
                  <c:v>4.4282000000000004</c:v>
                </c:pt>
                <c:pt idx="100">
                  <c:v>3.7637</c:v>
                </c:pt>
                <c:pt idx="101">
                  <c:v>5.1031000000000004</c:v>
                </c:pt>
                <c:pt idx="102">
                  <c:v>5.3834</c:v>
                </c:pt>
                <c:pt idx="103">
                  <c:v>6.5046999999999997</c:v>
                </c:pt>
                <c:pt idx="104">
                  <c:v>4.7708000000000004</c:v>
                </c:pt>
                <c:pt idx="105">
                  <c:v>5.9648000000000003</c:v>
                </c:pt>
                <c:pt idx="106">
                  <c:v>4.6773999999999996</c:v>
                </c:pt>
                <c:pt idx="107">
                  <c:v>3.6080000000000001</c:v>
                </c:pt>
                <c:pt idx="108">
                  <c:v>5.7157</c:v>
                </c:pt>
                <c:pt idx="109">
                  <c:v>5.6117999999999997</c:v>
                </c:pt>
                <c:pt idx="110">
                  <c:v>7.6157000000000004</c:v>
                </c:pt>
                <c:pt idx="111">
                  <c:v>6.8162000000000003</c:v>
                </c:pt>
                <c:pt idx="112">
                  <c:v>6.6086</c:v>
                </c:pt>
                <c:pt idx="113">
                  <c:v>4.7812000000000001</c:v>
                </c:pt>
                <c:pt idx="114">
                  <c:v>7.5637999999999996</c:v>
                </c:pt>
                <c:pt idx="115">
                  <c:v>6.9408000000000003</c:v>
                </c:pt>
                <c:pt idx="116">
                  <c:v>8.6332000000000004</c:v>
                </c:pt>
                <c:pt idx="117">
                  <c:v>7.3769</c:v>
                </c:pt>
                <c:pt idx="118">
                  <c:v>8.7682000000000002</c:v>
                </c:pt>
                <c:pt idx="119">
                  <c:v>8.4254999999999995</c:v>
                </c:pt>
                <c:pt idx="120">
                  <c:v>9.7026000000000003</c:v>
                </c:pt>
                <c:pt idx="121">
                  <c:v>9.6402999999999999</c:v>
                </c:pt>
                <c:pt idx="122">
                  <c:v>9.5988000000000007</c:v>
                </c:pt>
                <c:pt idx="123">
                  <c:v>9.0692000000000004</c:v>
                </c:pt>
                <c:pt idx="124">
                  <c:v>8.9238999999999997</c:v>
                </c:pt>
                <c:pt idx="125">
                  <c:v>8.0620999999999992</c:v>
                </c:pt>
                <c:pt idx="126">
                  <c:v>6.4736000000000002</c:v>
                </c:pt>
                <c:pt idx="127">
                  <c:v>5.9648000000000003</c:v>
                </c:pt>
                <c:pt idx="128">
                  <c:v>1.6042000000000001</c:v>
                </c:pt>
                <c:pt idx="129">
                  <c:v>0.86699999999999999</c:v>
                </c:pt>
                <c:pt idx="130">
                  <c:v>2.9746999999999999</c:v>
                </c:pt>
                <c:pt idx="131">
                  <c:v>6.0894000000000004</c:v>
                </c:pt>
                <c:pt idx="132">
                  <c:v>5.1550000000000002</c:v>
                </c:pt>
                <c:pt idx="133">
                  <c:v>5.5495000000000001</c:v>
                </c:pt>
                <c:pt idx="134">
                  <c:v>4.2206000000000001</c:v>
                </c:pt>
                <c:pt idx="135">
                  <c:v>5.8714000000000004</c:v>
                </c:pt>
                <c:pt idx="136">
                  <c:v>5.6117999999999997</c:v>
                </c:pt>
                <c:pt idx="137">
                  <c:v>5.0719000000000003</c:v>
                </c:pt>
                <c:pt idx="138">
                  <c:v>4.5113000000000003</c:v>
                </c:pt>
                <c:pt idx="139">
                  <c:v>3.4803000000000002</c:v>
                </c:pt>
                <c:pt idx="140">
                  <c:v>0.13389999999999999</c:v>
                </c:pt>
                <c:pt idx="141">
                  <c:v>0.76490000000000002</c:v>
                </c:pt>
                <c:pt idx="142">
                  <c:v>-0.16250000000000001</c:v>
                </c:pt>
                <c:pt idx="143">
                  <c:v>1.9983</c:v>
                </c:pt>
                <c:pt idx="144">
                  <c:v>3.0404</c:v>
                </c:pt>
                <c:pt idx="145">
                  <c:v>2.9066000000000001</c:v>
                </c:pt>
                <c:pt idx="146">
                  <c:v>1.5392999999999999</c:v>
                </c:pt>
                <c:pt idx="147">
                  <c:v>1.7305999999999999</c:v>
                </c:pt>
                <c:pt idx="148">
                  <c:v>-0.57369999999999999</c:v>
                </c:pt>
                <c:pt idx="149">
                  <c:v>-0.83179999999999998</c:v>
                </c:pt>
                <c:pt idx="150">
                  <c:v>-3.8723000000000001</c:v>
                </c:pt>
                <c:pt idx="151">
                  <c:v>-5.5072000000000001</c:v>
                </c:pt>
                <c:pt idx="152">
                  <c:v>-5.3541999999999996</c:v>
                </c:pt>
                <c:pt idx="153">
                  <c:v>-5.5454999999999997</c:v>
                </c:pt>
                <c:pt idx="154">
                  <c:v>-6.0903999999999998</c:v>
                </c:pt>
                <c:pt idx="155">
                  <c:v>-2.3138000000000001</c:v>
                </c:pt>
                <c:pt idx="156">
                  <c:v>-0.22950000000000001</c:v>
                </c:pt>
                <c:pt idx="157">
                  <c:v>0</c:v>
                </c:pt>
                <c:pt idx="158">
                  <c:v>0.27729999999999999</c:v>
                </c:pt>
                <c:pt idx="159">
                  <c:v>2.4380999999999999</c:v>
                </c:pt>
                <c:pt idx="160">
                  <c:v>3.1743000000000001</c:v>
                </c:pt>
                <c:pt idx="161">
                  <c:v>2.2755999999999998</c:v>
                </c:pt>
                <c:pt idx="162">
                  <c:v>2.113</c:v>
                </c:pt>
                <c:pt idx="163">
                  <c:v>1.2524999999999999</c:v>
                </c:pt>
                <c:pt idx="164">
                  <c:v>0.1147</c:v>
                </c:pt>
                <c:pt idx="165">
                  <c:v>0.79359999999999997</c:v>
                </c:pt>
                <c:pt idx="166">
                  <c:v>-1.635</c:v>
                </c:pt>
                <c:pt idx="167">
                  <c:v>-1.0517000000000001</c:v>
                </c:pt>
                <c:pt idx="168">
                  <c:v>-3.9487999999999999</c:v>
                </c:pt>
                <c:pt idx="169">
                  <c:v>1.415</c:v>
                </c:pt>
                <c:pt idx="170">
                  <c:v>5.01</c:v>
                </c:pt>
                <c:pt idx="171">
                  <c:v>5.7176</c:v>
                </c:pt>
              </c:numCache>
            </c:numRef>
          </c:val>
          <c:smooth val="0"/>
          <c:extLst>
            <c:ext xmlns:c16="http://schemas.microsoft.com/office/drawing/2014/chart" uri="{C3380CC4-5D6E-409C-BE32-E72D297353CC}">
              <c16:uniqueId val="{00000001-3F3D-4331-99A0-C67349C5421A}"/>
            </c:ext>
          </c:extLst>
        </c:ser>
        <c:dLbls>
          <c:showLegendKey val="0"/>
          <c:showVal val="0"/>
          <c:showCatName val="0"/>
          <c:showSerName val="0"/>
          <c:showPercent val="0"/>
          <c:showBubbleSize val="0"/>
        </c:dLbls>
        <c:smooth val="0"/>
        <c:axId val="1868772911"/>
        <c:axId val="1868777711"/>
      </c:lineChart>
      <c:dateAx>
        <c:axId val="1868772911"/>
        <c:scaling>
          <c:orientation val="minMax"/>
        </c:scaling>
        <c:delete val="0"/>
        <c:axPos val="b"/>
        <c:numFmt formatCode="mm/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crossAx val="1868777711"/>
        <c:crosses val="autoZero"/>
        <c:auto val="1"/>
        <c:lblOffset val="100"/>
        <c:baseTimeUnit val="days"/>
        <c:majorUnit val="3"/>
        <c:majorTimeUnit val="months"/>
      </c:dateAx>
      <c:valAx>
        <c:axId val="1868777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crossAx val="1868772911"/>
        <c:crossesAt val="44708"/>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CH"/>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717224155168453"/>
          <c:y val="0.12160804020100502"/>
          <c:w val="0.80333838565977778"/>
          <c:h val="0.78450981565001032"/>
        </c:manualLayout>
      </c:layout>
      <c:barChart>
        <c:barDir val="bar"/>
        <c:grouping val="clustered"/>
        <c:varyColors val="0"/>
        <c:ser>
          <c:idx val="0"/>
          <c:order val="0"/>
          <c:tx>
            <c:strRef>
              <c:f>Feuil1!$H$4</c:f>
              <c:strCache>
                <c:ptCount val="1"/>
                <c:pt idx="0">
                  <c:v>Fund</c:v>
                </c:pt>
              </c:strCache>
            </c:strRef>
          </c:tx>
          <c:spPr>
            <a:solidFill>
              <a:srgbClr val="70AD47"/>
            </a:solidFill>
            <a:ln>
              <a:noFill/>
            </a:ln>
            <a:effectLst/>
          </c:spPr>
          <c:invertIfNegative val="0"/>
          <c:dLbls>
            <c:dLbl>
              <c:idx val="0"/>
              <c:layout>
                <c:manualLayout>
                  <c:x val="2.6407427515249323E-3"/>
                  <c:y val="4.94638238340062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49F-44D9-915E-97C54397B9B0}"/>
                </c:ext>
              </c:extLst>
            </c:dLbl>
            <c:dLbl>
              <c:idx val="1"/>
              <c:layout>
                <c:manualLayout>
                  <c:x val="-9.6826115679033579E-17"/>
                  <c:y val="9.892764766801348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49F-44D9-915E-97C54397B9B0}"/>
                </c:ext>
              </c:extLst>
            </c:dLbl>
            <c:dLbl>
              <c:idx val="2"/>
              <c:layout>
                <c:manualLayout>
                  <c:x val="-1.4130368535588193E-2"/>
                  <c:y val="2.56267872607804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4C0-4640-98C6-6A23B3AC318E}"/>
                </c:ext>
              </c:extLst>
            </c:dLbl>
            <c:dLbl>
              <c:idx val="3"/>
              <c:layout>
                <c:manualLayout>
                  <c:x val="-1.0990286638790816E-2"/>
                  <c:y val="2.050118767337892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4C0-4640-98C6-6A23B3AC318E}"/>
                </c:ext>
              </c:extLst>
            </c:dLbl>
            <c:dLbl>
              <c:idx val="4"/>
              <c:layout>
                <c:manualLayout>
                  <c:x val="-7.9222282545751838E-3"/>
                  <c:y val="-9.068262945553947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49F-44D9-915E-97C54397B9B0}"/>
                </c:ext>
              </c:extLst>
            </c:dLbl>
            <c:dLbl>
              <c:idx val="5"/>
              <c:layout>
                <c:manualLayout>
                  <c:x val="-5.7567503083243852E-17"/>
                  <c:y val="5.12519602865912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4C0-4640-98C6-6A23B3AC318E}"/>
                </c:ext>
              </c:extLst>
            </c:dLbl>
            <c:dLbl>
              <c:idx val="6"/>
              <c:layout>
                <c:manualLayout>
                  <c:x val="-3.1400818967973762E-3"/>
                  <c:y val="1.02503920573182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4C0-4640-98C6-6A23B3AC318E}"/>
                </c:ext>
              </c:extLst>
            </c:dLbl>
            <c:dLbl>
              <c:idx val="8"/>
              <c:layout>
                <c:manualLayout>
                  <c:x val="-7.8502047419934402E-3"/>
                  <c:y val="5.12519602865912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49F-44D9-915E-97C54397B9B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Feuil1!$G$5:$G$16</c:f>
              <c:strCache>
                <c:ptCount val="9"/>
                <c:pt idx="0">
                  <c:v>Financials</c:v>
                </c:pt>
                <c:pt idx="1">
                  <c:v>Health Care</c:v>
                </c:pt>
                <c:pt idx="2">
                  <c:v>Industrials</c:v>
                </c:pt>
                <c:pt idx="3">
                  <c:v>Materials</c:v>
                </c:pt>
                <c:pt idx="4">
                  <c:v>Consumer Staples</c:v>
                </c:pt>
                <c:pt idx="5">
                  <c:v>Consumer Discretionary</c:v>
                </c:pt>
                <c:pt idx="6">
                  <c:v>Communication Services</c:v>
                </c:pt>
                <c:pt idx="7">
                  <c:v>Information Technology</c:v>
                </c:pt>
                <c:pt idx="8">
                  <c:v>Others</c:v>
                </c:pt>
              </c:strCache>
              <c:extLst/>
            </c:strRef>
          </c:cat>
          <c:val>
            <c:numRef>
              <c:f>Feuil1!$H$5:$H$16</c:f>
              <c:numCache>
                <c:formatCode>0.0</c:formatCode>
                <c:ptCount val="9"/>
                <c:pt idx="0">
                  <c:v>33.799999999999997</c:v>
                </c:pt>
                <c:pt idx="1">
                  <c:v>24.2</c:v>
                </c:pt>
                <c:pt idx="2">
                  <c:v>14.5</c:v>
                </c:pt>
                <c:pt idx="3">
                  <c:v>10.5</c:v>
                </c:pt>
                <c:pt idx="4">
                  <c:v>10.199999999999999</c:v>
                </c:pt>
                <c:pt idx="5">
                  <c:v>3.4</c:v>
                </c:pt>
                <c:pt idx="6">
                  <c:v>2.9</c:v>
                </c:pt>
                <c:pt idx="7">
                  <c:v>0.5</c:v>
                </c:pt>
                <c:pt idx="8">
                  <c:v>0</c:v>
                </c:pt>
              </c:numCache>
              <c:extLst/>
            </c:numRef>
          </c:val>
          <c:extLst>
            <c:ext xmlns:c16="http://schemas.microsoft.com/office/drawing/2014/chart" uri="{C3380CC4-5D6E-409C-BE32-E72D297353CC}">
              <c16:uniqueId val="{00000000-DD8A-4837-B369-5F365B3EA1E1}"/>
            </c:ext>
          </c:extLst>
        </c:ser>
        <c:dLbls>
          <c:showLegendKey val="0"/>
          <c:showVal val="0"/>
          <c:showCatName val="0"/>
          <c:showSerName val="0"/>
          <c:showPercent val="0"/>
          <c:showBubbleSize val="0"/>
        </c:dLbls>
        <c:gapWidth val="182"/>
        <c:axId val="630543144"/>
        <c:axId val="630542160"/>
        <c:extLst>
          <c:ext xmlns:c15="http://schemas.microsoft.com/office/drawing/2012/chart" uri="{02D57815-91ED-43cb-92C2-25804820EDAC}">
            <c15:filteredBarSeries>
              <c15:ser>
                <c:idx val="1"/>
                <c:order val="1"/>
                <c:tx>
                  <c:strRef>
                    <c:extLst>
                      <c:ext uri="{02D57815-91ED-43cb-92C2-25804820EDAC}">
                        <c15:formulaRef>
                          <c15:sqref>Feuil1!$I$4</c15:sqref>
                        </c15:formulaRef>
                      </c:ext>
                    </c:extLst>
                    <c:strCache>
                      <c:ptCount val="1"/>
                    </c:strCache>
                  </c:strRef>
                </c:tx>
                <c:spPr>
                  <a:solidFill>
                    <a:srgbClr val="FFFFFF">
                      <a:lumMod val="85000"/>
                    </a:srgbClr>
                  </a:solidFill>
                  <a:ln>
                    <a:noFill/>
                  </a:ln>
                  <a:effectLst/>
                </c:spPr>
                <c:invertIfNegative val="0"/>
                <c:dLbls>
                  <c:dLbl>
                    <c:idx val="0"/>
                    <c:layout>
                      <c:manualLayout>
                        <c:x val="-9.6826115679033579E-17"/>
                        <c:y val="-1.9785529533602787E-2"/>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A-949F-44D9-915E-97C54397B9B0}"/>
                      </c:ext>
                    </c:extLst>
                  </c:dLbl>
                  <c:dLbl>
                    <c:idx val="1"/>
                    <c:layout>
                      <c:manualLayout>
                        <c:x val="-4.7101228451960639E-3"/>
                        <c:y val="-1.0249584939833427E-2"/>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0-C4C0-4640-98C6-6A23B3AC318E}"/>
                      </c:ext>
                    </c:extLst>
                  </c:dLbl>
                  <c:dLbl>
                    <c:idx val="2"/>
                    <c:layout>
                      <c:manualLayout>
                        <c:x val="-5.7808413218953586E-3"/>
                        <c:y val="5.4835561919228523E-3"/>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8-949F-44D9-915E-97C54397B9B0}"/>
                      </c:ext>
                    </c:extLst>
                  </c:dLbl>
                  <c:dLbl>
                    <c:idx val="3"/>
                    <c:layout>
                      <c:manualLayout>
                        <c:x val="-7.3508822702940462E-3"/>
                        <c:y val="5.3673312741075898E-4"/>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7-949F-44D9-915E-97C54397B9B0}"/>
                      </c:ext>
                    </c:extLst>
                  </c:dLbl>
                  <c:dLbl>
                    <c:idx val="4"/>
                    <c:layout>
                      <c:manualLayout>
                        <c:x val="-4.710122845196122E-3"/>
                        <c:y val="-9.7120446949378395E-3"/>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5-949F-44D9-915E-97C54397B9B0}"/>
                      </c:ext>
                    </c:extLst>
                  </c:dLbl>
                  <c:dLbl>
                    <c:idx val="5"/>
                    <c:layout>
                      <c:manualLayout>
                        <c:x val="-6.2801637935947525E-3"/>
                        <c:y val="-2.0142827510115199E-2"/>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4-949F-44D9-915E-97C54397B9B0}"/>
                      </c:ext>
                    </c:extLst>
                  </c:dLbl>
                  <c:dLbl>
                    <c:idx val="6"/>
                    <c:layout>
                      <c:manualLayout>
                        <c:x val="-4.7101228451960639E-3"/>
                        <c:y val="0"/>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3-949F-44D9-915E-97C54397B9B0}"/>
                      </c:ext>
                    </c:extLst>
                  </c:dLbl>
                  <c:dLbl>
                    <c:idx val="7"/>
                    <c:layout>
                      <c:manualLayout>
                        <c:x val="0"/>
                        <c:y val="-1.4839147150202158E-2"/>
                      </c:manualLayout>
                    </c:layout>
                    <c:showLegendKey val="0"/>
                    <c:showVal val="1"/>
                    <c:showCatName val="0"/>
                    <c:showSerName val="0"/>
                    <c:showPercent val="0"/>
                    <c:showBubbleSize val="0"/>
                    <c:extLst>
                      <c:ext uri="{CE6537A1-D6FC-4f65-9D91-7224C49458BB}"/>
                      <c:ext xmlns:c16="http://schemas.microsoft.com/office/drawing/2014/chart" uri="{C3380CC4-5D6E-409C-BE32-E72D297353CC}">
                        <c16:uniqueId val="{00000000-C7C1-4624-AB01-2F09A614F139}"/>
                      </c:ext>
                    </c:extLst>
                  </c:dLbl>
                  <c:dLbl>
                    <c:idx val="8"/>
                    <c:delete val="1"/>
                    <c:extLst>
                      <c:ext uri="{CE6537A1-D6FC-4f65-9D91-7224C49458BB}"/>
                      <c:ext xmlns:c16="http://schemas.microsoft.com/office/drawing/2014/chart" uri="{C3380CC4-5D6E-409C-BE32-E72D297353CC}">
                        <c16:uniqueId val="{00000005-C4C0-4640-98C6-6A23B3AC318E}"/>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Feuil1!$G$5:$G$16</c15:sqref>
                        </c15:formulaRef>
                      </c:ext>
                    </c:extLst>
                    <c:strCache>
                      <c:ptCount val="9"/>
                      <c:pt idx="0">
                        <c:v>Financials</c:v>
                      </c:pt>
                      <c:pt idx="1">
                        <c:v>Health Care</c:v>
                      </c:pt>
                      <c:pt idx="2">
                        <c:v>Industrials</c:v>
                      </c:pt>
                      <c:pt idx="3">
                        <c:v>Materials</c:v>
                      </c:pt>
                      <c:pt idx="4">
                        <c:v>Consumer Staples</c:v>
                      </c:pt>
                      <c:pt idx="5">
                        <c:v>Consumer Discretionary</c:v>
                      </c:pt>
                      <c:pt idx="6">
                        <c:v>Communication Services</c:v>
                      </c:pt>
                      <c:pt idx="7">
                        <c:v>Information Technology</c:v>
                      </c:pt>
                      <c:pt idx="8">
                        <c:v>Others</c:v>
                      </c:pt>
                    </c:strCache>
                  </c:strRef>
                </c:cat>
                <c:val>
                  <c:numRef>
                    <c:extLst>
                      <c:ext uri="{02D57815-91ED-43cb-92C2-25804820EDAC}">
                        <c15:formulaRef>
                          <c15:sqref>Feuil1!$I$5:$I$16</c15:sqref>
                        </c15:formulaRef>
                      </c:ext>
                    </c:extLst>
                    <c:numCache>
                      <c:formatCode>General</c:formatCode>
                      <c:ptCount val="9"/>
                    </c:numCache>
                  </c:numRef>
                </c:val>
                <c:extLst>
                  <c:ext xmlns:c16="http://schemas.microsoft.com/office/drawing/2014/chart" uri="{C3380CC4-5D6E-409C-BE32-E72D297353CC}">
                    <c16:uniqueId val="{00000001-DD8A-4837-B369-5F365B3EA1E1}"/>
                  </c:ext>
                </c:extLst>
              </c15:ser>
            </c15:filteredBarSeries>
          </c:ext>
        </c:extLst>
      </c:barChart>
      <c:catAx>
        <c:axId val="63054314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630542160"/>
        <c:crosses val="autoZero"/>
        <c:auto val="1"/>
        <c:lblAlgn val="ctr"/>
        <c:lblOffset val="100"/>
        <c:noMultiLvlLbl val="0"/>
      </c:catAx>
      <c:valAx>
        <c:axId val="630542160"/>
        <c:scaling>
          <c:orientation val="minMax"/>
          <c:max val="40"/>
        </c:scaling>
        <c:delete val="0"/>
        <c:axPos val="t"/>
        <c:majorGridlines>
          <c:spPr>
            <a:ln w="9525" cap="flat" cmpd="sng" algn="ctr">
              <a:solidFill>
                <a:schemeClr val="tx1">
                  <a:lumMod val="15000"/>
                  <a:lumOff val="85000"/>
                </a:schemeClr>
              </a:solidFill>
              <a:round/>
            </a:ln>
            <a:effectLst/>
          </c:spPr>
        </c:majorGridlines>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fr-FR"/>
          </a:p>
        </c:txPr>
        <c:crossAx val="630543144"/>
        <c:crosses val="autoZero"/>
        <c:crossBetween val="between"/>
      </c:valAx>
      <c:spPr>
        <a:noFill/>
        <a:ln>
          <a:noFill/>
        </a:ln>
        <a:effectLst/>
      </c:spPr>
    </c:plotArea>
    <c:legend>
      <c:legendPos val="b"/>
      <c:layout>
        <c:manualLayout>
          <c:xMode val="edge"/>
          <c:yMode val="edge"/>
          <c:x val="0.44759330012744181"/>
          <c:y val="0.89814519023689865"/>
          <c:w val="0.10481339974511633"/>
          <c:h val="9.6156676238334529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userShapes r:id="rId5"/>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45393951311013"/>
          <c:y val="5.0925925925925923E-2"/>
          <c:w val="0.86601615617151273"/>
          <c:h val="0.73577136191309422"/>
        </c:manualLayout>
      </c:layout>
      <c:barChart>
        <c:barDir val="col"/>
        <c:grouping val="stacked"/>
        <c:varyColors val="0"/>
        <c:ser>
          <c:idx val="0"/>
          <c:order val="0"/>
          <c:tx>
            <c:strRef>
              <c:f>'[Chart in Microsoft PowerPoint]Feuil1'!$H$49</c:f>
              <c:strCache>
                <c:ptCount val="1"/>
                <c:pt idx="0">
                  <c:v>Dividend yield</c:v>
                </c:pt>
              </c:strCache>
            </c:strRef>
          </c:tx>
          <c:spPr>
            <a:solidFill>
              <a:srgbClr val="3AB7C8"/>
            </a:solidFill>
            <a:ln>
              <a:noFill/>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CH"/>
                </a:p>
              </c:txPr>
              <c:dLblPos val="ctr"/>
              <c:showLegendKey val="0"/>
              <c:showVal val="1"/>
              <c:showCatName val="0"/>
              <c:showSerName val="0"/>
              <c:showPercent val="0"/>
              <c:showBubbleSize val="0"/>
              <c:extLst>
                <c:ext xmlns:c16="http://schemas.microsoft.com/office/drawing/2014/chart" uri="{C3380CC4-5D6E-409C-BE32-E72D297353CC}">
                  <c16:uniqueId val="{00000000-108A-410C-9CE5-C78894B8544E}"/>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CH"/>
                </a:p>
              </c:txPr>
              <c:dLblPos val="ctr"/>
              <c:showLegendKey val="0"/>
              <c:showVal val="1"/>
              <c:showCatName val="0"/>
              <c:showSerName val="0"/>
              <c:showPercent val="0"/>
              <c:showBubbleSize val="0"/>
              <c:extLst>
                <c:ext xmlns:c16="http://schemas.microsoft.com/office/drawing/2014/chart" uri="{C3380CC4-5D6E-409C-BE32-E72D297353CC}">
                  <c16:uniqueId val="{00000001-108A-410C-9CE5-C78894B8544E}"/>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CH"/>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PowerPoint]Feuil1'!$G$50:$G$51</c:f>
              <c:strCache>
                <c:ptCount val="2"/>
                <c:pt idx="0">
                  <c:v>UBS (CH) Equity Fund - Swiss Income</c:v>
                </c:pt>
                <c:pt idx="1">
                  <c:v>SPI</c:v>
                </c:pt>
              </c:strCache>
            </c:strRef>
          </c:cat>
          <c:val>
            <c:numRef>
              <c:f>'[Chart in Microsoft PowerPoint]Feuil1'!$H$50:$H$51</c:f>
              <c:numCache>
                <c:formatCode>0.00%</c:formatCode>
                <c:ptCount val="2"/>
                <c:pt idx="0">
                  <c:v>3.3700000000000001E-2</c:v>
                </c:pt>
                <c:pt idx="1">
                  <c:v>3.04E-2</c:v>
                </c:pt>
              </c:numCache>
            </c:numRef>
          </c:val>
          <c:extLst>
            <c:ext xmlns:c16="http://schemas.microsoft.com/office/drawing/2014/chart" uri="{C3380CC4-5D6E-409C-BE32-E72D297353CC}">
              <c16:uniqueId val="{00000002-108A-410C-9CE5-C78894B8544E}"/>
            </c:ext>
          </c:extLst>
        </c:ser>
        <c:ser>
          <c:idx val="1"/>
          <c:order val="1"/>
          <c:tx>
            <c:strRef>
              <c:f>'[Chart in Microsoft PowerPoint]Feuil1'!$I$49</c:f>
              <c:strCache>
                <c:ptCount val="1"/>
                <c:pt idx="0">
                  <c:v>Call overwriting yield</c:v>
                </c:pt>
              </c:strCache>
            </c:strRef>
          </c:tx>
          <c:spPr>
            <a:solidFill>
              <a:schemeClr val="accent3"/>
            </a:solidFill>
            <a:ln>
              <a:noFill/>
            </a:ln>
            <a:effectLst/>
          </c:spPr>
          <c:invertIfNegative val="0"/>
          <c:dLbls>
            <c:dLbl>
              <c:idx val="1"/>
              <c:delete val="1"/>
              <c:extLst>
                <c:ext xmlns:c15="http://schemas.microsoft.com/office/drawing/2012/chart" uri="{CE6537A1-D6FC-4f65-9D91-7224C49458BB}"/>
                <c:ext xmlns:c16="http://schemas.microsoft.com/office/drawing/2014/chart" uri="{C3380CC4-5D6E-409C-BE32-E72D297353CC}">
                  <c16:uniqueId val="{00000003-108A-410C-9CE5-C78894B8544E}"/>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CH"/>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 in Microsoft PowerPoint]Feuil1'!$G$50:$G$51</c:f>
              <c:strCache>
                <c:ptCount val="2"/>
                <c:pt idx="0">
                  <c:v>UBS (CH) Equity Fund - Swiss Income</c:v>
                </c:pt>
                <c:pt idx="1">
                  <c:v>SPI</c:v>
                </c:pt>
              </c:strCache>
            </c:strRef>
          </c:cat>
          <c:val>
            <c:numRef>
              <c:f>'[Chart in Microsoft PowerPoint]Feuil1'!$I$50:$I$51</c:f>
              <c:numCache>
                <c:formatCode>General</c:formatCode>
                <c:ptCount val="2"/>
                <c:pt idx="0" formatCode="0.00%">
                  <c:v>5.0500000000000003E-2</c:v>
                </c:pt>
                <c:pt idx="1">
                  <c:v>0</c:v>
                </c:pt>
              </c:numCache>
            </c:numRef>
          </c:val>
          <c:extLst>
            <c:ext xmlns:c16="http://schemas.microsoft.com/office/drawing/2014/chart" uri="{C3380CC4-5D6E-409C-BE32-E72D297353CC}">
              <c16:uniqueId val="{00000004-108A-410C-9CE5-C78894B8544E}"/>
            </c:ext>
          </c:extLst>
        </c:ser>
        <c:dLbls>
          <c:dLblPos val="ctr"/>
          <c:showLegendKey val="0"/>
          <c:showVal val="1"/>
          <c:showCatName val="0"/>
          <c:showSerName val="0"/>
          <c:showPercent val="0"/>
          <c:showBubbleSize val="0"/>
        </c:dLbls>
        <c:gapWidth val="150"/>
        <c:overlap val="100"/>
        <c:axId val="827048672"/>
        <c:axId val="827047232"/>
      </c:barChart>
      <c:catAx>
        <c:axId val="827048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1" i="0" u="none" strike="noStrike" kern="1200" baseline="0">
                <a:solidFill>
                  <a:srgbClr val="7C7C7C"/>
                </a:solidFill>
                <a:latin typeface="+mn-lt"/>
                <a:ea typeface="+mn-ea"/>
                <a:cs typeface="+mn-cs"/>
              </a:defRPr>
            </a:pPr>
            <a:endParaRPr lang="en-CH"/>
          </a:p>
        </c:txPr>
        <c:crossAx val="827047232"/>
        <c:crosses val="autoZero"/>
        <c:auto val="1"/>
        <c:lblAlgn val="ctr"/>
        <c:lblOffset val="100"/>
        <c:noMultiLvlLbl val="0"/>
      </c:catAx>
      <c:valAx>
        <c:axId val="827047232"/>
        <c:scaling>
          <c:orientation val="minMax"/>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rgbClr val="7C7C7C"/>
                </a:solidFill>
                <a:latin typeface="+mn-lt"/>
                <a:ea typeface="+mn-ea"/>
                <a:cs typeface="+mn-cs"/>
              </a:defRPr>
            </a:pPr>
            <a:endParaRPr lang="en-CH"/>
          </a:p>
        </c:txPr>
        <c:crossAx val="827048672"/>
        <c:crosses val="autoZero"/>
        <c:crossBetween val="between"/>
      </c:valAx>
      <c:spPr>
        <a:noFill/>
        <a:ln>
          <a:noFill/>
        </a:ln>
        <a:effectLst/>
      </c:spPr>
    </c:plotArea>
    <c:legend>
      <c:legendPos val="b"/>
      <c:layout>
        <c:manualLayout>
          <c:xMode val="edge"/>
          <c:yMode val="edge"/>
          <c:x val="0.11118779964723273"/>
          <c:y val="0.93578979898303527"/>
          <c:w val="0.78386129423804651"/>
          <c:h val="6.4210201016964771E-2"/>
        </c:manualLayout>
      </c:layout>
      <c:overlay val="0"/>
      <c:spPr>
        <a:noFill/>
        <a:ln>
          <a:noFill/>
        </a:ln>
        <a:effectLst/>
      </c:spPr>
      <c:txPr>
        <a:bodyPr rot="0" spcFirstLastPara="1" vertOverflow="ellipsis" vert="horz" wrap="square" anchor="ctr" anchorCtr="1"/>
        <a:lstStyle/>
        <a:p>
          <a:pPr>
            <a:defRPr sz="800" b="0" i="0" u="none" strike="noStrike" kern="1200" baseline="0">
              <a:solidFill>
                <a:srgbClr val="7C7C7C"/>
              </a:solidFill>
              <a:latin typeface="+mn-lt"/>
              <a:ea typeface="+mn-ea"/>
              <a:cs typeface="+mn-cs"/>
            </a:defRPr>
          </a:pPr>
          <a:endParaRPr lang="en-CH"/>
        </a:p>
      </c:txPr>
    </c:legend>
    <c:plotVisOnly val="1"/>
    <c:dispBlanksAs val="gap"/>
    <c:showDLblsOverMax val="0"/>
  </c:chart>
  <c:spPr>
    <a:noFill/>
    <a:ln>
      <a:noFill/>
    </a:ln>
    <a:effectLst/>
  </c:spPr>
  <c:txPr>
    <a:bodyPr/>
    <a:lstStyle/>
    <a:p>
      <a:pPr>
        <a:defRPr/>
      </a:pPr>
      <a:endParaRPr lang="en-CH"/>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GB" sz="1050" b="1" i="0" u="none" strike="noStrike" kern="1200" spc="0" baseline="0" dirty="0">
                <a:solidFill>
                  <a:schemeClr val="accent4"/>
                </a:solidFill>
                <a:latin typeface="Nunito Sans" pitchFamily="2" charset="77"/>
                <a:ea typeface="+mn-ea"/>
                <a:cs typeface="+mn-cs"/>
              </a:defRPr>
            </a:pPr>
            <a:r>
              <a:rPr lang="en-US" sz="1050" b="1" kern="1200" noProof="0" dirty="0">
                <a:solidFill>
                  <a:schemeClr val="accent4"/>
                </a:solidFill>
                <a:latin typeface="Nunito Sans" pitchFamily="2" charset="77"/>
                <a:ea typeface="+mn-ea"/>
                <a:cs typeface="+mn-cs"/>
              </a:rPr>
              <a:t>Schroder US Large Cap 5-year </a:t>
            </a:r>
            <a:r>
              <a:rPr lang="en-US" sz="1050" b="1" kern="1200" noProof="0" dirty="0" err="1">
                <a:solidFill>
                  <a:schemeClr val="accent4"/>
                </a:solidFill>
                <a:latin typeface="Nunito Sans" pitchFamily="2" charset="77"/>
                <a:ea typeface="+mn-ea"/>
                <a:cs typeface="+mn-cs"/>
              </a:rPr>
              <a:t>peformance</a:t>
            </a:r>
            <a:r>
              <a:rPr lang="en-US" sz="1050" b="1" kern="1200" noProof="0" dirty="0">
                <a:solidFill>
                  <a:schemeClr val="accent4"/>
                </a:solidFill>
                <a:latin typeface="Nunito Sans" pitchFamily="2" charset="77"/>
                <a:ea typeface="+mn-ea"/>
                <a:cs typeface="+mn-cs"/>
              </a:rPr>
              <a:t> vs. S&amp;P 500</a:t>
            </a:r>
          </a:p>
        </c:rich>
      </c:tx>
      <c:overlay val="0"/>
      <c:spPr>
        <a:noFill/>
        <a:ln>
          <a:noFill/>
        </a:ln>
        <a:effectLst/>
      </c:spPr>
      <c:txPr>
        <a:bodyPr rot="0" spcFirstLastPara="1" vertOverflow="ellipsis" vert="horz" wrap="square" anchor="ctr" anchorCtr="1"/>
        <a:lstStyle/>
        <a:p>
          <a:pPr>
            <a:defRPr lang="en-GB" sz="1050" b="1" i="0" u="none" strike="noStrike" kern="1200" spc="0" baseline="0" dirty="0">
              <a:solidFill>
                <a:schemeClr val="accent4"/>
              </a:solidFill>
              <a:latin typeface="Nunito Sans" pitchFamily="2" charset="77"/>
              <a:ea typeface="+mn-ea"/>
              <a:cs typeface="+mn-cs"/>
            </a:defRPr>
          </a:pPr>
          <a:endParaRPr lang="en-GB"/>
        </a:p>
      </c:txPr>
    </c:title>
    <c:autoTitleDeleted val="0"/>
    <c:plotArea>
      <c:layout/>
      <c:lineChart>
        <c:grouping val="standard"/>
        <c:varyColors val="0"/>
        <c:ser>
          <c:idx val="0"/>
          <c:order val="0"/>
          <c:tx>
            <c:strRef>
              <c:f>Sheet1!$B$1</c:f>
              <c:strCache>
                <c:ptCount val="1"/>
                <c:pt idx="0">
                  <c:v>Schroder US LC </c:v>
                </c:pt>
              </c:strCache>
            </c:strRef>
          </c:tx>
          <c:spPr>
            <a:ln w="28575" cap="rnd">
              <a:solidFill>
                <a:schemeClr val="accent1"/>
              </a:solidFill>
              <a:round/>
            </a:ln>
            <a:effectLst/>
          </c:spPr>
          <c:marker>
            <c:symbol val="none"/>
          </c:marker>
          <c:cat>
            <c:numRef>
              <c:f>Sheet1!$A$2:$A$62</c:f>
              <c:numCache>
                <c:formatCode>m/d/yyyy</c:formatCode>
                <c:ptCount val="61"/>
                <c:pt idx="0">
                  <c:v>45888</c:v>
                </c:pt>
                <c:pt idx="1">
                  <c:v>45869</c:v>
                </c:pt>
                <c:pt idx="2">
                  <c:v>45838</c:v>
                </c:pt>
                <c:pt idx="3">
                  <c:v>45807</c:v>
                </c:pt>
                <c:pt idx="4">
                  <c:v>45777</c:v>
                </c:pt>
                <c:pt idx="5">
                  <c:v>45747</c:v>
                </c:pt>
                <c:pt idx="6">
                  <c:v>45716</c:v>
                </c:pt>
                <c:pt idx="7">
                  <c:v>45688</c:v>
                </c:pt>
                <c:pt idx="8">
                  <c:v>45657</c:v>
                </c:pt>
                <c:pt idx="9">
                  <c:v>45625</c:v>
                </c:pt>
                <c:pt idx="10">
                  <c:v>45596</c:v>
                </c:pt>
                <c:pt idx="11">
                  <c:v>45565</c:v>
                </c:pt>
                <c:pt idx="12">
                  <c:v>45534</c:v>
                </c:pt>
                <c:pt idx="13">
                  <c:v>45504</c:v>
                </c:pt>
                <c:pt idx="14">
                  <c:v>45471</c:v>
                </c:pt>
                <c:pt idx="15">
                  <c:v>45443</c:v>
                </c:pt>
                <c:pt idx="16">
                  <c:v>45412</c:v>
                </c:pt>
                <c:pt idx="17">
                  <c:v>45380</c:v>
                </c:pt>
                <c:pt idx="18">
                  <c:v>45351</c:v>
                </c:pt>
                <c:pt idx="19">
                  <c:v>45322</c:v>
                </c:pt>
                <c:pt idx="20">
                  <c:v>45289</c:v>
                </c:pt>
                <c:pt idx="21">
                  <c:v>45260</c:v>
                </c:pt>
                <c:pt idx="22">
                  <c:v>45230</c:v>
                </c:pt>
                <c:pt idx="23">
                  <c:v>45198</c:v>
                </c:pt>
                <c:pt idx="24">
                  <c:v>45169</c:v>
                </c:pt>
                <c:pt idx="25">
                  <c:v>45138</c:v>
                </c:pt>
                <c:pt idx="26">
                  <c:v>45107</c:v>
                </c:pt>
                <c:pt idx="27">
                  <c:v>45077</c:v>
                </c:pt>
                <c:pt idx="28">
                  <c:v>45044</c:v>
                </c:pt>
                <c:pt idx="29">
                  <c:v>45016</c:v>
                </c:pt>
                <c:pt idx="30">
                  <c:v>44985</c:v>
                </c:pt>
                <c:pt idx="31">
                  <c:v>44957</c:v>
                </c:pt>
                <c:pt idx="32">
                  <c:v>44925</c:v>
                </c:pt>
                <c:pt idx="33">
                  <c:v>44895</c:v>
                </c:pt>
                <c:pt idx="34">
                  <c:v>44865</c:v>
                </c:pt>
                <c:pt idx="35">
                  <c:v>44834</c:v>
                </c:pt>
                <c:pt idx="36">
                  <c:v>44804</c:v>
                </c:pt>
                <c:pt idx="37">
                  <c:v>44771</c:v>
                </c:pt>
                <c:pt idx="38">
                  <c:v>44742</c:v>
                </c:pt>
                <c:pt idx="39">
                  <c:v>44712</c:v>
                </c:pt>
                <c:pt idx="40">
                  <c:v>44680</c:v>
                </c:pt>
                <c:pt idx="41">
                  <c:v>44651</c:v>
                </c:pt>
                <c:pt idx="42">
                  <c:v>44620</c:v>
                </c:pt>
                <c:pt idx="43">
                  <c:v>44592</c:v>
                </c:pt>
                <c:pt idx="44">
                  <c:v>44561</c:v>
                </c:pt>
                <c:pt idx="45">
                  <c:v>44530</c:v>
                </c:pt>
                <c:pt idx="46">
                  <c:v>44498</c:v>
                </c:pt>
                <c:pt idx="47">
                  <c:v>44469</c:v>
                </c:pt>
                <c:pt idx="48">
                  <c:v>44439</c:v>
                </c:pt>
                <c:pt idx="49">
                  <c:v>44407</c:v>
                </c:pt>
                <c:pt idx="50">
                  <c:v>44377</c:v>
                </c:pt>
                <c:pt idx="51">
                  <c:v>44347</c:v>
                </c:pt>
                <c:pt idx="52">
                  <c:v>44316</c:v>
                </c:pt>
                <c:pt idx="53">
                  <c:v>44286</c:v>
                </c:pt>
                <c:pt idx="54">
                  <c:v>44253</c:v>
                </c:pt>
                <c:pt idx="55">
                  <c:v>44225</c:v>
                </c:pt>
                <c:pt idx="56">
                  <c:v>44196</c:v>
                </c:pt>
                <c:pt idx="57">
                  <c:v>44165</c:v>
                </c:pt>
                <c:pt idx="58">
                  <c:v>44134</c:v>
                </c:pt>
                <c:pt idx="59">
                  <c:v>44104</c:v>
                </c:pt>
                <c:pt idx="60">
                  <c:v>44074</c:v>
                </c:pt>
              </c:numCache>
            </c:numRef>
          </c:cat>
          <c:val>
            <c:numRef>
              <c:f>Sheet1!$B$2:$B$62</c:f>
              <c:numCache>
                <c:formatCode>General</c:formatCode>
                <c:ptCount val="61"/>
                <c:pt idx="0">
                  <c:v>208.00569999999999</c:v>
                </c:pt>
                <c:pt idx="1">
                  <c:v>210.01499999999999</c:v>
                </c:pt>
                <c:pt idx="2">
                  <c:v>203.10499999999999</c:v>
                </c:pt>
                <c:pt idx="3">
                  <c:v>190.38579999999999</c:v>
                </c:pt>
                <c:pt idx="4">
                  <c:v>175.83410000000001</c:v>
                </c:pt>
                <c:pt idx="5">
                  <c:v>172.91239999999999</c:v>
                </c:pt>
                <c:pt idx="6">
                  <c:v>184.67750000000001</c:v>
                </c:pt>
                <c:pt idx="7">
                  <c:v>192.82380000000001</c:v>
                </c:pt>
                <c:pt idx="8">
                  <c:v>183.36279999999999</c:v>
                </c:pt>
                <c:pt idx="9">
                  <c:v>185.46360000000001</c:v>
                </c:pt>
                <c:pt idx="10">
                  <c:v>177.13890000000001</c:v>
                </c:pt>
                <c:pt idx="11">
                  <c:v>175.26400000000001</c:v>
                </c:pt>
                <c:pt idx="12">
                  <c:v>173.3921</c:v>
                </c:pt>
                <c:pt idx="13">
                  <c:v>168.0617</c:v>
                </c:pt>
                <c:pt idx="14">
                  <c:v>172.3827</c:v>
                </c:pt>
                <c:pt idx="15">
                  <c:v>163.19999999999999</c:v>
                </c:pt>
                <c:pt idx="16">
                  <c:v>157.57689999999999</c:v>
                </c:pt>
                <c:pt idx="17">
                  <c:v>163.17609999999999</c:v>
                </c:pt>
                <c:pt idx="18">
                  <c:v>156.4555</c:v>
                </c:pt>
                <c:pt idx="19">
                  <c:v>149.59809999999999</c:v>
                </c:pt>
                <c:pt idx="20">
                  <c:v>143.71510000000001</c:v>
                </c:pt>
                <c:pt idx="21">
                  <c:v>138.4821</c:v>
                </c:pt>
                <c:pt idx="22">
                  <c:v>126.9821</c:v>
                </c:pt>
                <c:pt idx="23">
                  <c:v>130.28280000000001</c:v>
                </c:pt>
                <c:pt idx="24">
                  <c:v>135.96369999999999</c:v>
                </c:pt>
                <c:pt idx="25">
                  <c:v>135.80959999999999</c:v>
                </c:pt>
                <c:pt idx="26">
                  <c:v>130.13990000000001</c:v>
                </c:pt>
                <c:pt idx="27">
                  <c:v>124.93129999999999</c:v>
                </c:pt>
                <c:pt idx="28">
                  <c:v>122.6268</c:v>
                </c:pt>
                <c:pt idx="29">
                  <c:v>119.82170000000001</c:v>
                </c:pt>
                <c:pt idx="30">
                  <c:v>118.72</c:v>
                </c:pt>
                <c:pt idx="31">
                  <c:v>120.3997</c:v>
                </c:pt>
                <c:pt idx="32">
                  <c:v>116.0329</c:v>
                </c:pt>
                <c:pt idx="33">
                  <c:v>119.6965</c:v>
                </c:pt>
                <c:pt idx="34">
                  <c:v>117.4492</c:v>
                </c:pt>
                <c:pt idx="35">
                  <c:v>109.33669999999999</c:v>
                </c:pt>
                <c:pt idx="36">
                  <c:v>118.9614</c:v>
                </c:pt>
                <c:pt idx="37">
                  <c:v>121.7163</c:v>
                </c:pt>
                <c:pt idx="38">
                  <c:v>114.0877</c:v>
                </c:pt>
                <c:pt idx="39">
                  <c:v>124.37179999999999</c:v>
                </c:pt>
                <c:pt idx="40">
                  <c:v>125.60039999999999</c:v>
                </c:pt>
                <c:pt idx="41">
                  <c:v>134.3253</c:v>
                </c:pt>
                <c:pt idx="42">
                  <c:v>127.78660000000001</c:v>
                </c:pt>
                <c:pt idx="43">
                  <c:v>131.012</c:v>
                </c:pt>
                <c:pt idx="44">
                  <c:v>137.25030000000001</c:v>
                </c:pt>
                <c:pt idx="45">
                  <c:v>133.3946</c:v>
                </c:pt>
                <c:pt idx="46">
                  <c:v>134.4049</c:v>
                </c:pt>
                <c:pt idx="47">
                  <c:v>129.11789999999999</c:v>
                </c:pt>
                <c:pt idx="48">
                  <c:v>131.8964</c:v>
                </c:pt>
                <c:pt idx="49">
                  <c:v>128.8237</c:v>
                </c:pt>
                <c:pt idx="50">
                  <c:v>126.4554</c:v>
                </c:pt>
                <c:pt idx="51">
                  <c:v>123.63890000000001</c:v>
                </c:pt>
                <c:pt idx="52">
                  <c:v>122.2868</c:v>
                </c:pt>
                <c:pt idx="53">
                  <c:v>115.0977</c:v>
                </c:pt>
                <c:pt idx="54">
                  <c:v>110.527</c:v>
                </c:pt>
                <c:pt idx="55">
                  <c:v>105.78319999999999</c:v>
                </c:pt>
                <c:pt idx="56">
                  <c:v>105.69929999999999</c:v>
                </c:pt>
                <c:pt idx="57">
                  <c:v>103.26479999999999</c:v>
                </c:pt>
                <c:pt idx="58">
                  <c:v>94.5047</c:v>
                </c:pt>
                <c:pt idx="59">
                  <c:v>95.199200000000005</c:v>
                </c:pt>
                <c:pt idx="60">
                  <c:v>100</c:v>
                </c:pt>
              </c:numCache>
            </c:numRef>
          </c:val>
          <c:smooth val="0"/>
          <c:extLst>
            <c:ext xmlns:c16="http://schemas.microsoft.com/office/drawing/2014/chart" uri="{C3380CC4-5D6E-409C-BE32-E72D297353CC}">
              <c16:uniqueId val="{00000000-4676-43F2-87E4-8CFCAD4B2644}"/>
            </c:ext>
          </c:extLst>
        </c:ser>
        <c:ser>
          <c:idx val="1"/>
          <c:order val="1"/>
          <c:tx>
            <c:strRef>
              <c:f>Sheet1!$C$1</c:f>
              <c:strCache>
                <c:ptCount val="1"/>
                <c:pt idx="0">
                  <c:v>SPX </c:v>
                </c:pt>
              </c:strCache>
            </c:strRef>
          </c:tx>
          <c:spPr>
            <a:ln w="28575" cap="rnd">
              <a:solidFill>
                <a:schemeClr val="accent2"/>
              </a:solidFill>
              <a:round/>
            </a:ln>
            <a:effectLst/>
          </c:spPr>
          <c:marker>
            <c:symbol val="none"/>
          </c:marker>
          <c:cat>
            <c:numRef>
              <c:f>Sheet1!$A$2:$A$62</c:f>
              <c:numCache>
                <c:formatCode>m/d/yyyy</c:formatCode>
                <c:ptCount val="61"/>
                <c:pt idx="0">
                  <c:v>45888</c:v>
                </c:pt>
                <c:pt idx="1">
                  <c:v>45869</c:v>
                </c:pt>
                <c:pt idx="2">
                  <c:v>45838</c:v>
                </c:pt>
                <c:pt idx="3">
                  <c:v>45807</c:v>
                </c:pt>
                <c:pt idx="4">
                  <c:v>45777</c:v>
                </c:pt>
                <c:pt idx="5">
                  <c:v>45747</c:v>
                </c:pt>
                <c:pt idx="6">
                  <c:v>45716</c:v>
                </c:pt>
                <c:pt idx="7">
                  <c:v>45688</c:v>
                </c:pt>
                <c:pt idx="8">
                  <c:v>45657</c:v>
                </c:pt>
                <c:pt idx="9">
                  <c:v>45625</c:v>
                </c:pt>
                <c:pt idx="10">
                  <c:v>45596</c:v>
                </c:pt>
                <c:pt idx="11">
                  <c:v>45565</c:v>
                </c:pt>
                <c:pt idx="12">
                  <c:v>45534</c:v>
                </c:pt>
                <c:pt idx="13">
                  <c:v>45504</c:v>
                </c:pt>
                <c:pt idx="14">
                  <c:v>45471</c:v>
                </c:pt>
                <c:pt idx="15">
                  <c:v>45443</c:v>
                </c:pt>
                <c:pt idx="16">
                  <c:v>45412</c:v>
                </c:pt>
                <c:pt idx="17">
                  <c:v>45380</c:v>
                </c:pt>
                <c:pt idx="18">
                  <c:v>45351</c:v>
                </c:pt>
                <c:pt idx="19">
                  <c:v>45322</c:v>
                </c:pt>
                <c:pt idx="20">
                  <c:v>45289</c:v>
                </c:pt>
                <c:pt idx="21">
                  <c:v>45260</c:v>
                </c:pt>
                <c:pt idx="22">
                  <c:v>45230</c:v>
                </c:pt>
                <c:pt idx="23">
                  <c:v>45198</c:v>
                </c:pt>
                <c:pt idx="24">
                  <c:v>45169</c:v>
                </c:pt>
                <c:pt idx="25">
                  <c:v>45138</c:v>
                </c:pt>
                <c:pt idx="26">
                  <c:v>45107</c:v>
                </c:pt>
                <c:pt idx="27">
                  <c:v>45077</c:v>
                </c:pt>
                <c:pt idx="28">
                  <c:v>45044</c:v>
                </c:pt>
                <c:pt idx="29">
                  <c:v>45016</c:v>
                </c:pt>
                <c:pt idx="30">
                  <c:v>44985</c:v>
                </c:pt>
                <c:pt idx="31">
                  <c:v>44957</c:v>
                </c:pt>
                <c:pt idx="32">
                  <c:v>44925</c:v>
                </c:pt>
                <c:pt idx="33">
                  <c:v>44895</c:v>
                </c:pt>
                <c:pt idx="34">
                  <c:v>44865</c:v>
                </c:pt>
                <c:pt idx="35">
                  <c:v>44834</c:v>
                </c:pt>
                <c:pt idx="36">
                  <c:v>44804</c:v>
                </c:pt>
                <c:pt idx="37">
                  <c:v>44771</c:v>
                </c:pt>
                <c:pt idx="38">
                  <c:v>44742</c:v>
                </c:pt>
                <c:pt idx="39">
                  <c:v>44712</c:v>
                </c:pt>
                <c:pt idx="40">
                  <c:v>44680</c:v>
                </c:pt>
                <c:pt idx="41">
                  <c:v>44651</c:v>
                </c:pt>
                <c:pt idx="42">
                  <c:v>44620</c:v>
                </c:pt>
                <c:pt idx="43">
                  <c:v>44592</c:v>
                </c:pt>
                <c:pt idx="44">
                  <c:v>44561</c:v>
                </c:pt>
                <c:pt idx="45">
                  <c:v>44530</c:v>
                </c:pt>
                <c:pt idx="46">
                  <c:v>44498</c:v>
                </c:pt>
                <c:pt idx="47">
                  <c:v>44469</c:v>
                </c:pt>
                <c:pt idx="48">
                  <c:v>44439</c:v>
                </c:pt>
                <c:pt idx="49">
                  <c:v>44407</c:v>
                </c:pt>
                <c:pt idx="50">
                  <c:v>44377</c:v>
                </c:pt>
                <c:pt idx="51">
                  <c:v>44347</c:v>
                </c:pt>
                <c:pt idx="52">
                  <c:v>44316</c:v>
                </c:pt>
                <c:pt idx="53">
                  <c:v>44286</c:v>
                </c:pt>
                <c:pt idx="54">
                  <c:v>44253</c:v>
                </c:pt>
                <c:pt idx="55">
                  <c:v>44225</c:v>
                </c:pt>
                <c:pt idx="56">
                  <c:v>44196</c:v>
                </c:pt>
                <c:pt idx="57">
                  <c:v>44165</c:v>
                </c:pt>
                <c:pt idx="58">
                  <c:v>44134</c:v>
                </c:pt>
                <c:pt idx="59">
                  <c:v>44104</c:v>
                </c:pt>
                <c:pt idx="60">
                  <c:v>44074</c:v>
                </c:pt>
              </c:numCache>
            </c:numRef>
          </c:cat>
          <c:val>
            <c:numRef>
              <c:f>Sheet1!$C$2:$C$62</c:f>
              <c:numCache>
                <c:formatCode>General</c:formatCode>
                <c:ptCount val="61"/>
                <c:pt idx="0">
                  <c:v>183.16579999999999</c:v>
                </c:pt>
                <c:pt idx="1">
                  <c:v>181.10939999999999</c:v>
                </c:pt>
                <c:pt idx="2">
                  <c:v>177.26859999999999</c:v>
                </c:pt>
                <c:pt idx="3">
                  <c:v>168.8905</c:v>
                </c:pt>
                <c:pt idx="4">
                  <c:v>159.1019</c:v>
                </c:pt>
                <c:pt idx="5">
                  <c:v>160.3244</c:v>
                </c:pt>
                <c:pt idx="6">
                  <c:v>170.11349999999999</c:v>
                </c:pt>
                <c:pt idx="7">
                  <c:v>172.57130000000001</c:v>
                </c:pt>
                <c:pt idx="8">
                  <c:v>168.0317</c:v>
                </c:pt>
                <c:pt idx="9">
                  <c:v>172.33850000000001</c:v>
                </c:pt>
                <c:pt idx="10">
                  <c:v>162.9984</c:v>
                </c:pt>
                <c:pt idx="11">
                  <c:v>164.6277</c:v>
                </c:pt>
                <c:pt idx="12">
                  <c:v>161.36859999999999</c:v>
                </c:pt>
                <c:pt idx="13">
                  <c:v>157.76599999999999</c:v>
                </c:pt>
                <c:pt idx="14">
                  <c:v>155.9999</c:v>
                </c:pt>
                <c:pt idx="15">
                  <c:v>150.77260000000001</c:v>
                </c:pt>
                <c:pt idx="16">
                  <c:v>143.86410000000001</c:v>
                </c:pt>
                <c:pt idx="17">
                  <c:v>150.11099999999999</c:v>
                </c:pt>
                <c:pt idx="18">
                  <c:v>145.59479999999999</c:v>
                </c:pt>
                <c:pt idx="19">
                  <c:v>138.4349</c:v>
                </c:pt>
                <c:pt idx="20">
                  <c:v>136.2688</c:v>
                </c:pt>
                <c:pt idx="21">
                  <c:v>130.49700000000001</c:v>
                </c:pt>
                <c:pt idx="22">
                  <c:v>119.8122</c:v>
                </c:pt>
                <c:pt idx="23">
                  <c:v>122.50490000000001</c:v>
                </c:pt>
                <c:pt idx="24">
                  <c:v>128.77889999999999</c:v>
                </c:pt>
                <c:pt idx="25">
                  <c:v>131.10149999999999</c:v>
                </c:pt>
                <c:pt idx="26">
                  <c:v>127.1425</c:v>
                </c:pt>
                <c:pt idx="27">
                  <c:v>119.4131</c:v>
                </c:pt>
                <c:pt idx="28">
                  <c:v>119.1174</c:v>
                </c:pt>
                <c:pt idx="29">
                  <c:v>117.3985</c:v>
                </c:pt>
                <c:pt idx="30">
                  <c:v>113.4228</c:v>
                </c:pt>
                <c:pt idx="31">
                  <c:v>116.464</c:v>
                </c:pt>
                <c:pt idx="32">
                  <c:v>109.69029999999999</c:v>
                </c:pt>
                <c:pt idx="33">
                  <c:v>116.5642</c:v>
                </c:pt>
                <c:pt idx="34">
                  <c:v>110.6182</c:v>
                </c:pt>
                <c:pt idx="35">
                  <c:v>102.4372</c:v>
                </c:pt>
                <c:pt idx="36">
                  <c:v>112.99</c:v>
                </c:pt>
                <c:pt idx="37">
                  <c:v>117.9978</c:v>
                </c:pt>
                <c:pt idx="38">
                  <c:v>108.14409999999999</c:v>
                </c:pt>
                <c:pt idx="39">
                  <c:v>118.051</c:v>
                </c:pt>
                <c:pt idx="40">
                  <c:v>118.04470000000001</c:v>
                </c:pt>
                <c:pt idx="41">
                  <c:v>129.4288</c:v>
                </c:pt>
                <c:pt idx="42">
                  <c:v>124.9586</c:v>
                </c:pt>
                <c:pt idx="43">
                  <c:v>129.0043</c:v>
                </c:pt>
                <c:pt idx="44">
                  <c:v>136.1645</c:v>
                </c:pt>
                <c:pt idx="45">
                  <c:v>130.4742</c:v>
                </c:pt>
                <c:pt idx="46">
                  <c:v>131.57060000000001</c:v>
                </c:pt>
                <c:pt idx="47">
                  <c:v>123.0617</c:v>
                </c:pt>
                <c:pt idx="48">
                  <c:v>129.208</c:v>
                </c:pt>
                <c:pt idx="49">
                  <c:v>125.5677</c:v>
                </c:pt>
                <c:pt idx="50">
                  <c:v>122.7748</c:v>
                </c:pt>
                <c:pt idx="51">
                  <c:v>120.10680000000001</c:v>
                </c:pt>
                <c:pt idx="52">
                  <c:v>119.45140000000001</c:v>
                </c:pt>
                <c:pt idx="53">
                  <c:v>113.50109999999999</c:v>
                </c:pt>
                <c:pt idx="54">
                  <c:v>108.88039999999999</c:v>
                </c:pt>
                <c:pt idx="55">
                  <c:v>106.1117</c:v>
                </c:pt>
                <c:pt idx="56">
                  <c:v>107.3068</c:v>
                </c:pt>
                <c:pt idx="57">
                  <c:v>103.46599999999999</c:v>
                </c:pt>
                <c:pt idx="58">
                  <c:v>93.419200000000004</c:v>
                </c:pt>
                <c:pt idx="59">
                  <c:v>96.077200000000005</c:v>
                </c:pt>
                <c:pt idx="60">
                  <c:v>100</c:v>
                </c:pt>
              </c:numCache>
            </c:numRef>
          </c:val>
          <c:smooth val="0"/>
          <c:extLst>
            <c:ext xmlns:c16="http://schemas.microsoft.com/office/drawing/2014/chart" uri="{C3380CC4-5D6E-409C-BE32-E72D297353CC}">
              <c16:uniqueId val="{00000001-4676-43F2-87E4-8CFCAD4B2644}"/>
            </c:ext>
          </c:extLst>
        </c:ser>
        <c:dLbls>
          <c:showLegendKey val="0"/>
          <c:showVal val="0"/>
          <c:showCatName val="0"/>
          <c:showSerName val="0"/>
          <c:showPercent val="0"/>
          <c:showBubbleSize val="0"/>
        </c:dLbls>
        <c:smooth val="0"/>
        <c:axId val="258409999"/>
        <c:axId val="265016911"/>
      </c:lineChart>
      <c:dateAx>
        <c:axId val="258409999"/>
        <c:scaling>
          <c:orientation val="minMax"/>
        </c:scaling>
        <c:delete val="0"/>
        <c:axPos val="b"/>
        <c:numFmt formatCode="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crossAx val="265016911"/>
        <c:crosses val="autoZero"/>
        <c:auto val="1"/>
        <c:lblOffset val="100"/>
        <c:baseTimeUnit val="days"/>
      </c:dateAx>
      <c:valAx>
        <c:axId val="265016911"/>
        <c:scaling>
          <c:orientation val="minMax"/>
          <c:max val="225"/>
          <c:min val="7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crossAx val="2584099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mn-lt"/>
              <a:ea typeface="+mn-ea"/>
              <a:cs typeface="+mn-cs"/>
            </a:defRPr>
          </a:pPr>
          <a:endParaRPr lang="en-CH"/>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CH"/>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6717224155168453"/>
          <c:y val="0.12160804020100502"/>
          <c:w val="0.80333838565977778"/>
          <c:h val="0.75944274946159374"/>
        </c:manualLayout>
      </c:layout>
      <c:barChart>
        <c:barDir val="bar"/>
        <c:grouping val="clustered"/>
        <c:varyColors val="0"/>
        <c:ser>
          <c:idx val="0"/>
          <c:order val="0"/>
          <c:tx>
            <c:strRef>
              <c:f>Feuil1!$H$4</c:f>
              <c:strCache>
                <c:ptCount val="1"/>
                <c:pt idx="0">
                  <c:v>Fund</c:v>
                </c:pt>
              </c:strCache>
            </c:strRef>
          </c:tx>
          <c:spPr>
            <a:solidFill>
              <a:srgbClr val="70AD47"/>
            </a:solidFill>
            <a:ln>
              <a:noFill/>
            </a:ln>
            <a:effectLst/>
          </c:spPr>
          <c:invertIfNegative val="0"/>
          <c:dLbls>
            <c:dLbl>
              <c:idx val="0"/>
              <c:layout>
                <c:manualLayout>
                  <c:x val="2.6407427515249323E-3"/>
                  <c:y val="4.94638238340062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49F-44D9-915E-97C54397B9B0}"/>
                </c:ext>
              </c:extLst>
            </c:dLbl>
            <c:dLbl>
              <c:idx val="1"/>
              <c:layout>
                <c:manualLayout>
                  <c:x val="-9.6826115679033579E-17"/>
                  <c:y val="9.892764766801348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949F-44D9-915E-97C54397B9B0}"/>
                </c:ext>
              </c:extLst>
            </c:dLbl>
            <c:dLbl>
              <c:idx val="2"/>
              <c:layout>
                <c:manualLayout>
                  <c:x val="-1.4130368535588193E-2"/>
                  <c:y val="2.56267872607804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4C0-4640-98C6-6A23B3AC318E}"/>
                </c:ext>
              </c:extLst>
            </c:dLbl>
            <c:dLbl>
              <c:idx val="3"/>
              <c:layout>
                <c:manualLayout>
                  <c:x val="-1.0990286638790816E-2"/>
                  <c:y val="2.050118767337892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4C0-4640-98C6-6A23B3AC318E}"/>
                </c:ext>
              </c:extLst>
            </c:dLbl>
            <c:dLbl>
              <c:idx val="4"/>
              <c:layout>
                <c:manualLayout>
                  <c:x val="-7.9222282545751838E-3"/>
                  <c:y val="-9.0682629455539478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49F-44D9-915E-97C54397B9B0}"/>
                </c:ext>
              </c:extLst>
            </c:dLbl>
            <c:dLbl>
              <c:idx val="5"/>
              <c:layout>
                <c:manualLayout>
                  <c:x val="-5.7567503083243852E-17"/>
                  <c:y val="5.12519602865912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4C0-4640-98C6-6A23B3AC318E}"/>
                </c:ext>
              </c:extLst>
            </c:dLbl>
            <c:dLbl>
              <c:idx val="6"/>
              <c:layout>
                <c:manualLayout>
                  <c:x val="-3.1400818967973762E-3"/>
                  <c:y val="1.02503920573182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4C0-4640-98C6-6A23B3AC318E}"/>
                </c:ext>
              </c:extLst>
            </c:dLbl>
            <c:dLbl>
              <c:idx val="8"/>
              <c:layout>
                <c:manualLayout>
                  <c:x val="-7.8502047419934402E-3"/>
                  <c:y val="5.1251960286591274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49F-44D9-915E-97C54397B9B0}"/>
                </c:ext>
              </c:extLst>
            </c:dLbl>
            <c:dLbl>
              <c:idx val="9"/>
              <c:layout>
                <c:manualLayout>
                  <c:x val="-3.1400818967973762E-3"/>
                  <c:y val="1.53759916447197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86A-47CE-9272-B71CFC55D3D9}"/>
                </c:ext>
              </c:extLst>
            </c:dLbl>
            <c:dLbl>
              <c:idx val="10"/>
              <c:delete val="1"/>
              <c:extLst>
                <c:ext xmlns:c15="http://schemas.microsoft.com/office/drawing/2012/chart" uri="{CE6537A1-D6FC-4f65-9D91-7224C49458BB}"/>
                <c:ext xmlns:c16="http://schemas.microsoft.com/office/drawing/2014/chart" uri="{C3380CC4-5D6E-409C-BE32-E72D297353CC}">
                  <c16:uniqueId val="{00000000-40C6-4443-AD1A-B5E0CFD7F10E}"/>
                </c:ext>
              </c:extLst>
            </c:dLbl>
            <c:dLbl>
              <c:idx val="11"/>
              <c:delete val="1"/>
              <c:extLst>
                <c:ext xmlns:c15="http://schemas.microsoft.com/office/drawing/2012/chart" uri="{CE6537A1-D6FC-4f65-9D91-7224C49458BB}"/>
                <c:ext xmlns:c16="http://schemas.microsoft.com/office/drawing/2014/chart" uri="{C3380CC4-5D6E-409C-BE32-E72D297353CC}">
                  <c16:uniqueId val="{00000001-40C6-4443-AD1A-B5E0CFD7F10E}"/>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Feuil1!$G$5:$G$16</c:f>
              <c:strCache>
                <c:ptCount val="12"/>
                <c:pt idx="0">
                  <c:v>Information Technology</c:v>
                </c:pt>
                <c:pt idx="1">
                  <c:v>Communication Services</c:v>
                </c:pt>
                <c:pt idx="2">
                  <c:v>Financials</c:v>
                </c:pt>
                <c:pt idx="3">
                  <c:v>Consumer Discretionary</c:v>
                </c:pt>
                <c:pt idx="4">
                  <c:v>Health Care</c:v>
                </c:pt>
                <c:pt idx="5">
                  <c:v>Industrials</c:v>
                </c:pt>
                <c:pt idx="6">
                  <c:v>Consumer Staples</c:v>
                </c:pt>
                <c:pt idx="7">
                  <c:v>Utilities</c:v>
                </c:pt>
                <c:pt idx="8">
                  <c:v>Liquid Assets</c:v>
                </c:pt>
                <c:pt idx="9">
                  <c:v>Energy</c:v>
                </c:pt>
                <c:pt idx="10">
                  <c:v>Materials</c:v>
                </c:pt>
                <c:pt idx="11">
                  <c:v>Real Estate</c:v>
                </c:pt>
              </c:strCache>
            </c:strRef>
          </c:cat>
          <c:val>
            <c:numRef>
              <c:f>Feuil1!$H$5:$H$16</c:f>
              <c:numCache>
                <c:formatCode>0.0</c:formatCode>
                <c:ptCount val="12"/>
                <c:pt idx="0">
                  <c:v>30.5</c:v>
                </c:pt>
                <c:pt idx="1">
                  <c:v>17.600000000000001</c:v>
                </c:pt>
                <c:pt idx="2">
                  <c:v>13.3</c:v>
                </c:pt>
                <c:pt idx="3">
                  <c:v>10.3</c:v>
                </c:pt>
                <c:pt idx="4">
                  <c:v>10.3</c:v>
                </c:pt>
                <c:pt idx="5">
                  <c:v>8.3000000000000007</c:v>
                </c:pt>
                <c:pt idx="6">
                  <c:v>3.9</c:v>
                </c:pt>
                <c:pt idx="7">
                  <c:v>2.6</c:v>
                </c:pt>
                <c:pt idx="8">
                  <c:v>2</c:v>
                </c:pt>
                <c:pt idx="9">
                  <c:v>1.1000000000000001</c:v>
                </c:pt>
                <c:pt idx="10">
                  <c:v>0</c:v>
                </c:pt>
                <c:pt idx="11">
                  <c:v>0</c:v>
                </c:pt>
              </c:numCache>
            </c:numRef>
          </c:val>
          <c:extLst>
            <c:ext xmlns:c16="http://schemas.microsoft.com/office/drawing/2014/chart" uri="{C3380CC4-5D6E-409C-BE32-E72D297353CC}">
              <c16:uniqueId val="{00000000-DD8A-4837-B369-5F365B3EA1E1}"/>
            </c:ext>
          </c:extLst>
        </c:ser>
        <c:ser>
          <c:idx val="1"/>
          <c:order val="1"/>
          <c:tx>
            <c:strRef>
              <c:f>Feuil1!$I$4</c:f>
              <c:strCache>
                <c:ptCount val="1"/>
                <c:pt idx="0">
                  <c:v>SPX </c:v>
                </c:pt>
              </c:strCache>
            </c:strRef>
          </c:tx>
          <c:spPr>
            <a:solidFill>
              <a:srgbClr val="FFFFFF">
                <a:lumMod val="85000"/>
              </a:srgbClr>
            </a:solidFill>
            <a:ln>
              <a:noFill/>
            </a:ln>
            <a:effectLst/>
          </c:spPr>
          <c:invertIfNegative val="0"/>
          <c:dLbls>
            <c:dLbl>
              <c:idx val="0"/>
              <c:layout>
                <c:manualLayout>
                  <c:x val="-9.6826115679033579E-17"/>
                  <c:y val="-1.978552953360278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49F-44D9-915E-97C54397B9B0}"/>
                </c:ext>
              </c:extLst>
            </c:dLbl>
            <c:dLbl>
              <c:idx val="1"/>
              <c:layout>
                <c:manualLayout>
                  <c:x val="-4.7101228451960639E-3"/>
                  <c:y val="-1.02495849398334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4C0-4640-98C6-6A23B3AC318E}"/>
                </c:ext>
              </c:extLst>
            </c:dLbl>
            <c:dLbl>
              <c:idx val="2"/>
              <c:layout>
                <c:manualLayout>
                  <c:x val="-5.7808413218953586E-3"/>
                  <c:y val="5.483556191922852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49F-44D9-915E-97C54397B9B0}"/>
                </c:ext>
              </c:extLst>
            </c:dLbl>
            <c:dLbl>
              <c:idx val="3"/>
              <c:layout>
                <c:manualLayout>
                  <c:x val="-7.3508822702940462E-3"/>
                  <c:y val="5.3673312741075898E-4"/>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49F-44D9-915E-97C54397B9B0}"/>
                </c:ext>
              </c:extLst>
            </c:dLbl>
            <c:dLbl>
              <c:idx val="4"/>
              <c:layout>
                <c:manualLayout>
                  <c:x val="-4.710122845196122E-3"/>
                  <c:y val="-9.712044694937839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49F-44D9-915E-97C54397B9B0}"/>
                </c:ext>
              </c:extLst>
            </c:dLbl>
            <c:dLbl>
              <c:idx val="5"/>
              <c:layout>
                <c:manualLayout>
                  <c:x val="-6.2801637935947525E-3"/>
                  <c:y val="-2.01428275101151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49F-44D9-915E-97C54397B9B0}"/>
                </c:ext>
              </c:extLst>
            </c:dLbl>
            <c:dLbl>
              <c:idx val="6"/>
              <c:layout>
                <c:manualLayout>
                  <c:x val="-4.7101228451960639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49F-44D9-915E-97C54397B9B0}"/>
                </c:ext>
              </c:extLst>
            </c:dLbl>
            <c:dLbl>
              <c:idx val="7"/>
              <c:layout>
                <c:manualLayout>
                  <c:x val="0"/>
                  <c:y val="-1.483914715020215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7C1-4624-AB01-2F09A614F139}"/>
                </c:ext>
              </c:extLst>
            </c:dLbl>
            <c:dLbl>
              <c:idx val="8"/>
              <c:delete val="1"/>
              <c:extLst>
                <c:ext xmlns:c15="http://schemas.microsoft.com/office/drawing/2012/chart" uri="{CE6537A1-D6FC-4f65-9D91-7224C49458BB}"/>
                <c:ext xmlns:c16="http://schemas.microsoft.com/office/drawing/2014/chart" uri="{C3380CC4-5D6E-409C-BE32-E72D297353CC}">
                  <c16:uniqueId val="{00000005-C4C0-4640-98C6-6A23B3AC318E}"/>
                </c:ext>
              </c:extLst>
            </c:dLbl>
            <c:dLbl>
              <c:idx val="10"/>
              <c:layout>
                <c:manualLayout>
                  <c:x val="-3.1400818967973472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4C0-4640-98C6-6A23B3AC318E}"/>
                </c:ext>
              </c:extLst>
            </c:dLbl>
            <c:dLbl>
              <c:idx val="11"/>
              <c:layout>
                <c:manualLayout>
                  <c:x val="-4.7101228451960639E-3"/>
                  <c:y val="9.3960841748422139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4C0-4640-98C6-6A23B3AC318E}"/>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Feuil1!$G$5:$G$16</c:f>
              <c:strCache>
                <c:ptCount val="12"/>
                <c:pt idx="0">
                  <c:v>Information Technology</c:v>
                </c:pt>
                <c:pt idx="1">
                  <c:v>Communication Services</c:v>
                </c:pt>
                <c:pt idx="2">
                  <c:v>Financials</c:v>
                </c:pt>
                <c:pt idx="3">
                  <c:v>Consumer Discretionary</c:v>
                </c:pt>
                <c:pt idx="4">
                  <c:v>Health Care</c:v>
                </c:pt>
                <c:pt idx="5">
                  <c:v>Industrials</c:v>
                </c:pt>
                <c:pt idx="6">
                  <c:v>Consumer Staples</c:v>
                </c:pt>
                <c:pt idx="7">
                  <c:v>Utilities</c:v>
                </c:pt>
                <c:pt idx="8">
                  <c:v>Liquid Assets</c:v>
                </c:pt>
                <c:pt idx="9">
                  <c:v>Energy</c:v>
                </c:pt>
                <c:pt idx="10">
                  <c:v>Materials</c:v>
                </c:pt>
                <c:pt idx="11">
                  <c:v>Real Estate</c:v>
                </c:pt>
              </c:strCache>
            </c:strRef>
          </c:cat>
          <c:val>
            <c:numRef>
              <c:f>Feuil1!$I$5:$I$16</c:f>
              <c:numCache>
                <c:formatCode>0.0</c:formatCode>
                <c:ptCount val="12"/>
                <c:pt idx="0">
                  <c:v>34</c:v>
                </c:pt>
                <c:pt idx="1">
                  <c:v>9.9</c:v>
                </c:pt>
                <c:pt idx="2">
                  <c:v>13.8</c:v>
                </c:pt>
                <c:pt idx="3">
                  <c:v>10.4</c:v>
                </c:pt>
                <c:pt idx="4">
                  <c:v>8.8000000000000007</c:v>
                </c:pt>
                <c:pt idx="5">
                  <c:v>8.6</c:v>
                </c:pt>
                <c:pt idx="6">
                  <c:v>5.2</c:v>
                </c:pt>
                <c:pt idx="7">
                  <c:v>2.5</c:v>
                </c:pt>
                <c:pt idx="8">
                  <c:v>0</c:v>
                </c:pt>
                <c:pt idx="9">
                  <c:v>3</c:v>
                </c:pt>
                <c:pt idx="10">
                  <c:v>1.8</c:v>
                </c:pt>
                <c:pt idx="11">
                  <c:v>2</c:v>
                </c:pt>
              </c:numCache>
            </c:numRef>
          </c:val>
          <c:extLst>
            <c:ext xmlns:c16="http://schemas.microsoft.com/office/drawing/2014/chart" uri="{C3380CC4-5D6E-409C-BE32-E72D297353CC}">
              <c16:uniqueId val="{00000001-DD8A-4837-B369-5F365B3EA1E1}"/>
            </c:ext>
          </c:extLst>
        </c:ser>
        <c:dLbls>
          <c:showLegendKey val="0"/>
          <c:showVal val="0"/>
          <c:showCatName val="0"/>
          <c:showSerName val="0"/>
          <c:showPercent val="0"/>
          <c:showBubbleSize val="0"/>
        </c:dLbls>
        <c:gapWidth val="182"/>
        <c:axId val="630543144"/>
        <c:axId val="630542160"/>
      </c:barChart>
      <c:catAx>
        <c:axId val="63054314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630542160"/>
        <c:crosses val="autoZero"/>
        <c:auto val="1"/>
        <c:lblAlgn val="ctr"/>
        <c:lblOffset val="100"/>
        <c:noMultiLvlLbl val="0"/>
      </c:catAx>
      <c:valAx>
        <c:axId val="630542160"/>
        <c:scaling>
          <c:orientation val="minMax"/>
          <c:max val="40"/>
        </c:scaling>
        <c:delete val="0"/>
        <c:axPos val="t"/>
        <c:majorGridlines>
          <c:spPr>
            <a:ln w="9525" cap="flat" cmpd="sng" algn="ctr">
              <a:solidFill>
                <a:schemeClr val="tx1">
                  <a:lumMod val="15000"/>
                  <a:lumOff val="85000"/>
                </a:schemeClr>
              </a:solidFill>
              <a:round/>
            </a:ln>
            <a:effectLst/>
          </c:spPr>
        </c:majorGridlines>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fr-FR"/>
          </a:p>
        </c:txPr>
        <c:crossAx val="630543144"/>
        <c:crosses val="autoZero"/>
        <c:crossBetween val="between"/>
      </c:valAx>
      <c:spPr>
        <a:noFill/>
        <a:ln>
          <a:noFill/>
        </a:ln>
        <a:effectLst/>
      </c:spPr>
    </c:plotArea>
    <c:legend>
      <c:legendPos val="b"/>
      <c:layout>
        <c:manualLayout>
          <c:xMode val="edge"/>
          <c:yMode val="edge"/>
          <c:x val="0.44759330012744181"/>
          <c:y val="0.89814519023689865"/>
          <c:w val="0.10481339974511633"/>
          <c:h val="9.6156676238334529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E63D7_0.xml><?xml version="1.0" encoding="utf-8"?>
<p188:cmLst xmlns:a="http://schemas.openxmlformats.org/drawingml/2006/main" xmlns:r="http://schemas.openxmlformats.org/officeDocument/2006/relationships" xmlns:p188="http://schemas.microsoft.com/office/powerpoint/2018/8/main">
  <p188:cm id="{42742FB7-88F9-4A08-AFDD-05BE5F1C8E5E}" authorId="{48AF9A35-6AE5-A2FB-2940-04F802A6076F}" created="2026-08-17T07:15:41.473">
    <pc:sldMkLst xmlns:pc="http://schemas.microsoft.com/office/powerpoint/2013/main/command">
      <pc:docMk/>
      <pc:sldMk cId="0" sldId="2147378135"/>
    </pc:sldMkLst>
    <p188:txBody>
      <a:bodyPr/>
      <a:lstStyle/>
      <a:p>
        <a:r>
          <a:rPr lang="en-CH"/>
          <a:t>Create a radar(new slide): pie chart/histogram by geography,  sector, style, size(market capacity)</a:t>
        </a:r>
      </a:p>
    </p188:txBody>
  </p188:cm>
  <p188:cm id="{067F0173-723B-4535-B686-95C9564FB280}" authorId="{48AF9A35-6AE5-A2FB-2940-04F802A6076F}" created="2026-08-17T07:17:05.730">
    <pc:sldMkLst xmlns:pc="http://schemas.microsoft.com/office/powerpoint/2013/main/command">
      <pc:docMk/>
      <pc:sldMk cId="0" sldId="2147378135"/>
    </pc:sldMkLst>
    <p188:txBody>
      <a:bodyPr/>
      <a:lstStyle/>
      <a:p>
        <a:r>
          <a:rPr lang="en-CH"/>
          <a:t>Expand table; add duation, yields (average), price, bid ask</a:t>
        </a:r>
      </a:p>
    </p188:txBody>
  </p188:cm>
</p188:cmLst>
</file>

<file path=ppt/comments/modernComment_7FFE63D8_0.xml><?xml version="1.0" encoding="utf-8"?>
<p188:cmLst xmlns:a="http://schemas.openxmlformats.org/drawingml/2006/main" xmlns:r="http://schemas.openxmlformats.org/officeDocument/2006/relationships" xmlns:p188="http://schemas.microsoft.com/office/powerpoint/2018/8/main">
  <p188:cm id="{E3E93D69-DF19-4896-AA4B-25B659F2E83A}" authorId="{48AF9A35-6AE5-A2FB-2940-04F802A6076F}" created="2026-08-17T07:17:12.823">
    <pc:sldMkLst xmlns:pc="http://schemas.microsoft.com/office/powerpoint/2013/main/command">
      <pc:docMk/>
      <pc:sldMk cId="0" sldId="2147378136"/>
    </pc:sldMkLst>
    <p188:txBody>
      <a:bodyPr/>
      <a:lstStyle/>
      <a:p>
        <a:r>
          <a:rPr lang="en-CH"/>
          <a:t>Expand table; add duation, yields (average), price, bid ask</a:t>
        </a:r>
      </a:p>
    </p188:txBody>
  </p188:cm>
  <p188:cm id="{C4D359DF-2770-4C41-8667-03E64A8D859B}" authorId="{48AF9A35-6AE5-A2FB-2940-04F802A6076F}" created="2026-08-17T07:26:56.185">
    <pc:sldMkLst xmlns:pc="http://schemas.microsoft.com/office/powerpoint/2013/main/command">
      <pc:docMk/>
      <pc:sldMk cId="0" sldId="2147378136"/>
    </pc:sldMkLst>
    <p188:txBody>
      <a:bodyPr/>
      <a:lstStyle/>
      <a:p>
        <a:r>
          <a:rPr lang="en-CH"/>
          <a:t>What is the structure behind?
what do we qualify as alternatives?</a:t>
        </a:r>
      </a:p>
    </p188:txBody>
  </p188:cm>
</p188:cmLst>
</file>

<file path=ppt/comments/modernComment_10A_0.xml><?xml version="1.0" encoding="utf-8"?>
<p188:cmLst xmlns:a="http://schemas.openxmlformats.org/drawingml/2006/main" xmlns:r="http://schemas.openxmlformats.org/officeDocument/2006/relationships" xmlns:p188="http://schemas.microsoft.com/office/powerpoint/2018/8/main">
  <p188:cm id="{E6714783-3502-4E62-880F-3C06C9F05754}" authorId="{48AF9A35-6AE5-A2FB-2940-04F802A6076F}" created="2026-08-17T07:28:03.879">
    <pc:sldMkLst xmlns:pc="http://schemas.microsoft.com/office/powerpoint/2013/main/command">
      <pc:docMk/>
      <pc:sldMk cId="0" sldId="266"/>
    </pc:sldMkLst>
    <p188:txBody>
      <a:bodyPr/>
      <a:lstStyle/>
      <a:p>
        <a:r>
          <a:rPr lang="en-CH"/>
          <a:t>Where does the 5.6% for equities come from</a:t>
        </a:r>
      </a:p>
    </p188:txBody>
  </p188:cm>
  <p188:cm id="{FD88BEAE-DBF7-440D-BAEC-923D50C3480A}" authorId="{48AF9A35-6AE5-A2FB-2940-04F802A6076F}" created="2026-08-17T07:33:19.253">
    <pc:sldMkLst xmlns:pc="http://schemas.microsoft.com/office/powerpoint/2013/main/command">
      <pc:docMk/>
      <pc:sldMk cId="0" sldId="266"/>
    </pc:sldMkLst>
    <p188:txBody>
      <a:bodyPr/>
      <a:lstStyle/>
      <a:p>
        <a:r>
          <a:rPr lang="en-CH"/>
          <a:t>Already present on slide 11(,2.4% running yield)</a:t>
        </a:r>
      </a:p>
    </p188:txBody>
  </p188:cm>
</p188:cmLst>
</file>

<file path=ppt/drawings/drawing1.xml><?xml version="1.0" encoding="utf-8"?>
<c:userShapes xmlns:c="http://schemas.openxmlformats.org/drawingml/2006/chart">
  <cdr:relSizeAnchor xmlns:cdr="http://schemas.openxmlformats.org/drawingml/2006/chartDrawing">
    <cdr:from>
      <cdr:x>0.00676</cdr:x>
      <cdr:y>0.01028</cdr:y>
    </cdr:from>
    <cdr:to>
      <cdr:x>0.00676</cdr:x>
      <cdr:y>0.01028</cdr:y>
    </cdr:to>
    <cdr:sp macro="" textlink="">
      <cdr:nvSpPr>
        <cdr:cNvPr id="2" name="UpSlideExportSave" hidden="1">
          <a:extLst xmlns:a="http://schemas.openxmlformats.org/drawingml/2006/main">
            <a:ext uri="{FF2B5EF4-FFF2-40B4-BE49-F238E27FC236}">
              <a16:creationId xmlns:a16="http://schemas.microsoft.com/office/drawing/2014/main" id="{9080A1F1-1B95-C1EB-2BE0-E01A6016EAC1}"/>
            </a:ext>
          </a:extLst>
        </cdr:cNvPr>
        <cdr:cNvSpPr/>
      </cdr:nvSpPr>
      <cdr:spPr>
        <a:xfrm xmlns:a="http://schemas.openxmlformats.org/drawingml/2006/main">
          <a:off x="50800" y="50800"/>
          <a:ext cx="0" cy="0"/>
        </a:xfrm>
        <a:prstGeom xmlns:a="http://schemas.openxmlformats.org/drawingml/2006/main" prst="rect">
          <a:avLst/>
        </a:prstGeom>
        <a:noFill xmlns:a="http://schemas.openxmlformats.org/drawingml/2006/main"/>
        <a:ln xmlns:a="http://schemas.openxmlformats.org/drawingml/2006/main" w="12700" cap="flat" cmpd="sng" algn="ctr">
          <a:noFill/>
          <a:prstDash val="solid"/>
          <a:miter lim="800000"/>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a:p>
      </cdr:txBody>
    </cdr:sp>
  </cdr:relSizeAnchor>
  <cdr:relSizeAnchor xmlns:cdr="http://schemas.openxmlformats.org/drawingml/2006/chartDrawing">
    <cdr:from>
      <cdr:x>0.00676</cdr:x>
      <cdr:y>0.01028</cdr:y>
    </cdr:from>
    <cdr:to>
      <cdr:x>0.00676</cdr:x>
      <cdr:y>0.01028</cdr:y>
    </cdr:to>
    <cdr:sp macro="" textlink="">
      <cdr:nvSpPr>
        <cdr:cNvPr id="3" name="#UpSlide#ChartHasBeenCopiedWithUpSlideActive#" hidden="1">
          <a:extLst xmlns:a="http://schemas.openxmlformats.org/drawingml/2006/main">
            <a:ext uri="{FF2B5EF4-FFF2-40B4-BE49-F238E27FC236}">
              <a16:creationId xmlns:a16="http://schemas.microsoft.com/office/drawing/2014/main" id="{097217E8-7B6B-49AF-6D52-FD7B0ECF39B7}"/>
            </a:ext>
          </a:extLst>
        </cdr:cNvPr>
        <cdr:cNvSpPr/>
      </cdr:nvSpPr>
      <cdr:spPr>
        <a:xfrm xmlns:a="http://schemas.openxmlformats.org/drawingml/2006/main">
          <a:off x="50800" y="50800"/>
          <a:ext cx="0" cy="0"/>
        </a:xfrm>
        <a:prstGeom xmlns:a="http://schemas.openxmlformats.org/drawingml/2006/main" prst="rect">
          <a:avLst/>
        </a:prstGeom>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a:p>
      </cdr:txBody>
    </cdr:sp>
  </cdr:relSizeAnchor>
</c:userShapes>
</file>

<file path=ppt/drawings/drawing2.xml><?xml version="1.0" encoding="utf-8"?>
<c:userShapes xmlns:c="http://schemas.openxmlformats.org/drawingml/2006/chart">
  <cdr:relSizeAnchor xmlns:cdr="http://schemas.openxmlformats.org/drawingml/2006/chartDrawing">
    <cdr:from>
      <cdr:x>0.00676</cdr:x>
      <cdr:y>0.01028</cdr:y>
    </cdr:from>
    <cdr:to>
      <cdr:x>0.00676</cdr:x>
      <cdr:y>0.01028</cdr:y>
    </cdr:to>
    <cdr:sp macro="" textlink="">
      <cdr:nvSpPr>
        <cdr:cNvPr id="2" name="UpSlideExportSave" hidden="1">
          <a:extLst xmlns:a="http://schemas.openxmlformats.org/drawingml/2006/main">
            <a:ext uri="{FF2B5EF4-FFF2-40B4-BE49-F238E27FC236}">
              <a16:creationId xmlns:a16="http://schemas.microsoft.com/office/drawing/2014/main" id="{9080A1F1-1B95-C1EB-2BE0-E01A6016EAC1}"/>
            </a:ext>
          </a:extLst>
        </cdr:cNvPr>
        <cdr:cNvSpPr/>
      </cdr:nvSpPr>
      <cdr:spPr>
        <a:xfrm xmlns:a="http://schemas.openxmlformats.org/drawingml/2006/main">
          <a:off x="50800" y="50800"/>
          <a:ext cx="0" cy="0"/>
        </a:xfrm>
        <a:prstGeom xmlns:a="http://schemas.openxmlformats.org/drawingml/2006/main" prst="rect">
          <a:avLst/>
        </a:prstGeom>
        <a:noFill xmlns:a="http://schemas.openxmlformats.org/drawingml/2006/main"/>
        <a:ln xmlns:a="http://schemas.openxmlformats.org/drawingml/2006/main" w="12700" cap="flat" cmpd="sng" algn="ctr">
          <a:noFill/>
          <a:prstDash val="solid"/>
          <a:miter lim="800000"/>
        </a:ln>
        <a:effectLst xmlns:a="http://schemas.openxmlformats.org/drawingml/2006/main"/>
        <a:extLst xmlns:a="http://schemas.openxmlformats.org/drawingml/2006/main">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a:p>
      </cdr:txBody>
    </cdr:sp>
  </cdr:relSizeAnchor>
  <cdr:relSizeAnchor xmlns:cdr="http://schemas.openxmlformats.org/drawingml/2006/chartDrawing">
    <cdr:from>
      <cdr:x>0.00676</cdr:x>
      <cdr:y>0.01028</cdr:y>
    </cdr:from>
    <cdr:to>
      <cdr:x>0.00676</cdr:x>
      <cdr:y>0.01028</cdr:y>
    </cdr:to>
    <cdr:sp macro="" textlink="">
      <cdr:nvSpPr>
        <cdr:cNvPr id="3" name="#UpSlide#ChartHasBeenCopiedWithUpSlideActive#" hidden="1">
          <a:extLst xmlns:a="http://schemas.openxmlformats.org/drawingml/2006/main">
            <a:ext uri="{FF2B5EF4-FFF2-40B4-BE49-F238E27FC236}">
              <a16:creationId xmlns:a16="http://schemas.microsoft.com/office/drawing/2014/main" id="{097217E8-7B6B-49AF-6D52-FD7B0ECF39B7}"/>
            </a:ext>
          </a:extLst>
        </cdr:cNvPr>
        <cdr:cNvSpPr/>
      </cdr:nvSpPr>
      <cdr:spPr>
        <a:xfrm xmlns:a="http://schemas.openxmlformats.org/drawingml/2006/main">
          <a:off x="50800" y="50800"/>
          <a:ext cx="0" cy="0"/>
        </a:xfrm>
        <a:prstGeom xmlns:a="http://schemas.openxmlformats.org/drawingml/2006/main" prst="rect">
          <a:avLst/>
        </a:prstGeom>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fr-F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9FB62C-34C7-C950-6EDA-37D4080E2E27}"/>
              </a:ext>
            </a:extLst>
          </p:cNvPr>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CH"/>
          </a:p>
        </p:txBody>
      </p:sp>
      <p:sp>
        <p:nvSpPr>
          <p:cNvPr id="3" name="Date Placeholder 2">
            <a:extLst>
              <a:ext uri="{FF2B5EF4-FFF2-40B4-BE49-F238E27FC236}">
                <a16:creationId xmlns:a16="http://schemas.microsoft.com/office/drawing/2014/main" id="{F81EFBB5-D2A0-3F2F-F8A6-3BE73464E49A}"/>
              </a:ext>
            </a:extLst>
          </p:cNvPr>
          <p:cNvSpPr>
            <a:spLocks noGrp="1"/>
          </p:cNvSpPr>
          <p:nvPr>
            <p:ph type="dt" sz="quarter" idx="1"/>
          </p:nvPr>
        </p:nvSpPr>
        <p:spPr>
          <a:xfrm>
            <a:off x="3850444" y="0"/>
            <a:ext cx="2945659" cy="498056"/>
          </a:xfrm>
          <a:prstGeom prst="rect">
            <a:avLst/>
          </a:prstGeom>
        </p:spPr>
        <p:txBody>
          <a:bodyPr vert="horz" lIns="91440" tIns="45720" rIns="91440" bIns="45720" rtlCol="0"/>
          <a:lstStyle>
            <a:lvl1pPr algn="r">
              <a:defRPr sz="1200"/>
            </a:lvl1pPr>
          </a:lstStyle>
          <a:p>
            <a:fld id="{3531B123-D5C2-46AB-84D1-B3439C6E55E4}" type="datetimeFigureOut">
              <a:rPr lang="fr-CH" smtClean="0"/>
              <a:t>17.08.2026</a:t>
            </a:fld>
            <a:endParaRPr lang="fr-CH"/>
          </a:p>
        </p:txBody>
      </p:sp>
      <p:sp>
        <p:nvSpPr>
          <p:cNvPr id="4" name="Footer Placeholder 3">
            <a:extLst>
              <a:ext uri="{FF2B5EF4-FFF2-40B4-BE49-F238E27FC236}">
                <a16:creationId xmlns:a16="http://schemas.microsoft.com/office/drawing/2014/main" id="{B96C4A39-9384-3942-F077-81E7BB567B49}"/>
              </a:ext>
            </a:extLst>
          </p:cNvPr>
          <p:cNvSpPr>
            <a:spLocks noGrp="1"/>
          </p:cNvSpPr>
          <p:nvPr>
            <p:ph type="ftr" sz="quarter" idx="2"/>
          </p:nvPr>
        </p:nvSpPr>
        <p:spPr>
          <a:xfrm>
            <a:off x="1" y="9428585"/>
            <a:ext cx="2945659" cy="498055"/>
          </a:xfrm>
          <a:prstGeom prst="rect">
            <a:avLst/>
          </a:prstGeom>
        </p:spPr>
        <p:txBody>
          <a:bodyPr vert="horz" lIns="91440" tIns="45720" rIns="91440" bIns="45720" rtlCol="0" anchor="b"/>
          <a:lstStyle>
            <a:lvl1pPr algn="l">
              <a:defRPr sz="1200"/>
            </a:lvl1pPr>
          </a:lstStyle>
          <a:p>
            <a:endParaRPr lang="fr-CH"/>
          </a:p>
        </p:txBody>
      </p:sp>
      <p:sp>
        <p:nvSpPr>
          <p:cNvPr id="5" name="Slide Number Placeholder 4">
            <a:extLst>
              <a:ext uri="{FF2B5EF4-FFF2-40B4-BE49-F238E27FC236}">
                <a16:creationId xmlns:a16="http://schemas.microsoft.com/office/drawing/2014/main" id="{86DE8807-C32A-5172-B001-63D1D854AC46}"/>
              </a:ext>
            </a:extLst>
          </p:cNvPr>
          <p:cNvSpPr>
            <a:spLocks noGrp="1"/>
          </p:cNvSpPr>
          <p:nvPr>
            <p:ph type="sldNum" sz="quarter" idx="3"/>
          </p:nvPr>
        </p:nvSpPr>
        <p:spPr>
          <a:xfrm>
            <a:off x="3850444" y="9428585"/>
            <a:ext cx="2945659" cy="498055"/>
          </a:xfrm>
          <a:prstGeom prst="rect">
            <a:avLst/>
          </a:prstGeom>
        </p:spPr>
        <p:txBody>
          <a:bodyPr vert="horz" lIns="91440" tIns="45720" rIns="91440" bIns="45720" rtlCol="0" anchor="b"/>
          <a:lstStyle>
            <a:lvl1pPr algn="r">
              <a:defRPr sz="1200"/>
            </a:lvl1pPr>
          </a:lstStyle>
          <a:p>
            <a:fld id="{963FD519-F66F-452D-B925-0199049DD93F}" type="slidenum">
              <a:rPr lang="fr-CH" smtClean="0"/>
              <a:t>‹#›</a:t>
            </a:fld>
            <a:endParaRPr lang="fr-CH"/>
          </a:p>
        </p:txBody>
      </p:sp>
    </p:spTree>
    <p:extLst>
      <p:ext uri="{BB962C8B-B14F-4D97-AF65-F5344CB8AC3E}">
        <p14:creationId xmlns:p14="http://schemas.microsoft.com/office/powerpoint/2010/main" val="910906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4" y="0"/>
            <a:ext cx="2945659" cy="498056"/>
          </a:xfrm>
          <a:prstGeom prst="rect">
            <a:avLst/>
          </a:prstGeom>
        </p:spPr>
        <p:txBody>
          <a:bodyPr vert="horz" lIns="91440" tIns="45720" rIns="91440" bIns="45720" rtlCol="0"/>
          <a:lstStyle>
            <a:lvl1pPr algn="r">
              <a:defRPr sz="1200"/>
            </a:lvl1pPr>
          </a:lstStyle>
          <a:p>
            <a:fld id="{5E93E09A-228D-4562-A1B1-13015B77C2C1}" type="datetimeFigureOut">
              <a:rPr lang="fr-FR" smtClean="0"/>
              <a:t>17/08/2026</a:t>
            </a:fld>
            <a:endParaRPr lang="fr-FR"/>
          </a:p>
        </p:txBody>
      </p:sp>
      <p:sp>
        <p:nvSpPr>
          <p:cNvPr id="4" name="Espace réservé de l'image des diapositives 3"/>
          <p:cNvSpPr>
            <a:spLocks noGrp="1" noRot="1" noChangeAspect="1"/>
          </p:cNvSpPr>
          <p:nvPr>
            <p:ph type="sldImg" idx="2"/>
          </p:nvPr>
        </p:nvSpPr>
        <p:spPr>
          <a:xfrm>
            <a:off x="1030288" y="1241425"/>
            <a:ext cx="4737100" cy="3349625"/>
          </a:xfrm>
          <a:prstGeom prst="rect">
            <a:avLst/>
          </a:prstGeom>
          <a:noFill/>
          <a:ln w="12700">
            <a:solidFill>
              <a:prstClr val="black"/>
            </a:solidFill>
          </a:ln>
        </p:spPr>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428585"/>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4" y="9428585"/>
            <a:ext cx="2945659" cy="498055"/>
          </a:xfrm>
          <a:prstGeom prst="rect">
            <a:avLst/>
          </a:prstGeom>
        </p:spPr>
        <p:txBody>
          <a:bodyPr vert="horz" lIns="91440" tIns="45720" rIns="91440" bIns="45720" rtlCol="0" anchor="b"/>
          <a:lstStyle>
            <a:lvl1pPr algn="r">
              <a:defRPr sz="1200"/>
            </a:lvl1pPr>
          </a:lstStyle>
          <a:p>
            <a:fld id="{CDC1F2C2-3FE6-4E84-9695-8A42647BC1FB}" type="slidenum">
              <a:rPr lang="fr-FR" smtClean="0"/>
              <a:t>‹#›</a:t>
            </a:fld>
            <a:endParaRPr lang="fr-FR"/>
          </a:p>
        </p:txBody>
      </p:sp>
    </p:spTree>
    <p:extLst>
      <p:ext uri="{BB962C8B-B14F-4D97-AF65-F5344CB8AC3E}">
        <p14:creationId xmlns:p14="http://schemas.microsoft.com/office/powerpoint/2010/main" val="1155130610"/>
      </p:ext>
    </p:extLst>
  </p:cSld>
  <p:clrMap bg1="lt1" tx1="dk1" bg2="lt2" tx2="dk2" accent1="accent1" accent2="accent2" accent3="accent3" accent4="accent4" accent5="accent5" accent6="accent6" hlink="hlink" folHlink="folHlink"/>
  <p:notesStyle>
    <a:lvl1pPr marL="0" algn="l" defTabSz="914261" rtl="0" eaLnBrk="1" latinLnBrk="0" hangingPunct="1">
      <a:defRPr sz="1199" kern="1200">
        <a:solidFill>
          <a:schemeClr val="tx1"/>
        </a:solidFill>
        <a:latin typeface="+mn-lt"/>
        <a:ea typeface="+mn-ea"/>
        <a:cs typeface="+mn-cs"/>
      </a:defRPr>
    </a:lvl1pPr>
    <a:lvl2pPr marL="457129" algn="l" defTabSz="914261" rtl="0" eaLnBrk="1" latinLnBrk="0" hangingPunct="1">
      <a:defRPr sz="1199" kern="1200">
        <a:solidFill>
          <a:schemeClr val="tx1"/>
        </a:solidFill>
        <a:latin typeface="+mn-lt"/>
        <a:ea typeface="+mn-ea"/>
        <a:cs typeface="+mn-cs"/>
      </a:defRPr>
    </a:lvl2pPr>
    <a:lvl3pPr marL="914261" algn="l" defTabSz="914261" rtl="0" eaLnBrk="1" latinLnBrk="0" hangingPunct="1">
      <a:defRPr sz="1199" kern="1200">
        <a:solidFill>
          <a:schemeClr val="tx1"/>
        </a:solidFill>
        <a:latin typeface="+mn-lt"/>
        <a:ea typeface="+mn-ea"/>
        <a:cs typeface="+mn-cs"/>
      </a:defRPr>
    </a:lvl3pPr>
    <a:lvl4pPr marL="1371389" algn="l" defTabSz="914261" rtl="0" eaLnBrk="1" latinLnBrk="0" hangingPunct="1">
      <a:defRPr sz="1199" kern="1200">
        <a:solidFill>
          <a:schemeClr val="tx1"/>
        </a:solidFill>
        <a:latin typeface="+mn-lt"/>
        <a:ea typeface="+mn-ea"/>
        <a:cs typeface="+mn-cs"/>
      </a:defRPr>
    </a:lvl4pPr>
    <a:lvl5pPr marL="1828519" algn="l" defTabSz="914261" rtl="0" eaLnBrk="1" latinLnBrk="0" hangingPunct="1">
      <a:defRPr sz="1199" kern="1200">
        <a:solidFill>
          <a:schemeClr val="tx1"/>
        </a:solidFill>
        <a:latin typeface="+mn-lt"/>
        <a:ea typeface="+mn-ea"/>
        <a:cs typeface="+mn-cs"/>
      </a:defRPr>
    </a:lvl5pPr>
    <a:lvl6pPr marL="2285649" algn="l" defTabSz="914261" rtl="0" eaLnBrk="1" latinLnBrk="0" hangingPunct="1">
      <a:defRPr sz="1199" kern="1200">
        <a:solidFill>
          <a:schemeClr val="tx1"/>
        </a:solidFill>
        <a:latin typeface="+mn-lt"/>
        <a:ea typeface="+mn-ea"/>
        <a:cs typeface="+mn-cs"/>
      </a:defRPr>
    </a:lvl6pPr>
    <a:lvl7pPr marL="2742778" algn="l" defTabSz="914261" rtl="0" eaLnBrk="1" latinLnBrk="0" hangingPunct="1">
      <a:defRPr sz="1199" kern="1200">
        <a:solidFill>
          <a:schemeClr val="tx1"/>
        </a:solidFill>
        <a:latin typeface="+mn-lt"/>
        <a:ea typeface="+mn-ea"/>
        <a:cs typeface="+mn-cs"/>
      </a:defRPr>
    </a:lvl7pPr>
    <a:lvl8pPr marL="3199907" algn="l" defTabSz="914261" rtl="0" eaLnBrk="1" latinLnBrk="0" hangingPunct="1">
      <a:defRPr sz="1199" kern="1200">
        <a:solidFill>
          <a:schemeClr val="tx1"/>
        </a:solidFill>
        <a:latin typeface="+mn-lt"/>
        <a:ea typeface="+mn-ea"/>
        <a:cs typeface="+mn-cs"/>
      </a:defRPr>
    </a:lvl8pPr>
    <a:lvl9pPr marL="3657037" algn="l" defTabSz="914261"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0DEC2-83E7-0E2C-49CA-B9CEEEF83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59EFB-4143-AFDE-0AEE-503A3AC659EE}"/>
              </a:ext>
            </a:extLst>
          </p:cNvPr>
          <p:cNvSpPr>
            <a:spLocks noGrp="1" noRot="1" noChangeAspect="1"/>
          </p:cNvSpPr>
          <p:nvPr>
            <p:ph type="sldImg"/>
          </p:nvPr>
        </p:nvSpPr>
        <p:spPr/>
        <p:txBody>
          <a:bodyPr/>
          <a:lstStyle/>
          <a:p>
            <a:endParaRPr lang="en-CH"/>
          </a:p>
        </p:txBody>
      </p:sp>
      <p:sp>
        <p:nvSpPr>
          <p:cNvPr id="3" name="Notes Placeholder 2">
            <a:extLst>
              <a:ext uri="{FF2B5EF4-FFF2-40B4-BE49-F238E27FC236}">
                <a16:creationId xmlns:a16="http://schemas.microsoft.com/office/drawing/2014/main" id="{11CE799E-74CF-9A91-D49C-79BE39BF299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C5FA5D7-ACCA-2EE7-1D86-47D243274107}"/>
              </a:ext>
            </a:extLst>
          </p:cNvPr>
          <p:cNvSpPr>
            <a:spLocks noGrp="1"/>
          </p:cNvSpPr>
          <p:nvPr>
            <p:ph type="sldNum" sz="quarter" idx="5"/>
          </p:nvPr>
        </p:nvSpPr>
        <p:spPr/>
        <p:txBody>
          <a:bodyPr/>
          <a:lstStyle/>
          <a:p>
            <a:fld id="{CDC1F2C2-3FE6-4E84-9695-8A42647BC1FB}" type="slidenum">
              <a:rPr lang="fr-FR" smtClean="0"/>
              <a:t>23</a:t>
            </a:fld>
            <a:endParaRPr lang="fr-FR"/>
          </a:p>
        </p:txBody>
      </p:sp>
    </p:spTree>
    <p:extLst>
      <p:ext uri="{BB962C8B-B14F-4D97-AF65-F5344CB8AC3E}">
        <p14:creationId xmlns:p14="http://schemas.microsoft.com/office/powerpoint/2010/main" val="3334157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DC1F2C2-3FE6-4E84-9695-8A42647BC1FB}" type="slidenum">
              <a:rPr lang="fr-FR" smtClean="0"/>
              <a:t>24</a:t>
            </a:fld>
            <a:endParaRPr lang="fr-FR"/>
          </a:p>
        </p:txBody>
      </p:sp>
    </p:spTree>
    <p:extLst>
      <p:ext uri="{BB962C8B-B14F-4D97-AF65-F5344CB8AC3E}">
        <p14:creationId xmlns:p14="http://schemas.microsoft.com/office/powerpoint/2010/main" val="216597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26</a:t>
            </a:fld>
            <a:endParaRPr lang="fr-FR"/>
          </a:p>
        </p:txBody>
      </p:sp>
    </p:spTree>
    <p:extLst>
      <p:ext uri="{BB962C8B-B14F-4D97-AF65-F5344CB8AC3E}">
        <p14:creationId xmlns:p14="http://schemas.microsoft.com/office/powerpoint/2010/main" val="1955302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27</a:t>
            </a:fld>
            <a:endParaRPr lang="fr-FR"/>
          </a:p>
        </p:txBody>
      </p:sp>
    </p:spTree>
    <p:extLst>
      <p:ext uri="{BB962C8B-B14F-4D97-AF65-F5344CB8AC3E}">
        <p14:creationId xmlns:p14="http://schemas.microsoft.com/office/powerpoint/2010/main" val="904084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0DDFB-1E3C-335D-F481-B2C11FD77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3CCF4-B15A-4C82-F5F8-7DF6EEE57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864FE-5CC0-0420-3F47-199FAA985567}"/>
              </a:ext>
            </a:extLst>
          </p:cNvPr>
          <p:cNvSpPr>
            <a:spLocks noGrp="1"/>
          </p:cNvSpPr>
          <p:nvPr>
            <p:ph type="body" idx="1"/>
          </p:nvPr>
        </p:nvSpPr>
        <p:spPr/>
        <p:txBody>
          <a:bodyPr/>
          <a:lstStyle/>
          <a:p>
            <a:endParaRPr lang="fr-CH"/>
          </a:p>
        </p:txBody>
      </p:sp>
      <p:sp>
        <p:nvSpPr>
          <p:cNvPr id="4" name="Slide Number Placeholder 3">
            <a:extLst>
              <a:ext uri="{FF2B5EF4-FFF2-40B4-BE49-F238E27FC236}">
                <a16:creationId xmlns:a16="http://schemas.microsoft.com/office/drawing/2014/main" id="{D3793791-9556-BBB1-5F98-29A0A07D2E1D}"/>
              </a:ext>
            </a:extLst>
          </p:cNvPr>
          <p:cNvSpPr>
            <a:spLocks noGrp="1"/>
          </p:cNvSpPr>
          <p:nvPr>
            <p:ph type="sldNum" sz="quarter" idx="5"/>
          </p:nvPr>
        </p:nvSpPr>
        <p:spPr/>
        <p:txBody>
          <a:bodyPr/>
          <a:lstStyle/>
          <a:p>
            <a:fld id="{CDC1F2C2-3FE6-4E84-9695-8A42647BC1FB}" type="slidenum">
              <a:rPr lang="fr-FR" smtClean="0"/>
              <a:t>28</a:t>
            </a:fld>
            <a:endParaRPr lang="fr-FR"/>
          </a:p>
        </p:txBody>
      </p:sp>
    </p:spTree>
    <p:extLst>
      <p:ext uri="{BB962C8B-B14F-4D97-AF65-F5344CB8AC3E}">
        <p14:creationId xmlns:p14="http://schemas.microsoft.com/office/powerpoint/2010/main" val="4181384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29</a:t>
            </a:fld>
            <a:endParaRPr lang="fr-FR"/>
          </a:p>
        </p:txBody>
      </p:sp>
    </p:spTree>
    <p:extLst>
      <p:ext uri="{BB962C8B-B14F-4D97-AF65-F5344CB8AC3E}">
        <p14:creationId xmlns:p14="http://schemas.microsoft.com/office/powerpoint/2010/main" val="1115182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30</a:t>
            </a:fld>
            <a:endParaRPr lang="fr-FR"/>
          </a:p>
        </p:txBody>
      </p:sp>
    </p:spTree>
    <p:extLst>
      <p:ext uri="{BB962C8B-B14F-4D97-AF65-F5344CB8AC3E}">
        <p14:creationId xmlns:p14="http://schemas.microsoft.com/office/powerpoint/2010/main" val="4290504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sp>
        <p:nvSpPr>
          <p:cNvPr id="10" name="Title 9">
            <a:extLst>
              <a:ext uri="{FF2B5EF4-FFF2-40B4-BE49-F238E27FC236}">
                <a16:creationId xmlns:a16="http://schemas.microsoft.com/office/drawing/2014/main" id="{F9C284E6-090E-4772-71F2-BE9D9ACEE7A0}"/>
              </a:ext>
            </a:extLst>
          </p:cNvPr>
          <p:cNvSpPr>
            <a:spLocks noGrp="1"/>
          </p:cNvSpPr>
          <p:nvPr>
            <p:ph type="title" hasCustomPrompt="1"/>
          </p:nvPr>
        </p:nvSpPr>
        <p:spPr>
          <a:xfrm>
            <a:off x="665163" y="3675152"/>
            <a:ext cx="9398001" cy="864587"/>
          </a:xfrm>
        </p:spPr>
        <p:txBody>
          <a:bodyPr/>
          <a:lstStyle>
            <a:lvl1pPr algn="ctr">
              <a:defRPr sz="2800">
                <a:solidFill>
                  <a:schemeClr val="bg1"/>
                </a:solidFill>
              </a:defRPr>
            </a:lvl1pPr>
          </a:lstStyle>
          <a:p>
            <a:r>
              <a:rPr lang="en-GB"/>
              <a:t>Click to edit title</a:t>
            </a:r>
          </a:p>
        </p:txBody>
      </p:sp>
    </p:spTree>
    <p:extLst>
      <p:ext uri="{BB962C8B-B14F-4D97-AF65-F5344CB8AC3E}">
        <p14:creationId xmlns:p14="http://schemas.microsoft.com/office/powerpoint/2010/main" val="109581210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5166" y="5455024"/>
            <a:ext cx="3505819" cy="1028391"/>
          </a:xfrm>
          <a:noFill/>
        </p:spPr>
        <p:txBody>
          <a:bodyPr wrap="square" lIns="0" tIns="0" rIns="0" bIns="0" anchor="t" anchorCtr="0">
            <a:noAutofit/>
          </a:bodyPr>
          <a:lstStyle>
            <a:lvl1pPr algn="l">
              <a:lnSpc>
                <a:spcPct val="100000"/>
              </a:lnSpc>
              <a:defRPr sz="2400" b="0" cap="none" baseline="0">
                <a:gradFill flip="none" rotWithShape="1">
                  <a:gsLst>
                    <a:gs pos="0">
                      <a:schemeClr val="accent4"/>
                    </a:gs>
                    <a:gs pos="100000">
                      <a:srgbClr val="FFA400"/>
                    </a:gs>
                  </a:gsLst>
                  <a:lin ang="0" scaled="1"/>
                </a:gradFill>
                <a:latin typeface="+mj-lt"/>
              </a:defRPr>
            </a:lvl1pPr>
          </a:lstStyle>
          <a:p>
            <a:r>
              <a:rPr lang="en-GB" noProof="0"/>
              <a:t>Title on one </a:t>
            </a:r>
            <a:br>
              <a:rPr lang="en-GB" noProof="0"/>
            </a:br>
            <a:r>
              <a:rPr lang="en-GB" noProof="0"/>
              <a:t>or two lines</a:t>
            </a:r>
          </a:p>
        </p:txBody>
      </p:sp>
      <p:sp>
        <p:nvSpPr>
          <p:cNvPr id="7" name="Espace réservé du texte 6">
            <a:extLst>
              <a:ext uri="{FF2B5EF4-FFF2-40B4-BE49-F238E27FC236}">
                <a16:creationId xmlns:a16="http://schemas.microsoft.com/office/drawing/2014/main" id="{C0537D46-3E08-43B9-A8FE-19337D7C171B}"/>
              </a:ext>
            </a:extLst>
          </p:cNvPr>
          <p:cNvSpPr>
            <a:spLocks noGrp="1"/>
          </p:cNvSpPr>
          <p:nvPr>
            <p:ph type="body" sz="quarter" idx="13" hasCustomPrompt="1"/>
          </p:nvPr>
        </p:nvSpPr>
        <p:spPr>
          <a:xfrm>
            <a:off x="665166" y="4907572"/>
            <a:ext cx="3023135" cy="379589"/>
          </a:xfrm>
          <a:noFill/>
        </p:spPr>
        <p:txBody>
          <a:bodyPr lIns="0" tIns="0" rIns="0" bIns="0" anchor="t"/>
          <a:lstStyle>
            <a:lvl1pPr marL="0" indent="0">
              <a:spcBef>
                <a:spcPct val="0"/>
              </a:spcBef>
              <a:spcAft>
                <a:spcPct val="0"/>
              </a:spcAft>
              <a:buNone/>
              <a:defRPr sz="954" b="0" cap="none" baseline="0">
                <a:solidFill>
                  <a:srgbClr val="4B5F80"/>
                </a:solidFill>
              </a:defRPr>
            </a:lvl1pPr>
          </a:lstStyle>
          <a:p>
            <a:pPr lvl="0"/>
            <a:r>
              <a:rPr lang="en-GB"/>
              <a:t>INTRO LINE</a:t>
            </a:r>
          </a:p>
        </p:txBody>
      </p:sp>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pic>
        <p:nvPicPr>
          <p:cNvPr id="3" name="Picture 2">
            <a:extLst>
              <a:ext uri="{FF2B5EF4-FFF2-40B4-BE49-F238E27FC236}">
                <a16:creationId xmlns:a16="http://schemas.microsoft.com/office/drawing/2014/main" id="{6536F54C-E62B-0D11-424E-908F7C5AFDD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65166" y="861501"/>
            <a:ext cx="1255672" cy="1133762"/>
          </a:xfrm>
          <a:prstGeom prst="rect">
            <a:avLst/>
          </a:prstGeom>
        </p:spPr>
      </p:pic>
    </p:spTree>
    <p:extLst>
      <p:ext uri="{BB962C8B-B14F-4D97-AF65-F5344CB8AC3E}">
        <p14:creationId xmlns:p14="http://schemas.microsoft.com/office/powerpoint/2010/main" val="61388173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sp>
        <p:nvSpPr>
          <p:cNvPr id="6" name="Title 1">
            <a:extLst>
              <a:ext uri="{FF2B5EF4-FFF2-40B4-BE49-F238E27FC236}">
                <a16:creationId xmlns:a16="http://schemas.microsoft.com/office/drawing/2014/main" id="{BCB30788-EE0B-1E3E-4889-FDDDF6F0C1E3}"/>
              </a:ext>
            </a:extLst>
          </p:cNvPr>
          <p:cNvSpPr txBox="1"/>
          <p:nvPr userDrawn="1"/>
        </p:nvSpPr>
        <p:spPr>
          <a:xfrm>
            <a:off x="675137" y="1442131"/>
            <a:ext cx="4808826" cy="784337"/>
          </a:xfrm>
          <a:prstGeom prst="rect">
            <a:avLst/>
          </a:prstGeom>
        </p:spPr>
        <p:txBody>
          <a:bodyPr vert="horz" lIns="0" tIns="0" rIns="0" bIns="0" rtlCol="0" anchor="t" anchorCtr="0">
            <a:noAutofit/>
          </a:bodyPr>
          <a:lst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a:lstStyle>
          <a:p>
            <a:r>
              <a:rPr lang="fr-FR"/>
              <a:t>Agenda</a:t>
            </a:r>
          </a:p>
        </p:txBody>
      </p:sp>
      <p:sp>
        <p:nvSpPr>
          <p:cNvPr id="18" name="Text Placeholder 21">
            <a:extLst>
              <a:ext uri="{FF2B5EF4-FFF2-40B4-BE49-F238E27FC236}">
                <a16:creationId xmlns:a16="http://schemas.microsoft.com/office/drawing/2014/main" id="{8D056D14-6552-602E-166B-3EEA11274939}"/>
              </a:ext>
            </a:extLst>
          </p:cNvPr>
          <p:cNvSpPr>
            <a:spLocks noGrp="1"/>
          </p:cNvSpPr>
          <p:nvPr>
            <p:ph type="body" sz="quarter" idx="20" hasCustomPrompt="1"/>
          </p:nvPr>
        </p:nvSpPr>
        <p:spPr>
          <a:xfrm>
            <a:off x="1064392" y="3083075"/>
            <a:ext cx="2851200" cy="303354"/>
          </a:xfrm>
          <a:solidFill>
            <a:schemeClr val="accent3"/>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19" name="Text Placeholder 21">
            <a:extLst>
              <a:ext uri="{FF2B5EF4-FFF2-40B4-BE49-F238E27FC236}">
                <a16:creationId xmlns:a16="http://schemas.microsoft.com/office/drawing/2014/main" id="{7D0A2B12-6E02-0B8D-4BA8-C3621FFD7468}"/>
              </a:ext>
            </a:extLst>
          </p:cNvPr>
          <p:cNvSpPr>
            <a:spLocks noGrp="1"/>
          </p:cNvSpPr>
          <p:nvPr>
            <p:ph type="body" sz="quarter" idx="21" hasCustomPrompt="1"/>
          </p:nvPr>
        </p:nvSpPr>
        <p:spPr>
          <a:xfrm>
            <a:off x="1064392" y="3446004"/>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0" name="Text Placeholder 21">
            <a:extLst>
              <a:ext uri="{FF2B5EF4-FFF2-40B4-BE49-F238E27FC236}">
                <a16:creationId xmlns:a16="http://schemas.microsoft.com/office/drawing/2014/main" id="{7629280E-8681-E8FE-0396-17CBE1FD485E}"/>
              </a:ext>
            </a:extLst>
          </p:cNvPr>
          <p:cNvSpPr>
            <a:spLocks noGrp="1"/>
          </p:cNvSpPr>
          <p:nvPr>
            <p:ph type="body" sz="quarter" idx="22" hasCustomPrompt="1"/>
          </p:nvPr>
        </p:nvSpPr>
        <p:spPr>
          <a:xfrm>
            <a:off x="1064392" y="3808933"/>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1" name="Text Placeholder 21">
            <a:extLst>
              <a:ext uri="{FF2B5EF4-FFF2-40B4-BE49-F238E27FC236}">
                <a16:creationId xmlns:a16="http://schemas.microsoft.com/office/drawing/2014/main" id="{C4DDC98F-5EEC-B05A-0B96-D4B63E95F155}"/>
              </a:ext>
            </a:extLst>
          </p:cNvPr>
          <p:cNvSpPr>
            <a:spLocks noGrp="1"/>
          </p:cNvSpPr>
          <p:nvPr>
            <p:ph type="body" sz="quarter" idx="23" hasCustomPrompt="1"/>
          </p:nvPr>
        </p:nvSpPr>
        <p:spPr>
          <a:xfrm>
            <a:off x="1064392" y="417186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2" name="Text Placeholder 21">
            <a:extLst>
              <a:ext uri="{FF2B5EF4-FFF2-40B4-BE49-F238E27FC236}">
                <a16:creationId xmlns:a16="http://schemas.microsoft.com/office/drawing/2014/main" id="{DB233D09-5BF5-BAAB-046E-311A4E3F2476}"/>
              </a:ext>
            </a:extLst>
          </p:cNvPr>
          <p:cNvSpPr>
            <a:spLocks noGrp="1"/>
          </p:cNvSpPr>
          <p:nvPr>
            <p:ph type="body" sz="quarter" idx="24" hasCustomPrompt="1"/>
          </p:nvPr>
        </p:nvSpPr>
        <p:spPr>
          <a:xfrm>
            <a:off x="1064392" y="453479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3" name="Text Placeholder 21">
            <a:extLst>
              <a:ext uri="{FF2B5EF4-FFF2-40B4-BE49-F238E27FC236}">
                <a16:creationId xmlns:a16="http://schemas.microsoft.com/office/drawing/2014/main" id="{C11D3BD7-7B6A-46D1-9A9B-E3FED282711F}"/>
              </a:ext>
            </a:extLst>
          </p:cNvPr>
          <p:cNvSpPr>
            <a:spLocks noGrp="1"/>
          </p:cNvSpPr>
          <p:nvPr>
            <p:ph type="body" sz="quarter" idx="25" hasCustomPrompt="1"/>
          </p:nvPr>
        </p:nvSpPr>
        <p:spPr>
          <a:xfrm>
            <a:off x="665161" y="3083075"/>
            <a:ext cx="331013" cy="303354"/>
          </a:xfrm>
          <a:noFill/>
        </p:spPr>
        <p:txBody>
          <a:bodyPr lIns="72000" rIns="72000" bIns="0" anchor="ctr" anchorCtr="0"/>
          <a:lstStyle>
            <a:lvl1pPr marL="0" indent="0">
              <a:buNone/>
              <a:defRPr sz="1050" b="1" i="0">
                <a:solidFill>
                  <a:schemeClr val="accent3"/>
                </a:solidFill>
                <a:latin typeface="Nunito" pitchFamily="2" charset="77"/>
              </a:defRPr>
            </a:lvl1pPr>
          </a:lstStyle>
          <a:p>
            <a:pPr lvl="0"/>
            <a:r>
              <a:rPr lang="fr-CH"/>
              <a:t>page</a:t>
            </a:r>
            <a:endParaRPr lang="en-GB"/>
          </a:p>
        </p:txBody>
      </p:sp>
      <p:sp>
        <p:nvSpPr>
          <p:cNvPr id="24" name="Text Placeholder 21">
            <a:extLst>
              <a:ext uri="{FF2B5EF4-FFF2-40B4-BE49-F238E27FC236}">
                <a16:creationId xmlns:a16="http://schemas.microsoft.com/office/drawing/2014/main" id="{332997ED-3D78-F97E-AD07-6499F495A9AD}"/>
              </a:ext>
            </a:extLst>
          </p:cNvPr>
          <p:cNvSpPr>
            <a:spLocks noGrp="1"/>
          </p:cNvSpPr>
          <p:nvPr>
            <p:ph type="body" sz="quarter" idx="26" hasCustomPrompt="1"/>
          </p:nvPr>
        </p:nvSpPr>
        <p:spPr>
          <a:xfrm>
            <a:off x="665161" y="3446004"/>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fr-CH"/>
              <a:t>page</a:t>
            </a:r>
            <a:endParaRPr lang="en-GB"/>
          </a:p>
        </p:txBody>
      </p:sp>
      <p:sp>
        <p:nvSpPr>
          <p:cNvPr id="25" name="Text Placeholder 21">
            <a:extLst>
              <a:ext uri="{FF2B5EF4-FFF2-40B4-BE49-F238E27FC236}">
                <a16:creationId xmlns:a16="http://schemas.microsoft.com/office/drawing/2014/main" id="{5291EB23-3F11-F04B-957B-7497B18673E1}"/>
              </a:ext>
            </a:extLst>
          </p:cNvPr>
          <p:cNvSpPr>
            <a:spLocks noGrp="1"/>
          </p:cNvSpPr>
          <p:nvPr>
            <p:ph type="body" sz="quarter" idx="27" hasCustomPrompt="1"/>
          </p:nvPr>
        </p:nvSpPr>
        <p:spPr>
          <a:xfrm>
            <a:off x="665161" y="3808933"/>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6" name="Text Placeholder 21">
            <a:extLst>
              <a:ext uri="{FF2B5EF4-FFF2-40B4-BE49-F238E27FC236}">
                <a16:creationId xmlns:a16="http://schemas.microsoft.com/office/drawing/2014/main" id="{8FE067F3-B309-D196-AE89-DF3010BF2053}"/>
              </a:ext>
            </a:extLst>
          </p:cNvPr>
          <p:cNvSpPr>
            <a:spLocks noGrp="1"/>
          </p:cNvSpPr>
          <p:nvPr>
            <p:ph type="body" sz="quarter" idx="28" hasCustomPrompt="1"/>
          </p:nvPr>
        </p:nvSpPr>
        <p:spPr>
          <a:xfrm>
            <a:off x="665161" y="417186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7" name="Text Placeholder 21">
            <a:extLst>
              <a:ext uri="{FF2B5EF4-FFF2-40B4-BE49-F238E27FC236}">
                <a16:creationId xmlns:a16="http://schemas.microsoft.com/office/drawing/2014/main" id="{DE62711F-A766-B9C1-A992-9147EF6CD00B}"/>
              </a:ext>
            </a:extLst>
          </p:cNvPr>
          <p:cNvSpPr>
            <a:spLocks noGrp="1"/>
          </p:cNvSpPr>
          <p:nvPr>
            <p:ph type="body" sz="quarter" idx="29" hasCustomPrompt="1"/>
          </p:nvPr>
        </p:nvSpPr>
        <p:spPr>
          <a:xfrm>
            <a:off x="665161" y="453479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Tree>
    <p:extLst>
      <p:ext uri="{BB962C8B-B14F-4D97-AF65-F5344CB8AC3E}">
        <p14:creationId xmlns:p14="http://schemas.microsoft.com/office/powerpoint/2010/main" val="194780530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gradFill flip="none" rotWithShape="1">
                  <a:gsLst>
                    <a:gs pos="0">
                      <a:schemeClr val="accent4"/>
                    </a:gs>
                    <a:gs pos="100000">
                      <a:srgbClr val="FFA400"/>
                    </a:gs>
                  </a:gsLst>
                  <a:lin ang="0" scaled="1"/>
                </a:gradFill>
              </a:defRPr>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5522650" y="4782896"/>
            <a:ext cx="4536000" cy="180000"/>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7CF13E4-BAB6-8297-CE1C-3E6F9B0D6037}"/>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22176982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5" name="Rectangle 4">
            <a:extLst>
              <a:ext uri="{FF2B5EF4-FFF2-40B4-BE49-F238E27FC236}">
                <a16:creationId xmlns:a16="http://schemas.microsoft.com/office/drawing/2014/main" id="{77544857-5437-1C3C-1478-9EC6F18E4D71}"/>
              </a:ext>
            </a:extLst>
          </p:cNvPr>
          <p:cNvSpPr/>
          <p:nvPr userDrawn="1"/>
        </p:nvSpPr>
        <p:spPr>
          <a:xfrm>
            <a:off x="5529992"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Text Placeholder 4">
            <a:extLst>
              <a:ext uri="{FF2B5EF4-FFF2-40B4-BE49-F238E27FC236}">
                <a16:creationId xmlns:a16="http://schemas.microsoft.com/office/drawing/2014/main" id="{F00E8640-ABD2-F67E-20F2-78BF41DB4461}"/>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69463738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7" y="4782895"/>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0625" y="4782893"/>
            <a:ext cx="2970000" cy="1877458"/>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098690" y="4776109"/>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506"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6344"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103034"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377"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911215" y="4782896"/>
            <a:ext cx="2968821"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9280"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113008E-E9EE-C626-8405-308DAA976974}"/>
              </a:ext>
            </a:extLst>
          </p:cNvPr>
          <p:cNvSpPr>
            <a:spLocks noGrp="1"/>
          </p:cNvSpPr>
          <p:nvPr>
            <p:ph type="body" sz="quarter" idx="14" hasCustomPrompt="1"/>
          </p:nvPr>
        </p:nvSpPr>
        <p:spPr>
          <a:xfrm>
            <a:off x="665163" y="1939097"/>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898478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8688" y="2795336"/>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5398" y="2795334"/>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A4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100055" y="2788550"/>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105"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4815"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099472"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4343"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Rectangle 5">
            <a:extLst>
              <a:ext uri="{FF2B5EF4-FFF2-40B4-BE49-F238E27FC236}">
                <a16:creationId xmlns:a16="http://schemas.microsoft.com/office/drawing/2014/main" id="{85E32EFA-1A66-4183-CDD0-A1DA0186E23B}"/>
              </a:ext>
            </a:extLst>
          </p:cNvPr>
          <p:cNvSpPr/>
          <p:nvPr userDrawn="1"/>
        </p:nvSpPr>
        <p:spPr>
          <a:xfrm>
            <a:off x="390968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1" name="Text Placeholder 4">
            <a:extLst>
              <a:ext uri="{FF2B5EF4-FFF2-40B4-BE49-F238E27FC236}">
                <a16:creationId xmlns:a16="http://schemas.microsoft.com/office/drawing/2014/main" id="{5F6BD925-AEFF-89C2-27D1-9169397386C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28016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798541" y="2788550"/>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798110"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4325"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16" name="Text Placeholder 4">
            <a:extLst>
              <a:ext uri="{FF2B5EF4-FFF2-40B4-BE49-F238E27FC236}">
                <a16:creationId xmlns:a16="http://schemas.microsoft.com/office/drawing/2014/main" id="{ED73ADEE-F9BE-CE96-E209-4D698D3BE133}"/>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083674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802457"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802456"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3764"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7" name="Text Placeholder 4">
            <a:extLst>
              <a:ext uri="{FF2B5EF4-FFF2-40B4-BE49-F238E27FC236}">
                <a16:creationId xmlns:a16="http://schemas.microsoft.com/office/drawing/2014/main" id="{FEA4ACDE-C775-D6B1-8096-BB27A0B53DD2}"/>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8415812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
        <p:nvSpPr>
          <p:cNvPr id="4" name="Text Placeholder 4">
            <a:extLst>
              <a:ext uri="{FF2B5EF4-FFF2-40B4-BE49-F238E27FC236}">
                <a16:creationId xmlns:a16="http://schemas.microsoft.com/office/drawing/2014/main" id="{65A96556-A5D3-7789-EFBE-FF07F9131256}"/>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283393489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EEA84D-5FF5-4C87-A8CD-2FE2E91BC22C}"/>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F9175149-A099-4F41-8BFB-1C37F0AAFC21}"/>
              </a:ext>
            </a:extLst>
          </p:cNvPr>
          <p:cNvSpPr>
            <a:spLocks noGrp="1"/>
          </p:cNvSpPr>
          <p:nvPr>
            <p:ph sz="quarter" idx="16" hasCustomPrompt="1"/>
          </p:nvPr>
        </p:nvSpPr>
        <p:spPr>
          <a:xfrm>
            <a:off x="5882566"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D757474-7227-4BDD-870D-FF87BDF76B07}"/>
              </a:ext>
            </a:extLst>
          </p:cNvPr>
          <p:cNvSpPr>
            <a:spLocks noGrp="1"/>
          </p:cNvSpPr>
          <p:nvPr>
            <p:ph sz="quarter" idx="15" hasCustomPrompt="1"/>
          </p:nvPr>
        </p:nvSpPr>
        <p:spPr>
          <a:xfrm>
            <a:off x="665167"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612FC3BC-31D0-3E8B-B6CC-43063BD0B67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94799196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678241-41CF-4C36-8136-3B5EFF59525B}"/>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8F171A6D-C546-417D-A82D-7DBA9617B505}"/>
              </a:ext>
            </a:extLst>
          </p:cNvPr>
          <p:cNvSpPr>
            <a:spLocks noGrp="1"/>
          </p:cNvSpPr>
          <p:nvPr>
            <p:ph sz="quarter" idx="16" hasCustomPrompt="1"/>
          </p:nvPr>
        </p:nvSpPr>
        <p:spPr>
          <a:xfrm>
            <a:off x="3986909" y="2802443"/>
            <a:ext cx="6081019"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F9062DF-55B9-4B16-B9B3-10FA793D4390}"/>
              </a:ext>
            </a:extLst>
          </p:cNvPr>
          <p:cNvSpPr>
            <a:spLocks noGrp="1"/>
          </p:cNvSpPr>
          <p:nvPr>
            <p:ph sz="quarter" idx="15" hasCustomPrompt="1"/>
          </p:nvPr>
        </p:nvSpPr>
        <p:spPr>
          <a:xfrm>
            <a:off x="665165"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84BB08B8-AC6F-1448-D859-175B2E33604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1991498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s (2/3, 1/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D86C2-03CA-42D7-B168-CA51FF1A6CCF}"/>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4EFDDDA8-C558-4002-A15E-2C7179B00530}"/>
              </a:ext>
            </a:extLst>
          </p:cNvPr>
          <p:cNvSpPr>
            <a:spLocks noGrp="1"/>
          </p:cNvSpPr>
          <p:nvPr>
            <p:ph sz="quarter" idx="16" hasCustomPrompt="1"/>
          </p:nvPr>
        </p:nvSpPr>
        <p:spPr>
          <a:xfrm>
            <a:off x="7348764"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9E177CAB-09E9-45D9-B5E5-87ED47ADE028}"/>
              </a:ext>
            </a:extLst>
          </p:cNvPr>
          <p:cNvSpPr>
            <a:spLocks noGrp="1"/>
          </p:cNvSpPr>
          <p:nvPr>
            <p:ph sz="quarter" idx="15" hasCustomPrompt="1"/>
          </p:nvPr>
        </p:nvSpPr>
        <p:spPr>
          <a:xfrm>
            <a:off x="665165" y="2802443"/>
            <a:ext cx="6039742"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17C0C67D-3F2A-CADA-7A37-B333CA6F061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652399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7" name="Text Placeholder 4">
            <a:extLst>
              <a:ext uri="{FF2B5EF4-FFF2-40B4-BE49-F238E27FC236}">
                <a16:creationId xmlns:a16="http://schemas.microsoft.com/office/drawing/2014/main" id="{2439EC37-2F2C-944E-AB9F-8CE8F1F89F15}"/>
              </a:ext>
            </a:extLst>
          </p:cNvPr>
          <p:cNvSpPr>
            <a:spLocks noGrp="1"/>
          </p:cNvSpPr>
          <p:nvPr>
            <p:ph type="body" sz="quarter" idx="15"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39280120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3"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3105430"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545698"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7985964"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D184E80-718A-ED9A-F0EB-A5B0774AD5F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597464348"/>
      </p:ext>
    </p:extLst>
  </p:cSld>
  <p:clrMapOvr>
    <a:masterClrMapping/>
  </p:clrMapOvr>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7"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665167"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882566"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5882566"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9C4B98C-E4D2-8123-9D51-7C700009E70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691419914"/>
      </p:ext>
    </p:extLst>
  </p:cSld>
  <p:clrMapOvr>
    <a:masterClrMapping/>
  </p:clrMapOvr>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ur Content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B12E61E-BC50-9930-6C67-27A18A6BD925}"/>
              </a:ext>
            </a:extLst>
          </p:cNvPr>
          <p:cNvSpPr/>
          <p:nvPr userDrawn="1"/>
        </p:nvSpPr>
        <p:spPr>
          <a:xfrm>
            <a:off x="628649"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931222"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7" name="Rounded Rectangle 6">
            <a:extLst>
              <a:ext uri="{FF2B5EF4-FFF2-40B4-BE49-F238E27FC236}">
                <a16:creationId xmlns:a16="http://schemas.microsoft.com/office/drawing/2014/main" id="{FA4FF28C-529D-43D3-DD1F-274E293FD77A}"/>
              </a:ext>
            </a:extLst>
          </p:cNvPr>
          <p:cNvSpPr/>
          <p:nvPr userDrawn="1"/>
        </p:nvSpPr>
        <p:spPr>
          <a:xfrm>
            <a:off x="628649"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Content Placeholder 3">
            <a:extLst>
              <a:ext uri="{FF2B5EF4-FFF2-40B4-BE49-F238E27FC236}">
                <a16:creationId xmlns:a16="http://schemas.microsoft.com/office/drawing/2014/main" id="{B8A47E6B-7ACA-222C-4724-6643FCB1E6C0}"/>
              </a:ext>
            </a:extLst>
          </p:cNvPr>
          <p:cNvSpPr>
            <a:spLocks noGrp="1"/>
          </p:cNvSpPr>
          <p:nvPr>
            <p:ph sz="quarter" idx="15" hasCustomPrompt="1"/>
          </p:nvPr>
        </p:nvSpPr>
        <p:spPr>
          <a:xfrm>
            <a:off x="931222"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1" name="Rounded Rectangle 10">
            <a:extLst>
              <a:ext uri="{FF2B5EF4-FFF2-40B4-BE49-F238E27FC236}">
                <a16:creationId xmlns:a16="http://schemas.microsoft.com/office/drawing/2014/main" id="{7446EAA6-E3C1-0D56-503D-A5E3DEA06A8C}"/>
              </a:ext>
            </a:extLst>
          </p:cNvPr>
          <p:cNvSpPr/>
          <p:nvPr userDrawn="1"/>
        </p:nvSpPr>
        <p:spPr>
          <a:xfrm>
            <a:off x="5330748"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2" name="Content Placeholder 3">
            <a:extLst>
              <a:ext uri="{FF2B5EF4-FFF2-40B4-BE49-F238E27FC236}">
                <a16:creationId xmlns:a16="http://schemas.microsoft.com/office/drawing/2014/main" id="{4C64CEFE-4FCB-0F8C-EC42-2FF598EACD6A}"/>
              </a:ext>
            </a:extLst>
          </p:cNvPr>
          <p:cNvSpPr>
            <a:spLocks noGrp="1"/>
          </p:cNvSpPr>
          <p:nvPr>
            <p:ph sz="quarter" idx="16" hasCustomPrompt="1"/>
          </p:nvPr>
        </p:nvSpPr>
        <p:spPr>
          <a:xfrm>
            <a:off x="5633321"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3" name="Rounded Rectangle 12">
            <a:extLst>
              <a:ext uri="{FF2B5EF4-FFF2-40B4-BE49-F238E27FC236}">
                <a16:creationId xmlns:a16="http://schemas.microsoft.com/office/drawing/2014/main" id="{053B9138-CA84-C35F-46AD-F826241A210F}"/>
              </a:ext>
            </a:extLst>
          </p:cNvPr>
          <p:cNvSpPr/>
          <p:nvPr userDrawn="1"/>
        </p:nvSpPr>
        <p:spPr>
          <a:xfrm>
            <a:off x="5330748"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Content Placeholder 3">
            <a:extLst>
              <a:ext uri="{FF2B5EF4-FFF2-40B4-BE49-F238E27FC236}">
                <a16:creationId xmlns:a16="http://schemas.microsoft.com/office/drawing/2014/main" id="{EBC7D18E-B3EC-2274-2E13-B49BBEB9456F}"/>
              </a:ext>
            </a:extLst>
          </p:cNvPr>
          <p:cNvSpPr>
            <a:spLocks noGrp="1"/>
          </p:cNvSpPr>
          <p:nvPr>
            <p:ph sz="quarter" idx="17" hasCustomPrompt="1"/>
          </p:nvPr>
        </p:nvSpPr>
        <p:spPr>
          <a:xfrm>
            <a:off x="5633321"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6" name="Text Placeholder 4">
            <a:extLst>
              <a:ext uri="{FF2B5EF4-FFF2-40B4-BE49-F238E27FC236}">
                <a16:creationId xmlns:a16="http://schemas.microsoft.com/office/drawing/2014/main" id="{AA669579-F586-2DFE-1A52-BF74F3752E2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252110713"/>
      </p:ext>
    </p:extLst>
  </p:cSld>
  <p:clrMapOvr>
    <a:masterClrMapping/>
  </p:clrMapOvr>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5846052" y="1032442"/>
            <a:ext cx="4217115" cy="864587"/>
          </a:xfrm>
        </p:spPr>
        <p:txBody>
          <a:bodyPr/>
          <a:lstStyle>
            <a:lvl1pPr>
              <a:defRPr sz="2400"/>
            </a:lvl1pPr>
          </a:lstStyle>
          <a:p>
            <a:r>
              <a:rPr lang="en-GB" noProof="0"/>
              <a:t>Slide title</a:t>
            </a:r>
          </a:p>
        </p:txBody>
      </p:sp>
      <p:sp>
        <p:nvSpPr>
          <p:cNvPr id="7" name="Content Placeholder 2">
            <a:extLst>
              <a:ext uri="{FF2B5EF4-FFF2-40B4-BE49-F238E27FC236}">
                <a16:creationId xmlns:a16="http://schemas.microsoft.com/office/drawing/2014/main" id="{3B099D75-4B83-4AE8-9C88-5935E02B0536}"/>
              </a:ext>
            </a:extLst>
          </p:cNvPr>
          <p:cNvSpPr>
            <a:spLocks noGrp="1"/>
          </p:cNvSpPr>
          <p:nvPr>
            <p:ph idx="1" hasCustomPrompt="1"/>
          </p:nvPr>
        </p:nvSpPr>
        <p:spPr>
          <a:xfrm>
            <a:off x="5846052" y="2802443"/>
            <a:ext cx="4217115"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BF1BB149-136D-4116-8379-5710241A176C}"/>
              </a:ext>
            </a:extLst>
          </p:cNvPr>
          <p:cNvSpPr>
            <a:spLocks noGrp="1"/>
          </p:cNvSpPr>
          <p:nvPr>
            <p:ph type="pic" sz="quarter" idx="11"/>
          </p:nvPr>
        </p:nvSpPr>
        <p:spPr>
          <a:xfrm>
            <a:off x="3"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4" name="Text Placeholder 4">
            <a:extLst>
              <a:ext uri="{FF2B5EF4-FFF2-40B4-BE49-F238E27FC236}">
                <a16:creationId xmlns:a16="http://schemas.microsoft.com/office/drawing/2014/main" id="{F5A99006-B2CC-1034-3FD2-98BB2FB2EB1B}"/>
              </a:ext>
            </a:extLst>
          </p:cNvPr>
          <p:cNvSpPr>
            <a:spLocks noGrp="1"/>
          </p:cNvSpPr>
          <p:nvPr>
            <p:ph type="body" sz="quarter" idx="10" hasCustomPrompt="1"/>
          </p:nvPr>
        </p:nvSpPr>
        <p:spPr>
          <a:xfrm>
            <a:off x="5846049"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426774496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665166" y="1032442"/>
            <a:ext cx="4180601" cy="864587"/>
          </a:xfrm>
        </p:spPr>
        <p:txBody>
          <a:bodyPr/>
          <a:lstStyle>
            <a:lvl1pPr>
              <a:defRPr sz="2400"/>
            </a:lvl1pPr>
          </a:lstStyle>
          <a:p>
            <a:r>
              <a:rPr lang="en-GB" noProof="0"/>
              <a:t>Slide title</a:t>
            </a:r>
          </a:p>
        </p:txBody>
      </p:sp>
      <p:sp>
        <p:nvSpPr>
          <p:cNvPr id="8" name="Content Placeholder 2">
            <a:extLst>
              <a:ext uri="{FF2B5EF4-FFF2-40B4-BE49-F238E27FC236}">
                <a16:creationId xmlns:a16="http://schemas.microsoft.com/office/drawing/2014/main" id="{8FF50214-EE6D-4D2F-8B42-7ABE577137B4}"/>
              </a:ext>
            </a:extLst>
          </p:cNvPr>
          <p:cNvSpPr>
            <a:spLocks noGrp="1"/>
          </p:cNvSpPr>
          <p:nvPr>
            <p:ph idx="1" hasCustomPrompt="1"/>
          </p:nvPr>
        </p:nvSpPr>
        <p:spPr>
          <a:xfrm>
            <a:off x="665166" y="2802443"/>
            <a:ext cx="4180601"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1C52AC07-BDDB-4B92-BEB0-F59687FB208A}"/>
              </a:ext>
            </a:extLst>
          </p:cNvPr>
          <p:cNvSpPr>
            <a:spLocks noGrp="1"/>
          </p:cNvSpPr>
          <p:nvPr>
            <p:ph type="pic" sz="quarter" idx="11"/>
          </p:nvPr>
        </p:nvSpPr>
        <p:spPr>
          <a:xfrm>
            <a:off x="5294315"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5" name="Text Placeholder 4">
            <a:extLst>
              <a:ext uri="{FF2B5EF4-FFF2-40B4-BE49-F238E27FC236}">
                <a16:creationId xmlns:a16="http://schemas.microsoft.com/office/drawing/2014/main" id="{5FAF3B1F-99E4-78A4-2C2C-1B6C61258436}"/>
              </a:ext>
            </a:extLst>
          </p:cNvPr>
          <p:cNvSpPr>
            <a:spLocks noGrp="1"/>
          </p:cNvSpPr>
          <p:nvPr>
            <p:ph type="body" sz="quarter" idx="10" hasCustomPrompt="1"/>
          </p:nvPr>
        </p:nvSpPr>
        <p:spPr>
          <a:xfrm>
            <a:off x="665163"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98463699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Text Placeholder 4">
            <a:extLst>
              <a:ext uri="{FF2B5EF4-FFF2-40B4-BE49-F238E27FC236}">
                <a16:creationId xmlns:a16="http://schemas.microsoft.com/office/drawing/2014/main" id="{66A54C84-3901-C94E-E787-087A7B3B12D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0811880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31AD921E-299C-D3C4-7820-5E024D410839}"/>
              </a:ext>
            </a:extLst>
          </p:cNvPr>
          <p:cNvSpPr/>
          <p:nvPr userDrawn="1"/>
        </p:nvSpPr>
        <p:spPr>
          <a:xfrm rot="5400000">
            <a:off x="1254279"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A9972123-411B-D1A3-AA3D-1DC9A130C63F}"/>
              </a:ext>
            </a:extLst>
          </p:cNvPr>
          <p:cNvSpPr/>
          <p:nvPr userDrawn="1"/>
        </p:nvSpPr>
        <p:spPr>
          <a:xfrm rot="5400000">
            <a:off x="4478830" y="2061543"/>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527D9BCA-86C8-2330-D1A4-1BFB0816F27B}"/>
              </a:ext>
            </a:extLst>
          </p:cNvPr>
          <p:cNvSpPr/>
          <p:nvPr userDrawn="1"/>
        </p:nvSpPr>
        <p:spPr>
          <a:xfrm rot="5400000">
            <a:off x="7703382"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Rounded Rectangle 6">
            <a:extLst>
              <a:ext uri="{FF2B5EF4-FFF2-40B4-BE49-F238E27FC236}">
                <a16:creationId xmlns:a16="http://schemas.microsoft.com/office/drawing/2014/main" id="{471A1710-EEEB-21D3-8499-754CAE5D2E4A}"/>
              </a:ext>
            </a:extLst>
          </p:cNvPr>
          <p:cNvSpPr/>
          <p:nvPr userDrawn="1"/>
        </p:nvSpPr>
        <p:spPr>
          <a:xfrm rot="5400000">
            <a:off x="1254279"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Rounded Rectangle 7">
            <a:extLst>
              <a:ext uri="{FF2B5EF4-FFF2-40B4-BE49-F238E27FC236}">
                <a16:creationId xmlns:a16="http://schemas.microsoft.com/office/drawing/2014/main" id="{B3C32386-9995-05A5-4D53-B77FBDB4EEC3}"/>
              </a:ext>
            </a:extLst>
          </p:cNvPr>
          <p:cNvSpPr/>
          <p:nvPr userDrawn="1"/>
        </p:nvSpPr>
        <p:spPr>
          <a:xfrm rot="5400000">
            <a:off x="4478830" y="4167455"/>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Rounded Rectangle 8">
            <a:extLst>
              <a:ext uri="{FF2B5EF4-FFF2-40B4-BE49-F238E27FC236}">
                <a16:creationId xmlns:a16="http://schemas.microsoft.com/office/drawing/2014/main" id="{A8B13388-E13E-BCFA-7018-CE070B415784}"/>
              </a:ext>
            </a:extLst>
          </p:cNvPr>
          <p:cNvSpPr/>
          <p:nvPr userDrawn="1"/>
        </p:nvSpPr>
        <p:spPr>
          <a:xfrm rot="5400000">
            <a:off x="7703382"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34" name="Text Placeholder 33">
            <a:extLst>
              <a:ext uri="{FF2B5EF4-FFF2-40B4-BE49-F238E27FC236}">
                <a16:creationId xmlns:a16="http://schemas.microsoft.com/office/drawing/2014/main" id="{800B566C-0372-29E4-5D59-62BA07E5DF43}"/>
              </a:ext>
            </a:extLst>
          </p:cNvPr>
          <p:cNvSpPr>
            <a:spLocks noGrp="1"/>
          </p:cNvSpPr>
          <p:nvPr>
            <p:ph type="body" sz="quarter" idx="15" hasCustomPrompt="1"/>
          </p:nvPr>
        </p:nvSpPr>
        <p:spPr>
          <a:xfrm>
            <a:off x="66452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1</a:t>
            </a:r>
          </a:p>
        </p:txBody>
      </p:sp>
      <p:sp>
        <p:nvSpPr>
          <p:cNvPr id="36" name="Text Placeholder 33">
            <a:extLst>
              <a:ext uri="{FF2B5EF4-FFF2-40B4-BE49-F238E27FC236}">
                <a16:creationId xmlns:a16="http://schemas.microsoft.com/office/drawing/2014/main" id="{0596C4AD-57BB-30A2-5E1D-91C8CD7B4F6A}"/>
              </a:ext>
            </a:extLst>
          </p:cNvPr>
          <p:cNvSpPr>
            <a:spLocks noGrp="1"/>
          </p:cNvSpPr>
          <p:nvPr>
            <p:ph type="body" sz="quarter" idx="16" hasCustomPrompt="1"/>
          </p:nvPr>
        </p:nvSpPr>
        <p:spPr>
          <a:xfrm>
            <a:off x="66452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4</a:t>
            </a:r>
          </a:p>
        </p:txBody>
      </p:sp>
      <p:sp>
        <p:nvSpPr>
          <p:cNvPr id="37" name="Text Placeholder 33">
            <a:extLst>
              <a:ext uri="{FF2B5EF4-FFF2-40B4-BE49-F238E27FC236}">
                <a16:creationId xmlns:a16="http://schemas.microsoft.com/office/drawing/2014/main" id="{CA17D34A-8B27-5680-2189-8A6419816563}"/>
              </a:ext>
            </a:extLst>
          </p:cNvPr>
          <p:cNvSpPr>
            <a:spLocks noGrp="1"/>
          </p:cNvSpPr>
          <p:nvPr>
            <p:ph type="body" sz="quarter" idx="17" hasCustomPrompt="1"/>
          </p:nvPr>
        </p:nvSpPr>
        <p:spPr>
          <a:xfrm>
            <a:off x="388356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2</a:t>
            </a:r>
          </a:p>
        </p:txBody>
      </p:sp>
      <p:sp>
        <p:nvSpPr>
          <p:cNvPr id="38" name="Text Placeholder 33">
            <a:extLst>
              <a:ext uri="{FF2B5EF4-FFF2-40B4-BE49-F238E27FC236}">
                <a16:creationId xmlns:a16="http://schemas.microsoft.com/office/drawing/2014/main" id="{0052A383-7A3E-CA0B-8E85-8534C94474AF}"/>
              </a:ext>
            </a:extLst>
          </p:cNvPr>
          <p:cNvSpPr>
            <a:spLocks noGrp="1"/>
          </p:cNvSpPr>
          <p:nvPr>
            <p:ph type="body" sz="quarter" idx="18" hasCustomPrompt="1"/>
          </p:nvPr>
        </p:nvSpPr>
        <p:spPr>
          <a:xfrm>
            <a:off x="388356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5</a:t>
            </a:r>
          </a:p>
        </p:txBody>
      </p:sp>
      <p:sp>
        <p:nvSpPr>
          <p:cNvPr id="39" name="Text Placeholder 33">
            <a:extLst>
              <a:ext uri="{FF2B5EF4-FFF2-40B4-BE49-F238E27FC236}">
                <a16:creationId xmlns:a16="http://schemas.microsoft.com/office/drawing/2014/main" id="{64D469C4-5E50-90DA-2D72-6F3E8E78A1CF}"/>
              </a:ext>
            </a:extLst>
          </p:cNvPr>
          <p:cNvSpPr>
            <a:spLocks noGrp="1"/>
          </p:cNvSpPr>
          <p:nvPr>
            <p:ph type="body" sz="quarter" idx="19" hasCustomPrompt="1"/>
          </p:nvPr>
        </p:nvSpPr>
        <p:spPr>
          <a:xfrm>
            <a:off x="7102611"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3</a:t>
            </a:r>
          </a:p>
        </p:txBody>
      </p:sp>
      <p:sp>
        <p:nvSpPr>
          <p:cNvPr id="40" name="Text Placeholder 33">
            <a:extLst>
              <a:ext uri="{FF2B5EF4-FFF2-40B4-BE49-F238E27FC236}">
                <a16:creationId xmlns:a16="http://schemas.microsoft.com/office/drawing/2014/main" id="{FBCA0B58-9531-6E66-B270-5BC42D3F5152}"/>
              </a:ext>
            </a:extLst>
          </p:cNvPr>
          <p:cNvSpPr>
            <a:spLocks noGrp="1"/>
          </p:cNvSpPr>
          <p:nvPr>
            <p:ph type="body" sz="quarter" idx="20" hasCustomPrompt="1"/>
          </p:nvPr>
        </p:nvSpPr>
        <p:spPr>
          <a:xfrm>
            <a:off x="7102611"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6</a:t>
            </a:r>
          </a:p>
        </p:txBody>
      </p:sp>
      <p:sp>
        <p:nvSpPr>
          <p:cNvPr id="10" name="Text Placeholder 4">
            <a:extLst>
              <a:ext uri="{FF2B5EF4-FFF2-40B4-BE49-F238E27FC236}">
                <a16:creationId xmlns:a16="http://schemas.microsoft.com/office/drawing/2014/main" id="{9E46882F-DB78-AC85-0A41-E7D5E3057488}"/>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858570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4" name="Text Placeholder 4">
            <a:extLst>
              <a:ext uri="{FF2B5EF4-FFF2-40B4-BE49-F238E27FC236}">
                <a16:creationId xmlns:a16="http://schemas.microsoft.com/office/drawing/2014/main" id="{A61987B9-8783-6974-C610-4CB20A32EEC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1854904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sclaimer (general)">
    <p:spTree>
      <p:nvGrpSpPr>
        <p:cNvPr id="1" name=""/>
        <p:cNvGrpSpPr/>
        <p:nvPr/>
      </p:nvGrpSpPr>
      <p:grpSpPr>
        <a:xfrm>
          <a:off x="0" y="0"/>
          <a:ext cx="0" cy="0"/>
          <a:chOff x="0" y="0"/>
          <a:chExt cx="0" cy="0"/>
        </a:xfrm>
      </p:grpSpPr>
      <p:grpSp>
        <p:nvGrpSpPr>
          <p:cNvPr id="2" name="EN Disclaimer">
            <a:extLst>
              <a:ext uri="{FF2B5EF4-FFF2-40B4-BE49-F238E27FC236}">
                <a16:creationId xmlns:a16="http://schemas.microsoft.com/office/drawing/2014/main" id="{66D3F688-554B-4C38-87B6-3BAB54314DF8}"/>
              </a:ext>
            </a:extLst>
          </p:cNvPr>
          <p:cNvGrpSpPr/>
          <p:nvPr userDrawn="1"/>
        </p:nvGrpSpPr>
        <p:grpSpPr>
          <a:xfrm>
            <a:off x="1575235" y="1906248"/>
            <a:ext cx="7541343" cy="3747180"/>
            <a:chOff x="1618505" y="2687008"/>
            <a:chExt cx="7541343" cy="3747180"/>
          </a:xfrm>
        </p:grpSpPr>
        <p:sp>
          <p:nvSpPr>
            <p:cNvPr id="3" name="TextBox 7">
              <a:extLst>
                <a:ext uri="{FF2B5EF4-FFF2-40B4-BE49-F238E27FC236}">
                  <a16:creationId xmlns:a16="http://schemas.microsoft.com/office/drawing/2014/main" id="{11631E77-A784-40C0-BF97-5FEDB1C9CADF}"/>
                </a:ext>
              </a:extLst>
            </p:cNvPr>
            <p:cNvSpPr txBox="1"/>
            <p:nvPr userDrawn="1"/>
          </p:nvSpPr>
          <p:spPr>
            <a:xfrm>
              <a:off x="1618505" y="2964007"/>
              <a:ext cx="7541343" cy="347018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Aft>
                  <a:spcPts val="300"/>
                </a:spcAft>
              </a:pPr>
              <a:r>
                <a:rPr lang="en-US" sz="900">
                  <a:latin typeface="Nunito Sans" pitchFamily="2" charset="77"/>
                </a:rPr>
                <a:t>This communication has been sent to recipients for information purposes only and cannot be considered to constitute an advertisement, an offer or a personalised recommendation to buy or sell a financial instrument or any other investment or currency.</a:t>
              </a:r>
            </a:p>
            <a:p>
              <a:pPr algn="just">
                <a:spcAft>
                  <a:spcPts val="300"/>
                </a:spcAft>
              </a:pPr>
              <a:r>
                <a:rPr lang="en-US" sz="900">
                  <a:latin typeface="Nunito Sans" pitchFamily="2" charset="77"/>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 </a:t>
              </a:r>
            </a:p>
            <a:p>
              <a:pPr algn="just">
                <a:spcAft>
                  <a:spcPts val="300"/>
                </a:spcAft>
              </a:pPr>
              <a:r>
                <a:rPr lang="en-US" sz="900">
                  <a:latin typeface="Nunito Sans" pitchFamily="2" charset="77"/>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 </a:t>
              </a:r>
            </a:p>
            <a:p>
              <a:pPr algn="just">
                <a:spcAft>
                  <a:spcPts val="300"/>
                </a:spcAft>
              </a:pPr>
              <a:r>
                <a:rPr lang="en-US" sz="900">
                  <a:latin typeface="Nunito Sans" pitchFamily="2" charset="77"/>
                </a:rPr>
                <a:t>Past performance is not a reliable indicator of current or future results. Any reference to the past performance of an investment does not guarantee its future performance. Fluctuations in exchange rates may adversely affect the value, price or income of any investment. </a:t>
              </a:r>
            </a:p>
            <a:p>
              <a:pPr algn="just">
                <a:spcAft>
                  <a:spcPts val="300"/>
                </a:spcAft>
              </a:pPr>
              <a:r>
                <a:rPr lang="en-US" sz="900">
                  <a:latin typeface="Nunito Sans" pitchFamily="2" charset="77"/>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 </a:t>
              </a:r>
            </a:p>
            <a:p>
              <a:pPr algn="just">
                <a:spcAft>
                  <a:spcPts val="300"/>
                </a:spcAft>
              </a:pPr>
              <a:r>
                <a:rPr lang="en-US" sz="900">
                  <a:latin typeface="Nunito Sans" pitchFamily="2" charset="77"/>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p>
          </p:txBody>
        </p:sp>
        <p:sp>
          <p:nvSpPr>
            <p:cNvPr id="4" name="Rectangle 3">
              <a:extLst>
                <a:ext uri="{FF2B5EF4-FFF2-40B4-BE49-F238E27FC236}">
                  <a16:creationId xmlns:a16="http://schemas.microsoft.com/office/drawing/2014/main" id="{955156A8-2899-4B3E-ADB9-34A6DD4992CF}"/>
                </a:ext>
              </a:extLst>
            </p:cNvPr>
            <p:cNvSpPr/>
            <p:nvPr userDrawn="1"/>
          </p:nvSpPr>
          <p:spPr>
            <a:xfrm>
              <a:off x="1618505" y="2687008"/>
              <a:ext cx="1647887" cy="261610"/>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Bef>
                  <a:spcPct val="0"/>
                </a:spcBef>
              </a:pPr>
              <a:r>
                <a:rPr lang="en-US" altLang="en-CH" sz="1100" kern="600" spc="-20">
                  <a:gradFill flip="none" rotWithShape="1">
                    <a:gsLst>
                      <a:gs pos="0">
                        <a:schemeClr val="accent4"/>
                      </a:gs>
                      <a:gs pos="100000">
                        <a:srgbClr val="FFA400"/>
                      </a:gs>
                    </a:gsLst>
                    <a:lin ang="0" scaled="1"/>
                  </a:gradFill>
                  <a:latin typeface="Nunito Sans ExtraBold" pitchFamily="2" charset="77"/>
                  <a:ea typeface="+mj-ea"/>
                  <a:cs typeface="+mj-cs"/>
                </a:rPr>
                <a:t>Important Information </a:t>
              </a:r>
              <a:endParaRPr lang="en-US" sz="1100" kern="600" spc="-20">
                <a:gradFill flip="none" rotWithShape="1">
                  <a:gsLst>
                    <a:gs pos="0">
                      <a:schemeClr val="accent4"/>
                    </a:gs>
                    <a:gs pos="100000">
                      <a:srgbClr val="FFA400"/>
                    </a:gs>
                  </a:gsLst>
                  <a:lin ang="0" scaled="1"/>
                </a:gradFill>
                <a:latin typeface="Nunito Sans ExtraBold" pitchFamily="2" charset="77"/>
                <a:ea typeface="+mj-ea"/>
                <a:cs typeface="+mj-cs"/>
              </a:endParaRPr>
            </a:p>
          </p:txBody>
        </p:sp>
      </p:grpSp>
    </p:spTree>
    <p:extLst>
      <p:ext uri="{BB962C8B-B14F-4D97-AF65-F5344CB8AC3E}">
        <p14:creationId xmlns:p14="http://schemas.microsoft.com/office/powerpoint/2010/main" val="134849963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inal page - blank">
    <p:bg>
      <p:bgRef idx="1001">
        <a:schemeClr val="bg1"/>
      </p:bgRef>
    </p:bg>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B4147DA3-E36C-A06A-B178-3E626E257DCA}"/>
              </a:ext>
            </a:extLst>
          </p:cNvPr>
          <p:cNvSpPr txBox="1">
            <a:spLocks noChangeArrowheads="1"/>
          </p:cNvSpPr>
          <p:nvPr userDrawn="1"/>
        </p:nvSpPr>
        <p:spPr bwMode="auto">
          <a:xfrm rot="16200000">
            <a:off x="-412268" y="6603344"/>
            <a:ext cx="1234078" cy="171760"/>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96" kern="600">
                <a:solidFill>
                  <a:schemeClr val="bg1">
                    <a:lumMod val="85000"/>
                  </a:schemeClr>
                </a:solidFill>
                <a:latin typeface="Nunito Sans" pitchFamily="2" charset="77"/>
              </a:rPr>
              <a:t>PRIVATE </a:t>
            </a:r>
            <a:r>
              <a:rPr lang="en-US" altLang="en-CH" sz="596" kern="600">
                <a:solidFill>
                  <a:schemeClr val="bg1">
                    <a:lumMod val="85000"/>
                  </a:schemeClr>
                </a:solidFill>
                <a:latin typeface="Nunito Sans" pitchFamily="2" charset="77"/>
              </a:rPr>
              <a:t>&amp; CONFIDENTIAL</a:t>
            </a:r>
            <a:endParaRPr lang="en-GB" altLang="en-CH" sz="596" kern="600">
              <a:solidFill>
                <a:schemeClr val="bg1">
                  <a:lumMod val="85000"/>
                </a:schemeClr>
              </a:solidFill>
              <a:latin typeface="Nunito Sans" pitchFamily="2" charset="77"/>
            </a:endParaRPr>
          </a:p>
        </p:txBody>
      </p:sp>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a:extLst>
              <a:ext uri="{FF2B5EF4-FFF2-40B4-BE49-F238E27FC236}">
                <a16:creationId xmlns:a16="http://schemas.microsoft.com/office/drawing/2014/main" id="{B54EA86E-FE57-087C-065B-87B8FA6F09C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872826"/>
            <a:ext cx="6767793" cy="1312166"/>
          </a:xfrm>
          <a:prstGeom prst="rect">
            <a:avLst/>
          </a:prstGeom>
        </p:spPr>
      </p:pic>
    </p:spTree>
    <p:extLst>
      <p:ext uri="{BB962C8B-B14F-4D97-AF65-F5344CB8AC3E}">
        <p14:creationId xmlns:p14="http://schemas.microsoft.com/office/powerpoint/2010/main" val="3655377727"/>
      </p:ext>
    </p:extLst>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inal page - Orange">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descr="A black background with white text&#10;&#10;Description automatically generated">
            <a:extLst>
              <a:ext uri="{FF2B5EF4-FFF2-40B4-BE49-F238E27FC236}">
                <a16:creationId xmlns:a16="http://schemas.microsoft.com/office/drawing/2014/main" id="{B54EA86E-FE57-087C-065B-87B8FA6F09C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62009" y="3872826"/>
            <a:ext cx="6767793" cy="1312167"/>
          </a:xfrm>
          <a:prstGeom prst="rect">
            <a:avLst/>
          </a:prstGeom>
        </p:spPr>
      </p:pic>
    </p:spTree>
    <p:extLst>
      <p:ext uri="{BB962C8B-B14F-4D97-AF65-F5344CB8AC3E}">
        <p14:creationId xmlns:p14="http://schemas.microsoft.com/office/powerpoint/2010/main" val="11696728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Final page - with Offices">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4" name="Picture 3">
            <a:extLst>
              <a:ext uri="{FF2B5EF4-FFF2-40B4-BE49-F238E27FC236}">
                <a16:creationId xmlns:a16="http://schemas.microsoft.com/office/drawing/2014/main" id="{0AE2D8AE-65EC-9284-4241-E97BE84E917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123754"/>
            <a:ext cx="6767793" cy="1312166"/>
          </a:xfrm>
          <a:prstGeom prst="rect">
            <a:avLst/>
          </a:prstGeom>
        </p:spPr>
      </p:pic>
      <p:graphicFrame>
        <p:nvGraphicFramePr>
          <p:cNvPr id="19" name="Table 18">
            <a:extLst>
              <a:ext uri="{FF2B5EF4-FFF2-40B4-BE49-F238E27FC236}">
                <a16:creationId xmlns:a16="http://schemas.microsoft.com/office/drawing/2014/main" id="{70C0091A-8638-FF38-D877-94E0EFA31BBA}"/>
              </a:ext>
            </a:extLst>
          </p:cNvPr>
          <p:cNvGraphicFramePr>
            <a:graphicFrameLocks noGrp="1"/>
          </p:cNvGraphicFramePr>
          <p:nvPr userDrawn="1">
            <p:extLst>
              <p:ext uri="{D42A27DB-BD31-4B8C-83A1-F6EECF244321}">
                <p14:modId xmlns:p14="http://schemas.microsoft.com/office/powerpoint/2010/main" val="1200304216"/>
              </p:ext>
            </p:extLst>
          </p:nvPr>
        </p:nvGraphicFramePr>
        <p:xfrm>
          <a:off x="1612568" y="5499881"/>
          <a:ext cx="7466673" cy="1700100"/>
        </p:xfrm>
        <a:graphic>
          <a:graphicData uri="http://schemas.openxmlformats.org/drawingml/2006/table">
            <a:tbl>
              <a:tblPr firstRow="1" bandRow="1">
                <a:tableStyleId>{5C22544A-7EE6-4342-B048-85BDC9FD1C3A}</a:tableStyleId>
              </a:tblPr>
              <a:tblGrid>
                <a:gridCol w="2488891">
                  <a:extLst>
                    <a:ext uri="{9D8B030D-6E8A-4147-A177-3AD203B41FA5}">
                      <a16:colId xmlns:a16="http://schemas.microsoft.com/office/drawing/2014/main" val="2749746622"/>
                    </a:ext>
                  </a:extLst>
                </a:gridCol>
                <a:gridCol w="2488891">
                  <a:extLst>
                    <a:ext uri="{9D8B030D-6E8A-4147-A177-3AD203B41FA5}">
                      <a16:colId xmlns:a16="http://schemas.microsoft.com/office/drawing/2014/main" val="466498394"/>
                    </a:ext>
                  </a:extLst>
                </a:gridCol>
                <a:gridCol w="2488891">
                  <a:extLst>
                    <a:ext uri="{9D8B030D-6E8A-4147-A177-3AD203B41FA5}">
                      <a16:colId xmlns:a16="http://schemas.microsoft.com/office/drawing/2014/main" val="1630515560"/>
                    </a:ext>
                  </a:extLst>
                </a:gridCol>
              </a:tblGrid>
              <a:tr h="792000">
                <a:tc>
                  <a:txBody>
                    <a:bodyPr/>
                    <a:lstStyle/>
                    <a:p>
                      <a:pPr marL="12700" marR="0" lvl="0" indent="0" algn="l" defTabSz="457129" rtl="0" eaLnBrk="1" fontAlgn="auto" latinLnBrk="0" hangingPunct="1">
                        <a:lnSpc>
                          <a:spcPct val="100000"/>
                        </a:lnSpc>
                        <a:spcBef>
                          <a:spcPts val="100"/>
                        </a:spcBef>
                        <a:spcAft>
                          <a:spcPts val="0"/>
                        </a:spcAft>
                        <a:buClrTx/>
                        <a:buSzTx/>
                        <a:buFontTx/>
                        <a:buNone/>
                        <a:tabLst/>
                        <a:defRPr/>
                      </a:pPr>
                      <a:r>
                        <a:rPr kumimoji="0" lang="fr-FR" sz="900" b="1" i="0" u="none" strike="noStrike" kern="1200" cap="none" spc="0" normalizeH="0" baseline="0" noProof="0" dirty="0">
                          <a:ln>
                            <a:noFill/>
                          </a:ln>
                          <a:solidFill>
                            <a:schemeClr val="accent4"/>
                          </a:solidFill>
                          <a:effectLst/>
                          <a:uLnTx/>
                          <a:uFillTx/>
                          <a:latin typeface="Nunito Sans ExtraBold"/>
                          <a:ea typeface="+mn-ea"/>
                          <a:cs typeface="+mn-cs"/>
                        </a:rPr>
                        <a:t>Geneva</a:t>
                      </a:r>
                      <a:endParaRPr kumimoji="0" lang="fr-FR" sz="1150" b="1" i="0" u="none" strike="noStrike" kern="1200" cap="none" spc="0" normalizeH="0" baseline="0" noProof="0" dirty="0">
                        <a:ln>
                          <a:noFill/>
                        </a:ln>
                        <a:solidFill>
                          <a:schemeClr val="accent4"/>
                        </a:solidFill>
                        <a:effectLst/>
                        <a:uLnTx/>
                        <a:uFillTx/>
                        <a:latin typeface="Nunito Sans ExtraBold"/>
                        <a:ea typeface="+mn-ea"/>
                        <a:cs typeface="+mn-cs"/>
                      </a:endParaRP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fr-FR"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Quai</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des</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Bergues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1201</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Geneva</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fr-FR"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10</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00</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dirty="0">
                          <a:ln>
                            <a:noFill/>
                          </a:ln>
                          <a:solidFill>
                            <a:schemeClr val="accent4"/>
                          </a:solidFill>
                          <a:effectLst/>
                          <a:uLnTx/>
                          <a:uFillTx/>
                          <a:latin typeface="Nunito Sans ExtraBold"/>
                          <a:ea typeface="+mn-ea"/>
                          <a:cs typeface="+mn-cs"/>
                        </a:rPr>
                        <a:t>Zurich</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de-DE"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AG</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Freigutstrasse 14</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8002</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Zurich</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de-DE"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60" normalizeH="0" baseline="0" noProof="0" dirty="0">
                          <a:ln>
                            <a:noFill/>
                          </a:ln>
                          <a:solidFill>
                            <a:schemeClr val="tx1"/>
                          </a:solidFill>
                          <a:effectLst/>
                          <a:uLnTx/>
                          <a:uFillTx/>
                          <a:latin typeface="Nunito Sans" panose="00000500000000000000" pitchFamily="2" charset="0"/>
                          <a:ea typeface="+mn-ea"/>
                          <a:cs typeface="MaisonNeue-Book"/>
                        </a:rPr>
                        <a:t>37</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Istanbul</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Zorlu</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Center,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Levazim</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Koru</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Book"/>
                        </a:rPr>
                        <a:t>Sokaği</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No:2, Teras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Evler</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T3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 347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34340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Beşiktaş</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İstanbul - Turkey</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+90</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75" normalizeH="0" baseline="0" noProof="0" dirty="0">
                          <a:ln>
                            <a:noFill/>
                          </a:ln>
                          <a:solidFill>
                            <a:schemeClr val="tx1"/>
                          </a:solidFill>
                          <a:effectLst/>
                          <a:uLnTx/>
                          <a:uFillTx/>
                          <a:latin typeface="Nunito Sans" panose="00000500000000000000" pitchFamily="2" charset="0"/>
                          <a:ea typeface="+mn-ea"/>
                          <a:cs typeface="MaisonNeue-Book"/>
                        </a:rPr>
                        <a:t>212</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703</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99</a:t>
                      </a:r>
                    </a:p>
                  </a:txBody>
                  <a:tcPr marL="114942" marR="114942" anchor="ctr">
                    <a:lnL w="635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41451115"/>
                  </a:ext>
                </a:extLst>
              </a:tr>
              <a:tr h="108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de-DE"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it-IT"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89925484"/>
                  </a:ext>
                </a:extLst>
              </a:tr>
              <a:tr h="792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Lugano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Banca</a:t>
                      </a:r>
                      <a:r>
                        <a:rPr kumimoji="0" lang="it-IT" sz="800" b="1"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800" b="1" i="0" u="none" strike="noStrike" kern="1200" cap="none" spc="-3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Via Nassa 42</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6900</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Lugano</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80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67</a:t>
                      </a:r>
                      <a:r>
                        <a:rPr kumimoji="0" lang="it-IT" sz="80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20</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Locarno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1"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Demi"/>
                        </a:rPr>
                        <a:t>Banque</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Via</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Cattori</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4</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6601</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Locarno</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Johannesburg</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First</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Floor,</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Future</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Space </a:t>
                      </a: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61</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Katherine</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Street</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RSA</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Sandton</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2146</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5" normalizeH="0" baseline="0" noProof="0" dirty="0">
                          <a:ln>
                            <a:noFill/>
                          </a:ln>
                          <a:solidFill>
                            <a:schemeClr val="tx1"/>
                          </a:solidFill>
                          <a:effectLst/>
                          <a:uLnTx/>
                          <a:uFillTx/>
                          <a:latin typeface="Nunito Sans" panose="00000500000000000000" pitchFamily="2" charset="0"/>
                          <a:ea typeface="+mn-ea"/>
                          <a:cs typeface="MaisonNeue-Book"/>
                        </a:rPr>
                        <a:t>+27</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(0)10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300</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6040</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70400001"/>
                  </a:ext>
                </a:extLst>
              </a:tr>
            </a:tbl>
          </a:graphicData>
        </a:graphic>
      </p:graphicFrame>
    </p:spTree>
    <p:extLst>
      <p:ext uri="{BB962C8B-B14F-4D97-AF65-F5344CB8AC3E}">
        <p14:creationId xmlns:p14="http://schemas.microsoft.com/office/powerpoint/2010/main" val="1318701589"/>
      </p:ext>
    </p:extLst>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47369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Tree>
    <p:extLst>
      <p:ext uri="{BB962C8B-B14F-4D97-AF65-F5344CB8AC3E}">
        <p14:creationId xmlns:p14="http://schemas.microsoft.com/office/powerpoint/2010/main" val="43037432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t>
            </a:r>
            <a:r>
              <a:rPr lang="en-GB" noProof="0" err="1"/>
              <a:t>Alt+Shift+Right</a:t>
            </a:r>
            <a:r>
              <a:rPr lang="en-GB" noProof="0"/>
              <a:t>/Left arrows to change text levels</a:t>
            </a:r>
          </a:p>
          <a:p>
            <a:pPr lvl="1"/>
            <a:r>
              <a:rPr lang="en-GB" noProof="0" err="1"/>
              <a:t>Deuxième</a:t>
            </a:r>
            <a:r>
              <a:rPr lang="en-GB" noProof="0"/>
              <a:t> </a:t>
            </a:r>
            <a:r>
              <a:rPr lang="en-GB" noProof="0" err="1"/>
              <a:t>niveau</a:t>
            </a:r>
            <a:endParaRPr lang="en-GB" noProof="0"/>
          </a:p>
          <a:p>
            <a:pPr lvl="2"/>
            <a:r>
              <a:rPr lang="en-GB" noProof="0" err="1"/>
              <a:t>Troisième</a:t>
            </a:r>
            <a:r>
              <a:rPr lang="en-GB" noProof="0"/>
              <a:t> </a:t>
            </a:r>
            <a:r>
              <a:rPr lang="en-GB" noProof="0" err="1"/>
              <a:t>niveau</a:t>
            </a:r>
            <a:endParaRPr lang="en-GB" noProof="0"/>
          </a:p>
          <a:p>
            <a:pPr lvl="3"/>
            <a:r>
              <a:rPr lang="en-GB" noProof="0" err="1"/>
              <a:t>Quatrième</a:t>
            </a:r>
            <a:r>
              <a:rPr lang="en-GB" noProof="0"/>
              <a:t> </a:t>
            </a:r>
            <a:r>
              <a:rPr lang="en-GB" noProof="0" err="1"/>
              <a:t>niveau</a:t>
            </a:r>
            <a:endParaRPr lang="en-GB" noProof="0"/>
          </a:p>
          <a:p>
            <a:pPr lvl="4"/>
            <a:r>
              <a:rPr lang="en-GB" noProof="0" err="1"/>
              <a:t>Cinquième</a:t>
            </a:r>
            <a:r>
              <a:rPr lang="en-GB" noProof="0"/>
              <a:t> </a:t>
            </a:r>
            <a:r>
              <a:rPr lang="en-GB" noProof="0" err="1"/>
              <a:t>niveau</a:t>
            </a:r>
            <a:endParaRPr lang="en-GB" noProof="0"/>
          </a:p>
        </p:txBody>
      </p:sp>
      <p:sp>
        <p:nvSpPr>
          <p:cNvPr id="5" name="Text Placeholder 4">
            <a:extLst>
              <a:ext uri="{FF2B5EF4-FFF2-40B4-BE49-F238E27FC236}">
                <a16:creationId xmlns:a16="http://schemas.microsoft.com/office/drawing/2014/main" id="{40AFE413-7A7E-456B-97B3-39F37977D126}"/>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dirty="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ts val="0"/>
              </a:spcBef>
              <a:spcAft>
                <a:spcPts val="0"/>
              </a:spcAft>
              <a:buClr>
                <a:srgbClr val="FFA400"/>
              </a:buClr>
              <a:buSzPct val="90000"/>
              <a:buFont typeface="Wingdings 3" panose="05040102010807070707" pitchFamily="18" charset="2"/>
              <a:buNone/>
            </a:pPr>
            <a:r>
              <a:rPr lang="en-GB"/>
              <a:t>Subtitle</a:t>
            </a:r>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Tree>
    <p:extLst>
      <p:ext uri="{BB962C8B-B14F-4D97-AF65-F5344CB8AC3E}">
        <p14:creationId xmlns:p14="http://schemas.microsoft.com/office/powerpoint/2010/main" val="22770240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3" name="Text Placeholder 4">
            <a:extLst>
              <a:ext uri="{FF2B5EF4-FFF2-40B4-BE49-F238E27FC236}">
                <a16:creationId xmlns:a16="http://schemas.microsoft.com/office/drawing/2014/main" id="{4E3FC404-0C96-6470-9CBB-E4D624E35A0E}"/>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218431596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33747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
        <p:nvSpPr>
          <p:cNvPr id="3" name="Text Placeholder 4">
            <a:extLst>
              <a:ext uri="{FF2B5EF4-FFF2-40B4-BE49-F238E27FC236}">
                <a16:creationId xmlns:a16="http://schemas.microsoft.com/office/drawing/2014/main" id="{07348D2B-5FF0-420D-852B-8025EEA0E549}"/>
              </a:ext>
            </a:extLst>
          </p:cNvPr>
          <p:cNvSpPr>
            <a:spLocks noGrp="1"/>
          </p:cNvSpPr>
          <p:nvPr>
            <p:ph type="body" sz="quarter" idx="10" hasCustomPrompt="1"/>
          </p:nvPr>
        </p:nvSpPr>
        <p:spPr>
          <a:xfrm>
            <a:off x="665163" y="2321540"/>
            <a:ext cx="9398001" cy="251512"/>
          </a:xfrm>
          <a:noFill/>
        </p:spPr>
        <p:txBody>
          <a:bodyPr bIns="0" anchor="b"/>
          <a:lstStyle>
            <a:lvl1pPr marL="0" indent="0">
              <a:buNone/>
              <a:defRPr sz="1300" b="0" cap="none" baseline="0">
                <a:solidFill>
                  <a:schemeClr val="tx1"/>
                </a:solidFill>
                <a:latin typeface="Nunito Sans ExtraBold" panose="00000900000000000000" pitchFamily="2" charset="0"/>
              </a:defRPr>
            </a:lvl1pPr>
          </a:lstStyle>
          <a:p>
            <a:pPr lvl="0"/>
            <a:r>
              <a:rPr lang="en-GB"/>
              <a:t>Subtitle</a:t>
            </a:r>
          </a:p>
        </p:txBody>
      </p:sp>
    </p:spTree>
    <p:extLst>
      <p:ext uri="{BB962C8B-B14F-4D97-AF65-F5344CB8AC3E}">
        <p14:creationId xmlns:p14="http://schemas.microsoft.com/office/powerpoint/2010/main" val="12022917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 Id="rId34" Type="http://schemas.openxmlformats.org/officeDocument/2006/relationships/tags" Target="../tags/tag2.xml"/><Relationship Id="rId35" Type="http://schemas.openxmlformats.org/officeDocument/2006/relationships/oleObject" Target="../embeddings/oleObject1.bin"/><Relationship Id="rId36" Type="http://schemas.openxmlformats.org/officeDocument/2006/relationships/image" Target="../media/image1.emf"/><Relationship Id="rId3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BDDEA15-CDFB-C0D1-1BAE-21EC1602C811}"/>
              </a:ext>
            </a:extLst>
          </p:cNvPr>
          <p:cNvGraphicFramePr>
            <a:graphicFrameLocks noChangeAspect="1"/>
          </p:cNvGraphicFramePr>
          <p:nvPr userDrawn="1">
            <p:custDataLst>
              <p:tags r:id="rId34"/>
            </p:custDataLst>
            <p:extLst>
              <p:ext uri="{D42A27DB-BD31-4B8C-83A1-F6EECF244321}">
                <p14:modId xmlns:p14="http://schemas.microsoft.com/office/powerpoint/2010/main" val="2457869099"/>
              </p:ext>
            </p:extLst>
          </p:nvPr>
        </p:nvGraphicFramePr>
        <p:xfrm>
          <a:off x="1588" y="1589"/>
          <a:ext cx="1588" cy="1587"/>
        </p:xfrm>
        <a:graphic>
          <a:graphicData uri="http://schemas.openxmlformats.org/presentationml/2006/ole">
            <mc:AlternateContent xmlns:mc="http://schemas.openxmlformats.org/markup-compatibility/2006">
              <mc:Choice xmlns:v="urn:schemas-microsoft-com:vml" Requires="v">
                <p:oleObj name="think-cell Slide" r:id="rId35" imgW="286" imgH="286" progId="TCLayout.ActiveDocument.1">
                  <p:embed/>
                </p:oleObj>
              </mc:Choice>
              <mc:Fallback>
                <p:oleObj name="think-cell Slide" r:id="rId35" imgW="286" imgH="286" progId="TCLayout.ActiveDocument.1">
                  <p:embed/>
                  <p:pic>
                    <p:nvPicPr>
                      <p:cNvPr id="5" name="Object 4" hidden="1">
                        <a:extLst>
                          <a:ext uri="{FF2B5EF4-FFF2-40B4-BE49-F238E27FC236}">
                            <a16:creationId xmlns:a16="http://schemas.microsoft.com/office/drawing/2014/main" id="{4BDDEA15-CDFB-C0D1-1BAE-21EC1602C811}"/>
                          </a:ext>
                        </a:extLst>
                      </p:cNvPr>
                      <p:cNvPicPr/>
                      <p:nvPr/>
                    </p:nvPicPr>
                    <p:blipFill>
                      <a:blip r:embed="rId36"/>
                      <a:stretch>
                        <a:fillRect/>
                      </a:stretch>
                    </p:blipFill>
                    <p:spPr>
                      <a:xfrm>
                        <a:off x="1588" y="1589"/>
                        <a:ext cx="1588" cy="1587"/>
                      </a:xfrm>
                      <a:prstGeom prst="rect">
                        <a:avLst/>
                      </a:prstGeom>
                    </p:spPr>
                  </p:pic>
                </p:oleObj>
              </mc:Fallback>
            </mc:AlternateContent>
          </a:graphicData>
        </a:graphic>
      </p:graphicFrame>
      <p:sp>
        <p:nvSpPr>
          <p:cNvPr id="2" name="Title Placeholder 1"/>
          <p:cNvSpPr>
            <a:spLocks noGrp="1"/>
          </p:cNvSpPr>
          <p:nvPr>
            <p:ph type="title"/>
          </p:nvPr>
        </p:nvSpPr>
        <p:spPr>
          <a:xfrm>
            <a:off x="665163" y="1032442"/>
            <a:ext cx="9398001" cy="864587"/>
          </a:xfrm>
          <a:prstGeom prst="rect">
            <a:avLst/>
          </a:prstGeom>
        </p:spPr>
        <p:txBody>
          <a:bodyPr vert="horz" lIns="0" tIns="0" rIns="0" bIns="0" rtlCol="0" anchor="t" anchorCtr="0">
            <a:noAutofit/>
          </a:bodyPr>
          <a:lstStyle/>
          <a:p>
            <a:r>
              <a:rPr lang="en-GB" noProof="0"/>
              <a:t>Slide title</a:t>
            </a:r>
          </a:p>
        </p:txBody>
      </p:sp>
      <p:sp>
        <p:nvSpPr>
          <p:cNvPr id="3" name="Text Placeholder 2"/>
          <p:cNvSpPr>
            <a:spLocks noGrp="1"/>
          </p:cNvSpPr>
          <p:nvPr>
            <p:ph type="body" idx="1"/>
          </p:nvPr>
        </p:nvSpPr>
        <p:spPr>
          <a:xfrm>
            <a:off x="665163" y="2552366"/>
            <a:ext cx="9398001" cy="3269738"/>
          </a:xfrm>
          <a:prstGeom prst="rect">
            <a:avLst/>
          </a:prstGeom>
          <a:noFill/>
        </p:spPr>
        <p:txBody>
          <a:bodyPr vert="horz" lIns="0" tIns="0" rIns="0" bIns="0" rtlCol="0">
            <a:noAutofit/>
          </a:bodyPr>
          <a:lstStyle/>
          <a:p>
            <a:pPr lvl="0"/>
            <a:r>
              <a:rPr lang="en-GB" noProof="0" dirty="0"/>
              <a:t>Use </a:t>
            </a:r>
            <a:r>
              <a:rPr lang="en-GB" noProof="0" dirty="0" err="1"/>
              <a:t>Alt+Shift+Right</a:t>
            </a:r>
            <a:r>
              <a:rPr lang="en-GB" noProof="0" dirty="0"/>
              <a:t>/Left arrows to change text levels</a:t>
            </a:r>
          </a:p>
          <a:p>
            <a:pPr lvl="1"/>
            <a:r>
              <a:rPr lang="en-GB" noProof="0" dirty="0"/>
              <a:t>Deuxième </a:t>
            </a:r>
            <a:r>
              <a:rPr lang="en-GB" noProof="0" dirty="0" err="1"/>
              <a:t>niveau</a:t>
            </a:r>
            <a:endParaRPr lang="en-GB" noProof="0" dirty="0"/>
          </a:p>
          <a:p>
            <a:pPr lvl="2"/>
            <a:r>
              <a:rPr lang="en-GB" noProof="0" dirty="0" err="1"/>
              <a:t>Troisième</a:t>
            </a:r>
            <a:r>
              <a:rPr lang="en-GB" noProof="0" dirty="0"/>
              <a:t> </a:t>
            </a:r>
            <a:r>
              <a:rPr lang="en-GB" noProof="0" dirty="0" err="1"/>
              <a:t>niveau</a:t>
            </a:r>
            <a:endParaRPr lang="en-GB" noProof="0" dirty="0"/>
          </a:p>
          <a:p>
            <a:pPr lvl="3"/>
            <a:r>
              <a:rPr lang="en-GB" noProof="0" dirty="0" err="1"/>
              <a:t>Quatrième</a:t>
            </a:r>
            <a:r>
              <a:rPr lang="en-GB" noProof="0" dirty="0"/>
              <a:t> </a:t>
            </a:r>
            <a:r>
              <a:rPr lang="en-GB" noProof="0" dirty="0" err="1"/>
              <a:t>niveau</a:t>
            </a:r>
            <a:endParaRPr lang="en-GB" noProof="0" dirty="0"/>
          </a:p>
          <a:p>
            <a:pPr lvl="4"/>
            <a:r>
              <a:rPr lang="en-GB" noProof="0" dirty="0" err="1"/>
              <a:t>Cinquième</a:t>
            </a:r>
            <a:r>
              <a:rPr lang="en-GB" noProof="0" dirty="0"/>
              <a:t> </a:t>
            </a:r>
            <a:r>
              <a:rPr lang="en-GB" noProof="0" dirty="0" err="1"/>
              <a:t>niveau</a:t>
            </a:r>
            <a:endParaRPr lang="en-GB" noProof="0" dirty="0"/>
          </a:p>
          <a:p>
            <a:pPr lvl="5"/>
            <a:r>
              <a:rPr lang="en-GB" noProof="0" dirty="0" err="1"/>
              <a:t>Sixième</a:t>
            </a:r>
            <a:r>
              <a:rPr lang="en-GB" noProof="0" dirty="0"/>
              <a:t> </a:t>
            </a:r>
            <a:r>
              <a:rPr lang="en-GB" noProof="0" dirty="0" err="1"/>
              <a:t>niveau</a:t>
            </a:r>
            <a:endParaRPr lang="en-GB" noProof="0" dirty="0"/>
          </a:p>
          <a:p>
            <a:pPr lvl="6"/>
            <a:r>
              <a:rPr lang="en-GB" noProof="0" dirty="0" err="1"/>
              <a:t>Septième</a:t>
            </a:r>
            <a:r>
              <a:rPr lang="en-GB" noProof="0" dirty="0"/>
              <a:t> </a:t>
            </a:r>
            <a:r>
              <a:rPr lang="en-GB" noProof="0" dirty="0" err="1"/>
              <a:t>niveau</a:t>
            </a:r>
            <a:endParaRPr lang="en-GB" noProof="0" dirty="0"/>
          </a:p>
          <a:p>
            <a:pPr lvl="7"/>
            <a:r>
              <a:rPr lang="en-GB" noProof="0" dirty="0" err="1"/>
              <a:t>Huitième</a:t>
            </a:r>
            <a:r>
              <a:rPr lang="en-GB" noProof="0" dirty="0"/>
              <a:t> </a:t>
            </a:r>
            <a:r>
              <a:rPr lang="en-GB" noProof="0" dirty="0" err="1"/>
              <a:t>niveau</a:t>
            </a:r>
            <a:endParaRPr lang="en-GB" noProof="0" dirty="0"/>
          </a:p>
          <a:p>
            <a:pPr lvl="8"/>
            <a:r>
              <a:rPr lang="en-GB" noProof="0" dirty="0" err="1"/>
              <a:t>Neuvième</a:t>
            </a:r>
            <a:r>
              <a:rPr lang="en-GB" noProof="0" dirty="0"/>
              <a:t> </a:t>
            </a:r>
            <a:r>
              <a:rPr lang="en-GB" noProof="0" dirty="0" err="1"/>
              <a:t>niveau</a:t>
            </a:r>
            <a:endParaRPr lang="en-GB" noProof="0" dirty="0"/>
          </a:p>
        </p:txBody>
      </p:sp>
      <p:sp>
        <p:nvSpPr>
          <p:cNvPr id="16" name="ZoneTexte 3">
            <a:extLst>
              <a:ext uri="{FF2B5EF4-FFF2-40B4-BE49-F238E27FC236}">
                <a16:creationId xmlns:a16="http://schemas.microsoft.com/office/drawing/2014/main" id="{907A1612-3E73-9848-9340-FBD9D78E3901}"/>
              </a:ext>
            </a:extLst>
          </p:cNvPr>
          <p:cNvSpPr txBox="1"/>
          <p:nvPr userDrawn="1"/>
        </p:nvSpPr>
        <p:spPr>
          <a:xfrm>
            <a:off x="10155096" y="7097826"/>
            <a:ext cx="252000" cy="225415"/>
          </a:xfrm>
          <a:prstGeom prst="rect">
            <a:avLst/>
          </a:prstGeom>
          <a:noFill/>
        </p:spPr>
        <p:txBody>
          <a:bodyPr wrap="square" lIns="0" tIns="0" rIns="0" bIns="0" rtlCol="0" anchor="ctr" anchorCtr="0">
            <a:noAutofit/>
          </a:bodyPr>
          <a:lstStyle>
            <a:defPPr>
              <a:defRPr lang="en-US"/>
            </a:defPPr>
            <a:lvl1pPr algn="r">
              <a:defRPr sz="750" b="0"/>
            </a:lvl1pPr>
          </a:lstStyle>
          <a:p>
            <a:pPr lvl="0"/>
            <a:r>
              <a:rPr lang="en-GB" sz="596">
                <a:solidFill>
                  <a:schemeClr val="tx1"/>
                </a:solidFill>
              </a:rPr>
              <a:t> </a:t>
            </a:r>
            <a:fld id="{4DDA3DAE-CEE7-4C82-B729-78E2CF34A6DC}" type="slidenum">
              <a:rPr lang="en-GB" sz="596" smtClean="0">
                <a:solidFill>
                  <a:schemeClr val="tx1"/>
                </a:solidFill>
              </a:rPr>
              <a:pPr lvl="0"/>
              <a:t>‹#›</a:t>
            </a:fld>
            <a:endParaRPr lang="en-GB" sz="596">
              <a:solidFill>
                <a:schemeClr val="tx1"/>
              </a:solidFill>
            </a:endParaRPr>
          </a:p>
        </p:txBody>
      </p:sp>
      <p:sp>
        <p:nvSpPr>
          <p:cNvPr id="17" name="Rectangle 11">
            <a:extLst>
              <a:ext uri="{FF2B5EF4-FFF2-40B4-BE49-F238E27FC236}">
                <a16:creationId xmlns:a16="http://schemas.microsoft.com/office/drawing/2014/main" id="{03CB904D-62A2-D249-9D86-6AF9109F4D6C}"/>
              </a:ext>
            </a:extLst>
          </p:cNvPr>
          <p:cNvSpPr txBox="1">
            <a:spLocks noChangeArrowheads="1"/>
          </p:cNvSpPr>
          <p:nvPr userDrawn="1"/>
        </p:nvSpPr>
        <p:spPr bwMode="auto">
          <a:xfrm rot="5400000">
            <a:off x="8756462" y="5065221"/>
            <a:ext cx="3269735" cy="251503"/>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85" kern="600">
                <a:solidFill>
                  <a:schemeClr val="bg1">
                    <a:lumMod val="85000"/>
                  </a:schemeClr>
                </a:solidFill>
                <a:latin typeface="Nunito Sans" pitchFamily="2" charset="77"/>
              </a:rPr>
              <a:t>Please see important information at the end of the document</a:t>
            </a:r>
          </a:p>
        </p:txBody>
      </p:sp>
      <p:pic>
        <p:nvPicPr>
          <p:cNvPr id="6" name="Picture 5">
            <a:extLst>
              <a:ext uri="{FF2B5EF4-FFF2-40B4-BE49-F238E27FC236}">
                <a16:creationId xmlns:a16="http://schemas.microsoft.com/office/drawing/2014/main" id="{4F1D6016-274D-6FC8-0249-F3874C23DA47}"/>
              </a:ext>
            </a:extLst>
          </p:cNvPr>
          <p:cNvPicPr>
            <a:picLocks noChangeAspect="1"/>
          </p:cNvPicPr>
          <p:nvPr userDrawn="1"/>
        </p:nvPicPr>
        <p:blipFill>
          <a:blip r:embed="rId37">
            <a:extLst>
              <a:ext uri="{28A0092B-C50C-407E-A947-70E740481C1C}">
                <a14:useLocalDpi xmlns:a14="http://schemas.microsoft.com/office/drawing/2010/main"/>
              </a:ext>
            </a:extLst>
          </a:blip>
          <a:stretch>
            <a:fillRect/>
          </a:stretch>
        </p:blipFill>
        <p:spPr>
          <a:xfrm>
            <a:off x="10064601" y="396054"/>
            <a:ext cx="426928" cy="385479"/>
          </a:xfrm>
          <a:prstGeom prst="rect">
            <a:avLst/>
          </a:prstGeom>
        </p:spPr>
      </p:pic>
    </p:spTree>
    <p:extLst>
      <p:ext uri="{BB962C8B-B14F-4D97-AF65-F5344CB8AC3E}">
        <p14:creationId xmlns:p14="http://schemas.microsoft.com/office/powerpoint/2010/main" val="16893190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4" r:id="rId3"/>
    <p:sldLayoutId id="2147483698" r:id="rId4"/>
    <p:sldLayoutId id="2147483701" r:id="rId5"/>
    <p:sldLayoutId id="2147483697" r:id="rId6"/>
    <p:sldLayoutId id="2147483702" r:id="rId7"/>
    <p:sldLayoutId id="2147483691" r:id="rId8"/>
    <p:sldLayoutId id="2147483690" r:id="rId9"/>
    <p:sldLayoutId id="2147483662" r:id="rId10"/>
    <p:sldLayoutId id="2147483663" r:id="rId11"/>
    <p:sldLayoutId id="2147483664" r:id="rId12"/>
    <p:sldLayoutId id="2147483665" r:id="rId13"/>
    <p:sldLayoutId id="2147483674" r:id="rId14"/>
    <p:sldLayoutId id="2147483679" r:id="rId15"/>
    <p:sldLayoutId id="2147483680" r:id="rId16"/>
    <p:sldLayoutId id="2147483699" r:id="rId17"/>
    <p:sldLayoutId id="2147483685" r:id="rId18"/>
    <p:sldLayoutId id="2147483686" r:id="rId19"/>
    <p:sldLayoutId id="2147483666" r:id="rId20"/>
    <p:sldLayoutId id="2147483700" r:id="rId21"/>
    <p:sldLayoutId id="2147483687" r:id="rId22"/>
    <p:sldLayoutId id="2147483678" r:id="rId23"/>
    <p:sldLayoutId id="2147483705" r:id="rId24"/>
    <p:sldLayoutId id="2147483707" r:id="rId25"/>
    <p:sldLayoutId id="2147483706" r:id="rId26"/>
    <p:sldLayoutId id="2147483703" r:id="rId27"/>
    <p:sldLayoutId id="2147483708" r:id="rId28"/>
    <p:sldLayoutId id="2147483710" r:id="rId29"/>
    <p:sldLayoutId id="2147483711" r:id="rId30"/>
    <p:sldLayoutId id="2147483712" r:id="rId31"/>
    <p:sldLayoutId id="2147483713" r:id="rId32"/>
  </p:sldLayoutIdLst>
  <p:transition/>
  <p:hf hdr="0" ftr="0"/>
  <p:txStyles>
    <p:title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p:titleStyle>
    <p:bodyStyle>
      <a:lvl1pPr marL="217670" indent="-217670" algn="l" defTabSz="801899" rtl="0" eaLnBrk="1" latinLnBrk="0" hangingPunct="1">
        <a:lnSpc>
          <a:spcPct val="100000"/>
        </a:lnSpc>
        <a:spcBef>
          <a:spcPts val="954"/>
        </a:spcBef>
        <a:spcAft>
          <a:spcPct val="0"/>
        </a:spcAft>
        <a:buClr>
          <a:srgbClr val="FFA400"/>
        </a:buClr>
        <a:buSzPct val="90000"/>
        <a:buFont typeface="Wingdings 3" panose="05040102010807070707" pitchFamily="18" charset="2"/>
        <a:buChar char=""/>
        <a:defRPr sz="1114" b="0" kern="1200" cap="none" baseline="0">
          <a:solidFill>
            <a:schemeClr val="tx1"/>
          </a:solidFill>
          <a:latin typeface="+mn-lt"/>
          <a:ea typeface="+mn-ea"/>
          <a:cs typeface="+mn-cs"/>
        </a:defRPr>
      </a:lvl1pPr>
      <a:lvl2pPr marL="392381" indent="-174710" algn="l" defTabSz="801899" rtl="0" eaLnBrk="1" latinLnBrk="0" hangingPunct="1">
        <a:lnSpc>
          <a:spcPct val="100000"/>
        </a:lnSpc>
        <a:spcBef>
          <a:spcPts val="477"/>
        </a:spcBef>
        <a:spcAft>
          <a:spcPct val="0"/>
        </a:spcAft>
        <a:buClr>
          <a:srgbClr val="4B5F80"/>
        </a:buClr>
        <a:buSzTx/>
        <a:buFont typeface="Arial" panose="020B0604020202020204" pitchFamily="34" charset="0"/>
        <a:buChar char="•"/>
        <a:defRPr sz="1114" b="0" kern="1200">
          <a:solidFill>
            <a:schemeClr val="tx1"/>
          </a:solidFill>
          <a:latin typeface="+mn-lt"/>
          <a:ea typeface="+mn-ea"/>
          <a:cs typeface="+mn-cs"/>
        </a:defRPr>
      </a:lvl2pPr>
      <a:lvl3pPr marL="601459" indent="-174710" algn="l" defTabSz="801899" rtl="0" eaLnBrk="1" latinLnBrk="0" hangingPunct="1">
        <a:lnSpc>
          <a:spcPct val="100000"/>
        </a:lnSpc>
        <a:spcBef>
          <a:spcPts val="477"/>
        </a:spcBef>
        <a:spcAft>
          <a:spcPct val="0"/>
        </a:spcAft>
        <a:buClr>
          <a:srgbClr val="4B5F80"/>
        </a:buClr>
        <a:buFont typeface="Cambria" panose="02040503050406030204" pitchFamily="18" charset="0"/>
        <a:buChar char="⎼"/>
        <a:defRPr sz="1035" kern="1200">
          <a:solidFill>
            <a:schemeClr val="tx1"/>
          </a:solidFill>
          <a:latin typeface="+mn-lt"/>
          <a:ea typeface="+mn-ea"/>
          <a:cs typeface="+mn-cs"/>
        </a:defRPr>
      </a:lvl3pPr>
      <a:lvl4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4pPr>
      <a:lvl5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5pPr>
      <a:lvl6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6pPr>
      <a:lvl7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7pPr>
      <a:lvl8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8pPr>
      <a:lvl9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9pPr>
    </p:bodyStyle>
    <p:otherStyle>
      <a:defPPr>
        <a:defRPr lang="en-US"/>
      </a:defPPr>
      <a:lvl1pPr marL="0" algn="l" defTabSz="801899" rtl="0" eaLnBrk="1" latinLnBrk="0" hangingPunct="1">
        <a:defRPr sz="1579" kern="1200">
          <a:solidFill>
            <a:schemeClr val="tx1"/>
          </a:solidFill>
          <a:latin typeface="+mn-lt"/>
          <a:ea typeface="+mn-ea"/>
          <a:cs typeface="+mn-cs"/>
        </a:defRPr>
      </a:lvl1pPr>
      <a:lvl2pPr marL="400951" algn="l" defTabSz="801899" rtl="0" eaLnBrk="1" latinLnBrk="0" hangingPunct="1">
        <a:defRPr sz="1579" kern="1200">
          <a:solidFill>
            <a:schemeClr val="tx1"/>
          </a:solidFill>
          <a:latin typeface="+mn-lt"/>
          <a:ea typeface="+mn-ea"/>
          <a:cs typeface="+mn-cs"/>
        </a:defRPr>
      </a:lvl2pPr>
      <a:lvl3pPr marL="801899" algn="l" defTabSz="801899" rtl="0" eaLnBrk="1" latinLnBrk="0" hangingPunct="1">
        <a:defRPr sz="1579" kern="1200">
          <a:solidFill>
            <a:schemeClr val="tx1"/>
          </a:solidFill>
          <a:latin typeface="+mn-lt"/>
          <a:ea typeface="+mn-ea"/>
          <a:cs typeface="+mn-cs"/>
        </a:defRPr>
      </a:lvl3pPr>
      <a:lvl4pPr marL="1202850" algn="l" defTabSz="801899" rtl="0" eaLnBrk="1" latinLnBrk="0" hangingPunct="1">
        <a:defRPr sz="1579" kern="1200">
          <a:solidFill>
            <a:schemeClr val="tx1"/>
          </a:solidFill>
          <a:latin typeface="+mn-lt"/>
          <a:ea typeface="+mn-ea"/>
          <a:cs typeface="+mn-cs"/>
        </a:defRPr>
      </a:lvl4pPr>
      <a:lvl5pPr marL="1603799" algn="l" defTabSz="801899" rtl="0" eaLnBrk="1" latinLnBrk="0" hangingPunct="1">
        <a:defRPr sz="1579" kern="1200">
          <a:solidFill>
            <a:schemeClr val="tx1"/>
          </a:solidFill>
          <a:latin typeface="+mn-lt"/>
          <a:ea typeface="+mn-ea"/>
          <a:cs typeface="+mn-cs"/>
        </a:defRPr>
      </a:lvl5pPr>
      <a:lvl6pPr marL="2004748" algn="l" defTabSz="801899" rtl="0" eaLnBrk="1" latinLnBrk="0" hangingPunct="1">
        <a:defRPr sz="1579" kern="1200">
          <a:solidFill>
            <a:schemeClr val="tx1"/>
          </a:solidFill>
          <a:latin typeface="+mn-lt"/>
          <a:ea typeface="+mn-ea"/>
          <a:cs typeface="+mn-cs"/>
        </a:defRPr>
      </a:lvl6pPr>
      <a:lvl7pPr marL="2405698" algn="l" defTabSz="801899" rtl="0" eaLnBrk="1" latinLnBrk="0" hangingPunct="1">
        <a:defRPr sz="1579" kern="1200">
          <a:solidFill>
            <a:schemeClr val="tx1"/>
          </a:solidFill>
          <a:latin typeface="+mn-lt"/>
          <a:ea typeface="+mn-ea"/>
          <a:cs typeface="+mn-cs"/>
        </a:defRPr>
      </a:lvl7pPr>
      <a:lvl8pPr marL="2806647" algn="l" defTabSz="801899" rtl="0" eaLnBrk="1" latinLnBrk="0" hangingPunct="1">
        <a:defRPr sz="1579" kern="1200">
          <a:solidFill>
            <a:schemeClr val="tx1"/>
          </a:solidFill>
          <a:latin typeface="+mn-lt"/>
          <a:ea typeface="+mn-ea"/>
          <a:cs typeface="+mn-cs"/>
        </a:defRPr>
      </a:lvl8pPr>
      <a:lvl9pPr marL="3207598" algn="l" defTabSz="801899"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9" userDrawn="1">
          <p15:clr>
            <a:srgbClr val="F26B43"/>
          </p15:clr>
        </p15:guide>
        <p15:guide id="2" pos="6342" userDrawn="1">
          <p15:clr>
            <a:srgbClr val="F26B43"/>
          </p15:clr>
        </p15:guide>
        <p15:guide id="3" orient="horz" pos="1764" userDrawn="1">
          <p15:clr>
            <a:srgbClr val="F26B43"/>
          </p15:clr>
        </p15:guide>
        <p15:guide id="4" orient="horz" pos="3824" userDrawn="1">
          <p15:clr>
            <a:srgbClr val="F26B43"/>
          </p15:clr>
        </p15:guide>
        <p15:guide id="5" orient="horz" pos="1202" userDrawn="1">
          <p15:clr>
            <a:srgbClr val="F26B43"/>
          </p15:clr>
        </p15:guide>
        <p15:guide id="6" orient="horz" pos="589" userDrawn="1">
          <p15:clr>
            <a:srgbClr val="F26B43"/>
          </p15:clr>
        </p15:guide>
        <p15:guide id="7" orient="horz" pos="433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2.xml"/><Relationship Id="rId3" Type="http://schemas.openxmlformats.org/officeDocument/2006/relationships/image" Target="../media/image1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3.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2.xml"/><Relationship Id="rId3" Type="http://schemas.openxmlformats.org/officeDocument/2006/relationships/chart" Target="../charts/chart5.xml"/><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image" Target="../media/image1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7FFE63D7_0.xml"/><Relationship Id="rId3" Type="http://schemas.openxmlformats.org/officeDocument/2006/relationships/chart" Target="../charts/chart10.xml"/><Relationship Id="rId4" Type="http://schemas.openxmlformats.org/officeDocument/2006/relationships/chart" Target="../charts/chart11.xml"/><Relationship Id="rId5" Type="http://schemas.openxmlformats.org/officeDocument/2006/relationships/image" Target="../media/image17.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 Id="rId3" Type="http://schemas.openxmlformats.org/officeDocument/2006/relationships/chart" Target="../charts/chart12.xml"/><Relationship Id="rId4" Type="http://schemas.openxmlformats.org/officeDocument/2006/relationships/chart" Target="../charts/chart13.xml"/><Relationship Id="rId5" Type="http://schemas.openxmlformats.org/officeDocument/2006/relationships/chart" Target="../charts/chart14.xml"/><Relationship Id="rId6" Type="http://schemas.openxmlformats.org/officeDocument/2006/relationships/image" Target="../media/image1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7FFE63D8_0.xml"/><Relationship Id="rId3" Type="http://schemas.openxmlformats.org/officeDocument/2006/relationships/chart" Target="../charts/chart15.xml"/><Relationship Id="rId4" Type="http://schemas.openxmlformats.org/officeDocument/2006/relationships/image" Target="../media/image18.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6.xml"/><Relationship Id="rId3" Type="http://schemas.openxmlformats.org/officeDocument/2006/relationships/image" Target="../media/image19.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0.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7.xml"/></Relationships>
</file>

<file path=ppt/slides/_rels/slide2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microsoft.com/office/2018/10/relationships/comments" Target="../comments/modernComment_10A_0.xml"/></Relationships>
</file>

<file path=ppt/slides/_rels/slide23.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2.bin"/><Relationship Id="rId5" Type="http://schemas.openxmlformats.org/officeDocument/2006/relationships/image" Target="../media/image2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slideLayout" Target="../slideLayouts/slideLayout28.xml"/><Relationship Id="rId4" Type="http://schemas.openxmlformats.org/officeDocument/2006/relationships/notesSlide" Target="../notesSlides/notesSlide5.xml"/><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svg"/><Relationship Id="rId8" Type="http://schemas.openxmlformats.org/officeDocument/2006/relationships/image" Target="../media/image28.svg"/><Relationship Id="rId9" Type="http://schemas.openxmlformats.org/officeDocument/2006/relationships/image" Target="../media/image29.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30.svg"/></Relationships>
</file>

<file path=ppt/slides/_rels/slide2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Layout" Target="../slideLayouts/slideLayout30.xml"/><Relationship Id="rId4"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31.svg"/><Relationship Id="rId6" Type="http://schemas.openxmlformats.org/officeDocument/2006/relationships/image" Target="../media/image32.svg"/><Relationship Id="rId7" Type="http://schemas.openxmlformats.org/officeDocument/2006/relationships/image" Target="../media/image33.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chart" Target="../charts/chart18.xml"/><Relationship Id="rId3" Type="http://schemas.openxmlformats.org/officeDocument/2006/relationships/chart" Target="../charts/char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chart" Target="../charts/chart20.xml"/></Relationships>
</file>

<file path=ppt/slides/_rels/slide3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29.xml"/><Relationship Id="rId3" Type="http://schemas.openxmlformats.org/officeDocument/2006/relationships/chart" Target="../charts/chart21.xml"/><Relationship Id="rId4" Type="http://schemas.openxmlformats.org/officeDocument/2006/relationships/chart" Target="../charts/char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chart" Target="../charts/chart23.xml"/></Relationships>
</file>

<file path=ppt/slides/_rels/slide35.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slideLayout" Target="../slideLayouts/slideLayout29.xml"/><Relationship Id="rId4" Type="http://schemas.openxmlformats.org/officeDocument/2006/relationships/chart" Target="../charts/char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5166" y="3432261"/>
            <a:ext cx="3505819" cy="1028391"/>
          </a:xfrm>
        </p:spPr>
        <p:txBody>
          <a:bodyPr/>
          <a:lstStyle/>
          <a:p>
            <a:r>
              <a:rPr lang="en-US" noProof="0" dirty="0"/>
              <a:t>Investment Proposal</a:t>
            </a:r>
            <a:br>
              <a:rPr lang="en-US" noProof="0" dirty="0"/>
            </a:br>
            <a:endParaRPr lang="en-US" noProof="0" dirty="0"/>
          </a:p>
        </p:txBody>
      </p:sp>
      <p:sp>
        <p:nvSpPr>
          <p:cNvPr id="5" name="TextBox 4">
            <a:extLst>
              <a:ext uri="{FF2B5EF4-FFF2-40B4-BE49-F238E27FC236}">
                <a16:creationId xmlns:a16="http://schemas.microsoft.com/office/drawing/2014/main" id="{DB5E26F1-C2FA-05E8-250D-21FE76B78DDB}"/>
              </a:ext>
            </a:extLst>
          </p:cNvPr>
          <p:cNvSpPr txBox="1"/>
          <p:nvPr/>
        </p:nvSpPr>
        <p:spPr>
          <a:xfrm>
            <a:off x="1047135" y="1283110"/>
            <a:ext cx="0" cy="0"/>
          </a:xfrm>
          <a:prstGeom prst="rect">
            <a:avLst/>
          </a:prstGeom>
          <a:noFill/>
        </p:spPr>
        <p:txBody>
          <a:bodyPr vert="horz" wrap="none" lIns="0" tIns="0" rIns="0" bIns="0" rtlCol="0">
            <a:noAutofit/>
          </a:bodyPr>
          <a:lstStyle/>
          <a:p>
            <a:pPr algn="l"/>
            <a:endParaRPr lang="en-US" sz="1400" noProof="0" dirty="0"/>
          </a:p>
        </p:txBody>
      </p:sp>
      <p:pic>
        <p:nvPicPr>
          <p:cNvPr id="7" name="Picture 6">
            <a:extLst>
              <a:ext uri="{FF2B5EF4-FFF2-40B4-BE49-F238E27FC236}">
                <a16:creationId xmlns:a16="http://schemas.microsoft.com/office/drawing/2014/main" id="{6F76270C-7241-4516-0B18-4CDED442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5570142" y="2436288"/>
            <a:ext cx="7561173" cy="2685600"/>
          </a:xfrm>
          <a:prstGeom prst="rect">
            <a:avLst/>
          </a:prstGeom>
        </p:spPr>
      </p:pic>
      <p:pic>
        <p:nvPicPr>
          <p:cNvPr id="14" name="Picture Placeholder 13">
            <a:extLst>
              <a:ext uri="{FF2B5EF4-FFF2-40B4-BE49-F238E27FC236}">
                <a16:creationId xmlns:a16="http://schemas.microsoft.com/office/drawing/2014/main" id="{4C3FC1B2-015E-C93E-4C3A-D485BBAB60D6}"/>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59" b="59"/>
          <a:stretch>
            <a:fillRect/>
          </a:stretch>
        </p:blipFill>
        <p:spPr>
          <a:prstGeom prst="rect">
            <a:avLst/>
          </a:prstGeom>
          <a:noFill/>
        </p:spPr>
      </p:pic>
      <p:sp>
        <p:nvSpPr>
          <p:cNvPr id="8" name="Text Placeholder 5">
            <a:extLst>
              <a:ext uri="{FF2B5EF4-FFF2-40B4-BE49-F238E27FC236}">
                <a16:creationId xmlns:a16="http://schemas.microsoft.com/office/drawing/2014/main" id="{5F934597-247F-905C-6285-0E599E19095F}"/>
              </a:ext>
            </a:extLst>
          </p:cNvPr>
          <p:cNvSpPr>
            <a:spLocks noGrp="1"/>
          </p:cNvSpPr>
          <p:nvPr>
            <p:ph type="body" sz="quarter" idx="13"/>
          </p:nvPr>
        </p:nvSpPr>
        <p:spPr>
          <a:xfrm>
            <a:off x="665163" y="4232565"/>
            <a:ext cx="4391746" cy="1572490"/>
          </a:xfrm>
        </p:spPr>
        <p:txBody>
          <a:bodyPr/>
          <a:lstStyle/>
          <a:p>
            <a:r>
              <a:rPr lang="en-US" sz="1600" b="1" dirty="0"/>
              <a:t>Moderate USD 7m</a:t>
            </a:r>
            <a:endParaRPr lang="en-GB" sz="1600" b="1" dirty="0"/>
          </a:p>
          <a:p>
            <a:endParaRPr lang="en-GB" sz="1400" b="1" dirty="0"/>
          </a:p>
          <a:p>
            <a:r>
              <a:rPr lang="en-CH" sz="1100" dirty="0"/>
              <a:t>Prepared for [Client Name ]</a:t>
            </a:r>
            <a:endParaRPr lang="en-US" sz="1100" dirty="0"/>
          </a:p>
          <a:p>
            <a:endParaRPr lang="en-US" sz="1100" dirty="0"/>
          </a:p>
          <a:p>
            <a:r>
              <a:rPr lang="en-CH" sz="1100" dirty="0"/>
              <a:t>Your Relationship Manager: [Name]</a:t>
            </a:r>
            <a:endParaRPr lang="en-US" sz="1100" dirty="0"/>
          </a:p>
          <a:p>
            <a:endParaRPr lang="en-US" sz="1100" b="1" dirty="0"/>
          </a:p>
          <a:p>
            <a:r>
              <a:rPr lang="en-US" sz="1100" dirty="0"/>
              <a:t>Your Advisor: </a:t>
            </a:r>
            <a:endParaRPr lang="en-GB" sz="11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p:cNvSpPr>
            <a:spLocks noGrp="1"/>
          </p:cNvSpPr>
          <p:nvPr>
            <p:ph type="body" sz="quarter" idx="20"/>
          </p:nvPr>
        </p:nvSpPr>
        <p:spPr>
          <a:solidFill>
            <a:srgbClr val="FFA400"/>
          </a:solidFill>
        </p:spPr>
        <p:txBody>
          <a:bodyPr/>
          <a:lstStyle/>
          <a:p>
            <a:r>
              <a:rPr lang="en-US" noProof="0" dirty="0">
                <a:solidFill>
                  <a:srgbClr val="FFFFFF"/>
                </a:solidFill>
                <a:latin typeface="Nunito Sans ExtraBold"/>
              </a:rPr>
              <a:t>Market Update</a:t>
            </a:r>
            <a:endParaRPr lang="en-US" b="1" noProof="0" dirty="0">
              <a:solidFill>
                <a:srgbClr val="FFFFFF"/>
              </a:solidFill>
              <a:latin typeface="Nunito Sans ExtraBold"/>
            </a:endParaRPr>
          </a:p>
        </p:txBody>
      </p:sp>
      <p:sp>
        <p:nvSpPr>
          <p:cNvPr id="4" name="Text Placeholder 3"/>
          <p:cNvSpPr>
            <a:spLocks noGrp="1"/>
          </p:cNvSpPr>
          <p:nvPr>
            <p:ph type="body" sz="quarter" idx="21"/>
          </p:nvPr>
        </p:nvSpPr>
        <p:spPr>
          <a:solidFill>
            <a:srgbClr val="FFDA99"/>
          </a:solidFill>
        </p:spPr>
        <p:txBody>
          <a:bodyPr/>
          <a:lstStyle/>
          <a:p>
            <a:r>
              <a:rPr lang="en-US" sz="1100" b="1" noProof="0" dirty="0">
                <a:solidFill>
                  <a:srgbClr val="FFFFFF"/>
                </a:solidFill>
                <a:latin typeface="Nunito Sans ExtraBold"/>
              </a:rPr>
              <a:t>Investment Proposal</a:t>
            </a:r>
          </a:p>
        </p:txBody>
      </p:sp>
      <p:sp>
        <p:nvSpPr>
          <p:cNvPr id="8" name="Text Placeholder 7"/>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p:cNvSpPr>
            <a:spLocks noGrp="1"/>
          </p:cNvSpPr>
          <p:nvPr>
            <p:ph type="body" sz="quarter" idx="26"/>
          </p:nvPr>
        </p:nvSpPr>
        <p:spPr/>
        <p:txBody>
          <a:bodyPr/>
          <a:lstStyle/>
          <a:p>
            <a:r>
              <a:rPr lang="en-US" b="1" noProof="0" dirty="0">
                <a:solidFill>
                  <a:srgbClr val="FFA400"/>
                </a:solidFill>
                <a:latin typeface="Nunito Sans ExtraBold"/>
              </a:rPr>
              <a:t>02</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How markets moved last week</a:t>
            </a:r>
          </a:p>
        </p:txBody>
      </p:sp>
      <p:sp>
        <p:nvSpPr>
          <p:cNvPr id="3" name="Text Placeholder 2"/>
          <p:cNvSpPr>
            <a:spLocks noGrp="1"/>
          </p:cNvSpPr>
          <p:nvPr>
            <p:ph type="body" sz="quarter" idx="14"/>
          </p:nvPr>
        </p:nvSpPr>
        <p:spPr>
          <a:xfrm>
            <a:off x="665163" y="1728947"/>
            <a:ext cx="9398001" cy="430887"/>
          </a:xfrm>
        </p:spPr>
        <p:txBody>
          <a:bodyPr>
            <a:spAutoFit/>
          </a:bodyPr>
          <a:lstStyle/>
          <a:p>
            <a:r>
              <a:rPr lang="en-US" sz="1400" noProof="0" dirty="0"/>
              <a:t>A violent, momentum-driven unwind across everything AI-adjacent, while energy and value led. Week of 20 July 2026.</a:t>
            </a:r>
          </a:p>
        </p:txBody>
      </p:sp>
      <p:sp>
        <p:nvSpPr>
          <p:cNvPr id="4" name="Rectangle"/>
          <p:cNvSpPr/>
          <p:nvPr/>
        </p:nvSpPr>
        <p:spPr>
          <a:xfrm>
            <a:off x="6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-1.6%</a:t>
            </a:r>
          </a:p>
          <a:p>
            <a:pPr algn="ctr"/>
            <a:r>
              <a:rPr lang="en-US" sz="1200" noProof="0" dirty="0">
                <a:solidFill>
                  <a:srgbClr val="202945"/>
                </a:solidFill>
                <a:latin typeface="Nunito Sans"/>
              </a:rPr>
              <a:t>S&amp;P 500, week</a:t>
            </a:r>
          </a:p>
        </p:txBody>
      </p:sp>
      <p:sp>
        <p:nvSpPr>
          <p:cNvPr id="5" name="Rectangle"/>
          <p:cNvSpPr/>
          <p:nvPr/>
        </p:nvSpPr>
        <p:spPr>
          <a:xfrm>
            <a:off x="30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-9%</a:t>
            </a:r>
          </a:p>
          <a:p>
            <a:pPr algn="ctr"/>
            <a:r>
              <a:rPr lang="en-US" sz="1200" noProof="0" dirty="0">
                <a:solidFill>
                  <a:srgbClr val="202945"/>
                </a:solidFill>
                <a:latin typeface="Nunito Sans"/>
              </a:rPr>
              <a:t>SMH semiconductors, week</a:t>
            </a:r>
          </a:p>
        </p:txBody>
      </p:sp>
      <p:sp>
        <p:nvSpPr>
          <p:cNvPr id="6" name="Rectangle"/>
          <p:cNvSpPr/>
          <p:nvPr/>
        </p:nvSpPr>
        <p:spPr>
          <a:xfrm>
            <a:off x="54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-0.4%</a:t>
            </a:r>
          </a:p>
          <a:p>
            <a:pPr algn="ctr"/>
            <a:r>
              <a:rPr lang="en-US" sz="1200" noProof="0" dirty="0">
                <a:solidFill>
                  <a:srgbClr val="202945"/>
                </a:solidFill>
                <a:latin typeface="Nunito Sans"/>
              </a:rPr>
              <a:t>US CPI, June m/m</a:t>
            </a:r>
          </a:p>
        </p:txBody>
      </p:sp>
      <p:sp>
        <p:nvSpPr>
          <p:cNvPr id="7" name="Rectangle"/>
          <p:cNvSpPr/>
          <p:nvPr/>
        </p:nvSpPr>
        <p:spPr>
          <a:xfrm>
            <a:off x="78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$88</a:t>
            </a:r>
            <a:endParaRPr lang="en-US" sz="2400" noProof="0" dirty="0"/>
          </a:p>
          <a:p>
            <a:pPr algn="ctr"/>
            <a:r>
              <a:rPr lang="en-US" sz="1200" noProof="0" dirty="0">
                <a:solidFill>
                  <a:srgbClr val="202945"/>
                </a:solidFill>
                <a:latin typeface="Nunito Sans"/>
              </a:rPr>
              <a:t>WTI, week's high (+$12)</a:t>
            </a:r>
            <a:endParaRPr lang="en-US" sz="1300" noProof="0" dirty="0">
              <a:solidFill>
                <a:srgbClr val="202945"/>
              </a:solidFill>
              <a:latin typeface="Nunito Sans"/>
            </a:endParaRPr>
          </a:p>
        </p:txBody>
      </p:sp>
      <p:sp>
        <p:nvSpPr>
          <p:cNvPr id="8" name="TextBox"/>
          <p:cNvSpPr txBox="1"/>
          <p:nvPr/>
        </p:nvSpPr>
        <p:spPr>
          <a:xfrm>
            <a:off x="666000" y="3720000"/>
            <a:ext cx="4400000" cy="300000"/>
          </a:xfrm>
          <a:prstGeom prst="rect">
            <a:avLst/>
          </a:prstGeom>
          <a:noFill/>
        </p:spPr>
        <p:txBody>
          <a:bodyPr wrap="square" lIns="0" tIns="0" rIns="0" bIns="0" anchor="t"/>
          <a:lstStyle/>
          <a:p>
            <a:pPr algn="l"/>
            <a:r>
              <a:rPr lang="en-US" sz="1400" b="1" noProof="0" dirty="0">
                <a:solidFill>
                  <a:srgbClr val="FF6C0E"/>
                </a:solidFill>
                <a:latin typeface="Nunito Sans ExtraBold"/>
              </a:rPr>
              <a:t>Cross-asset scoreboard</a:t>
            </a:r>
          </a:p>
        </p:txBody>
      </p:sp>
      <p:sp>
        <p:nvSpPr>
          <p:cNvPr id="9" name="TextBox"/>
          <p:cNvSpPr txBox="1"/>
          <p:nvPr/>
        </p:nvSpPr>
        <p:spPr>
          <a:xfrm>
            <a:off x="666000" y="4100000"/>
            <a:ext cx="2700000" cy="2900000"/>
          </a:xfrm>
          <a:prstGeom prst="rect">
            <a:avLst/>
          </a:prstGeom>
          <a:noFill/>
        </p:spPr>
        <p:txBody>
          <a:bodyPr wrap="square" lIns="0" tIns="0" rIns="0" bIns="0" anchor="t"/>
          <a:lstStyle/>
          <a:p>
            <a:pPr algn="l">
              <a:spcAft>
                <a:spcPts val="600"/>
              </a:spcAft>
            </a:pPr>
            <a:r>
              <a:rPr lang="en-US" sz="1100" b="1" noProof="0" dirty="0">
                <a:solidFill>
                  <a:srgbClr val="202945"/>
                </a:solidFill>
                <a:latin typeface="Nunito Sans"/>
              </a:rPr>
              <a:t>Index</a:t>
            </a:r>
          </a:p>
          <a:p>
            <a:pPr algn="l">
              <a:spcAft>
                <a:spcPts val="600"/>
              </a:spcAft>
            </a:pPr>
            <a:r>
              <a:rPr lang="en-US" sz="1100" b="0" noProof="0" dirty="0">
                <a:solidFill>
                  <a:srgbClr val="202945"/>
                </a:solidFill>
                <a:latin typeface="Nunito Sans"/>
              </a:rPr>
              <a:t>MSCI World</a:t>
            </a:r>
          </a:p>
          <a:p>
            <a:pPr algn="l">
              <a:spcAft>
                <a:spcPts val="600"/>
              </a:spcAft>
            </a:pPr>
            <a:r>
              <a:rPr lang="en-US" sz="1100" b="0" noProof="0" dirty="0">
                <a:solidFill>
                  <a:srgbClr val="202945"/>
                </a:solidFill>
                <a:latin typeface="Nunito Sans"/>
              </a:rPr>
              <a:t>Nasdaq 100</a:t>
            </a:r>
          </a:p>
          <a:p>
            <a:pPr algn="l">
              <a:spcAft>
                <a:spcPts val="600"/>
              </a:spcAft>
            </a:pPr>
            <a:r>
              <a:rPr lang="en-US" sz="1100" b="0" noProof="0" dirty="0">
                <a:solidFill>
                  <a:srgbClr val="202945"/>
                </a:solidFill>
                <a:latin typeface="Nunito Sans"/>
              </a:rPr>
              <a:t>MSCI EM</a:t>
            </a:r>
          </a:p>
          <a:p>
            <a:pPr algn="l">
              <a:spcAft>
                <a:spcPts val="600"/>
              </a:spcAft>
            </a:pPr>
            <a:r>
              <a:rPr lang="en-US" sz="1100" b="0" noProof="0" dirty="0">
                <a:solidFill>
                  <a:srgbClr val="202945"/>
                </a:solidFill>
                <a:latin typeface="Nunito Sans"/>
              </a:rPr>
              <a:t>CSI 300</a:t>
            </a:r>
          </a:p>
          <a:p>
            <a:pPr algn="l">
              <a:spcAft>
                <a:spcPts val="600"/>
              </a:spcAft>
            </a:pPr>
            <a:r>
              <a:rPr lang="en-US" sz="1100" b="0" noProof="0" dirty="0">
                <a:solidFill>
                  <a:srgbClr val="202945"/>
                </a:solidFill>
                <a:latin typeface="Nunito Sans"/>
              </a:rPr>
              <a:t>US Governments</a:t>
            </a:r>
          </a:p>
          <a:p>
            <a:pPr algn="l">
              <a:spcAft>
                <a:spcPts val="600"/>
              </a:spcAft>
            </a:pPr>
            <a:r>
              <a:rPr lang="en-US" sz="1100" b="0" noProof="0" dirty="0">
                <a:solidFill>
                  <a:srgbClr val="202945"/>
                </a:solidFill>
                <a:latin typeface="Nunito Sans"/>
              </a:rPr>
              <a:t>Oil (WTI)</a:t>
            </a:r>
          </a:p>
          <a:p>
            <a:pPr algn="l">
              <a:spcAft>
                <a:spcPts val="600"/>
              </a:spcAft>
            </a:pPr>
            <a:r>
              <a:rPr lang="en-US" sz="1100" b="0" noProof="0" dirty="0">
                <a:solidFill>
                  <a:srgbClr val="202945"/>
                </a:solidFill>
                <a:latin typeface="Nunito Sans"/>
              </a:rPr>
              <a:t>Gold</a:t>
            </a:r>
          </a:p>
          <a:p>
            <a:pPr algn="l">
              <a:spcAft>
                <a:spcPts val="600"/>
              </a:spcAft>
            </a:pPr>
            <a:r>
              <a:rPr lang="en-US" sz="1100" b="0" noProof="0" dirty="0">
                <a:solidFill>
                  <a:srgbClr val="202945"/>
                </a:solidFill>
                <a:latin typeface="Nunito Sans"/>
              </a:rPr>
              <a:t>MSCI World Energy</a:t>
            </a:r>
          </a:p>
          <a:p>
            <a:pPr algn="l">
              <a:spcAft>
                <a:spcPts val="600"/>
              </a:spcAft>
            </a:pPr>
            <a:r>
              <a:rPr lang="en-US" sz="1100" b="0" noProof="0" dirty="0">
                <a:solidFill>
                  <a:srgbClr val="202945"/>
                </a:solidFill>
                <a:latin typeface="Nunito Sans"/>
              </a:rPr>
              <a:t>MSCI World Info Tech</a:t>
            </a:r>
          </a:p>
        </p:txBody>
      </p:sp>
      <p:sp>
        <p:nvSpPr>
          <p:cNvPr id="10" name="TextBox"/>
          <p:cNvSpPr txBox="1"/>
          <p:nvPr/>
        </p:nvSpPr>
        <p:spPr>
          <a:xfrm>
            <a:off x="340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Week</a:t>
            </a:r>
            <a:endParaRPr lang="en-US" sz="1100" noProof="0" dirty="0"/>
          </a:p>
          <a:p>
            <a:pPr algn="r">
              <a:spcAft>
                <a:spcPts val="600"/>
              </a:spcAft>
            </a:pPr>
            <a:r>
              <a:rPr lang="en-US" sz="1100" b="0" noProof="0" dirty="0">
                <a:solidFill>
                  <a:srgbClr val="FF6C0E"/>
                </a:solidFill>
                <a:latin typeface="Nunito Sans"/>
              </a:rPr>
              <a:t>-1.2%</a:t>
            </a:r>
          </a:p>
          <a:p>
            <a:pPr algn="r">
              <a:spcAft>
                <a:spcPts val="600"/>
              </a:spcAft>
            </a:pPr>
            <a:r>
              <a:rPr lang="en-US" sz="1100" b="0" noProof="0" dirty="0">
                <a:solidFill>
                  <a:srgbClr val="FF6C0E"/>
                </a:solidFill>
                <a:latin typeface="Nunito Sans"/>
              </a:rPr>
              <a:t>-4.1%</a:t>
            </a:r>
          </a:p>
          <a:p>
            <a:pPr algn="r">
              <a:spcAft>
                <a:spcPts val="600"/>
              </a:spcAft>
            </a:pPr>
            <a:r>
              <a:rPr lang="en-US" sz="1100" b="0" noProof="0" dirty="0">
                <a:solidFill>
                  <a:srgbClr val="FF6C0E"/>
                </a:solidFill>
                <a:latin typeface="Nunito Sans"/>
              </a:rPr>
              <a:t>-4.1%</a:t>
            </a:r>
          </a:p>
          <a:p>
            <a:pPr algn="r">
              <a:spcAft>
                <a:spcPts val="600"/>
              </a:spcAft>
            </a:pPr>
            <a:r>
              <a:rPr lang="en-US" sz="1100" b="0" noProof="0" dirty="0">
                <a:solidFill>
                  <a:srgbClr val="FF6C0E"/>
                </a:solidFill>
                <a:latin typeface="Nunito Sans"/>
              </a:rPr>
              <a:t>-5.1%</a:t>
            </a:r>
          </a:p>
          <a:p>
            <a:pPr algn="r">
              <a:spcAft>
                <a:spcPts val="600"/>
              </a:spcAft>
            </a:pPr>
            <a:r>
              <a:rPr lang="en-US" sz="1100" b="0" noProof="0" dirty="0">
                <a:solidFill>
                  <a:srgbClr val="3BAF90"/>
                </a:solidFill>
                <a:latin typeface="Nunito Sans"/>
              </a:rPr>
              <a:t>+0.2%</a:t>
            </a:r>
          </a:p>
          <a:p>
            <a:pPr algn="r">
              <a:spcAft>
                <a:spcPts val="600"/>
              </a:spcAft>
            </a:pPr>
            <a:r>
              <a:rPr lang="en-US" sz="1100" b="0" noProof="0" dirty="0">
                <a:solidFill>
                  <a:srgbClr val="3BAF90"/>
                </a:solidFill>
                <a:latin typeface="Nunito Sans"/>
              </a:rPr>
              <a:t>+19.1%</a:t>
            </a:r>
          </a:p>
          <a:p>
            <a:pPr algn="r">
              <a:spcAft>
                <a:spcPts val="600"/>
              </a:spcAft>
            </a:pPr>
            <a:r>
              <a:rPr lang="en-US" sz="1100" b="0" noProof="0" dirty="0">
                <a:solidFill>
                  <a:srgbClr val="3BAF90"/>
                </a:solidFill>
                <a:latin typeface="Nunito Sans"/>
              </a:rPr>
              <a:t>+0.4%</a:t>
            </a:r>
          </a:p>
          <a:p>
            <a:pPr algn="r">
              <a:spcAft>
                <a:spcPts val="600"/>
              </a:spcAft>
            </a:pPr>
            <a:r>
              <a:rPr lang="en-US" sz="1100" b="0" noProof="0" dirty="0">
                <a:solidFill>
                  <a:srgbClr val="3BAF90"/>
                </a:solidFill>
                <a:latin typeface="Nunito Sans"/>
              </a:rPr>
              <a:t>+4.7%</a:t>
            </a:r>
          </a:p>
          <a:p>
            <a:pPr algn="r">
              <a:spcAft>
                <a:spcPts val="600"/>
              </a:spcAft>
            </a:pPr>
            <a:r>
              <a:rPr lang="en-US" sz="1100" b="0" noProof="0" dirty="0">
                <a:solidFill>
                  <a:srgbClr val="FF6C0E"/>
                </a:solidFill>
                <a:latin typeface="Nunito Sans"/>
              </a:rPr>
              <a:t>-4.0%</a:t>
            </a:r>
          </a:p>
        </p:txBody>
      </p:sp>
      <p:sp>
        <p:nvSpPr>
          <p:cNvPr id="11" name="TextBox"/>
          <p:cNvSpPr txBox="1"/>
          <p:nvPr/>
        </p:nvSpPr>
        <p:spPr>
          <a:xfrm>
            <a:off x="426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YTD</a:t>
            </a:r>
            <a:endParaRPr lang="en-US" sz="1100" noProof="0" dirty="0"/>
          </a:p>
          <a:p>
            <a:pPr algn="r">
              <a:spcAft>
                <a:spcPts val="600"/>
              </a:spcAft>
            </a:pPr>
            <a:r>
              <a:rPr lang="en-US" sz="1100" b="0" noProof="0" dirty="0">
                <a:solidFill>
                  <a:srgbClr val="3BAF90"/>
                </a:solidFill>
                <a:latin typeface="Nunito Sans"/>
              </a:rPr>
              <a:t>+9.6%</a:t>
            </a:r>
          </a:p>
          <a:p>
            <a:pPr algn="r">
              <a:spcAft>
                <a:spcPts val="600"/>
              </a:spcAft>
            </a:pPr>
            <a:r>
              <a:rPr lang="en-US" sz="1100" b="0" noProof="0" dirty="0">
                <a:solidFill>
                  <a:srgbClr val="3BAF90"/>
                </a:solidFill>
                <a:latin typeface="Nunito Sans"/>
              </a:rPr>
              <a:t>+13.6%</a:t>
            </a:r>
          </a:p>
          <a:p>
            <a:pPr algn="r">
              <a:spcAft>
                <a:spcPts val="600"/>
              </a:spcAft>
            </a:pPr>
            <a:r>
              <a:rPr lang="en-US" sz="1100" b="0" noProof="0" dirty="0">
                <a:solidFill>
                  <a:srgbClr val="3BAF90"/>
                </a:solidFill>
                <a:latin typeface="Nunito Sans"/>
              </a:rPr>
              <a:t>+16.9%</a:t>
            </a:r>
          </a:p>
          <a:p>
            <a:pPr algn="r">
              <a:spcAft>
                <a:spcPts val="600"/>
              </a:spcAft>
            </a:pPr>
            <a:r>
              <a:rPr lang="en-US" sz="1100" b="0" noProof="0" dirty="0">
                <a:solidFill>
                  <a:srgbClr val="FF6C0E"/>
                </a:solidFill>
                <a:latin typeface="Nunito Sans"/>
              </a:rPr>
              <a:t>-0.8%</a:t>
            </a:r>
          </a:p>
          <a:p>
            <a:pPr algn="r">
              <a:spcAft>
                <a:spcPts val="600"/>
              </a:spcAft>
            </a:pPr>
            <a:r>
              <a:rPr lang="en-US" sz="1100" b="0" noProof="0" dirty="0">
                <a:solidFill>
                  <a:srgbClr val="FF6C0E"/>
                </a:solidFill>
                <a:latin typeface="Nunito Sans"/>
              </a:rPr>
              <a:t>-0.1%</a:t>
            </a:r>
          </a:p>
          <a:p>
            <a:pPr algn="r">
              <a:spcAft>
                <a:spcPts val="600"/>
              </a:spcAft>
            </a:pPr>
            <a:r>
              <a:rPr lang="en-US" sz="1100" b="0" noProof="0" dirty="0">
                <a:solidFill>
                  <a:srgbClr val="3BAF90"/>
                </a:solidFill>
                <a:latin typeface="Nunito Sans"/>
              </a:rPr>
              <a:t>+63.2%</a:t>
            </a:r>
          </a:p>
          <a:p>
            <a:pPr algn="r">
              <a:spcAft>
                <a:spcPts val="600"/>
              </a:spcAft>
            </a:pPr>
            <a:r>
              <a:rPr lang="en-US" sz="1100" b="0" noProof="0" dirty="0">
                <a:solidFill>
                  <a:srgbClr val="FF6C0E"/>
                </a:solidFill>
                <a:latin typeface="Nunito Sans"/>
              </a:rPr>
              <a:t>-7.0%</a:t>
            </a:r>
          </a:p>
          <a:p>
            <a:pPr algn="r">
              <a:spcAft>
                <a:spcPts val="600"/>
              </a:spcAft>
            </a:pPr>
            <a:r>
              <a:rPr lang="en-US" sz="1100" b="0" noProof="0" dirty="0">
                <a:solidFill>
                  <a:srgbClr val="3BAF90"/>
                </a:solidFill>
                <a:latin typeface="Nunito Sans"/>
              </a:rPr>
              <a:t>+29.1%</a:t>
            </a:r>
          </a:p>
          <a:p>
            <a:pPr algn="r">
              <a:spcAft>
                <a:spcPts val="600"/>
              </a:spcAft>
            </a:pPr>
            <a:r>
              <a:rPr lang="en-US" sz="1100" b="0" noProof="0" dirty="0">
                <a:solidFill>
                  <a:srgbClr val="3BAF90"/>
                </a:solidFill>
                <a:latin typeface="Nunito Sans"/>
              </a:rPr>
              <a:t>+16.4%</a:t>
            </a:r>
          </a:p>
        </p:txBody>
      </p:sp>
      <p:sp>
        <p:nvSpPr>
          <p:cNvPr id="12" name="TextBox"/>
          <p:cNvSpPr txBox="1"/>
          <p:nvPr/>
        </p:nvSpPr>
        <p:spPr>
          <a:xfrm>
            <a:off x="5560000" y="3720000"/>
            <a:ext cx="4465813" cy="300000"/>
          </a:xfrm>
          <a:prstGeom prst="rect">
            <a:avLst/>
          </a:prstGeom>
          <a:noFill/>
        </p:spPr>
        <p:txBody>
          <a:bodyPr wrap="square" lIns="0" tIns="0" rIns="0" bIns="0" anchor="t"/>
          <a:lstStyle/>
          <a:p>
            <a:pPr algn="l"/>
            <a:r>
              <a:rPr lang="en-US" sz="1400" b="1" noProof="0" dirty="0">
                <a:solidFill>
                  <a:srgbClr val="FF6C0E"/>
                </a:solidFill>
                <a:latin typeface="Nunito Sans ExtraBold"/>
              </a:rPr>
              <a:t>Three observations</a:t>
            </a:r>
          </a:p>
        </p:txBody>
      </p:sp>
      <p:sp>
        <p:nvSpPr>
          <p:cNvPr id="13" name="Rectangle"/>
          <p:cNvSpPr/>
          <p:nvPr/>
        </p:nvSpPr>
        <p:spPr>
          <a:xfrm>
            <a:off x="5560000" y="410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Tech and China led the losses</a:t>
            </a:r>
            <a:endParaRPr lang="en-US" sz="1200" noProof="0" dirty="0"/>
          </a:p>
          <a:p>
            <a:pPr algn="l"/>
            <a:r>
              <a:rPr lang="en-US" sz="1100" b="0" noProof="0" dirty="0">
                <a:solidFill>
                  <a:srgbClr val="202945"/>
                </a:solidFill>
                <a:latin typeface="Nunito Sans"/>
              </a:rPr>
              <a:t>CSI 300, Nasdaq 100 and MSCI EM sat at the bottom of the board; the SOX closed more than 20% below its June record.</a:t>
            </a:r>
          </a:p>
        </p:txBody>
      </p:sp>
      <p:sp>
        <p:nvSpPr>
          <p:cNvPr id="14" name="Rectangle"/>
          <p:cNvSpPr/>
          <p:nvPr/>
        </p:nvSpPr>
        <p:spPr>
          <a:xfrm>
            <a:off x="5560000" y="507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Value reasserting itself</a:t>
            </a:r>
            <a:endParaRPr lang="en-US" sz="1200" noProof="0" dirty="0"/>
          </a:p>
          <a:p>
            <a:pPr algn="l"/>
            <a:r>
              <a:rPr lang="en-US" sz="1100" b="0" noProof="0" dirty="0">
                <a:solidFill>
                  <a:srgbClr val="202945"/>
                </a:solidFill>
                <a:latin typeface="Nunito Sans"/>
              </a:rPr>
              <a:t>Energy, Financials and Consumer Staples were among the only sectors positive on the week, while Information Technology fell 4.0%.</a:t>
            </a:r>
          </a:p>
        </p:txBody>
      </p:sp>
      <p:sp>
        <p:nvSpPr>
          <p:cNvPr id="15" name="Rectangle"/>
          <p:cNvSpPr/>
          <p:nvPr/>
        </p:nvSpPr>
        <p:spPr>
          <a:xfrm>
            <a:off x="5560000" y="604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Fixed income stayed defensive</a:t>
            </a:r>
            <a:endParaRPr lang="en-US" sz="1200" noProof="0" dirty="0"/>
          </a:p>
          <a:p>
            <a:pPr algn="l"/>
            <a:r>
              <a:rPr lang="en-US" sz="1100" b="0" noProof="0" dirty="0">
                <a:solidFill>
                  <a:srgbClr val="202945"/>
                </a:solidFill>
                <a:latin typeface="Nunito Sans"/>
              </a:rPr>
              <a:t>US Governments and USD high yield were little changed; European credit slipped on the energy-driven inflation scare.</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98E74-BC25-E5F5-BE84-27A48B894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C31F3-BF6F-1B0C-36DF-7DC4FF3A011C}"/>
              </a:ext>
            </a:extLst>
          </p:cNvPr>
          <p:cNvSpPr>
            <a:spLocks noGrp="1"/>
          </p:cNvSpPr>
          <p:nvPr>
            <p:ph type="title"/>
          </p:nvPr>
        </p:nvSpPr>
        <p:spPr>
          <a:xfrm>
            <a:off x="669924" y="1051017"/>
            <a:ext cx="9398001" cy="864587"/>
          </a:xfrm>
        </p:spPr>
        <p:txBody>
          <a:bodyPr/>
          <a:lstStyle/>
          <a:p>
            <a:r>
              <a:rPr lang="en-US" noProof="0" dirty="0"/>
              <a:t>What drove the move: four forces</a:t>
            </a:r>
          </a:p>
        </p:txBody>
      </p:sp>
      <p:sp>
        <p:nvSpPr>
          <p:cNvPr id="3" name="Text Placeholder 2">
            <a:extLst>
              <a:ext uri="{FF2B5EF4-FFF2-40B4-BE49-F238E27FC236}">
                <a16:creationId xmlns:a16="http://schemas.microsoft.com/office/drawing/2014/main" id="{BC7CB425-A197-FF68-020E-2E808D0A6105}"/>
              </a:ext>
            </a:extLst>
          </p:cNvPr>
          <p:cNvSpPr>
            <a:spLocks noGrp="1"/>
          </p:cNvSpPr>
          <p:nvPr>
            <p:ph type="body" sz="quarter" idx="14"/>
          </p:nvPr>
        </p:nvSpPr>
        <p:spPr>
          <a:xfrm>
            <a:off x="665163" y="1699200"/>
            <a:ext cx="9398001" cy="251511"/>
          </a:xfrm>
        </p:spPr>
        <p:txBody>
          <a:bodyPr/>
          <a:lstStyle/>
          <a:p>
            <a:r>
              <a:rPr lang="en-US" sz="1400" noProof="0" dirty="0"/>
              <a:t>A Beijing lab moved markets more than the Fed did; oil, momentum and Korean leverage did the rest.</a:t>
            </a:r>
          </a:p>
        </p:txBody>
      </p:sp>
      <p:sp>
        <p:nvSpPr>
          <p:cNvPr id="4" name="Rectangle">
            <a:extLst>
              <a:ext uri="{FF2B5EF4-FFF2-40B4-BE49-F238E27FC236}">
                <a16:creationId xmlns:a16="http://schemas.microsoft.com/office/drawing/2014/main" id="{4A442DDD-B97F-DF7C-E439-F0A18B214C9E}"/>
              </a:ext>
            </a:extLst>
          </p:cNvPr>
          <p:cNvSpPr/>
          <p:nvPr/>
        </p:nvSpPr>
        <p:spPr>
          <a:xfrm>
            <a:off x="6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1 - Middle East escalation</a:t>
            </a:r>
            <a:endParaRPr lang="en-US" sz="1200" noProof="0" dirty="0">
              <a:solidFill>
                <a:schemeClr val="tx2"/>
              </a:solidFill>
            </a:endParaRPr>
          </a:p>
          <a:p>
            <a:pPr algn="l">
              <a:spcAft>
                <a:spcPts val="800"/>
              </a:spcAft>
            </a:pPr>
            <a:r>
              <a:rPr lang="en-US" sz="1100" b="0" noProof="0" dirty="0">
                <a:solidFill>
                  <a:srgbClr val="202945"/>
                </a:solidFill>
                <a:latin typeface="Nunito Sans"/>
              </a:rPr>
              <a:t>A seventh night of US-Iran strikes pushed WTI up $12 to $88, its biggest weekly gain since the war began. Hormuz cargo crossings collapsed to 2 vessels against a one-year average of 72.</a:t>
            </a:r>
          </a:p>
          <a:p>
            <a:pPr>
              <a:spcAft>
                <a:spcPts val="800"/>
              </a:spcAft>
            </a:pPr>
            <a:r>
              <a:rPr lang="en-US" sz="1200" b="1" noProof="0" dirty="0">
                <a:solidFill>
                  <a:schemeClr val="tx2"/>
                </a:solidFill>
                <a:latin typeface="Nunito Sans ExtraBold"/>
              </a:rPr>
              <a:t>$88 WTI  </a:t>
            </a:r>
          </a:p>
          <a:p>
            <a:pPr>
              <a:spcAft>
                <a:spcPts val="800"/>
              </a:spcAft>
            </a:pPr>
            <a:r>
              <a:rPr lang="en-US" sz="1200" b="1" noProof="0" dirty="0">
                <a:solidFill>
                  <a:schemeClr val="tx2"/>
                </a:solidFill>
                <a:latin typeface="Nunito Sans ExtraBold"/>
              </a:rPr>
              <a:t>Hormuz traffic near zero</a:t>
            </a:r>
          </a:p>
        </p:txBody>
      </p:sp>
      <p:sp>
        <p:nvSpPr>
          <p:cNvPr id="5" name="Rectangle">
            <a:extLst>
              <a:ext uri="{FF2B5EF4-FFF2-40B4-BE49-F238E27FC236}">
                <a16:creationId xmlns:a16="http://schemas.microsoft.com/office/drawing/2014/main" id="{749238CC-59D3-5013-88EF-20D717F51A0B}"/>
              </a:ext>
            </a:extLst>
          </p:cNvPr>
          <p:cNvSpPr/>
          <p:nvPr/>
        </p:nvSpPr>
        <p:spPr>
          <a:xfrm>
            <a:off x="54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2 - China closes the AI gap</a:t>
            </a:r>
          </a:p>
          <a:p>
            <a:pPr algn="l">
              <a:spcAft>
                <a:spcPts val="800"/>
              </a:spcAft>
            </a:pPr>
            <a:r>
              <a:rPr lang="en-US" sz="1100" b="0" noProof="0" dirty="0">
                <a:solidFill>
                  <a:srgbClr val="202945"/>
                </a:solidFill>
                <a:latin typeface="Nunito Sans"/>
              </a:rPr>
              <a:t>Moonshot AI's Kimi K3 took the number one spot on the Frontend Code Arena leaderboard, a 17-place jump, ahead of every closed </a:t>
            </a:r>
            <a:r>
              <a:rPr lang="en-US" sz="1100" b="0" noProof="0" dirty="0">
                <a:solidFill>
                  <a:schemeClr val="tx2"/>
                </a:solidFill>
                <a:latin typeface="Nunito Sans"/>
              </a:rPr>
              <a:t>US frontier model, read as a second "DeepSeek moment".</a:t>
            </a:r>
          </a:p>
          <a:p>
            <a:pPr>
              <a:spcAft>
                <a:spcPts val="800"/>
              </a:spcAft>
            </a:pPr>
            <a:r>
              <a:rPr lang="en-US" sz="1200" b="1" noProof="0" dirty="0">
                <a:solidFill>
                  <a:schemeClr val="tx2"/>
                </a:solidFill>
                <a:latin typeface="Nunito Sans ExtraBold"/>
              </a:rPr>
              <a:t>Kimi K3: 18th to 1st</a:t>
            </a:r>
          </a:p>
        </p:txBody>
      </p:sp>
      <p:sp>
        <p:nvSpPr>
          <p:cNvPr id="6" name="Rectangle">
            <a:extLst>
              <a:ext uri="{FF2B5EF4-FFF2-40B4-BE49-F238E27FC236}">
                <a16:creationId xmlns:a16="http://schemas.microsoft.com/office/drawing/2014/main" id="{A2C086E3-257D-A53C-CCD1-B3F95AF36B55}"/>
              </a:ext>
            </a:extLst>
          </p:cNvPr>
          <p:cNvSpPr/>
          <p:nvPr/>
        </p:nvSpPr>
        <p:spPr>
          <a:xfrm>
            <a:off x="6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3 - Momentum unwind, not capex unwind</a:t>
            </a:r>
          </a:p>
          <a:p>
            <a:pPr algn="l">
              <a:spcAft>
                <a:spcPts val="800"/>
              </a:spcAft>
            </a:pPr>
            <a:r>
              <a:rPr lang="en-US" sz="1100" b="0" noProof="0" dirty="0">
                <a:solidFill>
                  <a:srgbClr val="202945"/>
                </a:solidFill>
                <a:latin typeface="Nunito Sans"/>
              </a:rPr>
              <a:t>Goldman's high-beta momentum basket heads for its worst month in roughly 17 years; $3.3tn erased from global chip stocks since 22 </a:t>
            </a:r>
            <a:r>
              <a:rPr lang="en-US" sz="1100" b="0" noProof="0" dirty="0">
                <a:solidFill>
                  <a:schemeClr val="tx2"/>
                </a:solidFill>
                <a:latin typeface="Nunito Sans"/>
              </a:rPr>
              <a:t>June. </a:t>
            </a:r>
            <a:r>
              <a:rPr lang="en-US" sz="1100" b="0" noProof="0" dirty="0" err="1">
                <a:solidFill>
                  <a:schemeClr val="tx2"/>
                </a:solidFill>
                <a:latin typeface="Nunito Sans"/>
              </a:rPr>
              <a:t>Hyperscaler</a:t>
            </a:r>
            <a:r>
              <a:rPr lang="en-US" sz="1100" b="0" noProof="0" dirty="0">
                <a:solidFill>
                  <a:schemeClr val="tx2"/>
                </a:solidFill>
                <a:latin typeface="Nunito Sans"/>
              </a:rPr>
              <a:t> backlogs still point to an intact $730bn buildout.</a:t>
            </a:r>
          </a:p>
          <a:p>
            <a:pPr>
              <a:spcAft>
                <a:spcPts val="800"/>
              </a:spcAft>
            </a:pPr>
            <a:r>
              <a:rPr lang="en-US" sz="1200" b="1" noProof="0" dirty="0">
                <a:solidFill>
                  <a:schemeClr val="tx2"/>
                </a:solidFill>
                <a:latin typeface="Nunito Sans ExtraBold"/>
              </a:rPr>
              <a:t>-$3.3tn chip stocks   </a:t>
            </a:r>
          </a:p>
          <a:p>
            <a:pPr>
              <a:spcAft>
                <a:spcPts val="800"/>
              </a:spcAft>
            </a:pPr>
            <a:r>
              <a:rPr lang="en-US" sz="1200" b="1" noProof="0" dirty="0">
                <a:solidFill>
                  <a:schemeClr val="tx2"/>
                </a:solidFill>
                <a:latin typeface="Nunito Sans ExtraBold"/>
              </a:rPr>
              <a:t>SOX -20%</a:t>
            </a:r>
          </a:p>
        </p:txBody>
      </p:sp>
      <p:sp>
        <p:nvSpPr>
          <p:cNvPr id="7" name="Rectangle">
            <a:extLst>
              <a:ext uri="{FF2B5EF4-FFF2-40B4-BE49-F238E27FC236}">
                <a16:creationId xmlns:a16="http://schemas.microsoft.com/office/drawing/2014/main" id="{9E4D0E42-696C-1786-596E-D9D78E9E6D5D}"/>
              </a:ext>
            </a:extLst>
          </p:cNvPr>
          <p:cNvSpPr/>
          <p:nvPr/>
        </p:nvSpPr>
        <p:spPr>
          <a:xfrm>
            <a:off x="54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4 - Korea's leverage problem</a:t>
            </a:r>
          </a:p>
          <a:p>
            <a:pPr algn="l">
              <a:spcAft>
                <a:spcPts val="800"/>
              </a:spcAft>
            </a:pPr>
            <a:r>
              <a:rPr lang="en-US" sz="1100" b="0" noProof="0" dirty="0">
                <a:solidFill>
                  <a:srgbClr val="202945"/>
                </a:solidFill>
                <a:latin typeface="Nunito Sans"/>
              </a:rPr>
              <a:t>Heavy foreign selling left Korea dependent on retail investors and single-stock leveraged ETFs tied to Samsung and SK Hynix, turning falling prices into forced selling. Banks now push a rotation </a:t>
            </a:r>
            <a:r>
              <a:rPr lang="en-US" sz="1100" b="0" noProof="0" dirty="0">
                <a:solidFill>
                  <a:schemeClr val="tx2"/>
                </a:solidFill>
                <a:latin typeface="Nunito Sans"/>
              </a:rPr>
              <a:t>into China.</a:t>
            </a:r>
          </a:p>
          <a:p>
            <a:pPr>
              <a:spcAft>
                <a:spcPts val="800"/>
              </a:spcAft>
            </a:pPr>
            <a:r>
              <a:rPr lang="en-US" sz="1200" b="1" noProof="0" dirty="0">
                <a:solidFill>
                  <a:schemeClr val="tx2"/>
                </a:solidFill>
                <a:latin typeface="Nunito Sans ExtraBold"/>
              </a:rPr>
              <a:t>Kospi was +88% YTD at its peak</a:t>
            </a:r>
          </a:p>
        </p:txBody>
      </p:sp>
      <p:sp>
        <p:nvSpPr>
          <p:cNvPr id="8" name="Rectangle">
            <a:extLst>
              <a:ext uri="{FF2B5EF4-FFF2-40B4-BE49-F238E27FC236}">
                <a16:creationId xmlns:a16="http://schemas.microsoft.com/office/drawing/2014/main" id="{3EAC691C-29BB-1B3E-DEF6-0C6751F61EE8}"/>
              </a:ext>
            </a:extLst>
          </p:cNvPr>
          <p:cNvSpPr/>
          <p:nvPr/>
        </p:nvSpPr>
        <p:spPr>
          <a:xfrm>
            <a:off x="666000" y="6612000"/>
            <a:ext cx="9359813" cy="470000"/>
          </a:xfrm>
          <a:prstGeom prst="rect">
            <a:avLst/>
          </a:prstGeom>
          <a:ln/>
        </p:spPr>
        <p:style>
          <a:lnRef idx="2">
            <a:schemeClr val="accent3"/>
          </a:lnRef>
          <a:fillRef idx="1">
            <a:schemeClr val="lt1"/>
          </a:fillRef>
          <a:effectRef idx="0">
            <a:schemeClr val="accent3"/>
          </a:effectRef>
          <a:fontRef idx="minor">
            <a:schemeClr val="dk1"/>
          </a:fontRef>
        </p:style>
        <p:txBody>
          <a:bodyPr lIns="140000" tIns="140000" rIns="140000" bIns="140000" rtlCol="0" anchor="ctr"/>
          <a:lstStyle/>
          <a:p>
            <a:pPr algn="l"/>
            <a:r>
              <a:rPr lang="en-US" sz="1100" b="0" noProof="0" dirty="0">
                <a:solidFill>
                  <a:srgbClr val="202945"/>
                </a:solidFill>
                <a:latin typeface="Nunito Sans"/>
              </a:rPr>
              <a:t>On the policy side: June CPI fell 0.4% m/m (annual rate down from 4.2% to 3.5%) and July hike odds collapsed from 42% to 17%, but Chair Warsh stayed firm on inflation.</a:t>
            </a:r>
          </a:p>
        </p:txBody>
      </p:sp>
    </p:spTree>
    <p:extLst>
      <p:ext uri="{BB962C8B-B14F-4D97-AF65-F5344CB8AC3E}">
        <p14:creationId xmlns:p14="http://schemas.microsoft.com/office/powerpoint/2010/main" val="27572425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economic scenario</a:t>
            </a:r>
          </a:p>
        </p:txBody>
      </p:sp>
      <p:sp>
        <p:nvSpPr>
          <p:cNvPr id="3" name="Text Placeholder 2"/>
          <p:cNvSpPr>
            <a:spLocks noGrp="1"/>
          </p:cNvSpPr>
          <p:nvPr>
            <p:ph type="body" sz="quarter" idx="14"/>
          </p:nvPr>
        </p:nvSpPr>
        <p:spPr/>
        <p:txBody>
          <a:bodyPr/>
          <a:lstStyle/>
          <a:p>
            <a:r>
              <a:rPr lang="en-US" sz="1400" noProof="0" dirty="0"/>
              <a:t>The house baseline is a resilient global recovery, 'Indian Summer for 2026' at 50% probability, balanced against a 30% inflation-heatwave and a 20% growth-freeze risk scenario.</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6000"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Growth</a:t>
            </a:r>
          </a:p>
        </p:txBody>
      </p:sp>
      <p:sp>
        <p:nvSpPr>
          <p:cNvPr id="7" name="TextBox 6"/>
          <p:cNvSpPr txBox="1"/>
          <p:nvPr/>
        </p:nvSpPr>
        <p:spPr>
          <a:xfrm>
            <a:off x="846000"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Global growth is expected to recover from low levels as trade uncertainty eases and investment returns, with the US sustained by balanced fiscal stimulus, re-leveraging and AI productivity gains, the Eurozone grinding toward potential, and China and EM benefiting from less trade uncertainty.</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Central Banks</a:t>
            </a:r>
          </a:p>
        </p:txBody>
      </p:sp>
      <p:pic>
        <p:nvPicPr>
          <p:cNvPr id="10" name="Picture 9" descr="ic_centralbanks.png"/>
          <p:cNvPicPr>
            <a:picLocks noChangeAspect="1"/>
          </p:cNvPicPr>
          <p:nvPr/>
        </p:nvPicPr>
        <p:blipFill>
          <a:blip r:embed="rId2"/>
          <a:stretch>
            <a:fillRect/>
          </a:stretch>
        </p:blipFill>
        <p:spPr>
          <a:xfrm>
            <a:off x="4067999" y="2718000"/>
            <a:ext cx="288000" cy="288000"/>
          </a:xfrm>
          <a:prstGeom prst="rect">
            <a:avLst/>
          </a:prstGeom>
        </p:spPr>
      </p:pic>
      <p:sp>
        <p:nvSpPr>
          <p:cNvPr id="11" name="TextBox 10"/>
          <p:cNvSpPr txBox="1"/>
          <p:nvPr/>
        </p:nvSpPr>
        <p:spPr>
          <a:xfrm>
            <a:off x="4121999"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Inflation should stay broadly calm as regions offset each other, though the US and UK face above-target inflation ahead of Japan, while the Eurozone sees only mild pressure and Switzerland almost none; a key risk is the Fed turning too dovish, falling behind the curve and needing to catch up.</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Politics</a:t>
            </a:r>
          </a:p>
        </p:txBody>
      </p:sp>
      <p:pic>
        <p:nvPicPr>
          <p:cNvPr id="14" name="Picture 13" descr="ic_politics.png"/>
          <p:cNvPicPr>
            <a:picLocks noChangeAspect="1"/>
          </p:cNvPicPr>
          <p:nvPr/>
        </p:nvPicPr>
        <p:blipFill>
          <a:blip r:embed="rId3"/>
          <a:stretch>
            <a:fillRect/>
          </a:stretch>
        </p:blipFill>
        <p:spPr>
          <a:xfrm>
            <a:off x="7344000" y="2718000"/>
            <a:ext cx="288000" cy="288000"/>
          </a:xfrm>
          <a:prstGeom prst="rect">
            <a:avLst/>
          </a:prstGeom>
        </p:spPr>
      </p:pic>
      <p:sp>
        <p:nvSpPr>
          <p:cNvPr id="15" name="TextBox 14"/>
          <p:cNvSpPr txBox="1"/>
          <p:nvPr/>
        </p:nvSpPr>
        <p:spPr>
          <a:xfrm>
            <a:off x="7398000" y="3276000"/>
            <a:ext cx="2556000" cy="2123658"/>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The baseline 'Indian Summer' scenario carries a 50% probability, against a 30% 'Inflation Heatwave' risk from fiscal stimulus, re-leveraging, trade-dispute escalation or a geopolitical energy shock, and a 20% 'Growth Freeze' risk from a US AI-capex bust, credit woes, or fiscal austerity returning to the US or France.</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0" name="Graphic 19" descr="Tree With Roots outline">
            <a:extLst>
              <a:ext uri="{FF2B5EF4-FFF2-40B4-BE49-F238E27FC236}">
                <a16:creationId xmlns:a16="http://schemas.microsoft.com/office/drawing/2014/main" id="{8A587CED-7213-5A40-3281-94690FFA0F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0663" y="2718000"/>
            <a:ext cx="288000" cy="28800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current investment views</a:t>
            </a:r>
          </a:p>
        </p:txBody>
      </p:sp>
      <p:sp>
        <p:nvSpPr>
          <p:cNvPr id="3" name="Text Placeholder 2"/>
          <p:cNvSpPr>
            <a:spLocks noGrp="1"/>
          </p:cNvSpPr>
          <p:nvPr>
            <p:ph type="body" sz="quarter" idx="14"/>
          </p:nvPr>
        </p:nvSpPr>
        <p:spPr/>
        <p:txBody>
          <a:bodyPr/>
          <a:lstStyle/>
          <a:p>
            <a:r>
              <a:rPr lang="en-US" sz="1400" noProof="0" dirty="0"/>
              <a:t>We stay neutral equities and underweight fixed income, while leaning overweight commodities, gold and the dollar as diversifiers amid rate and geopolitical uncertainty.</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5163"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Equities</a:t>
            </a:r>
          </a:p>
        </p:txBody>
      </p:sp>
      <p:sp>
        <p:nvSpPr>
          <p:cNvPr id="7" name="TextBox 6"/>
          <p:cNvSpPr txBox="1"/>
          <p:nvPr/>
        </p:nvSpPr>
        <p:spPr>
          <a:xfrm>
            <a:off x="846000" y="3276000"/>
            <a:ext cx="2556000" cy="1569660"/>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Neutral: </a:t>
            </a:r>
            <a:r>
              <a:rPr lang="en-US" sz="1200" b="0" noProof="0" dirty="0">
                <a:solidFill>
                  <a:srgbClr val="202945"/>
                </a:solidFill>
                <a:latin typeface="Nunito Sans"/>
              </a:rPr>
              <a:t>We remain neutral on equities: mixed Magnificent 7 earnings shifted investor focus from AI spending to sustainable monetization, but resilient growth, a healthy labor market and S&amp;P 500 EPS growth above 27% keep the backdrop supportive.</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Fixed Income</a:t>
            </a:r>
          </a:p>
        </p:txBody>
      </p:sp>
      <p:sp>
        <p:nvSpPr>
          <p:cNvPr id="11" name="TextBox 10"/>
          <p:cNvSpPr txBox="1"/>
          <p:nvPr/>
        </p:nvSpPr>
        <p:spPr>
          <a:xfrm>
            <a:off x="4121999" y="3276000"/>
            <a:ext cx="2556000" cy="1384995"/>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Underweight: </a:t>
            </a:r>
            <a:r>
              <a:rPr lang="en-US" sz="1200" b="0" noProof="0" dirty="0">
                <a:solidFill>
                  <a:srgbClr val="202945"/>
                </a:solidFill>
                <a:latin typeface="Nunito Sans"/>
              </a:rPr>
              <a:t>We keep an underweight exposure to fixed income as the Fed held rates at 3.50-3.75% with three hawkish dissents, pushing Treasury yields higher, particularly at the long end.</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Commodities &amp; Forex</a:t>
            </a:r>
          </a:p>
        </p:txBody>
      </p:sp>
      <p:pic>
        <p:nvPicPr>
          <p:cNvPr id="14" name="Picture 13" descr="ic_forex.png"/>
          <p:cNvPicPr>
            <a:picLocks noChangeAspect="1"/>
          </p:cNvPicPr>
          <p:nvPr/>
        </p:nvPicPr>
        <p:blipFill>
          <a:blip r:embed="rId2"/>
          <a:stretch>
            <a:fillRect/>
          </a:stretch>
        </p:blipFill>
        <p:spPr>
          <a:xfrm>
            <a:off x="7344000" y="2718000"/>
            <a:ext cx="288000" cy="288000"/>
          </a:xfrm>
          <a:prstGeom prst="rect">
            <a:avLst/>
          </a:prstGeom>
        </p:spPr>
      </p:pic>
      <p:sp>
        <p:nvSpPr>
          <p:cNvPr id="15" name="TextBox 14"/>
          <p:cNvSpPr txBox="1"/>
          <p:nvPr/>
        </p:nvSpPr>
        <p:spPr>
          <a:xfrm>
            <a:off x="7398000" y="3276000"/>
            <a:ext cx="2556000" cy="1015663"/>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Overweight: </a:t>
            </a:r>
            <a:r>
              <a:rPr lang="en-US" sz="1200" b="0" noProof="0" dirty="0">
                <a:solidFill>
                  <a:srgbClr val="202945"/>
                </a:solidFill>
                <a:latin typeface="Nunito Sans"/>
              </a:rPr>
              <a:t>We are overweight commodities and gold as diversifiers, and overweight the dollar against all currencies except the yen, which we hold neutral.</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4" name="Graphic 23" descr="Greek Pillar with solid fill">
            <a:extLst>
              <a:ext uri="{FF2B5EF4-FFF2-40B4-BE49-F238E27FC236}">
                <a16:creationId xmlns:a16="http://schemas.microsoft.com/office/drawing/2014/main" id="{561FF4CC-AE27-478D-9BD1-3F9794D8FF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4540" y="2718000"/>
            <a:ext cx="288000" cy="288000"/>
          </a:xfrm>
          <a:prstGeom prst="rect">
            <a:avLst/>
          </a:prstGeom>
        </p:spPr>
      </p:pic>
      <p:pic>
        <p:nvPicPr>
          <p:cNvPr id="30" name="Picture 29" descr="ic_growth.png">
            <a:extLst>
              <a:ext uri="{FF2B5EF4-FFF2-40B4-BE49-F238E27FC236}">
                <a16:creationId xmlns:a16="http://schemas.microsoft.com/office/drawing/2014/main" id="{48D50A56-40A2-B2A7-B950-3849EF03ACA3}"/>
              </a:ext>
            </a:extLst>
          </p:cNvPr>
          <p:cNvPicPr>
            <a:picLocks noChangeAspect="1"/>
          </p:cNvPicPr>
          <p:nvPr/>
        </p:nvPicPr>
        <p:blipFill>
          <a:blip r:embed="rId4"/>
          <a:stretch>
            <a:fillRect/>
          </a:stretch>
        </p:blipFill>
        <p:spPr>
          <a:xfrm>
            <a:off x="792000" y="2718000"/>
            <a:ext cx="288000" cy="2880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FD6BD-4166-40EA-7DD5-C66FF6B266A2}"/>
            </a:ext>
          </a:extLst>
        </p:cNvPr>
        <p:cNvGrpSpPr/>
        <p:nvPr/>
      </p:nvGrpSpPr>
      <p:grpSpPr>
        <a:xfrm>
          <a:off x="0" y="0"/>
          <a:ext cx="0" cy="0"/>
          <a:chOff x="0" y="0"/>
          <a:chExt cx="0" cy="0"/>
        </a:xfrm>
      </p:grpSpPr>
      <p:pic>
        <p:nvPicPr>
          <p:cNvPr id="2" name="Picture Placeholder 1">
            <a:extLst>
              <a:ext uri="{FF2B5EF4-FFF2-40B4-BE49-F238E27FC236}">
                <a16:creationId xmlns:a16="http://schemas.microsoft.com/office/drawing/2014/main" id="{468DEDCF-AA30-BEB8-0B9C-124EEB1C086A}"/>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a:extLst>
              <a:ext uri="{FF2B5EF4-FFF2-40B4-BE49-F238E27FC236}">
                <a16:creationId xmlns:a16="http://schemas.microsoft.com/office/drawing/2014/main" id="{55A31BB9-02A7-BAD5-63FF-AB21526670CD}"/>
              </a:ext>
            </a:extLst>
          </p:cNvPr>
          <p:cNvSpPr>
            <a:spLocks noGrp="1"/>
          </p:cNvSpPr>
          <p:nvPr>
            <p:ph type="body" sz="quarter" idx="20"/>
          </p:nvPr>
        </p:nvSpPr>
        <p:spPr>
          <a:solidFill>
            <a:srgbClr val="FFDA99"/>
          </a:solidFill>
        </p:spPr>
        <p:txBody>
          <a:bodyPr vert="horz" lIns="72000" tIns="0" rIns="72000" bIns="0" rtlCol="0" anchor="ctr" anchorCtr="0">
            <a:noAutofit/>
          </a:bodyPr>
          <a:lstStyle/>
          <a:p>
            <a:r>
              <a:rPr lang="en-US" sz="1100" noProof="0" dirty="0">
                <a:solidFill>
                  <a:srgbClr val="FFFFFF"/>
                </a:solidFill>
                <a:latin typeface="Nunito Sans ExtraBold"/>
              </a:rPr>
              <a:t>Markets</a:t>
            </a:r>
            <a:r>
              <a:rPr lang="en-US" noProof="0" dirty="0">
                <a:solidFill>
                  <a:srgbClr val="FFFFFF"/>
                </a:solidFill>
                <a:latin typeface="Nunito Sans ExtraBold"/>
              </a:rPr>
              <a:t> this week</a:t>
            </a:r>
          </a:p>
        </p:txBody>
      </p:sp>
      <p:sp>
        <p:nvSpPr>
          <p:cNvPr id="4" name="Text Placeholder 3">
            <a:extLst>
              <a:ext uri="{FF2B5EF4-FFF2-40B4-BE49-F238E27FC236}">
                <a16:creationId xmlns:a16="http://schemas.microsoft.com/office/drawing/2014/main" id="{24B4E312-D773-94BB-A385-11E67C030D96}"/>
              </a:ext>
            </a:extLst>
          </p:cNvPr>
          <p:cNvSpPr>
            <a:spLocks noGrp="1"/>
          </p:cNvSpPr>
          <p:nvPr>
            <p:ph type="body" sz="quarter" idx="21"/>
          </p:nvPr>
        </p:nvSpPr>
        <p:spPr>
          <a:solidFill>
            <a:srgbClr val="FFA400"/>
          </a:solidFill>
        </p:spPr>
        <p:txBody>
          <a:bodyPr vert="horz" lIns="72000" tIns="0" rIns="72000" bIns="0" rtlCol="0" anchor="ctr" anchorCtr="0">
            <a:noAutofit/>
          </a:bodyPr>
          <a:lstStyle/>
          <a:p>
            <a:r>
              <a:rPr lang="en-US" noProof="0" dirty="0">
                <a:solidFill>
                  <a:srgbClr val="FFFFFF"/>
                </a:solidFill>
                <a:latin typeface="Nunito Sans ExtraBold"/>
              </a:rPr>
              <a:t>Investment proposal</a:t>
            </a:r>
          </a:p>
        </p:txBody>
      </p:sp>
      <p:sp>
        <p:nvSpPr>
          <p:cNvPr id="8" name="Text Placeholder 7">
            <a:extLst>
              <a:ext uri="{FF2B5EF4-FFF2-40B4-BE49-F238E27FC236}">
                <a16:creationId xmlns:a16="http://schemas.microsoft.com/office/drawing/2014/main" id="{01E0E275-FA6A-860C-8836-EEEEF39381DA}"/>
              </a:ext>
            </a:extLst>
          </p:cNvPr>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a:extLst>
              <a:ext uri="{FF2B5EF4-FFF2-40B4-BE49-F238E27FC236}">
                <a16:creationId xmlns:a16="http://schemas.microsoft.com/office/drawing/2014/main" id="{BD73B4D2-7895-FFA4-BA54-3CAC28863593}"/>
              </a:ext>
            </a:extLst>
          </p:cNvPr>
          <p:cNvSpPr>
            <a:spLocks noGrp="1"/>
          </p:cNvSpPr>
          <p:nvPr>
            <p:ph type="body" sz="quarter" idx="26"/>
          </p:nvPr>
        </p:nvSpPr>
        <p:spPr/>
        <p:txBody>
          <a:bodyPr/>
          <a:lstStyle/>
          <a:p>
            <a:r>
              <a:rPr lang="en-US" b="1" noProof="0" dirty="0">
                <a:solidFill>
                  <a:srgbClr val="FFA400"/>
                </a:solidFill>
                <a:latin typeface="Nunito Sans ExtraBold"/>
              </a:rPr>
              <a:t>02</a:t>
            </a:r>
          </a:p>
        </p:txBody>
      </p:sp>
      <p:sp>
        <p:nvSpPr>
          <p:cNvPr id="19" name="TextBox 18">
            <a:extLst>
              <a:ext uri="{FF2B5EF4-FFF2-40B4-BE49-F238E27FC236}">
                <a16:creationId xmlns:a16="http://schemas.microsoft.com/office/drawing/2014/main" id="{006B0C6F-A80E-A893-6F0B-97C6D628D981}"/>
              </a:ext>
            </a:extLst>
          </p:cNvPr>
          <p:cNvSpPr txBox="1"/>
          <p:nvPr/>
        </p:nvSpPr>
        <p:spPr>
          <a:xfrm>
            <a:off x="869950" y="1619250"/>
            <a:ext cx="0" cy="0"/>
          </a:xfrm>
          <a:prstGeom prst="rect">
            <a:avLst/>
          </a:prstGeom>
          <a:noFill/>
        </p:spPr>
        <p:txBody>
          <a:bodyPr vert="horz" wrap="none" lIns="0" tIns="0" rIns="0" bIns="0" rtlCol="0">
            <a:noAutofit/>
          </a:bodyPr>
          <a:lstStyle/>
          <a:p>
            <a:pPr algn="l"/>
            <a:endParaRPr lang="en-US" sz="1400" noProof="0" dirty="0"/>
          </a:p>
        </p:txBody>
      </p:sp>
      <p:sp>
        <p:nvSpPr>
          <p:cNvPr id="20" name="TextBox 19">
            <a:extLst>
              <a:ext uri="{FF2B5EF4-FFF2-40B4-BE49-F238E27FC236}">
                <a16:creationId xmlns:a16="http://schemas.microsoft.com/office/drawing/2014/main" id="{C27B70A2-B2CB-3873-3285-4C99162A6D25}"/>
              </a:ext>
            </a:extLst>
          </p:cNvPr>
          <p:cNvSpPr txBox="1"/>
          <p:nvPr/>
        </p:nvSpPr>
        <p:spPr>
          <a:xfrm>
            <a:off x="1289050" y="1574800"/>
            <a:ext cx="0" cy="0"/>
          </a:xfrm>
          <a:prstGeom prst="rect">
            <a:avLst/>
          </a:prstGeom>
          <a:noFill/>
        </p:spPr>
        <p:txBody>
          <a:bodyPr vert="horz" wrap="none" lIns="0" tIns="0" rIns="0" bIns="0" rtlCol="0">
            <a:noAutofit/>
          </a:bodyPr>
          <a:lstStyle/>
          <a:p>
            <a:pPr algn="l"/>
            <a:endParaRPr lang="en-US" sz="1400" noProof="0" dirty="0"/>
          </a:p>
        </p:txBody>
      </p:sp>
    </p:spTree>
    <p:extLst>
      <p:ext uri="{BB962C8B-B14F-4D97-AF65-F5344CB8AC3E}">
        <p14:creationId xmlns:p14="http://schemas.microsoft.com/office/powerpoint/2010/main" val="322008278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E26B7-F78B-77A1-92E8-3EBF9FAB8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16A33-1372-8816-CDD2-BED29A8D38FF}"/>
              </a:ext>
            </a:extLst>
          </p:cNvPr>
          <p:cNvSpPr>
            <a:spLocks noGrp="1"/>
          </p:cNvSpPr>
          <p:nvPr>
            <p:ph type="title"/>
          </p:nvPr>
        </p:nvSpPr>
        <p:spPr/>
        <p:txBody>
          <a:bodyPr/>
          <a:lstStyle/>
          <a:p>
            <a:r>
              <a:rPr lang="en-US" noProof="0" dirty="0"/>
              <a:t>Portfolio strategies across the (risk - return) trade-off</a:t>
            </a:r>
          </a:p>
        </p:txBody>
      </p:sp>
      <p:sp>
        <p:nvSpPr>
          <p:cNvPr id="3" name="Text Placeholder 2">
            <a:extLst>
              <a:ext uri="{FF2B5EF4-FFF2-40B4-BE49-F238E27FC236}">
                <a16:creationId xmlns:a16="http://schemas.microsoft.com/office/drawing/2014/main" id="{DB548BFB-6075-9740-A83E-86FBABA9382C}"/>
              </a:ext>
            </a:extLst>
          </p:cNvPr>
          <p:cNvSpPr>
            <a:spLocks noGrp="1"/>
          </p:cNvSpPr>
          <p:nvPr>
            <p:ph type="body" sz="quarter" idx="14"/>
          </p:nvPr>
        </p:nvSpPr>
        <p:spPr>
          <a:xfrm>
            <a:off x="665163" y="1658949"/>
            <a:ext cx="9398001" cy="251511"/>
          </a:xfrm>
        </p:spPr>
        <p:txBody>
          <a:bodyPr/>
          <a:lstStyle/>
          <a:p>
            <a:r>
              <a:rPr lang="en-US" sz="1400" noProof="0" dirty="0"/>
              <a:t>Different risk profiles map to distinct portfolio allocations along the risk/return curve.</a:t>
            </a:r>
          </a:p>
        </p:txBody>
      </p:sp>
      <p:sp>
        <p:nvSpPr>
          <p:cNvPr id="24" name="TextBox 23">
            <a:extLst>
              <a:ext uri="{FF2B5EF4-FFF2-40B4-BE49-F238E27FC236}">
                <a16:creationId xmlns:a16="http://schemas.microsoft.com/office/drawing/2014/main" id="{4C6DF09E-DD1C-3F3A-A1E1-D53E344FFC03}"/>
              </a:ext>
            </a:extLst>
          </p:cNvPr>
          <p:cNvSpPr txBox="1"/>
          <p:nvPr/>
        </p:nvSpPr>
        <p:spPr>
          <a:xfrm>
            <a:off x="1872000" y="6660000"/>
            <a:ext cx="6660000" cy="307777"/>
          </a:xfrm>
          <a:prstGeom prst="rect">
            <a:avLst/>
          </a:prstGeom>
          <a:noFill/>
        </p:spPr>
        <p:txBody>
          <a:bodyPr wrap="square" anchor="t">
            <a:spAutoFit/>
          </a:bodyPr>
          <a:lstStyle/>
          <a:p>
            <a:pPr algn="ctr"/>
            <a:r>
              <a:rPr lang="en-US" sz="1400" b="1" noProof="0" dirty="0">
                <a:solidFill>
                  <a:srgbClr val="202945"/>
                </a:solidFill>
                <a:latin typeface="Nunito Sans ExtraBold"/>
              </a:rPr>
              <a:t>Proposed profile for this portfolio: Moderate - 39% in growth assets</a:t>
            </a:r>
          </a:p>
        </p:txBody>
      </p:sp>
      <p:graphicFrame>
        <p:nvGraphicFramePr>
          <p:cNvPr id="45" name="Table 44">
            <a:extLst>
              <a:ext uri="{FF2B5EF4-FFF2-40B4-BE49-F238E27FC236}">
                <a16:creationId xmlns:a16="http://schemas.microsoft.com/office/drawing/2014/main" id="{A791B544-12B1-C5EE-15F0-3FFE100386AC}"/>
              </a:ext>
            </a:extLst>
          </p:cNvPr>
          <p:cNvGraphicFramePr>
            <a:graphicFrameLocks noGrp="1"/>
          </p:cNvGraphicFramePr>
          <p:nvPr>
            <p:custDataLst>
              <p:tags r:id="rId1"/>
            </p:custDataLst>
            <p:extLst>
              <p:ext uri="{D42A27DB-BD31-4B8C-83A1-F6EECF244321}">
                <p14:modId xmlns:p14="http://schemas.microsoft.com/office/powerpoint/2010/main" val="1679185425"/>
              </p:ext>
            </p:extLst>
          </p:nvPr>
        </p:nvGraphicFramePr>
        <p:xfrm>
          <a:off x="665163" y="2957816"/>
          <a:ext cx="4624169" cy="3094920"/>
        </p:xfrm>
        <a:graphic>
          <a:graphicData uri="http://schemas.openxmlformats.org/drawingml/2006/table">
            <a:tbl>
              <a:tblPr firstRow="1" firstCol="1" bandRow="1"/>
              <a:tblGrid>
                <a:gridCol w="1891789">
                  <a:extLst>
                    <a:ext uri="{9D8B030D-6E8A-4147-A177-3AD203B41FA5}">
                      <a16:colId xmlns:a16="http://schemas.microsoft.com/office/drawing/2014/main" val="626646253"/>
                    </a:ext>
                  </a:extLst>
                </a:gridCol>
                <a:gridCol w="2732380">
                  <a:extLst>
                    <a:ext uri="{9D8B030D-6E8A-4147-A177-3AD203B41FA5}">
                      <a16:colId xmlns:a16="http://schemas.microsoft.com/office/drawing/2014/main" val="1205080223"/>
                    </a:ext>
                  </a:extLst>
                </a:gridCol>
              </a:tblGrid>
              <a:tr h="166910">
                <a:tc gridSpan="2">
                  <a:txBody>
                    <a:bodyPr/>
                    <a:lstStyle/>
                    <a:p>
                      <a:pPr algn="ctr"/>
                      <a:endParaRPr lang="en-US" sz="1100" b="1" noProof="0" dirty="0">
                        <a:solidFill>
                          <a:srgbClr val="FFFFFF"/>
                        </a:solidFill>
                        <a:latin typeface="+mn-lt"/>
                      </a:endParaRPr>
                    </a:p>
                    <a:p>
                      <a:pPr algn="ctr"/>
                      <a:r>
                        <a:rPr lang="en-US" sz="1100" b="1" noProof="0" dirty="0">
                          <a:solidFill>
                            <a:srgbClr val="FFFFFF"/>
                          </a:solidFill>
                          <a:latin typeface="+mn-lt"/>
                        </a:rPr>
                        <a:t>Investment characteristics</a:t>
                      </a:r>
                    </a:p>
                    <a:p>
                      <a:pPr algn="ctr"/>
                      <a:endParaRPr lang="en-US" sz="1100" b="1" noProof="0" dirty="0">
                        <a:solidFill>
                          <a:srgbClr val="FFFFFF"/>
                        </a:solidFill>
                        <a:latin typeface="+mn-lt"/>
                      </a:endParaRPr>
                    </a:p>
                  </a:txBody>
                  <a:tcPr marL="0" marR="0" marT="0" marB="0">
                    <a:lnL>
                      <a:noFill/>
                    </a:lnL>
                    <a:lnR>
                      <a:noFill/>
                    </a:lnR>
                    <a:lnT>
                      <a:noFill/>
                    </a:lnT>
                    <a:lnB>
                      <a:noFill/>
                    </a:lnB>
                    <a:solidFill>
                      <a:schemeClr val="tx2"/>
                    </a:solidFill>
                  </a:tcPr>
                </a:tc>
                <a:tc hMerge="1">
                  <a:txBody>
                    <a:bodyPr/>
                    <a:lstStyle/>
                    <a:p>
                      <a:endParaRPr/>
                    </a:p>
                  </a:txBody>
                  <a:tcPr marL="0" marR="0" marT="0" marB="0" anchor="ctr">
                    <a:lnL>
                      <a:noFill/>
                    </a:lnL>
                    <a:lnR>
                      <a:noFill/>
                    </a:lnR>
                    <a:lnT>
                      <a:noFill/>
                    </a:lnT>
                    <a:lnB>
                      <a:noFill/>
                    </a:lnB>
                    <a:solidFill>
                      <a:schemeClr val="tx2"/>
                    </a:solidFill>
                  </a:tcPr>
                </a:tc>
                <a:extLst>
                  <a:ext uri="{0D108BD9-81ED-4DB2-BD59-A6C34878D82A}">
                    <a16:rowId xmlns:a16="http://schemas.microsoft.com/office/drawing/2014/main" val="2096398645"/>
                  </a:ext>
                </a:extLst>
              </a:tr>
              <a:tr h="432000">
                <a:tc>
                  <a:txBody>
                    <a:bodyPr/>
                    <a:lstStyle/>
                    <a:p>
                      <a:r>
                        <a:rPr lang="en-US" sz="1100" b="1" noProof="0" dirty="0">
                          <a:solidFill>
                            <a:schemeClr val="tx2"/>
                          </a:solidFill>
                          <a:latin typeface="+mn-lt"/>
                        </a:rPr>
                        <a:t>Financial profile</a:t>
                      </a:r>
                    </a:p>
                  </a:txBody>
                  <a:tcPr marL="0" marR="0"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Professional</a:t>
                      </a:r>
                    </a:p>
                  </a:txBody>
                  <a:tcPr marL="62591" marR="62591"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34858508"/>
                  </a:ext>
                </a:extLst>
              </a:tr>
              <a:tr h="432000">
                <a:tc>
                  <a:txBody>
                    <a:bodyPr/>
                    <a:lstStyle/>
                    <a:p>
                      <a:r>
                        <a:rPr lang="en-US" sz="1100" b="1" noProof="0" dirty="0">
                          <a:solidFill>
                            <a:schemeClr val="tx2"/>
                          </a:solidFill>
                          <a:latin typeface="+mn-lt"/>
                        </a:rPr>
                        <a:t>Investment horizon</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Medium to long term ( 5 to 10 years)</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797003612"/>
                  </a:ext>
                </a:extLst>
              </a:tr>
              <a:tr h="432000">
                <a:tc>
                  <a:txBody>
                    <a:bodyPr/>
                    <a:lstStyle/>
                    <a:p>
                      <a:r>
                        <a:rPr lang="en-US" sz="1100" b="1" noProof="0" dirty="0">
                          <a:solidFill>
                            <a:schemeClr val="tx2"/>
                          </a:solidFill>
                          <a:latin typeface="+mn-lt"/>
                        </a:rPr>
                        <a:t>Reference of currency</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EUR</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3583574982"/>
                  </a:ext>
                </a:extLst>
              </a:tr>
              <a:tr h="432000">
                <a:tc>
                  <a:txBody>
                    <a:bodyPr/>
                    <a:lstStyle/>
                    <a:p>
                      <a:r>
                        <a:rPr lang="en-US" sz="1100" b="1" noProof="0" dirty="0">
                          <a:solidFill>
                            <a:schemeClr val="tx2"/>
                          </a:solidFill>
                          <a:latin typeface="+mn-lt"/>
                        </a:rPr>
                        <a:t>Risk level</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Moderate</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257386133"/>
                  </a:ext>
                </a:extLst>
              </a:tr>
              <a:tr h="432000">
                <a:tc>
                  <a:txBody>
                    <a:bodyPr/>
                    <a:lstStyle/>
                    <a:p>
                      <a:r>
                        <a:rPr lang="en-US" sz="1100" b="1" noProof="0" dirty="0">
                          <a:solidFill>
                            <a:schemeClr val="tx2"/>
                          </a:solidFill>
                          <a:latin typeface="+mn-lt"/>
                        </a:rPr>
                        <a:t>Geographic exposure</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Global </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713467916"/>
                  </a:ext>
                </a:extLst>
              </a:tr>
              <a:tr h="432000">
                <a:tc>
                  <a:txBody>
                    <a:bodyPr/>
                    <a:lstStyle/>
                    <a:p>
                      <a:r>
                        <a:rPr lang="en-US" sz="1100" b="1" noProof="0" dirty="0">
                          <a:solidFill>
                            <a:schemeClr val="tx2"/>
                          </a:solidFill>
                          <a:latin typeface="+mn-lt"/>
                        </a:rPr>
                        <a:t>Liquidity needs</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Regular distribution but stable capital</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707953171"/>
                  </a:ext>
                </a:extLst>
              </a:tr>
            </a:tbl>
          </a:graphicData>
        </a:graphic>
      </p:graphicFrame>
      <p:grpSp>
        <p:nvGrpSpPr>
          <p:cNvPr id="46" name="Graphic 8" descr="Employee badge with solid fill">
            <a:extLst>
              <a:ext uri="{FF2B5EF4-FFF2-40B4-BE49-F238E27FC236}">
                <a16:creationId xmlns:a16="http://schemas.microsoft.com/office/drawing/2014/main" id="{7B20DB22-D944-98F5-66AB-ECA9D5B820AA}"/>
              </a:ext>
            </a:extLst>
          </p:cNvPr>
          <p:cNvGrpSpPr/>
          <p:nvPr/>
        </p:nvGrpSpPr>
        <p:grpSpPr>
          <a:xfrm>
            <a:off x="1080512" y="2996233"/>
            <a:ext cx="379280" cy="322388"/>
            <a:chOff x="5901650" y="2605949"/>
            <a:chExt cx="379280" cy="322388"/>
          </a:xfrm>
          <a:solidFill>
            <a:schemeClr val="bg1"/>
          </a:solidFill>
        </p:grpSpPr>
        <p:sp>
          <p:nvSpPr>
            <p:cNvPr id="47" name="Freeform: Shape 46">
              <a:extLst>
                <a:ext uri="{FF2B5EF4-FFF2-40B4-BE49-F238E27FC236}">
                  <a16:creationId xmlns:a16="http://schemas.microsoft.com/office/drawing/2014/main" id="{525B448D-D486-70A1-5648-76CC42556D5D}"/>
                </a:ext>
              </a:extLst>
            </p:cNvPr>
            <p:cNvSpPr/>
            <p:nvPr/>
          </p:nvSpPr>
          <p:spPr>
            <a:xfrm>
              <a:off x="6062844" y="2605949"/>
              <a:ext cx="56892" cy="75856"/>
            </a:xfrm>
            <a:custGeom>
              <a:avLst/>
              <a:gdLst>
                <a:gd name="connsiteX0" fmla="*/ 37928 w 56892"/>
                <a:gd name="connsiteY0" fmla="*/ 75856 h 75856"/>
                <a:gd name="connsiteX1" fmla="*/ 18964 w 56892"/>
                <a:gd name="connsiteY1" fmla="*/ 75856 h 75856"/>
                <a:gd name="connsiteX2" fmla="*/ 0 w 56892"/>
                <a:gd name="connsiteY2" fmla="*/ 56892 h 75856"/>
                <a:gd name="connsiteX3" fmla="*/ 0 w 56892"/>
                <a:gd name="connsiteY3" fmla="*/ 18964 h 75856"/>
                <a:gd name="connsiteX4" fmla="*/ 18964 w 56892"/>
                <a:gd name="connsiteY4" fmla="*/ 0 h 75856"/>
                <a:gd name="connsiteX5" fmla="*/ 37928 w 56892"/>
                <a:gd name="connsiteY5" fmla="*/ 0 h 75856"/>
                <a:gd name="connsiteX6" fmla="*/ 56892 w 56892"/>
                <a:gd name="connsiteY6" fmla="*/ 18964 h 75856"/>
                <a:gd name="connsiteX7" fmla="*/ 56892 w 56892"/>
                <a:gd name="connsiteY7" fmla="*/ 56892 h 75856"/>
                <a:gd name="connsiteX8" fmla="*/ 37928 w 56892"/>
                <a:gd name="connsiteY8" fmla="*/ 75856 h 7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92" h="75856">
                  <a:moveTo>
                    <a:pt x="37928" y="75856"/>
                  </a:moveTo>
                  <a:lnTo>
                    <a:pt x="18964" y="75856"/>
                  </a:lnTo>
                  <a:cubicBezTo>
                    <a:pt x="8534" y="75856"/>
                    <a:pt x="0" y="67322"/>
                    <a:pt x="0" y="56892"/>
                  </a:cubicBezTo>
                  <a:lnTo>
                    <a:pt x="0" y="18964"/>
                  </a:lnTo>
                  <a:cubicBezTo>
                    <a:pt x="0" y="8534"/>
                    <a:pt x="8534" y="0"/>
                    <a:pt x="18964" y="0"/>
                  </a:cubicBezTo>
                  <a:lnTo>
                    <a:pt x="37928" y="0"/>
                  </a:lnTo>
                  <a:cubicBezTo>
                    <a:pt x="48358" y="0"/>
                    <a:pt x="56892" y="8534"/>
                    <a:pt x="56892" y="18964"/>
                  </a:cubicBezTo>
                  <a:lnTo>
                    <a:pt x="56892" y="56892"/>
                  </a:lnTo>
                  <a:cubicBezTo>
                    <a:pt x="56892" y="67322"/>
                    <a:pt x="48358" y="75856"/>
                    <a:pt x="37928" y="75856"/>
                  </a:cubicBezTo>
                  <a:close/>
                </a:path>
              </a:pathLst>
            </a:custGeom>
            <a:solidFill>
              <a:schemeClr val="bg1"/>
            </a:solidFill>
            <a:ln w="4663" cap="flat">
              <a:no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DF612D98-7C4F-95DE-7959-1D54D1F276F7}"/>
                </a:ext>
              </a:extLst>
            </p:cNvPr>
            <p:cNvSpPr/>
            <p:nvPr/>
          </p:nvSpPr>
          <p:spPr>
            <a:xfrm>
              <a:off x="5901650" y="2662841"/>
              <a:ext cx="379280" cy="265496"/>
            </a:xfrm>
            <a:custGeom>
              <a:avLst/>
              <a:gdLst>
                <a:gd name="connsiteX0" fmla="*/ 341353 w 379280"/>
                <a:gd name="connsiteY0" fmla="*/ 113784 h 265496"/>
                <a:gd name="connsiteX1" fmla="*/ 227569 w 379280"/>
                <a:gd name="connsiteY1" fmla="*/ 113784 h 265496"/>
                <a:gd name="connsiteX2" fmla="*/ 227569 w 379280"/>
                <a:gd name="connsiteY2" fmla="*/ 94820 h 265496"/>
                <a:gd name="connsiteX3" fmla="*/ 341353 w 379280"/>
                <a:gd name="connsiteY3" fmla="*/ 94820 h 265496"/>
                <a:gd name="connsiteX4" fmla="*/ 341353 w 379280"/>
                <a:gd name="connsiteY4" fmla="*/ 113784 h 265496"/>
                <a:gd name="connsiteX5" fmla="*/ 341353 w 379280"/>
                <a:gd name="connsiteY5" fmla="*/ 170676 h 265496"/>
                <a:gd name="connsiteX6" fmla="*/ 227569 w 379280"/>
                <a:gd name="connsiteY6" fmla="*/ 170676 h 265496"/>
                <a:gd name="connsiteX7" fmla="*/ 227569 w 379280"/>
                <a:gd name="connsiteY7" fmla="*/ 151712 h 265496"/>
                <a:gd name="connsiteX8" fmla="*/ 341353 w 379280"/>
                <a:gd name="connsiteY8" fmla="*/ 151712 h 265496"/>
                <a:gd name="connsiteX9" fmla="*/ 341353 w 379280"/>
                <a:gd name="connsiteY9" fmla="*/ 170676 h 265496"/>
                <a:gd name="connsiteX10" fmla="*/ 341353 w 379280"/>
                <a:gd name="connsiteY10" fmla="*/ 227569 h 265496"/>
                <a:gd name="connsiteX11" fmla="*/ 227569 w 379280"/>
                <a:gd name="connsiteY11" fmla="*/ 227569 h 265496"/>
                <a:gd name="connsiteX12" fmla="*/ 227569 w 379280"/>
                <a:gd name="connsiteY12" fmla="*/ 208604 h 265496"/>
                <a:gd name="connsiteX13" fmla="*/ 341353 w 379280"/>
                <a:gd name="connsiteY13" fmla="*/ 208604 h 265496"/>
                <a:gd name="connsiteX14" fmla="*/ 341353 w 379280"/>
                <a:gd name="connsiteY14" fmla="*/ 227569 h 265496"/>
                <a:gd name="connsiteX15" fmla="*/ 189640 w 379280"/>
                <a:gd name="connsiteY15" fmla="*/ 227569 h 265496"/>
                <a:gd name="connsiteX16" fmla="*/ 37928 w 379280"/>
                <a:gd name="connsiteY16" fmla="*/ 227569 h 265496"/>
                <a:gd name="connsiteX17" fmla="*/ 37928 w 379280"/>
                <a:gd name="connsiteY17" fmla="*/ 189640 h 265496"/>
                <a:gd name="connsiteX18" fmla="*/ 45514 w 379280"/>
                <a:gd name="connsiteY18" fmla="*/ 174469 h 265496"/>
                <a:gd name="connsiteX19" fmla="*/ 82494 w 379280"/>
                <a:gd name="connsiteY19" fmla="*/ 156453 h 265496"/>
                <a:gd name="connsiteX20" fmla="*/ 113784 w 379280"/>
                <a:gd name="connsiteY20" fmla="*/ 151712 h 265496"/>
                <a:gd name="connsiteX21" fmla="*/ 145075 w 379280"/>
                <a:gd name="connsiteY21" fmla="*/ 156453 h 265496"/>
                <a:gd name="connsiteX22" fmla="*/ 182055 w 379280"/>
                <a:gd name="connsiteY22" fmla="*/ 174469 h 265496"/>
                <a:gd name="connsiteX23" fmla="*/ 189640 w 379280"/>
                <a:gd name="connsiteY23" fmla="*/ 189640 h 265496"/>
                <a:gd name="connsiteX24" fmla="*/ 189640 w 379280"/>
                <a:gd name="connsiteY24" fmla="*/ 227569 h 265496"/>
                <a:gd name="connsiteX25" fmla="*/ 113784 w 379280"/>
                <a:gd name="connsiteY25" fmla="*/ 66374 h 265496"/>
                <a:gd name="connsiteX26" fmla="*/ 151712 w 379280"/>
                <a:gd name="connsiteY26" fmla="*/ 104302 h 265496"/>
                <a:gd name="connsiteX27" fmla="*/ 113784 w 379280"/>
                <a:gd name="connsiteY27" fmla="*/ 142230 h 265496"/>
                <a:gd name="connsiteX28" fmla="*/ 75856 w 379280"/>
                <a:gd name="connsiteY28" fmla="*/ 104302 h 265496"/>
                <a:gd name="connsiteX29" fmla="*/ 113784 w 379280"/>
                <a:gd name="connsiteY29" fmla="*/ 66374 h 265496"/>
                <a:gd name="connsiteX30" fmla="*/ 360317 w 379280"/>
                <a:gd name="connsiteY30" fmla="*/ 0 h 265496"/>
                <a:gd name="connsiteX31" fmla="*/ 237051 w 379280"/>
                <a:gd name="connsiteY31" fmla="*/ 0 h 265496"/>
                <a:gd name="connsiteX32" fmla="*/ 199122 w 379280"/>
                <a:gd name="connsiteY32" fmla="*/ 37928 h 265496"/>
                <a:gd name="connsiteX33" fmla="*/ 180158 w 379280"/>
                <a:gd name="connsiteY33" fmla="*/ 37928 h 265496"/>
                <a:gd name="connsiteX34" fmla="*/ 142230 w 379280"/>
                <a:gd name="connsiteY34" fmla="*/ 0 h 265496"/>
                <a:gd name="connsiteX35" fmla="*/ 18964 w 379280"/>
                <a:gd name="connsiteY35" fmla="*/ 0 h 265496"/>
                <a:gd name="connsiteX36" fmla="*/ 0 w 379280"/>
                <a:gd name="connsiteY36" fmla="*/ 18964 h 265496"/>
                <a:gd name="connsiteX37" fmla="*/ 0 w 379280"/>
                <a:gd name="connsiteY37" fmla="*/ 246533 h 265496"/>
                <a:gd name="connsiteX38" fmla="*/ 18964 w 379280"/>
                <a:gd name="connsiteY38" fmla="*/ 265497 h 265496"/>
                <a:gd name="connsiteX39" fmla="*/ 360317 w 379280"/>
                <a:gd name="connsiteY39" fmla="*/ 265497 h 265496"/>
                <a:gd name="connsiteX40" fmla="*/ 379281 w 379280"/>
                <a:gd name="connsiteY40" fmla="*/ 246533 h 265496"/>
                <a:gd name="connsiteX41" fmla="*/ 379281 w 379280"/>
                <a:gd name="connsiteY41" fmla="*/ 18964 h 265496"/>
                <a:gd name="connsiteX42" fmla="*/ 360317 w 379280"/>
                <a:gd name="connsiteY42" fmla="*/ 0 h 26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79280" h="265496">
                  <a:moveTo>
                    <a:pt x="341353" y="113784"/>
                  </a:moveTo>
                  <a:lnTo>
                    <a:pt x="227569" y="113784"/>
                  </a:lnTo>
                  <a:lnTo>
                    <a:pt x="227569" y="94820"/>
                  </a:lnTo>
                  <a:lnTo>
                    <a:pt x="341353" y="94820"/>
                  </a:lnTo>
                  <a:lnTo>
                    <a:pt x="341353" y="113784"/>
                  </a:lnTo>
                  <a:close/>
                  <a:moveTo>
                    <a:pt x="341353" y="170676"/>
                  </a:moveTo>
                  <a:lnTo>
                    <a:pt x="227569" y="170676"/>
                  </a:lnTo>
                  <a:lnTo>
                    <a:pt x="227569" y="151712"/>
                  </a:lnTo>
                  <a:lnTo>
                    <a:pt x="341353" y="151712"/>
                  </a:lnTo>
                  <a:lnTo>
                    <a:pt x="341353" y="170676"/>
                  </a:lnTo>
                  <a:close/>
                  <a:moveTo>
                    <a:pt x="341353" y="227569"/>
                  </a:moveTo>
                  <a:lnTo>
                    <a:pt x="227569" y="227569"/>
                  </a:lnTo>
                  <a:lnTo>
                    <a:pt x="227569" y="208604"/>
                  </a:lnTo>
                  <a:lnTo>
                    <a:pt x="341353" y="208604"/>
                  </a:lnTo>
                  <a:lnTo>
                    <a:pt x="341353" y="227569"/>
                  </a:lnTo>
                  <a:close/>
                  <a:moveTo>
                    <a:pt x="189640" y="227569"/>
                  </a:moveTo>
                  <a:lnTo>
                    <a:pt x="37928" y="227569"/>
                  </a:lnTo>
                  <a:lnTo>
                    <a:pt x="37928" y="189640"/>
                  </a:lnTo>
                  <a:cubicBezTo>
                    <a:pt x="37928" y="183951"/>
                    <a:pt x="40773" y="178262"/>
                    <a:pt x="45514" y="174469"/>
                  </a:cubicBezTo>
                  <a:cubicBezTo>
                    <a:pt x="55944" y="166884"/>
                    <a:pt x="69219" y="160246"/>
                    <a:pt x="82494" y="156453"/>
                  </a:cubicBezTo>
                  <a:cubicBezTo>
                    <a:pt x="92924" y="153609"/>
                    <a:pt x="103354" y="151712"/>
                    <a:pt x="113784" y="151712"/>
                  </a:cubicBezTo>
                  <a:cubicBezTo>
                    <a:pt x="125163" y="151712"/>
                    <a:pt x="135593" y="153609"/>
                    <a:pt x="145075" y="156453"/>
                  </a:cubicBezTo>
                  <a:cubicBezTo>
                    <a:pt x="158350" y="160246"/>
                    <a:pt x="171625" y="165935"/>
                    <a:pt x="182055" y="174469"/>
                  </a:cubicBezTo>
                  <a:cubicBezTo>
                    <a:pt x="186796" y="178262"/>
                    <a:pt x="189640" y="183951"/>
                    <a:pt x="189640" y="189640"/>
                  </a:cubicBezTo>
                  <a:lnTo>
                    <a:pt x="189640" y="227569"/>
                  </a:lnTo>
                  <a:close/>
                  <a:moveTo>
                    <a:pt x="113784" y="66374"/>
                  </a:moveTo>
                  <a:cubicBezTo>
                    <a:pt x="134645" y="66374"/>
                    <a:pt x="151712" y="83442"/>
                    <a:pt x="151712" y="104302"/>
                  </a:cubicBezTo>
                  <a:cubicBezTo>
                    <a:pt x="151712" y="125163"/>
                    <a:pt x="134645" y="142230"/>
                    <a:pt x="113784" y="142230"/>
                  </a:cubicBezTo>
                  <a:cubicBezTo>
                    <a:pt x="92924" y="142230"/>
                    <a:pt x="75856" y="125163"/>
                    <a:pt x="75856" y="104302"/>
                  </a:cubicBezTo>
                  <a:cubicBezTo>
                    <a:pt x="75856" y="83442"/>
                    <a:pt x="92924" y="66374"/>
                    <a:pt x="113784" y="66374"/>
                  </a:cubicBezTo>
                  <a:close/>
                  <a:moveTo>
                    <a:pt x="360317" y="0"/>
                  </a:moveTo>
                  <a:lnTo>
                    <a:pt x="237051" y="0"/>
                  </a:lnTo>
                  <a:cubicBezTo>
                    <a:pt x="237051" y="20860"/>
                    <a:pt x="219983" y="37928"/>
                    <a:pt x="199122" y="37928"/>
                  </a:cubicBezTo>
                  <a:lnTo>
                    <a:pt x="180158" y="37928"/>
                  </a:lnTo>
                  <a:cubicBezTo>
                    <a:pt x="159298" y="37928"/>
                    <a:pt x="142230" y="20860"/>
                    <a:pt x="142230" y="0"/>
                  </a:cubicBezTo>
                  <a:lnTo>
                    <a:pt x="18964" y="0"/>
                  </a:lnTo>
                  <a:cubicBezTo>
                    <a:pt x="8534" y="0"/>
                    <a:pt x="0" y="8534"/>
                    <a:pt x="0" y="18964"/>
                  </a:cubicBezTo>
                  <a:lnTo>
                    <a:pt x="0" y="246533"/>
                  </a:lnTo>
                  <a:cubicBezTo>
                    <a:pt x="0" y="256963"/>
                    <a:pt x="8534" y="265497"/>
                    <a:pt x="18964" y="265497"/>
                  </a:cubicBezTo>
                  <a:lnTo>
                    <a:pt x="360317" y="265497"/>
                  </a:lnTo>
                  <a:cubicBezTo>
                    <a:pt x="370747" y="265497"/>
                    <a:pt x="379281" y="256963"/>
                    <a:pt x="379281" y="246533"/>
                  </a:cubicBezTo>
                  <a:lnTo>
                    <a:pt x="379281" y="18964"/>
                  </a:lnTo>
                  <a:cubicBezTo>
                    <a:pt x="379281" y="8534"/>
                    <a:pt x="370747" y="0"/>
                    <a:pt x="360317" y="0"/>
                  </a:cubicBezTo>
                  <a:close/>
                </a:path>
              </a:pathLst>
            </a:custGeom>
            <a:solidFill>
              <a:schemeClr val="bg1"/>
            </a:solidFill>
            <a:ln w="4663" cap="flat">
              <a:noFill/>
              <a:prstDash val="solid"/>
              <a:miter/>
            </a:ln>
          </p:spPr>
          <p:txBody>
            <a:bodyPr rtlCol="0" anchor="ctr"/>
            <a:lstStyle/>
            <a:p>
              <a:endParaRPr lang="en-US" noProof="0" dirty="0"/>
            </a:p>
          </p:txBody>
        </p:sp>
      </p:grpSp>
      <p:sp>
        <p:nvSpPr>
          <p:cNvPr id="44" name="Rectangle 43">
            <a:extLst>
              <a:ext uri="{FF2B5EF4-FFF2-40B4-BE49-F238E27FC236}">
                <a16:creationId xmlns:a16="http://schemas.microsoft.com/office/drawing/2014/main" id="{25147299-2014-29BB-7022-417044840F63}"/>
              </a:ext>
            </a:extLst>
          </p:cNvPr>
          <p:cNvSpPr/>
          <p:nvPr/>
        </p:nvSpPr>
        <p:spPr>
          <a:xfrm rot="1632602">
            <a:off x="3146732" y="2260509"/>
            <a:ext cx="221195" cy="699268"/>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 name="Group 3">
            <a:extLst>
              <a:ext uri="{FF2B5EF4-FFF2-40B4-BE49-F238E27FC236}">
                <a16:creationId xmlns:a16="http://schemas.microsoft.com/office/drawing/2014/main" id="{6CFD0A9B-B72E-E8C9-4088-426391D2FAA2}"/>
              </a:ext>
            </a:extLst>
          </p:cNvPr>
          <p:cNvGrpSpPr/>
          <p:nvPr/>
        </p:nvGrpSpPr>
        <p:grpSpPr>
          <a:xfrm>
            <a:off x="5444003" y="2796693"/>
            <a:ext cx="4616783" cy="3531775"/>
            <a:chOff x="4480140" y="2497249"/>
            <a:chExt cx="5561697" cy="4174403"/>
          </a:xfrm>
        </p:grpSpPr>
        <p:sp>
          <p:nvSpPr>
            <p:cNvPr id="5" name="Freeform 8">
              <a:extLst>
                <a:ext uri="{FF2B5EF4-FFF2-40B4-BE49-F238E27FC236}">
                  <a16:creationId xmlns:a16="http://schemas.microsoft.com/office/drawing/2014/main" id="{E5B3CD17-6A9C-92DA-2837-733BD9F49D1D}"/>
                </a:ext>
              </a:extLst>
            </p:cNvPr>
            <p:cNvSpPr/>
            <p:nvPr/>
          </p:nvSpPr>
          <p:spPr>
            <a:xfrm rot="237914">
              <a:off x="5117674" y="2638881"/>
              <a:ext cx="4500355" cy="3681616"/>
            </a:xfrm>
            <a:custGeom>
              <a:avLst/>
              <a:gdLst>
                <a:gd name="connsiteX0" fmla="*/ 0 w 3687292"/>
                <a:gd name="connsiteY0" fmla="*/ 2599361 h 2599361"/>
                <a:gd name="connsiteX1" fmla="*/ 1098836 w 3687292"/>
                <a:gd name="connsiteY1" fmla="*/ 731520 h 2599361"/>
                <a:gd name="connsiteX2" fmla="*/ 3687292 w 3687292"/>
                <a:gd name="connsiteY2" fmla="*/ 0 h 2599361"/>
              </a:gdLst>
              <a:ahLst/>
              <a:cxnLst>
                <a:cxn ang="0">
                  <a:pos x="connsiteX0" y="connsiteY0"/>
                </a:cxn>
                <a:cxn ang="0">
                  <a:pos x="connsiteX1" y="connsiteY1"/>
                </a:cxn>
                <a:cxn ang="0">
                  <a:pos x="connsiteX2" y="connsiteY2"/>
                </a:cxn>
              </a:cxnLst>
              <a:rect l="l" t="t" r="r" b="b"/>
              <a:pathLst>
                <a:path w="3687292" h="2599361">
                  <a:moveTo>
                    <a:pt x="0" y="2599361"/>
                  </a:moveTo>
                  <a:cubicBezTo>
                    <a:pt x="294249" y="1763505"/>
                    <a:pt x="484287" y="1164747"/>
                    <a:pt x="1098836" y="731520"/>
                  </a:cubicBezTo>
                  <a:cubicBezTo>
                    <a:pt x="1713385" y="298293"/>
                    <a:pt x="2710759" y="125437"/>
                    <a:pt x="3687292" y="0"/>
                  </a:cubicBezTo>
                </a:path>
              </a:pathLst>
            </a:custGeom>
            <a:ln w="38100">
              <a:solidFill>
                <a:srgbClr val="4B5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2" noProof="0" dirty="0"/>
            </a:p>
          </p:txBody>
        </p:sp>
        <p:cxnSp>
          <p:nvCxnSpPr>
            <p:cNvPr id="6" name="Straight Arrow Connector 5">
              <a:extLst>
                <a:ext uri="{FF2B5EF4-FFF2-40B4-BE49-F238E27FC236}">
                  <a16:creationId xmlns:a16="http://schemas.microsoft.com/office/drawing/2014/main" id="{618DD1DB-926F-C580-39BB-124C2DE2316C}"/>
                </a:ext>
              </a:extLst>
            </p:cNvPr>
            <p:cNvCxnSpPr/>
            <p:nvPr/>
          </p:nvCxnSpPr>
          <p:spPr>
            <a:xfrm>
              <a:off x="4785395" y="6345375"/>
              <a:ext cx="5215319" cy="82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14181C86-9A76-BB0C-4650-DCB01AE1526D}"/>
                </a:ext>
              </a:extLst>
            </p:cNvPr>
            <p:cNvCxnSpPr/>
            <p:nvPr/>
          </p:nvCxnSpPr>
          <p:spPr>
            <a:xfrm rot="5400000" flipH="1" flipV="1">
              <a:off x="2861086" y="4425468"/>
              <a:ext cx="3848617" cy="82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42514A0D-D3DF-2EB7-5004-9406B693DFB0}"/>
                </a:ext>
              </a:extLst>
            </p:cNvPr>
            <p:cNvSpPr txBox="1"/>
            <p:nvPr/>
          </p:nvSpPr>
          <p:spPr>
            <a:xfrm>
              <a:off x="5426023" y="5317198"/>
              <a:ext cx="1431323" cy="279200"/>
            </a:xfrm>
            <a:prstGeom prst="rect">
              <a:avLst/>
            </a:prstGeom>
            <a:noFill/>
          </p:spPr>
          <p:txBody>
            <a:bodyPr wrap="none" rtlCol="0">
              <a:spAutoFit/>
            </a:bodyPr>
            <a:lstStyle/>
            <a:p>
              <a:pPr>
                <a:lnSpc>
                  <a:spcPct val="80000"/>
                </a:lnSpc>
              </a:pPr>
              <a:r>
                <a:rPr lang="en-US" sz="1100" b="1" noProof="0" dirty="0">
                  <a:solidFill>
                    <a:srgbClr val="3AB7C8"/>
                  </a:solidFill>
                  <a:latin typeface="Nunito Sans" pitchFamily="2" charset="77"/>
                  <a:cs typeface="Arial" panose="020B0604020202020204" pitchFamily="34" charset="0"/>
                </a:rPr>
                <a:t>FIXED INCOME</a:t>
              </a:r>
            </a:p>
          </p:txBody>
        </p:sp>
        <p:sp>
          <p:nvSpPr>
            <p:cNvPr id="9" name="Oval 8">
              <a:extLst>
                <a:ext uri="{FF2B5EF4-FFF2-40B4-BE49-F238E27FC236}">
                  <a16:creationId xmlns:a16="http://schemas.microsoft.com/office/drawing/2014/main" id="{36EAD43D-CC1E-AC08-BE7F-F179862BC750}"/>
                </a:ext>
              </a:extLst>
            </p:cNvPr>
            <p:cNvSpPr>
              <a:spLocks noChangeAspect="1"/>
            </p:cNvSpPr>
            <p:nvPr/>
          </p:nvSpPr>
          <p:spPr>
            <a:xfrm>
              <a:off x="5175959" y="524807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0" name="Oval 9">
              <a:extLst>
                <a:ext uri="{FF2B5EF4-FFF2-40B4-BE49-F238E27FC236}">
                  <a16:creationId xmlns:a16="http://schemas.microsoft.com/office/drawing/2014/main" id="{ADB02C24-75FC-FA33-3B10-0D7DD79DCC31}"/>
                </a:ext>
              </a:extLst>
            </p:cNvPr>
            <p:cNvSpPr>
              <a:spLocks noChangeAspect="1"/>
            </p:cNvSpPr>
            <p:nvPr/>
          </p:nvSpPr>
          <p:spPr>
            <a:xfrm>
              <a:off x="5373995" y="4721043"/>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1" name="TextBox 10">
              <a:extLst>
                <a:ext uri="{FF2B5EF4-FFF2-40B4-BE49-F238E27FC236}">
                  <a16:creationId xmlns:a16="http://schemas.microsoft.com/office/drawing/2014/main" id="{E2126030-A0FA-8F48-87FB-FCBF27640D5C}"/>
                </a:ext>
              </a:extLst>
            </p:cNvPr>
            <p:cNvSpPr txBox="1"/>
            <p:nvPr/>
          </p:nvSpPr>
          <p:spPr>
            <a:xfrm>
              <a:off x="5624061" y="4770120"/>
              <a:ext cx="1551050" cy="279200"/>
            </a:xfrm>
            <a:prstGeom prst="rect">
              <a:avLst/>
            </a:prstGeom>
            <a:noFill/>
          </p:spPr>
          <p:txBody>
            <a:bodyPr wrap="none" rtlCol="0">
              <a:spAutoFit/>
            </a:bodyPr>
            <a:lstStyle/>
            <a:p>
              <a:pPr>
                <a:lnSpc>
                  <a:spcPct val="80000"/>
                </a:lnSpc>
              </a:pPr>
              <a:r>
                <a:rPr lang="en-US" sz="1100" b="1" noProof="0" dirty="0">
                  <a:solidFill>
                    <a:srgbClr val="3AB7C8"/>
                  </a:solidFill>
                  <a:latin typeface="Nunito Sans" pitchFamily="2" charset="77"/>
                  <a:cs typeface="Arial" panose="020B0604020202020204" pitchFamily="34" charset="0"/>
                </a:rPr>
                <a:t>CONSERVATIVE</a:t>
              </a:r>
            </a:p>
          </p:txBody>
        </p:sp>
        <p:sp>
          <p:nvSpPr>
            <p:cNvPr id="12" name="Oval 11">
              <a:extLst>
                <a:ext uri="{FF2B5EF4-FFF2-40B4-BE49-F238E27FC236}">
                  <a16:creationId xmlns:a16="http://schemas.microsoft.com/office/drawing/2014/main" id="{2E04DCB5-3A89-D93B-749D-99192A526990}"/>
                </a:ext>
              </a:extLst>
            </p:cNvPr>
            <p:cNvSpPr>
              <a:spLocks noChangeAspect="1"/>
            </p:cNvSpPr>
            <p:nvPr/>
          </p:nvSpPr>
          <p:spPr>
            <a:xfrm>
              <a:off x="5991063" y="3729580"/>
              <a:ext cx="314873" cy="314873"/>
            </a:xfrm>
            <a:prstGeom prst="ellipse">
              <a:avLst/>
            </a:prstGeom>
            <a:solidFill>
              <a:srgbClr val="FFA400"/>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3" name="TextBox 12">
              <a:extLst>
                <a:ext uri="{FF2B5EF4-FFF2-40B4-BE49-F238E27FC236}">
                  <a16:creationId xmlns:a16="http://schemas.microsoft.com/office/drawing/2014/main" id="{60E24EAE-6792-70B8-E4DB-1DB0379EC696}"/>
                </a:ext>
              </a:extLst>
            </p:cNvPr>
            <p:cNvSpPr txBox="1"/>
            <p:nvPr/>
          </p:nvSpPr>
          <p:spPr>
            <a:xfrm>
              <a:off x="6271665" y="3862427"/>
              <a:ext cx="1284561" cy="294660"/>
            </a:xfrm>
            <a:prstGeom prst="rect">
              <a:avLst/>
            </a:prstGeom>
            <a:noFill/>
          </p:spPr>
          <p:txBody>
            <a:bodyPr wrap="none" rtlCol="0">
              <a:spAutoFit/>
            </a:bodyPr>
            <a:lstStyle>
              <a:defPPr>
                <a:defRPr lang="en-US"/>
              </a:defPPr>
              <a:lvl1pPr>
                <a:lnSpc>
                  <a:spcPct val="80000"/>
                </a:lnSpc>
                <a:defRPr sz="1114" b="1">
                  <a:solidFill>
                    <a:srgbClr val="FFA400"/>
                  </a:solidFill>
                  <a:latin typeface="+mj-lt"/>
                  <a:cs typeface="Arial" panose="020B0604020202020204" pitchFamily="34" charset="0"/>
                </a:defRPr>
              </a:lvl1pPr>
            </a:lstStyle>
            <a:p>
              <a:r>
                <a:rPr lang="en-US" sz="1200" noProof="0" dirty="0"/>
                <a:t>MODERATE</a:t>
              </a:r>
            </a:p>
          </p:txBody>
        </p:sp>
        <p:sp>
          <p:nvSpPr>
            <p:cNvPr id="14" name="Oval 13">
              <a:extLst>
                <a:ext uri="{FF2B5EF4-FFF2-40B4-BE49-F238E27FC236}">
                  <a16:creationId xmlns:a16="http://schemas.microsoft.com/office/drawing/2014/main" id="{16B9A5A3-905E-08D8-E7A7-4FCD79C96669}"/>
                </a:ext>
              </a:extLst>
            </p:cNvPr>
            <p:cNvSpPr>
              <a:spLocks noChangeAspect="1"/>
            </p:cNvSpPr>
            <p:nvPr/>
          </p:nvSpPr>
          <p:spPr>
            <a:xfrm>
              <a:off x="7768545" y="2916562"/>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5" name="TextBox 14">
              <a:extLst>
                <a:ext uri="{FF2B5EF4-FFF2-40B4-BE49-F238E27FC236}">
                  <a16:creationId xmlns:a16="http://schemas.microsoft.com/office/drawing/2014/main" id="{EBB12ADF-B4E8-15A7-72C8-9DA61CF02AEA}"/>
                </a:ext>
              </a:extLst>
            </p:cNvPr>
            <p:cNvSpPr txBox="1"/>
            <p:nvPr/>
          </p:nvSpPr>
          <p:spPr>
            <a:xfrm>
              <a:off x="7989012" y="3068680"/>
              <a:ext cx="1023864" cy="279200"/>
            </a:xfrm>
            <a:prstGeom prst="rect">
              <a:avLst/>
            </a:prstGeom>
            <a:noFill/>
          </p:spPr>
          <p:txBody>
            <a:bodyPr wrap="none" rtlCol="0">
              <a:spAutoFit/>
            </a:bodyPr>
            <a:lstStyle/>
            <a:p>
              <a:pPr>
                <a:lnSpc>
                  <a:spcPct val="80000"/>
                </a:lnSpc>
              </a:pPr>
              <a:r>
                <a:rPr lang="en-US" sz="1100" b="1" noProof="0" dirty="0">
                  <a:solidFill>
                    <a:srgbClr val="3AB7C8"/>
                  </a:solidFill>
                  <a:latin typeface="Nunito Sans" pitchFamily="2" charset="77"/>
                  <a:cs typeface="Arial" panose="020B0604020202020204" pitchFamily="34" charset="0"/>
                </a:rPr>
                <a:t>GROWTH</a:t>
              </a:r>
            </a:p>
          </p:txBody>
        </p:sp>
        <p:sp>
          <p:nvSpPr>
            <p:cNvPr id="16" name="Oval 15">
              <a:extLst>
                <a:ext uri="{FF2B5EF4-FFF2-40B4-BE49-F238E27FC236}">
                  <a16:creationId xmlns:a16="http://schemas.microsoft.com/office/drawing/2014/main" id="{E18D1864-FFE9-147D-0F57-70D6A5EEA523}"/>
                </a:ext>
              </a:extLst>
            </p:cNvPr>
            <p:cNvSpPr>
              <a:spLocks noChangeAspect="1"/>
            </p:cNvSpPr>
            <p:nvPr/>
          </p:nvSpPr>
          <p:spPr>
            <a:xfrm>
              <a:off x="8912633" y="2735238"/>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7" name="TextBox 16">
              <a:extLst>
                <a:ext uri="{FF2B5EF4-FFF2-40B4-BE49-F238E27FC236}">
                  <a16:creationId xmlns:a16="http://schemas.microsoft.com/office/drawing/2014/main" id="{80CD1FA2-7A97-AB01-D37A-48E0AA53D1A0}"/>
                </a:ext>
              </a:extLst>
            </p:cNvPr>
            <p:cNvSpPr txBox="1"/>
            <p:nvPr/>
          </p:nvSpPr>
          <p:spPr>
            <a:xfrm>
              <a:off x="9122739" y="2918083"/>
              <a:ext cx="842341" cy="279200"/>
            </a:xfrm>
            <a:prstGeom prst="rect">
              <a:avLst/>
            </a:prstGeom>
            <a:noFill/>
          </p:spPr>
          <p:txBody>
            <a:bodyPr wrap="none" rtlCol="0">
              <a:spAutoFit/>
            </a:bodyPr>
            <a:lstStyle/>
            <a:p>
              <a:pPr>
                <a:lnSpc>
                  <a:spcPct val="80000"/>
                </a:lnSpc>
              </a:pPr>
              <a:r>
                <a:rPr lang="en-US" sz="1100" b="1" noProof="0" dirty="0">
                  <a:solidFill>
                    <a:srgbClr val="3AB7C8"/>
                  </a:solidFill>
                  <a:latin typeface="Nunito Sans" pitchFamily="2" charset="77"/>
                  <a:cs typeface="Arial" panose="020B0604020202020204" pitchFamily="34" charset="0"/>
                </a:rPr>
                <a:t>EQUITY</a:t>
              </a:r>
            </a:p>
          </p:txBody>
        </p:sp>
        <p:sp>
          <p:nvSpPr>
            <p:cNvPr id="18" name="Oval 17">
              <a:extLst>
                <a:ext uri="{FF2B5EF4-FFF2-40B4-BE49-F238E27FC236}">
                  <a16:creationId xmlns:a16="http://schemas.microsoft.com/office/drawing/2014/main" id="{F633C10A-7421-E27C-79FC-AA1DB2E8ADF9}"/>
                </a:ext>
              </a:extLst>
            </p:cNvPr>
            <p:cNvSpPr>
              <a:spLocks noChangeAspect="1"/>
            </p:cNvSpPr>
            <p:nvPr/>
          </p:nvSpPr>
          <p:spPr>
            <a:xfrm>
              <a:off x="6911796" y="3187360"/>
              <a:ext cx="251048" cy="251047"/>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9" name="TextBox 18">
              <a:extLst>
                <a:ext uri="{FF2B5EF4-FFF2-40B4-BE49-F238E27FC236}">
                  <a16:creationId xmlns:a16="http://schemas.microsoft.com/office/drawing/2014/main" id="{650FD01B-830E-054C-4111-4E9EF544765C}"/>
                </a:ext>
              </a:extLst>
            </p:cNvPr>
            <p:cNvSpPr txBox="1"/>
            <p:nvPr/>
          </p:nvSpPr>
          <p:spPr>
            <a:xfrm>
              <a:off x="7068085" y="3491334"/>
              <a:ext cx="1160970" cy="279200"/>
            </a:xfrm>
            <a:prstGeom prst="rect">
              <a:avLst/>
            </a:prstGeom>
            <a:noFill/>
          </p:spPr>
          <p:txBody>
            <a:bodyPr wrap="none" rtlCol="0">
              <a:spAutoFit/>
            </a:bodyPr>
            <a:lstStyle>
              <a:defPPr>
                <a:defRPr lang="en-US"/>
              </a:defPPr>
              <a:lvl1pPr>
                <a:lnSpc>
                  <a:spcPct val="80000"/>
                </a:lnSpc>
                <a:defRPr sz="795" b="1">
                  <a:solidFill>
                    <a:srgbClr val="3AB7C8"/>
                  </a:solidFill>
                  <a:latin typeface="Nunito Sans" pitchFamily="2" charset="77"/>
                  <a:cs typeface="Arial" panose="020B0604020202020204" pitchFamily="34" charset="0"/>
                </a:defRPr>
              </a:lvl1pPr>
            </a:lstStyle>
            <a:p>
              <a:r>
                <a:rPr lang="en-US" sz="1100" noProof="0" dirty="0"/>
                <a:t>BALANCED</a:t>
              </a:r>
            </a:p>
          </p:txBody>
        </p:sp>
        <p:sp>
          <p:nvSpPr>
            <p:cNvPr id="20" name="Rectangle 19">
              <a:extLst>
                <a:ext uri="{FF2B5EF4-FFF2-40B4-BE49-F238E27FC236}">
                  <a16:creationId xmlns:a16="http://schemas.microsoft.com/office/drawing/2014/main" id="{599FC8E0-0A76-616D-7F2E-7F53A1CA777D}"/>
                </a:ext>
              </a:extLst>
            </p:cNvPr>
            <p:cNvSpPr/>
            <p:nvPr/>
          </p:nvSpPr>
          <p:spPr>
            <a:xfrm rot="16200000">
              <a:off x="4274695" y="2702694"/>
              <a:ext cx="726043" cy="315154"/>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Return</a:t>
              </a:r>
            </a:p>
          </p:txBody>
        </p:sp>
        <p:sp>
          <p:nvSpPr>
            <p:cNvPr id="21" name="Rectangle 20">
              <a:extLst>
                <a:ext uri="{FF2B5EF4-FFF2-40B4-BE49-F238E27FC236}">
                  <a16:creationId xmlns:a16="http://schemas.microsoft.com/office/drawing/2014/main" id="{F4C1B45D-8DE0-CCCF-6416-324D0D828911}"/>
                </a:ext>
              </a:extLst>
            </p:cNvPr>
            <p:cNvSpPr/>
            <p:nvPr/>
          </p:nvSpPr>
          <p:spPr>
            <a:xfrm>
              <a:off x="9131908" y="6362440"/>
              <a:ext cx="909929" cy="309212"/>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Volatility</a:t>
              </a:r>
            </a:p>
          </p:txBody>
        </p:sp>
      </p:grpSp>
      <p:sp>
        <p:nvSpPr>
          <p:cNvPr id="49" name="Rectangle: Rounded Corners 48">
            <a:extLst>
              <a:ext uri="{FF2B5EF4-FFF2-40B4-BE49-F238E27FC236}">
                <a16:creationId xmlns:a16="http://schemas.microsoft.com/office/drawing/2014/main" id="{9136CC6D-6251-8098-4B2D-EC31FBFF2C40}"/>
              </a:ext>
            </a:extLst>
          </p:cNvPr>
          <p:cNvSpPr/>
          <p:nvPr/>
        </p:nvSpPr>
        <p:spPr>
          <a:xfrm>
            <a:off x="2643627" y="2770311"/>
            <a:ext cx="784860" cy="282814"/>
          </a:xfrm>
          <a:prstGeom prst="round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52" name="Rectangle 29">
            <a:extLst>
              <a:ext uri="{FF2B5EF4-FFF2-40B4-BE49-F238E27FC236}">
                <a16:creationId xmlns:a16="http://schemas.microsoft.com/office/drawing/2014/main" id="{461A1599-74CC-00D0-2C70-9D37C2F38668}"/>
              </a:ext>
            </a:extLst>
          </p:cNvPr>
          <p:cNvSpPr/>
          <p:nvPr/>
        </p:nvSpPr>
        <p:spPr>
          <a:xfrm rot="20031575">
            <a:off x="2744786" y="2216727"/>
            <a:ext cx="261097" cy="852224"/>
          </a:xfrm>
          <a:custGeom>
            <a:avLst/>
            <a:gdLst>
              <a:gd name="connsiteX0" fmla="*/ 0 w 205740"/>
              <a:gd name="connsiteY0" fmla="*/ 0 h 930514"/>
              <a:gd name="connsiteX1" fmla="*/ 205740 w 205740"/>
              <a:gd name="connsiteY1" fmla="*/ 0 h 930514"/>
              <a:gd name="connsiteX2" fmla="*/ 205740 w 205740"/>
              <a:gd name="connsiteY2" fmla="*/ 930514 h 930514"/>
              <a:gd name="connsiteX3" fmla="*/ 0 w 205740"/>
              <a:gd name="connsiteY3" fmla="*/ 930514 h 930514"/>
              <a:gd name="connsiteX4" fmla="*/ 0 w 205740"/>
              <a:gd name="connsiteY4" fmla="*/ 0 h 930514"/>
              <a:gd name="connsiteX0" fmla="*/ 0 w 233608"/>
              <a:gd name="connsiteY0" fmla="*/ 0 h 1012096"/>
              <a:gd name="connsiteX1" fmla="*/ 205740 w 233608"/>
              <a:gd name="connsiteY1" fmla="*/ 0 h 1012096"/>
              <a:gd name="connsiteX2" fmla="*/ 233608 w 233608"/>
              <a:gd name="connsiteY2" fmla="*/ 1012096 h 1012096"/>
              <a:gd name="connsiteX3" fmla="*/ 0 w 233608"/>
              <a:gd name="connsiteY3" fmla="*/ 930514 h 1012096"/>
              <a:gd name="connsiteX4" fmla="*/ 0 w 233608"/>
              <a:gd name="connsiteY4" fmla="*/ 0 h 1012096"/>
              <a:gd name="connsiteX0" fmla="*/ 0 w 261097"/>
              <a:gd name="connsiteY0" fmla="*/ 0 h 1042563"/>
              <a:gd name="connsiteX1" fmla="*/ 205740 w 261097"/>
              <a:gd name="connsiteY1" fmla="*/ 0 h 1042563"/>
              <a:gd name="connsiteX2" fmla="*/ 261097 w 261097"/>
              <a:gd name="connsiteY2" fmla="*/ 1042563 h 1042563"/>
              <a:gd name="connsiteX3" fmla="*/ 0 w 261097"/>
              <a:gd name="connsiteY3" fmla="*/ 930514 h 1042563"/>
              <a:gd name="connsiteX4" fmla="*/ 0 w 261097"/>
              <a:gd name="connsiteY4" fmla="*/ 0 h 1042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97" h="1042563">
                <a:moveTo>
                  <a:pt x="0" y="0"/>
                </a:moveTo>
                <a:lnTo>
                  <a:pt x="205740" y="0"/>
                </a:lnTo>
                <a:lnTo>
                  <a:pt x="261097" y="1042563"/>
                </a:lnTo>
                <a:lnTo>
                  <a:pt x="0" y="930514"/>
                </a:lnTo>
                <a:lnTo>
                  <a:pt x="0" y="0"/>
                </a:lnTo>
                <a:close/>
              </a:path>
            </a:pathLst>
          </a:custGeom>
          <a:solidFill>
            <a:schemeClr val="bg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55" name="Graphic 54" descr="Speedometer Middle with solid fill">
            <a:extLst>
              <a:ext uri="{FF2B5EF4-FFF2-40B4-BE49-F238E27FC236}">
                <a16:creationId xmlns:a16="http://schemas.microsoft.com/office/drawing/2014/main" id="{0AA3E156-42AB-C0AF-BECA-1EF6353D62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79385" y="3287294"/>
            <a:ext cx="473304" cy="473304"/>
          </a:xfrm>
          <a:prstGeom prst="rect">
            <a:avLst/>
          </a:prstGeom>
        </p:spPr>
      </p:pic>
    </p:spTree>
    <p:extLst>
      <p:ext uri="{BB962C8B-B14F-4D97-AF65-F5344CB8AC3E}">
        <p14:creationId xmlns:p14="http://schemas.microsoft.com/office/powerpoint/2010/main" val="2575606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cash and fixed income</a:t>
            </a:r>
          </a:p>
        </p:txBody>
      </p:sp>
      <p:sp>
        <p:nvSpPr>
          <p:cNvPr id="3" name="Text Placeholder 2"/>
          <p:cNvSpPr>
            <a:spLocks noGrp="1"/>
          </p:cNvSpPr>
          <p:nvPr>
            <p:ph type="body" sz="quarter" idx="14"/>
          </p:nvPr>
        </p:nvSpPr>
        <p:spPr>
          <a:xfrm>
            <a:off x="665163" y="1645086"/>
            <a:ext cx="9398001" cy="251511"/>
          </a:xfrm>
        </p:spPr>
        <p:txBody>
          <a:bodyPr/>
          <a:lstStyle/>
          <a:p>
            <a:r>
              <a:rPr lang="en-US" sz="1400" noProof="0" dirty="0"/>
              <a:t>All positions of the proposed USD 7.0m allocation, part 1 of 2. Weights as at 6 August 2026.</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equity, alternatives and commodities</a:t>
            </a:r>
          </a:p>
        </p:txBody>
      </p:sp>
      <p:sp>
        <p:nvSpPr>
          <p:cNvPr id="3" name="Text Placeholder 2"/>
          <p:cNvSpPr>
            <a:spLocks noGrp="1"/>
          </p:cNvSpPr>
          <p:nvPr>
            <p:ph type="body" sz="quarter" idx="14"/>
          </p:nvPr>
        </p:nvSpPr>
        <p:spPr>
          <a:xfrm>
            <a:off x="665163" y="1658941"/>
            <a:ext cx="9398001" cy="251511"/>
          </a:xfrm>
        </p:spPr>
        <p:txBody>
          <a:bodyPr/>
          <a:lstStyle/>
          <a:p>
            <a:r>
              <a:rPr lang="en-US" sz="1400" noProof="0" dirty="0"/>
              <a:t>All positions of the proposed USD 7.0m allocation, part 2 of 2. Weights as at 6 August 2026.</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Portfolio overview</a:t>
            </a:r>
          </a:p>
        </p:txBody>
      </p:sp>
      <p:sp>
        <p:nvSpPr>
          <p:cNvPr id="3" name="Text Placeholder 2"/>
          <p:cNvSpPr>
            <a:spLocks noGrp="1"/>
          </p:cNvSpPr>
          <p:nvPr>
            <p:ph type="body" sz="quarter" idx="14"/>
          </p:nvPr>
        </p:nvSpPr>
        <p:spPr>
          <a:xfrm>
            <a:off x="665163" y="1645085"/>
            <a:ext cx="9398001" cy="251511"/>
          </a:xfrm>
        </p:spPr>
        <p:txBody>
          <a:bodyPr/>
          <a:lstStyle/>
          <a:p>
            <a:r>
              <a:rPr lang="en-US" sz="1400" noProof="0" dirty="0"/>
              <a:t>A consolidated view of the portfolio as at the statement date.</a:t>
            </a:r>
          </a:p>
        </p:txBody>
      </p:sp>
      <p:sp>
        <p:nvSpPr>
          <p:cNvPr id="4" name="Rectangle 3"/>
          <p:cNvSpPr/>
          <p:nvPr/>
        </p:nvSpPr>
        <p:spPr>
          <a:xfrm>
            <a:off x="6660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USD 7.0M</a:t>
            </a:r>
          </a:p>
          <a:p>
            <a:pPr algn="ctr"/>
            <a:r>
              <a:rPr lang="en-US" sz="1400" b="0" noProof="0" dirty="0">
                <a:solidFill>
                  <a:srgbClr val="202945"/>
                </a:solidFill>
                <a:latin typeface="Nunito Sans"/>
              </a:rPr>
              <a:t>Total value</a:t>
            </a:r>
          </a:p>
        </p:txBody>
      </p:sp>
      <p:sp>
        <p:nvSpPr>
          <p:cNvPr id="5" name="Rectangle 4"/>
          <p:cNvSpPr/>
          <p:nvPr/>
        </p:nvSpPr>
        <p:spPr>
          <a:xfrm>
            <a:off x="25668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36</a:t>
            </a:r>
          </a:p>
          <a:p>
            <a:pPr algn="ctr"/>
            <a:r>
              <a:rPr lang="en-US" sz="1400" b="0" noProof="0" dirty="0">
                <a:solidFill>
                  <a:srgbClr val="202945"/>
                </a:solidFill>
                <a:latin typeface="Nunito Sans"/>
              </a:rPr>
              <a:t>Positions</a:t>
            </a:r>
          </a:p>
        </p:txBody>
      </p:sp>
      <p:sp>
        <p:nvSpPr>
          <p:cNvPr id="6" name="Rectangle 5"/>
          <p:cNvSpPr/>
          <p:nvPr/>
        </p:nvSpPr>
        <p:spPr>
          <a:xfrm>
            <a:off x="44676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7.9%</a:t>
            </a:r>
          </a:p>
          <a:p>
            <a:pPr algn="ctr"/>
            <a:r>
              <a:rPr lang="en-US" sz="1400" b="0" noProof="0" dirty="0">
                <a:solidFill>
                  <a:srgbClr val="202945"/>
                </a:solidFill>
                <a:latin typeface="Nunito Sans"/>
              </a:rPr>
              <a:t>Largest position</a:t>
            </a:r>
          </a:p>
        </p:txBody>
      </p:sp>
      <p:sp>
        <p:nvSpPr>
          <p:cNvPr id="7" name="Rectangle 6"/>
          <p:cNvSpPr/>
          <p:nvPr/>
        </p:nvSpPr>
        <p:spPr>
          <a:xfrm>
            <a:off x="63684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86.6%</a:t>
            </a:r>
          </a:p>
          <a:p>
            <a:pPr algn="ctr"/>
            <a:r>
              <a:rPr lang="en-US" sz="1400" b="0" noProof="0" dirty="0">
                <a:solidFill>
                  <a:srgbClr val="202945"/>
                </a:solidFill>
                <a:latin typeface="Nunito Sans"/>
              </a:rPr>
              <a:t>Liquid share</a:t>
            </a:r>
          </a:p>
        </p:txBody>
      </p:sp>
      <p:sp>
        <p:nvSpPr>
          <p:cNvPr id="8" name="Rectangle 7"/>
          <p:cNvSpPr/>
          <p:nvPr/>
        </p:nvSpPr>
        <p:spPr>
          <a:xfrm>
            <a:off x="82692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2.4%</a:t>
            </a:r>
          </a:p>
          <a:p>
            <a:pPr algn="ctr"/>
            <a:r>
              <a:rPr lang="en-US" sz="1400" b="0" noProof="0" dirty="0">
                <a:solidFill>
                  <a:srgbClr val="202945"/>
                </a:solidFill>
                <a:latin typeface="Nunito Sans"/>
              </a:rPr>
              <a:t>Running yield</a:t>
            </a:r>
          </a:p>
        </p:txBody>
      </p:sp>
      <p:sp>
        <p:nvSpPr>
          <p:cNvPr id="9" name="TextBox 8"/>
          <p:cNvSpPr txBox="1"/>
          <p:nvPr/>
        </p:nvSpPr>
        <p:spPr>
          <a:xfrm>
            <a:off x="1231105" y="3680847"/>
            <a:ext cx="2455389" cy="324000"/>
          </a:xfrm>
          <a:prstGeom prst="rect">
            <a:avLst/>
          </a:prstGeom>
          <a:noFill/>
        </p:spPr>
        <p:txBody>
          <a:bodyPr wrap="square" anchor="t">
            <a:spAutoFit/>
          </a:bodyPr>
          <a:lstStyle/>
          <a:p>
            <a:pPr algn="l"/>
            <a:r>
              <a:rPr lang="en-US" sz="1500" b="1" noProof="0" dirty="0">
                <a:solidFill>
                  <a:srgbClr val="202945"/>
                </a:solidFill>
                <a:latin typeface="Nunito Sans ExtraBold"/>
              </a:rPr>
              <a:t>Allocation by asset class</a:t>
            </a:r>
          </a:p>
        </p:txBody>
      </p:sp>
      <p:sp>
        <p:nvSpPr>
          <p:cNvPr id="10" name="Rectangle 9"/>
          <p:cNvSpPr/>
          <p:nvPr/>
        </p:nvSpPr>
        <p:spPr>
          <a:xfrm>
            <a:off x="665163" y="4031999"/>
            <a:ext cx="9402762" cy="2591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1" name="Chart 10"/>
          <p:cNvGraphicFramePr>
            <a:graphicFrameLocks noGrp="1"/>
          </p:cNvGraphicFramePr>
          <p:nvPr>
            <p:extLst>
              <p:ext uri="{D42A27DB-BD31-4B8C-83A1-F6EECF244321}">
                <p14:modId xmlns:p14="http://schemas.microsoft.com/office/powerpoint/2010/main" val="2148443508"/>
              </p:ext>
            </p:extLst>
          </p:nvPr>
        </p:nvGraphicFramePr>
        <p:xfrm>
          <a:off x="665163" y="4139676"/>
          <a:ext cx="5040000" cy="2231999"/>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graphicFrame>
        <p:nvGraphicFramePr>
          <p:cNvPr id="15" name="Chart 14">
            <a:extLst>
              <a:ext uri="{FF2B5EF4-FFF2-40B4-BE49-F238E27FC236}">
                <a16:creationId xmlns:a16="http://schemas.microsoft.com/office/drawing/2014/main" id="{B9435713-E2C8-DCEF-CAD2-AB94539F1466}"/>
              </a:ext>
            </a:extLst>
          </p:cNvPr>
          <p:cNvGraphicFramePr>
            <a:graphicFrameLocks noGrp="1"/>
          </p:cNvGraphicFramePr>
          <p:nvPr>
            <p:extLst>
              <p:ext uri="{D42A27DB-BD31-4B8C-83A1-F6EECF244321}">
                <p14:modId xmlns:p14="http://schemas.microsoft.com/office/powerpoint/2010/main" val="2044145011"/>
              </p:ext>
            </p:extLst>
          </p:nvPr>
        </p:nvGraphicFramePr>
        <p:xfrm>
          <a:off x="5881036" y="4176349"/>
          <a:ext cx="4165388" cy="223200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6">
            <a:extLst>
              <a:ext uri="{FF2B5EF4-FFF2-40B4-BE49-F238E27FC236}">
                <a16:creationId xmlns:a16="http://schemas.microsoft.com/office/drawing/2014/main" id="{A44FDFA7-5F75-D136-DB3B-84D2D7243C33}"/>
              </a:ext>
            </a:extLst>
          </p:cNvPr>
          <p:cNvSpPr txBox="1"/>
          <p:nvPr/>
        </p:nvSpPr>
        <p:spPr>
          <a:xfrm>
            <a:off x="6178396" y="3701819"/>
            <a:ext cx="4608000" cy="324000"/>
          </a:xfrm>
          <a:prstGeom prst="rect">
            <a:avLst/>
          </a:prstGeom>
          <a:noFill/>
        </p:spPr>
        <p:txBody>
          <a:bodyPr wrap="square" anchor="t">
            <a:spAutoFit/>
          </a:bodyPr>
          <a:lstStyle/>
          <a:p>
            <a:pPr algn="l"/>
            <a:r>
              <a:rPr lang="en-US" sz="1500" b="1" noProof="0" dirty="0">
                <a:solidFill>
                  <a:srgbClr val="202945"/>
                </a:solidFill>
                <a:latin typeface="Nunito Sans ExtraBold"/>
              </a:rPr>
              <a:t>Currency exposure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163" y="1032442"/>
            <a:ext cx="9398001" cy="477703"/>
          </a:xfrm>
        </p:spPr>
        <p:txBody>
          <a:bodyPr/>
          <a:lstStyle/>
          <a:p>
            <a:r>
              <a:rPr lang="en-US" noProof="0" dirty="0"/>
              <a:t>Geographic &amp; sector exposure</a:t>
            </a:r>
          </a:p>
        </p:txBody>
      </p:sp>
      <p:sp>
        <p:nvSpPr>
          <p:cNvPr id="3" name="Text Placeholder 2"/>
          <p:cNvSpPr>
            <a:spLocks noGrp="1"/>
          </p:cNvSpPr>
          <p:nvPr>
            <p:ph type="body" sz="quarter" idx="14"/>
          </p:nvPr>
        </p:nvSpPr>
        <p:spPr>
          <a:xfrm>
            <a:off x="665163" y="1652014"/>
            <a:ext cx="9398001" cy="251511"/>
          </a:xfrm>
        </p:spPr>
        <p:txBody>
          <a:bodyPr/>
          <a:lstStyle/>
          <a:p>
            <a:r>
              <a:rPr lang="en-US" sz="1400" noProof="0" dirty="0"/>
              <a:t>Regional and sector breakdown (look-through where available).</a:t>
            </a:r>
          </a:p>
        </p:txBody>
      </p:sp>
      <p:sp>
        <p:nvSpPr>
          <p:cNvPr id="4" name="TextBox 3"/>
          <p:cNvSpPr txBox="1"/>
          <p:nvPr/>
        </p:nvSpPr>
        <p:spPr>
          <a:xfrm>
            <a:off x="666000" y="2340000"/>
            <a:ext cx="4608000" cy="307777"/>
          </a:xfrm>
          <a:prstGeom prst="rect">
            <a:avLst/>
          </a:prstGeom>
          <a:noFill/>
        </p:spPr>
        <p:txBody>
          <a:bodyPr wrap="square" anchor="t">
            <a:spAutoFit/>
          </a:bodyPr>
          <a:lstStyle/>
          <a:p>
            <a:pPr algn="l"/>
            <a:r>
              <a:rPr lang="en-US" sz="1400" b="1" noProof="0" dirty="0">
                <a:solidFill>
                  <a:srgbClr val="202945"/>
                </a:solidFill>
                <a:latin typeface="Nunito Sans ExtraBold"/>
              </a:rPr>
              <a:t>Geographic exposure</a:t>
            </a:r>
          </a:p>
        </p:txBody>
      </p:sp>
      <p:sp>
        <p:nvSpPr>
          <p:cNvPr id="5" name="Rectangle 4"/>
          <p:cNvSpPr/>
          <p:nvPr/>
        </p:nvSpPr>
        <p:spPr>
          <a:xfrm>
            <a:off x="666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1791008276"/>
              </p:ext>
            </p:extLst>
          </p:nvPr>
        </p:nvGraphicFramePr>
        <p:xfrm>
          <a:off x="846000" y="2880000"/>
          <a:ext cx="4248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5418000" y="234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Sector exposure</a:t>
            </a:r>
          </a:p>
        </p:txBody>
      </p:sp>
      <p:sp>
        <p:nvSpPr>
          <p:cNvPr id="8" name="Rectangle 7"/>
          <p:cNvSpPr/>
          <p:nvPr/>
        </p:nvSpPr>
        <p:spPr>
          <a:xfrm>
            <a:off x="5418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9" name="Chart 8"/>
          <p:cNvGraphicFramePr>
            <a:graphicFrameLocks noGrp="1"/>
          </p:cNvGraphicFramePr>
          <p:nvPr>
            <p:extLst>
              <p:ext uri="{D42A27DB-BD31-4B8C-83A1-F6EECF244321}">
                <p14:modId xmlns:p14="http://schemas.microsoft.com/office/powerpoint/2010/main" val="477681824"/>
              </p:ext>
            </p:extLst>
          </p:nvPr>
        </p:nvGraphicFramePr>
        <p:xfrm>
          <a:off x="5598000" y="2880000"/>
          <a:ext cx="4248000" cy="338399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Fixed Income: income-type specifics</a:t>
            </a:r>
          </a:p>
        </p:txBody>
      </p:sp>
      <p:sp>
        <p:nvSpPr>
          <p:cNvPr id="4" name="TextBox 3"/>
          <p:cNvSpPr txBox="1"/>
          <p:nvPr/>
        </p:nvSpPr>
        <p:spPr>
          <a:xfrm>
            <a:off x="666000" y="2160000"/>
            <a:ext cx="4536000" cy="324000"/>
          </a:xfrm>
          <a:prstGeom prst="rect">
            <a:avLst/>
          </a:prstGeom>
          <a:noFill/>
        </p:spPr>
        <p:txBody>
          <a:bodyPr wrap="square" lIns="0" anchor="t">
            <a:spAutoFit/>
          </a:bodyPr>
          <a:lstStyle/>
          <a:p>
            <a:pPr algn="l"/>
            <a:r>
              <a:rPr lang="en-US" sz="1500" b="1" noProof="0" dirty="0">
                <a:solidFill>
                  <a:srgbClr val="202945"/>
                </a:solidFill>
                <a:latin typeface="Nunito Sans ExtraBold"/>
              </a:rPr>
              <a:t>How this sleeve is built</a:t>
            </a:r>
          </a:p>
        </p:txBody>
      </p:sp>
      <p:sp>
        <p:nvSpPr>
          <p:cNvPr id="5" name="TextBox 4"/>
          <p:cNvSpPr txBox="1"/>
          <p:nvPr/>
        </p:nvSpPr>
        <p:spPr>
          <a:xfrm>
            <a:off x="666000" y="2520000"/>
            <a:ext cx="4536000" cy="1200329"/>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Fixed Income diversification: a mix of government bonds, high-quality corporate bonds and higher-yielding instruments (emerging-market debt, subordinated financial debt). Higher-yielding exposure is accessed through collective vehicles for diversification. The sleeve is designed for stability, regular income and capital preservation.</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graphicFrame>
        <p:nvGraphicFramePr>
          <p:cNvPr id="7" name="Table 6"/>
          <p:cNvGraphicFramePr>
            <a:graphicFrameLocks noGrp="1"/>
          </p:cNvGraphicFramePr>
          <p:nvPr>
            <p:custDataLst>
              <p:tags r:id="rId1"/>
            </p:custDataLst>
            <p:extLst>
              <p:ext uri="{D42A27DB-BD31-4B8C-83A1-F6EECF244321}">
                <p14:modId xmlns:p14="http://schemas.microsoft.com/office/powerpoint/2010/main" val="330564794"/>
              </p:ext>
            </p:extLst>
          </p:nvPr>
        </p:nvGraphicFramePr>
        <p:xfrm>
          <a:off x="666000" y="4860000"/>
          <a:ext cx="9396001" cy="1879200"/>
        </p:xfrm>
        <a:graphic>
          <a:graphicData uri="http://schemas.openxmlformats.org/drawingml/2006/table">
            <a:tbl>
              <a:tblPr firstRow="1" bandRow="1">
                <a:tableStyleId>{5C22544A-7EE6-4342-B048-85BDC9FD1C3A}</a:tableStyleId>
              </a:tblPr>
              <a:tblGrid>
                <a:gridCol w="2645091">
                  <a:extLst>
                    <a:ext uri="{9D8B030D-6E8A-4147-A177-3AD203B41FA5}">
                      <a16:colId xmlns:a16="http://schemas.microsoft.com/office/drawing/2014/main" val="20000"/>
                    </a:ext>
                  </a:extLst>
                </a:gridCol>
                <a:gridCol w="872982">
                  <a:extLst>
                    <a:ext uri="{9D8B030D-6E8A-4147-A177-3AD203B41FA5}">
                      <a16:colId xmlns:a16="http://schemas.microsoft.com/office/drawing/2014/main" val="20001"/>
                    </a:ext>
                  </a:extLst>
                </a:gridCol>
                <a:gridCol w="775854">
                  <a:extLst>
                    <a:ext uri="{9D8B030D-6E8A-4147-A177-3AD203B41FA5}">
                      <a16:colId xmlns:a16="http://schemas.microsoft.com/office/drawing/2014/main" val="20002"/>
                    </a:ext>
                  </a:extLst>
                </a:gridCol>
                <a:gridCol w="940359">
                  <a:extLst>
                    <a:ext uri="{9D8B030D-6E8A-4147-A177-3AD203B41FA5}">
                      <a16:colId xmlns:a16="http://schemas.microsoft.com/office/drawing/2014/main" val="872078039"/>
                    </a:ext>
                  </a:extLst>
                </a:gridCol>
                <a:gridCol w="1183908">
                  <a:extLst>
                    <a:ext uri="{9D8B030D-6E8A-4147-A177-3AD203B41FA5}">
                      <a16:colId xmlns:a16="http://schemas.microsoft.com/office/drawing/2014/main" val="3082724075"/>
                    </a:ext>
                  </a:extLst>
                </a:gridCol>
                <a:gridCol w="1251958">
                  <a:extLst>
                    <a:ext uri="{9D8B030D-6E8A-4147-A177-3AD203B41FA5}">
                      <a16:colId xmlns:a16="http://schemas.microsoft.com/office/drawing/2014/main" val="2004377814"/>
                    </a:ext>
                  </a:extLst>
                </a:gridCol>
                <a:gridCol w="1725849">
                  <a:extLst>
                    <a:ext uri="{9D8B030D-6E8A-4147-A177-3AD203B41FA5}">
                      <a16:colId xmlns:a16="http://schemas.microsoft.com/office/drawing/2014/main" val="3250012267"/>
                    </a:ext>
                  </a:extLst>
                </a:gridCol>
              </a:tblGrid>
              <a:tr h="324000">
                <a:tc>
                  <a:txBody>
                    <a:bodyPr/>
                    <a:lstStyle/>
                    <a:p>
                      <a:pPr algn="l"/>
                      <a:r>
                        <a:rPr lang="en-US" sz="1100" b="1" noProof="0" dirty="0">
                          <a:solidFill>
                            <a:srgbClr val="000000"/>
                          </a:solidFill>
                          <a:latin typeface="Nunito Sans"/>
                        </a:rPr>
                        <a:t>Holding</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Share</a:t>
                      </a:r>
                    </a:p>
                  </a:txBody>
                  <a:tcPr marL="54000" marR="54000" marT="18000" marB="18000" anchor="ctr">
                    <a:solidFill>
                      <a:srgbClr val="FFC545"/>
                    </a:solidFill>
                  </a:tcPr>
                </a:tc>
                <a:tc>
                  <a:txBody>
                    <a:bodyPr/>
                    <a:lstStyle/>
                    <a:p>
                      <a:pPr algn="r"/>
                      <a:r>
                        <a:rPr lang="en-US" sz="1100" b="1" noProof="0">
                          <a:solidFill>
                            <a:srgbClr val="000000"/>
                          </a:solidFill>
                          <a:latin typeface="Nunito Sans"/>
                        </a:rPr>
                        <a:t>Duration</a:t>
                      </a:r>
                    </a:p>
                  </a:txBody>
                  <a:tcPr marL="54000" marR="54000" marT="18000" marB="18000" anchor="ctr">
                    <a:solidFill>
                      <a:srgbClr val="FFC545"/>
                    </a:solidFill>
                  </a:tcPr>
                </a:tc>
                <a:tc>
                  <a:txBody>
                    <a:bodyPr/>
                    <a:lstStyle/>
                    <a:p>
                      <a:pPr algn="r"/>
                      <a:r>
                        <a:rPr lang="en-US" sz="1100" b="1" noProof="0">
                          <a:solidFill>
                            <a:srgbClr val="000000"/>
                          </a:solidFill>
                          <a:latin typeface="Nunito Sans"/>
                        </a:rPr>
                        <a:t>Yield</a:t>
                      </a:r>
                    </a:p>
                  </a:txBody>
                  <a:tcPr marL="54000" marR="54000" marT="18000" marB="18000" anchor="ctr">
                    <a:solidFill>
                      <a:srgbClr val="FFC545"/>
                    </a:solidFill>
                  </a:tcPr>
                </a:tc>
                <a:tc>
                  <a:txBody>
                    <a:bodyPr/>
                    <a:lstStyle/>
                    <a:p>
                      <a:pPr algn="r"/>
                      <a:r>
                        <a:rPr lang="en-US" sz="1100" b="1" noProof="0">
                          <a:solidFill>
                            <a:srgbClr val="000000"/>
                          </a:solidFill>
                          <a:latin typeface="+mn-lt"/>
                        </a:rPr>
                        <a:t>Price</a:t>
                      </a:r>
                      <a:endParaRPr lang="en-US" sz="1100" b="1" noProof="0">
                        <a:solidFill>
                          <a:srgbClr val="000000"/>
                        </a:solidFill>
                        <a:latin typeface="Nunito Sans"/>
                      </a:endParaRPr>
                    </a:p>
                  </a:txBody>
                  <a:tcPr marL="54000" marR="54000" marT="18000" marB="18000" anchor="ctr">
                    <a:solidFill>
                      <a:srgbClr val="FFC545"/>
                    </a:solidFill>
                  </a:tcPr>
                </a:tc>
                <a:tc>
                  <a:txBody>
                    <a:bodyPr/>
                    <a:lstStyle/>
                    <a:p>
                      <a:pPr algn="r"/>
                      <a:r>
                        <a:rPr lang="en-US" sz="1100" b="1" noProof="0">
                          <a:solidFill>
                            <a:srgbClr val="000000"/>
                          </a:solidFill>
                          <a:latin typeface="Nunito Sans"/>
                        </a:rPr>
                        <a:t>Bid ask</a:t>
                      </a:r>
                    </a:p>
                  </a:txBody>
                  <a:tcPr marL="54000" marR="54000" marT="18000" marB="18000" anchor="ctr">
                    <a:solidFill>
                      <a:srgbClr val="FFC545"/>
                    </a:solidFill>
                  </a:tcPr>
                </a:tc>
                <a:extLst>
                  <a:ext uri="{0D108BD9-81ED-4DB2-BD59-A6C34878D82A}">
                    <a16:rowId xmlns:a16="http://schemas.microsoft.com/office/drawing/2014/main" val="10000"/>
                  </a:ext>
                </a:extLst>
              </a:tr>
              <a:tr h="259200">
                <a:tc>
                  <a:txBody>
                    <a:bodyPr/>
                    <a:lstStyle/>
                    <a:p>
                      <a:pPr algn="l"/>
                      <a:r>
                        <a:rPr lang="en-US" sz="1000" b="0" noProof="0" dirty="0" err="1">
                          <a:solidFill>
                            <a:srgbClr val="202945"/>
                          </a:solidFill>
                          <a:latin typeface="Nunito Sans"/>
                        </a:rPr>
                        <a:t>Syz</a:t>
                      </a:r>
                      <a:r>
                        <a:rPr lang="en-US" sz="1000" b="0" noProof="0" dirty="0">
                          <a:solidFill>
                            <a:srgbClr val="202945"/>
                          </a:solidFill>
                          <a:latin typeface="Nunito Sans"/>
                        </a:rPr>
                        <a:t> Emerging Market Corporate Bond Cert</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384k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9.9%</a:t>
                      </a:r>
                    </a:p>
                  </a:txBody>
                  <a:tcPr marL="54000" marR="54000" marT="18000" marB="18000" anchor="ctr">
                    <a:solidFill>
                      <a:srgbClr val="FFFFFF"/>
                    </a:solidFill>
                  </a:tcPr>
                </a:tc>
                <a:tc>
                  <a:txBody>
                    <a:bodyPr/>
                    <a:lstStyle/>
                    <a:p>
                      <a:pPr algn="r"/>
                      <a:r>
                        <a:rPr lang="en-US" sz="1000" b="0" noProof="0">
                          <a:solidFill>
                            <a:srgbClr val="202945"/>
                          </a:solidFill>
                          <a:latin typeface="Nunito Sans"/>
                        </a:rPr>
                        <a:t>3.57</a:t>
                      </a:r>
                    </a:p>
                  </a:txBody>
                  <a:tcPr marL="54000" marR="54000" marT="18000" marB="18000" anchor="ctr">
                    <a:solidFill>
                      <a:srgbClr val="FFFFFF"/>
                    </a:solidFill>
                  </a:tcPr>
                </a:tc>
                <a:tc>
                  <a:txBody>
                    <a:bodyPr/>
                    <a:lstStyle/>
                    <a:p>
                      <a:pPr algn="r"/>
                      <a:r>
                        <a:rPr lang="en-US" sz="1000" b="0" noProof="0">
                          <a:solidFill>
                            <a:srgbClr val="202945"/>
                          </a:solidFill>
                          <a:latin typeface="Nunito Sans"/>
                        </a:rPr>
                        <a:t>3.57</a:t>
                      </a:r>
                    </a:p>
                  </a:txBody>
                  <a:tcPr marL="54000" marR="54000" marT="18000" marB="18000" anchor="ctr">
                    <a:solidFill>
                      <a:srgbClr val="FFFFFF"/>
                    </a:solidFill>
                  </a:tcPr>
                </a:tc>
                <a:tc>
                  <a:txBody>
                    <a:bodyPr/>
                    <a:lstStyle/>
                    <a:p>
                      <a:pPr algn="r"/>
                      <a:r>
                        <a:rPr lang="en-US" sz="1000" b="0" noProof="0">
                          <a:solidFill>
                            <a:srgbClr val="202945"/>
                          </a:solidFill>
                          <a:latin typeface="Nunito Sans"/>
                        </a:rPr>
                        <a:t>99.79</a:t>
                      </a:r>
                    </a:p>
                  </a:txBody>
                  <a:tcPr marL="54000" marR="54000" marT="18000" marB="18000" anchor="ctr">
                    <a:solidFill>
                      <a:srgbClr val="FFFFFF"/>
                    </a:solidFill>
                  </a:tcPr>
                </a:tc>
                <a:tc>
                  <a:txBody>
                    <a:bodyPr/>
                    <a:lstStyle/>
                    <a:p>
                      <a:pPr algn="r"/>
                      <a:r>
                        <a:rPr lang="en-US" sz="1000" b="0" noProof="0">
                          <a:solidFill>
                            <a:srgbClr val="202945"/>
                          </a:solidFill>
                          <a:latin typeface="Nunito Sans"/>
                        </a:rPr>
                        <a:t>Bloomberg</a:t>
                      </a:r>
                    </a:p>
                  </a:txBody>
                  <a:tcPr marL="54000" marR="54000" marT="18000" marB="18000" anchor="ctr">
                    <a:solidFill>
                      <a:srgbClr val="FFFFFF"/>
                    </a:solidFill>
                  </a:tcPr>
                </a:tc>
                <a:extLst>
                  <a:ext uri="{0D108BD9-81ED-4DB2-BD59-A6C34878D82A}">
                    <a16:rowId xmlns:a16="http://schemas.microsoft.com/office/drawing/2014/main" val="10001"/>
                  </a:ext>
                </a:extLst>
              </a:tr>
              <a:tr h="259200">
                <a:tc>
                  <a:txBody>
                    <a:bodyPr/>
                    <a:lstStyle/>
                    <a:p>
                      <a:pPr algn="l"/>
                      <a:r>
                        <a:rPr lang="en-US" sz="1000" b="0" noProof="0" dirty="0">
                          <a:solidFill>
                            <a:srgbClr val="202945"/>
                          </a:solidFill>
                          <a:latin typeface="Nunito Sans"/>
                        </a:rPr>
                        <a:t>BNY Mellon Global Funds PLC - BN…</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USD 279k</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7.2%</a:t>
                      </a:r>
                    </a:p>
                  </a:txBody>
                  <a:tcPr marL="54000" marR="54000" marT="18000" marB="18000" anchor="ctr">
                    <a:solidFill>
                      <a:srgbClr val="F5F6F8"/>
                    </a:solidFill>
                  </a:tcPr>
                </a:tc>
                <a:tc>
                  <a:txBody>
                    <a:bodyPr/>
                    <a:lstStyle/>
                    <a:p>
                      <a:pPr algn="r"/>
                      <a:r>
                        <a:rPr lang="en-US" sz="1000" b="0" noProof="0">
                          <a:solidFill>
                            <a:srgbClr val="202945"/>
                          </a:solidFill>
                          <a:latin typeface="Nunito Sans"/>
                        </a:rPr>
                        <a:t>4.50</a:t>
                      </a:r>
                    </a:p>
                  </a:txBody>
                  <a:tcPr marL="54000" marR="54000" marT="18000" marB="18000" anchor="ctr">
                    <a:solidFill>
                      <a:srgbClr val="F5F6F8"/>
                    </a:solidFill>
                  </a:tcPr>
                </a:tc>
                <a:tc>
                  <a:txBody>
                    <a:bodyPr/>
                    <a:lstStyle/>
                    <a:p>
                      <a:pPr algn="r"/>
                      <a:r>
                        <a:rPr lang="en-US" sz="1000" b="0" noProof="0">
                          <a:solidFill>
                            <a:srgbClr val="202945"/>
                          </a:solidFill>
                          <a:latin typeface="Nunito Sans"/>
                        </a:rPr>
                        <a:t>3.40</a:t>
                      </a:r>
                    </a:p>
                  </a:txBody>
                  <a:tcPr marL="54000" marR="54000" marT="18000" marB="18000" anchor="ctr">
                    <a:solidFill>
                      <a:srgbClr val="F5F6F8"/>
                    </a:solidFill>
                  </a:tcPr>
                </a:tc>
                <a:tc>
                  <a:txBody>
                    <a:bodyPr/>
                    <a:lstStyle/>
                    <a:p>
                      <a:pPr algn="r"/>
                      <a:r>
                        <a:rPr lang="en-US" sz="1000" b="0" noProof="0">
                          <a:solidFill>
                            <a:srgbClr val="202945"/>
                          </a:solidFill>
                          <a:latin typeface="Nunito Sans"/>
                        </a:rPr>
                        <a:t>98.47</a:t>
                      </a:r>
                    </a:p>
                  </a:txBody>
                  <a:tcPr marL="54000" marR="54000" marT="18000" marB="18000" anchor="ctr">
                    <a:solidFill>
                      <a:srgbClr val="F5F6F8"/>
                    </a:solidFill>
                  </a:tcPr>
                </a:tc>
                <a:tc>
                  <a:txBody>
                    <a:bodyPr/>
                    <a:lstStyle/>
                    <a:p>
                      <a:pPr algn="r"/>
                      <a:endParaRPr lang="en-US" sz="1000" b="0" noProof="0">
                        <a:solidFill>
                          <a:srgbClr val="202945"/>
                        </a:solidFill>
                        <a:latin typeface="Nunito Sans"/>
                      </a:endParaRPr>
                    </a:p>
                  </a:txBody>
                  <a:tcPr marL="54000" marR="54000" marT="18000" marB="18000" anchor="ctr">
                    <a:solidFill>
                      <a:srgbClr val="F5F6F8"/>
                    </a:solidFill>
                  </a:tcPr>
                </a:tc>
                <a:extLst>
                  <a:ext uri="{0D108BD9-81ED-4DB2-BD59-A6C34878D82A}">
                    <a16:rowId xmlns:a16="http://schemas.microsoft.com/office/drawing/2014/main" val="10002"/>
                  </a:ext>
                </a:extLst>
              </a:tr>
              <a:tr h="259200">
                <a:tc>
                  <a:txBody>
                    <a:bodyPr/>
                    <a:lstStyle/>
                    <a:p>
                      <a:pPr algn="l"/>
                      <a:r>
                        <a:rPr lang="en-US" sz="1000" b="0" noProof="0" dirty="0">
                          <a:solidFill>
                            <a:srgbClr val="202945"/>
                          </a:solidFill>
                          <a:latin typeface="Nunito Sans"/>
                        </a:rPr>
                        <a:t>Repsol E&amp;P Capital Markets US LL…</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201k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5.2%</a:t>
                      </a:r>
                    </a:p>
                  </a:txBody>
                  <a:tcPr marL="54000" marR="54000" marT="18000" marB="18000" anchor="ctr">
                    <a:solidFill>
                      <a:srgbClr val="FFFFFF"/>
                    </a:solidFill>
                  </a:tcPr>
                </a:tc>
                <a:tc>
                  <a:txBody>
                    <a:bodyPr/>
                    <a:lstStyle/>
                    <a:p>
                      <a:pPr algn="r"/>
                      <a:r>
                        <a:rPr lang="en-US" sz="1000" b="0" noProof="0">
                          <a:solidFill>
                            <a:srgbClr val="202945"/>
                          </a:solidFill>
                          <a:latin typeface="Nunito Sans"/>
                        </a:rPr>
                        <a:t>3.74</a:t>
                      </a:r>
                    </a:p>
                  </a:txBody>
                  <a:tcPr marL="54000" marR="54000" marT="18000" marB="18000" anchor="ctr">
                    <a:solidFill>
                      <a:srgbClr val="FFFFFF"/>
                    </a:solidFill>
                  </a:tcPr>
                </a:tc>
                <a:tc>
                  <a:txBody>
                    <a:bodyPr/>
                    <a:lstStyle/>
                    <a:p>
                      <a:pPr algn="r"/>
                      <a:r>
                        <a:rPr lang="en-US" sz="1000" b="0" noProof="0">
                          <a:solidFill>
                            <a:srgbClr val="202945"/>
                          </a:solidFill>
                          <a:latin typeface="Nunito Sans"/>
                        </a:rPr>
                        <a:t>3.57</a:t>
                      </a:r>
                    </a:p>
                  </a:txBody>
                  <a:tcPr marL="54000" marR="54000" marT="18000" marB="18000" anchor="ctr">
                    <a:solidFill>
                      <a:srgbClr val="FFFFFF"/>
                    </a:solidFill>
                  </a:tcPr>
                </a:tc>
                <a:tc>
                  <a:txBody>
                    <a:bodyPr/>
                    <a:lstStyle/>
                    <a:p>
                      <a:pPr algn="r"/>
                      <a:r>
                        <a:rPr lang="en-US" sz="1000" b="0" noProof="0">
                          <a:solidFill>
                            <a:srgbClr val="202945"/>
                          </a:solidFill>
                          <a:latin typeface="Nunito Sans"/>
                        </a:rPr>
                        <a:t>98.69</a:t>
                      </a:r>
                    </a:p>
                  </a:txBody>
                  <a:tcPr marL="54000" marR="54000" marT="18000" marB="18000" anchor="ctr">
                    <a:solidFill>
                      <a:srgbClr val="FFFFFF"/>
                    </a:solidFill>
                  </a:tcPr>
                </a:tc>
                <a:tc>
                  <a:txBody>
                    <a:bodyPr/>
                    <a:lstStyle/>
                    <a:p>
                      <a:pPr algn="r"/>
                      <a:endParaRPr lang="en-US" sz="1000" b="0" noProof="0">
                        <a:solidFill>
                          <a:srgbClr val="202945"/>
                        </a:solidFill>
                        <a:latin typeface="Nunito Sans"/>
                      </a:endParaRPr>
                    </a:p>
                  </a:txBody>
                  <a:tcPr marL="54000" marR="54000" marT="18000" marB="18000" anchor="ctr">
                    <a:solidFill>
                      <a:srgbClr val="FFFFFF"/>
                    </a:solidFill>
                  </a:tcPr>
                </a:tc>
                <a:extLst>
                  <a:ext uri="{0D108BD9-81ED-4DB2-BD59-A6C34878D82A}">
                    <a16:rowId xmlns:a16="http://schemas.microsoft.com/office/drawing/2014/main" val="10003"/>
                  </a:ext>
                </a:extLst>
              </a:tr>
              <a:tr h="259200">
                <a:tc>
                  <a:txBody>
                    <a:bodyPr/>
                    <a:lstStyle/>
                    <a:p>
                      <a:pPr algn="l"/>
                      <a:r>
                        <a:rPr lang="en-US" sz="1000" b="0" noProof="0" dirty="0">
                          <a:solidFill>
                            <a:srgbClr val="202945"/>
                          </a:solidFill>
                          <a:latin typeface="Nunito Sans"/>
                        </a:rPr>
                        <a:t>Africa Finance Corp. 5.375% 23-J…</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USD 200k</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5.2%</a:t>
                      </a:r>
                    </a:p>
                  </a:txBody>
                  <a:tcPr marL="54000" marR="54000" marT="18000" marB="18000" anchor="ctr">
                    <a:solidFill>
                      <a:srgbClr val="F5F6F8"/>
                    </a:solidFill>
                  </a:tcPr>
                </a:tc>
                <a:tc>
                  <a:txBody>
                    <a:bodyPr/>
                    <a:lstStyle/>
                    <a:p>
                      <a:pPr algn="r"/>
                      <a:r>
                        <a:rPr lang="en-US" sz="1000" b="0" noProof="0">
                          <a:solidFill>
                            <a:srgbClr val="202945"/>
                          </a:solidFill>
                          <a:latin typeface="Nunito Sans"/>
                        </a:rPr>
                        <a:t>4.85</a:t>
                      </a:r>
                    </a:p>
                  </a:txBody>
                  <a:tcPr marL="54000" marR="54000" marT="18000" marB="18000" anchor="ctr">
                    <a:solidFill>
                      <a:srgbClr val="F5F6F8"/>
                    </a:solidFill>
                  </a:tcPr>
                </a:tc>
                <a:tc>
                  <a:txBody>
                    <a:bodyPr/>
                    <a:lstStyle/>
                    <a:p>
                      <a:pPr algn="r"/>
                      <a:r>
                        <a:rPr lang="en-US" sz="1000" b="0" noProof="0">
                          <a:solidFill>
                            <a:srgbClr val="202945"/>
                          </a:solidFill>
                          <a:latin typeface="Nunito Sans"/>
                        </a:rPr>
                        <a:t>3.74</a:t>
                      </a:r>
                    </a:p>
                  </a:txBody>
                  <a:tcPr marL="54000" marR="54000" marT="18000" marB="18000" anchor="ctr">
                    <a:solidFill>
                      <a:srgbClr val="F5F6F8"/>
                    </a:solidFill>
                  </a:tcPr>
                </a:tc>
                <a:tc>
                  <a:txBody>
                    <a:bodyPr/>
                    <a:lstStyle/>
                    <a:p>
                      <a:pPr algn="r"/>
                      <a:r>
                        <a:rPr lang="en-US" sz="1000" b="0" noProof="0">
                          <a:solidFill>
                            <a:srgbClr val="202945"/>
                          </a:solidFill>
                          <a:latin typeface="Nunito Sans"/>
                        </a:rPr>
                        <a:t>99.46</a:t>
                      </a:r>
                    </a:p>
                  </a:txBody>
                  <a:tcPr marL="54000" marR="54000" marT="18000" marB="18000" anchor="ctr">
                    <a:solidFill>
                      <a:srgbClr val="F5F6F8"/>
                    </a:solidFill>
                  </a:tcPr>
                </a:tc>
                <a:tc>
                  <a:txBody>
                    <a:bodyPr/>
                    <a:lstStyle/>
                    <a:p>
                      <a:pPr algn="r"/>
                      <a:endParaRPr lang="en-US" sz="1000" b="0" noProof="0">
                        <a:solidFill>
                          <a:srgbClr val="202945"/>
                        </a:solidFill>
                        <a:latin typeface="Nunito Sans"/>
                      </a:endParaRPr>
                    </a:p>
                  </a:txBody>
                  <a:tcPr marL="54000" marR="54000" marT="18000" marB="18000" anchor="ctr">
                    <a:solidFill>
                      <a:srgbClr val="F5F6F8"/>
                    </a:solidFill>
                  </a:tcPr>
                </a:tc>
                <a:extLst>
                  <a:ext uri="{0D108BD9-81ED-4DB2-BD59-A6C34878D82A}">
                    <a16:rowId xmlns:a16="http://schemas.microsoft.com/office/drawing/2014/main" val="10004"/>
                  </a:ext>
                </a:extLst>
              </a:tr>
              <a:tr h="259200">
                <a:tc>
                  <a:txBody>
                    <a:bodyPr/>
                    <a:lstStyle/>
                    <a:p>
                      <a:pPr algn="l"/>
                      <a:r>
                        <a:rPr lang="en-US" sz="1000" b="0" noProof="0" dirty="0">
                          <a:solidFill>
                            <a:srgbClr val="202945"/>
                          </a:solidFill>
                          <a:latin typeface="Nunito Sans"/>
                        </a:rPr>
                        <a:t>Societe Generale SA 5.371 % Note…</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200k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5.1%</a:t>
                      </a:r>
                    </a:p>
                  </a:txBody>
                  <a:tcPr marL="54000" marR="54000" marT="18000" marB="18000" anchor="ctr">
                    <a:solidFill>
                      <a:srgbClr val="FFFFFF"/>
                    </a:solidFill>
                  </a:tcPr>
                </a:tc>
                <a:tc>
                  <a:txBody>
                    <a:bodyPr/>
                    <a:lstStyle/>
                    <a:p>
                      <a:pPr algn="r"/>
                      <a:r>
                        <a:rPr lang="en-US" sz="1000" b="0" noProof="0">
                          <a:solidFill>
                            <a:srgbClr val="202945"/>
                          </a:solidFill>
                          <a:latin typeface="Nunito Sans"/>
                        </a:rPr>
                        <a:t>1.46</a:t>
                      </a:r>
                    </a:p>
                  </a:txBody>
                  <a:tcPr marL="54000" marR="54000" marT="18000" marB="18000" anchor="ctr">
                    <a:solidFill>
                      <a:srgbClr val="FFFFFF"/>
                    </a:solidFill>
                  </a:tcPr>
                </a:tc>
                <a:tc>
                  <a:txBody>
                    <a:bodyPr/>
                    <a:lstStyle/>
                    <a:p>
                      <a:pPr algn="r"/>
                      <a:r>
                        <a:rPr lang="en-US" sz="1000" b="0" noProof="0">
                          <a:solidFill>
                            <a:srgbClr val="202945"/>
                          </a:solidFill>
                          <a:latin typeface="Nunito Sans"/>
                        </a:rPr>
                        <a:t>4.33</a:t>
                      </a:r>
                    </a:p>
                  </a:txBody>
                  <a:tcPr marL="54000" marR="54000" marT="18000" marB="18000" anchor="ctr">
                    <a:solidFill>
                      <a:srgbClr val="FFFFFF"/>
                    </a:solidFill>
                  </a:tcPr>
                </a:tc>
                <a:tc>
                  <a:txBody>
                    <a:bodyPr/>
                    <a:lstStyle/>
                    <a:p>
                      <a:pPr algn="r"/>
                      <a:r>
                        <a:rPr lang="en-US" sz="1000" b="0" noProof="0">
                          <a:solidFill>
                            <a:srgbClr val="202945"/>
                          </a:solidFill>
                          <a:latin typeface="Nunito Sans"/>
                        </a:rPr>
                        <a:t>101.16</a:t>
                      </a:r>
                    </a:p>
                  </a:txBody>
                  <a:tcPr marL="54000" marR="54000" marT="18000" marB="18000" anchor="ctr">
                    <a:solidFill>
                      <a:srgbClr val="FFFFFF"/>
                    </a:solidFill>
                  </a:tcPr>
                </a:tc>
                <a:tc>
                  <a:txBody>
                    <a:bodyPr/>
                    <a:lstStyle/>
                    <a:p>
                      <a:pPr algn="r"/>
                      <a:endParaRPr lang="en-US" sz="1000" b="0" noProof="0">
                        <a:solidFill>
                          <a:srgbClr val="202945"/>
                        </a:solidFill>
                        <a:latin typeface="Nunito Sans"/>
                      </a:endParaRPr>
                    </a:p>
                  </a:txBody>
                  <a:tcPr marL="54000" marR="54000" marT="18000" marB="18000" anchor="ctr">
                    <a:solidFill>
                      <a:srgbClr val="FFFFFF"/>
                    </a:solidFill>
                  </a:tcPr>
                </a:tc>
                <a:extLst>
                  <a:ext uri="{0D108BD9-81ED-4DB2-BD59-A6C34878D82A}">
                    <a16:rowId xmlns:a16="http://schemas.microsoft.com/office/drawing/2014/main" val="10005"/>
                  </a:ext>
                </a:extLst>
              </a:tr>
              <a:tr h="259200">
                <a:tc>
                  <a:txBody>
                    <a:bodyPr/>
                    <a:lstStyle/>
                    <a:p>
                      <a:pPr algn="l"/>
                      <a:r>
                        <a:rPr lang="en-US" sz="1000" b="0" noProof="0" dirty="0">
                          <a:solidFill>
                            <a:schemeClr val="bg1"/>
                          </a:solidFill>
                          <a:latin typeface="Nunito Sans"/>
                        </a:rPr>
                        <a:t>Average</a:t>
                      </a:r>
                    </a:p>
                  </a:txBody>
                  <a:tcPr marL="54000" marR="54000" marT="18000" marB="18000" anchor="ctr">
                    <a:solidFill>
                      <a:srgbClr val="202945"/>
                    </a:solidFill>
                  </a:tcPr>
                </a:tc>
                <a:tc>
                  <a:txBody>
                    <a:bodyPr/>
                    <a:lstStyle/>
                    <a:p>
                      <a:pPr algn="r"/>
                      <a:endParaRPr lang="en-US" sz="1000" b="0" noProof="0">
                        <a:solidFill>
                          <a:schemeClr val="bg1"/>
                        </a:solidFill>
                        <a:latin typeface="Nunito Sans"/>
                      </a:endParaRPr>
                    </a:p>
                  </a:txBody>
                  <a:tcPr marL="54000" marR="54000" marT="18000" marB="18000" anchor="ctr">
                    <a:solidFill>
                      <a:srgbClr val="202945"/>
                    </a:solidFill>
                  </a:tcPr>
                </a:tc>
                <a:tc>
                  <a:txBody>
                    <a:bodyPr/>
                    <a:lstStyle/>
                    <a:p>
                      <a:pPr algn="r"/>
                      <a:endParaRPr lang="en-US" sz="1000" b="0" noProof="0" dirty="0">
                        <a:solidFill>
                          <a:schemeClr val="bg1"/>
                        </a:solidFill>
                        <a:latin typeface="Nunito Sans"/>
                      </a:endParaRPr>
                    </a:p>
                  </a:txBody>
                  <a:tcPr marL="54000" marR="54000" marT="18000" marB="18000" anchor="ctr">
                    <a:solidFill>
                      <a:srgbClr val="202945"/>
                    </a:solidFill>
                  </a:tcPr>
                </a:tc>
                <a:tc>
                  <a:txBody>
                    <a:bodyPr/>
                    <a:lstStyle/>
                    <a:p>
                      <a:pPr algn="r"/>
                      <a:r>
                        <a:rPr lang="en-US" sz="1000" b="0" noProof="0" dirty="0">
                          <a:solidFill>
                            <a:schemeClr val="bg1"/>
                          </a:solidFill>
                          <a:latin typeface="Nunito Sans"/>
                        </a:rPr>
                        <a:t>2.36</a:t>
                      </a:r>
                    </a:p>
                  </a:txBody>
                  <a:tcPr marL="54000" marR="54000" marT="18000" marB="18000" anchor="ctr">
                    <a:solidFill>
                      <a:srgbClr val="202945"/>
                    </a:solidFill>
                  </a:tcPr>
                </a:tc>
                <a:tc>
                  <a:txBody>
                    <a:bodyPr/>
                    <a:lstStyle/>
                    <a:p>
                      <a:pPr algn="r"/>
                      <a:r>
                        <a:rPr lang="en-US" sz="1000" b="0" noProof="0" dirty="0">
                          <a:solidFill>
                            <a:schemeClr val="bg1"/>
                          </a:solidFill>
                          <a:latin typeface="Nunito Sans"/>
                        </a:rPr>
                        <a:t>3.6649</a:t>
                      </a:r>
                    </a:p>
                  </a:txBody>
                  <a:tcPr marL="54000" marR="54000" marT="18000" marB="18000" anchor="ctr">
                    <a:solidFill>
                      <a:srgbClr val="202945"/>
                    </a:solidFill>
                  </a:tcPr>
                </a:tc>
                <a:tc>
                  <a:txBody>
                    <a:bodyPr/>
                    <a:lstStyle/>
                    <a:p>
                      <a:pPr algn="r"/>
                      <a:endParaRPr lang="en-US" sz="1000" b="0" noProof="0" dirty="0">
                        <a:solidFill>
                          <a:schemeClr val="bg1"/>
                        </a:solidFill>
                        <a:latin typeface="Nunito Sans"/>
                      </a:endParaRPr>
                    </a:p>
                  </a:txBody>
                  <a:tcPr marL="54000" marR="54000" marT="18000" marB="18000" anchor="ctr">
                    <a:solidFill>
                      <a:srgbClr val="202945"/>
                    </a:solidFill>
                  </a:tcPr>
                </a:tc>
                <a:tc>
                  <a:txBody>
                    <a:bodyPr/>
                    <a:lstStyle/>
                    <a:p>
                      <a:pPr algn="r"/>
                      <a:endParaRPr lang="en-US" sz="1000" b="0" noProof="0" dirty="0">
                        <a:solidFill>
                          <a:schemeClr val="bg1"/>
                        </a:solidFill>
                        <a:latin typeface="Nunito Sans"/>
                      </a:endParaRPr>
                    </a:p>
                  </a:txBody>
                  <a:tcPr marL="54000" marR="54000" marT="18000" marB="18000" anchor="ctr">
                    <a:solidFill>
                      <a:srgbClr val="202945"/>
                    </a:solidFill>
                  </a:tcPr>
                </a:tc>
                <a:extLst>
                  <a:ext uri="{0D108BD9-81ED-4DB2-BD59-A6C34878D82A}">
                    <a16:rowId xmlns:a16="http://schemas.microsoft.com/office/drawing/2014/main" val="1809602680"/>
                  </a:ext>
                </a:extLst>
              </a:tr>
            </a:tbl>
          </a:graphicData>
        </a:graphic>
      </p:graphicFrame>
      <p:sp>
        <p:nvSpPr>
          <p:cNvPr id="8" name="TextBox 7"/>
          <p:cNvSpPr txBox="1"/>
          <p:nvPr/>
        </p:nvSpPr>
        <p:spPr>
          <a:xfrm>
            <a:off x="5418000" y="2160000"/>
            <a:ext cx="4608000" cy="324000"/>
          </a:xfrm>
          <a:prstGeom prst="rect">
            <a:avLst/>
          </a:prstGeom>
          <a:noFill/>
        </p:spPr>
        <p:txBody>
          <a:bodyPr wrap="square" anchor="t">
            <a:spAutoFit/>
          </a:bodyPr>
          <a:lstStyle/>
          <a:p>
            <a:pPr algn="l"/>
            <a:r>
              <a:rPr lang="en-US" sz="1500" b="1" noProof="0" dirty="0">
                <a:solidFill>
                  <a:srgbClr val="202945"/>
                </a:solidFill>
                <a:latin typeface="Nunito Sans ExtraBold"/>
              </a:rPr>
              <a:t>Fixed Income across investment vehicles</a:t>
            </a:r>
          </a:p>
        </p:txBody>
      </p:sp>
      <p:sp>
        <p:nvSpPr>
          <p:cNvPr id="9" name="Rectangle 8"/>
          <p:cNvSpPr/>
          <p:nvPr/>
        </p:nvSpPr>
        <p:spPr>
          <a:xfrm>
            <a:off x="5418000" y="2481500"/>
            <a:ext cx="4608000" cy="19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22184399"/>
              </p:ext>
            </p:extLst>
          </p:nvPr>
        </p:nvGraphicFramePr>
        <p:xfrm>
          <a:off x="5598000" y="2700001"/>
          <a:ext cx="4219768" cy="1717028"/>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6244530" y="3391292"/>
            <a:ext cx="1282723" cy="307777"/>
          </a:xfrm>
          <a:prstGeom prst="rect">
            <a:avLst/>
          </a:prstGeom>
          <a:noFill/>
        </p:spPr>
        <p:txBody>
          <a:bodyPr wrap="none" anchor="ctr">
            <a:spAutoFit/>
          </a:bodyPr>
          <a:lstStyle/>
          <a:p>
            <a:pPr algn="ctr"/>
            <a:r>
              <a:rPr lang="en-US" sz="1400" b="1" noProof="0">
                <a:solidFill>
                  <a:srgbClr val="202945"/>
                </a:solidFill>
                <a:latin typeface="Nunito Sans"/>
              </a:rPr>
              <a:t>Fixed Income</a:t>
            </a:r>
          </a:p>
        </p:txBody>
      </p:sp>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grpSp>
        <p:nvGrpSpPr>
          <p:cNvPr id="14" name="Group 13">
            <a:extLst>
              <a:ext uri="{FF2B5EF4-FFF2-40B4-BE49-F238E27FC236}">
                <a16:creationId xmlns:a16="http://schemas.microsoft.com/office/drawing/2014/main" id="{56DA9580-A6B6-4071-E04D-2AAD7BD991A8}"/>
              </a:ext>
            </a:extLst>
          </p:cNvPr>
          <p:cNvGrpSpPr/>
          <p:nvPr/>
        </p:nvGrpSpPr>
        <p:grpSpPr>
          <a:xfrm>
            <a:off x="9966508" y="935038"/>
            <a:ext cx="540000" cy="540000"/>
            <a:chOff x="9862599" y="872588"/>
            <a:chExt cx="540000" cy="540000"/>
          </a:xfrm>
        </p:grpSpPr>
        <p:pic>
          <p:nvPicPr>
            <p:cNvPr id="13" name="Graphic 12" descr="Greek Pillar with solid fill">
              <a:extLst>
                <a:ext uri="{FF2B5EF4-FFF2-40B4-BE49-F238E27FC236}">
                  <a16:creationId xmlns:a16="http://schemas.microsoft.com/office/drawing/2014/main" id="{681C4647-5113-C638-FCCD-A70F7003E5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11195" y="935038"/>
              <a:ext cx="442808" cy="442808"/>
            </a:xfrm>
            <a:prstGeom prst="rect">
              <a:avLst/>
            </a:prstGeom>
          </p:spPr>
        </p:pic>
        <p:sp>
          <p:nvSpPr>
            <p:cNvPr id="3" name="Oval 2">
              <a:extLst>
                <a:ext uri="{FF2B5EF4-FFF2-40B4-BE49-F238E27FC236}">
                  <a16:creationId xmlns:a16="http://schemas.microsoft.com/office/drawing/2014/main" id="{92FC80C9-F3B5-588D-5159-77C7ABDCF4F4}"/>
                </a:ext>
              </a:extLst>
            </p:cNvPr>
            <p:cNvSpPr/>
            <p:nvPr/>
          </p:nvSpPr>
          <p:spPr>
            <a:xfrm>
              <a:off x="9862599" y="87258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dirty="0"/>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3" name="Text 1"/>
          <p:cNvSpPr/>
          <p:nvPr/>
        </p:nvSpPr>
        <p:spPr>
          <a:xfrm>
            <a:off x="671062" y="1626948"/>
            <a:ext cx="8774555" cy="319906"/>
          </a:xfrm>
          <a:prstGeom prst="rect">
            <a:avLst/>
          </a:prstGeom>
          <a:noFill/>
          <a:ln/>
        </p:spPr>
        <p:txBody>
          <a:bodyPr wrap="square" lIns="0" tIns="0" rIns="0" bIns="0" rtlCol="0" anchor="ctr"/>
          <a:lstStyle/>
          <a:p>
            <a:r>
              <a:rPr lang="en-US" sz="1400">
                <a:solidFill>
                  <a:srgbClr val="3C445D"/>
                </a:solidFill>
                <a:latin typeface="Nunito" pitchFamily="34" charset="0"/>
                <a:ea typeface="Nunito" pitchFamily="34" charset="-122"/>
                <a:cs typeface="Nunito" pitchFamily="34" charset="-120"/>
              </a:rPr>
              <a:t>Proposed bond selection: 6 issues, EUR 600,000, equally weighted at EUR 100,000 each.</a:t>
            </a:r>
            <a:endParaRPr lang="en-US" sz="1400"/>
          </a:p>
        </p:txBody>
      </p:sp>
      <p:sp>
        <p:nvSpPr>
          <p:cNvPr id="4" name="Shape 2"/>
          <p:cNvSpPr/>
          <p:nvPr/>
        </p:nvSpPr>
        <p:spPr>
          <a:xfrm>
            <a:off x="671062" y="2161791"/>
            <a:ext cx="9350385" cy="4707183"/>
          </a:xfrm>
          <a:prstGeom prst="roundRect">
            <a:avLst>
              <a:gd name="adj" fmla="val 777"/>
            </a:avLst>
          </a:prstGeom>
          <a:noFill/>
          <a:ln w="12700">
            <a:solidFill>
              <a:srgbClr val="FAFAFB"/>
            </a:solidFill>
            <a:prstDash val="solid"/>
          </a:ln>
          <a:effectLst/>
        </p:spPr>
        <p:txBody>
          <a:bodyPr/>
          <a:lstStyle/>
          <a:p>
            <a:endParaRPr lang="en-CH"/>
          </a:p>
        </p:txBody>
      </p:sp>
      <p:sp>
        <p:nvSpPr>
          <p:cNvPr id="5" name="Text 3"/>
          <p:cNvSpPr/>
          <p:nvPr/>
        </p:nvSpPr>
        <p:spPr>
          <a:xfrm>
            <a:off x="872146" y="228504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geography</a:t>
            </a:r>
          </a:p>
        </p:txBody>
      </p:sp>
      <p:graphicFrame>
        <p:nvGraphicFramePr>
          <p:cNvPr id="6" name="Chart 0"/>
          <p:cNvGraphicFramePr/>
          <p:nvPr>
            <p:extLst>
              <p:ext uri="{D42A27DB-BD31-4B8C-83A1-F6EECF244321}">
                <p14:modId xmlns:p14="http://schemas.microsoft.com/office/powerpoint/2010/main" val="1700527141"/>
              </p:ext>
            </p:extLst>
          </p:nvPr>
        </p:nvGraphicFramePr>
        <p:xfrm>
          <a:off x="826445" y="2604945"/>
          <a:ext cx="1690930" cy="169093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2727599" y="2678067"/>
            <a:ext cx="95972" cy="95972"/>
          </a:xfrm>
          <a:prstGeom prst="rect">
            <a:avLst/>
          </a:prstGeom>
          <a:solidFill>
            <a:srgbClr val="FF6C0E"/>
          </a:solidFill>
          <a:ln w="12700">
            <a:solidFill>
              <a:srgbClr val="FF6C0E"/>
            </a:solidFill>
            <a:prstDash val="solid"/>
          </a:ln>
        </p:spPr>
        <p:txBody>
          <a:bodyPr/>
          <a:lstStyle/>
          <a:p>
            <a:endParaRPr lang="en-CH"/>
          </a:p>
        </p:txBody>
      </p:sp>
      <p:sp>
        <p:nvSpPr>
          <p:cNvPr id="8" name="Text 5"/>
          <p:cNvSpPr/>
          <p:nvPr/>
        </p:nvSpPr>
        <p:spPr>
          <a:xfrm>
            <a:off x="2901262" y="2600375"/>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United States   16.7%</a:t>
            </a:r>
            <a:endParaRPr lang="en-US" sz="1200"/>
          </a:p>
        </p:txBody>
      </p:sp>
      <p:sp>
        <p:nvSpPr>
          <p:cNvPr id="9" name="Shape 6"/>
          <p:cNvSpPr/>
          <p:nvPr/>
        </p:nvSpPr>
        <p:spPr>
          <a:xfrm>
            <a:off x="2727599" y="2961412"/>
            <a:ext cx="95972" cy="95972"/>
          </a:xfrm>
          <a:prstGeom prst="rect">
            <a:avLst/>
          </a:prstGeom>
          <a:solidFill>
            <a:srgbClr val="FFC545"/>
          </a:solidFill>
          <a:ln w="12700">
            <a:solidFill>
              <a:srgbClr val="FFC545"/>
            </a:solidFill>
            <a:prstDash val="solid"/>
          </a:ln>
        </p:spPr>
        <p:txBody>
          <a:bodyPr/>
          <a:lstStyle/>
          <a:p>
            <a:endParaRPr lang="en-CH"/>
          </a:p>
        </p:txBody>
      </p:sp>
      <p:sp>
        <p:nvSpPr>
          <p:cNvPr id="10" name="Text 7"/>
          <p:cNvSpPr/>
          <p:nvPr/>
        </p:nvSpPr>
        <p:spPr>
          <a:xfrm>
            <a:off x="2901262" y="288372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France   16.7%</a:t>
            </a:r>
            <a:endParaRPr lang="en-US" sz="1200"/>
          </a:p>
        </p:txBody>
      </p:sp>
      <p:sp>
        <p:nvSpPr>
          <p:cNvPr id="11" name="Shape 8"/>
          <p:cNvSpPr/>
          <p:nvPr/>
        </p:nvSpPr>
        <p:spPr>
          <a:xfrm>
            <a:off x="2727599" y="3244757"/>
            <a:ext cx="95972" cy="95972"/>
          </a:xfrm>
          <a:prstGeom prst="rect">
            <a:avLst/>
          </a:prstGeom>
          <a:solidFill>
            <a:srgbClr val="79D6FF"/>
          </a:solidFill>
          <a:ln w="12700">
            <a:solidFill>
              <a:srgbClr val="79D6FF"/>
            </a:solidFill>
            <a:prstDash val="solid"/>
          </a:ln>
        </p:spPr>
        <p:txBody>
          <a:bodyPr/>
          <a:lstStyle/>
          <a:p>
            <a:endParaRPr lang="en-CH"/>
          </a:p>
        </p:txBody>
      </p:sp>
      <p:sp>
        <p:nvSpPr>
          <p:cNvPr id="12" name="Text 9"/>
          <p:cNvSpPr/>
          <p:nvPr/>
        </p:nvSpPr>
        <p:spPr>
          <a:xfrm>
            <a:off x="2901262" y="3167065"/>
            <a:ext cx="2513544" cy="28334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Luxembourg   16.7%</a:t>
            </a:r>
            <a:endParaRPr lang="en-US" sz="1200" dirty="0"/>
          </a:p>
        </p:txBody>
      </p:sp>
      <p:sp>
        <p:nvSpPr>
          <p:cNvPr id="13" name="Shape 10"/>
          <p:cNvSpPr/>
          <p:nvPr/>
        </p:nvSpPr>
        <p:spPr>
          <a:xfrm>
            <a:off x="2727599" y="3528102"/>
            <a:ext cx="95972" cy="95972"/>
          </a:xfrm>
          <a:prstGeom prst="rect">
            <a:avLst/>
          </a:prstGeom>
          <a:solidFill>
            <a:srgbClr val="202945"/>
          </a:solidFill>
          <a:ln w="12700">
            <a:solidFill>
              <a:srgbClr val="202945"/>
            </a:solidFill>
            <a:prstDash val="solid"/>
          </a:ln>
        </p:spPr>
        <p:txBody>
          <a:bodyPr/>
          <a:lstStyle/>
          <a:p>
            <a:endParaRPr lang="en-CH"/>
          </a:p>
        </p:txBody>
      </p:sp>
      <p:sp>
        <p:nvSpPr>
          <p:cNvPr id="14" name="Text 11"/>
          <p:cNvSpPr/>
          <p:nvPr/>
        </p:nvSpPr>
        <p:spPr>
          <a:xfrm>
            <a:off x="2901262" y="345041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Ireland   16.7%</a:t>
            </a:r>
            <a:endParaRPr lang="en-US" sz="1200"/>
          </a:p>
        </p:txBody>
      </p:sp>
      <p:sp>
        <p:nvSpPr>
          <p:cNvPr id="15" name="Shape 12"/>
          <p:cNvSpPr/>
          <p:nvPr/>
        </p:nvSpPr>
        <p:spPr>
          <a:xfrm>
            <a:off x="2727599" y="3811447"/>
            <a:ext cx="95972" cy="95972"/>
          </a:xfrm>
          <a:prstGeom prst="rect">
            <a:avLst/>
          </a:prstGeom>
          <a:solidFill>
            <a:srgbClr val="3BAF90"/>
          </a:solidFill>
          <a:ln w="12700">
            <a:solidFill>
              <a:srgbClr val="3BAF90"/>
            </a:solidFill>
            <a:prstDash val="solid"/>
          </a:ln>
        </p:spPr>
        <p:txBody>
          <a:bodyPr/>
          <a:lstStyle/>
          <a:p>
            <a:endParaRPr lang="en-CH"/>
          </a:p>
        </p:txBody>
      </p:sp>
      <p:sp>
        <p:nvSpPr>
          <p:cNvPr id="16" name="Text 13"/>
          <p:cNvSpPr/>
          <p:nvPr/>
        </p:nvSpPr>
        <p:spPr>
          <a:xfrm>
            <a:off x="2901262" y="3733755"/>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Japan   16.7%</a:t>
            </a:r>
            <a:endParaRPr lang="en-US" sz="1200"/>
          </a:p>
        </p:txBody>
      </p:sp>
      <p:sp>
        <p:nvSpPr>
          <p:cNvPr id="17" name="Shape 14"/>
          <p:cNvSpPr/>
          <p:nvPr/>
        </p:nvSpPr>
        <p:spPr>
          <a:xfrm>
            <a:off x="2727599" y="4094792"/>
            <a:ext cx="95972" cy="95972"/>
          </a:xfrm>
          <a:prstGeom prst="rect">
            <a:avLst/>
          </a:prstGeom>
          <a:solidFill>
            <a:srgbClr val="9BA3B4"/>
          </a:solidFill>
          <a:ln w="12700">
            <a:solidFill>
              <a:srgbClr val="9BA3B4"/>
            </a:solidFill>
            <a:prstDash val="solid"/>
          </a:ln>
        </p:spPr>
        <p:txBody>
          <a:bodyPr/>
          <a:lstStyle/>
          <a:p>
            <a:endParaRPr lang="en-CH"/>
          </a:p>
        </p:txBody>
      </p:sp>
      <p:sp>
        <p:nvSpPr>
          <p:cNvPr id="18" name="Text 15"/>
          <p:cNvSpPr/>
          <p:nvPr/>
        </p:nvSpPr>
        <p:spPr>
          <a:xfrm>
            <a:off x="2901262" y="401710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United Kingdom   16.7%</a:t>
            </a:r>
            <a:endParaRPr lang="en-US" sz="1200"/>
          </a:p>
        </p:txBody>
      </p:sp>
      <p:sp>
        <p:nvSpPr>
          <p:cNvPr id="19" name="Text 16"/>
          <p:cNvSpPr/>
          <p:nvPr/>
        </p:nvSpPr>
        <p:spPr>
          <a:xfrm>
            <a:off x="5533628" y="228504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currency</a:t>
            </a:r>
          </a:p>
        </p:txBody>
      </p:sp>
      <p:graphicFrame>
        <p:nvGraphicFramePr>
          <p:cNvPr id="20" name="Chart 1"/>
          <p:cNvGraphicFramePr/>
          <p:nvPr>
            <p:extLst>
              <p:ext uri="{D42A27DB-BD31-4B8C-83A1-F6EECF244321}">
                <p14:modId xmlns:p14="http://schemas.microsoft.com/office/powerpoint/2010/main" val="3341096340"/>
              </p:ext>
            </p:extLst>
          </p:nvPr>
        </p:nvGraphicFramePr>
        <p:xfrm>
          <a:off x="5487927" y="2604945"/>
          <a:ext cx="1690930" cy="1690930"/>
        </p:xfrm>
        <a:graphic>
          <a:graphicData uri="http://schemas.openxmlformats.org/drawingml/2006/chart">
            <c:chart xmlns:c="http://schemas.openxmlformats.org/drawingml/2006/chart" xmlns:r="http://schemas.openxmlformats.org/officeDocument/2006/relationships" r:id="rId4"/>
          </a:graphicData>
        </a:graphic>
      </p:graphicFrame>
      <p:sp>
        <p:nvSpPr>
          <p:cNvPr id="21" name="Shape 17"/>
          <p:cNvSpPr/>
          <p:nvPr/>
        </p:nvSpPr>
        <p:spPr>
          <a:xfrm>
            <a:off x="7389081" y="3103084"/>
            <a:ext cx="95972" cy="95972"/>
          </a:xfrm>
          <a:prstGeom prst="rect">
            <a:avLst/>
          </a:prstGeom>
          <a:solidFill>
            <a:srgbClr val="FF6C0E"/>
          </a:solidFill>
          <a:ln w="12700">
            <a:solidFill>
              <a:srgbClr val="FF6C0E"/>
            </a:solidFill>
            <a:prstDash val="solid"/>
          </a:ln>
        </p:spPr>
        <p:txBody>
          <a:bodyPr/>
          <a:lstStyle/>
          <a:p>
            <a:endParaRPr lang="en-CH"/>
          </a:p>
        </p:txBody>
      </p:sp>
      <p:sp>
        <p:nvSpPr>
          <p:cNvPr id="22" name="Text 18"/>
          <p:cNvSpPr/>
          <p:nvPr/>
        </p:nvSpPr>
        <p:spPr>
          <a:xfrm>
            <a:off x="7562744" y="302539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USD   66.7%</a:t>
            </a:r>
            <a:endParaRPr lang="en-US" sz="1200"/>
          </a:p>
        </p:txBody>
      </p:sp>
      <p:sp>
        <p:nvSpPr>
          <p:cNvPr id="23" name="Shape 19"/>
          <p:cNvSpPr/>
          <p:nvPr/>
        </p:nvSpPr>
        <p:spPr>
          <a:xfrm>
            <a:off x="7389081" y="3386429"/>
            <a:ext cx="95972" cy="95972"/>
          </a:xfrm>
          <a:prstGeom prst="rect">
            <a:avLst/>
          </a:prstGeom>
          <a:solidFill>
            <a:srgbClr val="FFC545"/>
          </a:solidFill>
          <a:ln w="12700">
            <a:solidFill>
              <a:srgbClr val="FFC545"/>
            </a:solidFill>
            <a:prstDash val="solid"/>
          </a:ln>
        </p:spPr>
        <p:txBody>
          <a:bodyPr/>
          <a:lstStyle/>
          <a:p>
            <a:endParaRPr lang="en-CH"/>
          </a:p>
        </p:txBody>
      </p:sp>
      <p:sp>
        <p:nvSpPr>
          <p:cNvPr id="24" name="Text 20"/>
          <p:cNvSpPr/>
          <p:nvPr/>
        </p:nvSpPr>
        <p:spPr>
          <a:xfrm>
            <a:off x="7562744" y="330873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CHF  16.7%</a:t>
            </a:r>
            <a:endParaRPr lang="en-US" sz="1200"/>
          </a:p>
        </p:txBody>
      </p:sp>
      <p:sp>
        <p:nvSpPr>
          <p:cNvPr id="25" name="Shape 21"/>
          <p:cNvSpPr/>
          <p:nvPr/>
        </p:nvSpPr>
        <p:spPr>
          <a:xfrm>
            <a:off x="7389081" y="3669774"/>
            <a:ext cx="95972" cy="95972"/>
          </a:xfrm>
          <a:prstGeom prst="rect">
            <a:avLst/>
          </a:prstGeom>
          <a:solidFill>
            <a:srgbClr val="79D6FF"/>
          </a:solidFill>
          <a:ln w="12700">
            <a:solidFill>
              <a:srgbClr val="79D6FF"/>
            </a:solidFill>
            <a:prstDash val="solid"/>
          </a:ln>
        </p:spPr>
        <p:txBody>
          <a:bodyPr/>
          <a:lstStyle/>
          <a:p>
            <a:endParaRPr lang="en-CH"/>
          </a:p>
        </p:txBody>
      </p:sp>
      <p:sp>
        <p:nvSpPr>
          <p:cNvPr id="26" name="Text 22"/>
          <p:cNvSpPr/>
          <p:nvPr/>
        </p:nvSpPr>
        <p:spPr>
          <a:xfrm>
            <a:off x="7562744" y="359208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EUR  16.7%</a:t>
            </a:r>
            <a:endParaRPr lang="en-US" sz="1200"/>
          </a:p>
        </p:txBody>
      </p:sp>
      <p:sp>
        <p:nvSpPr>
          <p:cNvPr id="27" name="Text 23"/>
          <p:cNvSpPr/>
          <p:nvPr/>
        </p:nvSpPr>
        <p:spPr>
          <a:xfrm>
            <a:off x="872146" y="457008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maturity</a:t>
            </a:r>
          </a:p>
        </p:txBody>
      </p:sp>
      <p:graphicFrame>
        <p:nvGraphicFramePr>
          <p:cNvPr id="28" name="Chart 2"/>
          <p:cNvGraphicFramePr/>
          <p:nvPr>
            <p:extLst>
              <p:ext uri="{D42A27DB-BD31-4B8C-83A1-F6EECF244321}">
                <p14:modId xmlns:p14="http://schemas.microsoft.com/office/powerpoint/2010/main" val="2538154021"/>
              </p:ext>
            </p:extLst>
          </p:nvPr>
        </p:nvGraphicFramePr>
        <p:xfrm>
          <a:off x="826445" y="4889986"/>
          <a:ext cx="1690930" cy="1690930"/>
        </p:xfrm>
        <a:graphic>
          <a:graphicData uri="http://schemas.openxmlformats.org/drawingml/2006/chart">
            <c:chart xmlns:c="http://schemas.openxmlformats.org/drawingml/2006/chart" xmlns:r="http://schemas.openxmlformats.org/officeDocument/2006/relationships" r:id="rId5"/>
          </a:graphicData>
        </a:graphic>
      </p:graphicFrame>
      <p:sp>
        <p:nvSpPr>
          <p:cNvPr id="29" name="Shape 24"/>
          <p:cNvSpPr/>
          <p:nvPr/>
        </p:nvSpPr>
        <p:spPr>
          <a:xfrm>
            <a:off x="2727599" y="5388124"/>
            <a:ext cx="95972" cy="95972"/>
          </a:xfrm>
          <a:prstGeom prst="rect">
            <a:avLst/>
          </a:prstGeom>
          <a:solidFill>
            <a:srgbClr val="FF6C0E"/>
          </a:solidFill>
          <a:ln w="12700">
            <a:solidFill>
              <a:srgbClr val="FF6C0E"/>
            </a:solidFill>
            <a:prstDash val="solid"/>
          </a:ln>
        </p:spPr>
        <p:txBody>
          <a:bodyPr/>
          <a:lstStyle/>
          <a:p>
            <a:endParaRPr lang="en-CH"/>
          </a:p>
        </p:txBody>
      </p:sp>
      <p:sp>
        <p:nvSpPr>
          <p:cNvPr id="30" name="Text 25"/>
          <p:cNvSpPr/>
          <p:nvPr/>
        </p:nvSpPr>
        <p:spPr>
          <a:xfrm>
            <a:off x="2901262" y="531043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0 - 3 years   16.7%</a:t>
            </a:r>
            <a:endParaRPr lang="en-US" sz="1200"/>
          </a:p>
        </p:txBody>
      </p:sp>
      <p:sp>
        <p:nvSpPr>
          <p:cNvPr id="31" name="Shape 26"/>
          <p:cNvSpPr/>
          <p:nvPr/>
        </p:nvSpPr>
        <p:spPr>
          <a:xfrm>
            <a:off x="2727599" y="5671469"/>
            <a:ext cx="95972" cy="95972"/>
          </a:xfrm>
          <a:prstGeom prst="rect">
            <a:avLst/>
          </a:prstGeom>
          <a:solidFill>
            <a:srgbClr val="FFC545"/>
          </a:solidFill>
          <a:ln w="12700">
            <a:solidFill>
              <a:srgbClr val="FFC545"/>
            </a:solidFill>
            <a:prstDash val="solid"/>
          </a:ln>
        </p:spPr>
        <p:txBody>
          <a:bodyPr/>
          <a:lstStyle/>
          <a:p>
            <a:endParaRPr lang="en-CH"/>
          </a:p>
        </p:txBody>
      </p:sp>
      <p:sp>
        <p:nvSpPr>
          <p:cNvPr id="32" name="Text 27"/>
          <p:cNvSpPr/>
          <p:nvPr/>
        </p:nvSpPr>
        <p:spPr>
          <a:xfrm>
            <a:off x="2901262" y="559377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3 - 5 years   66.7%</a:t>
            </a:r>
            <a:endParaRPr lang="en-US" sz="1200"/>
          </a:p>
        </p:txBody>
      </p:sp>
      <p:sp>
        <p:nvSpPr>
          <p:cNvPr id="33" name="Shape 28"/>
          <p:cNvSpPr/>
          <p:nvPr/>
        </p:nvSpPr>
        <p:spPr>
          <a:xfrm>
            <a:off x="2727599" y="5954814"/>
            <a:ext cx="95972" cy="95972"/>
          </a:xfrm>
          <a:prstGeom prst="rect">
            <a:avLst/>
          </a:prstGeom>
          <a:solidFill>
            <a:srgbClr val="79D6FF"/>
          </a:solidFill>
          <a:ln w="12700">
            <a:solidFill>
              <a:srgbClr val="79D6FF"/>
            </a:solidFill>
            <a:prstDash val="solid"/>
          </a:ln>
        </p:spPr>
        <p:txBody>
          <a:bodyPr/>
          <a:lstStyle/>
          <a:p>
            <a:endParaRPr lang="en-CH"/>
          </a:p>
        </p:txBody>
      </p:sp>
      <p:sp>
        <p:nvSpPr>
          <p:cNvPr id="34" name="Text 29"/>
          <p:cNvSpPr/>
          <p:nvPr/>
        </p:nvSpPr>
        <p:spPr>
          <a:xfrm>
            <a:off x="2901262" y="587712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5 - 7 years   16.7%</a:t>
            </a:r>
            <a:endParaRPr lang="en-US" sz="1200"/>
          </a:p>
        </p:txBody>
      </p:sp>
      <p:sp>
        <p:nvSpPr>
          <p:cNvPr id="35" name="Text 30"/>
          <p:cNvSpPr/>
          <p:nvPr/>
        </p:nvSpPr>
        <p:spPr>
          <a:xfrm>
            <a:off x="5533628" y="457008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credit quality</a:t>
            </a:r>
          </a:p>
        </p:txBody>
      </p:sp>
      <p:graphicFrame>
        <p:nvGraphicFramePr>
          <p:cNvPr id="36" name="Chart 3"/>
          <p:cNvGraphicFramePr/>
          <p:nvPr>
            <p:extLst>
              <p:ext uri="{D42A27DB-BD31-4B8C-83A1-F6EECF244321}">
                <p14:modId xmlns:p14="http://schemas.microsoft.com/office/powerpoint/2010/main" val="384069647"/>
              </p:ext>
            </p:extLst>
          </p:nvPr>
        </p:nvGraphicFramePr>
        <p:xfrm>
          <a:off x="5487927" y="4889986"/>
          <a:ext cx="1690930" cy="1690930"/>
        </p:xfrm>
        <a:graphic>
          <a:graphicData uri="http://schemas.openxmlformats.org/drawingml/2006/chart">
            <c:chart xmlns:c="http://schemas.openxmlformats.org/drawingml/2006/chart" xmlns:r="http://schemas.openxmlformats.org/officeDocument/2006/relationships" r:id="rId6"/>
          </a:graphicData>
        </a:graphic>
      </p:graphicFrame>
      <p:sp>
        <p:nvSpPr>
          <p:cNvPr id="37" name="Shape 31"/>
          <p:cNvSpPr/>
          <p:nvPr/>
        </p:nvSpPr>
        <p:spPr>
          <a:xfrm>
            <a:off x="7389081" y="5104779"/>
            <a:ext cx="95972" cy="95972"/>
          </a:xfrm>
          <a:prstGeom prst="rect">
            <a:avLst/>
          </a:prstGeom>
          <a:solidFill>
            <a:srgbClr val="FF6C0E"/>
          </a:solidFill>
          <a:ln w="12700">
            <a:solidFill>
              <a:srgbClr val="FF6C0E"/>
            </a:solidFill>
            <a:prstDash val="solid"/>
          </a:ln>
        </p:spPr>
        <p:txBody>
          <a:bodyPr/>
          <a:lstStyle/>
          <a:p>
            <a:endParaRPr lang="en-CH"/>
          </a:p>
        </p:txBody>
      </p:sp>
      <p:sp>
        <p:nvSpPr>
          <p:cNvPr id="38" name="Text 32"/>
          <p:cNvSpPr/>
          <p:nvPr/>
        </p:nvSpPr>
        <p:spPr>
          <a:xfrm>
            <a:off x="7562744" y="502708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A+   16.7%</a:t>
            </a:r>
            <a:endParaRPr lang="en-US" sz="1200"/>
          </a:p>
        </p:txBody>
      </p:sp>
      <p:sp>
        <p:nvSpPr>
          <p:cNvPr id="39" name="Shape 33"/>
          <p:cNvSpPr/>
          <p:nvPr/>
        </p:nvSpPr>
        <p:spPr>
          <a:xfrm>
            <a:off x="7389081" y="5388124"/>
            <a:ext cx="95972" cy="95972"/>
          </a:xfrm>
          <a:prstGeom prst="rect">
            <a:avLst/>
          </a:prstGeom>
          <a:solidFill>
            <a:srgbClr val="FFC545"/>
          </a:solidFill>
          <a:ln w="12700">
            <a:solidFill>
              <a:srgbClr val="FFC545"/>
            </a:solidFill>
            <a:prstDash val="solid"/>
          </a:ln>
        </p:spPr>
        <p:txBody>
          <a:bodyPr/>
          <a:lstStyle/>
          <a:p>
            <a:endParaRPr lang="en-CH"/>
          </a:p>
        </p:txBody>
      </p:sp>
      <p:sp>
        <p:nvSpPr>
          <p:cNvPr id="40" name="Text 34"/>
          <p:cNvSpPr/>
          <p:nvPr/>
        </p:nvSpPr>
        <p:spPr>
          <a:xfrm>
            <a:off x="7562744" y="531043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A-   16.7%</a:t>
            </a:r>
            <a:endParaRPr lang="en-US" sz="1200"/>
          </a:p>
        </p:txBody>
      </p:sp>
      <p:sp>
        <p:nvSpPr>
          <p:cNvPr id="41" name="Shape 35"/>
          <p:cNvSpPr/>
          <p:nvPr/>
        </p:nvSpPr>
        <p:spPr>
          <a:xfrm>
            <a:off x="7389081" y="5671469"/>
            <a:ext cx="95972" cy="95972"/>
          </a:xfrm>
          <a:prstGeom prst="rect">
            <a:avLst/>
          </a:prstGeom>
          <a:solidFill>
            <a:srgbClr val="79D6FF"/>
          </a:solidFill>
          <a:ln w="12700">
            <a:solidFill>
              <a:srgbClr val="79D6FF"/>
            </a:solidFill>
            <a:prstDash val="solid"/>
          </a:ln>
        </p:spPr>
        <p:txBody>
          <a:bodyPr/>
          <a:lstStyle/>
          <a:p>
            <a:endParaRPr lang="en-CH"/>
          </a:p>
        </p:txBody>
      </p:sp>
      <p:sp>
        <p:nvSpPr>
          <p:cNvPr id="42" name="Text 36"/>
          <p:cNvSpPr/>
          <p:nvPr/>
        </p:nvSpPr>
        <p:spPr>
          <a:xfrm>
            <a:off x="7562744" y="559377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BBB+   33.3%</a:t>
            </a:r>
            <a:endParaRPr lang="en-US" sz="1200"/>
          </a:p>
        </p:txBody>
      </p:sp>
      <p:sp>
        <p:nvSpPr>
          <p:cNvPr id="43" name="Shape 37"/>
          <p:cNvSpPr/>
          <p:nvPr/>
        </p:nvSpPr>
        <p:spPr>
          <a:xfrm>
            <a:off x="7389081" y="5954814"/>
            <a:ext cx="95972" cy="95972"/>
          </a:xfrm>
          <a:prstGeom prst="rect">
            <a:avLst/>
          </a:prstGeom>
          <a:solidFill>
            <a:srgbClr val="202945"/>
          </a:solidFill>
          <a:ln w="12700">
            <a:solidFill>
              <a:srgbClr val="202945"/>
            </a:solidFill>
            <a:prstDash val="solid"/>
          </a:ln>
        </p:spPr>
        <p:txBody>
          <a:bodyPr/>
          <a:lstStyle/>
          <a:p>
            <a:endParaRPr lang="en-CH"/>
          </a:p>
        </p:txBody>
      </p:sp>
      <p:sp>
        <p:nvSpPr>
          <p:cNvPr id="44" name="Text 38"/>
          <p:cNvSpPr/>
          <p:nvPr/>
        </p:nvSpPr>
        <p:spPr>
          <a:xfrm>
            <a:off x="7562744" y="587712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BBB   16.7%</a:t>
            </a:r>
            <a:endParaRPr lang="en-US" sz="1200"/>
          </a:p>
        </p:txBody>
      </p:sp>
      <p:sp>
        <p:nvSpPr>
          <p:cNvPr id="45" name="Shape 39"/>
          <p:cNvSpPr/>
          <p:nvPr/>
        </p:nvSpPr>
        <p:spPr>
          <a:xfrm>
            <a:off x="7389081" y="6238159"/>
            <a:ext cx="95972" cy="95972"/>
          </a:xfrm>
          <a:prstGeom prst="rect">
            <a:avLst/>
          </a:prstGeom>
          <a:solidFill>
            <a:srgbClr val="3BAF90"/>
          </a:solidFill>
          <a:ln w="12700">
            <a:solidFill>
              <a:srgbClr val="3BAF90"/>
            </a:solidFill>
            <a:prstDash val="solid"/>
          </a:ln>
        </p:spPr>
        <p:txBody>
          <a:bodyPr/>
          <a:lstStyle/>
          <a:p>
            <a:endParaRPr lang="en-CH"/>
          </a:p>
        </p:txBody>
      </p:sp>
      <p:sp>
        <p:nvSpPr>
          <p:cNvPr id="46" name="Text 40"/>
          <p:cNvSpPr/>
          <p:nvPr/>
        </p:nvSpPr>
        <p:spPr>
          <a:xfrm>
            <a:off x="7562744" y="616046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   16.7%</a:t>
            </a:r>
            <a:endParaRPr lang="en-US" sz="1200"/>
          </a:p>
        </p:txBody>
      </p:sp>
      <p:sp>
        <p:nvSpPr>
          <p:cNvPr id="47" name="Text 41"/>
          <p:cNvSpPr/>
          <p:nvPr/>
        </p:nvSpPr>
        <p:spPr>
          <a:xfrm>
            <a:off x="671062" y="6964802"/>
            <a:ext cx="8774555" cy="228504"/>
          </a:xfrm>
          <a:prstGeom prst="rect">
            <a:avLst/>
          </a:prstGeom>
          <a:noFill/>
          <a:ln/>
        </p:spPr>
        <p:txBody>
          <a:bodyPr wrap="square" lIns="0" tIns="0" rIns="0" bIns="0" rtlCol="0" anchor="ctr"/>
          <a:lstStyle/>
          <a:p>
            <a:r>
              <a:rPr lang="en-US" sz="900">
                <a:solidFill>
                  <a:srgbClr val="A8B0BF"/>
                </a:solidFill>
                <a:latin typeface="Nunito" pitchFamily="34" charset="0"/>
                <a:ea typeface="Nunito" pitchFamily="34" charset="-122"/>
                <a:cs typeface="Nunito" pitchFamily="34" charset="-120"/>
              </a:rPr>
              <a:t>Source: 'Fixed Income' tab; country, sector and rating as stated there. Percentages may not sum to 100 due to rounding.</a:t>
            </a:r>
            <a:endParaRPr lang="en-US" sz="900"/>
          </a:p>
        </p:txBody>
      </p:sp>
      <p:sp>
        <p:nvSpPr>
          <p:cNvPr id="48" name="Text 42"/>
          <p:cNvSpPr/>
          <p:nvPr/>
        </p:nvSpPr>
        <p:spPr>
          <a:xfrm>
            <a:off x="9601000" y="7129325"/>
            <a:ext cx="420447" cy="201084"/>
          </a:xfrm>
          <a:prstGeom prst="rect">
            <a:avLst/>
          </a:prstGeom>
          <a:noFill/>
          <a:ln/>
        </p:spPr>
        <p:txBody>
          <a:bodyPr wrap="square" lIns="0" tIns="0" rIns="0" bIns="0" rtlCol="0" anchor="ctr"/>
          <a:lstStyle/>
          <a:p>
            <a:pPr algn="r"/>
            <a:r>
              <a:rPr lang="en-US" sz="900">
                <a:solidFill>
                  <a:srgbClr val="A8B0BF"/>
                </a:solidFill>
                <a:latin typeface="Nunito" pitchFamily="34" charset="0"/>
                <a:ea typeface="Nunito" pitchFamily="34" charset="-122"/>
                <a:cs typeface="Nunito" pitchFamily="34" charset="-120"/>
              </a:rPr>
              <a:t>12</a:t>
            </a:r>
            <a:endParaRPr lang="en-US" sz="900"/>
          </a:p>
        </p:txBody>
      </p:sp>
      <p:sp>
        <p:nvSpPr>
          <p:cNvPr id="49" name="Text 43"/>
          <p:cNvSpPr/>
          <p:nvPr/>
        </p:nvSpPr>
        <p:spPr>
          <a:xfrm rot="5400000">
            <a:off x="8549881" y="3884568"/>
            <a:ext cx="3838868" cy="201084"/>
          </a:xfrm>
          <a:prstGeom prst="rect">
            <a:avLst/>
          </a:prstGeom>
          <a:noFill/>
          <a:ln/>
        </p:spPr>
        <p:txBody>
          <a:bodyPr wrap="square" lIns="0" tIns="0" rIns="0" bIns="0" rtlCol="0" anchor="ctr"/>
          <a:lstStyle/>
          <a:p>
            <a:pPr algn="ctr"/>
            <a:r>
              <a:rPr lang="en-US" sz="600">
                <a:solidFill>
                  <a:srgbClr val="D5D9E0"/>
                </a:solidFill>
                <a:latin typeface="Nunito" pitchFamily="34" charset="0"/>
                <a:ea typeface="Nunito" pitchFamily="34" charset="-122"/>
                <a:cs typeface="Nunito" pitchFamily="34" charset="-120"/>
              </a:rPr>
              <a:t>Please see important information at the end of the document</a:t>
            </a:r>
            <a:endParaRPr lang="en-US" sz="600"/>
          </a:p>
        </p:txBody>
      </p:sp>
      <p:sp>
        <p:nvSpPr>
          <p:cNvPr id="50" name="TextBox 49">
            <a:extLst>
              <a:ext uri="{FF2B5EF4-FFF2-40B4-BE49-F238E27FC236}">
                <a16:creationId xmlns:a16="http://schemas.microsoft.com/office/drawing/2014/main" id="{39325C91-09F5-798A-5623-60B86B5EEE9C}"/>
              </a:ext>
            </a:extLst>
          </p:cNvPr>
          <p:cNvSpPr txBox="1"/>
          <p:nvPr/>
        </p:nvSpPr>
        <p:spPr>
          <a:xfrm>
            <a:off x="5334000" y="457200"/>
            <a:ext cx="0" cy="0"/>
          </a:xfrm>
          <a:prstGeom prst="rect">
            <a:avLst/>
          </a:prstGeom>
          <a:noFill/>
        </p:spPr>
        <p:txBody>
          <a:bodyPr vert="horz" wrap="none" lIns="0" tIns="0" rIns="0" bIns="0" rtlCol="0">
            <a:noAutofit/>
          </a:bodyPr>
          <a:lstStyle/>
          <a:p>
            <a:pPr algn="l"/>
            <a:endParaRPr lang="en-CH" sz="1400" err="1"/>
          </a:p>
        </p:txBody>
      </p:sp>
      <p:sp>
        <p:nvSpPr>
          <p:cNvPr id="51" name="TextBox 50">
            <a:extLst>
              <a:ext uri="{FF2B5EF4-FFF2-40B4-BE49-F238E27FC236}">
                <a16:creationId xmlns:a16="http://schemas.microsoft.com/office/drawing/2014/main" id="{C5022B25-907A-1DE1-6103-7AC8388F0D0A}"/>
              </a:ext>
            </a:extLst>
          </p:cNvPr>
          <p:cNvSpPr txBox="1"/>
          <p:nvPr/>
        </p:nvSpPr>
        <p:spPr>
          <a:xfrm>
            <a:off x="10180320" y="525780"/>
            <a:ext cx="0" cy="0"/>
          </a:xfrm>
          <a:prstGeom prst="rect">
            <a:avLst/>
          </a:prstGeom>
          <a:noFill/>
        </p:spPr>
        <p:txBody>
          <a:bodyPr vert="horz" wrap="none" lIns="0" tIns="0" rIns="0" bIns="0" rtlCol="0">
            <a:noAutofit/>
          </a:bodyPr>
          <a:lstStyle/>
          <a:p>
            <a:pPr algn="l"/>
            <a:endParaRPr lang="en-CH" sz="1400" err="1"/>
          </a:p>
        </p:txBody>
      </p:sp>
      <p:sp>
        <p:nvSpPr>
          <p:cNvPr id="54" name="TextBox 53">
            <a:extLst>
              <a:ext uri="{FF2B5EF4-FFF2-40B4-BE49-F238E27FC236}">
                <a16:creationId xmlns:a16="http://schemas.microsoft.com/office/drawing/2014/main" id="{BCA8683E-CD77-48E5-4C08-80E574A96309}"/>
              </a:ext>
            </a:extLst>
          </p:cNvPr>
          <p:cNvSpPr txBox="1"/>
          <p:nvPr/>
        </p:nvSpPr>
        <p:spPr>
          <a:xfrm>
            <a:off x="-1295400" y="906780"/>
            <a:ext cx="0" cy="0"/>
          </a:xfrm>
          <a:prstGeom prst="rect">
            <a:avLst/>
          </a:prstGeom>
          <a:noFill/>
        </p:spPr>
        <p:txBody>
          <a:bodyPr vert="horz" wrap="none" lIns="0" tIns="0" rIns="0" bIns="0" rtlCol="0">
            <a:noAutofit/>
          </a:bodyPr>
          <a:lstStyle/>
          <a:p>
            <a:pPr algn="l"/>
            <a:endParaRPr lang="en-CH" sz="1400" dirty="0" err="1"/>
          </a:p>
        </p:txBody>
      </p:sp>
      <p:grpSp>
        <p:nvGrpSpPr>
          <p:cNvPr id="52" name="Group 51">
            <a:extLst>
              <a:ext uri="{FF2B5EF4-FFF2-40B4-BE49-F238E27FC236}">
                <a16:creationId xmlns:a16="http://schemas.microsoft.com/office/drawing/2014/main" id="{5EDFD447-8373-9482-A127-A4B91709C685}"/>
              </a:ext>
            </a:extLst>
          </p:cNvPr>
          <p:cNvGrpSpPr/>
          <p:nvPr/>
        </p:nvGrpSpPr>
        <p:grpSpPr>
          <a:xfrm>
            <a:off x="9966508" y="935038"/>
            <a:ext cx="540000" cy="540000"/>
            <a:chOff x="9862599" y="872588"/>
            <a:chExt cx="540000" cy="540000"/>
          </a:xfrm>
        </p:grpSpPr>
        <p:pic>
          <p:nvPicPr>
            <p:cNvPr id="55" name="Graphic 54" descr="Greek Pillar with solid fill">
              <a:extLst>
                <a:ext uri="{FF2B5EF4-FFF2-40B4-BE49-F238E27FC236}">
                  <a16:creationId xmlns:a16="http://schemas.microsoft.com/office/drawing/2014/main" id="{713BEBC4-B3D7-F7E4-6653-9CC7207D57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11195" y="935038"/>
              <a:ext cx="442808" cy="442808"/>
            </a:xfrm>
            <a:prstGeom prst="rect">
              <a:avLst/>
            </a:prstGeom>
          </p:spPr>
        </p:pic>
        <p:sp>
          <p:nvSpPr>
            <p:cNvPr id="56" name="Oval 55">
              <a:extLst>
                <a:ext uri="{FF2B5EF4-FFF2-40B4-BE49-F238E27FC236}">
                  <a16:creationId xmlns:a16="http://schemas.microsoft.com/office/drawing/2014/main" id="{4033B535-EA06-986B-9097-662991DBE177}"/>
                </a:ext>
              </a:extLst>
            </p:cNvPr>
            <p:cNvSpPr/>
            <p:nvPr/>
          </p:nvSpPr>
          <p:spPr>
            <a:xfrm>
              <a:off x="9862599" y="87258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dirty="0"/>
            </a:p>
          </p:txBody>
        </p:sp>
      </p:grpSp>
      <p:sp>
        <p:nvSpPr>
          <p:cNvPr id="57" name="Title 1">
            <a:extLst>
              <a:ext uri="{FF2B5EF4-FFF2-40B4-BE49-F238E27FC236}">
                <a16:creationId xmlns:a16="http://schemas.microsoft.com/office/drawing/2014/main" id="{96A02808-F9B4-32D1-2DF7-3BCAD7535770}"/>
              </a:ext>
            </a:extLst>
          </p:cNvPr>
          <p:cNvSpPr txBox="1">
            <a:spLocks/>
          </p:cNvSpPr>
          <p:nvPr/>
        </p:nvSpPr>
        <p:spPr>
          <a:xfrm>
            <a:off x="665163" y="1032442"/>
            <a:ext cx="9398001" cy="864587"/>
          </a:xfrm>
          <a:prstGeom prst="rect">
            <a:avLst/>
          </a:prstGeom>
        </p:spPr>
        <p:txBody>
          <a:bodyPr lIns="0"/>
          <a:lst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a:lstStyle>
          <a:p>
            <a:r>
              <a:rPr lang="en-US" dirty="0"/>
              <a:t>Fixed Income Breakdown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Equities: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a:solidFill>
                  <a:srgbClr val="202945"/>
                </a:solidFill>
                <a:latin typeface="Nunito Sans ExtraBold"/>
              </a:rPr>
              <a:t>How this sleeve is built</a:t>
            </a:r>
          </a:p>
        </p:txBody>
      </p:sp>
      <p:sp>
        <p:nvSpPr>
          <p:cNvPr id="5" name="TextBox 4"/>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Equities style diversification: a combination of traditional equities (focused on capital gain), high-dividend-yield stocks (capital gain plus distribution) and 'income' funds. Exposure is spread across funds, ETFs, structured products and AMCs to balance growth and income.</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graphicFrame>
        <p:nvGraphicFramePr>
          <p:cNvPr id="7" name="Table 6"/>
          <p:cNvGraphicFramePr>
            <a:graphicFrameLocks noGrp="1"/>
          </p:cNvGraphicFramePr>
          <p:nvPr>
            <p:extLst>
              <p:ext uri="{D42A27DB-BD31-4B8C-83A1-F6EECF244321}">
                <p14:modId xmlns:p14="http://schemas.microsoft.com/office/powerpoint/2010/main" val="30210442"/>
              </p:ext>
            </p:extLst>
          </p:nvPr>
        </p:nvGraphicFramePr>
        <p:xfrm>
          <a:off x="666000" y="4860000"/>
          <a:ext cx="9359812" cy="1667280"/>
        </p:xfrm>
        <a:graphic>
          <a:graphicData uri="http://schemas.openxmlformats.org/drawingml/2006/table">
            <a:tbl>
              <a:tblPr firstRow="1" bandRow="1">
                <a:tableStyleId>{5C22544A-7EE6-4342-B048-85BDC9FD1C3A}</a:tableStyleId>
              </a:tblPr>
              <a:tblGrid>
                <a:gridCol w="3551931">
                  <a:extLst>
                    <a:ext uri="{9D8B030D-6E8A-4147-A177-3AD203B41FA5}">
                      <a16:colId xmlns:a16="http://schemas.microsoft.com/office/drawing/2014/main" val="20000"/>
                    </a:ext>
                  </a:extLst>
                </a:gridCol>
                <a:gridCol w="1391973">
                  <a:extLst>
                    <a:ext uri="{9D8B030D-6E8A-4147-A177-3AD203B41FA5}">
                      <a16:colId xmlns:a16="http://schemas.microsoft.com/office/drawing/2014/main" val="20001"/>
                    </a:ext>
                  </a:extLst>
                </a:gridCol>
                <a:gridCol w="1103977">
                  <a:extLst>
                    <a:ext uri="{9D8B030D-6E8A-4147-A177-3AD203B41FA5}">
                      <a16:colId xmlns:a16="http://schemas.microsoft.com/office/drawing/2014/main" val="20002"/>
                    </a:ext>
                  </a:extLst>
                </a:gridCol>
                <a:gridCol w="1103977">
                  <a:extLst>
                    <a:ext uri="{9D8B030D-6E8A-4147-A177-3AD203B41FA5}">
                      <a16:colId xmlns:a16="http://schemas.microsoft.com/office/drawing/2014/main" val="1462099802"/>
                    </a:ext>
                  </a:extLst>
                </a:gridCol>
                <a:gridCol w="1103977">
                  <a:extLst>
                    <a:ext uri="{9D8B030D-6E8A-4147-A177-3AD203B41FA5}">
                      <a16:colId xmlns:a16="http://schemas.microsoft.com/office/drawing/2014/main" val="2564674112"/>
                    </a:ext>
                  </a:extLst>
                </a:gridCol>
                <a:gridCol w="1103977">
                  <a:extLst>
                    <a:ext uri="{9D8B030D-6E8A-4147-A177-3AD203B41FA5}">
                      <a16:colId xmlns:a16="http://schemas.microsoft.com/office/drawing/2014/main" val="2010241931"/>
                    </a:ext>
                  </a:extLst>
                </a:gridCol>
              </a:tblGrid>
              <a:tr h="324000">
                <a:tc>
                  <a:txBody>
                    <a:bodyPr/>
                    <a:lstStyle/>
                    <a:p>
                      <a:pPr algn="l"/>
                      <a:r>
                        <a:rPr lang="en-US" sz="1100" b="1" noProof="0" dirty="0">
                          <a:solidFill>
                            <a:srgbClr val="000000"/>
                          </a:solidFill>
                          <a:latin typeface="Nunito Sans"/>
                        </a:rPr>
                        <a:t>Holding</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Share</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Country</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Sector</a:t>
                      </a:r>
                    </a:p>
                  </a:txBody>
                  <a:tcPr marL="54000" marR="54000" marT="18000" marB="18000" anchor="ctr">
                    <a:solidFill>
                      <a:srgbClr val="FFC545"/>
                    </a:solidFill>
                  </a:tcPr>
                </a:tc>
                <a:tc>
                  <a:txBody>
                    <a:bodyPr/>
                    <a:lstStyle/>
                    <a:p>
                      <a:pPr algn="r"/>
                      <a:r>
                        <a:rPr lang="en-US" sz="1100" b="1" noProof="0">
                          <a:solidFill>
                            <a:srgbClr val="000000"/>
                          </a:solidFill>
                          <a:latin typeface="Nunito Sans"/>
                        </a:rPr>
                        <a:t>Market Capitalisation</a:t>
                      </a:r>
                    </a:p>
                  </a:txBody>
                  <a:tcPr marL="54000" marR="54000" marT="18000" marB="18000" anchor="ctr">
                    <a:solidFill>
                      <a:srgbClr val="FFC545"/>
                    </a:solidFill>
                  </a:tcPr>
                </a:tc>
                <a:extLst>
                  <a:ext uri="{0D108BD9-81ED-4DB2-BD59-A6C34878D82A}">
                    <a16:rowId xmlns:a16="http://schemas.microsoft.com/office/drawing/2014/main" val="10000"/>
                  </a:ext>
                </a:extLst>
              </a:tr>
              <a:tr h="259200">
                <a:tc>
                  <a:txBody>
                    <a:bodyPr/>
                    <a:lstStyle/>
                    <a:p>
                      <a:pPr algn="l"/>
                      <a:r>
                        <a:rPr lang="en-US" sz="1000" b="0" noProof="0" dirty="0">
                          <a:solidFill>
                            <a:srgbClr val="202945"/>
                          </a:solidFill>
                          <a:latin typeface="Nunito Sans"/>
                        </a:rPr>
                        <a:t>BlackRock Global Funds SICAV - W…</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334k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18.2%</a:t>
                      </a: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extLst>
                  <a:ext uri="{0D108BD9-81ED-4DB2-BD59-A6C34878D82A}">
                    <a16:rowId xmlns:a16="http://schemas.microsoft.com/office/drawing/2014/main" val="10001"/>
                  </a:ext>
                </a:extLst>
              </a:tr>
              <a:tr h="259200">
                <a:tc>
                  <a:txBody>
                    <a:bodyPr/>
                    <a:lstStyle/>
                    <a:p>
                      <a:pPr algn="l"/>
                      <a:r>
                        <a:rPr lang="en-US" sz="1000" b="0" noProof="0" dirty="0">
                          <a:solidFill>
                            <a:srgbClr val="202945"/>
                          </a:solidFill>
                          <a:latin typeface="Nunito Sans"/>
                        </a:rPr>
                        <a:t>Goldman Sachs Funds SICAV - Gold…</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USD 334k</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18.2%</a:t>
                      </a: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extLst>
                  <a:ext uri="{0D108BD9-81ED-4DB2-BD59-A6C34878D82A}">
                    <a16:rowId xmlns:a16="http://schemas.microsoft.com/office/drawing/2014/main" val="10002"/>
                  </a:ext>
                </a:extLst>
              </a:tr>
              <a:tr h="259200">
                <a:tc>
                  <a:txBody>
                    <a:bodyPr/>
                    <a:lstStyle/>
                    <a:p>
                      <a:pPr algn="l"/>
                      <a:r>
                        <a:rPr lang="en-US" sz="1000" b="0" noProof="0" dirty="0">
                          <a:solidFill>
                            <a:srgbClr val="202945"/>
                          </a:solidFill>
                          <a:latin typeface="Nunito Sans"/>
                        </a:rPr>
                        <a:t>Schroder International Selection…</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334k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18.2%</a:t>
                      </a: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extLst>
                  <a:ext uri="{0D108BD9-81ED-4DB2-BD59-A6C34878D82A}">
                    <a16:rowId xmlns:a16="http://schemas.microsoft.com/office/drawing/2014/main" val="10003"/>
                  </a:ext>
                </a:extLst>
              </a:tr>
              <a:tr h="259200">
                <a:tc>
                  <a:txBody>
                    <a:bodyPr/>
                    <a:lstStyle/>
                    <a:p>
                      <a:pPr algn="l"/>
                      <a:r>
                        <a:rPr lang="en-US" sz="1000" b="0" noProof="0" dirty="0">
                          <a:solidFill>
                            <a:srgbClr val="202945"/>
                          </a:solidFill>
                          <a:latin typeface="Nunito Sans"/>
                        </a:rPr>
                        <a:t>Polar Capital Funds PLC - Biotec…</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USD 334k</a:t>
                      </a:r>
                    </a:p>
                  </a:txBody>
                  <a:tcPr marL="54000" marR="54000" marT="18000" marB="18000" anchor="ctr">
                    <a:solidFill>
                      <a:srgbClr val="F5F6F8"/>
                    </a:solidFill>
                  </a:tcPr>
                </a:tc>
                <a:tc>
                  <a:txBody>
                    <a:bodyPr/>
                    <a:lstStyle/>
                    <a:p>
                      <a:pPr algn="r"/>
                      <a:r>
                        <a:rPr lang="en-US" sz="1000" b="0" noProof="0" dirty="0">
                          <a:solidFill>
                            <a:srgbClr val="202945"/>
                          </a:solidFill>
                          <a:latin typeface="Nunito Sans"/>
                        </a:rPr>
                        <a:t>18.2%</a:t>
                      </a: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5F6F8"/>
                    </a:solidFill>
                  </a:tcPr>
                </a:tc>
                <a:extLst>
                  <a:ext uri="{0D108BD9-81ED-4DB2-BD59-A6C34878D82A}">
                    <a16:rowId xmlns:a16="http://schemas.microsoft.com/office/drawing/2014/main" val="10004"/>
                  </a:ext>
                </a:extLst>
              </a:tr>
              <a:tr h="259200">
                <a:tc>
                  <a:txBody>
                    <a:bodyPr/>
                    <a:lstStyle/>
                    <a:p>
                      <a:pPr algn="l"/>
                      <a:r>
                        <a:rPr lang="en-US" sz="1000" b="0" noProof="0" dirty="0">
                          <a:solidFill>
                            <a:srgbClr val="202945"/>
                          </a:solidFill>
                          <a:latin typeface="Nunito Sans"/>
                        </a:rPr>
                        <a:t>Goldman Sachs Eurozone Equity In…</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176k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9.6%</a:t>
                      </a: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endParaRPr lang="en-US" sz="1000" b="0" noProof="0" dirty="0">
                        <a:solidFill>
                          <a:srgbClr val="202945"/>
                        </a:solidFill>
                        <a:latin typeface="Nunito Sans"/>
                      </a:endParaRPr>
                    </a:p>
                  </a:txBody>
                  <a:tcPr marL="54000" marR="54000" marT="18000" marB="18000"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Equities across investment vehicles</a:t>
            </a:r>
          </a:p>
        </p:txBody>
      </p:sp>
      <p:sp>
        <p:nvSpPr>
          <p:cNvPr id="9" name="Rectangle 8"/>
          <p:cNvSpPr/>
          <p:nvPr/>
        </p:nvSpPr>
        <p:spPr>
          <a:xfrm>
            <a:off x="5418000" y="2520000"/>
            <a:ext cx="4607813" cy="208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4122133409"/>
              </p:ext>
            </p:extLst>
          </p:nvPr>
        </p:nvGraphicFramePr>
        <p:xfrm>
          <a:off x="5598000" y="2700000"/>
          <a:ext cx="4219768" cy="1753029"/>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5703742" y="3419837"/>
            <a:ext cx="2378880" cy="360000"/>
          </a:xfrm>
          <a:prstGeom prst="rect">
            <a:avLst/>
          </a:prstGeom>
          <a:noFill/>
        </p:spPr>
        <p:txBody>
          <a:bodyPr wrap="none" anchor="ctr">
            <a:spAutoFit/>
          </a:bodyPr>
          <a:lstStyle/>
          <a:p>
            <a:pPr algn="ctr"/>
            <a:r>
              <a:rPr lang="en-US" sz="1300" noProof="0" dirty="0">
                <a:solidFill>
                  <a:srgbClr val="202945"/>
                </a:solidFill>
                <a:latin typeface="Nunito Sans"/>
              </a:rPr>
              <a:t>Equities</a:t>
            </a:r>
          </a:p>
        </p:txBody>
      </p:sp>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graphicFrame>
        <p:nvGraphicFramePr>
          <p:cNvPr id="15" name="Chart 14">
            <a:extLst>
              <a:ext uri="{FF2B5EF4-FFF2-40B4-BE49-F238E27FC236}">
                <a16:creationId xmlns:a16="http://schemas.microsoft.com/office/drawing/2014/main" id="{E155B82B-9F74-3447-2CDB-A709B349221B}"/>
              </a:ext>
            </a:extLst>
          </p:cNvPr>
          <p:cNvGraphicFramePr>
            <a:graphicFrameLocks noGrp="1"/>
          </p:cNvGraphicFramePr>
          <p:nvPr>
            <p:extLst>
              <p:ext uri="{D42A27DB-BD31-4B8C-83A1-F6EECF244321}">
                <p14:modId xmlns:p14="http://schemas.microsoft.com/office/powerpoint/2010/main" val="3253181008"/>
              </p:ext>
            </p:extLst>
          </p:nvPr>
        </p:nvGraphicFramePr>
        <p:xfrm>
          <a:off x="5598000" y="2677149"/>
          <a:ext cx="4219768" cy="1717028"/>
        </p:xfrm>
        <a:graphic>
          <a:graphicData uri="http://schemas.openxmlformats.org/drawingml/2006/chart">
            <c:chart xmlns:c="http://schemas.openxmlformats.org/drawingml/2006/chart" xmlns:r="http://schemas.openxmlformats.org/officeDocument/2006/relationships" r:id="rId4"/>
          </a:graphicData>
        </a:graphic>
      </p:graphicFrame>
      <p:sp>
        <p:nvSpPr>
          <p:cNvPr id="29" name="Oval 28">
            <a:extLst>
              <a:ext uri="{FF2B5EF4-FFF2-40B4-BE49-F238E27FC236}">
                <a16:creationId xmlns:a16="http://schemas.microsoft.com/office/drawing/2014/main" id="{B544D1BC-ACD4-908C-5881-787D5AF6AD04}"/>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31" name="Graphic 30" descr="Open hand with plant outline">
            <a:extLst>
              <a:ext uri="{FF2B5EF4-FFF2-40B4-BE49-F238E27FC236}">
                <a16:creationId xmlns:a16="http://schemas.microsoft.com/office/drawing/2014/main" id="{FA7BB328-DA17-295C-83D8-5617889218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04919" y="974519"/>
            <a:ext cx="463178" cy="463178"/>
          </a:xfrm>
          <a:prstGeom prst="rect">
            <a:avLst/>
          </a:prstGeom>
        </p:spPr>
      </p:pic>
    </p:spTree>
  </p:cSld>
  <p:clrMapOvr>
    <a:masterClrMapping/>
  </p:clrMapOvr>
  <p:transition/>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1062" y="868315"/>
            <a:ext cx="7312129" cy="502709"/>
          </a:xfrm>
          <a:prstGeom prst="rect">
            <a:avLst/>
          </a:prstGeom>
          <a:noFill/>
          <a:ln/>
        </p:spPr>
        <p:txBody>
          <a:bodyPr wrap="square" lIns="0" tIns="0" rIns="0" bIns="0" rtlCol="0" anchor="ctr"/>
          <a:lstStyle/>
          <a:p>
            <a:pPr defTabSz="801899">
              <a:lnSpc>
                <a:spcPct val="90000"/>
              </a:lnSpc>
              <a:spcBef>
                <a:spcPct val="0"/>
              </a:spcBef>
            </a:pPr>
            <a:r>
              <a:rPr lang="en-US" sz="2400" b="1" dirty="0">
                <a:gradFill flip="none" rotWithShape="1">
                  <a:gsLst>
                    <a:gs pos="0">
                      <a:schemeClr val="accent4"/>
                    </a:gs>
                    <a:gs pos="100000">
                      <a:srgbClr val="FFA400"/>
                    </a:gs>
                  </a:gsLst>
                  <a:lin ang="0" scaled="1"/>
                </a:gradFill>
                <a:latin typeface="+mj-lt"/>
                <a:ea typeface="+mj-ea"/>
                <a:cs typeface="+mj-cs"/>
              </a:rPr>
              <a:t>Equity breakdown</a:t>
            </a:r>
          </a:p>
        </p:txBody>
      </p:sp>
      <p:sp>
        <p:nvSpPr>
          <p:cNvPr id="3" name="Text 1"/>
          <p:cNvSpPr/>
          <p:nvPr/>
        </p:nvSpPr>
        <p:spPr>
          <a:xfrm>
            <a:off x="671062" y="1626948"/>
            <a:ext cx="8774555" cy="319906"/>
          </a:xfrm>
          <a:prstGeom prst="rect">
            <a:avLst/>
          </a:prstGeom>
          <a:noFill/>
          <a:ln/>
        </p:spPr>
        <p:txBody>
          <a:bodyPr wrap="square" lIns="0" tIns="0" rIns="0" bIns="0" rtlCol="0" anchor="ctr"/>
          <a:lstStyle/>
          <a:p>
            <a:r>
              <a:rPr lang="en-US" sz="1399" dirty="0">
                <a:solidFill>
                  <a:srgbClr val="3C445D"/>
                </a:solidFill>
                <a:latin typeface="Nunito" pitchFamily="34" charset="0"/>
                <a:ea typeface="Nunito" pitchFamily="34" charset="-122"/>
                <a:cs typeface="Nunito" pitchFamily="34" charset="-120"/>
              </a:rPr>
              <a:t>Equity sleeve: 23 lines, EUR 7.2m, 33.7% of the portfolio.</a:t>
            </a:r>
            <a:endParaRPr lang="en-US" sz="1399" dirty="0"/>
          </a:p>
        </p:txBody>
      </p:sp>
      <p:sp>
        <p:nvSpPr>
          <p:cNvPr id="4" name="Shape 2"/>
          <p:cNvSpPr/>
          <p:nvPr/>
        </p:nvSpPr>
        <p:spPr>
          <a:xfrm>
            <a:off x="671062" y="2147937"/>
            <a:ext cx="9350385" cy="4707183"/>
          </a:xfrm>
          <a:prstGeom prst="roundRect">
            <a:avLst>
              <a:gd name="adj" fmla="val 777"/>
            </a:avLst>
          </a:prstGeom>
          <a:noFill/>
          <a:ln w="12700">
            <a:solidFill>
              <a:srgbClr val="FAFAFB"/>
            </a:solidFill>
            <a:prstDash val="solid"/>
          </a:ln>
          <a:effectLst>
            <a:outerShdw blurRad="50800" dist="50800" dir="5400000" algn="ctr" rotWithShape="0">
              <a:schemeClr val="bg1">
                <a:alpha val="0"/>
              </a:schemeClr>
            </a:outerShdw>
          </a:effectLst>
        </p:spPr>
        <p:txBody>
          <a:bodyPr/>
          <a:lstStyle/>
          <a:p>
            <a:endParaRPr lang="en-CH"/>
          </a:p>
        </p:txBody>
      </p:sp>
      <p:sp>
        <p:nvSpPr>
          <p:cNvPr id="5" name="Text 3"/>
          <p:cNvSpPr/>
          <p:nvPr/>
        </p:nvSpPr>
        <p:spPr>
          <a:xfrm>
            <a:off x="77388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geography</a:t>
            </a:r>
          </a:p>
        </p:txBody>
      </p:sp>
      <p:graphicFrame>
        <p:nvGraphicFramePr>
          <p:cNvPr id="6" name="Chart 0"/>
          <p:cNvGraphicFramePr/>
          <p:nvPr>
            <p:extLst>
              <p:ext uri="{D42A27DB-BD31-4B8C-83A1-F6EECF244321}">
                <p14:modId xmlns:p14="http://schemas.microsoft.com/office/powerpoint/2010/main" val="1898557430"/>
              </p:ext>
            </p:extLst>
          </p:nvPr>
        </p:nvGraphicFramePr>
        <p:xfrm>
          <a:off x="1276598" y="2787749"/>
          <a:ext cx="1919434" cy="1919434"/>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100239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8" name="Text 5"/>
          <p:cNvSpPr/>
          <p:nvPr/>
        </p:nvSpPr>
        <p:spPr>
          <a:xfrm>
            <a:off x="117605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Europe ex-Switzerland   38.1%</a:t>
            </a:r>
            <a:endParaRPr lang="en-US" sz="1200" dirty="0"/>
          </a:p>
        </p:txBody>
      </p:sp>
      <p:sp>
        <p:nvSpPr>
          <p:cNvPr id="9" name="Shape 6"/>
          <p:cNvSpPr/>
          <p:nvPr/>
        </p:nvSpPr>
        <p:spPr>
          <a:xfrm>
            <a:off x="100239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10" name="Text 7"/>
          <p:cNvSpPr/>
          <p:nvPr/>
        </p:nvSpPr>
        <p:spPr>
          <a:xfrm>
            <a:off x="117605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Global / thematic   30.2%</a:t>
            </a:r>
            <a:endParaRPr lang="en-US" sz="1200" dirty="0"/>
          </a:p>
        </p:txBody>
      </p:sp>
      <p:sp>
        <p:nvSpPr>
          <p:cNvPr id="11" name="Shape 8"/>
          <p:cNvSpPr/>
          <p:nvPr/>
        </p:nvSpPr>
        <p:spPr>
          <a:xfrm>
            <a:off x="100239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12" name="Text 9"/>
          <p:cNvSpPr/>
          <p:nvPr/>
        </p:nvSpPr>
        <p:spPr>
          <a:xfrm>
            <a:off x="117605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Switzerland   19.0%</a:t>
            </a:r>
            <a:endParaRPr lang="en-US" sz="1200" dirty="0"/>
          </a:p>
        </p:txBody>
      </p:sp>
      <p:sp>
        <p:nvSpPr>
          <p:cNvPr id="13" name="Shape 10"/>
          <p:cNvSpPr/>
          <p:nvPr/>
        </p:nvSpPr>
        <p:spPr>
          <a:xfrm>
            <a:off x="100239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14" name="Text 11"/>
          <p:cNvSpPr/>
          <p:nvPr/>
        </p:nvSpPr>
        <p:spPr>
          <a:xfrm>
            <a:off x="117605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United States   6.6%</a:t>
            </a:r>
            <a:endParaRPr lang="en-US" sz="1200" dirty="0"/>
          </a:p>
        </p:txBody>
      </p:sp>
      <p:sp>
        <p:nvSpPr>
          <p:cNvPr id="15" name="Shape 12"/>
          <p:cNvSpPr/>
          <p:nvPr/>
        </p:nvSpPr>
        <p:spPr>
          <a:xfrm>
            <a:off x="1002393" y="6242729"/>
            <a:ext cx="95972" cy="95972"/>
          </a:xfrm>
          <a:prstGeom prst="rect">
            <a:avLst/>
          </a:prstGeom>
          <a:solidFill>
            <a:srgbClr val="3BAF90"/>
          </a:solidFill>
          <a:ln w="12700">
            <a:solidFill>
              <a:srgbClr val="3BAF90"/>
            </a:solidFill>
            <a:prstDash val="solid"/>
          </a:ln>
        </p:spPr>
        <p:txBody>
          <a:bodyPr/>
          <a:lstStyle/>
          <a:p>
            <a:endParaRPr lang="en-CH"/>
          </a:p>
        </p:txBody>
      </p:sp>
      <p:sp>
        <p:nvSpPr>
          <p:cNvPr id="16" name="Text 13"/>
          <p:cNvSpPr/>
          <p:nvPr/>
        </p:nvSpPr>
        <p:spPr>
          <a:xfrm>
            <a:off x="117605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China   6.1%</a:t>
            </a:r>
            <a:endParaRPr lang="en-US" sz="1200" dirty="0"/>
          </a:p>
        </p:txBody>
      </p:sp>
      <p:sp>
        <p:nvSpPr>
          <p:cNvPr id="17" name="Text 14"/>
          <p:cNvSpPr/>
          <p:nvPr/>
        </p:nvSpPr>
        <p:spPr>
          <a:xfrm>
            <a:off x="388382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sector</a:t>
            </a:r>
          </a:p>
        </p:txBody>
      </p:sp>
      <p:graphicFrame>
        <p:nvGraphicFramePr>
          <p:cNvPr id="18" name="Chart 1"/>
          <p:cNvGraphicFramePr/>
          <p:nvPr>
            <p:extLst>
              <p:ext uri="{D42A27DB-BD31-4B8C-83A1-F6EECF244321}">
                <p14:modId xmlns:p14="http://schemas.microsoft.com/office/powerpoint/2010/main" val="375775482"/>
              </p:ext>
            </p:extLst>
          </p:nvPr>
        </p:nvGraphicFramePr>
        <p:xfrm>
          <a:off x="4386538" y="2787749"/>
          <a:ext cx="1919434" cy="1919434"/>
        </p:xfrm>
        <a:graphic>
          <a:graphicData uri="http://schemas.openxmlformats.org/drawingml/2006/chart">
            <c:chart xmlns:c="http://schemas.openxmlformats.org/drawingml/2006/chart" xmlns:r="http://schemas.openxmlformats.org/officeDocument/2006/relationships" r:id="rId4"/>
          </a:graphicData>
        </a:graphic>
      </p:graphicFrame>
      <p:sp>
        <p:nvSpPr>
          <p:cNvPr id="19" name="Shape 15"/>
          <p:cNvSpPr/>
          <p:nvPr/>
        </p:nvSpPr>
        <p:spPr>
          <a:xfrm>
            <a:off x="411233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20" name="Text 16"/>
          <p:cNvSpPr/>
          <p:nvPr/>
        </p:nvSpPr>
        <p:spPr>
          <a:xfrm>
            <a:off x="428599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Electronic Technology   27.9%</a:t>
            </a:r>
            <a:endParaRPr lang="en-US" sz="1200" dirty="0"/>
          </a:p>
        </p:txBody>
      </p:sp>
      <p:sp>
        <p:nvSpPr>
          <p:cNvPr id="21" name="Shape 17"/>
          <p:cNvSpPr/>
          <p:nvPr/>
        </p:nvSpPr>
        <p:spPr>
          <a:xfrm>
            <a:off x="411233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22" name="Text 18"/>
          <p:cNvSpPr/>
          <p:nvPr/>
        </p:nvSpPr>
        <p:spPr>
          <a:xfrm>
            <a:off x="428599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Multi-sector funds   24.5%</a:t>
            </a:r>
            <a:endParaRPr lang="en-US" sz="1200" dirty="0"/>
          </a:p>
        </p:txBody>
      </p:sp>
      <p:sp>
        <p:nvSpPr>
          <p:cNvPr id="23" name="Shape 19"/>
          <p:cNvSpPr/>
          <p:nvPr/>
        </p:nvSpPr>
        <p:spPr>
          <a:xfrm>
            <a:off x="411233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24" name="Text 20"/>
          <p:cNvSpPr/>
          <p:nvPr/>
        </p:nvSpPr>
        <p:spPr>
          <a:xfrm>
            <a:off x="428599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Finance   22.5%</a:t>
            </a:r>
            <a:endParaRPr lang="en-US" sz="1200" dirty="0"/>
          </a:p>
        </p:txBody>
      </p:sp>
      <p:sp>
        <p:nvSpPr>
          <p:cNvPr id="25" name="Shape 21"/>
          <p:cNvSpPr/>
          <p:nvPr/>
        </p:nvSpPr>
        <p:spPr>
          <a:xfrm>
            <a:off x="411233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26" name="Text 22"/>
          <p:cNvSpPr/>
          <p:nvPr/>
        </p:nvSpPr>
        <p:spPr>
          <a:xfrm>
            <a:off x="428599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Non-Energy Minerals   12.3%</a:t>
            </a:r>
            <a:endParaRPr lang="en-US" sz="1200" dirty="0"/>
          </a:p>
        </p:txBody>
      </p:sp>
      <p:sp>
        <p:nvSpPr>
          <p:cNvPr id="27" name="Shape 23"/>
          <p:cNvSpPr/>
          <p:nvPr/>
        </p:nvSpPr>
        <p:spPr>
          <a:xfrm>
            <a:off x="4112333" y="6242729"/>
            <a:ext cx="95972" cy="95972"/>
          </a:xfrm>
          <a:prstGeom prst="rect">
            <a:avLst/>
          </a:prstGeom>
          <a:solidFill>
            <a:srgbClr val="9BA3B4"/>
          </a:solidFill>
          <a:ln w="12700">
            <a:solidFill>
              <a:srgbClr val="9BA3B4"/>
            </a:solidFill>
            <a:prstDash val="solid"/>
          </a:ln>
        </p:spPr>
        <p:txBody>
          <a:bodyPr/>
          <a:lstStyle/>
          <a:p>
            <a:endParaRPr lang="en-CH"/>
          </a:p>
        </p:txBody>
      </p:sp>
      <p:sp>
        <p:nvSpPr>
          <p:cNvPr id="28" name="Text 24"/>
          <p:cNvSpPr/>
          <p:nvPr/>
        </p:nvSpPr>
        <p:spPr>
          <a:xfrm>
            <a:off x="428599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Other   12.9%</a:t>
            </a:r>
            <a:endParaRPr lang="en-US" sz="1200" dirty="0"/>
          </a:p>
        </p:txBody>
      </p:sp>
      <p:sp>
        <p:nvSpPr>
          <p:cNvPr id="29" name="Text 25"/>
          <p:cNvSpPr/>
          <p:nvPr/>
        </p:nvSpPr>
        <p:spPr>
          <a:xfrm>
            <a:off x="699376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market cap</a:t>
            </a:r>
          </a:p>
        </p:txBody>
      </p:sp>
      <p:graphicFrame>
        <p:nvGraphicFramePr>
          <p:cNvPr id="30" name="Chart 2"/>
          <p:cNvGraphicFramePr/>
          <p:nvPr>
            <p:extLst>
              <p:ext uri="{D42A27DB-BD31-4B8C-83A1-F6EECF244321}">
                <p14:modId xmlns:p14="http://schemas.microsoft.com/office/powerpoint/2010/main" val="2822922399"/>
              </p:ext>
            </p:extLst>
          </p:nvPr>
        </p:nvGraphicFramePr>
        <p:xfrm>
          <a:off x="7496478" y="2787749"/>
          <a:ext cx="1919434" cy="1919434"/>
        </p:xfrm>
        <a:graphic>
          <a:graphicData uri="http://schemas.openxmlformats.org/drawingml/2006/chart">
            <c:chart xmlns:c="http://schemas.openxmlformats.org/drawingml/2006/chart" xmlns:r="http://schemas.openxmlformats.org/officeDocument/2006/relationships" r:id="rId5"/>
          </a:graphicData>
        </a:graphic>
      </p:graphicFrame>
      <p:sp>
        <p:nvSpPr>
          <p:cNvPr id="31" name="Shape 26"/>
          <p:cNvSpPr/>
          <p:nvPr/>
        </p:nvSpPr>
        <p:spPr>
          <a:xfrm>
            <a:off x="722227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32" name="Text 27"/>
          <p:cNvSpPr/>
          <p:nvPr/>
        </p:nvSpPr>
        <p:spPr>
          <a:xfrm>
            <a:off x="739593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Large cap   88.5%</a:t>
            </a:r>
            <a:endParaRPr lang="en-US" sz="1200" dirty="0"/>
          </a:p>
        </p:txBody>
      </p:sp>
      <p:sp>
        <p:nvSpPr>
          <p:cNvPr id="33" name="Shape 28"/>
          <p:cNvSpPr/>
          <p:nvPr/>
        </p:nvSpPr>
        <p:spPr>
          <a:xfrm>
            <a:off x="722227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34" name="Text 29"/>
          <p:cNvSpPr/>
          <p:nvPr/>
        </p:nvSpPr>
        <p:spPr>
          <a:xfrm>
            <a:off x="739593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Mid cap   9.8%</a:t>
            </a:r>
            <a:endParaRPr lang="en-US" sz="1200" dirty="0"/>
          </a:p>
        </p:txBody>
      </p:sp>
      <p:sp>
        <p:nvSpPr>
          <p:cNvPr id="35" name="Shape 30"/>
          <p:cNvSpPr/>
          <p:nvPr/>
        </p:nvSpPr>
        <p:spPr>
          <a:xfrm>
            <a:off x="722227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36" name="Text 31"/>
          <p:cNvSpPr/>
          <p:nvPr/>
        </p:nvSpPr>
        <p:spPr>
          <a:xfrm>
            <a:off x="739593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Small cap   1.7%</a:t>
            </a:r>
            <a:endParaRPr lang="en-US" sz="1200" dirty="0"/>
          </a:p>
        </p:txBody>
      </p:sp>
      <p:sp>
        <p:nvSpPr>
          <p:cNvPr id="37" name="Text 32"/>
          <p:cNvSpPr/>
          <p:nvPr/>
        </p:nvSpPr>
        <p:spPr>
          <a:xfrm>
            <a:off x="671062" y="6964802"/>
            <a:ext cx="8774555" cy="228504"/>
          </a:xfrm>
          <a:prstGeom prst="rect">
            <a:avLst/>
          </a:prstGeom>
          <a:noFill/>
          <a:ln/>
        </p:spPr>
        <p:txBody>
          <a:bodyPr wrap="square" lIns="0" tIns="0" rIns="0" bIns="0" rtlCol="0" anchor="ctr"/>
          <a:lstStyle/>
          <a:p>
            <a:r>
              <a:rPr lang="en-US" sz="800" dirty="0">
                <a:solidFill>
                  <a:srgbClr val="A8B0BF"/>
                </a:solidFill>
                <a:latin typeface="Nunito" pitchFamily="34" charset="0"/>
                <a:ea typeface="Nunito" pitchFamily="34" charset="-122"/>
                <a:cs typeface="Nunito" pitchFamily="34" charset="-120"/>
              </a:rPr>
              <a:t>Sector, region and size classified at issuer level for direct holdings and at mandate level for funds, ETFs and the structured note; these fields are not in the client file. Percentages may not sum to 100 due to rounding.</a:t>
            </a:r>
            <a:endParaRPr lang="en-US" sz="800" dirty="0"/>
          </a:p>
        </p:txBody>
      </p:sp>
      <p:sp>
        <p:nvSpPr>
          <p:cNvPr id="38" name="Text 33"/>
          <p:cNvSpPr/>
          <p:nvPr/>
        </p:nvSpPr>
        <p:spPr>
          <a:xfrm>
            <a:off x="9601000" y="7129325"/>
            <a:ext cx="420447" cy="201084"/>
          </a:xfrm>
          <a:prstGeom prst="rect">
            <a:avLst/>
          </a:prstGeom>
          <a:noFill/>
          <a:ln/>
        </p:spPr>
        <p:txBody>
          <a:bodyPr wrap="square" lIns="0" tIns="0" rIns="0" bIns="0" rtlCol="0" anchor="ctr"/>
          <a:lstStyle/>
          <a:p>
            <a:pPr algn="r"/>
            <a:r>
              <a:rPr lang="en-US" sz="900" dirty="0">
                <a:solidFill>
                  <a:srgbClr val="A8B0BF"/>
                </a:solidFill>
                <a:latin typeface="Nunito" pitchFamily="34" charset="0"/>
                <a:ea typeface="Nunito" pitchFamily="34" charset="-122"/>
                <a:cs typeface="Nunito" pitchFamily="34" charset="-120"/>
              </a:rPr>
              <a:t>13</a:t>
            </a:r>
            <a:endParaRPr lang="en-US" sz="900" dirty="0"/>
          </a:p>
        </p:txBody>
      </p:sp>
      <p:sp>
        <p:nvSpPr>
          <p:cNvPr id="39" name="Text 34"/>
          <p:cNvSpPr/>
          <p:nvPr/>
        </p:nvSpPr>
        <p:spPr>
          <a:xfrm rot="5400000">
            <a:off x="8549881" y="3884568"/>
            <a:ext cx="3838868" cy="201084"/>
          </a:xfrm>
          <a:prstGeom prst="rect">
            <a:avLst/>
          </a:prstGeom>
          <a:noFill/>
          <a:ln/>
        </p:spPr>
        <p:txBody>
          <a:bodyPr wrap="square" lIns="0" tIns="0" rIns="0" bIns="0" rtlCol="0" anchor="ctr"/>
          <a:lstStyle/>
          <a:p>
            <a:pPr algn="ctr"/>
            <a:r>
              <a:rPr lang="en-US" sz="600" dirty="0">
                <a:solidFill>
                  <a:srgbClr val="D5D9E0"/>
                </a:solidFill>
                <a:latin typeface="Nunito" pitchFamily="34" charset="0"/>
                <a:ea typeface="Nunito" pitchFamily="34" charset="-122"/>
                <a:cs typeface="Nunito" pitchFamily="34" charset="-120"/>
              </a:rPr>
              <a:t>Please see important information at the end of the document</a:t>
            </a:r>
            <a:endParaRPr lang="en-US" sz="600" dirty="0"/>
          </a:p>
        </p:txBody>
      </p:sp>
      <p:sp>
        <p:nvSpPr>
          <p:cNvPr id="43" name="Oval 42">
            <a:extLst>
              <a:ext uri="{FF2B5EF4-FFF2-40B4-BE49-F238E27FC236}">
                <a16:creationId xmlns:a16="http://schemas.microsoft.com/office/drawing/2014/main" id="{BBB68E68-FD7A-7CDF-9099-7C3E5966482F}"/>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45" name="Graphic 44" descr="Open hand with plant outline">
            <a:extLst>
              <a:ext uri="{FF2B5EF4-FFF2-40B4-BE49-F238E27FC236}">
                <a16:creationId xmlns:a16="http://schemas.microsoft.com/office/drawing/2014/main" id="{591D9520-9B26-CF2D-AECB-A006BB5C65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04919" y="974519"/>
            <a:ext cx="463178" cy="46317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Alternatives: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p:cNvSpPr txBox="1"/>
          <p:nvPr/>
        </p:nvSpPr>
        <p:spPr>
          <a:xfrm>
            <a:off x="666000" y="2520000"/>
            <a:ext cx="4536000" cy="830997"/>
          </a:xfrm>
          <a:prstGeom prst="rect">
            <a:avLst/>
          </a:prstGeom>
          <a:noFill/>
        </p:spPr>
        <p:txBody>
          <a:bodyPr wrap="square" lIns="0" anchor="t">
            <a:spAutoFit/>
          </a:bodyPr>
          <a:lstStyle/>
          <a:p>
            <a:pPr algn="l">
              <a:spcAft>
                <a:spcPts val="800"/>
              </a:spcAft>
            </a:pPr>
            <a:r>
              <a:rPr lang="en-US" sz="1200" b="0" noProof="0" dirty="0">
                <a:solidFill>
                  <a:srgbClr val="202945"/>
                </a:solidFill>
                <a:latin typeface="Nunito Sans"/>
              </a:rPr>
              <a:t>Alternatives diversification: private markets (private equity, private credit, real assets), hedge funds and gold. These provide return streams less correlated with public markets, plus a hedge against inflation and drawdowns, at the cost of reduced liquidity.</a:t>
            </a:r>
          </a:p>
        </p:txBody>
      </p:sp>
      <p:sp>
        <p:nvSpPr>
          <p:cNvPr id="6" name="TextBox 5"/>
          <p:cNvSpPr txBox="1"/>
          <p:nvPr/>
        </p:nvSpPr>
        <p:spPr>
          <a:xfrm>
            <a:off x="666000" y="4500000"/>
            <a:ext cx="4536000" cy="307777"/>
          </a:xfrm>
          <a:prstGeom prst="rect">
            <a:avLst/>
          </a:prstGeom>
          <a:noFill/>
        </p:spPr>
        <p:txBody>
          <a:bodyPr wrap="square" anchor="t">
            <a:spAutoFit/>
          </a:bodyPr>
          <a:lstStyle/>
          <a:p>
            <a:pPr algn="l"/>
            <a:r>
              <a:rPr lang="en-US" sz="1400" b="1" noProof="0">
                <a:solidFill>
                  <a:srgbClr val="202945"/>
                </a:solidFill>
                <a:latin typeface="Nunito Sans ExtraBold"/>
              </a:rPr>
              <a:t>Largest holdings in this sleeve</a:t>
            </a:r>
          </a:p>
        </p:txBody>
      </p:sp>
      <p:graphicFrame>
        <p:nvGraphicFramePr>
          <p:cNvPr id="7" name="Table 6"/>
          <p:cNvGraphicFramePr>
            <a:graphicFrameLocks noGrp="1"/>
          </p:cNvGraphicFramePr>
          <p:nvPr>
            <p:extLst>
              <p:ext uri="{D42A27DB-BD31-4B8C-83A1-F6EECF244321}">
                <p14:modId xmlns:p14="http://schemas.microsoft.com/office/powerpoint/2010/main" val="1173087155"/>
              </p:ext>
            </p:extLst>
          </p:nvPr>
        </p:nvGraphicFramePr>
        <p:xfrm>
          <a:off x="666000" y="4860000"/>
          <a:ext cx="4535999" cy="583200"/>
        </p:xfrm>
        <a:graphic>
          <a:graphicData uri="http://schemas.openxmlformats.org/drawingml/2006/table">
            <a:tbl>
              <a:tblPr firstRow="1" bandRow="1">
                <a:tableStyleId>{5C22544A-7EE6-4342-B048-85BDC9FD1C3A}</a:tableStyleId>
              </a:tblPr>
              <a:tblGrid>
                <a:gridCol w="2664000">
                  <a:extLst>
                    <a:ext uri="{9D8B030D-6E8A-4147-A177-3AD203B41FA5}">
                      <a16:colId xmlns:a16="http://schemas.microsoft.com/office/drawing/2014/main" val="20000"/>
                    </a:ext>
                  </a:extLst>
                </a:gridCol>
                <a:gridCol w="1044000">
                  <a:extLst>
                    <a:ext uri="{9D8B030D-6E8A-4147-A177-3AD203B41FA5}">
                      <a16:colId xmlns:a16="http://schemas.microsoft.com/office/drawing/2014/main" val="20001"/>
                    </a:ext>
                  </a:extLst>
                </a:gridCol>
                <a:gridCol w="827999">
                  <a:extLst>
                    <a:ext uri="{9D8B030D-6E8A-4147-A177-3AD203B41FA5}">
                      <a16:colId xmlns:a16="http://schemas.microsoft.com/office/drawing/2014/main" val="20002"/>
                    </a:ext>
                  </a:extLst>
                </a:gridCol>
              </a:tblGrid>
              <a:tr h="324000">
                <a:tc>
                  <a:txBody>
                    <a:bodyPr/>
                    <a:lstStyle/>
                    <a:p>
                      <a:pPr algn="l"/>
                      <a:r>
                        <a:rPr lang="en-US" sz="1100" b="1" noProof="0">
                          <a:solidFill>
                            <a:srgbClr val="000000"/>
                          </a:solidFill>
                          <a:latin typeface="Nunito Sans"/>
                        </a:rPr>
                        <a:t>Holding</a:t>
                      </a:r>
                    </a:p>
                  </a:txBody>
                  <a:tcPr marL="54000" marR="54000" marT="18000" marB="18000" anchor="ctr">
                    <a:solidFill>
                      <a:srgbClr val="FFC545"/>
                    </a:solidFill>
                  </a:tcPr>
                </a:tc>
                <a:tc>
                  <a:txBody>
                    <a:bodyPr/>
                    <a:lstStyle/>
                    <a:p>
                      <a:pPr algn="r"/>
                      <a:r>
                        <a:rPr lang="en-US" sz="1100" b="1" noProof="0">
                          <a:solidFill>
                            <a:srgbClr val="000000"/>
                          </a:solidFill>
                          <a:latin typeface="Nunito Sans"/>
                        </a:rPr>
                        <a:t>Value</a:t>
                      </a:r>
                    </a:p>
                  </a:txBody>
                  <a:tcPr marL="54000" marR="54000" marT="18000" marB="18000" anchor="ctr">
                    <a:solidFill>
                      <a:srgbClr val="FFC545"/>
                    </a:solidFill>
                  </a:tcPr>
                </a:tc>
                <a:tc>
                  <a:txBody>
                    <a:bodyPr/>
                    <a:lstStyle/>
                    <a:p>
                      <a:pPr algn="r"/>
                      <a:r>
                        <a:rPr lang="en-US" sz="1100" b="1" noProof="0">
                          <a:solidFill>
                            <a:srgbClr val="000000"/>
                          </a:solidFill>
                          <a:latin typeface="Nunito Sans"/>
                        </a:rPr>
                        <a:t>Share</a:t>
                      </a:r>
                    </a:p>
                  </a:txBody>
                  <a:tcPr marL="54000" marR="54000" marT="18000" marB="18000" anchor="ctr">
                    <a:solidFill>
                      <a:srgbClr val="FFC545"/>
                    </a:solidFill>
                  </a:tcPr>
                </a:tc>
                <a:extLst>
                  <a:ext uri="{0D108BD9-81ED-4DB2-BD59-A6C34878D82A}">
                    <a16:rowId xmlns:a16="http://schemas.microsoft.com/office/drawing/2014/main" val="10000"/>
                  </a:ext>
                </a:extLst>
              </a:tr>
              <a:tr h="259200">
                <a:tc>
                  <a:txBody>
                    <a:bodyPr/>
                    <a:lstStyle/>
                    <a:p>
                      <a:pPr algn="l"/>
                      <a:r>
                        <a:rPr lang="en-US" sz="1000" b="0" noProof="0">
                          <a:solidFill>
                            <a:srgbClr val="202945"/>
                          </a:solidFill>
                          <a:latin typeface="Nunito Sans"/>
                        </a:rPr>
                        <a:t>Scarce Assets Certificate</a:t>
                      </a:r>
                    </a:p>
                  </a:txBody>
                  <a:tcPr marL="54000" marR="54000" marT="18000" marB="18000" anchor="ctr">
                    <a:solidFill>
                      <a:srgbClr val="FFFFFF"/>
                    </a:solidFill>
                  </a:tcPr>
                </a:tc>
                <a:tc>
                  <a:txBody>
                    <a:bodyPr/>
                    <a:lstStyle/>
                    <a:p>
                      <a:pPr algn="r"/>
                      <a:r>
                        <a:rPr lang="en-US" sz="1000" b="0" noProof="0">
                          <a:solidFill>
                            <a:srgbClr val="202945"/>
                          </a:solidFill>
                          <a:latin typeface="Nunito Sans"/>
                        </a:rPr>
                        <a:t>USD 553k</a:t>
                      </a:r>
                    </a:p>
                  </a:txBody>
                  <a:tcPr marL="54000" marR="54000" marT="18000" marB="18000" anchor="ctr">
                    <a:solidFill>
                      <a:srgbClr val="FFFFFF"/>
                    </a:solidFill>
                  </a:tcPr>
                </a:tc>
                <a:tc>
                  <a:txBody>
                    <a:bodyPr/>
                    <a:lstStyle/>
                    <a:p>
                      <a:pPr algn="r"/>
                      <a:r>
                        <a:rPr lang="en-US" sz="1000" b="0" noProof="0">
                          <a:solidFill>
                            <a:srgbClr val="202945"/>
                          </a:solidFill>
                          <a:latin typeface="Nunito Sans"/>
                        </a:rPr>
                        <a:t>100.0%</a:t>
                      </a:r>
                    </a:p>
                  </a:txBody>
                  <a:tcPr marL="54000" marR="54000" marT="18000" marB="18000" anchor="ctr">
                    <a:solidFill>
                      <a:srgbClr val="FFFFFF"/>
                    </a:solidFill>
                  </a:tcPr>
                </a:tc>
                <a:extLst>
                  <a:ext uri="{0D108BD9-81ED-4DB2-BD59-A6C34878D82A}">
                    <a16:rowId xmlns:a16="http://schemas.microsoft.com/office/drawing/2014/main" val="10001"/>
                  </a:ext>
                </a:extLst>
              </a:tr>
            </a:tbl>
          </a:graphicData>
        </a:graphic>
      </p:graphicFrame>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Alternatives across investment vehicles</a:t>
            </a:r>
          </a:p>
        </p:txBody>
      </p:sp>
      <p:sp>
        <p:nvSpPr>
          <p:cNvPr id="9" name="Rectangle 8"/>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aphicFrame>
        <p:nvGraphicFramePr>
          <p:cNvPr id="10" name="Chart 9"/>
          <p:cNvGraphicFramePr>
            <a:graphicFrameLocks noGrp="1"/>
          </p:cNvGraphicFramePr>
          <p:nvPr>
            <p:extLst>
              <p:ext uri="{D42A27DB-BD31-4B8C-83A1-F6EECF244321}">
                <p14:modId xmlns:p14="http://schemas.microsoft.com/office/powerpoint/2010/main" val="3380827213"/>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6266305" y="4274112"/>
            <a:ext cx="1212191" cy="307777"/>
          </a:xfrm>
          <a:prstGeom prst="rect">
            <a:avLst/>
          </a:prstGeom>
          <a:noFill/>
        </p:spPr>
        <p:txBody>
          <a:bodyPr wrap="none" anchor="ctr">
            <a:spAutoFit/>
          </a:bodyPr>
          <a:lstStyle/>
          <a:p>
            <a:pPr algn="ctr"/>
            <a:r>
              <a:rPr lang="en-US" sz="1400" b="1" noProof="0" dirty="0">
                <a:solidFill>
                  <a:srgbClr val="202945"/>
                </a:solidFill>
                <a:latin typeface="Nunito Sans"/>
              </a:rPr>
              <a:t>Alternatives</a:t>
            </a:r>
          </a:p>
        </p:txBody>
      </p:sp>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a:solidFill>
                  <a:srgbClr val="4B5F80"/>
                </a:solidFill>
                <a:latin typeface="Nunito Sans"/>
              </a:rPr>
              <a:t>⚠ 2 of 23 fixed-income line(s) report no modified duration; portfolio duration reflects the 85% of the sleeve that does.</a:t>
            </a:r>
          </a:p>
        </p:txBody>
      </p:sp>
      <p:pic>
        <p:nvPicPr>
          <p:cNvPr id="21" name="Graphic 20" descr="Presentation with org chart with solid fill">
            <a:extLst>
              <a:ext uri="{FF2B5EF4-FFF2-40B4-BE49-F238E27FC236}">
                <a16:creationId xmlns:a16="http://schemas.microsoft.com/office/drawing/2014/main" id="{FE7851E1-3AB3-2B0A-D447-C942B0C6D1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92820" y="987662"/>
            <a:ext cx="487376" cy="487376"/>
          </a:xfrm>
          <a:prstGeom prst="rect">
            <a:avLst/>
          </a:prstGeom>
        </p:spPr>
      </p:pic>
      <p:sp>
        <p:nvSpPr>
          <p:cNvPr id="13" name="Oval 12">
            <a:extLst>
              <a:ext uri="{FF2B5EF4-FFF2-40B4-BE49-F238E27FC236}">
                <a16:creationId xmlns:a16="http://schemas.microsoft.com/office/drawing/2014/main" id="{210A7196-A286-66F6-DADB-4B8030D461C7}"/>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spTree>
  </p:cSld>
  <p:clrMapOvr>
    <a:masterClrMapping/>
  </p:clrMapOvr>
  <p:transition/>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42A2-3AB7-A6EC-64D3-C20D1C4F6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D212D-6515-E3CF-946C-40B57C2DBFCF}"/>
              </a:ext>
            </a:extLst>
          </p:cNvPr>
          <p:cNvSpPr>
            <a:spLocks noGrp="1"/>
          </p:cNvSpPr>
          <p:nvPr>
            <p:ph type="title"/>
          </p:nvPr>
        </p:nvSpPr>
        <p:spPr/>
        <p:txBody>
          <a:bodyPr/>
          <a:lstStyle/>
          <a:p>
            <a:r>
              <a:rPr lang="en-US" dirty="0"/>
              <a:t>Commodities</a:t>
            </a:r>
            <a:endParaRPr lang="en-US" noProof="0" dirty="0"/>
          </a:p>
        </p:txBody>
      </p:sp>
      <p:sp>
        <p:nvSpPr>
          <p:cNvPr id="4" name="TextBox 3">
            <a:extLst>
              <a:ext uri="{FF2B5EF4-FFF2-40B4-BE49-F238E27FC236}">
                <a16:creationId xmlns:a16="http://schemas.microsoft.com/office/drawing/2014/main" id="{8A84E177-3ABC-03B6-CF76-D443215AF26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370BC6EB-1FF6-F80D-32FD-FA3E2A7E43B1}"/>
              </a:ext>
            </a:extLst>
          </p:cNvPr>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Commodities diversification: exposure across precious metals, energy, industrial metals and agriculture. The sleeve provides diversification against traditional asset classes and can offer protection against inflation and geopolitical shocks. Exposure is implemented through funds, ETFs/ETCs and structured products.</a:t>
            </a:r>
          </a:p>
        </p:txBody>
      </p:sp>
      <p:sp>
        <p:nvSpPr>
          <p:cNvPr id="6" name="TextBox 5">
            <a:extLst>
              <a:ext uri="{FF2B5EF4-FFF2-40B4-BE49-F238E27FC236}">
                <a16:creationId xmlns:a16="http://schemas.microsoft.com/office/drawing/2014/main" id="{970EA3A4-BF71-098C-4BFD-FAB1AEF1E9E3}"/>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graphicFrame>
        <p:nvGraphicFramePr>
          <p:cNvPr id="7" name="Table 6">
            <a:extLst>
              <a:ext uri="{FF2B5EF4-FFF2-40B4-BE49-F238E27FC236}">
                <a16:creationId xmlns:a16="http://schemas.microsoft.com/office/drawing/2014/main" id="{DDD24925-ED8F-0467-FB04-0616CB3D0627}"/>
              </a:ext>
            </a:extLst>
          </p:cNvPr>
          <p:cNvGraphicFramePr>
            <a:graphicFrameLocks noGrp="1"/>
          </p:cNvGraphicFramePr>
          <p:nvPr>
            <p:extLst>
              <p:ext uri="{D42A27DB-BD31-4B8C-83A1-F6EECF244321}">
                <p14:modId xmlns:p14="http://schemas.microsoft.com/office/powerpoint/2010/main" val="1335535978"/>
              </p:ext>
            </p:extLst>
          </p:nvPr>
        </p:nvGraphicFramePr>
        <p:xfrm>
          <a:off x="666000" y="4860000"/>
          <a:ext cx="4535999" cy="583200"/>
        </p:xfrm>
        <a:graphic>
          <a:graphicData uri="http://schemas.openxmlformats.org/drawingml/2006/table">
            <a:tbl>
              <a:tblPr firstRow="1" bandRow="1">
                <a:tableStyleId>{5C22544A-7EE6-4342-B048-85BDC9FD1C3A}</a:tableStyleId>
              </a:tblPr>
              <a:tblGrid>
                <a:gridCol w="2664000">
                  <a:extLst>
                    <a:ext uri="{9D8B030D-6E8A-4147-A177-3AD203B41FA5}">
                      <a16:colId xmlns:a16="http://schemas.microsoft.com/office/drawing/2014/main" val="20000"/>
                    </a:ext>
                  </a:extLst>
                </a:gridCol>
                <a:gridCol w="1044000">
                  <a:extLst>
                    <a:ext uri="{9D8B030D-6E8A-4147-A177-3AD203B41FA5}">
                      <a16:colId xmlns:a16="http://schemas.microsoft.com/office/drawing/2014/main" val="20001"/>
                    </a:ext>
                  </a:extLst>
                </a:gridCol>
                <a:gridCol w="827999">
                  <a:extLst>
                    <a:ext uri="{9D8B030D-6E8A-4147-A177-3AD203B41FA5}">
                      <a16:colId xmlns:a16="http://schemas.microsoft.com/office/drawing/2014/main" val="20002"/>
                    </a:ext>
                  </a:extLst>
                </a:gridCol>
              </a:tblGrid>
              <a:tr h="324000">
                <a:tc>
                  <a:txBody>
                    <a:bodyPr/>
                    <a:lstStyle/>
                    <a:p>
                      <a:pPr algn="l"/>
                      <a:r>
                        <a:rPr lang="en-US" sz="1100" b="1" noProof="0" dirty="0">
                          <a:solidFill>
                            <a:srgbClr val="000000"/>
                          </a:solidFill>
                          <a:latin typeface="Nunito Sans"/>
                        </a:rPr>
                        <a:t>Holding</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Share</a:t>
                      </a:r>
                    </a:p>
                  </a:txBody>
                  <a:tcPr marL="54000" marR="54000" marT="18000" marB="18000" anchor="ctr">
                    <a:solidFill>
                      <a:srgbClr val="FFC545"/>
                    </a:solidFill>
                  </a:tcPr>
                </a:tc>
                <a:extLst>
                  <a:ext uri="{0D108BD9-81ED-4DB2-BD59-A6C34878D82A}">
                    <a16:rowId xmlns:a16="http://schemas.microsoft.com/office/drawing/2014/main" val="10000"/>
                  </a:ext>
                </a:extLst>
              </a:tr>
              <a:tr h="259200">
                <a:tc>
                  <a:txBody>
                    <a:bodyPr/>
                    <a:lstStyle/>
                    <a:p>
                      <a:pPr algn="l"/>
                      <a:r>
                        <a:rPr lang="en-US" sz="1000" b="0" noProof="0" dirty="0">
                          <a:solidFill>
                            <a:srgbClr val="202945"/>
                          </a:solidFill>
                          <a:latin typeface="Nunito Sans"/>
                        </a:rPr>
                        <a:t>Gold</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553k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100.0%</a:t>
                      </a:r>
                    </a:p>
                  </a:txBody>
                  <a:tcPr marL="54000" marR="54000" marT="18000" marB="18000" anchor="ctr">
                    <a:solidFill>
                      <a:srgbClr val="FFFFFF"/>
                    </a:solidFill>
                  </a:tcP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3B530A2B-C246-EF91-E62E-2EFD14EBE1F3}"/>
              </a:ext>
            </a:extLst>
          </p:cNvPr>
          <p:cNvSpPr txBox="1"/>
          <p:nvPr/>
        </p:nvSpPr>
        <p:spPr>
          <a:xfrm>
            <a:off x="5418000" y="2160000"/>
            <a:ext cx="4608000" cy="307777"/>
          </a:xfrm>
          <a:prstGeom prst="rect">
            <a:avLst/>
          </a:prstGeom>
          <a:noFill/>
        </p:spPr>
        <p:txBody>
          <a:bodyPr wrap="square" anchor="t">
            <a:spAutoFit/>
          </a:bodyPr>
          <a:lstStyle/>
          <a:p>
            <a:pPr algn="l"/>
            <a:r>
              <a:rPr lang="en-US" sz="1400" b="1" dirty="0">
                <a:solidFill>
                  <a:srgbClr val="202945"/>
                </a:solidFill>
                <a:latin typeface="Nunito Sans ExtraBold"/>
              </a:rPr>
              <a:t>Commodities</a:t>
            </a:r>
            <a:r>
              <a:rPr lang="en-US" sz="1400" b="1" noProof="0" dirty="0">
                <a:solidFill>
                  <a:srgbClr val="202945"/>
                </a:solidFill>
                <a:latin typeface="Nunito Sans ExtraBold"/>
              </a:rPr>
              <a:t> across investment vehicles</a:t>
            </a:r>
          </a:p>
        </p:txBody>
      </p:sp>
      <p:sp>
        <p:nvSpPr>
          <p:cNvPr id="9" name="Rectangle 8">
            <a:extLst>
              <a:ext uri="{FF2B5EF4-FFF2-40B4-BE49-F238E27FC236}">
                <a16:creationId xmlns:a16="http://schemas.microsoft.com/office/drawing/2014/main" id="{AE5DDCCB-D619-8F86-8126-C18BF0F31E53}"/>
              </a:ext>
            </a:extLst>
          </p:cNvPr>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a:extLst>
              <a:ext uri="{FF2B5EF4-FFF2-40B4-BE49-F238E27FC236}">
                <a16:creationId xmlns:a16="http://schemas.microsoft.com/office/drawing/2014/main" id="{0B6EFED3-2474-7F8B-FB18-FA9C0CF749B7}"/>
              </a:ext>
            </a:extLst>
          </p:cNvPr>
          <p:cNvGraphicFramePr>
            <a:graphicFrameLocks noGrp="1"/>
          </p:cNvGraphicFramePr>
          <p:nvPr>
            <p:extLst>
              <p:ext uri="{D42A27DB-BD31-4B8C-83A1-F6EECF244321}">
                <p14:modId xmlns:p14="http://schemas.microsoft.com/office/powerpoint/2010/main" val="200598910"/>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B6197356-199E-D26C-624C-421380FA41E7}"/>
              </a:ext>
            </a:extLst>
          </p:cNvPr>
          <p:cNvSpPr txBox="1"/>
          <p:nvPr/>
        </p:nvSpPr>
        <p:spPr>
          <a:xfrm>
            <a:off x="6230235" y="4274112"/>
            <a:ext cx="1284327" cy="307777"/>
          </a:xfrm>
          <a:prstGeom prst="rect">
            <a:avLst/>
          </a:prstGeom>
          <a:noFill/>
        </p:spPr>
        <p:txBody>
          <a:bodyPr wrap="none" anchor="ctr">
            <a:spAutoFit/>
          </a:bodyPr>
          <a:lstStyle/>
          <a:p>
            <a:pPr algn="ctr"/>
            <a:r>
              <a:rPr lang="en-US" sz="1400" b="1">
                <a:solidFill>
                  <a:srgbClr val="202945"/>
                </a:solidFill>
                <a:latin typeface="Nunito Sans"/>
              </a:rPr>
              <a:t>Commodities</a:t>
            </a:r>
            <a:endParaRPr lang="en-US" sz="1400" b="1" noProof="0">
              <a:solidFill>
                <a:srgbClr val="202945"/>
              </a:solidFill>
              <a:latin typeface="Nunito Sans"/>
            </a:endParaRPr>
          </a:p>
        </p:txBody>
      </p:sp>
      <p:sp>
        <p:nvSpPr>
          <p:cNvPr id="12" name="TextBox 11">
            <a:extLst>
              <a:ext uri="{FF2B5EF4-FFF2-40B4-BE49-F238E27FC236}">
                <a16:creationId xmlns:a16="http://schemas.microsoft.com/office/drawing/2014/main" id="{5400323E-D157-9B67-3FD1-8F2AF89255DA}"/>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sp>
        <p:nvSpPr>
          <p:cNvPr id="15" name="Oval 14">
            <a:extLst>
              <a:ext uri="{FF2B5EF4-FFF2-40B4-BE49-F238E27FC236}">
                <a16:creationId xmlns:a16="http://schemas.microsoft.com/office/drawing/2014/main" id="{2C75044D-5608-0F82-F93D-A60BABFB91D1}"/>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9" name="Graphic 18" descr="Gold bars with solid fill">
            <a:extLst>
              <a:ext uri="{FF2B5EF4-FFF2-40B4-BE49-F238E27FC236}">
                <a16:creationId xmlns:a16="http://schemas.microsoft.com/office/drawing/2014/main" id="{36BE5BCB-655C-27C4-7FEC-BA6F6B491E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00707" y="935038"/>
            <a:ext cx="471601" cy="471601"/>
          </a:xfrm>
          <a:prstGeom prst="rect">
            <a:avLst/>
          </a:prstGeom>
        </p:spPr>
      </p:pic>
    </p:spTree>
    <p:extLst>
      <p:ext uri="{BB962C8B-B14F-4D97-AF65-F5344CB8AC3E}">
        <p14:creationId xmlns:p14="http://schemas.microsoft.com/office/powerpoint/2010/main" val="317599344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328F8-53F6-CED6-31E0-2DCEDFB9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C1EE4-2B5C-1D4C-4153-67DF338667A9}"/>
              </a:ext>
            </a:extLst>
          </p:cNvPr>
          <p:cNvSpPr>
            <a:spLocks noGrp="1"/>
          </p:cNvSpPr>
          <p:nvPr>
            <p:ph type="title"/>
          </p:nvPr>
        </p:nvSpPr>
        <p:spPr/>
        <p:txBody>
          <a:bodyPr/>
          <a:lstStyle/>
          <a:p>
            <a:r>
              <a:rPr lang="en-US" noProof="0" dirty="0"/>
              <a:t>Structured products</a:t>
            </a:r>
          </a:p>
        </p:txBody>
      </p:sp>
      <p:sp>
        <p:nvSpPr>
          <p:cNvPr id="4" name="TextBox 3">
            <a:extLst>
              <a:ext uri="{FF2B5EF4-FFF2-40B4-BE49-F238E27FC236}">
                <a16:creationId xmlns:a16="http://schemas.microsoft.com/office/drawing/2014/main" id="{9D19CC08-E71F-318C-3DD8-8F8F59AC2B3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9A95A346-C89D-DDED-D961-239FF26C8C6C}"/>
              </a:ext>
            </a:extLst>
          </p:cNvPr>
          <p:cNvSpPr txBox="1"/>
          <p:nvPr/>
        </p:nvSpPr>
        <p:spPr>
          <a:xfrm>
            <a:off x="666000" y="2520000"/>
            <a:ext cx="4536000" cy="1384995"/>
          </a:xfrm>
          <a:prstGeom prst="rect">
            <a:avLst/>
          </a:prstGeom>
          <a:noFill/>
        </p:spPr>
        <p:txBody>
          <a:bodyPr wrap="square" lIns="0" anchor="t">
            <a:spAutoFit/>
          </a:bodyPr>
          <a:lstStyle/>
          <a:p>
            <a:pPr>
              <a:spcAft>
                <a:spcPts val="800"/>
              </a:spcAft>
            </a:pPr>
            <a:r>
              <a:rPr lang="en-CH" sz="1200" b="1" dirty="0">
                <a:solidFill>
                  <a:schemeClr val="tx2"/>
                </a:solidFill>
              </a:rPr>
              <a:t>Structured Products diversification:</a:t>
            </a:r>
            <a:r>
              <a:rPr lang="en-CH" sz="1200" dirty="0">
                <a:solidFill>
                  <a:schemeClr val="tx2"/>
                </a:solidFill>
              </a:rPr>
              <a:t> a combination of yield-enhancement, participation and capital-protection strategies across equities, rates, credit and other underlying assets. Products are selected according to their payoff profile, maturity and risk characteristics, with the objective of enhancing portfolio income, accessing targeted market exposures and improving downside protection.</a:t>
            </a:r>
            <a:endParaRPr lang="en-US" sz="1200" b="0" noProof="0" dirty="0">
              <a:solidFill>
                <a:schemeClr val="tx2"/>
              </a:solidFill>
              <a:latin typeface="Nunito Sans"/>
            </a:endParaRPr>
          </a:p>
        </p:txBody>
      </p:sp>
      <p:sp>
        <p:nvSpPr>
          <p:cNvPr id="6" name="TextBox 5">
            <a:extLst>
              <a:ext uri="{FF2B5EF4-FFF2-40B4-BE49-F238E27FC236}">
                <a16:creationId xmlns:a16="http://schemas.microsoft.com/office/drawing/2014/main" id="{70DEAEC7-0D51-F0ED-BA01-134A4389238F}"/>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graphicFrame>
        <p:nvGraphicFramePr>
          <p:cNvPr id="7" name="Table 6">
            <a:extLst>
              <a:ext uri="{FF2B5EF4-FFF2-40B4-BE49-F238E27FC236}">
                <a16:creationId xmlns:a16="http://schemas.microsoft.com/office/drawing/2014/main" id="{956DA3F0-A6EF-EAF5-053D-5FB94FD96D73}"/>
              </a:ext>
            </a:extLst>
          </p:cNvPr>
          <p:cNvGraphicFramePr>
            <a:graphicFrameLocks noGrp="1"/>
          </p:cNvGraphicFramePr>
          <p:nvPr>
            <p:extLst>
              <p:ext uri="{D42A27DB-BD31-4B8C-83A1-F6EECF244321}">
                <p14:modId xmlns:p14="http://schemas.microsoft.com/office/powerpoint/2010/main" val="1397773650"/>
              </p:ext>
            </p:extLst>
          </p:nvPr>
        </p:nvGraphicFramePr>
        <p:xfrm>
          <a:off x="666000" y="4860000"/>
          <a:ext cx="9341634" cy="583200"/>
        </p:xfrm>
        <a:graphic>
          <a:graphicData uri="http://schemas.openxmlformats.org/drawingml/2006/table">
            <a:tbl>
              <a:tblPr firstRow="1" bandRow="1">
                <a:tableStyleId>{5C22544A-7EE6-4342-B048-85BDC9FD1C3A}</a:tableStyleId>
              </a:tblPr>
              <a:tblGrid>
                <a:gridCol w="3060873">
                  <a:extLst>
                    <a:ext uri="{9D8B030D-6E8A-4147-A177-3AD203B41FA5}">
                      <a16:colId xmlns:a16="http://schemas.microsoft.com/office/drawing/2014/main" val="20000"/>
                    </a:ext>
                  </a:extLst>
                </a:gridCol>
                <a:gridCol w="2445327">
                  <a:extLst>
                    <a:ext uri="{9D8B030D-6E8A-4147-A177-3AD203B41FA5}">
                      <a16:colId xmlns:a16="http://schemas.microsoft.com/office/drawing/2014/main" val="20001"/>
                    </a:ext>
                  </a:extLst>
                </a:gridCol>
                <a:gridCol w="3835434">
                  <a:extLst>
                    <a:ext uri="{9D8B030D-6E8A-4147-A177-3AD203B41FA5}">
                      <a16:colId xmlns:a16="http://schemas.microsoft.com/office/drawing/2014/main" val="20002"/>
                    </a:ext>
                  </a:extLst>
                </a:gridCol>
              </a:tblGrid>
              <a:tr h="324000">
                <a:tc>
                  <a:txBody>
                    <a:bodyPr/>
                    <a:lstStyle/>
                    <a:p>
                      <a:pPr algn="l"/>
                      <a:r>
                        <a:rPr lang="en-US" sz="1100" b="1" noProof="0" dirty="0">
                          <a:solidFill>
                            <a:srgbClr val="000000"/>
                          </a:solidFill>
                          <a:latin typeface="Nunito Sans"/>
                        </a:rPr>
                        <a:t>Holding</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100" b="1" noProof="0" dirty="0">
                          <a:solidFill>
                            <a:srgbClr val="000000"/>
                          </a:solidFill>
                          <a:latin typeface="Nunito Sans"/>
                        </a:rPr>
                        <a:t>Share</a:t>
                      </a:r>
                    </a:p>
                  </a:txBody>
                  <a:tcPr marL="54000" marR="54000" marT="18000" marB="18000" anchor="ctr">
                    <a:solidFill>
                      <a:srgbClr val="FFC545"/>
                    </a:solidFill>
                  </a:tcPr>
                </a:tc>
                <a:extLst>
                  <a:ext uri="{0D108BD9-81ED-4DB2-BD59-A6C34878D82A}">
                    <a16:rowId xmlns:a16="http://schemas.microsoft.com/office/drawing/2014/main" val="10000"/>
                  </a:ext>
                </a:extLst>
              </a:tr>
              <a:tr h="259200">
                <a:tc>
                  <a:txBody>
                    <a:bodyPr/>
                    <a:lstStyle/>
                    <a:p>
                      <a:pPr algn="l"/>
                      <a:r>
                        <a:rPr lang="en-US" sz="1000" b="0" noProof="0" dirty="0">
                          <a:solidFill>
                            <a:srgbClr val="202945"/>
                          </a:solidFill>
                          <a:latin typeface="+mn-lt"/>
                        </a:rPr>
                        <a:t>8% DCI-XAGUSD-48.206 UBS  24.08.2026</a:t>
                      </a:r>
                      <a:endParaRPr lang="en-US" sz="1000" b="0" noProof="0" dirty="0">
                        <a:solidFill>
                          <a:srgbClr val="202945"/>
                        </a:solidFill>
                        <a:latin typeface="Nunito Sans"/>
                      </a:endParaRP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USD 553k</a:t>
                      </a:r>
                    </a:p>
                  </a:txBody>
                  <a:tcPr marL="54000" marR="54000" marT="18000" marB="18000" anchor="ctr">
                    <a:solidFill>
                      <a:srgbClr val="FFFFFF"/>
                    </a:solidFill>
                  </a:tcPr>
                </a:tc>
                <a:tc>
                  <a:txBody>
                    <a:bodyPr/>
                    <a:lstStyle/>
                    <a:p>
                      <a:pPr algn="r"/>
                      <a:r>
                        <a:rPr lang="en-US" sz="1000" b="0" noProof="0" dirty="0">
                          <a:solidFill>
                            <a:srgbClr val="202945"/>
                          </a:solidFill>
                          <a:latin typeface="Nunito Sans"/>
                        </a:rPr>
                        <a:t>100.0%</a:t>
                      </a:r>
                    </a:p>
                  </a:txBody>
                  <a:tcPr marL="54000" marR="54000" marT="18000" marB="18000" anchor="ctr">
                    <a:solidFill>
                      <a:srgbClr val="FFFFFF"/>
                    </a:solidFill>
                  </a:tcPr>
                </a:tc>
                <a:extLst>
                  <a:ext uri="{0D108BD9-81ED-4DB2-BD59-A6C34878D82A}">
                    <a16:rowId xmlns:a16="http://schemas.microsoft.com/office/drawing/2014/main" val="10001"/>
                  </a:ext>
                </a:extLst>
              </a:tr>
            </a:tbl>
          </a:graphicData>
        </a:graphic>
      </p:graphicFrame>
      <p:sp>
        <p:nvSpPr>
          <p:cNvPr id="12" name="TextBox 11">
            <a:extLst>
              <a:ext uri="{FF2B5EF4-FFF2-40B4-BE49-F238E27FC236}">
                <a16:creationId xmlns:a16="http://schemas.microsoft.com/office/drawing/2014/main" id="{07F7F316-F978-B8E5-4576-FF25BA97CCAE}"/>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sp>
        <p:nvSpPr>
          <p:cNvPr id="15" name="Oval 14">
            <a:extLst>
              <a:ext uri="{FF2B5EF4-FFF2-40B4-BE49-F238E27FC236}">
                <a16:creationId xmlns:a16="http://schemas.microsoft.com/office/drawing/2014/main" id="{C36BE8EF-C3A9-41DA-70ED-B995D3E8659C}"/>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3" name="Graphic 12" descr="Puzzle pieces outline">
            <a:extLst>
              <a:ext uri="{FF2B5EF4-FFF2-40B4-BE49-F238E27FC236}">
                <a16:creationId xmlns:a16="http://schemas.microsoft.com/office/drawing/2014/main" id="{8727BBD6-F712-BA1C-53D0-52D8820FD0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07635" y="941965"/>
            <a:ext cx="471600" cy="471600"/>
          </a:xfrm>
          <a:prstGeom prst="rect">
            <a:avLst/>
          </a:prstGeom>
        </p:spPr>
      </p:pic>
    </p:spTree>
    <p:extLst>
      <p:ext uri="{BB962C8B-B14F-4D97-AF65-F5344CB8AC3E}">
        <p14:creationId xmlns:p14="http://schemas.microsoft.com/office/powerpoint/2010/main" val="179268092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Liquidity profile</a:t>
            </a:r>
          </a:p>
        </p:txBody>
      </p:sp>
      <p:sp>
        <p:nvSpPr>
          <p:cNvPr id="3" name="Text Placeholder 2"/>
          <p:cNvSpPr>
            <a:spLocks noGrp="1"/>
          </p:cNvSpPr>
          <p:nvPr>
            <p:ph type="body" sz="quarter" idx="14"/>
          </p:nvPr>
        </p:nvSpPr>
        <p:spPr>
          <a:xfrm>
            <a:off x="665163" y="1652013"/>
            <a:ext cx="9398001" cy="251511"/>
          </a:xfrm>
        </p:spPr>
        <p:txBody>
          <a:bodyPr/>
          <a:lstStyle/>
          <a:p>
            <a:r>
              <a:rPr lang="en-US" sz="1500" noProof="0" dirty="0"/>
              <a:t>Share of the book </a:t>
            </a:r>
            <a:r>
              <a:rPr lang="en-US" sz="1500" dirty="0"/>
              <a:t>across </a:t>
            </a:r>
            <a:r>
              <a:rPr lang="en-US" sz="1500" noProof="0" dirty="0"/>
              <a:t>daily, fund and locked-up horizons.</a:t>
            </a:r>
          </a:p>
        </p:txBody>
      </p:sp>
      <p:sp>
        <p:nvSpPr>
          <p:cNvPr id="4" name="TextBox 3"/>
          <p:cNvSpPr txBox="1"/>
          <p:nvPr/>
        </p:nvSpPr>
        <p:spPr>
          <a:xfrm>
            <a:off x="666000" y="2340000"/>
            <a:ext cx="489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By liquidity horizon</a:t>
            </a:r>
          </a:p>
        </p:txBody>
      </p:sp>
      <p:sp>
        <p:nvSpPr>
          <p:cNvPr id="5" name="Rectangle 4"/>
          <p:cNvSpPr/>
          <p:nvPr/>
        </p:nvSpPr>
        <p:spPr>
          <a:xfrm>
            <a:off x="666000" y="2700000"/>
            <a:ext cx="4896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3189709188"/>
              </p:ext>
            </p:extLst>
          </p:nvPr>
        </p:nvGraphicFramePr>
        <p:xfrm>
          <a:off x="846000" y="2880000"/>
          <a:ext cx="4536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1752989" y="4418112"/>
            <a:ext cx="907621" cy="307777"/>
          </a:xfrm>
          <a:prstGeom prst="rect">
            <a:avLst/>
          </a:prstGeom>
          <a:noFill/>
        </p:spPr>
        <p:txBody>
          <a:bodyPr wrap="none" anchor="ctr">
            <a:spAutoFit/>
          </a:bodyPr>
          <a:lstStyle/>
          <a:p>
            <a:pPr algn="ctr"/>
            <a:r>
              <a:rPr lang="en-US" sz="1400" b="1" noProof="0" dirty="0">
                <a:solidFill>
                  <a:srgbClr val="202945"/>
                </a:solidFill>
                <a:latin typeface="Nunito Sans"/>
              </a:rPr>
              <a:t>Liquidity</a:t>
            </a:r>
          </a:p>
        </p:txBody>
      </p:sp>
      <p:sp>
        <p:nvSpPr>
          <p:cNvPr id="8" name="TextBox 7"/>
          <p:cNvSpPr txBox="1"/>
          <p:nvPr/>
        </p:nvSpPr>
        <p:spPr>
          <a:xfrm>
            <a:off x="5832000" y="2340000"/>
            <a:ext cx="4176000" cy="307777"/>
          </a:xfrm>
          <a:prstGeom prst="rect">
            <a:avLst/>
          </a:prstGeom>
          <a:noFill/>
        </p:spPr>
        <p:txBody>
          <a:bodyPr wrap="square" anchor="t">
            <a:spAutoFit/>
          </a:bodyPr>
          <a:lstStyle/>
          <a:p>
            <a:pPr algn="l"/>
            <a:r>
              <a:rPr lang="en-US" sz="1400" b="1" noProof="0" dirty="0">
                <a:solidFill>
                  <a:srgbClr val="202945"/>
                </a:solidFill>
                <a:latin typeface="Nunito Sans ExtraBold"/>
              </a:rPr>
              <a:t>Key takeaway</a:t>
            </a:r>
          </a:p>
        </p:txBody>
      </p:sp>
      <p:sp>
        <p:nvSpPr>
          <p:cNvPr id="9" name="TextBox 8"/>
          <p:cNvSpPr txBox="1"/>
          <p:nvPr/>
        </p:nvSpPr>
        <p:spPr>
          <a:xfrm>
            <a:off x="5832000" y="2988000"/>
            <a:ext cx="4176000" cy="1590179"/>
          </a:xfrm>
          <a:prstGeom prst="rect">
            <a:avLst/>
          </a:prstGeom>
          <a:noFill/>
        </p:spPr>
        <p:txBody>
          <a:bodyPr wrap="square" anchor="t">
            <a:spAutoFit/>
          </a:bodyPr>
          <a:lstStyle/>
          <a:p>
            <a:pPr algn="l">
              <a:spcAft>
                <a:spcPts val="800"/>
              </a:spcAft>
            </a:pPr>
            <a:r>
              <a:rPr lang="en-US" sz="1200" b="0" noProof="0" dirty="0">
                <a:solidFill>
                  <a:srgbClr val="202945"/>
                </a:solidFill>
                <a:latin typeface="Nunito Sans"/>
              </a:rPr>
              <a:t>About 13.4% of the portfolio sits in private, hedge-fund and lock-up vehicles with redemption gates and notice periods.</a:t>
            </a:r>
          </a:p>
          <a:p>
            <a:pPr>
              <a:spcAft>
                <a:spcPts val="800"/>
              </a:spcAft>
            </a:pPr>
            <a:endParaRPr lang="en-US" sz="1200" b="0" noProof="0" dirty="0">
              <a:solidFill>
                <a:srgbClr val="202945"/>
              </a:solidFill>
              <a:latin typeface="Nunito Sans"/>
            </a:endParaRPr>
          </a:p>
          <a:p>
            <a:pPr>
              <a:spcAft>
                <a:spcPts val="800"/>
              </a:spcAft>
            </a:pPr>
            <a:r>
              <a:rPr lang="en-US" sz="1200" b="0" noProof="0" dirty="0">
                <a:solidFill>
                  <a:srgbClr val="202945"/>
                </a:solidFill>
                <a:latin typeface="Nunito Sans"/>
              </a:rPr>
              <a:t>Liquidity events should be planned around these constraints; the daily-liquid sleeve covers near-term needs.</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Concentration &amp; top holdings</a:t>
            </a:r>
          </a:p>
        </p:txBody>
      </p:sp>
      <p:sp>
        <p:nvSpPr>
          <p:cNvPr id="3" name="Text Placeholder 2"/>
          <p:cNvSpPr>
            <a:spLocks noGrp="1"/>
          </p:cNvSpPr>
          <p:nvPr>
            <p:ph type="body" sz="quarter" idx="14"/>
          </p:nvPr>
        </p:nvSpPr>
        <p:spPr>
          <a:xfrm>
            <a:off x="665163" y="1652018"/>
            <a:ext cx="9398001" cy="251511"/>
          </a:xfrm>
        </p:spPr>
        <p:txBody>
          <a:bodyPr/>
          <a:lstStyle/>
          <a:p>
            <a:r>
              <a:rPr lang="en-US" sz="1400" noProof="0" dirty="0"/>
              <a:t>Largest positions and cumulative concentration.</a:t>
            </a:r>
          </a:p>
        </p:txBody>
      </p:sp>
      <p:graphicFrame>
        <p:nvGraphicFramePr>
          <p:cNvPr id="4" name="Table 3"/>
          <p:cNvGraphicFramePr>
            <a:graphicFrameLocks noGrp="1"/>
          </p:cNvGraphicFramePr>
          <p:nvPr>
            <p:custDataLst>
              <p:tags r:id="rId1"/>
            </p:custDataLst>
            <p:extLst>
              <p:ext uri="{D42A27DB-BD31-4B8C-83A1-F6EECF244321}">
                <p14:modId xmlns:p14="http://schemas.microsoft.com/office/powerpoint/2010/main" val="3795562213"/>
              </p:ext>
            </p:extLst>
          </p:nvPr>
        </p:nvGraphicFramePr>
        <p:xfrm>
          <a:off x="666000" y="2520000"/>
          <a:ext cx="6119997" cy="3240000"/>
        </p:xfrm>
        <a:graphic>
          <a:graphicData uri="http://schemas.openxmlformats.org/drawingml/2006/table">
            <a:tbl>
              <a:tblPr firstRow="1" bandRow="1">
                <a:tableStyleId>{5C22544A-7EE6-4342-B048-85BDC9FD1C3A}</a:tableStyleId>
              </a:tblPr>
              <a:tblGrid>
                <a:gridCol w="470769">
                  <a:extLst>
                    <a:ext uri="{9D8B030D-6E8A-4147-A177-3AD203B41FA5}">
                      <a16:colId xmlns:a16="http://schemas.microsoft.com/office/drawing/2014/main" val="20000"/>
                    </a:ext>
                  </a:extLst>
                </a:gridCol>
                <a:gridCol w="3026373">
                  <a:extLst>
                    <a:ext uri="{9D8B030D-6E8A-4147-A177-3AD203B41FA5}">
                      <a16:colId xmlns:a16="http://schemas.microsoft.com/office/drawing/2014/main" val="20001"/>
                    </a:ext>
                  </a:extLst>
                </a:gridCol>
                <a:gridCol w="1008791">
                  <a:extLst>
                    <a:ext uri="{9D8B030D-6E8A-4147-A177-3AD203B41FA5}">
                      <a16:colId xmlns:a16="http://schemas.microsoft.com/office/drawing/2014/main" val="20002"/>
                    </a:ext>
                  </a:extLst>
                </a:gridCol>
                <a:gridCol w="807032">
                  <a:extLst>
                    <a:ext uri="{9D8B030D-6E8A-4147-A177-3AD203B41FA5}">
                      <a16:colId xmlns:a16="http://schemas.microsoft.com/office/drawing/2014/main" val="20003"/>
                    </a:ext>
                  </a:extLst>
                </a:gridCol>
                <a:gridCol w="807032">
                  <a:extLst>
                    <a:ext uri="{9D8B030D-6E8A-4147-A177-3AD203B41FA5}">
                      <a16:colId xmlns:a16="http://schemas.microsoft.com/office/drawing/2014/main" val="20004"/>
                    </a:ext>
                  </a:extLst>
                </a:gridCol>
              </a:tblGrid>
              <a:tr h="360000">
                <a:tc>
                  <a:txBody>
                    <a:bodyPr/>
                    <a:lstStyle/>
                    <a:p>
                      <a:pPr algn="ctr"/>
                      <a:r>
                        <a:rPr lang="en-US" sz="1200" b="1" noProof="0" dirty="0">
                          <a:solidFill>
                            <a:srgbClr val="000000"/>
                          </a:solidFill>
                          <a:latin typeface="Nunito Sans"/>
                        </a:rPr>
                        <a:t>#</a:t>
                      </a:r>
                    </a:p>
                  </a:txBody>
                  <a:tcPr marL="54000" marR="54000" marT="18000" marB="18000" anchor="ctr">
                    <a:solidFill>
                      <a:srgbClr val="FFC545"/>
                    </a:solidFill>
                  </a:tcPr>
                </a:tc>
                <a:tc>
                  <a:txBody>
                    <a:bodyPr/>
                    <a:lstStyle/>
                    <a:p>
                      <a:pPr algn="l"/>
                      <a:r>
                        <a:rPr lang="en-US" sz="1200" b="1" noProof="0" dirty="0">
                          <a:solidFill>
                            <a:srgbClr val="000000"/>
                          </a:solidFill>
                          <a:latin typeface="Nunito Sans"/>
                        </a:rPr>
                        <a:t>Holding</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Weight</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Cum.</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a:lstStyle/>
                    <a:p>
                      <a:pPr algn="ctr"/>
                      <a:r>
                        <a:rPr lang="en-US" sz="1100" b="0" noProof="0" dirty="0">
                          <a:solidFill>
                            <a:srgbClr val="202945"/>
                          </a:solidFill>
                          <a:latin typeface="Nunito Sans"/>
                        </a:rPr>
                        <a:t>1</a:t>
                      </a:r>
                    </a:p>
                  </a:txBody>
                  <a:tcPr marL="54000" marR="54000" marT="18000" marB="18000" anchor="ctr">
                    <a:solidFill>
                      <a:srgbClr val="FFFFFF"/>
                    </a:solidFill>
                  </a:tcPr>
                </a:tc>
                <a:tc>
                  <a:txBody>
                    <a:bodyPr/>
                    <a:lstStyle/>
                    <a:p>
                      <a:pPr algn="l"/>
                      <a:r>
                        <a:rPr lang="en-US" sz="1100" b="0" noProof="0" dirty="0">
                          <a:solidFill>
                            <a:srgbClr val="202945"/>
                          </a:solidFill>
                          <a:latin typeface="Nunito Sans"/>
                        </a:rPr>
                        <a:t>Scarce Assets Certificate</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553,000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7.9%</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7.9%</a:t>
                      </a:r>
                    </a:p>
                  </a:txBody>
                  <a:tcPr marL="54000" marR="54000" marT="18000" marB="18000" anchor="ctr">
                    <a:solidFill>
                      <a:srgbClr val="FFFFFF"/>
                    </a:solidFill>
                  </a:tcPr>
                </a:tc>
                <a:extLst>
                  <a:ext uri="{0D108BD9-81ED-4DB2-BD59-A6C34878D82A}">
                    <a16:rowId xmlns:a16="http://schemas.microsoft.com/office/drawing/2014/main" val="10001"/>
                  </a:ext>
                </a:extLst>
              </a:tr>
              <a:tr h="288000">
                <a:tc>
                  <a:txBody>
                    <a:bodyPr/>
                    <a:lstStyle/>
                    <a:p>
                      <a:pPr algn="ctr"/>
                      <a:r>
                        <a:rPr lang="en-US" sz="1100" b="0" noProof="0" dirty="0">
                          <a:solidFill>
                            <a:srgbClr val="202945"/>
                          </a:solidFill>
                          <a:latin typeface="Nunito Sans"/>
                        </a:rPr>
                        <a:t>2</a:t>
                      </a:r>
                    </a:p>
                  </a:txBody>
                  <a:tcPr marL="54000" marR="54000" marT="18000" marB="18000" anchor="ctr">
                    <a:solidFill>
                      <a:srgbClr val="F5F6F8"/>
                    </a:solidFill>
                  </a:tcPr>
                </a:tc>
                <a:tc>
                  <a:txBody>
                    <a:bodyPr/>
                    <a:lstStyle/>
                    <a:p>
                      <a:pPr algn="l"/>
                      <a:r>
                        <a:rPr lang="en-US" sz="1100" b="0" noProof="0" dirty="0" err="1">
                          <a:solidFill>
                            <a:srgbClr val="202945"/>
                          </a:solidFill>
                          <a:latin typeface="+mn-lt"/>
                        </a:rPr>
                        <a:t>Syz</a:t>
                      </a:r>
                      <a:r>
                        <a:rPr lang="en-US" sz="1100" b="0" noProof="0" dirty="0">
                          <a:solidFill>
                            <a:srgbClr val="202945"/>
                          </a:solidFill>
                          <a:latin typeface="+mn-lt"/>
                        </a:rPr>
                        <a:t> Emerging Market Corporate Bond Cert</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384,286</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5.5%</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13.4%</a:t>
                      </a:r>
                    </a:p>
                  </a:txBody>
                  <a:tcPr marL="54000" marR="54000" marT="18000" marB="18000" anchor="ctr">
                    <a:solidFill>
                      <a:srgbClr val="F5F6F8"/>
                    </a:solidFill>
                  </a:tcPr>
                </a:tc>
                <a:extLst>
                  <a:ext uri="{0D108BD9-81ED-4DB2-BD59-A6C34878D82A}">
                    <a16:rowId xmlns:a16="http://schemas.microsoft.com/office/drawing/2014/main" val="10002"/>
                  </a:ext>
                </a:extLst>
              </a:tr>
              <a:tr h="288000">
                <a:tc>
                  <a:txBody>
                    <a:bodyPr/>
                    <a:lstStyle/>
                    <a:p>
                      <a:pPr algn="ctr"/>
                      <a:r>
                        <a:rPr lang="en-US" sz="1100" b="0" noProof="0" dirty="0">
                          <a:solidFill>
                            <a:srgbClr val="202945"/>
                          </a:solidFill>
                          <a:latin typeface="Nunito Sans"/>
                        </a:rPr>
                        <a:t>3</a:t>
                      </a:r>
                    </a:p>
                  </a:txBody>
                  <a:tcPr marL="54000" marR="54000" marT="18000" marB="18000" anchor="ctr">
                    <a:solidFill>
                      <a:srgbClr val="FFFFFF"/>
                    </a:solidFill>
                  </a:tcPr>
                </a:tc>
                <a:tc>
                  <a:txBody>
                    <a:bodyPr/>
                    <a:lstStyle/>
                    <a:p>
                      <a:pPr algn="l"/>
                      <a:r>
                        <a:rPr lang="en-US" sz="1100" b="0" noProof="0" dirty="0">
                          <a:solidFill>
                            <a:srgbClr val="202945"/>
                          </a:solidFill>
                          <a:latin typeface="Nunito Sans"/>
                        </a:rPr>
                        <a:t>SYZ AM (CH) Liquidity </a:t>
                      </a:r>
                      <a:r>
                        <a:rPr lang="en-US" sz="1100" b="0" noProof="0" dirty="0" err="1">
                          <a:solidFill>
                            <a:srgbClr val="202945"/>
                          </a:solidFill>
                          <a:latin typeface="Nunito Sans"/>
                        </a:rPr>
                        <a:t>Mgmt</a:t>
                      </a:r>
                      <a:r>
                        <a:rPr lang="en-US" sz="1100" b="0" noProof="0" dirty="0">
                          <a:solidFill>
                            <a:srgbClr val="202945"/>
                          </a:solidFill>
                          <a:latin typeface="Nunito Sans"/>
                        </a:rPr>
                        <a:t> - USD…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376,520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5.4%</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18.8%</a:t>
                      </a:r>
                    </a:p>
                  </a:txBody>
                  <a:tcPr marL="54000" marR="54000" marT="18000" marB="18000" anchor="ctr">
                    <a:solidFill>
                      <a:srgbClr val="FFFFFF"/>
                    </a:solidFill>
                  </a:tcPr>
                </a:tc>
                <a:extLst>
                  <a:ext uri="{0D108BD9-81ED-4DB2-BD59-A6C34878D82A}">
                    <a16:rowId xmlns:a16="http://schemas.microsoft.com/office/drawing/2014/main" val="10003"/>
                  </a:ext>
                </a:extLst>
              </a:tr>
              <a:tr h="288000">
                <a:tc>
                  <a:txBody>
                    <a:bodyPr/>
                    <a:lstStyle/>
                    <a:p>
                      <a:pPr algn="ctr"/>
                      <a:r>
                        <a:rPr lang="en-US" sz="1100" b="0" noProof="0" dirty="0">
                          <a:solidFill>
                            <a:srgbClr val="202945"/>
                          </a:solidFill>
                          <a:latin typeface="Nunito Sans"/>
                        </a:rPr>
                        <a:t>4</a:t>
                      </a:r>
                    </a:p>
                  </a:txBody>
                  <a:tcPr marL="54000" marR="54000" marT="18000" marB="18000" anchor="ctr">
                    <a:solidFill>
                      <a:srgbClr val="F5F6F8"/>
                    </a:solidFill>
                  </a:tcPr>
                </a:tc>
                <a:tc>
                  <a:txBody>
                    <a:bodyPr/>
                    <a:lstStyle/>
                    <a:p>
                      <a:pPr algn="l"/>
                      <a:r>
                        <a:rPr lang="en-US" sz="1100" b="0" noProof="0" dirty="0">
                          <a:solidFill>
                            <a:srgbClr val="202945"/>
                          </a:solidFill>
                          <a:latin typeface="Nunito Sans"/>
                        </a:rPr>
                        <a:t>BlackRock Global Funds SICAV - Wo…</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334,250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4.8%</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23.5%</a:t>
                      </a:r>
                    </a:p>
                  </a:txBody>
                  <a:tcPr marL="54000" marR="54000" marT="18000" marB="18000" anchor="ctr">
                    <a:solidFill>
                      <a:srgbClr val="F5F6F8"/>
                    </a:solidFill>
                  </a:tcPr>
                </a:tc>
                <a:extLst>
                  <a:ext uri="{0D108BD9-81ED-4DB2-BD59-A6C34878D82A}">
                    <a16:rowId xmlns:a16="http://schemas.microsoft.com/office/drawing/2014/main" val="10004"/>
                  </a:ext>
                </a:extLst>
              </a:tr>
              <a:tr h="288000">
                <a:tc>
                  <a:txBody>
                    <a:bodyPr/>
                    <a:lstStyle/>
                    <a:p>
                      <a:pPr algn="ctr"/>
                      <a:r>
                        <a:rPr lang="en-US" sz="1100" b="0" noProof="0" dirty="0">
                          <a:solidFill>
                            <a:srgbClr val="202945"/>
                          </a:solidFill>
                          <a:latin typeface="Nunito Sans"/>
                        </a:rPr>
                        <a:t>5</a:t>
                      </a:r>
                    </a:p>
                  </a:txBody>
                  <a:tcPr marL="54000" marR="54000" marT="18000" marB="18000" anchor="ctr">
                    <a:solidFill>
                      <a:srgbClr val="FFFFFF"/>
                    </a:solidFill>
                  </a:tcPr>
                </a:tc>
                <a:tc>
                  <a:txBody>
                    <a:bodyPr/>
                    <a:lstStyle/>
                    <a:p>
                      <a:pPr algn="l"/>
                      <a:r>
                        <a:rPr lang="en-US" sz="1100" b="0" noProof="0" dirty="0">
                          <a:solidFill>
                            <a:srgbClr val="202945"/>
                          </a:solidFill>
                          <a:latin typeface="Nunito Sans"/>
                        </a:rPr>
                        <a:t>Goldman Sachs Funds SICAV - </a:t>
                      </a:r>
                      <a:r>
                        <a:rPr lang="en-US" sz="1100" b="0" noProof="0" dirty="0" err="1">
                          <a:solidFill>
                            <a:srgbClr val="202945"/>
                          </a:solidFill>
                          <a:latin typeface="Nunito Sans"/>
                        </a:rPr>
                        <a:t>Goldm</a:t>
                      </a:r>
                      <a:r>
                        <a:rPr lang="en-US" sz="1100" b="0" noProof="0" dirty="0">
                          <a:solidFill>
                            <a:srgbClr val="202945"/>
                          </a:solidFill>
                          <a:latin typeface="Nunito Sans"/>
                        </a:rPr>
                        <a:t>…</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334,250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4.8%</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28.3%</a:t>
                      </a:r>
                    </a:p>
                  </a:txBody>
                  <a:tcPr marL="54000" marR="54000" marT="18000" marB="18000" anchor="ctr">
                    <a:solidFill>
                      <a:srgbClr val="FFFFFF"/>
                    </a:solidFill>
                  </a:tcPr>
                </a:tc>
                <a:extLst>
                  <a:ext uri="{0D108BD9-81ED-4DB2-BD59-A6C34878D82A}">
                    <a16:rowId xmlns:a16="http://schemas.microsoft.com/office/drawing/2014/main" val="10005"/>
                  </a:ext>
                </a:extLst>
              </a:tr>
              <a:tr h="288000">
                <a:tc>
                  <a:txBody>
                    <a:bodyPr/>
                    <a:lstStyle/>
                    <a:p>
                      <a:pPr algn="ctr"/>
                      <a:r>
                        <a:rPr lang="en-US" sz="1100" b="0" noProof="0" dirty="0">
                          <a:solidFill>
                            <a:srgbClr val="202945"/>
                          </a:solidFill>
                          <a:latin typeface="Nunito Sans"/>
                        </a:rPr>
                        <a:t>6</a:t>
                      </a:r>
                    </a:p>
                  </a:txBody>
                  <a:tcPr marL="54000" marR="54000" marT="18000" marB="18000" anchor="ctr">
                    <a:solidFill>
                      <a:srgbClr val="F5F6F8"/>
                    </a:solidFill>
                  </a:tcPr>
                </a:tc>
                <a:tc>
                  <a:txBody>
                    <a:bodyPr/>
                    <a:lstStyle/>
                    <a:p>
                      <a:pPr algn="l"/>
                      <a:r>
                        <a:rPr lang="en-US" sz="1100" b="0" noProof="0" dirty="0">
                          <a:solidFill>
                            <a:srgbClr val="202945"/>
                          </a:solidFill>
                          <a:latin typeface="Nunito Sans"/>
                        </a:rPr>
                        <a:t>Schroder International Selection…</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334,250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4.8%</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33.1%</a:t>
                      </a:r>
                    </a:p>
                  </a:txBody>
                  <a:tcPr marL="54000" marR="54000" marT="18000" marB="18000" anchor="ctr">
                    <a:solidFill>
                      <a:srgbClr val="F5F6F8"/>
                    </a:solidFill>
                  </a:tcPr>
                </a:tc>
                <a:extLst>
                  <a:ext uri="{0D108BD9-81ED-4DB2-BD59-A6C34878D82A}">
                    <a16:rowId xmlns:a16="http://schemas.microsoft.com/office/drawing/2014/main" val="10006"/>
                  </a:ext>
                </a:extLst>
              </a:tr>
              <a:tr h="288000">
                <a:tc>
                  <a:txBody>
                    <a:bodyPr/>
                    <a:lstStyle/>
                    <a:p>
                      <a:pPr algn="ctr"/>
                      <a:r>
                        <a:rPr lang="en-US" sz="1100" b="0" noProof="0" dirty="0">
                          <a:solidFill>
                            <a:srgbClr val="202945"/>
                          </a:solidFill>
                          <a:latin typeface="Nunito Sans"/>
                        </a:rPr>
                        <a:t>7</a:t>
                      </a:r>
                    </a:p>
                  </a:txBody>
                  <a:tcPr marL="54000" marR="54000" marT="18000" marB="18000" anchor="ctr">
                    <a:solidFill>
                      <a:srgbClr val="FFFFFF"/>
                    </a:solidFill>
                  </a:tcPr>
                </a:tc>
                <a:tc>
                  <a:txBody>
                    <a:bodyPr/>
                    <a:lstStyle/>
                    <a:p>
                      <a:pPr algn="l"/>
                      <a:r>
                        <a:rPr lang="en-US" sz="1100" b="0" noProof="0" dirty="0">
                          <a:solidFill>
                            <a:srgbClr val="202945"/>
                          </a:solidFill>
                          <a:latin typeface="Nunito Sans"/>
                        </a:rPr>
                        <a:t>Polar Capital Funds PLC - Biotech…</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334,250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4.8%</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37.9%</a:t>
                      </a:r>
                    </a:p>
                  </a:txBody>
                  <a:tcPr marL="54000" marR="54000" marT="18000" marB="18000" anchor="ctr">
                    <a:solidFill>
                      <a:srgbClr val="FFFFFF"/>
                    </a:solidFill>
                  </a:tcPr>
                </a:tc>
                <a:extLst>
                  <a:ext uri="{0D108BD9-81ED-4DB2-BD59-A6C34878D82A}">
                    <a16:rowId xmlns:a16="http://schemas.microsoft.com/office/drawing/2014/main" val="10007"/>
                  </a:ext>
                </a:extLst>
              </a:tr>
              <a:tr h="288000">
                <a:tc>
                  <a:txBody>
                    <a:bodyPr/>
                    <a:lstStyle/>
                    <a:p>
                      <a:pPr algn="ctr"/>
                      <a:r>
                        <a:rPr lang="en-US" sz="1100" b="0" noProof="0" dirty="0">
                          <a:solidFill>
                            <a:srgbClr val="202945"/>
                          </a:solidFill>
                          <a:latin typeface="Nunito Sans"/>
                        </a:rPr>
                        <a:t>8</a:t>
                      </a:r>
                    </a:p>
                  </a:txBody>
                  <a:tcPr marL="54000" marR="54000" marT="18000" marB="18000" anchor="ctr">
                    <a:solidFill>
                      <a:srgbClr val="F5F6F8"/>
                    </a:solidFill>
                  </a:tcPr>
                </a:tc>
                <a:tc>
                  <a:txBody>
                    <a:bodyPr/>
                    <a:lstStyle/>
                    <a:p>
                      <a:pPr algn="l"/>
                      <a:r>
                        <a:rPr lang="en-US" sz="1100" b="0" noProof="0" dirty="0">
                          <a:solidFill>
                            <a:srgbClr val="202945"/>
                          </a:solidFill>
                          <a:latin typeface="Nunito Sans"/>
                        </a:rPr>
                        <a:t>BNY Mellon Global Funds PLC - BNY…</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279,018</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41.9%</a:t>
                      </a:r>
                    </a:p>
                  </a:txBody>
                  <a:tcPr marL="54000" marR="54000" marT="18000" marB="18000" anchor="ctr">
                    <a:solidFill>
                      <a:srgbClr val="F5F6F8"/>
                    </a:solidFill>
                  </a:tcPr>
                </a:tc>
                <a:extLst>
                  <a:ext uri="{0D108BD9-81ED-4DB2-BD59-A6C34878D82A}">
                    <a16:rowId xmlns:a16="http://schemas.microsoft.com/office/drawing/2014/main" val="10008"/>
                  </a:ext>
                </a:extLst>
              </a:tr>
              <a:tr h="288000">
                <a:tc>
                  <a:txBody>
                    <a:bodyPr/>
                    <a:lstStyle/>
                    <a:p>
                      <a:pPr algn="ctr"/>
                      <a:r>
                        <a:rPr lang="en-US" sz="1100" b="0" noProof="0" dirty="0">
                          <a:solidFill>
                            <a:srgbClr val="202945"/>
                          </a:solidFill>
                          <a:latin typeface="Nunito Sans"/>
                        </a:rPr>
                        <a:t>9</a:t>
                      </a:r>
                    </a:p>
                  </a:txBody>
                  <a:tcPr marL="54000" marR="54000" marT="18000" marB="18000" anchor="ctr">
                    <a:solidFill>
                      <a:srgbClr val="FFFFFF"/>
                    </a:solidFill>
                  </a:tcPr>
                </a:tc>
                <a:tc>
                  <a:txBody>
                    <a:bodyPr/>
                    <a:lstStyle/>
                    <a:p>
                      <a:pPr algn="l"/>
                      <a:r>
                        <a:rPr lang="en-US" sz="1100" b="0" noProof="0" dirty="0">
                          <a:solidFill>
                            <a:srgbClr val="202945"/>
                          </a:solidFill>
                          <a:latin typeface="Nunito Sans"/>
                        </a:rPr>
                        <a:t>Swiss Positive Fund - Physical Go…</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203,000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2.9%</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44.8%</a:t>
                      </a:r>
                    </a:p>
                  </a:txBody>
                  <a:tcPr marL="54000" marR="54000" marT="18000" marB="18000" anchor="ctr">
                    <a:solidFill>
                      <a:srgbClr val="FFFFFF"/>
                    </a:solidFill>
                  </a:tcPr>
                </a:tc>
                <a:extLst>
                  <a:ext uri="{0D108BD9-81ED-4DB2-BD59-A6C34878D82A}">
                    <a16:rowId xmlns:a16="http://schemas.microsoft.com/office/drawing/2014/main" val="10009"/>
                  </a:ext>
                </a:extLst>
              </a:tr>
              <a:tr h="288000">
                <a:tc>
                  <a:txBody>
                    <a:bodyPr/>
                    <a:lstStyle/>
                    <a:p>
                      <a:pPr algn="ctr"/>
                      <a:r>
                        <a:rPr lang="en-US" sz="1100" b="0" noProof="0" dirty="0">
                          <a:solidFill>
                            <a:srgbClr val="202945"/>
                          </a:solidFill>
                          <a:latin typeface="Nunito Sans"/>
                        </a:rPr>
                        <a:t>10</a:t>
                      </a:r>
                    </a:p>
                  </a:txBody>
                  <a:tcPr marL="54000" marR="54000" marT="18000" marB="18000" anchor="ctr">
                    <a:solidFill>
                      <a:srgbClr val="F5F6F8"/>
                    </a:solidFill>
                  </a:tcPr>
                </a:tc>
                <a:tc>
                  <a:txBody>
                    <a:bodyPr/>
                    <a:lstStyle/>
                    <a:p>
                      <a:pPr algn="l"/>
                      <a:r>
                        <a:rPr lang="en-US" sz="1100" b="0" noProof="0" dirty="0">
                          <a:solidFill>
                            <a:srgbClr val="202945"/>
                          </a:solidFill>
                          <a:latin typeface="Nunito Sans"/>
                        </a:rPr>
                        <a:t>Repsol E&amp;P Capital Markets US LLC…</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200,596</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2.9%</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47.6%</a:t>
                      </a:r>
                    </a:p>
                  </a:txBody>
                  <a:tcPr marL="54000" marR="54000" marT="18000" marB="18000" anchor="ctr">
                    <a:solidFill>
                      <a:srgbClr val="F5F6F8"/>
                    </a:solidFill>
                  </a:tcPr>
                </a:tc>
                <a:extLst>
                  <a:ext uri="{0D108BD9-81ED-4DB2-BD59-A6C34878D82A}">
                    <a16:rowId xmlns:a16="http://schemas.microsoft.com/office/drawing/2014/main" val="10010"/>
                  </a:ext>
                </a:extLst>
              </a:tr>
            </a:tbl>
          </a:graphicData>
        </a:graphic>
      </p:graphicFrame>
      <p:sp>
        <p:nvSpPr>
          <p:cNvPr id="5" name="Rectangle 4"/>
          <p:cNvSpPr/>
          <p:nvPr/>
        </p:nvSpPr>
        <p:spPr>
          <a:xfrm>
            <a:off x="6983999" y="25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28.3%</a:t>
            </a:r>
          </a:p>
          <a:p>
            <a:pPr algn="ctr"/>
            <a:r>
              <a:rPr lang="en-US" sz="1400" b="0" noProof="0" dirty="0">
                <a:solidFill>
                  <a:srgbClr val="202945"/>
                </a:solidFill>
                <a:latin typeface="Nunito Sans"/>
              </a:rPr>
              <a:t>Top 5</a:t>
            </a:r>
          </a:p>
        </p:txBody>
      </p:sp>
      <p:sp>
        <p:nvSpPr>
          <p:cNvPr id="6" name="Rectangle 5"/>
          <p:cNvSpPr/>
          <p:nvPr/>
        </p:nvSpPr>
        <p:spPr>
          <a:xfrm>
            <a:off x="6983999" y="34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47.6%</a:t>
            </a:r>
          </a:p>
          <a:p>
            <a:pPr algn="ctr"/>
            <a:r>
              <a:rPr lang="en-US" sz="1400" b="0" noProof="0">
                <a:solidFill>
                  <a:srgbClr val="202945"/>
                </a:solidFill>
                <a:latin typeface="Nunito Sans"/>
              </a:rPr>
              <a:t>Top 10</a:t>
            </a:r>
          </a:p>
        </p:txBody>
      </p:sp>
      <p:sp>
        <p:nvSpPr>
          <p:cNvPr id="7" name="Rectangle 6"/>
          <p:cNvSpPr/>
          <p:nvPr/>
        </p:nvSpPr>
        <p:spPr>
          <a:xfrm>
            <a:off x="6983999" y="43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75.6%</a:t>
            </a:r>
          </a:p>
          <a:p>
            <a:pPr algn="ctr"/>
            <a:r>
              <a:rPr lang="en-US" sz="1400" b="0" noProof="0">
                <a:solidFill>
                  <a:srgbClr val="202945"/>
                </a:solidFill>
                <a:latin typeface="Nunito Sans"/>
              </a:rPr>
              <a:t>Top 20</a:t>
            </a:r>
          </a:p>
        </p:txBody>
      </p:sp>
      <p:sp>
        <p:nvSpPr>
          <p:cNvPr id="8" name="Rectangle 7"/>
          <p:cNvSpPr/>
          <p:nvPr/>
        </p:nvSpPr>
        <p:spPr>
          <a:xfrm>
            <a:off x="6983999" y="52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a:t>
            </a:r>
          </a:p>
          <a:p>
            <a:pPr algn="ctr"/>
            <a:r>
              <a:rPr lang="en-US" sz="1400" b="0" noProof="0">
                <a:solidFill>
                  <a:srgbClr val="202945"/>
                </a:solidFill>
                <a:latin typeface="Nunito Sans"/>
              </a:rPr>
              <a:t>Positions &gt; 5%</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Income &amp; interest-rate sensitivity</a:t>
            </a:r>
          </a:p>
        </p:txBody>
      </p:sp>
      <p:sp>
        <p:nvSpPr>
          <p:cNvPr id="3" name="Text Placeholder 2"/>
          <p:cNvSpPr>
            <a:spLocks noGrp="1"/>
          </p:cNvSpPr>
          <p:nvPr>
            <p:ph type="body" sz="quarter" idx="14"/>
          </p:nvPr>
        </p:nvSpPr>
        <p:spPr>
          <a:xfrm>
            <a:off x="665163" y="1658942"/>
            <a:ext cx="9398001" cy="251511"/>
          </a:xfrm>
        </p:spPr>
        <p:txBody>
          <a:bodyPr/>
          <a:lstStyle/>
          <a:p>
            <a:r>
              <a:rPr lang="en-US" sz="1400" noProof="0"/>
              <a:t>Yield by sleeve and duration of the fixed-income book.</a:t>
            </a:r>
          </a:p>
        </p:txBody>
      </p:sp>
      <p:sp>
        <p:nvSpPr>
          <p:cNvPr id="4" name="TextBox 3"/>
          <p:cNvSpPr txBox="1"/>
          <p:nvPr/>
        </p:nvSpPr>
        <p:spPr>
          <a:xfrm>
            <a:off x="666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Income by sleeve</a:t>
            </a:r>
          </a:p>
        </p:txBody>
      </p:sp>
      <p:graphicFrame>
        <p:nvGraphicFramePr>
          <p:cNvPr id="5" name="Table 4"/>
          <p:cNvGraphicFramePr>
            <a:graphicFrameLocks noGrp="1"/>
          </p:cNvGraphicFramePr>
          <p:nvPr>
            <p:extLst>
              <p:ext uri="{D42A27DB-BD31-4B8C-83A1-F6EECF244321}">
                <p14:modId xmlns:p14="http://schemas.microsoft.com/office/powerpoint/2010/main" val="1610617594"/>
              </p:ext>
            </p:extLst>
          </p:nvPr>
        </p:nvGraphicFramePr>
        <p:xfrm>
          <a:off x="666000" y="2736000"/>
          <a:ext cx="4535999" cy="1224000"/>
        </p:xfrm>
        <a:graphic>
          <a:graphicData uri="http://schemas.openxmlformats.org/drawingml/2006/table">
            <a:tbl>
              <a:tblPr firstRow="1" bandRow="1">
                <a:tableStyleId>{5C22544A-7EE6-4342-B048-85BDC9FD1C3A}</a:tableStyleId>
              </a:tblPr>
              <a:tblGrid>
                <a:gridCol w="2015999">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360000">
                <a:tc>
                  <a:txBody>
                    <a:bodyPr/>
                    <a:lstStyle/>
                    <a:p>
                      <a:pPr algn="l"/>
                      <a:r>
                        <a:rPr lang="en-US" sz="1200" b="1" noProof="0" dirty="0">
                          <a:solidFill>
                            <a:srgbClr val="000000"/>
                          </a:solidFill>
                          <a:latin typeface="Nunito Sans"/>
                        </a:rPr>
                        <a:t>Sleeve</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Income</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 of income</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a:lstStyle/>
                    <a:p>
                      <a:pPr algn="l"/>
                      <a:r>
                        <a:rPr lang="en-US" sz="1100" b="0" noProof="0" dirty="0">
                          <a:solidFill>
                            <a:srgbClr val="202945"/>
                          </a:solidFill>
                          <a:latin typeface="Nunito Sans"/>
                        </a:rPr>
                        <a:t>Fixed Income</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146,330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85.6%</a:t>
                      </a:r>
                    </a:p>
                  </a:txBody>
                  <a:tcPr marL="54000" marR="54000" marT="18000" marB="18000" anchor="ctr">
                    <a:solidFill>
                      <a:srgbClr val="FFFFFF"/>
                    </a:solidFill>
                  </a:tcPr>
                </a:tc>
                <a:extLst>
                  <a:ext uri="{0D108BD9-81ED-4DB2-BD59-A6C34878D82A}">
                    <a16:rowId xmlns:a16="http://schemas.microsoft.com/office/drawing/2014/main" val="10001"/>
                  </a:ext>
                </a:extLst>
              </a:tr>
              <a:tr h="288000">
                <a:tc>
                  <a:txBody>
                    <a:bodyPr/>
                    <a:lstStyle/>
                    <a:p>
                      <a:pPr algn="l"/>
                      <a:r>
                        <a:rPr lang="en-US" sz="1100" b="0" noProof="0" dirty="0">
                          <a:solidFill>
                            <a:srgbClr val="202945"/>
                          </a:solidFill>
                          <a:latin typeface="Nunito Sans"/>
                        </a:rPr>
                        <a:t>Cash</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15,061</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8.8%</a:t>
                      </a:r>
                    </a:p>
                  </a:txBody>
                  <a:tcPr marL="54000" marR="54000" marT="18000" marB="18000" anchor="ctr">
                    <a:solidFill>
                      <a:srgbClr val="F5F6F8"/>
                    </a:solidFill>
                  </a:tcPr>
                </a:tc>
                <a:extLst>
                  <a:ext uri="{0D108BD9-81ED-4DB2-BD59-A6C34878D82A}">
                    <a16:rowId xmlns:a16="http://schemas.microsoft.com/office/drawing/2014/main" val="10002"/>
                  </a:ext>
                </a:extLst>
              </a:tr>
              <a:tr h="288000">
                <a:tc>
                  <a:txBody>
                    <a:bodyPr/>
                    <a:lstStyle/>
                    <a:p>
                      <a:pPr algn="l"/>
                      <a:r>
                        <a:rPr lang="en-US" sz="1100" b="0" noProof="0" dirty="0">
                          <a:solidFill>
                            <a:srgbClr val="202945"/>
                          </a:solidFill>
                          <a:latin typeface="Nunito Sans"/>
                        </a:rPr>
                        <a:t>Equities</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9,509</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5.6%</a:t>
                      </a:r>
                    </a:p>
                  </a:txBody>
                  <a:tcPr marL="54000" marR="54000" marT="18000" marB="18000" anchor="ctr">
                    <a:solidFill>
                      <a:srgbClr val="FFFFFF"/>
                    </a:solidFill>
                  </a:tcPr>
                </a:tc>
                <a:extLst>
                  <a:ext uri="{0D108BD9-81ED-4DB2-BD59-A6C34878D82A}">
                    <a16:rowId xmlns:a16="http://schemas.microsoft.com/office/drawing/2014/main" val="10003"/>
                  </a:ext>
                </a:extLst>
              </a:tr>
            </a:tbl>
          </a:graphicData>
        </a:graphic>
      </p:graphicFrame>
      <p:sp>
        <p:nvSpPr>
          <p:cNvPr id="6" name="Rectangle 5"/>
          <p:cNvSpPr/>
          <p:nvPr/>
        </p:nvSpPr>
        <p:spPr>
          <a:xfrm>
            <a:off x="666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2.4%</a:t>
            </a:r>
          </a:p>
          <a:p>
            <a:pPr algn="ctr"/>
            <a:r>
              <a:rPr lang="en-US" sz="1200" b="0" noProof="0">
                <a:solidFill>
                  <a:srgbClr val="202945"/>
                </a:solidFill>
                <a:latin typeface="Nunito Sans"/>
              </a:rPr>
              <a:t>Running yield</a:t>
            </a:r>
          </a:p>
        </p:txBody>
      </p:sp>
      <p:sp>
        <p:nvSpPr>
          <p:cNvPr id="7" name="Rectangle 6"/>
          <p:cNvSpPr/>
          <p:nvPr/>
        </p:nvSpPr>
        <p:spPr>
          <a:xfrm>
            <a:off x="2214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4.2y</a:t>
            </a:r>
          </a:p>
          <a:p>
            <a:pPr algn="ctr"/>
            <a:r>
              <a:rPr lang="en-US" sz="1200" b="0" noProof="0">
                <a:solidFill>
                  <a:srgbClr val="202945"/>
                </a:solidFill>
                <a:latin typeface="Nunito Sans"/>
              </a:rPr>
              <a:t>FI duration</a:t>
            </a:r>
          </a:p>
        </p:txBody>
      </p:sp>
      <p:sp>
        <p:nvSpPr>
          <p:cNvPr id="8" name="Rectangle 7"/>
          <p:cNvSpPr/>
          <p:nvPr/>
        </p:nvSpPr>
        <p:spPr>
          <a:xfrm>
            <a:off x="3761999"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USD -139k</a:t>
            </a:r>
          </a:p>
          <a:p>
            <a:pPr algn="ctr"/>
            <a:r>
              <a:rPr lang="en-US" sz="1200" b="0" noProof="0" dirty="0">
                <a:solidFill>
                  <a:srgbClr val="202945"/>
                </a:solidFill>
                <a:latin typeface="Nunito Sans"/>
              </a:rPr>
              <a:t>Impact +100bp</a:t>
            </a:r>
          </a:p>
        </p:txBody>
      </p:sp>
      <p:sp>
        <p:nvSpPr>
          <p:cNvPr id="9" name="TextBox 8"/>
          <p:cNvSpPr txBox="1"/>
          <p:nvPr/>
        </p:nvSpPr>
        <p:spPr>
          <a:xfrm>
            <a:off x="5544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Fixed-income duration sleeves</a:t>
            </a:r>
          </a:p>
        </p:txBody>
      </p:sp>
      <p:graphicFrame>
        <p:nvGraphicFramePr>
          <p:cNvPr id="10" name="Table 9"/>
          <p:cNvGraphicFramePr>
            <a:graphicFrameLocks noGrp="1"/>
          </p:cNvGraphicFramePr>
          <p:nvPr>
            <p:extLst>
              <p:ext uri="{D42A27DB-BD31-4B8C-83A1-F6EECF244321}">
                <p14:modId xmlns:p14="http://schemas.microsoft.com/office/powerpoint/2010/main" val="646065821"/>
              </p:ext>
            </p:extLst>
          </p:nvPr>
        </p:nvGraphicFramePr>
        <p:xfrm>
          <a:off x="5544000" y="2736000"/>
          <a:ext cx="4791491" cy="4025520"/>
        </p:xfrm>
        <a:graphic>
          <a:graphicData uri="http://schemas.openxmlformats.org/drawingml/2006/table">
            <a:tbl>
              <a:tblPr firstRow="1" bandRow="1">
                <a:tableStyleId>{5C22544A-7EE6-4342-B048-85BDC9FD1C3A}</a:tableStyleId>
              </a:tblPr>
              <a:tblGrid>
                <a:gridCol w="1701927">
                  <a:extLst>
                    <a:ext uri="{9D8B030D-6E8A-4147-A177-3AD203B41FA5}">
                      <a16:colId xmlns:a16="http://schemas.microsoft.com/office/drawing/2014/main" val="20000"/>
                    </a:ext>
                  </a:extLst>
                </a:gridCol>
                <a:gridCol w="865909">
                  <a:extLst>
                    <a:ext uri="{9D8B030D-6E8A-4147-A177-3AD203B41FA5}">
                      <a16:colId xmlns:a16="http://schemas.microsoft.com/office/drawing/2014/main" val="20001"/>
                    </a:ext>
                  </a:extLst>
                </a:gridCol>
                <a:gridCol w="1073728">
                  <a:extLst>
                    <a:ext uri="{9D8B030D-6E8A-4147-A177-3AD203B41FA5}">
                      <a16:colId xmlns:a16="http://schemas.microsoft.com/office/drawing/2014/main" val="20002"/>
                    </a:ext>
                  </a:extLst>
                </a:gridCol>
                <a:gridCol w="1149927">
                  <a:extLst>
                    <a:ext uri="{9D8B030D-6E8A-4147-A177-3AD203B41FA5}">
                      <a16:colId xmlns:a16="http://schemas.microsoft.com/office/drawing/2014/main" val="20003"/>
                    </a:ext>
                  </a:extLst>
                </a:gridCol>
              </a:tblGrid>
              <a:tr h="360000">
                <a:tc>
                  <a:txBody>
                    <a:bodyPr/>
                    <a:lstStyle/>
                    <a:p>
                      <a:pPr algn="l"/>
                      <a:r>
                        <a:rPr lang="en-US" sz="1200" b="1" noProof="0" dirty="0">
                          <a:solidFill>
                            <a:srgbClr val="000000"/>
                          </a:solidFill>
                          <a:latin typeface="Nunito Sans"/>
                        </a:rPr>
                        <a:t>Sub-sleeve</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Value</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Avg duration</a:t>
                      </a:r>
                    </a:p>
                  </a:txBody>
                  <a:tcPr marL="54000" marR="54000" marT="18000" marB="18000" anchor="ctr">
                    <a:solidFill>
                      <a:srgbClr val="FFC545"/>
                    </a:solidFill>
                  </a:tcPr>
                </a:tc>
                <a:tc>
                  <a:txBody>
                    <a:bodyPr/>
                    <a:lstStyle/>
                    <a:p>
                      <a:pPr algn="r"/>
                      <a:r>
                        <a:rPr lang="en-US" sz="1200" b="1" noProof="0" dirty="0">
                          <a:solidFill>
                            <a:srgbClr val="000000"/>
                          </a:solidFill>
                          <a:latin typeface="Nunito Sans"/>
                        </a:rPr>
                        <a:t>Contribution</a:t>
                      </a:r>
                    </a:p>
                  </a:txBody>
                  <a:tcPr marL="54000" marR="54000" marT="18000" marB="18000" anchor="ctr">
                    <a:solidFill>
                      <a:srgbClr val="FFC545"/>
                    </a:solidFill>
                  </a:tcPr>
                </a:tc>
                <a:extLst>
                  <a:ext uri="{0D108BD9-81ED-4DB2-BD59-A6C34878D82A}">
                    <a16:rowId xmlns:a16="http://schemas.microsoft.com/office/drawing/2014/main" val="10000"/>
                  </a:ext>
                </a:extLst>
              </a:tr>
              <a:tr h="120000">
                <a:tc>
                  <a:txBody>
                    <a:bodyPr/>
                    <a:lstStyle/>
                    <a:p>
                      <a:pPr algn="l"/>
                      <a:r>
                        <a:rPr lang="en-US" sz="1100" b="0" noProof="0" dirty="0">
                          <a:solidFill>
                            <a:srgbClr val="202945"/>
                          </a:solidFill>
                          <a:latin typeface="Nunito Sans"/>
                        </a:rPr>
                        <a:t>Corporate bond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388,370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5.5</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0.55</a:t>
                      </a:r>
                    </a:p>
                  </a:txBody>
                  <a:tcPr marL="54000" marR="54000" marT="18000" marB="18000" anchor="ctr">
                    <a:solidFill>
                      <a:srgbClr val="FFFFFF"/>
                    </a:solidFill>
                  </a:tcPr>
                </a:tc>
                <a:extLst>
                  <a:ext uri="{0D108BD9-81ED-4DB2-BD59-A6C34878D82A}">
                    <a16:rowId xmlns:a16="http://schemas.microsoft.com/office/drawing/2014/main" val="10001"/>
                  </a:ext>
                </a:extLst>
              </a:tr>
              <a:tr h="120000">
                <a:tc>
                  <a:txBody>
                    <a:bodyPr/>
                    <a:lstStyle/>
                    <a:p>
                      <a:pPr algn="l"/>
                      <a:r>
                        <a:rPr lang="en-US" sz="1100" b="0" noProof="0" dirty="0">
                          <a:solidFill>
                            <a:srgbClr val="202945"/>
                          </a:solidFill>
                          <a:latin typeface="Nunito Sans"/>
                        </a:rPr>
                        <a:t>Structured note / </a:t>
                      </a:r>
                      <a:r>
                        <a:rPr lang="en-US" sz="1100" b="0" noProof="0" dirty="0" err="1">
                          <a:solidFill>
                            <a:srgbClr val="202945"/>
                          </a:solidFill>
                          <a:latin typeface="Nunito Sans"/>
                        </a:rPr>
                        <a:t>ce</a:t>
                      </a:r>
                      <a:r>
                        <a:rPr lang="en-US" sz="1100" b="0" noProof="0" dirty="0">
                          <a:solidFill>
                            <a:srgbClr val="202945"/>
                          </a:solidFill>
                          <a:latin typeface="Nunito Sans"/>
                        </a:rPr>
                        <a:t>…</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384,286</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0.00</a:t>
                      </a:r>
                    </a:p>
                  </a:txBody>
                  <a:tcPr marL="54000" marR="54000" marT="18000" marB="18000" anchor="ctr">
                    <a:solidFill>
                      <a:srgbClr val="F5F6F8"/>
                    </a:solidFill>
                  </a:tcPr>
                </a:tc>
                <a:extLst>
                  <a:ext uri="{0D108BD9-81ED-4DB2-BD59-A6C34878D82A}">
                    <a16:rowId xmlns:a16="http://schemas.microsoft.com/office/drawing/2014/main" val="10002"/>
                  </a:ext>
                </a:extLst>
              </a:tr>
              <a:tr h="120000">
                <a:tc>
                  <a:txBody>
                    <a:bodyPr/>
                    <a:lstStyle/>
                    <a:p>
                      <a:pPr algn="l"/>
                      <a:r>
                        <a:rPr lang="en-US" sz="1100" b="0" noProof="0" dirty="0">
                          <a:solidFill>
                            <a:srgbClr val="202945"/>
                          </a:solidFill>
                          <a:latin typeface="Nunito Sans"/>
                        </a:rPr>
                        <a:t>Supranational bond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382,888</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4.2</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0.42</a:t>
                      </a:r>
                    </a:p>
                  </a:txBody>
                  <a:tcPr marL="54000" marR="54000" marT="18000" marB="18000" anchor="ctr">
                    <a:solidFill>
                      <a:srgbClr val="FFFFFF"/>
                    </a:solidFill>
                  </a:tcPr>
                </a:tc>
                <a:extLst>
                  <a:ext uri="{0D108BD9-81ED-4DB2-BD59-A6C34878D82A}">
                    <a16:rowId xmlns:a16="http://schemas.microsoft.com/office/drawing/2014/main" val="10003"/>
                  </a:ext>
                </a:extLst>
              </a:tr>
              <a:tr h="120000">
                <a:tc>
                  <a:txBody>
                    <a:bodyPr/>
                    <a:lstStyle/>
                    <a:p>
                      <a:pPr algn="l"/>
                      <a:r>
                        <a:rPr lang="en-US" sz="1100" b="0" noProof="0" dirty="0">
                          <a:solidFill>
                            <a:srgbClr val="202945"/>
                          </a:solidFill>
                          <a:latin typeface="Nunito Sans"/>
                        </a:rPr>
                        <a:t>Corporate bond (auto…</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298,221</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3.1</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0.24</a:t>
                      </a:r>
                    </a:p>
                  </a:txBody>
                  <a:tcPr marL="54000" marR="54000" marT="18000" marB="18000" anchor="ctr">
                    <a:solidFill>
                      <a:srgbClr val="F5F6F8"/>
                    </a:solidFill>
                  </a:tcPr>
                </a:tc>
                <a:extLst>
                  <a:ext uri="{0D108BD9-81ED-4DB2-BD59-A6C34878D82A}">
                    <a16:rowId xmlns:a16="http://schemas.microsoft.com/office/drawing/2014/main" val="10004"/>
                  </a:ext>
                </a:extLst>
              </a:tr>
              <a:tr h="120000">
                <a:tc>
                  <a:txBody>
                    <a:bodyPr/>
                    <a:lstStyle/>
                    <a:p>
                      <a:pPr algn="l"/>
                      <a:r>
                        <a:rPr lang="en-US" sz="1100" b="0" noProof="0" dirty="0">
                          <a:solidFill>
                            <a:srgbClr val="202945"/>
                          </a:solidFill>
                          <a:latin typeface="Nunito Sans"/>
                        </a:rPr>
                        <a:t>High yield bond fund…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279,018</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2.5</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0.18</a:t>
                      </a:r>
                    </a:p>
                  </a:txBody>
                  <a:tcPr marL="54000" marR="54000" marT="18000" marB="18000" anchor="ctr">
                    <a:solidFill>
                      <a:srgbClr val="FFFFFF"/>
                    </a:solidFill>
                  </a:tcPr>
                </a:tc>
                <a:extLst>
                  <a:ext uri="{0D108BD9-81ED-4DB2-BD59-A6C34878D82A}">
                    <a16:rowId xmlns:a16="http://schemas.microsoft.com/office/drawing/2014/main" val="10005"/>
                  </a:ext>
                </a:extLst>
              </a:tr>
              <a:tr h="120000">
                <a:tc>
                  <a:txBody>
                    <a:bodyPr/>
                    <a:lstStyle/>
                    <a:p>
                      <a:pPr algn="l"/>
                      <a:r>
                        <a:rPr lang="en-US" sz="1100" b="0" noProof="0" dirty="0">
                          <a:solidFill>
                            <a:srgbClr val="202945"/>
                          </a:solidFill>
                          <a:latin typeface="Nunito Sans"/>
                        </a:rPr>
                        <a:t>Corporate bond (oil…</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200,596</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3.4</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0.18</a:t>
                      </a:r>
                    </a:p>
                  </a:txBody>
                  <a:tcPr marL="54000" marR="54000" marT="18000" marB="18000" anchor="ctr">
                    <a:solidFill>
                      <a:srgbClr val="F5F6F8"/>
                    </a:solidFill>
                  </a:tcPr>
                </a:tc>
                <a:extLst>
                  <a:ext uri="{0D108BD9-81ED-4DB2-BD59-A6C34878D82A}">
                    <a16:rowId xmlns:a16="http://schemas.microsoft.com/office/drawing/2014/main" val="10006"/>
                  </a:ext>
                </a:extLst>
              </a:tr>
              <a:tr h="120000">
                <a:tc>
                  <a:txBody>
                    <a:bodyPr/>
                    <a:lstStyle/>
                    <a:p>
                      <a:pPr algn="l"/>
                      <a:r>
                        <a:rPr lang="en-US" sz="1100" b="0" noProof="0" dirty="0">
                          <a:solidFill>
                            <a:srgbClr val="202945"/>
                          </a:solidFill>
                          <a:latin typeface="Nunito Sans"/>
                        </a:rPr>
                        <a:t>Bank bond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199,562</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5.1</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0.26</a:t>
                      </a:r>
                    </a:p>
                  </a:txBody>
                  <a:tcPr marL="54000" marR="54000" marT="18000" marB="18000" anchor="ctr">
                    <a:solidFill>
                      <a:srgbClr val="FFFFFF"/>
                    </a:solidFill>
                  </a:tcPr>
                </a:tc>
                <a:extLst>
                  <a:ext uri="{0D108BD9-81ED-4DB2-BD59-A6C34878D82A}">
                    <a16:rowId xmlns:a16="http://schemas.microsoft.com/office/drawing/2014/main" val="10007"/>
                  </a:ext>
                </a:extLst>
              </a:tr>
              <a:tr h="120000">
                <a:tc>
                  <a:txBody>
                    <a:bodyPr/>
                    <a:lstStyle/>
                    <a:p>
                      <a:pPr algn="l"/>
                      <a:r>
                        <a:rPr lang="en-US" sz="1100" b="0" noProof="0" dirty="0">
                          <a:solidFill>
                            <a:srgbClr val="202945"/>
                          </a:solidFill>
                          <a:latin typeface="Nunito Sans"/>
                        </a:rPr>
                        <a:t>Insurance-linked sec…</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198,800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0.00</a:t>
                      </a:r>
                    </a:p>
                  </a:txBody>
                  <a:tcPr marL="54000" marR="54000" marT="18000" marB="18000" anchor="ctr">
                    <a:solidFill>
                      <a:srgbClr val="F5F6F8"/>
                    </a:solidFill>
                  </a:tcPr>
                </a:tc>
                <a:extLst>
                  <a:ext uri="{0D108BD9-81ED-4DB2-BD59-A6C34878D82A}">
                    <a16:rowId xmlns:a16="http://schemas.microsoft.com/office/drawing/2014/main" val="10008"/>
                  </a:ext>
                </a:extLst>
              </a:tr>
              <a:tr h="120000">
                <a:tc>
                  <a:txBody>
                    <a:bodyPr/>
                    <a:lstStyle/>
                    <a:p>
                      <a:pPr algn="l"/>
                      <a:r>
                        <a:rPr lang="en-US" sz="1100" b="0" noProof="0" dirty="0">
                          <a:solidFill>
                            <a:srgbClr val="202945"/>
                          </a:solidFill>
                          <a:latin typeface="Nunito Sans"/>
                        </a:rPr>
                        <a:t>Quasi-sovereign bond…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197,796</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3.4</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0.17</a:t>
                      </a:r>
                    </a:p>
                  </a:txBody>
                  <a:tcPr marL="54000" marR="54000" marT="18000" marB="18000" anchor="ctr">
                    <a:solidFill>
                      <a:srgbClr val="FFFFFF"/>
                    </a:solidFill>
                  </a:tcPr>
                </a:tc>
                <a:extLst>
                  <a:ext uri="{0D108BD9-81ED-4DB2-BD59-A6C34878D82A}">
                    <a16:rowId xmlns:a16="http://schemas.microsoft.com/office/drawing/2014/main" val="10009"/>
                  </a:ext>
                </a:extLst>
              </a:tr>
              <a:tr h="120000">
                <a:tc>
                  <a:txBody>
                    <a:bodyPr/>
                    <a:lstStyle/>
                    <a:p>
                      <a:pPr algn="l"/>
                      <a:r>
                        <a:rPr lang="en-US" sz="1100" b="0" noProof="0" dirty="0">
                          <a:solidFill>
                            <a:srgbClr val="202945"/>
                          </a:solidFill>
                          <a:latin typeface="Nunito Sans"/>
                        </a:rPr>
                        <a:t>Quasi-sovereign bond…</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194,084</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4.2</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0.21</a:t>
                      </a:r>
                    </a:p>
                  </a:txBody>
                  <a:tcPr marL="54000" marR="54000" marT="18000" marB="18000" anchor="ctr">
                    <a:solidFill>
                      <a:srgbClr val="F5F6F8"/>
                    </a:solidFill>
                  </a:tcPr>
                </a:tc>
                <a:extLst>
                  <a:ext uri="{0D108BD9-81ED-4DB2-BD59-A6C34878D82A}">
                    <a16:rowId xmlns:a16="http://schemas.microsoft.com/office/drawing/2014/main" val="10010"/>
                  </a:ext>
                </a:extLst>
              </a:tr>
              <a:tr h="120000">
                <a:tc>
                  <a:txBody>
                    <a:bodyPr/>
                    <a:lstStyle/>
                    <a:p>
                      <a:pPr algn="l"/>
                      <a:r>
                        <a:rPr lang="en-US" sz="1100" b="0" noProof="0" dirty="0">
                          <a:solidFill>
                            <a:srgbClr val="202945"/>
                          </a:solidFill>
                          <a:latin typeface="Nunito Sans"/>
                        </a:rPr>
                        <a:t>Quasi-sovereign bond…</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192,970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4.2</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0.21</a:t>
                      </a:r>
                    </a:p>
                  </a:txBody>
                  <a:tcPr marL="54000" marR="54000" marT="18000" marB="18000" anchor="ctr">
                    <a:solidFill>
                      <a:srgbClr val="FFFFFF"/>
                    </a:solidFill>
                  </a:tcPr>
                </a:tc>
                <a:extLst>
                  <a:ext uri="{0D108BD9-81ED-4DB2-BD59-A6C34878D82A}">
                    <a16:rowId xmlns:a16="http://schemas.microsoft.com/office/drawing/2014/main" val="10011"/>
                  </a:ext>
                </a:extLst>
              </a:tr>
              <a:tr h="120000">
                <a:tc>
                  <a:txBody>
                    <a:bodyPr/>
                    <a:lstStyle/>
                    <a:p>
                      <a:pPr algn="l"/>
                      <a:r>
                        <a:rPr lang="en-US" sz="1100" b="0" noProof="0" dirty="0">
                          <a:solidFill>
                            <a:srgbClr val="202945"/>
                          </a:solidFill>
                          <a:latin typeface="Nunito Sans"/>
                        </a:rPr>
                        <a:t>Quasi-sovereign bond…</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192,684</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4.2</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0.21</a:t>
                      </a:r>
                    </a:p>
                  </a:txBody>
                  <a:tcPr marL="54000" marR="54000" marT="18000" marB="18000" anchor="ctr">
                    <a:solidFill>
                      <a:srgbClr val="F5F6F8"/>
                    </a:solidFill>
                  </a:tcPr>
                </a:tc>
                <a:extLst>
                  <a:ext uri="{0D108BD9-81ED-4DB2-BD59-A6C34878D82A}">
                    <a16:rowId xmlns:a16="http://schemas.microsoft.com/office/drawing/2014/main" val="10012"/>
                  </a:ext>
                </a:extLst>
              </a:tr>
              <a:tr h="120000">
                <a:tc>
                  <a:txBody>
                    <a:bodyPr/>
                    <a:lstStyle/>
                    <a:p>
                      <a:pPr algn="l"/>
                      <a:r>
                        <a:rPr lang="en-US" sz="1100" b="0" noProof="0" dirty="0">
                          <a:solidFill>
                            <a:srgbClr val="202945"/>
                          </a:solidFill>
                          <a:latin typeface="Nunito Sans"/>
                        </a:rPr>
                        <a:t>Corporate bond (port…</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190,880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2.5</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0.13</a:t>
                      </a:r>
                    </a:p>
                  </a:txBody>
                  <a:tcPr marL="54000" marR="54000" marT="18000" marB="18000" anchor="ctr">
                    <a:solidFill>
                      <a:srgbClr val="FFFFFF"/>
                    </a:solidFill>
                  </a:tcPr>
                </a:tc>
                <a:extLst>
                  <a:ext uri="{0D108BD9-81ED-4DB2-BD59-A6C34878D82A}">
                    <a16:rowId xmlns:a16="http://schemas.microsoft.com/office/drawing/2014/main" val="10013"/>
                  </a:ext>
                </a:extLst>
              </a:tr>
              <a:tr h="120000">
                <a:tc>
                  <a:txBody>
                    <a:bodyPr/>
                    <a:lstStyle/>
                    <a:p>
                      <a:pPr algn="l"/>
                      <a:r>
                        <a:rPr lang="en-US" sz="1100" b="0" noProof="0" dirty="0">
                          <a:solidFill>
                            <a:srgbClr val="202945"/>
                          </a:solidFill>
                          <a:latin typeface="Nunito Sans"/>
                        </a:rPr>
                        <a:t>Corporate bond (</a:t>
                      </a:r>
                      <a:r>
                        <a:rPr lang="en-US" sz="1100" b="0" noProof="0" dirty="0" err="1">
                          <a:solidFill>
                            <a:srgbClr val="202945"/>
                          </a:solidFill>
                          <a:latin typeface="Nunito Sans"/>
                        </a:rPr>
                        <a:t>airc</a:t>
                      </a:r>
                      <a:r>
                        <a:rPr lang="en-US" sz="1100" b="0" noProof="0" dirty="0">
                          <a:solidFill>
                            <a:srgbClr val="202945"/>
                          </a:solidFill>
                          <a:latin typeface="Nunito Sans"/>
                        </a:rPr>
                        <a:t>…</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190,732</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6.0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0.29</a:t>
                      </a:r>
                    </a:p>
                  </a:txBody>
                  <a:tcPr marL="54000" marR="54000" marT="18000" marB="18000" anchor="ctr">
                    <a:solidFill>
                      <a:srgbClr val="F5F6F8"/>
                    </a:solidFill>
                  </a:tcPr>
                </a:tc>
                <a:extLst>
                  <a:ext uri="{0D108BD9-81ED-4DB2-BD59-A6C34878D82A}">
                    <a16:rowId xmlns:a16="http://schemas.microsoft.com/office/drawing/2014/main" val="10014"/>
                  </a:ext>
                </a:extLst>
              </a:tr>
              <a:tr h="120000">
                <a:tc>
                  <a:txBody>
                    <a:bodyPr/>
                    <a:lstStyle/>
                    <a:p>
                      <a:pPr algn="l"/>
                      <a:r>
                        <a:rPr lang="en-US" sz="1100" b="0" noProof="0" dirty="0">
                          <a:solidFill>
                            <a:srgbClr val="202945"/>
                          </a:solidFill>
                          <a:latin typeface="Nunito Sans"/>
                        </a:rPr>
                        <a:t>Corporate bond (comm…</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98,990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6.0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0.15</a:t>
                      </a:r>
                    </a:p>
                  </a:txBody>
                  <a:tcPr marL="54000" marR="54000" marT="18000" marB="18000" anchor="ctr">
                    <a:solidFill>
                      <a:srgbClr val="FFFFFF"/>
                    </a:solidFill>
                  </a:tcPr>
                </a:tc>
                <a:extLst>
                  <a:ext uri="{0D108BD9-81ED-4DB2-BD59-A6C34878D82A}">
                    <a16:rowId xmlns:a16="http://schemas.microsoft.com/office/drawing/2014/main" val="10015"/>
                  </a:ext>
                </a:extLst>
              </a:tr>
              <a:tr h="120000">
                <a:tc>
                  <a:txBody>
                    <a:bodyPr/>
                    <a:lstStyle/>
                    <a:p>
                      <a:pPr algn="l"/>
                      <a:r>
                        <a:rPr lang="en-US" sz="1100" b="0" noProof="0" dirty="0">
                          <a:solidFill>
                            <a:srgbClr val="202945"/>
                          </a:solidFill>
                          <a:latin typeface="Nunito Sans"/>
                        </a:rPr>
                        <a:t>Corporate bond (</a:t>
                      </a:r>
                      <a:r>
                        <a:rPr lang="en-US" sz="1100" b="0" noProof="0" dirty="0" err="1">
                          <a:solidFill>
                            <a:srgbClr val="202945"/>
                          </a:solidFill>
                          <a:latin typeface="Nunito Sans"/>
                        </a:rPr>
                        <a:t>gami</a:t>
                      </a:r>
                      <a:r>
                        <a:rPr lang="en-US" sz="1100" b="0" noProof="0" dirty="0">
                          <a:solidFill>
                            <a:srgbClr val="202945"/>
                          </a:solidFill>
                          <a:latin typeface="Nunito Sans"/>
                        </a:rPr>
                        <a:t>…</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98,860</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4.2</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0.11</a:t>
                      </a:r>
                    </a:p>
                  </a:txBody>
                  <a:tcPr marL="54000" marR="54000" marT="18000" marB="18000" anchor="ctr">
                    <a:solidFill>
                      <a:srgbClr val="F5F6F8"/>
                    </a:solidFill>
                  </a:tcPr>
                </a:tc>
                <a:extLst>
                  <a:ext uri="{0D108BD9-81ED-4DB2-BD59-A6C34878D82A}">
                    <a16:rowId xmlns:a16="http://schemas.microsoft.com/office/drawing/2014/main" val="10016"/>
                  </a:ext>
                </a:extLst>
              </a:tr>
              <a:tr h="120000">
                <a:tc>
                  <a:txBody>
                    <a:bodyPr/>
                    <a:lstStyle/>
                    <a:p>
                      <a:pPr algn="l"/>
                      <a:r>
                        <a:rPr lang="en-US" sz="1100" b="0" noProof="0" dirty="0">
                          <a:solidFill>
                            <a:srgbClr val="202945"/>
                          </a:solidFill>
                          <a:latin typeface="Nunito Sans"/>
                        </a:rPr>
                        <a:t>Corporate bond (tele…</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97,315</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6.0</a:t>
                      </a:r>
                    </a:p>
                  </a:txBody>
                  <a:tcPr marL="54000" marR="54000" marT="18000" marB="18000" anchor="ctr">
                    <a:solidFill>
                      <a:srgbClr val="FFFFFF"/>
                    </a:solidFill>
                  </a:tcPr>
                </a:tc>
                <a:tc>
                  <a:txBody>
                    <a:bodyPr/>
                    <a:lstStyle/>
                    <a:p>
                      <a:pPr algn="r"/>
                      <a:r>
                        <a:rPr lang="en-US" sz="1100" b="0" noProof="0" dirty="0">
                          <a:solidFill>
                            <a:srgbClr val="202945"/>
                          </a:solidFill>
                          <a:latin typeface="Nunito Sans"/>
                        </a:rPr>
                        <a:t>0.15</a:t>
                      </a:r>
                    </a:p>
                  </a:txBody>
                  <a:tcPr marL="54000" marR="54000" marT="18000" marB="18000" anchor="ctr">
                    <a:solidFill>
                      <a:srgbClr val="FFFFFF"/>
                    </a:solidFill>
                  </a:tcPr>
                </a:tc>
                <a:extLst>
                  <a:ext uri="{0D108BD9-81ED-4DB2-BD59-A6C34878D82A}">
                    <a16:rowId xmlns:a16="http://schemas.microsoft.com/office/drawing/2014/main" val="10017"/>
                  </a:ext>
                </a:extLst>
              </a:tr>
              <a:tr h="120000">
                <a:tc>
                  <a:txBody>
                    <a:bodyPr/>
                    <a:lstStyle/>
                    <a:p>
                      <a:pPr algn="l"/>
                      <a:r>
                        <a:rPr lang="en-US" sz="1100" b="0" noProof="0" dirty="0">
                          <a:solidFill>
                            <a:srgbClr val="202945"/>
                          </a:solidFill>
                          <a:latin typeface="Nunito Sans"/>
                        </a:rPr>
                        <a:t>Corporate bond (REIT)</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94,801</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5.1</a:t>
                      </a:r>
                    </a:p>
                  </a:txBody>
                  <a:tcPr marL="54000" marR="54000" marT="18000" marB="18000" anchor="ctr">
                    <a:solidFill>
                      <a:srgbClr val="F5F6F8"/>
                    </a:solidFill>
                  </a:tcPr>
                </a:tc>
                <a:tc>
                  <a:txBody>
                    <a:bodyPr/>
                    <a:lstStyle/>
                    <a:p>
                      <a:pPr algn="r"/>
                      <a:r>
                        <a:rPr lang="en-US" sz="1100" b="0" noProof="0" dirty="0">
                          <a:solidFill>
                            <a:srgbClr val="202945"/>
                          </a:solidFill>
                          <a:latin typeface="Nunito Sans"/>
                        </a:rPr>
                        <a:t>0.12</a:t>
                      </a:r>
                    </a:p>
                  </a:txBody>
                  <a:tcPr marL="54000" marR="54000" marT="18000" marB="18000" anchor="ctr">
                    <a:solidFill>
                      <a:srgbClr val="F5F6F8"/>
                    </a:solidFill>
                  </a:tcPr>
                </a:tc>
                <a:extLst>
                  <a:ext uri="{0D108BD9-81ED-4DB2-BD59-A6C34878D82A}">
                    <a16:rowId xmlns:a16="http://schemas.microsoft.com/office/drawing/2014/main" val="10018"/>
                  </a:ext>
                </a:extLst>
              </a:tr>
            </a:tbl>
          </a:graphicData>
        </a:graphic>
      </p:graphicFrame>
    </p:spTree>
  </p:cSld>
  <p:clrMapOvr>
    <a:masterClrMapping/>
  </p:clrMapOvr>
  <p:transition/>
  <p:extLst>
    <p:ext uri="{6950BFC3-D8DA-4A85-94F7-54DA5524770B}">
      <p188:commentRel xmlns:p188="http://schemas.microsoft.com/office/powerpoint/2018/8/main" r:id="rId2"/>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E258-2835-91C4-7FEF-EF33B72602C2}"/>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B13F2FF1-F8E9-A250-678D-61D39D59C7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11" name="think-cell data - do not delete" hidden="1">
                        <a:extLst>
                          <a:ext uri="{FF2B5EF4-FFF2-40B4-BE49-F238E27FC236}">
                            <a16:creationId xmlns:a16="http://schemas.microsoft.com/office/drawing/2014/main" id="{B13F2FF1-F8E9-A250-678D-61D39D59C7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0F9B6A57-3DD4-74E8-0F03-72FB944F6E61}"/>
              </a:ext>
            </a:extLst>
          </p:cNvPr>
          <p:cNvSpPr>
            <a:spLocks noGrp="1"/>
          </p:cNvSpPr>
          <p:nvPr>
            <p:ph type="title"/>
          </p:nvPr>
        </p:nvSpPr>
        <p:spPr/>
        <p:txBody>
          <a:bodyPr/>
          <a:lstStyle/>
          <a:p>
            <a:r>
              <a:rPr lang="en-US" b="1" noProof="0" dirty="0">
                <a:solidFill>
                  <a:schemeClr val="bg1"/>
                </a:solidFill>
                <a:latin typeface="Nunito Sans" pitchFamily="2" charset="77"/>
              </a:rPr>
              <a:t>Appendix</a:t>
            </a:r>
            <a:endParaRPr lang="en-US" noProof="0" dirty="0"/>
          </a:p>
        </p:txBody>
      </p:sp>
    </p:spTree>
    <p:extLst>
      <p:ext uri="{BB962C8B-B14F-4D97-AF65-F5344CB8AC3E}">
        <p14:creationId xmlns:p14="http://schemas.microsoft.com/office/powerpoint/2010/main" val="194099910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9">
            <a:extLst>
              <a:ext uri="{FF2B5EF4-FFF2-40B4-BE49-F238E27FC236}">
                <a16:creationId xmlns:a16="http://schemas.microsoft.com/office/drawing/2014/main" id="{25A98F11-C97F-4B6D-DAB0-6041E4688C58}"/>
              </a:ext>
            </a:extLst>
          </p:cNvPr>
          <p:cNvSpPr txBox="1"/>
          <p:nvPr/>
        </p:nvSpPr>
        <p:spPr>
          <a:xfrm>
            <a:off x="741478" y="1618195"/>
            <a:ext cx="9297871" cy="311084"/>
          </a:xfrm>
          <a:prstGeom prst="rect">
            <a:avLst/>
          </a:prstGeom>
        </p:spPr>
        <p:txBody>
          <a:bodyPr vert="horz" wrap="square" lIns="0" tIns="48988" rIns="0" bIns="0" rtlCol="0">
            <a:noAutofit/>
          </a:bodyPr>
          <a:lstStyle/>
          <a:p>
            <a:pPr marR="265281" defTabSz="669684">
              <a:lnSpc>
                <a:spcPct val="90000"/>
              </a:lnSpc>
              <a:spcBef>
                <a:spcPct val="0"/>
              </a:spcBef>
            </a:pPr>
            <a:r>
              <a:rPr lang="en-US" sz="1100" noProof="0" dirty="0">
                <a:solidFill>
                  <a:schemeClr val="tx2">
                    <a:lumMod val="95000"/>
                    <a:lumOff val="5000"/>
                  </a:schemeClr>
                </a:solidFill>
              </a:rPr>
              <a:t>Headquartered in Geneva, with several offices in Switzerland, Bank </a:t>
            </a:r>
            <a:r>
              <a:rPr lang="en-US" sz="1100" noProof="0" dirty="0" err="1">
                <a:solidFill>
                  <a:schemeClr val="tx2">
                    <a:lumMod val="95000"/>
                    <a:lumOff val="5000"/>
                  </a:schemeClr>
                </a:solidFill>
              </a:rPr>
              <a:t>Syz</a:t>
            </a:r>
            <a:r>
              <a:rPr lang="en-US" sz="1100" noProof="0" dirty="0">
                <a:solidFill>
                  <a:schemeClr val="tx2">
                    <a:lumMod val="95000"/>
                    <a:lumOff val="5000"/>
                  </a:schemeClr>
                </a:solidFill>
              </a:rPr>
              <a:t> is also firmly anchored in Istanbul and Johannesburg, demonstrating our willingness to ensure close proximity to our clients while giving them global reach, intercontinental expertise, and a global cultural outlook on wealth management.</a:t>
            </a: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p:txBody>
      </p:sp>
      <p:sp>
        <p:nvSpPr>
          <p:cNvPr id="3" name="Rounded Rectangle 2">
            <a:extLst>
              <a:ext uri="{FF2B5EF4-FFF2-40B4-BE49-F238E27FC236}">
                <a16:creationId xmlns:a16="http://schemas.microsoft.com/office/drawing/2014/main" id="{E7D4A707-7602-6299-5DE4-E94333926446}"/>
              </a:ext>
            </a:extLst>
          </p:cNvPr>
          <p:cNvSpPr/>
          <p:nvPr/>
        </p:nvSpPr>
        <p:spPr>
          <a:xfrm>
            <a:off x="741478" y="4406473"/>
            <a:ext cx="1787297" cy="1671384"/>
          </a:xfrm>
          <a:prstGeom prst="roundRect">
            <a:avLst>
              <a:gd name="adj" fmla="val 10207"/>
            </a:avLst>
          </a:prstGeom>
          <a:solidFill>
            <a:schemeClr val="bg1"/>
          </a:solidFill>
          <a:ln>
            <a:solidFill>
              <a:schemeClr val="accent4"/>
            </a:solidFill>
          </a:ln>
          <a:effectLst>
            <a:outerShdw blurRad="50800" dist="38100" dir="2700000" algn="tl" rotWithShape="0">
              <a:prstClr val="black">
                <a:alpha val="40000"/>
              </a:prstClr>
            </a:outerShdw>
          </a:effectLst>
        </p:spPr>
        <p:txBody>
          <a:bodyPr/>
          <a:lstStyle/>
          <a:p>
            <a:endParaRPr lang="en-US" noProof="0" dirty="0">
              <a:solidFill>
                <a:schemeClr val="tx2"/>
              </a:solidFill>
            </a:endParaRPr>
          </a:p>
        </p:txBody>
      </p:sp>
      <p:pic>
        <p:nvPicPr>
          <p:cNvPr id="4" name="Picture 3" descr="A map of the world  Description automatically generated">
            <a:extLst>
              <a:ext uri="{FF2B5EF4-FFF2-40B4-BE49-F238E27FC236}">
                <a16:creationId xmlns:a16="http://schemas.microsoft.com/office/drawing/2014/main" id="{F582D0B6-4277-EC69-BB51-5BA7EF84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8293" y="2638357"/>
            <a:ext cx="7515225" cy="3941636"/>
          </a:xfrm>
          <a:prstGeom prst="rect">
            <a:avLst/>
          </a:prstGeom>
          <a:noFill/>
        </p:spPr>
      </p:pic>
      <p:sp>
        <p:nvSpPr>
          <p:cNvPr id="6" name="Rounded Rectangle 5">
            <a:extLst>
              <a:ext uri="{FF2B5EF4-FFF2-40B4-BE49-F238E27FC236}">
                <a16:creationId xmlns:a16="http://schemas.microsoft.com/office/drawing/2014/main" id="{8258ABC7-80C6-5D8A-8ED3-27E86660581A}"/>
              </a:ext>
            </a:extLst>
          </p:cNvPr>
          <p:cNvSpPr/>
          <p:nvPr/>
        </p:nvSpPr>
        <p:spPr>
          <a:xfrm>
            <a:off x="741478" y="2580685"/>
            <a:ext cx="1787297" cy="1671384"/>
          </a:xfrm>
          <a:prstGeom prst="roundRect">
            <a:avLst>
              <a:gd name="adj" fmla="val 10207"/>
            </a:avLst>
          </a:prstGeom>
          <a:solidFill>
            <a:schemeClr val="bg1"/>
          </a:solidFill>
          <a:ln>
            <a:solidFill>
              <a:srgbClr val="FF8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7" name="Rounded Rectangle 6">
            <a:extLst>
              <a:ext uri="{FF2B5EF4-FFF2-40B4-BE49-F238E27FC236}">
                <a16:creationId xmlns:a16="http://schemas.microsoft.com/office/drawing/2014/main" id="{6E1532EC-E544-C4B6-7826-854C1B820136}"/>
              </a:ext>
            </a:extLst>
          </p:cNvPr>
          <p:cNvSpPr/>
          <p:nvPr/>
        </p:nvSpPr>
        <p:spPr>
          <a:xfrm>
            <a:off x="8221321" y="2580685"/>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8" name="Rounded Rectangle 7">
            <a:extLst>
              <a:ext uri="{FF2B5EF4-FFF2-40B4-BE49-F238E27FC236}">
                <a16:creationId xmlns:a16="http://schemas.microsoft.com/office/drawing/2014/main" id="{0D58FF3E-2EA1-DC03-868B-B1CC0FA1F31C}"/>
              </a:ext>
            </a:extLst>
          </p:cNvPr>
          <p:cNvSpPr/>
          <p:nvPr/>
        </p:nvSpPr>
        <p:spPr>
          <a:xfrm>
            <a:off x="8221321" y="4409918"/>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9" name="TextBox 8">
            <a:extLst>
              <a:ext uri="{FF2B5EF4-FFF2-40B4-BE49-F238E27FC236}">
                <a16:creationId xmlns:a16="http://schemas.microsoft.com/office/drawing/2014/main" id="{AC303204-08A7-BEAF-CFAF-9957688BC9D2}"/>
              </a:ext>
            </a:extLst>
          </p:cNvPr>
          <p:cNvSpPr txBox="1"/>
          <p:nvPr/>
        </p:nvSpPr>
        <p:spPr>
          <a:xfrm>
            <a:off x="804110"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Group assets under </a:t>
            </a:r>
            <a:br>
              <a:rPr lang="en-US" sz="1100" b="1" noProof="0" dirty="0">
                <a:solidFill>
                  <a:srgbClr val="FF8300"/>
                </a:solidFill>
                <a:latin typeface="Nunito Sans" pitchFamily="2" charset="77"/>
              </a:rPr>
            </a:br>
            <a:r>
              <a:rPr lang="en-US" sz="1100" b="1" noProof="0" dirty="0">
                <a:solidFill>
                  <a:srgbClr val="FF8300"/>
                </a:solidFill>
                <a:latin typeface="Nunito Sans" pitchFamily="2" charset="77"/>
              </a:rPr>
              <a:t>management </a:t>
            </a:r>
            <a:r>
              <a:rPr lang="en-US" sz="1100" noProof="0" dirty="0">
                <a:solidFill>
                  <a:srgbClr val="FF8300"/>
                </a:solidFill>
                <a:latin typeface="Nunito Sans" pitchFamily="2" charset="77"/>
              </a:rPr>
              <a:t>(CHF)</a:t>
            </a:r>
            <a:br>
              <a:rPr lang="en-US" sz="1100" noProof="0" dirty="0">
                <a:solidFill>
                  <a:srgbClr val="FFA400"/>
                </a:solidFill>
                <a:latin typeface="Nunito Sans" pitchFamily="2" charset="77"/>
              </a:rPr>
            </a:br>
            <a:endParaRPr lang="en-US" sz="1100" noProof="0" dirty="0">
              <a:solidFill>
                <a:srgbClr val="FFA400"/>
              </a:solidFill>
              <a:latin typeface="Nunito Sans" pitchFamily="2" charset="77"/>
            </a:endParaRPr>
          </a:p>
        </p:txBody>
      </p:sp>
      <p:sp>
        <p:nvSpPr>
          <p:cNvPr id="10" name="TextBox 9">
            <a:extLst>
              <a:ext uri="{FF2B5EF4-FFF2-40B4-BE49-F238E27FC236}">
                <a16:creationId xmlns:a16="http://schemas.microsoft.com/office/drawing/2014/main" id="{754DFC64-B136-6871-0CF8-7B1B5B54C9D1}"/>
              </a:ext>
            </a:extLst>
          </p:cNvPr>
          <p:cNvSpPr txBox="1"/>
          <p:nvPr/>
        </p:nvSpPr>
        <p:spPr>
          <a:xfrm>
            <a:off x="741477" y="3164957"/>
            <a:ext cx="1787298" cy="625943"/>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27.9</a:t>
            </a:r>
            <a:endParaRPr lang="en-US" sz="2400" noProof="0" dirty="0">
              <a:solidFill>
                <a:srgbClr val="FF8300"/>
              </a:solidFill>
              <a:latin typeface="Nunito Sans Black" panose="00000A00000000000000" pitchFamily="2" charset="0"/>
              <a:ea typeface="+mj-ea"/>
              <a:cs typeface="+mj-cs"/>
            </a:endParaRPr>
          </a:p>
        </p:txBody>
      </p:sp>
      <p:sp>
        <p:nvSpPr>
          <p:cNvPr id="11" name="TextBox 10">
            <a:extLst>
              <a:ext uri="{FF2B5EF4-FFF2-40B4-BE49-F238E27FC236}">
                <a16:creationId xmlns:a16="http://schemas.microsoft.com/office/drawing/2014/main" id="{77379A85-E64C-BDE0-D04B-8E8A010AFA2F}"/>
              </a:ext>
            </a:extLst>
          </p:cNvPr>
          <p:cNvSpPr txBox="1"/>
          <p:nvPr/>
        </p:nvSpPr>
        <p:spPr>
          <a:xfrm>
            <a:off x="804110" y="4570405"/>
            <a:ext cx="1662030" cy="212810"/>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CET1 solvency ratio</a:t>
            </a:r>
          </a:p>
        </p:txBody>
      </p:sp>
      <p:sp>
        <p:nvSpPr>
          <p:cNvPr id="12" name="TextBox 11">
            <a:extLst>
              <a:ext uri="{FF2B5EF4-FFF2-40B4-BE49-F238E27FC236}">
                <a16:creationId xmlns:a16="http://schemas.microsoft.com/office/drawing/2014/main" id="{89F9650B-1D66-439D-A065-B5CD199BE43E}"/>
              </a:ext>
            </a:extLst>
          </p:cNvPr>
          <p:cNvSpPr txBox="1"/>
          <p:nvPr/>
        </p:nvSpPr>
        <p:spPr>
          <a:xfrm>
            <a:off x="859009" y="5109297"/>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24.6</a:t>
            </a:r>
            <a:r>
              <a:rPr lang="en-US" sz="2400" noProof="0" dirty="0">
                <a:solidFill>
                  <a:schemeClr val="bg1"/>
                </a:solidFill>
                <a:latin typeface="Nunito Sans Black" panose="00000A00000000000000" pitchFamily="2" charset="0"/>
                <a:ea typeface="+mj-ea"/>
                <a:cs typeface="+mj-cs"/>
              </a:rPr>
              <a:t>%</a:t>
            </a:r>
          </a:p>
        </p:txBody>
      </p:sp>
      <p:sp>
        <p:nvSpPr>
          <p:cNvPr id="13" name="TextBox 12">
            <a:extLst>
              <a:ext uri="{FF2B5EF4-FFF2-40B4-BE49-F238E27FC236}">
                <a16:creationId xmlns:a16="http://schemas.microsoft.com/office/drawing/2014/main" id="{52161819-0D58-A255-15FC-F1691D931BB7}"/>
              </a:ext>
            </a:extLst>
          </p:cNvPr>
          <p:cNvSpPr txBox="1"/>
          <p:nvPr/>
        </p:nvSpPr>
        <p:spPr>
          <a:xfrm>
            <a:off x="8283952"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Founded in 1996</a:t>
            </a:r>
            <a:endParaRPr lang="en-US" sz="1100" noProof="0" dirty="0">
              <a:solidFill>
                <a:srgbClr val="202945"/>
              </a:solidFill>
              <a:latin typeface="Nunito Sans" pitchFamily="2" charset="77"/>
            </a:endParaRPr>
          </a:p>
        </p:txBody>
      </p:sp>
      <p:sp>
        <p:nvSpPr>
          <p:cNvPr id="15" name="TextBox 14">
            <a:extLst>
              <a:ext uri="{FF2B5EF4-FFF2-40B4-BE49-F238E27FC236}">
                <a16:creationId xmlns:a16="http://schemas.microsoft.com/office/drawing/2014/main" id="{66147ED4-2E87-8A40-7309-9611E6F68696}"/>
              </a:ext>
            </a:extLst>
          </p:cNvPr>
          <p:cNvSpPr txBox="1"/>
          <p:nvPr/>
        </p:nvSpPr>
        <p:spPr>
          <a:xfrm>
            <a:off x="8535284" y="4549508"/>
            <a:ext cx="1159365" cy="20971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Locations</a:t>
            </a:r>
          </a:p>
        </p:txBody>
      </p:sp>
      <p:sp>
        <p:nvSpPr>
          <p:cNvPr id="16" name="TextBox 15">
            <a:extLst>
              <a:ext uri="{FF2B5EF4-FFF2-40B4-BE49-F238E27FC236}">
                <a16:creationId xmlns:a16="http://schemas.microsoft.com/office/drawing/2014/main" id="{D71C61BF-4BAE-7EBF-ED80-EC4122CA639A}"/>
              </a:ext>
            </a:extLst>
          </p:cNvPr>
          <p:cNvSpPr txBox="1"/>
          <p:nvPr/>
        </p:nvSpPr>
        <p:spPr>
          <a:xfrm>
            <a:off x="8221320" y="5161862"/>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5400" noProof="0" dirty="0">
                <a:solidFill>
                  <a:schemeClr val="bg1"/>
                </a:solidFill>
                <a:latin typeface="Nunito Sans Black" panose="00000A00000000000000" pitchFamily="2" charset="0"/>
                <a:ea typeface="+mj-ea"/>
                <a:cs typeface="+mj-cs"/>
              </a:rPr>
              <a:t>7</a:t>
            </a:r>
            <a:endParaRPr lang="en-US" sz="2400" noProof="0" dirty="0">
              <a:solidFill>
                <a:schemeClr val="bg1"/>
              </a:solidFill>
              <a:latin typeface="Nunito Sans Black" panose="00000A00000000000000" pitchFamily="2" charset="0"/>
              <a:ea typeface="+mj-ea"/>
              <a:cs typeface="+mj-cs"/>
            </a:endParaRPr>
          </a:p>
        </p:txBody>
      </p:sp>
      <p:sp>
        <p:nvSpPr>
          <p:cNvPr id="17" name="TextBox 16">
            <a:extLst>
              <a:ext uri="{FF2B5EF4-FFF2-40B4-BE49-F238E27FC236}">
                <a16:creationId xmlns:a16="http://schemas.microsoft.com/office/drawing/2014/main" id="{0FDA1A36-FD12-0EDD-46CC-3DF0EF6BA772}"/>
              </a:ext>
            </a:extLst>
          </p:cNvPr>
          <p:cNvSpPr txBox="1"/>
          <p:nvPr/>
        </p:nvSpPr>
        <p:spPr>
          <a:xfrm>
            <a:off x="741477" y="3705631"/>
            <a:ext cx="1787298" cy="223484"/>
          </a:xfrm>
          <a:prstGeom prst="rect">
            <a:avLst/>
          </a:prstGeom>
          <a:noFill/>
        </p:spPr>
        <p:txBody>
          <a:bodyPr vert="horz" wrap="square" lIns="0" tIns="0" rIns="0" bIns="0" rtlCol="0" anchor="ctr">
            <a:noAutofit/>
          </a:bodyPr>
          <a:lstStyle/>
          <a:p>
            <a:pPr algn="ctr" defTabSz="685804">
              <a:lnSpc>
                <a:spcPct val="90000"/>
              </a:lnSpc>
              <a:spcBef>
                <a:spcPct val="0"/>
              </a:spcBef>
            </a:pPr>
            <a:r>
              <a:rPr lang="en-US" sz="1100" b="1" noProof="0" dirty="0">
                <a:solidFill>
                  <a:srgbClr val="FF8300"/>
                </a:solidFill>
                <a:latin typeface="Nunito Sans" pitchFamily="2" charset="77"/>
                <a:ea typeface="+mj-ea"/>
                <a:cs typeface="+mj-cs"/>
              </a:rPr>
              <a:t>billion</a:t>
            </a:r>
            <a:endParaRPr lang="en-US" sz="1000" noProof="0" dirty="0">
              <a:solidFill>
                <a:srgbClr val="FF8300"/>
              </a:solidFill>
              <a:latin typeface="Nunito Sans" pitchFamily="2" charset="77"/>
              <a:ea typeface="+mj-ea"/>
              <a:cs typeface="+mj-cs"/>
            </a:endParaRPr>
          </a:p>
        </p:txBody>
      </p:sp>
      <p:sp>
        <p:nvSpPr>
          <p:cNvPr id="20" name="Oval 19">
            <a:extLst>
              <a:ext uri="{FF2B5EF4-FFF2-40B4-BE49-F238E27FC236}">
                <a16:creationId xmlns:a16="http://schemas.microsoft.com/office/drawing/2014/main" id="{5783BF94-455D-D3BA-DF05-4F30C1153CD9}"/>
              </a:ext>
            </a:extLst>
          </p:cNvPr>
          <p:cNvSpPr/>
          <p:nvPr/>
        </p:nvSpPr>
        <p:spPr>
          <a:xfrm>
            <a:off x="4352176" y="2602977"/>
            <a:ext cx="1649092" cy="1649092"/>
          </a:xfrm>
          <a:prstGeom prst="ellipse">
            <a:avLst/>
          </a:prstGeom>
          <a:solidFill>
            <a:schemeClr val="accent4">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1" name="TextBox 20">
            <a:extLst>
              <a:ext uri="{FF2B5EF4-FFF2-40B4-BE49-F238E27FC236}">
                <a16:creationId xmlns:a16="http://schemas.microsoft.com/office/drawing/2014/main" id="{9FB99637-EB3F-A201-8857-7E89E25C4F20}"/>
              </a:ext>
            </a:extLst>
          </p:cNvPr>
          <p:cNvSpPr txBox="1"/>
          <p:nvPr/>
        </p:nvSpPr>
        <p:spPr>
          <a:xfrm>
            <a:off x="4401917" y="2814023"/>
            <a:ext cx="1549611" cy="1272843"/>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EUROPE</a:t>
            </a:r>
            <a:br>
              <a:rPr lang="en-US" sz="1100" b="1" noProof="0" dirty="0">
                <a:solidFill>
                  <a:srgbClr val="202945"/>
                </a:solidFill>
                <a:latin typeface="Urbane Bold" pitchFamily="2" charset="77"/>
              </a:rPr>
            </a:b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Geneva</a:t>
            </a:r>
          </a:p>
          <a:p>
            <a:pPr algn="ctr"/>
            <a:r>
              <a:rPr lang="en-US" sz="1100" noProof="0" dirty="0">
                <a:solidFill>
                  <a:schemeClr val="tx2">
                    <a:lumMod val="95000"/>
                    <a:lumOff val="5000"/>
                  </a:schemeClr>
                </a:solidFill>
                <a:effectLst/>
              </a:rPr>
              <a:t>Zurich</a:t>
            </a:r>
          </a:p>
          <a:p>
            <a:pPr algn="ctr"/>
            <a:r>
              <a:rPr lang="en-US" sz="1100" noProof="0" dirty="0" err="1">
                <a:solidFill>
                  <a:schemeClr val="tx2">
                    <a:lumMod val="95000"/>
                    <a:lumOff val="5000"/>
                  </a:schemeClr>
                </a:solidFill>
                <a:effectLst/>
              </a:rPr>
              <a:t>Pfäffikon</a:t>
            </a: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Lugano</a:t>
            </a:r>
          </a:p>
          <a:p>
            <a:pPr algn="ctr"/>
            <a:r>
              <a:rPr lang="en-US" sz="1100" noProof="0" dirty="0">
                <a:solidFill>
                  <a:schemeClr val="tx2">
                    <a:lumMod val="95000"/>
                    <a:lumOff val="5000"/>
                  </a:schemeClr>
                </a:solidFill>
                <a:effectLst/>
              </a:rPr>
              <a:t>Locarno</a:t>
            </a:r>
          </a:p>
        </p:txBody>
      </p:sp>
      <p:sp>
        <p:nvSpPr>
          <p:cNvPr id="23" name="Oval 22">
            <a:extLst>
              <a:ext uri="{FF2B5EF4-FFF2-40B4-BE49-F238E27FC236}">
                <a16:creationId xmlns:a16="http://schemas.microsoft.com/office/drawing/2014/main" id="{E13F1123-00F2-FFB0-7C03-E8A5F1860991}"/>
              </a:ext>
            </a:extLst>
          </p:cNvPr>
          <p:cNvSpPr/>
          <p:nvPr/>
        </p:nvSpPr>
        <p:spPr>
          <a:xfrm>
            <a:off x="5713654" y="3554244"/>
            <a:ext cx="1177926" cy="1177926"/>
          </a:xfrm>
          <a:prstGeom prst="ellipse">
            <a:avLst/>
          </a:prstGeom>
          <a:solidFill>
            <a:srgbClr val="FFA4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5" name="TextBox 24">
            <a:extLst>
              <a:ext uri="{FF2B5EF4-FFF2-40B4-BE49-F238E27FC236}">
                <a16:creationId xmlns:a16="http://schemas.microsoft.com/office/drawing/2014/main" id="{B8A5A86B-36DB-4433-77DB-F1A38BE9273F}"/>
              </a:ext>
            </a:extLst>
          </p:cNvPr>
          <p:cNvSpPr txBox="1"/>
          <p:nvPr/>
        </p:nvSpPr>
        <p:spPr>
          <a:xfrm>
            <a:off x="5841591" y="3878243"/>
            <a:ext cx="922052" cy="54949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ASIA</a:t>
            </a:r>
            <a:endParaRPr lang="en-US" sz="1100" noProof="0" dirty="0">
              <a:solidFill>
                <a:schemeClr val="tx2">
                  <a:lumMod val="95000"/>
                  <a:lumOff val="5000"/>
                </a:schemeClr>
              </a:solidFill>
              <a:effectLst/>
            </a:endParaRP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Istanbul</a:t>
            </a:r>
          </a:p>
        </p:txBody>
      </p:sp>
      <p:sp>
        <p:nvSpPr>
          <p:cNvPr id="26" name="Oval 25">
            <a:extLst>
              <a:ext uri="{FF2B5EF4-FFF2-40B4-BE49-F238E27FC236}">
                <a16:creationId xmlns:a16="http://schemas.microsoft.com/office/drawing/2014/main" id="{76C05DEC-3A68-4991-0452-F5563B66674F}"/>
              </a:ext>
            </a:extLst>
          </p:cNvPr>
          <p:cNvSpPr/>
          <p:nvPr/>
        </p:nvSpPr>
        <p:spPr>
          <a:xfrm>
            <a:off x="5285948" y="5226013"/>
            <a:ext cx="1177926" cy="1177926"/>
          </a:xfrm>
          <a:prstGeom prst="ellipse">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7" name="TextBox 26">
            <a:extLst>
              <a:ext uri="{FF2B5EF4-FFF2-40B4-BE49-F238E27FC236}">
                <a16:creationId xmlns:a16="http://schemas.microsoft.com/office/drawing/2014/main" id="{39E51C17-E498-2D45-7E96-038BF1E6D2F8}"/>
              </a:ext>
            </a:extLst>
          </p:cNvPr>
          <p:cNvSpPr txBox="1"/>
          <p:nvPr/>
        </p:nvSpPr>
        <p:spPr>
          <a:xfrm>
            <a:off x="5100106" y="5551080"/>
            <a:ext cx="1549611" cy="50894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AFRICA</a:t>
            </a: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Johannesburg</a:t>
            </a:r>
          </a:p>
        </p:txBody>
      </p:sp>
      <p:sp>
        <p:nvSpPr>
          <p:cNvPr id="32" name="Rectangle 31">
            <a:extLst>
              <a:ext uri="{FF2B5EF4-FFF2-40B4-BE49-F238E27FC236}">
                <a16:creationId xmlns:a16="http://schemas.microsoft.com/office/drawing/2014/main" id="{C48D896B-4B6F-AF62-00CE-A89AE5144B7F}"/>
              </a:ext>
            </a:extLst>
          </p:cNvPr>
          <p:cNvSpPr/>
          <p:nvPr/>
        </p:nvSpPr>
        <p:spPr>
          <a:xfrm>
            <a:off x="666000" y="1033200"/>
            <a:ext cx="3278698" cy="419730"/>
          </a:xfrm>
          <a:prstGeom prst="rect">
            <a:avLst/>
          </a:prstGeom>
        </p:spPr>
        <p:txBody>
          <a:bodyPr wrap="square" lIns="0">
            <a:spAutoFit/>
          </a:bodyPr>
          <a:lstStyle/>
          <a:p>
            <a:pPr defTabSz="685804">
              <a:lnSpc>
                <a:spcPct val="90000"/>
              </a:lnSpc>
              <a:spcBef>
                <a:spcPct val="0"/>
              </a:spcBef>
              <a:defRPr/>
            </a:pPr>
            <a:r>
              <a:rPr lang="en-US" sz="2300" b="1" noProof="0" dirty="0" err="1">
                <a:gradFill flip="none" rotWithShape="1">
                  <a:gsLst>
                    <a:gs pos="0">
                      <a:schemeClr val="accent4"/>
                    </a:gs>
                    <a:gs pos="100000">
                      <a:srgbClr val="FFA400"/>
                    </a:gs>
                  </a:gsLst>
                  <a:lin ang="0" scaled="1"/>
                </a:gradFill>
                <a:latin typeface="+mj-lt"/>
                <a:ea typeface="+mj-ea"/>
                <a:cs typeface="+mj-cs"/>
              </a:rPr>
              <a:t>Syz</a:t>
            </a:r>
            <a:r>
              <a:rPr lang="en-US" sz="2300" b="1" noProof="0" dirty="0">
                <a:gradFill flip="none" rotWithShape="1">
                  <a:gsLst>
                    <a:gs pos="0">
                      <a:schemeClr val="accent4"/>
                    </a:gs>
                    <a:gs pos="100000">
                      <a:srgbClr val="FFA400"/>
                    </a:gs>
                  </a:gsLst>
                  <a:lin ang="0" scaled="1"/>
                </a:gradFill>
                <a:latin typeface="+mj-lt"/>
                <a:ea typeface="+mj-ea"/>
                <a:cs typeface="+mj-cs"/>
              </a:rPr>
              <a:t> Group at a Glance</a:t>
            </a:r>
          </a:p>
        </p:txBody>
      </p:sp>
      <p:sp>
        <p:nvSpPr>
          <p:cNvPr id="2" name="TextBox 1">
            <a:extLst>
              <a:ext uri="{FF2B5EF4-FFF2-40B4-BE49-F238E27FC236}">
                <a16:creationId xmlns:a16="http://schemas.microsoft.com/office/drawing/2014/main" id="{3FE4AF1E-5503-CE4E-15C2-5CEEAF5230A2}"/>
              </a:ext>
            </a:extLst>
          </p:cNvPr>
          <p:cNvSpPr txBox="1"/>
          <p:nvPr/>
        </p:nvSpPr>
        <p:spPr>
          <a:xfrm>
            <a:off x="866742" y="6403939"/>
            <a:ext cx="2084801" cy="312704"/>
          </a:xfrm>
          <a:prstGeom prst="rect">
            <a:avLst/>
          </a:prstGeom>
          <a:noFill/>
        </p:spPr>
        <p:txBody>
          <a:bodyPr vert="horz" wrap="square" lIns="0" tIns="0" rIns="0" bIns="0" rtlCol="0">
            <a:noAutofit/>
          </a:bodyPr>
          <a:lstStyle/>
          <a:p>
            <a:pPr algn="l"/>
            <a:r>
              <a:rPr lang="en-US" sz="800" i="1" noProof="0" dirty="0">
                <a:solidFill>
                  <a:srgbClr val="4B5F80"/>
                </a:solidFill>
              </a:rPr>
              <a:t>Audited figures as at 31.12.2025</a:t>
            </a:r>
            <a:endParaRPr lang="en-US" sz="800" noProof="0" dirty="0"/>
          </a:p>
        </p:txBody>
      </p:sp>
      <p:pic>
        <p:nvPicPr>
          <p:cNvPr id="28" name="Picture 27" descr="A black and white logo  AI-generated content may be incorrect.">
            <a:extLst>
              <a:ext uri="{FF2B5EF4-FFF2-40B4-BE49-F238E27FC236}">
                <a16:creationId xmlns:a16="http://schemas.microsoft.com/office/drawing/2014/main" id="{0BBEEE22-32B3-92AB-5F02-8F47F9A65F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5284" y="3189928"/>
            <a:ext cx="1398857" cy="576000"/>
          </a:xfrm>
          <a:prstGeom prst="rect">
            <a:avLst/>
          </a:prstGeom>
        </p:spPr>
      </p:pic>
    </p:spTree>
    <p:extLst>
      <p:ext uri="{BB962C8B-B14F-4D97-AF65-F5344CB8AC3E}">
        <p14:creationId xmlns:p14="http://schemas.microsoft.com/office/powerpoint/2010/main" val="181770754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The house view: tactical asset allocation</a:t>
            </a:r>
          </a:p>
        </p:txBody>
      </p:sp>
      <p:sp>
        <p:nvSpPr>
          <p:cNvPr id="3" name="Text Placeholder 2"/>
          <p:cNvSpPr>
            <a:spLocks noGrp="1"/>
          </p:cNvSpPr>
          <p:nvPr>
            <p:ph type="body" sz="quarter" idx="14"/>
          </p:nvPr>
        </p:nvSpPr>
        <p:spPr>
          <a:xfrm>
            <a:off x="665163" y="1771273"/>
            <a:ext cx="9398001" cy="251511"/>
          </a:xfrm>
        </p:spPr>
        <p:txBody>
          <a:bodyPr/>
          <a:lstStyle/>
          <a:p>
            <a:r>
              <a:rPr lang="en-US" i="1" noProof="0" dirty="0"/>
              <a:t>Please enter client TAA. For e.g.:</a:t>
            </a:r>
          </a:p>
        </p:txBody>
      </p:sp>
      <p:pic>
        <p:nvPicPr>
          <p:cNvPr id="6" name="Picture 5">
            <a:extLst>
              <a:ext uri="{FF2B5EF4-FFF2-40B4-BE49-F238E27FC236}">
                <a16:creationId xmlns:a16="http://schemas.microsoft.com/office/drawing/2014/main" id="{B81F2021-9A45-4CF0-FD82-CA4F13F9EEFA}"/>
              </a:ext>
            </a:extLst>
          </p:cNvPr>
          <p:cNvPicPr>
            <a:picLocks noChangeAspect="1"/>
          </p:cNvPicPr>
          <p:nvPr/>
        </p:nvPicPr>
        <p:blipFill>
          <a:blip r:embed="rId2"/>
          <a:stretch>
            <a:fillRect/>
          </a:stretch>
        </p:blipFill>
        <p:spPr>
          <a:xfrm>
            <a:off x="1079500" y="2148574"/>
            <a:ext cx="8114717" cy="4836963"/>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11">
            <a:extLst>
              <a:ext uri="{FF2B5EF4-FFF2-40B4-BE49-F238E27FC236}">
                <a16:creationId xmlns:a16="http://schemas.microsoft.com/office/drawing/2014/main" id="{B53B42FA-C9E0-E25F-6442-1B3A21D7785E}"/>
              </a:ext>
            </a:extLst>
          </p:cNvPr>
          <p:cNvGrpSpPr/>
          <p:nvPr/>
        </p:nvGrpSpPr>
        <p:grpSpPr>
          <a:xfrm>
            <a:off x="597957" y="2576888"/>
            <a:ext cx="3852000" cy="3895167"/>
            <a:chOff x="560934" y="2293200"/>
            <a:chExt cx="3852000" cy="3895167"/>
          </a:xfrm>
        </p:grpSpPr>
        <p:sp>
          <p:nvSpPr>
            <p:cNvPr id="104" name="Partial Circle 103">
              <a:extLst>
                <a:ext uri="{FF2B5EF4-FFF2-40B4-BE49-F238E27FC236}">
                  <a16:creationId xmlns:a16="http://schemas.microsoft.com/office/drawing/2014/main" id="{76110295-BA64-973D-5B84-26A0A0676C7B}"/>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110" name="Partial Circle 109">
              <a:extLst>
                <a:ext uri="{FF2B5EF4-FFF2-40B4-BE49-F238E27FC236}">
                  <a16:creationId xmlns:a16="http://schemas.microsoft.com/office/drawing/2014/main" id="{4357DFB7-D4F9-BE6E-F6FB-D721C6D18933}"/>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59" name="Partial Circle 58">
            <a:extLst>
              <a:ext uri="{FF2B5EF4-FFF2-40B4-BE49-F238E27FC236}">
                <a16:creationId xmlns:a16="http://schemas.microsoft.com/office/drawing/2014/main" id="{FA881C9D-669F-9545-B5CE-AFD90523989E}"/>
              </a:ext>
            </a:extLst>
          </p:cNvPr>
          <p:cNvSpPr/>
          <p:nvPr/>
        </p:nvSpPr>
        <p:spPr>
          <a:xfrm>
            <a:off x="909979" y="2949187"/>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 name="Arc 1">
            <a:extLst>
              <a:ext uri="{FF2B5EF4-FFF2-40B4-BE49-F238E27FC236}">
                <a16:creationId xmlns:a16="http://schemas.microsoft.com/office/drawing/2014/main" id="{7DD54C3D-AE8D-6AE0-6ADC-FF33887EA804}"/>
              </a:ext>
            </a:extLst>
          </p:cNvPr>
          <p:cNvSpPr/>
          <p:nvPr/>
        </p:nvSpPr>
        <p:spPr>
          <a:xfrm>
            <a:off x="1703608" y="3937366"/>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 name="UpSlide SubSection Marker" hidden="1"/>
          <p:cNvSpPr/>
          <p:nvPr>
            <p:custDataLst>
              <p:tags r:id="rId2"/>
            </p:custDataLst>
          </p:nvPr>
        </p:nvSpPr>
        <p:spPr>
          <a:xfrm>
            <a:off x="0" y="-254000"/>
            <a:ext cx="1270000" cy="12700"/>
          </a:xfrm>
          <a:prstGeom prst="rect">
            <a:avLst/>
          </a:prstGeom>
          <a:solidFill>
            <a:srgbClr val="3AB7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rgbClr val="FFFFFF"/>
              </a:solidFill>
              <a:latin typeface="Nunito Sans" pitchFamily="2" charset="77"/>
            </a:endParaRPr>
          </a:p>
        </p:txBody>
      </p:sp>
      <p:sp>
        <p:nvSpPr>
          <p:cNvPr id="10" name="Title 5">
            <a:extLst>
              <a:ext uri="{FF2B5EF4-FFF2-40B4-BE49-F238E27FC236}">
                <a16:creationId xmlns:a16="http://schemas.microsoft.com/office/drawing/2014/main" id="{6B985805-CD77-203E-3375-2B7063C14B6C}"/>
              </a:ext>
            </a:extLst>
          </p:cNvPr>
          <p:cNvSpPr>
            <a:spLocks noGrp="1"/>
          </p:cNvSpPr>
          <p:nvPr>
            <p:ph type="title"/>
          </p:nvPr>
        </p:nvSpPr>
        <p:spPr/>
        <p:txBody>
          <a:bodyPr/>
          <a:lstStyle/>
          <a:p>
            <a:r>
              <a:rPr lang="en-US" noProof="0" dirty="0"/>
              <a:t>Your Virtual team of Experts </a:t>
            </a:r>
          </a:p>
        </p:txBody>
      </p:sp>
      <p:sp>
        <p:nvSpPr>
          <p:cNvPr id="11" name="Rectangle 10">
            <a:extLst>
              <a:ext uri="{FF2B5EF4-FFF2-40B4-BE49-F238E27FC236}">
                <a16:creationId xmlns:a16="http://schemas.microsoft.com/office/drawing/2014/main" id="{B08A5C7B-982E-1653-D606-2DD269AA227E}"/>
              </a:ext>
            </a:extLst>
          </p:cNvPr>
          <p:cNvSpPr/>
          <p:nvPr/>
        </p:nvSpPr>
        <p:spPr>
          <a:xfrm>
            <a:off x="669925" y="1485161"/>
            <a:ext cx="9398000" cy="455056"/>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algn="just" defTabSz="1007943">
              <a:spcBef>
                <a:spcPts val="300"/>
              </a:spcBef>
              <a:spcAft>
                <a:spcPts val="600"/>
              </a:spcAft>
              <a:buClr>
                <a:schemeClr val="accent3"/>
              </a:buClr>
              <a:buSzPct val="90000"/>
            </a:pPr>
            <a:r>
              <a:rPr lang="en-US" sz="1300" b="1" noProof="0" dirty="0">
                <a:solidFill>
                  <a:schemeClr val="tx2"/>
                </a:solidFill>
                <a:latin typeface="+mj-lt"/>
              </a:rPr>
              <a:t>We Advise, You Decide</a:t>
            </a:r>
          </a:p>
          <a:p>
            <a:pPr algn="just" defTabSz="1007943">
              <a:spcBef>
                <a:spcPts val="300"/>
              </a:spcBef>
              <a:buClr>
                <a:schemeClr val="accent3"/>
              </a:buClr>
              <a:buSzPct val="90000"/>
            </a:pPr>
            <a:r>
              <a:rPr lang="en-US" sz="1300" b="1" noProof="0" dirty="0">
                <a:solidFill>
                  <a:schemeClr val="tx2"/>
                </a:solidFill>
                <a:latin typeface="+mj-lt"/>
              </a:rPr>
              <a:t>With our Advisory service, you are at the heart of our virtual team of experts. While you have full power on investment decisions, we provide you the expertise and insights to manage your portfolio like an investment professional</a:t>
            </a:r>
          </a:p>
          <a:p>
            <a:pPr marL="730800" lvl="1" indent="-273600" algn="just" defTabSz="1007943">
              <a:spcBef>
                <a:spcPts val="300"/>
              </a:spcBef>
              <a:buClr>
                <a:schemeClr val="accent3"/>
              </a:buClr>
              <a:buSzPct val="90000"/>
              <a:buFont typeface="Wingdings 3" panose="05040102010807070707" pitchFamily="18" charset="2"/>
              <a:buChar char=""/>
            </a:pPr>
            <a:endParaRPr lang="en-US" sz="1300" noProof="0" dirty="0">
              <a:solidFill>
                <a:schemeClr val="tx2"/>
              </a:solidFill>
              <a:latin typeface="+mj-lt"/>
            </a:endParaRPr>
          </a:p>
        </p:txBody>
      </p:sp>
      <p:sp>
        <p:nvSpPr>
          <p:cNvPr id="74" name="Rectangle 73">
            <a:extLst>
              <a:ext uri="{FF2B5EF4-FFF2-40B4-BE49-F238E27FC236}">
                <a16:creationId xmlns:a16="http://schemas.microsoft.com/office/drawing/2014/main" id="{BF686385-08D0-B6F5-084F-51BA0B70E9A7}"/>
              </a:ext>
            </a:extLst>
          </p:cNvPr>
          <p:cNvSpPr/>
          <p:nvPr/>
        </p:nvSpPr>
        <p:spPr>
          <a:xfrm>
            <a:off x="4526778" y="3151535"/>
            <a:ext cx="2736000" cy="1620000"/>
          </a:xfrm>
          <a:prstGeom prst="rect">
            <a:avLst/>
          </a:prstGeom>
          <a:solidFill>
            <a:srgbClr val="7C83C7">
              <a:alpha val="8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Portfolio Management</a:t>
            </a:r>
          </a:p>
          <a:p>
            <a:r>
              <a:rPr lang="en-US" sz="1100" noProof="0" dirty="0"/>
              <a:t>Head: Gianluca </a:t>
            </a:r>
            <a:r>
              <a:rPr lang="en-US" sz="1100" noProof="0" dirty="0" err="1"/>
              <a:t>Oderda</a:t>
            </a:r>
            <a:endParaRPr lang="en-US" sz="1100" noProof="0" dirty="0"/>
          </a:p>
          <a:p>
            <a:endParaRPr lang="en-US" sz="1200" noProof="0" dirty="0"/>
          </a:p>
          <a:p>
            <a:endParaRPr lang="en-US" sz="1200" noProof="0" dirty="0"/>
          </a:p>
          <a:p>
            <a:r>
              <a:rPr lang="en-US" sz="1200" noProof="0" dirty="0"/>
              <a:t> </a:t>
            </a:r>
          </a:p>
        </p:txBody>
      </p:sp>
      <p:sp>
        <p:nvSpPr>
          <p:cNvPr id="75" name="Rectangle 74">
            <a:extLst>
              <a:ext uri="{FF2B5EF4-FFF2-40B4-BE49-F238E27FC236}">
                <a16:creationId xmlns:a16="http://schemas.microsoft.com/office/drawing/2014/main" id="{3EAAF61D-C4EF-45DE-3045-534BEE9B9D0C}"/>
              </a:ext>
            </a:extLst>
          </p:cNvPr>
          <p:cNvSpPr/>
          <p:nvPr/>
        </p:nvSpPr>
        <p:spPr>
          <a:xfrm>
            <a:off x="4526779" y="4844615"/>
            <a:ext cx="2736000" cy="16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7938">
              <a:lnSpc>
                <a:spcPct val="100000"/>
              </a:lnSpc>
              <a:spcBef>
                <a:spcPts val="75"/>
              </a:spcBef>
            </a:pPr>
            <a:r>
              <a:rPr lang="en-US" sz="1400" b="1" spc="-5" noProof="0" dirty="0">
                <a:solidFill>
                  <a:schemeClr val="bg1"/>
                </a:solidFill>
                <a:latin typeface="Nunito Sans" pitchFamily="2" charset="77"/>
                <a:cs typeface="StoneSansITCStd SemiBold"/>
              </a:rPr>
              <a:t>Investment Advisory</a:t>
            </a:r>
          </a:p>
          <a:p>
            <a:pPr marL="7938">
              <a:spcBef>
                <a:spcPts val="75"/>
              </a:spcBef>
            </a:pPr>
            <a:r>
              <a:rPr lang="en-US" sz="1100" noProof="0" dirty="0"/>
              <a:t>Head: Gregory </a:t>
            </a:r>
            <a:r>
              <a:rPr lang="en-US" sz="1100" noProof="0" dirty="0" err="1"/>
              <a:t>Diche</a:t>
            </a:r>
            <a:endParaRPr lang="en-US" sz="1100" noProof="0" dirty="0"/>
          </a:p>
        </p:txBody>
      </p:sp>
      <p:sp>
        <p:nvSpPr>
          <p:cNvPr id="79" name="Rectangle 78">
            <a:extLst>
              <a:ext uri="{FF2B5EF4-FFF2-40B4-BE49-F238E27FC236}">
                <a16:creationId xmlns:a16="http://schemas.microsoft.com/office/drawing/2014/main" id="{BA7377E6-9607-5A0D-4BEA-FA08E19E2BD1}"/>
              </a:ext>
            </a:extLst>
          </p:cNvPr>
          <p:cNvSpPr/>
          <p:nvPr/>
        </p:nvSpPr>
        <p:spPr>
          <a:xfrm>
            <a:off x="7347393" y="3151535"/>
            <a:ext cx="2736000" cy="1631282"/>
          </a:xfrm>
          <a:prstGeom prst="rect">
            <a:avLst/>
          </a:prstGeom>
          <a:solidFill>
            <a:srgbClr val="FF6C0E">
              <a:alpha val="8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Research</a:t>
            </a:r>
          </a:p>
          <a:p>
            <a:r>
              <a:rPr lang="en-US" sz="1100" noProof="0" dirty="0"/>
              <a:t>Asset-Class Head(s)</a:t>
            </a:r>
          </a:p>
          <a:p>
            <a:endParaRPr lang="en-US" sz="1400" b="1" noProof="0" dirty="0">
              <a:solidFill>
                <a:schemeClr val="bg1"/>
              </a:solidFill>
              <a:latin typeface="Nunito Sans" pitchFamily="2" charset="77"/>
            </a:endParaRPr>
          </a:p>
        </p:txBody>
      </p:sp>
      <p:sp>
        <p:nvSpPr>
          <p:cNvPr id="81" name="Rectangle 80">
            <a:extLst>
              <a:ext uri="{FF2B5EF4-FFF2-40B4-BE49-F238E27FC236}">
                <a16:creationId xmlns:a16="http://schemas.microsoft.com/office/drawing/2014/main" id="{4E98BC0F-35C8-96F0-30AC-EDB3F0E973B6}"/>
              </a:ext>
            </a:extLst>
          </p:cNvPr>
          <p:cNvSpPr/>
          <p:nvPr/>
        </p:nvSpPr>
        <p:spPr>
          <a:xfrm>
            <a:off x="7347393" y="4844615"/>
            <a:ext cx="2736000" cy="1620000"/>
          </a:xfrm>
          <a:prstGeom prst="rect">
            <a:avLst/>
          </a:prstGeom>
          <a:solidFill>
            <a:srgbClr val="B35DB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Trading Desk</a:t>
            </a:r>
          </a:p>
          <a:p>
            <a:r>
              <a:rPr lang="en-US" sz="1100" noProof="0" dirty="0"/>
              <a:t>Head: Christian </a:t>
            </a:r>
            <a:r>
              <a:rPr lang="en-US" sz="1100" noProof="0" dirty="0" err="1"/>
              <a:t>Aldenkortt</a:t>
            </a:r>
            <a:endParaRPr lang="en-US" sz="1100" noProof="0" dirty="0"/>
          </a:p>
          <a:p>
            <a:endParaRPr lang="en-US" sz="1400" b="1" noProof="0" dirty="0">
              <a:solidFill>
                <a:schemeClr val="bg1"/>
              </a:solidFill>
              <a:latin typeface="Nunito Sans" pitchFamily="2" charset="77"/>
            </a:endParaRPr>
          </a:p>
        </p:txBody>
      </p:sp>
      <p:sp>
        <p:nvSpPr>
          <p:cNvPr id="19" name="TextBox 18">
            <a:extLst>
              <a:ext uri="{FF2B5EF4-FFF2-40B4-BE49-F238E27FC236}">
                <a16:creationId xmlns:a16="http://schemas.microsoft.com/office/drawing/2014/main" id="{6C99E779-45AE-1C74-0D82-8D5BAD4F21F0}"/>
              </a:ext>
            </a:extLst>
          </p:cNvPr>
          <p:cNvSpPr txBox="1"/>
          <p:nvPr/>
        </p:nvSpPr>
        <p:spPr>
          <a:xfrm>
            <a:off x="4530894" y="3718755"/>
            <a:ext cx="273188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Portfolio construction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Asset allocation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Bespoke portfolio management</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Actively managed certificates and funds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Performance monitoring</a:t>
            </a:r>
          </a:p>
        </p:txBody>
      </p:sp>
      <p:sp>
        <p:nvSpPr>
          <p:cNvPr id="20" name="TextBox 19">
            <a:extLst>
              <a:ext uri="{FF2B5EF4-FFF2-40B4-BE49-F238E27FC236}">
                <a16:creationId xmlns:a16="http://schemas.microsoft.com/office/drawing/2014/main" id="{C014D47F-4C3F-CF73-3776-1F91A6412521}"/>
              </a:ext>
            </a:extLst>
          </p:cNvPr>
          <p:cNvSpPr txBox="1"/>
          <p:nvPr/>
        </p:nvSpPr>
        <p:spPr>
          <a:xfrm>
            <a:off x="4541314" y="5409601"/>
            <a:ext cx="272146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Multi-asset expertise</a:t>
            </a:r>
          </a:p>
          <a:p>
            <a:pPr marL="171450" indent="-171450">
              <a:spcAft>
                <a:spcPts val="300"/>
              </a:spcAft>
              <a:buFont typeface="Arial" panose="020B0604020202020204" pitchFamily="34" charset="0"/>
              <a:buChar char="•"/>
            </a:pPr>
            <a:r>
              <a:rPr lang="en-US" sz="1050" noProof="0" dirty="0">
                <a:solidFill>
                  <a:schemeClr val="bg1"/>
                </a:solidFill>
              </a:rPr>
              <a:t>Tailored investment strategies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Investment convictions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Proactive advice</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 monitoring</a:t>
            </a:r>
          </a:p>
        </p:txBody>
      </p:sp>
      <p:sp>
        <p:nvSpPr>
          <p:cNvPr id="21" name="TextBox 20">
            <a:extLst>
              <a:ext uri="{FF2B5EF4-FFF2-40B4-BE49-F238E27FC236}">
                <a16:creationId xmlns:a16="http://schemas.microsoft.com/office/drawing/2014/main" id="{65C0A57B-3319-761F-63C2-1D4F595EC14B}"/>
              </a:ext>
            </a:extLst>
          </p:cNvPr>
          <p:cNvSpPr txBox="1"/>
          <p:nvPr/>
        </p:nvSpPr>
        <p:spPr>
          <a:xfrm>
            <a:off x="7347392" y="3717861"/>
            <a:ext cx="2838599" cy="888087"/>
          </a:xfrm>
          <a:prstGeom prst="rect">
            <a:avLst/>
          </a:prstGeom>
          <a:noFill/>
        </p:spPr>
        <p:txBody>
          <a:bodyPr vert="horz" wrap="square" lIns="72000" tIns="0" rIns="72000" bIns="0" numCol="2" spcCol="36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Macro outlook &amp; thought leadership</a:t>
            </a:r>
          </a:p>
          <a:p>
            <a:pPr marL="171450" indent="-171450">
              <a:spcBef>
                <a:spcPct val="0"/>
              </a:spcBef>
              <a:spcAft>
                <a:spcPts val="300"/>
              </a:spcAft>
              <a:buFont typeface="Arial" panose="020B0604020202020204" pitchFamily="34" charset="0"/>
              <a:buChar char="•"/>
            </a:pPr>
            <a:r>
              <a:rPr lang="en-US" sz="1050" noProof="0" dirty="0">
                <a:solidFill>
                  <a:schemeClr val="bg1"/>
                </a:solidFill>
              </a:rPr>
              <a:t>Core Equites, Fixed Income, &amp; Funds</a:t>
            </a:r>
          </a:p>
          <a:p>
            <a:pPr marL="171450" indent="-171450">
              <a:spcAft>
                <a:spcPts val="300"/>
              </a:spcAft>
              <a:buFont typeface="Arial" panose="020B0604020202020204" pitchFamily="34" charset="0"/>
              <a:buChar char="•"/>
            </a:pPr>
            <a:r>
              <a:rPr lang="en-US" sz="1050" noProof="0" dirty="0">
                <a:solidFill>
                  <a:schemeClr val="bg1"/>
                </a:solidFill>
              </a:rPr>
              <a:t>Crypto-assets </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Alternatives - Private Market, Hedge Funds</a:t>
            </a:r>
          </a:p>
          <a:p>
            <a:pPr marL="171450" indent="-171450">
              <a:spcAft>
                <a:spcPts val="300"/>
              </a:spcAft>
              <a:buFont typeface="Arial" panose="020B0604020202020204" pitchFamily="34" charset="0"/>
              <a:buChar char="•"/>
            </a:pPr>
            <a:r>
              <a:rPr lang="en-US" sz="1050" noProof="0" dirty="0">
                <a:solidFill>
                  <a:schemeClr val="bg1"/>
                </a:solidFill>
              </a:rPr>
              <a:t>Thematic ideas</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2" name="TextBox 21">
            <a:extLst>
              <a:ext uri="{FF2B5EF4-FFF2-40B4-BE49-F238E27FC236}">
                <a16:creationId xmlns:a16="http://schemas.microsoft.com/office/drawing/2014/main" id="{7FF2A629-89A6-989C-4440-84B7895474AB}"/>
              </a:ext>
            </a:extLst>
          </p:cNvPr>
          <p:cNvSpPr txBox="1"/>
          <p:nvPr/>
        </p:nvSpPr>
        <p:spPr>
          <a:xfrm>
            <a:off x="7347392" y="5381111"/>
            <a:ext cx="2715772" cy="1026433"/>
          </a:xfrm>
          <a:prstGeom prst="rect">
            <a:avLst/>
          </a:prstGeom>
          <a:noFill/>
        </p:spPr>
        <p:txBody>
          <a:bodyPr vert="horz" wrap="square" lIns="72000" tIns="0" rIns="72000" bIns="0" numCol="2" spcCol="108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US &amp; UK/Europe Trading hours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Direct Access</a:t>
            </a:r>
          </a:p>
          <a:p>
            <a:pPr marL="171450" indent="-171450">
              <a:spcBef>
                <a:spcPct val="0"/>
              </a:spcBef>
              <a:spcAft>
                <a:spcPts val="300"/>
              </a:spcAft>
              <a:buFont typeface="Arial" panose="020B0604020202020204" pitchFamily="34" charset="0"/>
              <a:buChar char="•"/>
            </a:pPr>
            <a:r>
              <a:rPr lang="en-US" sz="1050" noProof="0" dirty="0">
                <a:solidFill>
                  <a:schemeClr val="bg1"/>
                </a:solidFill>
              </a:rPr>
              <a:t>FX expertise &amp; narrow spreads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Wide connected  network with brokers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New bond issues, IPOs and SPACs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4" name="Rectangle 23">
            <a:extLst>
              <a:ext uri="{FF2B5EF4-FFF2-40B4-BE49-F238E27FC236}">
                <a16:creationId xmlns:a16="http://schemas.microsoft.com/office/drawing/2014/main" id="{073BFAF9-E804-9F60-DD65-D6CC4B3C5730}"/>
              </a:ext>
            </a:extLst>
          </p:cNvPr>
          <p:cNvSpPr/>
          <p:nvPr/>
        </p:nvSpPr>
        <p:spPr>
          <a:xfrm>
            <a:off x="4526778" y="2603580"/>
            <a:ext cx="5556615" cy="490884"/>
          </a:xfrm>
          <a:prstGeom prst="rect">
            <a:avLst/>
          </a:prstGeom>
          <a:solidFill>
            <a:srgbClr val="FFC54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00000"/>
              </a:lnSpc>
              <a:spcBef>
                <a:spcPts val="100"/>
              </a:spcBef>
            </a:pPr>
            <a:r>
              <a:rPr lang="en-US" sz="1400" b="1" noProof="0" dirty="0">
                <a:solidFill>
                  <a:srgbClr val="FFFFFF"/>
                </a:solidFill>
                <a:latin typeface="Nunito Sans" pitchFamily="2" charset="77"/>
                <a:cs typeface="StoneSansITCStd SemiBold"/>
              </a:rPr>
              <a:t>Charles-Henry Monchau</a:t>
            </a:r>
          </a:p>
          <a:p>
            <a:pPr algn="ctr">
              <a:lnSpc>
                <a:spcPct val="100000"/>
              </a:lnSpc>
              <a:spcBef>
                <a:spcPts val="100"/>
              </a:spcBef>
            </a:pPr>
            <a:r>
              <a:rPr lang="en-US" sz="1100" noProof="0" dirty="0">
                <a:solidFill>
                  <a:srgbClr val="FFFFFF"/>
                </a:solidFill>
                <a:latin typeface="Nunito Sans" pitchFamily="2" charset="77"/>
                <a:cs typeface="StoneSansITCStd SemiBold"/>
              </a:rPr>
              <a:t>Chief Investment Officer</a:t>
            </a:r>
            <a:endParaRPr lang="en-US" sz="1400" noProof="0" dirty="0">
              <a:solidFill>
                <a:srgbClr val="FFFFFF"/>
              </a:solidFill>
              <a:latin typeface="Nunito Sans" pitchFamily="2" charset="77"/>
              <a:cs typeface="StoneSansITCStd SemiBold"/>
            </a:endParaRPr>
          </a:p>
        </p:txBody>
      </p:sp>
      <p:sp>
        <p:nvSpPr>
          <p:cNvPr id="3" name="Arc 2">
            <a:extLst>
              <a:ext uri="{FF2B5EF4-FFF2-40B4-BE49-F238E27FC236}">
                <a16:creationId xmlns:a16="http://schemas.microsoft.com/office/drawing/2014/main" id="{6F355D81-5DFB-BBE1-79DD-9C0544BC4374}"/>
              </a:ext>
            </a:extLst>
          </p:cNvPr>
          <p:cNvSpPr/>
          <p:nvPr/>
        </p:nvSpPr>
        <p:spPr>
          <a:xfrm>
            <a:off x="1690577" y="3937366"/>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9A1906D2-01B9-4C01-0FB4-96CF3CEF60F9}"/>
              </a:ext>
            </a:extLst>
          </p:cNvPr>
          <p:cNvSpPr/>
          <p:nvPr/>
        </p:nvSpPr>
        <p:spPr>
          <a:xfrm>
            <a:off x="1592167" y="2824241"/>
            <a:ext cx="1837223" cy="748905"/>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68" name="Group 67">
            <a:extLst>
              <a:ext uri="{FF2B5EF4-FFF2-40B4-BE49-F238E27FC236}">
                <a16:creationId xmlns:a16="http://schemas.microsoft.com/office/drawing/2014/main" id="{330EC435-20AD-57ED-788D-51B77829F2A3}"/>
              </a:ext>
            </a:extLst>
          </p:cNvPr>
          <p:cNvGrpSpPr/>
          <p:nvPr/>
        </p:nvGrpSpPr>
        <p:grpSpPr>
          <a:xfrm>
            <a:off x="2136277" y="4512305"/>
            <a:ext cx="759080" cy="783882"/>
            <a:chOff x="2099254" y="4178377"/>
            <a:chExt cx="759080" cy="783882"/>
          </a:xfrm>
        </p:grpSpPr>
        <p:grpSp>
          <p:nvGrpSpPr>
            <p:cNvPr id="67" name="Group 66">
              <a:extLst>
                <a:ext uri="{FF2B5EF4-FFF2-40B4-BE49-F238E27FC236}">
                  <a16:creationId xmlns:a16="http://schemas.microsoft.com/office/drawing/2014/main" id="{844EBF41-9CDE-780E-AF62-85CE229D4C82}"/>
                </a:ext>
              </a:extLst>
            </p:cNvPr>
            <p:cNvGrpSpPr/>
            <p:nvPr/>
          </p:nvGrpSpPr>
          <p:grpSpPr>
            <a:xfrm>
              <a:off x="2262794" y="4178377"/>
              <a:ext cx="432000" cy="462775"/>
              <a:chOff x="2262794" y="4178377"/>
              <a:chExt cx="432000" cy="462775"/>
            </a:xfrm>
          </p:grpSpPr>
          <p:sp>
            <p:nvSpPr>
              <p:cNvPr id="66" name="Oval 65">
                <a:extLst>
                  <a:ext uri="{FF2B5EF4-FFF2-40B4-BE49-F238E27FC236}">
                    <a16:creationId xmlns:a16="http://schemas.microsoft.com/office/drawing/2014/main" id="{4B661A49-9A98-520E-73F1-A3428076CA0C}"/>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 name="object 19">
                <a:extLst>
                  <a:ext uri="{FF2B5EF4-FFF2-40B4-BE49-F238E27FC236}">
                    <a16:creationId xmlns:a16="http://schemas.microsoft.com/office/drawing/2014/main" id="{9076CDBE-397B-E367-6EB2-B4A2E88B3847}"/>
                  </a:ext>
                </a:extLst>
              </p:cNvPr>
              <p:cNvPicPr/>
              <p:nvPr/>
            </p:nvPicPr>
            <p:blipFill>
              <a:blip r:embed="rId5"/>
              <a:stretch>
                <a:fillRect/>
              </a:stretch>
            </p:blipFill>
            <p:spPr>
              <a:xfrm>
                <a:off x="2262794" y="4209152"/>
                <a:ext cx="432000" cy="432000"/>
              </a:xfrm>
              <a:prstGeom prst="rect">
                <a:avLst/>
              </a:prstGeom>
              <a:noFill/>
            </p:spPr>
          </p:pic>
        </p:grpSp>
        <p:sp>
          <p:nvSpPr>
            <p:cNvPr id="18" name="TextBox 17">
              <a:extLst>
                <a:ext uri="{FF2B5EF4-FFF2-40B4-BE49-F238E27FC236}">
                  <a16:creationId xmlns:a16="http://schemas.microsoft.com/office/drawing/2014/main" id="{3964325D-73AD-1099-7B29-270D94DAEFD9}"/>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sp>
        <p:nvSpPr>
          <p:cNvPr id="36" name="Oval 35">
            <a:extLst>
              <a:ext uri="{FF2B5EF4-FFF2-40B4-BE49-F238E27FC236}">
                <a16:creationId xmlns:a16="http://schemas.microsoft.com/office/drawing/2014/main" id="{3F32FD2C-E1E5-8EE9-FD7B-E624D1D2428D}"/>
              </a:ext>
            </a:extLst>
          </p:cNvPr>
          <p:cNvSpPr/>
          <p:nvPr/>
        </p:nvSpPr>
        <p:spPr>
          <a:xfrm>
            <a:off x="8316311" y="1032438"/>
            <a:ext cx="365294" cy="36529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37" name="Oval 36">
            <a:extLst>
              <a:ext uri="{FF2B5EF4-FFF2-40B4-BE49-F238E27FC236}">
                <a16:creationId xmlns:a16="http://schemas.microsoft.com/office/drawing/2014/main" id="{87FC446A-7E3A-62A1-23CF-F6012B213A04}"/>
              </a:ext>
            </a:extLst>
          </p:cNvPr>
          <p:cNvSpPr/>
          <p:nvPr/>
        </p:nvSpPr>
        <p:spPr>
          <a:xfrm>
            <a:off x="8664831" y="1032438"/>
            <a:ext cx="365294" cy="36529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38" name="Oval 37">
            <a:extLst>
              <a:ext uri="{FF2B5EF4-FFF2-40B4-BE49-F238E27FC236}">
                <a16:creationId xmlns:a16="http://schemas.microsoft.com/office/drawing/2014/main" id="{E7EC9A29-7BDE-6AA2-0A34-031904AC787D}"/>
              </a:ext>
            </a:extLst>
          </p:cNvPr>
          <p:cNvSpPr/>
          <p:nvPr/>
        </p:nvSpPr>
        <p:spPr>
          <a:xfrm>
            <a:off x="9007760" y="1032438"/>
            <a:ext cx="365294" cy="3652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39" name="Oval 38">
            <a:extLst>
              <a:ext uri="{FF2B5EF4-FFF2-40B4-BE49-F238E27FC236}">
                <a16:creationId xmlns:a16="http://schemas.microsoft.com/office/drawing/2014/main" id="{3BC58316-7BD7-F638-DA28-4CE238039F76}"/>
              </a:ext>
            </a:extLst>
          </p:cNvPr>
          <p:cNvSpPr/>
          <p:nvPr/>
        </p:nvSpPr>
        <p:spPr>
          <a:xfrm>
            <a:off x="9356280" y="1032438"/>
            <a:ext cx="365294" cy="365294"/>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2" name="Oval 41">
            <a:extLst>
              <a:ext uri="{FF2B5EF4-FFF2-40B4-BE49-F238E27FC236}">
                <a16:creationId xmlns:a16="http://schemas.microsoft.com/office/drawing/2014/main" id="{41B42E8F-C130-2203-06DB-4EC5723BF38F}"/>
              </a:ext>
            </a:extLst>
          </p:cNvPr>
          <p:cNvSpPr/>
          <p:nvPr/>
        </p:nvSpPr>
        <p:spPr>
          <a:xfrm>
            <a:off x="9697870" y="1032438"/>
            <a:ext cx="365294" cy="365294"/>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5" name="Rectangle 44">
            <a:extLst>
              <a:ext uri="{FF2B5EF4-FFF2-40B4-BE49-F238E27FC236}">
                <a16:creationId xmlns:a16="http://schemas.microsoft.com/office/drawing/2014/main" id="{2DAB404B-ACFA-4A21-B07F-4B3F1238707E}"/>
              </a:ext>
            </a:extLst>
          </p:cNvPr>
          <p:cNvSpPr/>
          <p:nvPr/>
        </p:nvSpPr>
        <p:spPr>
          <a:xfrm>
            <a:off x="8667991" y="1089949"/>
            <a:ext cx="370614" cy="276999"/>
          </a:xfrm>
          <a:prstGeom prst="rect">
            <a:avLst/>
          </a:prstGeom>
        </p:spPr>
        <p:txBody>
          <a:bodyPr wrap="none">
            <a:spAutoFit/>
          </a:bodyPr>
          <a:lstStyle/>
          <a:p>
            <a:r>
              <a:rPr lang="en-US" sz="1200" b="1" noProof="0" dirty="0">
                <a:solidFill>
                  <a:srgbClr val="FFFFFF"/>
                </a:solidFill>
                <a:latin typeface="Nunito Sans" pitchFamily="2" charset="77"/>
              </a:rPr>
              <a:t>02</a:t>
            </a:r>
          </a:p>
        </p:txBody>
      </p:sp>
      <p:sp>
        <p:nvSpPr>
          <p:cNvPr id="46" name="Rectangle 45">
            <a:extLst>
              <a:ext uri="{FF2B5EF4-FFF2-40B4-BE49-F238E27FC236}">
                <a16:creationId xmlns:a16="http://schemas.microsoft.com/office/drawing/2014/main" id="{82EFE47E-F825-75D8-FD3F-CD2E6F9EC372}"/>
              </a:ext>
            </a:extLst>
          </p:cNvPr>
          <p:cNvSpPr/>
          <p:nvPr/>
        </p:nvSpPr>
        <p:spPr>
          <a:xfrm>
            <a:off x="8491451" y="1416542"/>
            <a:ext cx="712054" cy="338554"/>
          </a:xfrm>
          <a:prstGeom prst="rect">
            <a:avLst/>
          </a:prstGeom>
        </p:spPr>
        <p:txBody>
          <a:bodyPr wrap="none">
            <a:spAutoFit/>
          </a:bodyPr>
          <a:lstStyle/>
          <a:p>
            <a:pPr algn="ctr"/>
            <a:r>
              <a:rPr lang="en-US" sz="800" b="1" noProof="0" dirty="0">
                <a:solidFill>
                  <a:schemeClr val="accent2"/>
                </a:solidFill>
                <a:latin typeface="Nunito Sans" pitchFamily="2" charset="77"/>
              </a:rPr>
              <a:t>Investment</a:t>
            </a:r>
          </a:p>
          <a:p>
            <a:pPr algn="ctr"/>
            <a:r>
              <a:rPr lang="en-US" sz="800" b="1" noProof="0" dirty="0">
                <a:solidFill>
                  <a:schemeClr val="accent2"/>
                </a:solidFill>
                <a:latin typeface="Nunito Sans" pitchFamily="2" charset="77"/>
              </a:rPr>
              <a:t>Experts</a:t>
            </a:r>
          </a:p>
        </p:txBody>
      </p:sp>
      <p:grpSp>
        <p:nvGrpSpPr>
          <p:cNvPr id="65" name="Group 64">
            <a:extLst>
              <a:ext uri="{FF2B5EF4-FFF2-40B4-BE49-F238E27FC236}">
                <a16:creationId xmlns:a16="http://schemas.microsoft.com/office/drawing/2014/main" id="{1EE1B88E-D547-12BD-F81A-CC99304E4D73}"/>
              </a:ext>
            </a:extLst>
          </p:cNvPr>
          <p:cNvGrpSpPr/>
          <p:nvPr/>
        </p:nvGrpSpPr>
        <p:grpSpPr>
          <a:xfrm>
            <a:off x="1374100" y="4440305"/>
            <a:ext cx="759080" cy="704947"/>
            <a:chOff x="1337077" y="4106377"/>
            <a:chExt cx="759080" cy="704947"/>
          </a:xfrm>
        </p:grpSpPr>
        <p:grpSp>
          <p:nvGrpSpPr>
            <p:cNvPr id="64" name="Group 63">
              <a:extLst>
                <a:ext uri="{FF2B5EF4-FFF2-40B4-BE49-F238E27FC236}">
                  <a16:creationId xmlns:a16="http://schemas.microsoft.com/office/drawing/2014/main" id="{69ED6D15-486E-49FF-BFF4-44ED78F64F29}"/>
                </a:ext>
              </a:extLst>
            </p:cNvPr>
            <p:cNvGrpSpPr/>
            <p:nvPr/>
          </p:nvGrpSpPr>
          <p:grpSpPr>
            <a:xfrm>
              <a:off x="1500617" y="4106377"/>
              <a:ext cx="432000" cy="432000"/>
              <a:chOff x="1500617" y="4106377"/>
              <a:chExt cx="432000" cy="432000"/>
            </a:xfrm>
          </p:grpSpPr>
          <p:sp>
            <p:nvSpPr>
              <p:cNvPr id="53" name="Oval 52">
                <a:extLst>
                  <a:ext uri="{FF2B5EF4-FFF2-40B4-BE49-F238E27FC236}">
                    <a16:creationId xmlns:a16="http://schemas.microsoft.com/office/drawing/2014/main" id="{1A96322A-9ABB-D9EF-EC8C-1065DA988AB9}"/>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4" name="Graphic 16" descr="User with solid fill">
                <a:extLst>
                  <a:ext uri="{FF2B5EF4-FFF2-40B4-BE49-F238E27FC236}">
                    <a16:creationId xmlns:a16="http://schemas.microsoft.com/office/drawing/2014/main" id="{2178F2A0-9F85-50D9-A83B-233A8595BD4E}"/>
                  </a:ext>
                </a:extLst>
              </p:cNvPr>
              <p:cNvGrpSpPr/>
              <p:nvPr/>
            </p:nvGrpSpPr>
            <p:grpSpPr>
              <a:xfrm>
                <a:off x="1572617" y="4178377"/>
                <a:ext cx="288000" cy="288000"/>
                <a:chOff x="3230775" y="4182439"/>
                <a:chExt cx="303371" cy="322332"/>
              </a:xfrm>
              <a:solidFill>
                <a:schemeClr val="accent2"/>
              </a:solidFill>
            </p:grpSpPr>
            <p:sp>
              <p:nvSpPr>
                <p:cNvPr id="55" name="Freeform: Shape 54">
                  <a:extLst>
                    <a:ext uri="{FF2B5EF4-FFF2-40B4-BE49-F238E27FC236}">
                      <a16:creationId xmlns:a16="http://schemas.microsoft.com/office/drawing/2014/main" id="{BD85997E-3645-AA02-3FE4-2759F5F81D7B}"/>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3BB99D00-AE02-0E85-D58A-5700CE9AB002}"/>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14" name="TextBox 13">
              <a:extLst>
                <a:ext uri="{FF2B5EF4-FFF2-40B4-BE49-F238E27FC236}">
                  <a16:creationId xmlns:a16="http://schemas.microsoft.com/office/drawing/2014/main" id="{B61868B7-B084-8741-7A07-058E31954950}"/>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61" name="Group 60">
            <a:extLst>
              <a:ext uri="{FF2B5EF4-FFF2-40B4-BE49-F238E27FC236}">
                <a16:creationId xmlns:a16="http://schemas.microsoft.com/office/drawing/2014/main" id="{6AEB82F2-CC16-A22D-5CDD-C599CB83E9E4}"/>
              </a:ext>
            </a:extLst>
          </p:cNvPr>
          <p:cNvGrpSpPr/>
          <p:nvPr/>
        </p:nvGrpSpPr>
        <p:grpSpPr>
          <a:xfrm>
            <a:off x="2893305" y="4431986"/>
            <a:ext cx="759080" cy="704947"/>
            <a:chOff x="2856282" y="4098058"/>
            <a:chExt cx="759080" cy="704947"/>
          </a:xfrm>
        </p:grpSpPr>
        <p:grpSp>
          <p:nvGrpSpPr>
            <p:cNvPr id="51" name="Group 50">
              <a:extLst>
                <a:ext uri="{FF2B5EF4-FFF2-40B4-BE49-F238E27FC236}">
                  <a16:creationId xmlns:a16="http://schemas.microsoft.com/office/drawing/2014/main" id="{2A5261B3-F8DA-F0F1-D929-3369123B0808}"/>
                </a:ext>
              </a:extLst>
            </p:cNvPr>
            <p:cNvGrpSpPr/>
            <p:nvPr/>
          </p:nvGrpSpPr>
          <p:grpSpPr>
            <a:xfrm>
              <a:off x="3019822" y="4098058"/>
              <a:ext cx="432000" cy="432000"/>
              <a:chOff x="6577112" y="3042950"/>
              <a:chExt cx="432000" cy="432000"/>
            </a:xfrm>
          </p:grpSpPr>
          <p:sp>
            <p:nvSpPr>
              <p:cNvPr id="41" name="Oval 40">
                <a:extLst>
                  <a:ext uri="{FF2B5EF4-FFF2-40B4-BE49-F238E27FC236}">
                    <a16:creationId xmlns:a16="http://schemas.microsoft.com/office/drawing/2014/main" id="{9C85547E-DB92-2079-FEB3-4BCDD7310263}"/>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4" name="Graphic 16" descr="User with solid fill">
                <a:extLst>
                  <a:ext uri="{FF2B5EF4-FFF2-40B4-BE49-F238E27FC236}">
                    <a16:creationId xmlns:a16="http://schemas.microsoft.com/office/drawing/2014/main" id="{279B3456-4218-9D92-E5DA-F031F82D1DDC}"/>
                  </a:ext>
                </a:extLst>
              </p:cNvPr>
              <p:cNvGrpSpPr/>
              <p:nvPr/>
            </p:nvGrpSpPr>
            <p:grpSpPr>
              <a:xfrm>
                <a:off x="6649112" y="3114950"/>
                <a:ext cx="288000" cy="288000"/>
                <a:chOff x="3230775" y="4182439"/>
                <a:chExt cx="303371" cy="322332"/>
              </a:xfrm>
              <a:solidFill>
                <a:schemeClr val="accent2"/>
              </a:solidFill>
            </p:grpSpPr>
            <p:sp>
              <p:nvSpPr>
                <p:cNvPr id="47" name="Freeform: Shape 46">
                  <a:extLst>
                    <a:ext uri="{FF2B5EF4-FFF2-40B4-BE49-F238E27FC236}">
                      <a16:creationId xmlns:a16="http://schemas.microsoft.com/office/drawing/2014/main" id="{B3E694A9-17FD-BE59-997F-E3E641511073}"/>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E27FF33B-CA92-14DB-EFA4-1703E0D74DA6}"/>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15" name="TextBox 14">
              <a:extLst>
                <a:ext uri="{FF2B5EF4-FFF2-40B4-BE49-F238E27FC236}">
                  <a16:creationId xmlns:a16="http://schemas.microsoft.com/office/drawing/2014/main" id="{67ABB538-D481-19C9-EF52-DD3DD069F0C7}"/>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57" name="Arc 56">
            <a:extLst>
              <a:ext uri="{FF2B5EF4-FFF2-40B4-BE49-F238E27FC236}">
                <a16:creationId xmlns:a16="http://schemas.microsoft.com/office/drawing/2014/main" id="{8B046BFF-3CD0-0CEB-4B59-301225BEDC8E}"/>
              </a:ext>
            </a:extLst>
          </p:cNvPr>
          <p:cNvSpPr/>
          <p:nvPr/>
        </p:nvSpPr>
        <p:spPr>
          <a:xfrm>
            <a:off x="1161979" y="3449673"/>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8" name="Arc 57">
            <a:extLst>
              <a:ext uri="{FF2B5EF4-FFF2-40B4-BE49-F238E27FC236}">
                <a16:creationId xmlns:a16="http://schemas.microsoft.com/office/drawing/2014/main" id="{1001E0D5-A629-E063-AB3E-0E232A94F9ED}"/>
              </a:ext>
            </a:extLst>
          </p:cNvPr>
          <p:cNvSpPr/>
          <p:nvPr/>
        </p:nvSpPr>
        <p:spPr>
          <a:xfrm>
            <a:off x="746779" y="2960220"/>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0" name="TextBox 59">
            <a:extLst>
              <a:ext uri="{FF2B5EF4-FFF2-40B4-BE49-F238E27FC236}">
                <a16:creationId xmlns:a16="http://schemas.microsoft.com/office/drawing/2014/main" id="{BA1D810D-8138-323D-1B7B-9057AB6A43CA}"/>
              </a:ext>
            </a:extLst>
          </p:cNvPr>
          <p:cNvSpPr txBox="1"/>
          <p:nvPr/>
        </p:nvSpPr>
        <p:spPr>
          <a:xfrm>
            <a:off x="2040266" y="3307264"/>
            <a:ext cx="920621" cy="255834"/>
          </a:xfrm>
          <a:prstGeom prst="rect">
            <a:avLst/>
          </a:prstGeom>
          <a:noFill/>
        </p:spPr>
        <p:txBody>
          <a:bodyPr vert="horz" wrap="square" lIns="0" tIns="0" rIns="0" bIns="0" rtlCol="0">
            <a:noAutofit/>
          </a:bodyPr>
          <a:lstStyle/>
          <a:p>
            <a:pPr algn="ctr"/>
            <a:r>
              <a:rPr lang="en-US" sz="1100" b="1" noProof="0" dirty="0">
                <a:solidFill>
                  <a:schemeClr val="accent4"/>
                </a:solidFill>
              </a:rPr>
              <a:t>Investment Ideas</a:t>
            </a:r>
          </a:p>
        </p:txBody>
      </p:sp>
      <p:grpSp>
        <p:nvGrpSpPr>
          <p:cNvPr id="86" name="Group 85">
            <a:extLst>
              <a:ext uri="{FF2B5EF4-FFF2-40B4-BE49-F238E27FC236}">
                <a16:creationId xmlns:a16="http://schemas.microsoft.com/office/drawing/2014/main" id="{823F185C-58DC-A9EF-2340-9A2F713E840C}"/>
              </a:ext>
            </a:extLst>
          </p:cNvPr>
          <p:cNvGrpSpPr/>
          <p:nvPr/>
        </p:nvGrpSpPr>
        <p:grpSpPr>
          <a:xfrm>
            <a:off x="3257800" y="3727611"/>
            <a:ext cx="612000" cy="620206"/>
            <a:chOff x="3220777" y="3393683"/>
            <a:chExt cx="612000" cy="620206"/>
          </a:xfrm>
        </p:grpSpPr>
        <p:grpSp>
          <p:nvGrpSpPr>
            <p:cNvPr id="85" name="Group 84">
              <a:extLst>
                <a:ext uri="{FF2B5EF4-FFF2-40B4-BE49-F238E27FC236}">
                  <a16:creationId xmlns:a16="http://schemas.microsoft.com/office/drawing/2014/main" id="{F5903E7D-8E31-23CC-5F5E-62E0664F2C1E}"/>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7D117E4-ACAE-3EC4-65EE-C72B2EE720BF}"/>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28" name="Graphic 27" descr="Users with solid fill">
                <a:extLst>
                  <a:ext uri="{FF2B5EF4-FFF2-40B4-BE49-F238E27FC236}">
                    <a16:creationId xmlns:a16="http://schemas.microsoft.com/office/drawing/2014/main" id="{965B6167-E9DC-AEE0-9281-845187B1EBD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33" name="TextBox 32">
              <a:extLst>
                <a:ext uri="{FF2B5EF4-FFF2-40B4-BE49-F238E27FC236}">
                  <a16:creationId xmlns:a16="http://schemas.microsoft.com/office/drawing/2014/main" id="{E80E42F1-8865-889F-E8DE-23BE09BD7984}"/>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2" name="Arc 71">
            <a:extLst>
              <a:ext uri="{FF2B5EF4-FFF2-40B4-BE49-F238E27FC236}">
                <a16:creationId xmlns:a16="http://schemas.microsoft.com/office/drawing/2014/main" id="{5AA14E7B-E177-6FC5-92DE-7FAD624A0B41}"/>
              </a:ext>
            </a:extLst>
          </p:cNvPr>
          <p:cNvSpPr/>
          <p:nvPr/>
        </p:nvSpPr>
        <p:spPr>
          <a:xfrm>
            <a:off x="1164831" y="3441358"/>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7" name="Group 86">
            <a:extLst>
              <a:ext uri="{FF2B5EF4-FFF2-40B4-BE49-F238E27FC236}">
                <a16:creationId xmlns:a16="http://schemas.microsoft.com/office/drawing/2014/main" id="{844840B7-61B6-4AD0-5CCF-09D0DD9AD570}"/>
              </a:ext>
            </a:extLst>
          </p:cNvPr>
          <p:cNvGrpSpPr/>
          <p:nvPr/>
        </p:nvGrpSpPr>
        <p:grpSpPr>
          <a:xfrm>
            <a:off x="2217957" y="5803817"/>
            <a:ext cx="612000" cy="702666"/>
            <a:chOff x="3220777" y="3393683"/>
            <a:chExt cx="612000" cy="702666"/>
          </a:xfrm>
        </p:grpSpPr>
        <p:grpSp>
          <p:nvGrpSpPr>
            <p:cNvPr id="88" name="Group 87">
              <a:extLst>
                <a:ext uri="{FF2B5EF4-FFF2-40B4-BE49-F238E27FC236}">
                  <a16:creationId xmlns:a16="http://schemas.microsoft.com/office/drawing/2014/main" id="{5EE2E414-22F2-1F3D-A147-994285293BDA}"/>
                </a:ext>
              </a:extLst>
            </p:cNvPr>
            <p:cNvGrpSpPr/>
            <p:nvPr/>
          </p:nvGrpSpPr>
          <p:grpSpPr>
            <a:xfrm>
              <a:off x="3220777" y="3393683"/>
              <a:ext cx="612000" cy="620206"/>
              <a:chOff x="3220777" y="3393683"/>
              <a:chExt cx="612000" cy="620206"/>
            </a:xfrm>
          </p:grpSpPr>
          <p:sp>
            <p:nvSpPr>
              <p:cNvPr id="90" name="Oval 89">
                <a:extLst>
                  <a:ext uri="{FF2B5EF4-FFF2-40B4-BE49-F238E27FC236}">
                    <a16:creationId xmlns:a16="http://schemas.microsoft.com/office/drawing/2014/main" id="{4178E33B-5305-D9E3-481E-E6EC821697A6}"/>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1" name="Graphic 90" descr="Users with solid fill">
                <a:extLst>
                  <a:ext uri="{FF2B5EF4-FFF2-40B4-BE49-F238E27FC236}">
                    <a16:creationId xmlns:a16="http://schemas.microsoft.com/office/drawing/2014/main" id="{82B7CB3F-828B-9113-D281-57D461F2F3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92777" y="3393683"/>
                <a:ext cx="468000" cy="468000"/>
              </a:xfrm>
              <a:prstGeom prst="rect">
                <a:avLst/>
              </a:prstGeom>
            </p:spPr>
          </p:pic>
        </p:grpSp>
        <p:sp>
          <p:nvSpPr>
            <p:cNvPr id="89" name="TextBox 88">
              <a:extLst>
                <a:ext uri="{FF2B5EF4-FFF2-40B4-BE49-F238E27FC236}">
                  <a16:creationId xmlns:a16="http://schemas.microsoft.com/office/drawing/2014/main" id="{166E183B-78BA-6BF0-8EF9-612A18388361}"/>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92" name="Arc 91">
            <a:extLst>
              <a:ext uri="{FF2B5EF4-FFF2-40B4-BE49-F238E27FC236}">
                <a16:creationId xmlns:a16="http://schemas.microsoft.com/office/drawing/2014/main" id="{8E8EB995-2EC0-D13C-AEF6-F2FB4D84BD29}"/>
              </a:ext>
            </a:extLst>
          </p:cNvPr>
          <p:cNvSpPr/>
          <p:nvPr/>
        </p:nvSpPr>
        <p:spPr>
          <a:xfrm>
            <a:off x="1164831" y="3443263"/>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3" name="Group 92">
            <a:extLst>
              <a:ext uri="{FF2B5EF4-FFF2-40B4-BE49-F238E27FC236}">
                <a16:creationId xmlns:a16="http://schemas.microsoft.com/office/drawing/2014/main" id="{F5AED825-9799-C128-E937-9BDDF03CADBC}"/>
              </a:ext>
            </a:extLst>
          </p:cNvPr>
          <p:cNvGrpSpPr/>
          <p:nvPr/>
        </p:nvGrpSpPr>
        <p:grpSpPr>
          <a:xfrm>
            <a:off x="1075377" y="3737774"/>
            <a:ext cx="612000" cy="690398"/>
            <a:chOff x="3220777" y="3393683"/>
            <a:chExt cx="612000" cy="690398"/>
          </a:xfrm>
        </p:grpSpPr>
        <p:grpSp>
          <p:nvGrpSpPr>
            <p:cNvPr id="94" name="Group 93">
              <a:extLst>
                <a:ext uri="{FF2B5EF4-FFF2-40B4-BE49-F238E27FC236}">
                  <a16:creationId xmlns:a16="http://schemas.microsoft.com/office/drawing/2014/main" id="{D650536D-E2AC-D97F-D306-6696052C5342}"/>
                </a:ext>
              </a:extLst>
            </p:cNvPr>
            <p:cNvGrpSpPr/>
            <p:nvPr/>
          </p:nvGrpSpPr>
          <p:grpSpPr>
            <a:xfrm>
              <a:off x="3220777" y="3393683"/>
              <a:ext cx="612000" cy="620206"/>
              <a:chOff x="3220777" y="3393683"/>
              <a:chExt cx="612000" cy="620206"/>
            </a:xfrm>
          </p:grpSpPr>
          <p:sp>
            <p:nvSpPr>
              <p:cNvPr id="96" name="Oval 95">
                <a:extLst>
                  <a:ext uri="{FF2B5EF4-FFF2-40B4-BE49-F238E27FC236}">
                    <a16:creationId xmlns:a16="http://schemas.microsoft.com/office/drawing/2014/main" id="{FE4F16F3-5F85-FF7B-53CB-C02181F9F41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7" name="Graphic 96" descr="Users with solid fill">
                <a:extLst>
                  <a:ext uri="{FF2B5EF4-FFF2-40B4-BE49-F238E27FC236}">
                    <a16:creationId xmlns:a16="http://schemas.microsoft.com/office/drawing/2014/main" id="{91B74DEB-9ECD-4DA4-EF43-AF2AA9EBF8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92777" y="3393683"/>
                <a:ext cx="468000" cy="468000"/>
              </a:xfrm>
              <a:prstGeom prst="rect">
                <a:avLst/>
              </a:prstGeom>
            </p:spPr>
          </p:pic>
        </p:grpSp>
        <p:sp>
          <p:nvSpPr>
            <p:cNvPr id="95" name="TextBox 94">
              <a:extLst>
                <a:ext uri="{FF2B5EF4-FFF2-40B4-BE49-F238E27FC236}">
                  <a16:creationId xmlns:a16="http://schemas.microsoft.com/office/drawing/2014/main" id="{BDB2EDE7-5DF1-4DDD-E7EB-B1C20602A4C3}"/>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98" name="Arc 97">
            <a:extLst>
              <a:ext uri="{FF2B5EF4-FFF2-40B4-BE49-F238E27FC236}">
                <a16:creationId xmlns:a16="http://schemas.microsoft.com/office/drawing/2014/main" id="{914F3F8B-F87E-EFFD-FC7C-93FE0155EF37}"/>
              </a:ext>
            </a:extLst>
          </p:cNvPr>
          <p:cNvSpPr/>
          <p:nvPr/>
        </p:nvSpPr>
        <p:spPr>
          <a:xfrm>
            <a:off x="746779" y="3065546"/>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9" name="Group 98">
            <a:extLst>
              <a:ext uri="{FF2B5EF4-FFF2-40B4-BE49-F238E27FC236}">
                <a16:creationId xmlns:a16="http://schemas.microsoft.com/office/drawing/2014/main" id="{57F58F42-7BC8-C607-69F0-8FE8063057D1}"/>
              </a:ext>
            </a:extLst>
          </p:cNvPr>
          <p:cNvGrpSpPr/>
          <p:nvPr/>
        </p:nvGrpSpPr>
        <p:grpSpPr>
          <a:xfrm>
            <a:off x="3437116" y="5815958"/>
            <a:ext cx="612000" cy="730651"/>
            <a:chOff x="3220777" y="3383574"/>
            <a:chExt cx="612000" cy="730651"/>
          </a:xfrm>
        </p:grpSpPr>
        <p:grpSp>
          <p:nvGrpSpPr>
            <p:cNvPr id="100" name="Group 99">
              <a:extLst>
                <a:ext uri="{FF2B5EF4-FFF2-40B4-BE49-F238E27FC236}">
                  <a16:creationId xmlns:a16="http://schemas.microsoft.com/office/drawing/2014/main" id="{43B03A79-06BD-7BC5-C909-AEFD82E180E2}"/>
                </a:ext>
              </a:extLst>
            </p:cNvPr>
            <p:cNvGrpSpPr/>
            <p:nvPr/>
          </p:nvGrpSpPr>
          <p:grpSpPr>
            <a:xfrm>
              <a:off x="3220777" y="3383574"/>
              <a:ext cx="612000" cy="630315"/>
              <a:chOff x="3220777" y="3383574"/>
              <a:chExt cx="612000" cy="630315"/>
            </a:xfrm>
          </p:grpSpPr>
          <p:sp>
            <p:nvSpPr>
              <p:cNvPr id="102" name="Oval 101">
                <a:extLst>
                  <a:ext uri="{FF2B5EF4-FFF2-40B4-BE49-F238E27FC236}">
                    <a16:creationId xmlns:a16="http://schemas.microsoft.com/office/drawing/2014/main" id="{4493E13F-22DB-CA7D-A212-FD939DF26A6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103" name="Graphic 102" descr="Users with solid fill">
                <a:extLst>
                  <a:ext uri="{FF2B5EF4-FFF2-40B4-BE49-F238E27FC236}">
                    <a16:creationId xmlns:a16="http://schemas.microsoft.com/office/drawing/2014/main" id="{DFF41298-17A2-4F92-20BC-AB37B3E594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72111" y="3383574"/>
                <a:ext cx="504000" cy="504000"/>
              </a:xfrm>
              <a:prstGeom prst="rect">
                <a:avLst/>
              </a:prstGeom>
            </p:spPr>
          </p:pic>
        </p:grpSp>
        <p:sp>
          <p:nvSpPr>
            <p:cNvPr id="101" name="TextBox 100">
              <a:extLst>
                <a:ext uri="{FF2B5EF4-FFF2-40B4-BE49-F238E27FC236}">
                  <a16:creationId xmlns:a16="http://schemas.microsoft.com/office/drawing/2014/main" id="{F07E3C7C-07C1-8E72-37F8-33F4032ABB2D}"/>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custDataLst>
      <p:tags r:id="rId1"/>
    </p:custDataLst>
    <p:extLst>
      <p:ext uri="{BB962C8B-B14F-4D97-AF65-F5344CB8AC3E}">
        <p14:creationId xmlns:p14="http://schemas.microsoft.com/office/powerpoint/2010/main" val="1297990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Isosceles Triangle 24">
            <a:extLst>
              <a:ext uri="{FF2B5EF4-FFF2-40B4-BE49-F238E27FC236}">
                <a16:creationId xmlns:a16="http://schemas.microsoft.com/office/drawing/2014/main" id="{DB32B0BA-6698-C8F6-6CE8-B857B67396B3}"/>
              </a:ext>
            </a:extLst>
          </p:cNvPr>
          <p:cNvSpPr/>
          <p:nvPr/>
        </p:nvSpPr>
        <p:spPr>
          <a:xfrm rot="10800000">
            <a:off x="2906633" y="2645447"/>
            <a:ext cx="4878539" cy="469414"/>
          </a:xfrm>
          <a:prstGeom prst="triangle">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 name="Title 1">
            <a:extLst>
              <a:ext uri="{FF2B5EF4-FFF2-40B4-BE49-F238E27FC236}">
                <a16:creationId xmlns:a16="http://schemas.microsoft.com/office/drawing/2014/main" id="{907CBAF5-5D17-ADB7-79E0-A532376AEF4E}"/>
              </a:ext>
            </a:extLst>
          </p:cNvPr>
          <p:cNvSpPr>
            <a:spLocks noGrp="1"/>
          </p:cNvSpPr>
          <p:nvPr>
            <p:ph type="title"/>
          </p:nvPr>
        </p:nvSpPr>
        <p:spPr/>
        <p:txBody>
          <a:bodyPr/>
          <a:lstStyle/>
          <a:p>
            <a:r>
              <a:rPr lang="en-US" noProof="0" dirty="0"/>
              <a:t>Our Investment Universe</a:t>
            </a:r>
          </a:p>
        </p:txBody>
      </p:sp>
      <p:sp>
        <p:nvSpPr>
          <p:cNvPr id="4" name="Text Placeholder 3">
            <a:extLst>
              <a:ext uri="{FF2B5EF4-FFF2-40B4-BE49-F238E27FC236}">
                <a16:creationId xmlns:a16="http://schemas.microsoft.com/office/drawing/2014/main" id="{D4BA43B4-7A33-CFC3-C9CC-9947CBF483E8}"/>
              </a:ext>
            </a:extLst>
          </p:cNvPr>
          <p:cNvSpPr>
            <a:spLocks noGrp="1"/>
          </p:cNvSpPr>
          <p:nvPr>
            <p:ph type="body" sz="quarter" idx="10"/>
          </p:nvPr>
        </p:nvSpPr>
        <p:spPr>
          <a:xfrm>
            <a:off x="665163" y="1713419"/>
            <a:ext cx="9398001" cy="251512"/>
          </a:xfrm>
        </p:spPr>
        <p:txBody>
          <a:bodyPr anchor="t"/>
          <a:lstStyle/>
          <a:p>
            <a:r>
              <a:rPr lang="en-US" noProof="0" dirty="0"/>
              <a:t>We carefully select and curate Investment Universe for our clients, presenting diverse range of opportunities to </a:t>
            </a:r>
            <a:r>
              <a:rPr lang="en-US" noProof="0" dirty="0" err="1"/>
              <a:t>maximise</a:t>
            </a:r>
            <a:r>
              <a:rPr lang="en-US" noProof="0" dirty="0"/>
              <a:t> your growth and security</a:t>
            </a:r>
          </a:p>
        </p:txBody>
      </p:sp>
      <p:sp>
        <p:nvSpPr>
          <p:cNvPr id="5" name="Rectangle 4">
            <a:extLst>
              <a:ext uri="{FF2B5EF4-FFF2-40B4-BE49-F238E27FC236}">
                <a16:creationId xmlns:a16="http://schemas.microsoft.com/office/drawing/2014/main" id="{B9D0A9A5-BC6F-F14E-18A8-F0AAC2994354}"/>
              </a:ext>
            </a:extLst>
          </p:cNvPr>
          <p:cNvSpPr/>
          <p:nvPr/>
        </p:nvSpPr>
        <p:spPr>
          <a:xfrm>
            <a:off x="665162" y="2253891"/>
            <a:ext cx="9361487" cy="6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pPr>
            <a:r>
              <a:rPr lang="en-US" sz="1200" b="1" noProof="0" dirty="0">
                <a:solidFill>
                  <a:schemeClr val="bg1"/>
                </a:solidFill>
                <a:latin typeface="Nunito Sans" pitchFamily="2" charset="77"/>
              </a:rPr>
              <a:t>Macro-economic</a:t>
            </a:r>
          </a:p>
          <a:p>
            <a:pPr>
              <a:spcBef>
                <a:spcPts val="300"/>
              </a:spcBef>
            </a:pPr>
            <a:r>
              <a:rPr lang="en-US" sz="1100" noProof="0" dirty="0">
                <a:solidFill>
                  <a:schemeClr val="bg1"/>
                </a:solidFill>
              </a:rPr>
              <a:t>We closely monitor and leverage macroeconomic trends in building our investment strategies</a:t>
            </a:r>
          </a:p>
          <a:p>
            <a:pPr>
              <a:spcBef>
                <a:spcPts val="300"/>
              </a:spcBef>
            </a:pPr>
            <a:r>
              <a:rPr lang="en-US" sz="1100" noProof="0" dirty="0">
                <a:solidFill>
                  <a:schemeClr val="bg1"/>
                </a:solidFill>
              </a:rPr>
              <a:t>Stay ahead and </a:t>
            </a:r>
            <a:r>
              <a:rPr lang="en-US" sz="1100" noProof="0" dirty="0" err="1">
                <a:solidFill>
                  <a:schemeClr val="bg1"/>
                </a:solidFill>
              </a:rPr>
              <a:t>capitalise</a:t>
            </a:r>
            <a:r>
              <a:rPr lang="en-US" sz="1100" noProof="0" dirty="0">
                <a:solidFill>
                  <a:schemeClr val="bg1"/>
                </a:solidFill>
              </a:rPr>
              <a:t> on emerging trends to safeguard and grow your wealth </a:t>
            </a:r>
            <a:endParaRPr lang="en-US" sz="1200" noProof="0" dirty="0"/>
          </a:p>
        </p:txBody>
      </p:sp>
      <p:sp>
        <p:nvSpPr>
          <p:cNvPr id="14" name="Rectangle 13">
            <a:extLst>
              <a:ext uri="{FF2B5EF4-FFF2-40B4-BE49-F238E27FC236}">
                <a16:creationId xmlns:a16="http://schemas.microsoft.com/office/drawing/2014/main" id="{97FAFAA0-94CC-D573-9301-BC4533EA4206}"/>
              </a:ext>
            </a:extLst>
          </p:cNvPr>
          <p:cNvSpPr/>
          <p:nvPr/>
        </p:nvSpPr>
        <p:spPr>
          <a:xfrm>
            <a:off x="665163" y="6074871"/>
            <a:ext cx="9361487" cy="628590"/>
          </a:xfrm>
          <a:prstGeom prst="rect">
            <a:avLst/>
          </a:prstGeom>
          <a:solidFill>
            <a:srgbClr val="EB3F8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Thematic Investments</a:t>
            </a:r>
          </a:p>
          <a:p>
            <a:pPr>
              <a:spcBef>
                <a:spcPts val="600"/>
              </a:spcBef>
            </a:pPr>
            <a:r>
              <a:rPr lang="en-US" sz="1100" noProof="0" dirty="0">
                <a:solidFill>
                  <a:schemeClr val="bg1"/>
                </a:solidFill>
                <a:latin typeface="Nunito Sans" pitchFamily="2" charset="77"/>
              </a:rPr>
              <a:t>Invest in themes shaping the future - ranging from technology to healthcare, ensuring your investments stay relevant</a:t>
            </a:r>
            <a:endParaRPr lang="en-US" sz="1100" noProof="0" dirty="0"/>
          </a:p>
        </p:txBody>
      </p:sp>
      <p:sp>
        <p:nvSpPr>
          <p:cNvPr id="3" name="Oval 2">
            <a:extLst>
              <a:ext uri="{FF2B5EF4-FFF2-40B4-BE49-F238E27FC236}">
                <a16:creationId xmlns:a16="http://schemas.microsoft.com/office/drawing/2014/main" id="{4B357220-56E8-85EC-7FAF-84B86A79A48C}"/>
              </a:ext>
            </a:extLst>
          </p:cNvPr>
          <p:cNvSpPr/>
          <p:nvPr/>
        </p:nvSpPr>
        <p:spPr>
          <a:xfrm>
            <a:off x="8316311" y="1032438"/>
            <a:ext cx="365294" cy="36529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15" name="Oval 14">
            <a:extLst>
              <a:ext uri="{FF2B5EF4-FFF2-40B4-BE49-F238E27FC236}">
                <a16:creationId xmlns:a16="http://schemas.microsoft.com/office/drawing/2014/main" id="{FE61534B-46A8-0F70-EBA1-FF937BBA3DC7}"/>
              </a:ext>
            </a:extLst>
          </p:cNvPr>
          <p:cNvSpPr/>
          <p:nvPr/>
        </p:nvSpPr>
        <p:spPr>
          <a:xfrm>
            <a:off x="8664831" y="1032438"/>
            <a:ext cx="365294" cy="3652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19" name="Oval 18">
            <a:extLst>
              <a:ext uri="{FF2B5EF4-FFF2-40B4-BE49-F238E27FC236}">
                <a16:creationId xmlns:a16="http://schemas.microsoft.com/office/drawing/2014/main" id="{8B33B0F8-A88E-DAD0-B6A4-0507E3521E5B}"/>
              </a:ext>
            </a:extLst>
          </p:cNvPr>
          <p:cNvSpPr/>
          <p:nvPr/>
        </p:nvSpPr>
        <p:spPr>
          <a:xfrm>
            <a:off x="9007760" y="1032438"/>
            <a:ext cx="365294" cy="36529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21" name="Oval 20">
            <a:extLst>
              <a:ext uri="{FF2B5EF4-FFF2-40B4-BE49-F238E27FC236}">
                <a16:creationId xmlns:a16="http://schemas.microsoft.com/office/drawing/2014/main" id="{A70369F2-30D9-2C0A-AD6B-617816688746}"/>
              </a:ext>
            </a:extLst>
          </p:cNvPr>
          <p:cNvSpPr/>
          <p:nvPr/>
        </p:nvSpPr>
        <p:spPr>
          <a:xfrm>
            <a:off x="9356280" y="1032438"/>
            <a:ext cx="365294" cy="365294"/>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22" name="Oval 21">
            <a:extLst>
              <a:ext uri="{FF2B5EF4-FFF2-40B4-BE49-F238E27FC236}">
                <a16:creationId xmlns:a16="http://schemas.microsoft.com/office/drawing/2014/main" id="{3265DE06-4A04-305A-8E4D-0ADD30DE2AE1}"/>
              </a:ext>
            </a:extLst>
          </p:cNvPr>
          <p:cNvSpPr/>
          <p:nvPr/>
        </p:nvSpPr>
        <p:spPr>
          <a:xfrm>
            <a:off x="9697870" y="1032438"/>
            <a:ext cx="365294" cy="365294"/>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23" name="Rectangle 22">
            <a:extLst>
              <a:ext uri="{FF2B5EF4-FFF2-40B4-BE49-F238E27FC236}">
                <a16:creationId xmlns:a16="http://schemas.microsoft.com/office/drawing/2014/main" id="{599B572B-29B0-ACCE-9DAF-27A6A5551916}"/>
              </a:ext>
            </a:extLst>
          </p:cNvPr>
          <p:cNvSpPr/>
          <p:nvPr/>
        </p:nvSpPr>
        <p:spPr>
          <a:xfrm>
            <a:off x="9004299" y="1089949"/>
            <a:ext cx="370614" cy="276999"/>
          </a:xfrm>
          <a:prstGeom prst="rect">
            <a:avLst/>
          </a:prstGeom>
        </p:spPr>
        <p:txBody>
          <a:bodyPr wrap="none">
            <a:spAutoFit/>
          </a:bodyPr>
          <a:lstStyle/>
          <a:p>
            <a:r>
              <a:rPr lang="en-US" sz="1200" b="1" noProof="0" dirty="0">
                <a:solidFill>
                  <a:srgbClr val="FFFFFF"/>
                </a:solidFill>
                <a:latin typeface="Nunito Sans" pitchFamily="2" charset="77"/>
              </a:rPr>
              <a:t>03</a:t>
            </a:r>
          </a:p>
        </p:txBody>
      </p:sp>
      <p:sp>
        <p:nvSpPr>
          <p:cNvPr id="24" name="Rectangle 23">
            <a:extLst>
              <a:ext uri="{FF2B5EF4-FFF2-40B4-BE49-F238E27FC236}">
                <a16:creationId xmlns:a16="http://schemas.microsoft.com/office/drawing/2014/main" id="{9E29A5E2-D7B5-7A05-1252-28F9B22E07A9}"/>
              </a:ext>
            </a:extLst>
          </p:cNvPr>
          <p:cNvSpPr/>
          <p:nvPr/>
        </p:nvSpPr>
        <p:spPr>
          <a:xfrm>
            <a:off x="8834380" y="1424459"/>
            <a:ext cx="712054" cy="338554"/>
          </a:xfrm>
          <a:prstGeom prst="rect">
            <a:avLst/>
          </a:prstGeom>
        </p:spPr>
        <p:txBody>
          <a:bodyPr wrap="none">
            <a:spAutoFit/>
          </a:bodyPr>
          <a:lstStyle/>
          <a:p>
            <a:pPr algn="ctr"/>
            <a:r>
              <a:rPr lang="en-US" sz="800" b="1" noProof="0" dirty="0">
                <a:solidFill>
                  <a:schemeClr val="accent3"/>
                </a:solidFill>
                <a:latin typeface="Nunito Sans" pitchFamily="2" charset="77"/>
              </a:rPr>
              <a:t>Investment</a:t>
            </a:r>
          </a:p>
          <a:p>
            <a:pPr algn="ctr"/>
            <a:r>
              <a:rPr lang="en-US" sz="800" b="1" noProof="0" dirty="0">
                <a:solidFill>
                  <a:schemeClr val="accent3"/>
                </a:solidFill>
                <a:latin typeface="Nunito Sans" pitchFamily="2" charset="77"/>
              </a:rPr>
              <a:t>Universe</a:t>
            </a:r>
          </a:p>
        </p:txBody>
      </p:sp>
      <p:sp>
        <p:nvSpPr>
          <p:cNvPr id="20" name="Rectangle 19">
            <a:extLst>
              <a:ext uri="{FF2B5EF4-FFF2-40B4-BE49-F238E27FC236}">
                <a16:creationId xmlns:a16="http://schemas.microsoft.com/office/drawing/2014/main" id="{4E6B0A4A-BF66-A798-B777-A5E8DC5B6406}"/>
              </a:ext>
            </a:extLst>
          </p:cNvPr>
          <p:cNvSpPr/>
          <p:nvPr/>
        </p:nvSpPr>
        <p:spPr>
          <a:xfrm>
            <a:off x="2663905" y="3160584"/>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Equities – </a:t>
            </a:r>
            <a:r>
              <a:rPr lang="en-US" sz="1100" noProof="0" dirty="0">
                <a:solidFill>
                  <a:schemeClr val="bg1"/>
                </a:solidFill>
                <a:latin typeface="Nunito Sans" pitchFamily="2" charset="77"/>
              </a:rPr>
              <a:t>Explore and </a:t>
            </a:r>
            <a:r>
              <a:rPr lang="en-US" sz="1100" noProof="0" dirty="0" err="1">
                <a:solidFill>
                  <a:schemeClr val="bg1"/>
                </a:solidFill>
                <a:latin typeface="Nunito Sans" pitchFamily="2" charset="77"/>
              </a:rPr>
              <a:t>c</a:t>
            </a:r>
            <a:r>
              <a:rPr lang="en-US" sz="1100" noProof="0" dirty="0" err="1"/>
              <a:t>apitalise</a:t>
            </a:r>
            <a:r>
              <a:rPr lang="en-US" sz="1100" noProof="0" dirty="0"/>
              <a:t> growth in our core markets </a:t>
            </a:r>
          </a:p>
        </p:txBody>
      </p:sp>
      <p:sp>
        <p:nvSpPr>
          <p:cNvPr id="26" name="Rectangle 25">
            <a:extLst>
              <a:ext uri="{FF2B5EF4-FFF2-40B4-BE49-F238E27FC236}">
                <a16:creationId xmlns:a16="http://schemas.microsoft.com/office/drawing/2014/main" id="{9730E52F-5A8C-8522-F559-1EB10C7919B4}"/>
              </a:ext>
            </a:extLst>
          </p:cNvPr>
          <p:cNvSpPr/>
          <p:nvPr/>
        </p:nvSpPr>
        <p:spPr>
          <a:xfrm>
            <a:off x="2663905" y="3849153"/>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Fixed Income – </a:t>
            </a:r>
            <a:r>
              <a:rPr lang="en-US" sz="1100" noProof="0" dirty="0">
                <a:solidFill>
                  <a:schemeClr val="bg1"/>
                </a:solidFill>
                <a:latin typeface="Nunito Sans" pitchFamily="2" charset="77"/>
              </a:rPr>
              <a:t>Secure income stream with potential for growth</a:t>
            </a:r>
            <a:endParaRPr lang="en-US" sz="1100" noProof="0" dirty="0"/>
          </a:p>
          <a:p>
            <a:endParaRPr lang="en-US" sz="1100" noProof="0" dirty="0"/>
          </a:p>
          <a:p>
            <a:endParaRPr lang="en-US" sz="1100" noProof="0" dirty="0"/>
          </a:p>
          <a:p>
            <a:r>
              <a:rPr lang="en-US" sz="1100" noProof="0" dirty="0"/>
              <a:t> 12</a:t>
            </a:r>
          </a:p>
          <a:p>
            <a:r>
              <a:rPr lang="en-US" sz="1100" noProof="0" dirty="0"/>
              <a:t>12</a:t>
            </a:r>
          </a:p>
          <a:p>
            <a:endParaRPr lang="en-US" sz="1100" noProof="0" dirty="0"/>
          </a:p>
        </p:txBody>
      </p:sp>
      <p:sp>
        <p:nvSpPr>
          <p:cNvPr id="27" name="Rectangle 26">
            <a:extLst>
              <a:ext uri="{FF2B5EF4-FFF2-40B4-BE49-F238E27FC236}">
                <a16:creationId xmlns:a16="http://schemas.microsoft.com/office/drawing/2014/main" id="{3CAB43BF-BCF5-777A-F0FD-7336EC995ECE}"/>
              </a:ext>
            </a:extLst>
          </p:cNvPr>
          <p:cNvSpPr/>
          <p:nvPr/>
        </p:nvSpPr>
        <p:spPr>
          <a:xfrm>
            <a:off x="665163" y="3160583"/>
            <a:ext cx="1980000" cy="2713708"/>
          </a:xfrm>
          <a:prstGeom prst="rect">
            <a:avLst/>
          </a:prstGeom>
          <a:solidFill>
            <a:srgbClr val="4B5F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Liquid Assets</a:t>
            </a:r>
          </a:p>
          <a:p>
            <a:r>
              <a:rPr lang="en-US" sz="1200" b="1" noProof="0" dirty="0">
                <a:solidFill>
                  <a:schemeClr val="bg1"/>
                </a:solidFill>
                <a:latin typeface="Nunito Sans" pitchFamily="2" charset="77"/>
              </a:rPr>
              <a:t>– Core Universe</a:t>
            </a:r>
            <a:endParaRPr lang="en-US" sz="1200" noProof="0" dirty="0"/>
          </a:p>
          <a:p>
            <a:endParaRPr lang="en-US" sz="1200" noProof="0" dirty="0"/>
          </a:p>
          <a:p>
            <a:endParaRPr lang="en-US" sz="1200" noProof="0" dirty="0"/>
          </a:p>
          <a:p>
            <a:r>
              <a:rPr lang="en-US" sz="1200" noProof="0" dirty="0"/>
              <a:t> </a:t>
            </a:r>
          </a:p>
        </p:txBody>
      </p:sp>
      <p:sp>
        <p:nvSpPr>
          <p:cNvPr id="28" name="Rectangle 27">
            <a:extLst>
              <a:ext uri="{FF2B5EF4-FFF2-40B4-BE49-F238E27FC236}">
                <a16:creationId xmlns:a16="http://schemas.microsoft.com/office/drawing/2014/main" id="{E732559E-C59B-5191-300C-E5F680981297}"/>
              </a:ext>
            </a:extLst>
          </p:cNvPr>
          <p:cNvSpPr/>
          <p:nvPr/>
        </p:nvSpPr>
        <p:spPr>
          <a:xfrm>
            <a:off x="5501969" y="4080655"/>
            <a:ext cx="1980000" cy="86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Alternatives</a:t>
            </a:r>
            <a:endParaRPr lang="en-US" sz="1200" noProof="0" dirty="0"/>
          </a:p>
          <a:p>
            <a:endParaRPr lang="en-US" sz="1200" noProof="0" dirty="0"/>
          </a:p>
          <a:p>
            <a:endParaRPr lang="en-US" sz="1200" noProof="0" dirty="0"/>
          </a:p>
          <a:p>
            <a:r>
              <a:rPr lang="en-US" sz="1200" noProof="0" dirty="0"/>
              <a:t> </a:t>
            </a:r>
          </a:p>
        </p:txBody>
      </p:sp>
      <p:sp>
        <p:nvSpPr>
          <p:cNvPr id="29" name="Rectangle 28">
            <a:extLst>
              <a:ext uri="{FF2B5EF4-FFF2-40B4-BE49-F238E27FC236}">
                <a16:creationId xmlns:a16="http://schemas.microsoft.com/office/drawing/2014/main" id="{4640AD82-B043-F382-09CC-59B25044B075}"/>
              </a:ext>
            </a:extLst>
          </p:cNvPr>
          <p:cNvSpPr/>
          <p:nvPr/>
        </p:nvSpPr>
        <p:spPr>
          <a:xfrm>
            <a:off x="5501969" y="5010291"/>
            <a:ext cx="1980000" cy="864000"/>
          </a:xfrm>
          <a:prstGeom prst="rect">
            <a:avLst/>
          </a:prstGeom>
          <a:solidFill>
            <a:srgbClr val="00CEB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Digital</a:t>
            </a:r>
            <a:endParaRPr lang="en-US" sz="1200" noProof="0" dirty="0"/>
          </a:p>
          <a:p>
            <a:endParaRPr lang="en-US" sz="1200" noProof="0" dirty="0"/>
          </a:p>
          <a:p>
            <a:endParaRPr lang="en-US" sz="1200" noProof="0" dirty="0"/>
          </a:p>
          <a:p>
            <a:r>
              <a:rPr lang="en-US" sz="1200" noProof="0" dirty="0"/>
              <a:t> </a:t>
            </a:r>
          </a:p>
        </p:txBody>
      </p:sp>
      <p:sp>
        <p:nvSpPr>
          <p:cNvPr id="30" name="Rectangle 29">
            <a:extLst>
              <a:ext uri="{FF2B5EF4-FFF2-40B4-BE49-F238E27FC236}">
                <a16:creationId xmlns:a16="http://schemas.microsoft.com/office/drawing/2014/main" id="{ED4C7966-A355-241D-FDC6-73A1041281F1}"/>
              </a:ext>
            </a:extLst>
          </p:cNvPr>
          <p:cNvSpPr/>
          <p:nvPr/>
        </p:nvSpPr>
        <p:spPr>
          <a:xfrm>
            <a:off x="5501969" y="3157663"/>
            <a:ext cx="1980000" cy="864000"/>
          </a:xfrm>
          <a:prstGeom prst="rect">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Structured Products &amp; Derivatives</a:t>
            </a:r>
            <a:endParaRPr lang="en-US" sz="1200" noProof="0" dirty="0"/>
          </a:p>
          <a:p>
            <a:endParaRPr lang="en-US" sz="1200" noProof="0" dirty="0"/>
          </a:p>
          <a:p>
            <a:r>
              <a:rPr lang="en-US" sz="1200" noProof="0" dirty="0"/>
              <a:t> </a:t>
            </a:r>
          </a:p>
        </p:txBody>
      </p:sp>
      <p:sp>
        <p:nvSpPr>
          <p:cNvPr id="31" name="Rectangle 30">
            <a:extLst>
              <a:ext uri="{FF2B5EF4-FFF2-40B4-BE49-F238E27FC236}">
                <a16:creationId xmlns:a16="http://schemas.microsoft.com/office/drawing/2014/main" id="{82D17B69-D730-2315-0ED4-5B1A4819AC8D}"/>
              </a:ext>
            </a:extLst>
          </p:cNvPr>
          <p:cNvSpPr/>
          <p:nvPr/>
        </p:nvSpPr>
        <p:spPr>
          <a:xfrm>
            <a:off x="2663905" y="4537722"/>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Funds – </a:t>
            </a:r>
            <a:r>
              <a:rPr lang="en-US" sz="1100" noProof="0" dirty="0">
                <a:solidFill>
                  <a:schemeClr val="bg1"/>
                </a:solidFill>
                <a:latin typeface="Nunito Sans" pitchFamily="2" charset="77"/>
              </a:rPr>
              <a:t>professionally managed funds to diversify and grow</a:t>
            </a:r>
            <a:endParaRPr lang="en-US" sz="1100" noProof="0" dirty="0"/>
          </a:p>
          <a:p>
            <a:endParaRPr lang="en-US" sz="1100" noProof="0" dirty="0"/>
          </a:p>
          <a:p>
            <a:endParaRPr lang="en-US" sz="1100" noProof="0" dirty="0"/>
          </a:p>
          <a:p>
            <a:r>
              <a:rPr lang="en-US" sz="1100" noProof="0" dirty="0"/>
              <a:t> </a:t>
            </a:r>
          </a:p>
        </p:txBody>
      </p:sp>
      <p:sp>
        <p:nvSpPr>
          <p:cNvPr id="32" name="Rectangle 31">
            <a:extLst>
              <a:ext uri="{FF2B5EF4-FFF2-40B4-BE49-F238E27FC236}">
                <a16:creationId xmlns:a16="http://schemas.microsoft.com/office/drawing/2014/main" id="{F54FC821-E25B-97FF-02F9-D8CF940F5BA3}"/>
              </a:ext>
            </a:extLst>
          </p:cNvPr>
          <p:cNvSpPr/>
          <p:nvPr/>
        </p:nvSpPr>
        <p:spPr>
          <a:xfrm>
            <a:off x="2663905" y="5226291"/>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FX &amp; Commodities – </a:t>
            </a:r>
            <a:r>
              <a:rPr lang="en-US" sz="1100" noProof="0" dirty="0">
                <a:solidFill>
                  <a:schemeClr val="bg1"/>
                </a:solidFill>
                <a:latin typeface="Nunito Sans" pitchFamily="2" charset="77"/>
              </a:rPr>
              <a:t>navigate through global markets to </a:t>
            </a:r>
            <a:r>
              <a:rPr lang="en-US" sz="1100" noProof="0" dirty="0" err="1">
                <a:solidFill>
                  <a:schemeClr val="bg1"/>
                </a:solidFill>
                <a:latin typeface="Nunito Sans" pitchFamily="2" charset="77"/>
              </a:rPr>
              <a:t>optimise</a:t>
            </a:r>
            <a:r>
              <a:rPr lang="en-US" sz="1100" noProof="0" dirty="0">
                <a:solidFill>
                  <a:schemeClr val="bg1"/>
                </a:solidFill>
                <a:latin typeface="Nunito Sans" pitchFamily="2" charset="77"/>
              </a:rPr>
              <a:t> your portfolios</a:t>
            </a:r>
            <a:endParaRPr lang="en-US" sz="1100" noProof="0" dirty="0"/>
          </a:p>
          <a:p>
            <a:endParaRPr lang="en-US" sz="1100" noProof="0" dirty="0"/>
          </a:p>
          <a:p>
            <a:endParaRPr lang="en-US" sz="1100" noProof="0" dirty="0"/>
          </a:p>
          <a:p>
            <a:r>
              <a:rPr lang="en-US" sz="1100" noProof="0" dirty="0"/>
              <a:t> </a:t>
            </a:r>
          </a:p>
        </p:txBody>
      </p:sp>
      <p:sp>
        <p:nvSpPr>
          <p:cNvPr id="33" name="Rectangle 32">
            <a:extLst>
              <a:ext uri="{FF2B5EF4-FFF2-40B4-BE49-F238E27FC236}">
                <a16:creationId xmlns:a16="http://schemas.microsoft.com/office/drawing/2014/main" id="{E038A816-ECA8-8DB2-4B4D-DF6BDEFF1832}"/>
              </a:ext>
            </a:extLst>
          </p:cNvPr>
          <p:cNvSpPr/>
          <p:nvPr/>
        </p:nvSpPr>
        <p:spPr>
          <a:xfrm>
            <a:off x="7506647" y="4080655"/>
            <a:ext cx="2520000" cy="864000"/>
          </a:xfrm>
          <a:prstGeom prst="rect">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Venture beyond the conventional with alternative investments, access our exclusive private market opportunities</a:t>
            </a:r>
            <a:endParaRPr lang="en-US" sz="1100" noProof="0" dirty="0"/>
          </a:p>
          <a:p>
            <a:endParaRPr lang="en-US" sz="1100" noProof="0" dirty="0"/>
          </a:p>
          <a:p>
            <a:endParaRPr lang="en-US" sz="1100" noProof="0" dirty="0"/>
          </a:p>
          <a:p>
            <a:r>
              <a:rPr lang="en-US" sz="1100" noProof="0" dirty="0"/>
              <a:t> </a:t>
            </a:r>
          </a:p>
        </p:txBody>
      </p:sp>
      <p:sp>
        <p:nvSpPr>
          <p:cNvPr id="34" name="Rectangle 33">
            <a:extLst>
              <a:ext uri="{FF2B5EF4-FFF2-40B4-BE49-F238E27FC236}">
                <a16:creationId xmlns:a16="http://schemas.microsoft.com/office/drawing/2014/main" id="{A1B2DA92-BFAE-34F5-2C9C-2768CD31CEBF}"/>
              </a:ext>
            </a:extLst>
          </p:cNvPr>
          <p:cNvSpPr/>
          <p:nvPr/>
        </p:nvSpPr>
        <p:spPr>
          <a:xfrm>
            <a:off x="7506647" y="5010291"/>
            <a:ext cx="2520000" cy="864000"/>
          </a:xfrm>
          <a:prstGeom prst="rect">
            <a:avLst/>
          </a:prstGeom>
          <a:solidFill>
            <a:srgbClr val="00CEB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spcBef>
                <a:spcPts val="300"/>
              </a:spcBef>
            </a:pPr>
            <a:r>
              <a:rPr lang="en-US" sz="1100" noProof="0" dirty="0">
                <a:solidFill>
                  <a:schemeClr val="bg1"/>
                </a:solidFill>
                <a:latin typeface="Nunito Sans" pitchFamily="2" charset="77"/>
              </a:rPr>
              <a:t>Position yourself for financial innovation</a:t>
            </a:r>
          </a:p>
          <a:p>
            <a:pPr>
              <a:spcBef>
                <a:spcPts val="300"/>
              </a:spcBef>
            </a:pPr>
            <a:r>
              <a:rPr lang="en-US" sz="1100" noProof="0" dirty="0">
                <a:solidFill>
                  <a:schemeClr val="bg1"/>
                </a:solidFill>
                <a:latin typeface="Nunito Sans" pitchFamily="2" charset="77"/>
              </a:rPr>
              <a:t>Embrace the future with digital assets like Bitcoin and Ethereum</a:t>
            </a:r>
            <a:endParaRPr lang="en-US" sz="1100" noProof="0" dirty="0"/>
          </a:p>
          <a:p>
            <a:pPr>
              <a:spcBef>
                <a:spcPts val="300"/>
              </a:spcBef>
            </a:pPr>
            <a:endParaRPr lang="en-US" sz="1100" noProof="0" dirty="0"/>
          </a:p>
          <a:p>
            <a:pPr>
              <a:spcBef>
                <a:spcPts val="300"/>
              </a:spcBef>
            </a:pPr>
            <a:endParaRPr lang="en-US" sz="1100" noProof="0" dirty="0"/>
          </a:p>
          <a:p>
            <a:pPr>
              <a:spcBef>
                <a:spcPts val="300"/>
              </a:spcBef>
            </a:pPr>
            <a:r>
              <a:rPr lang="en-US" sz="1100" noProof="0" dirty="0"/>
              <a:t> </a:t>
            </a:r>
          </a:p>
        </p:txBody>
      </p:sp>
      <p:sp>
        <p:nvSpPr>
          <p:cNvPr id="35" name="Rectangle 34">
            <a:extLst>
              <a:ext uri="{FF2B5EF4-FFF2-40B4-BE49-F238E27FC236}">
                <a16:creationId xmlns:a16="http://schemas.microsoft.com/office/drawing/2014/main" id="{588DE45E-D160-9628-C357-794C49C05103}"/>
              </a:ext>
            </a:extLst>
          </p:cNvPr>
          <p:cNvSpPr/>
          <p:nvPr/>
        </p:nvSpPr>
        <p:spPr>
          <a:xfrm>
            <a:off x="7506647" y="3157663"/>
            <a:ext cx="2520000" cy="864000"/>
          </a:xfrm>
          <a:prstGeom prst="rect">
            <a:avLst/>
          </a:prstGeom>
          <a:solidFill>
            <a:srgbClr val="FFA4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Explore sophisticated financial instruments tailored for your needs – such as options, futures, structured products</a:t>
            </a:r>
            <a:endParaRPr lang="en-US" sz="1100" noProof="0" dirty="0"/>
          </a:p>
          <a:p>
            <a:endParaRPr lang="en-US" sz="1100" noProof="0" dirty="0"/>
          </a:p>
          <a:p>
            <a:r>
              <a:rPr lang="en-US" sz="1100" noProof="0" dirty="0"/>
              <a:t> </a:t>
            </a:r>
          </a:p>
        </p:txBody>
      </p:sp>
      <p:sp>
        <p:nvSpPr>
          <p:cNvPr id="36" name="Oval 35">
            <a:extLst>
              <a:ext uri="{FF2B5EF4-FFF2-40B4-BE49-F238E27FC236}">
                <a16:creationId xmlns:a16="http://schemas.microsoft.com/office/drawing/2014/main" id="{A2244394-A55C-4B54-BE29-FB8CE4A695B6}"/>
              </a:ext>
            </a:extLst>
          </p:cNvPr>
          <p:cNvSpPr/>
          <p:nvPr/>
        </p:nvSpPr>
        <p:spPr>
          <a:xfrm>
            <a:off x="5147905" y="5876871"/>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000" b="1" noProof="0" dirty="0">
                <a:solidFill>
                  <a:srgbClr val="EB3F8E"/>
                </a:solidFill>
              </a:rPr>
              <a:t>+</a:t>
            </a:r>
          </a:p>
        </p:txBody>
      </p:sp>
    </p:spTree>
    <p:extLst>
      <p:ext uri="{BB962C8B-B14F-4D97-AF65-F5344CB8AC3E}">
        <p14:creationId xmlns:p14="http://schemas.microsoft.com/office/powerpoint/2010/main" val="899681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18AE7-B966-9DA2-CC56-D1C07D377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8428F-CC0C-803B-D8D1-E8BE6F51561C}"/>
              </a:ext>
            </a:extLst>
          </p:cNvPr>
          <p:cNvSpPr>
            <a:spLocks noGrp="1"/>
          </p:cNvSpPr>
          <p:nvPr>
            <p:ph type="title"/>
          </p:nvPr>
        </p:nvSpPr>
        <p:spPr/>
        <p:txBody>
          <a:bodyPr/>
          <a:lstStyle/>
          <a:p>
            <a:r>
              <a:rPr lang="en-US">
                <a:gradFill flip="none" rotWithShape="1">
                  <a:gsLst>
                    <a:gs pos="0">
                      <a:srgbClr val="FFA400"/>
                    </a:gs>
                    <a:gs pos="100000">
                      <a:srgbClr val="FF6C0E"/>
                    </a:gs>
                  </a:gsLst>
                  <a:path path="circle">
                    <a:fillToRect l="100000" t="100000"/>
                  </a:path>
                  <a:tileRect r="-100000" b="-100000"/>
                </a:gradFill>
                <a:latin typeface="Nunito Sans ExtraBold" pitchFamily="2" charset="77"/>
              </a:rPr>
              <a:t>Alternative Investments Opportunities </a:t>
            </a:r>
            <a:endParaRPr lang="en-CH" b="0">
              <a:solidFill>
                <a:srgbClr val="FFA400"/>
              </a:solidFill>
            </a:endParaRPr>
          </a:p>
        </p:txBody>
      </p:sp>
      <p:sp>
        <p:nvSpPr>
          <p:cNvPr id="31" name="Text Placeholder 47">
            <a:extLst>
              <a:ext uri="{FF2B5EF4-FFF2-40B4-BE49-F238E27FC236}">
                <a16:creationId xmlns:a16="http://schemas.microsoft.com/office/drawing/2014/main" id="{56129C8D-2D69-682A-75B1-319495380B6B}"/>
              </a:ext>
            </a:extLst>
          </p:cNvPr>
          <p:cNvSpPr>
            <a:spLocks noGrp="1"/>
          </p:cNvSpPr>
          <p:nvPr>
            <p:ph type="body" sz="quarter" idx="10"/>
          </p:nvPr>
        </p:nvSpPr>
        <p:spPr>
          <a:xfrm>
            <a:off x="665163" y="1764000"/>
            <a:ext cx="9398001" cy="251512"/>
          </a:xfrm>
        </p:spPr>
        <p:txBody>
          <a:bodyPr/>
          <a:lstStyle/>
          <a:p>
            <a:r>
              <a:rPr lang="en-US" sz="1400">
                <a:solidFill>
                  <a:schemeClr val="tx2"/>
                </a:solidFill>
                <a:latin typeface="+mn-lt"/>
              </a:rPr>
              <a:t>Alternative investments offer strategies with distinct time horizons, risk profiles, and return expectations</a:t>
            </a:r>
            <a:endParaRPr lang="en-GB" sz="1400">
              <a:solidFill>
                <a:schemeClr val="tx2"/>
              </a:solidFill>
              <a:latin typeface="+mn-lt"/>
            </a:endParaRPr>
          </a:p>
        </p:txBody>
      </p:sp>
      <p:sp>
        <p:nvSpPr>
          <p:cNvPr id="16" name="Title 1">
            <a:extLst>
              <a:ext uri="{FF2B5EF4-FFF2-40B4-BE49-F238E27FC236}">
                <a16:creationId xmlns:a16="http://schemas.microsoft.com/office/drawing/2014/main" id="{5C4EB385-3BAF-6748-4771-F63F9C73F7B3}"/>
              </a:ext>
            </a:extLst>
          </p:cNvPr>
          <p:cNvSpPr txBox="1">
            <a:spLocks/>
          </p:cNvSpPr>
          <p:nvPr/>
        </p:nvSpPr>
        <p:spPr>
          <a:xfrm>
            <a:off x="817563" y="1184838"/>
            <a:ext cx="9398001" cy="864586"/>
          </a:xfrm>
          <a:prstGeom prst="rect">
            <a:avLst/>
          </a:prstGeom>
        </p:spPr>
        <p:txBody>
          <a:bodyPr vert="horz" lIns="0" tIns="0" rIns="0" bIns="0" rtlCol="0" anchor="t" anchorCtr="0">
            <a:noAutofit/>
          </a:bodyPr>
          <a:lstStyle>
            <a:lvl1pPr algn="l" defTabSz="1007943" rtl="0" eaLnBrk="1" latinLnBrk="0" hangingPunct="1">
              <a:lnSpc>
                <a:spcPct val="90000"/>
              </a:lnSpc>
              <a:spcBef>
                <a:spcPct val="0"/>
              </a:spcBef>
              <a:buNone/>
              <a:defRPr sz="2300" b="1" kern="1200">
                <a:gradFill flip="none" rotWithShape="1">
                  <a:gsLst>
                    <a:gs pos="0">
                      <a:schemeClr val="accent4"/>
                    </a:gs>
                    <a:gs pos="100000">
                      <a:srgbClr val="FFA400"/>
                    </a:gs>
                  </a:gsLst>
                  <a:lin ang="0" scaled="1"/>
                  <a:tileRect/>
                </a:gradFill>
                <a:latin typeface="+mj-lt"/>
                <a:ea typeface="+mj-ea"/>
                <a:cs typeface="+mj-cs"/>
              </a:defRPr>
            </a:lvl1pPr>
          </a:lstStyle>
          <a:p>
            <a:endParaRPr lang="en-CH" b="0">
              <a:solidFill>
                <a:srgbClr val="FFA400"/>
              </a:solidFill>
            </a:endParaRPr>
          </a:p>
        </p:txBody>
      </p:sp>
      <p:sp>
        <p:nvSpPr>
          <p:cNvPr id="3" name="Rectangle 2">
            <a:extLst>
              <a:ext uri="{FF2B5EF4-FFF2-40B4-BE49-F238E27FC236}">
                <a16:creationId xmlns:a16="http://schemas.microsoft.com/office/drawing/2014/main" id="{DBEA7080-5156-E76F-06B9-AD42073BA840}"/>
              </a:ext>
            </a:extLst>
          </p:cNvPr>
          <p:cNvSpPr/>
          <p:nvPr/>
        </p:nvSpPr>
        <p:spPr>
          <a:xfrm>
            <a:off x="665163"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3BAF90"/>
                </a:solidFill>
              </a:rPr>
              <a:t>Hedge Funds </a:t>
            </a:r>
            <a:endParaRPr lang="en-CH" sz="1400" b="1">
              <a:solidFill>
                <a:srgbClr val="3BAF90"/>
              </a:solidFill>
            </a:endParaRPr>
          </a:p>
        </p:txBody>
      </p:sp>
      <p:sp>
        <p:nvSpPr>
          <p:cNvPr id="5" name="Rectangle 4">
            <a:extLst>
              <a:ext uri="{FF2B5EF4-FFF2-40B4-BE49-F238E27FC236}">
                <a16:creationId xmlns:a16="http://schemas.microsoft.com/office/drawing/2014/main" id="{FEA2857D-D79F-4BE3-6531-15BD0F763E9C}"/>
              </a:ext>
            </a:extLst>
          </p:cNvPr>
          <p:cNvSpPr/>
          <p:nvPr/>
        </p:nvSpPr>
        <p:spPr>
          <a:xfrm>
            <a:off x="3115781"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chemeClr val="tx2"/>
                </a:solidFill>
              </a:rPr>
              <a:t>Private Debt </a:t>
            </a:r>
            <a:endParaRPr lang="en-CH" sz="1400" b="1">
              <a:solidFill>
                <a:schemeClr val="tx2"/>
              </a:solidFill>
            </a:endParaRPr>
          </a:p>
        </p:txBody>
      </p:sp>
      <p:sp>
        <p:nvSpPr>
          <p:cNvPr id="7" name="Rectangle 6">
            <a:extLst>
              <a:ext uri="{FF2B5EF4-FFF2-40B4-BE49-F238E27FC236}">
                <a16:creationId xmlns:a16="http://schemas.microsoft.com/office/drawing/2014/main" id="{855E8DF0-62CD-2380-6765-B2E4C5A68223}"/>
              </a:ext>
            </a:extLst>
          </p:cNvPr>
          <p:cNvSpPr/>
          <p:nvPr/>
        </p:nvSpPr>
        <p:spPr>
          <a:xfrm>
            <a:off x="5566399"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79D6FF"/>
                </a:solidFill>
              </a:rPr>
              <a:t>Private Equity </a:t>
            </a:r>
            <a:endParaRPr lang="en-CH" sz="1400" b="1">
              <a:solidFill>
                <a:srgbClr val="79D6FF"/>
              </a:solidFill>
            </a:endParaRPr>
          </a:p>
        </p:txBody>
      </p:sp>
      <p:cxnSp>
        <p:nvCxnSpPr>
          <p:cNvPr id="14" name="Straight Arrow Connector 13">
            <a:extLst>
              <a:ext uri="{FF2B5EF4-FFF2-40B4-BE49-F238E27FC236}">
                <a16:creationId xmlns:a16="http://schemas.microsoft.com/office/drawing/2014/main" id="{A8B4A93B-C67A-D0B7-58CC-AD0769BD0DA5}"/>
              </a:ext>
            </a:extLst>
          </p:cNvPr>
          <p:cNvCxnSpPr>
            <a:cxnSpLocks/>
          </p:cNvCxnSpPr>
          <p:nvPr/>
        </p:nvCxnSpPr>
        <p:spPr>
          <a:xfrm flipV="1">
            <a:off x="665163" y="2439664"/>
            <a:ext cx="9472065" cy="434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 Placeholder 2">
            <a:extLst>
              <a:ext uri="{FF2B5EF4-FFF2-40B4-BE49-F238E27FC236}">
                <a16:creationId xmlns:a16="http://schemas.microsoft.com/office/drawing/2014/main" id="{66B0D49E-EB11-E676-CF75-BDC23EF7FF77}"/>
              </a:ext>
            </a:extLst>
          </p:cNvPr>
          <p:cNvSpPr txBox="1">
            <a:spLocks/>
          </p:cNvSpPr>
          <p:nvPr/>
        </p:nvSpPr>
        <p:spPr>
          <a:xfrm>
            <a:off x="665163" y="3639841"/>
            <a:ext cx="2046506" cy="830997"/>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Funds-of-funds &amp; White label</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Advisory</a:t>
            </a:r>
            <a:r>
              <a:rPr lang="en-US" sz="1100">
                <a:solidFill>
                  <a:schemeClr val="tx2"/>
                </a:solidFill>
                <a:latin typeface="Nunito Sans" panose="00000500000000000000" pitchFamily="2" charset="0"/>
                <a:ea typeface="MS Mincho"/>
                <a:cs typeface="Times New Roman"/>
              </a:rPr>
              <a:t> (customized single HF portfolios) </a:t>
            </a:r>
            <a:endParaRPr lang="en-US" sz="1200">
              <a:solidFill>
                <a:schemeClr val="tx2"/>
              </a:solidFill>
              <a:latin typeface="Nunito Sans" panose="00000500000000000000" pitchFamily="2" charset="0"/>
              <a:ea typeface="MS Mincho"/>
              <a:cs typeface="Times New Roman"/>
            </a:endParaRPr>
          </a:p>
        </p:txBody>
      </p:sp>
      <p:sp>
        <p:nvSpPr>
          <p:cNvPr id="21" name="Text Placeholder 2">
            <a:extLst>
              <a:ext uri="{FF2B5EF4-FFF2-40B4-BE49-F238E27FC236}">
                <a16:creationId xmlns:a16="http://schemas.microsoft.com/office/drawing/2014/main" id="{01979194-C581-149F-6966-B4286FE42012}"/>
              </a:ext>
            </a:extLst>
          </p:cNvPr>
          <p:cNvSpPr txBox="1">
            <a:spLocks/>
          </p:cNvSpPr>
          <p:nvPr/>
        </p:nvSpPr>
        <p:spPr>
          <a:xfrm>
            <a:off x="3115781" y="3639841"/>
            <a:ext cx="2046506" cy="1646605"/>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Direct lending</a:t>
            </a:r>
            <a:r>
              <a:rPr lang="en-US" sz="1100">
                <a:solidFill>
                  <a:schemeClr val="tx2"/>
                </a:solidFill>
                <a:latin typeface="Nunito Sans" panose="00000500000000000000" pitchFamily="2" charset="0"/>
                <a:ea typeface="MS Mincho"/>
                <a:cs typeface="Times New Roman"/>
              </a:rPr>
              <a:t> to private companies, primarily through senior secured loans </a:t>
            </a:r>
          </a:p>
          <a:p>
            <a:endParaRPr lang="en-US" sz="1100">
              <a:solidFill>
                <a:schemeClr val="tx2"/>
              </a:solidFill>
              <a:latin typeface="Nunito Sans" panose="00000500000000000000" pitchFamily="2" charset="0"/>
              <a:ea typeface="MS Mincho"/>
              <a:cs typeface="Times New Roman"/>
            </a:endParaRPr>
          </a:p>
          <a:p>
            <a:pPr marL="285750" indent="-285750">
              <a:buFont typeface="Wingdings 3" panose="05040102010807070707" pitchFamily="18" charset="2"/>
              <a:buChar char=""/>
            </a:pPr>
            <a:endParaRPr lang="en-US" sz="1100" b="1">
              <a:solidFill>
                <a:schemeClr val="tx2"/>
              </a:solidFill>
              <a:latin typeface="Nunito Sans" panose="00000500000000000000" pitchFamily="2" charset="0"/>
              <a:ea typeface="MS Mincho"/>
              <a:cs typeface="Times New Roman"/>
            </a:endParaRPr>
          </a:p>
          <a:p>
            <a:r>
              <a:rPr lang="en-US" sz="1100" b="1">
                <a:solidFill>
                  <a:schemeClr val="tx2"/>
                </a:solidFill>
                <a:latin typeface="Nunito Sans" panose="00000500000000000000" pitchFamily="2" charset="0"/>
                <a:ea typeface="MS Mincho"/>
                <a:cs typeface="Times New Roman"/>
              </a:rPr>
              <a:t> </a:t>
            </a:r>
          </a:p>
        </p:txBody>
      </p:sp>
      <p:sp>
        <p:nvSpPr>
          <p:cNvPr id="22" name="Text Placeholder 2">
            <a:extLst>
              <a:ext uri="{FF2B5EF4-FFF2-40B4-BE49-F238E27FC236}">
                <a16:creationId xmlns:a16="http://schemas.microsoft.com/office/drawing/2014/main" id="{C3430266-C028-1C47-3F5C-302287ED2B2B}"/>
              </a:ext>
            </a:extLst>
          </p:cNvPr>
          <p:cNvSpPr txBox="1">
            <a:spLocks/>
          </p:cNvSpPr>
          <p:nvPr/>
        </p:nvSpPr>
        <p:spPr>
          <a:xfrm>
            <a:off x="5566399" y="3639841"/>
            <a:ext cx="2046506" cy="1000274"/>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Deal-by-deal access </a:t>
            </a:r>
            <a:r>
              <a:rPr lang="en-US" sz="1100">
                <a:solidFill>
                  <a:schemeClr val="tx2"/>
                </a:solidFill>
                <a:latin typeface="Nunito Sans" panose="00000500000000000000" pitchFamily="2" charset="0"/>
                <a:ea typeface="MS Mincho"/>
                <a:cs typeface="Times New Roman"/>
              </a:rPr>
              <a:t>(majority investment)</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European Buyout program </a:t>
            </a:r>
            <a:r>
              <a:rPr lang="en-US" sz="1100">
                <a:solidFill>
                  <a:schemeClr val="tx2"/>
                </a:solidFill>
                <a:latin typeface="Nunito Sans" panose="00000500000000000000" pitchFamily="2" charset="0"/>
                <a:ea typeface="MS Mincho"/>
                <a:cs typeface="Times New Roman"/>
              </a:rPr>
              <a:t>(primaries &amp; co-investments)  </a:t>
            </a:r>
            <a:endParaRPr lang="en-US" sz="1200">
              <a:solidFill>
                <a:schemeClr val="tx2"/>
              </a:solidFill>
              <a:latin typeface="Nunito Sans" panose="00000500000000000000" pitchFamily="2" charset="0"/>
              <a:ea typeface="MS Mincho"/>
              <a:cs typeface="Times New Roman"/>
            </a:endParaRPr>
          </a:p>
        </p:txBody>
      </p:sp>
      <p:cxnSp>
        <p:nvCxnSpPr>
          <p:cNvPr id="28" name="Straight Connector 27">
            <a:extLst>
              <a:ext uri="{FF2B5EF4-FFF2-40B4-BE49-F238E27FC236}">
                <a16:creationId xmlns:a16="http://schemas.microsoft.com/office/drawing/2014/main" id="{D095A4A3-52C5-6D42-19AC-8AF652CFB2A6}"/>
              </a:ext>
            </a:extLst>
          </p:cNvPr>
          <p:cNvCxnSpPr>
            <a:cxnSpLocks/>
          </p:cNvCxnSpPr>
          <p:nvPr/>
        </p:nvCxnSpPr>
        <p:spPr>
          <a:xfrm>
            <a:off x="7980363"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2" name="Straight Connector 31">
            <a:extLst>
              <a:ext uri="{FF2B5EF4-FFF2-40B4-BE49-F238E27FC236}">
                <a16:creationId xmlns:a16="http://schemas.microsoft.com/office/drawing/2014/main" id="{F1BB6955-B9E9-3E7A-40F9-802744BA56C7}"/>
              </a:ext>
            </a:extLst>
          </p:cNvPr>
          <p:cNvCxnSpPr>
            <a:cxnSpLocks/>
          </p:cNvCxnSpPr>
          <p:nvPr/>
        </p:nvCxnSpPr>
        <p:spPr>
          <a:xfrm>
            <a:off x="3029990"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3" name="Straight Connector 32">
            <a:extLst>
              <a:ext uri="{FF2B5EF4-FFF2-40B4-BE49-F238E27FC236}">
                <a16:creationId xmlns:a16="http://schemas.microsoft.com/office/drawing/2014/main" id="{2D06F13F-400D-F293-0052-06B1DBEB4C64}"/>
              </a:ext>
            </a:extLst>
          </p:cNvPr>
          <p:cNvCxnSpPr>
            <a:cxnSpLocks/>
          </p:cNvCxnSpPr>
          <p:nvPr/>
        </p:nvCxnSpPr>
        <p:spPr>
          <a:xfrm>
            <a:off x="554804"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 name="Text Placeholder 2">
            <a:extLst>
              <a:ext uri="{FF2B5EF4-FFF2-40B4-BE49-F238E27FC236}">
                <a16:creationId xmlns:a16="http://schemas.microsoft.com/office/drawing/2014/main" id="{8FF08A51-089F-4973-5D2D-A17A89ECCE62}"/>
              </a:ext>
            </a:extLst>
          </p:cNvPr>
          <p:cNvSpPr txBox="1">
            <a:spLocks/>
          </p:cNvSpPr>
          <p:nvPr/>
        </p:nvSpPr>
        <p:spPr>
          <a:xfrm>
            <a:off x="665163" y="4980322"/>
            <a:ext cx="2046506" cy="1000274"/>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Access to hard-to-reach managers and emerging talent</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Downside protection and performance resilience  </a:t>
            </a:r>
            <a:endParaRPr lang="en-US" sz="1200">
              <a:solidFill>
                <a:schemeClr val="tx2"/>
              </a:solidFill>
              <a:latin typeface="Nunito Sans" panose="00000500000000000000" pitchFamily="2" charset="0"/>
              <a:ea typeface="MS Mincho"/>
              <a:cs typeface="Times New Roman"/>
            </a:endParaRPr>
          </a:p>
        </p:txBody>
      </p:sp>
      <p:sp>
        <p:nvSpPr>
          <p:cNvPr id="6" name="Text Placeholder 2">
            <a:extLst>
              <a:ext uri="{FF2B5EF4-FFF2-40B4-BE49-F238E27FC236}">
                <a16:creationId xmlns:a16="http://schemas.microsoft.com/office/drawing/2014/main" id="{2998F7A4-45C3-8ECC-E111-3E4EB3E7798E}"/>
              </a:ext>
            </a:extLst>
          </p:cNvPr>
          <p:cNvSpPr txBox="1">
            <a:spLocks/>
          </p:cNvSpPr>
          <p:nvPr/>
        </p:nvSpPr>
        <p:spPr>
          <a:xfrm>
            <a:off x="3118616" y="4980322"/>
            <a:ext cx="2046506" cy="1169551"/>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High returns with lower volatility and downside protection</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Monthly or quarterly income distribution potential</a:t>
            </a:r>
          </a:p>
        </p:txBody>
      </p:sp>
      <p:sp>
        <p:nvSpPr>
          <p:cNvPr id="8" name="Text Placeholder 2">
            <a:extLst>
              <a:ext uri="{FF2B5EF4-FFF2-40B4-BE49-F238E27FC236}">
                <a16:creationId xmlns:a16="http://schemas.microsoft.com/office/drawing/2014/main" id="{EEF89DF0-6AFA-08F9-6357-59ADAD3554EB}"/>
              </a:ext>
            </a:extLst>
          </p:cNvPr>
          <p:cNvSpPr txBox="1">
            <a:spLocks/>
          </p:cNvSpPr>
          <p:nvPr/>
        </p:nvSpPr>
        <p:spPr>
          <a:xfrm>
            <a:off x="5572069"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Focus on lower mid-market B2B sectors </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Disciplined, low-leverage investment approach</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9" name="TextBox 8">
            <a:extLst>
              <a:ext uri="{FF2B5EF4-FFF2-40B4-BE49-F238E27FC236}">
                <a16:creationId xmlns:a16="http://schemas.microsoft.com/office/drawing/2014/main" id="{10A9D906-9E27-7394-A082-F0C227C6DBA3}"/>
              </a:ext>
            </a:extLst>
          </p:cNvPr>
          <p:cNvSpPr txBox="1"/>
          <p:nvPr/>
        </p:nvSpPr>
        <p:spPr>
          <a:xfrm>
            <a:off x="1292772" y="2126018"/>
            <a:ext cx="1773621" cy="268107"/>
          </a:xfrm>
          <a:prstGeom prst="rect">
            <a:avLst/>
          </a:prstGeom>
          <a:noFill/>
        </p:spPr>
        <p:txBody>
          <a:bodyPr vert="horz" wrap="square" lIns="0" tIns="0" rIns="0" bIns="0" rtlCol="0">
            <a:noAutofit/>
          </a:bodyPr>
          <a:lstStyle/>
          <a:p>
            <a:pPr algn="l"/>
            <a:r>
              <a:rPr lang="en-US" sz="1200" b="1">
                <a:solidFill>
                  <a:schemeClr val="accent4"/>
                </a:solidFill>
              </a:rPr>
              <a:t>&gt;3 years </a:t>
            </a:r>
            <a:endParaRPr lang="en-CH" sz="1200" b="1" err="1">
              <a:solidFill>
                <a:schemeClr val="accent4"/>
              </a:solidFill>
            </a:endParaRPr>
          </a:p>
        </p:txBody>
      </p:sp>
      <p:sp>
        <p:nvSpPr>
          <p:cNvPr id="10" name="TextBox 9">
            <a:extLst>
              <a:ext uri="{FF2B5EF4-FFF2-40B4-BE49-F238E27FC236}">
                <a16:creationId xmlns:a16="http://schemas.microsoft.com/office/drawing/2014/main" id="{451677CD-2F2B-58FA-B654-93D5B018BB1A}"/>
              </a:ext>
            </a:extLst>
          </p:cNvPr>
          <p:cNvSpPr txBox="1"/>
          <p:nvPr/>
        </p:nvSpPr>
        <p:spPr>
          <a:xfrm>
            <a:off x="3780226" y="2126018"/>
            <a:ext cx="1773621" cy="268107"/>
          </a:xfrm>
          <a:prstGeom prst="rect">
            <a:avLst/>
          </a:prstGeom>
          <a:noFill/>
        </p:spPr>
        <p:txBody>
          <a:bodyPr vert="horz" wrap="square" lIns="0" tIns="0" rIns="0" bIns="0" rtlCol="0">
            <a:noAutofit/>
          </a:bodyPr>
          <a:lstStyle/>
          <a:p>
            <a:pPr algn="l"/>
            <a:r>
              <a:rPr lang="en-US" sz="1200" b="1">
                <a:solidFill>
                  <a:schemeClr val="accent4"/>
                </a:solidFill>
              </a:rPr>
              <a:t>3 - 7 years </a:t>
            </a:r>
            <a:endParaRPr lang="en-CH" sz="1200" b="1">
              <a:solidFill>
                <a:schemeClr val="accent4"/>
              </a:solidFill>
            </a:endParaRPr>
          </a:p>
        </p:txBody>
      </p:sp>
      <p:sp>
        <p:nvSpPr>
          <p:cNvPr id="11" name="TextBox 10">
            <a:extLst>
              <a:ext uri="{FF2B5EF4-FFF2-40B4-BE49-F238E27FC236}">
                <a16:creationId xmlns:a16="http://schemas.microsoft.com/office/drawing/2014/main" id="{12DE2AAC-70A2-E7D6-C8E3-027DAB2F121C}"/>
              </a:ext>
            </a:extLst>
          </p:cNvPr>
          <p:cNvSpPr txBox="1"/>
          <p:nvPr/>
        </p:nvSpPr>
        <p:spPr>
          <a:xfrm>
            <a:off x="6267680" y="2126018"/>
            <a:ext cx="1773621" cy="268107"/>
          </a:xfrm>
          <a:prstGeom prst="rect">
            <a:avLst/>
          </a:prstGeom>
          <a:noFill/>
        </p:spPr>
        <p:txBody>
          <a:bodyPr vert="horz" wrap="square" lIns="0" tIns="0" rIns="0" bIns="0" rtlCol="0">
            <a:noAutofit/>
          </a:bodyPr>
          <a:lstStyle/>
          <a:p>
            <a:pPr algn="l"/>
            <a:r>
              <a:rPr lang="en-US" sz="1200" b="1">
                <a:solidFill>
                  <a:schemeClr val="accent4"/>
                </a:solidFill>
              </a:rPr>
              <a:t>5-10 years </a:t>
            </a:r>
            <a:endParaRPr lang="en-CH" sz="1200" b="1">
              <a:solidFill>
                <a:schemeClr val="accent4"/>
              </a:solidFill>
            </a:endParaRPr>
          </a:p>
        </p:txBody>
      </p:sp>
      <p:sp>
        <p:nvSpPr>
          <p:cNvPr id="13" name="TextBox 12">
            <a:extLst>
              <a:ext uri="{FF2B5EF4-FFF2-40B4-BE49-F238E27FC236}">
                <a16:creationId xmlns:a16="http://schemas.microsoft.com/office/drawing/2014/main" id="{5A7FFB48-ABA7-644C-BE70-CAE191A65DA5}"/>
              </a:ext>
            </a:extLst>
          </p:cNvPr>
          <p:cNvSpPr txBox="1"/>
          <p:nvPr/>
        </p:nvSpPr>
        <p:spPr>
          <a:xfrm>
            <a:off x="725214" y="6256798"/>
            <a:ext cx="2156865" cy="282285"/>
          </a:xfrm>
          <a:prstGeom prst="rect">
            <a:avLst/>
          </a:prstGeom>
          <a:noFill/>
        </p:spPr>
        <p:txBody>
          <a:bodyPr vert="horz" wrap="square" lIns="0" tIns="0" rIns="0" bIns="0" rtlCol="0">
            <a:noAutofit/>
          </a:bodyPr>
          <a:lstStyle/>
          <a:p>
            <a:pPr algn="ctr"/>
            <a:r>
              <a:rPr lang="en-US" sz="1400" b="1">
                <a:solidFill>
                  <a:srgbClr val="3BAF90"/>
                </a:solidFill>
              </a:rPr>
              <a:t>Cash +3% to +15%</a:t>
            </a:r>
            <a:endParaRPr lang="en-CH" sz="1400" b="1">
              <a:solidFill>
                <a:srgbClr val="3BAF90"/>
              </a:solidFill>
            </a:endParaRPr>
          </a:p>
        </p:txBody>
      </p:sp>
      <p:sp>
        <p:nvSpPr>
          <p:cNvPr id="15" name="TextBox 14">
            <a:extLst>
              <a:ext uri="{FF2B5EF4-FFF2-40B4-BE49-F238E27FC236}">
                <a16:creationId xmlns:a16="http://schemas.microsoft.com/office/drawing/2014/main" id="{D03FFDDB-4ADE-607A-4EBB-16ACA624BBF4}"/>
              </a:ext>
            </a:extLst>
          </p:cNvPr>
          <p:cNvSpPr txBox="1"/>
          <p:nvPr/>
        </p:nvSpPr>
        <p:spPr>
          <a:xfrm>
            <a:off x="3125131" y="6256798"/>
            <a:ext cx="2156865" cy="304282"/>
          </a:xfrm>
          <a:prstGeom prst="rect">
            <a:avLst/>
          </a:prstGeom>
          <a:noFill/>
        </p:spPr>
        <p:txBody>
          <a:bodyPr vert="horz" wrap="square" lIns="0" tIns="0" rIns="0" bIns="0" rtlCol="0">
            <a:noAutofit/>
          </a:bodyPr>
          <a:lstStyle/>
          <a:p>
            <a:pPr algn="ctr"/>
            <a:r>
              <a:rPr lang="fi-FI" sz="1400" b="1">
                <a:solidFill>
                  <a:schemeClr val="tx2"/>
                </a:solidFill>
              </a:rPr>
              <a:t>7-11 % </a:t>
            </a:r>
            <a:endParaRPr lang="en-CH" sz="1400" b="1">
              <a:solidFill>
                <a:schemeClr val="tx2"/>
              </a:solidFill>
            </a:endParaRPr>
          </a:p>
        </p:txBody>
      </p:sp>
      <p:sp>
        <p:nvSpPr>
          <p:cNvPr id="17" name="TextBox 16">
            <a:extLst>
              <a:ext uri="{FF2B5EF4-FFF2-40B4-BE49-F238E27FC236}">
                <a16:creationId xmlns:a16="http://schemas.microsoft.com/office/drawing/2014/main" id="{E1C752E6-54BB-115A-D078-C107BBB66FB0}"/>
              </a:ext>
            </a:extLst>
          </p:cNvPr>
          <p:cNvSpPr txBox="1"/>
          <p:nvPr/>
        </p:nvSpPr>
        <p:spPr>
          <a:xfrm>
            <a:off x="5465526" y="6256798"/>
            <a:ext cx="2156865" cy="246507"/>
          </a:xfrm>
          <a:prstGeom prst="rect">
            <a:avLst/>
          </a:prstGeom>
          <a:noFill/>
        </p:spPr>
        <p:txBody>
          <a:bodyPr vert="horz" wrap="square" lIns="0" tIns="0" rIns="0" bIns="0" rtlCol="0">
            <a:noAutofit/>
          </a:bodyPr>
          <a:lstStyle>
            <a:defPPr>
              <a:defRPr lang="en-US"/>
            </a:defPPr>
            <a:lvl1pPr>
              <a:defRPr sz="1400" b="1"/>
            </a:lvl1pPr>
          </a:lstStyle>
          <a:p>
            <a:pPr algn="ctr"/>
            <a:r>
              <a:rPr lang="fi-FI">
                <a:solidFill>
                  <a:srgbClr val="79D6FF"/>
                </a:solidFill>
              </a:rPr>
              <a:t>&gt; 3x MOIC</a:t>
            </a:r>
            <a:endParaRPr lang="en-CH">
              <a:solidFill>
                <a:srgbClr val="79D6FF"/>
              </a:solidFill>
            </a:endParaRPr>
          </a:p>
        </p:txBody>
      </p:sp>
      <p:cxnSp>
        <p:nvCxnSpPr>
          <p:cNvPr id="20" name="Straight Connector 19">
            <a:extLst>
              <a:ext uri="{FF2B5EF4-FFF2-40B4-BE49-F238E27FC236}">
                <a16:creationId xmlns:a16="http://schemas.microsoft.com/office/drawing/2014/main" id="{7A1093C9-31FF-7449-1F84-2E9A3864B669}"/>
              </a:ext>
            </a:extLst>
          </p:cNvPr>
          <p:cNvCxnSpPr>
            <a:cxnSpLocks/>
          </p:cNvCxnSpPr>
          <p:nvPr/>
        </p:nvCxnSpPr>
        <p:spPr>
          <a:xfrm flipV="1">
            <a:off x="665163" y="6690961"/>
            <a:ext cx="9361487" cy="17266"/>
          </a:xfrm>
          <a:prstGeom prst="line">
            <a:avLst/>
          </a:prstGeom>
        </p:spPr>
        <p:style>
          <a:lnRef idx="3">
            <a:schemeClr val="accent6"/>
          </a:lnRef>
          <a:fillRef idx="0">
            <a:schemeClr val="accent6"/>
          </a:fillRef>
          <a:effectRef idx="2">
            <a:schemeClr val="accent6"/>
          </a:effectRef>
          <a:fontRef idx="minor">
            <a:schemeClr val="tx1"/>
          </a:fontRef>
        </p:style>
      </p:cxnSp>
      <p:cxnSp>
        <p:nvCxnSpPr>
          <p:cNvPr id="25" name="Straight Connector 24">
            <a:extLst>
              <a:ext uri="{FF2B5EF4-FFF2-40B4-BE49-F238E27FC236}">
                <a16:creationId xmlns:a16="http://schemas.microsoft.com/office/drawing/2014/main" id="{2215DB96-D898-46B0-541B-6F14C4BBC3CF}"/>
              </a:ext>
            </a:extLst>
          </p:cNvPr>
          <p:cNvCxnSpPr/>
          <p:nvPr/>
        </p:nvCxnSpPr>
        <p:spPr>
          <a:xfrm flipV="1">
            <a:off x="665163" y="6437619"/>
            <a:ext cx="0" cy="270608"/>
          </a:xfrm>
          <a:prstGeom prst="line">
            <a:avLst/>
          </a:prstGeom>
        </p:spPr>
        <p:style>
          <a:lnRef idx="3">
            <a:schemeClr val="accent6"/>
          </a:lnRef>
          <a:fillRef idx="0">
            <a:schemeClr val="accent6"/>
          </a:fillRef>
          <a:effectRef idx="2">
            <a:schemeClr val="accent6"/>
          </a:effectRef>
          <a:fontRef idx="minor">
            <a:schemeClr val="tx1"/>
          </a:fontRef>
        </p:style>
      </p:cxnSp>
      <p:cxnSp>
        <p:nvCxnSpPr>
          <p:cNvPr id="27" name="Straight Connector 26">
            <a:extLst>
              <a:ext uri="{FF2B5EF4-FFF2-40B4-BE49-F238E27FC236}">
                <a16:creationId xmlns:a16="http://schemas.microsoft.com/office/drawing/2014/main" id="{B67B5E6C-A583-BC28-2230-6099CB4C9C96}"/>
              </a:ext>
            </a:extLst>
          </p:cNvPr>
          <p:cNvCxnSpPr/>
          <p:nvPr/>
        </p:nvCxnSpPr>
        <p:spPr>
          <a:xfrm>
            <a:off x="5139559" y="6699594"/>
            <a:ext cx="0" cy="220719"/>
          </a:xfrm>
          <a:prstGeom prst="line">
            <a:avLst/>
          </a:prstGeom>
        </p:spPr>
        <p:style>
          <a:lnRef idx="3">
            <a:schemeClr val="accent6"/>
          </a:lnRef>
          <a:fillRef idx="0">
            <a:schemeClr val="accent6"/>
          </a:fillRef>
          <a:effectRef idx="2">
            <a:schemeClr val="accent6"/>
          </a:effectRef>
          <a:fontRef idx="minor">
            <a:schemeClr val="tx1"/>
          </a:fontRef>
        </p:style>
      </p:cxnSp>
      <p:cxnSp>
        <p:nvCxnSpPr>
          <p:cNvPr id="30" name="Straight Connector 29">
            <a:extLst>
              <a:ext uri="{FF2B5EF4-FFF2-40B4-BE49-F238E27FC236}">
                <a16:creationId xmlns:a16="http://schemas.microsoft.com/office/drawing/2014/main" id="{6360A527-8483-4716-B67C-13E716D2E432}"/>
              </a:ext>
            </a:extLst>
          </p:cNvPr>
          <p:cNvCxnSpPr>
            <a:cxnSpLocks/>
          </p:cNvCxnSpPr>
          <p:nvPr/>
        </p:nvCxnSpPr>
        <p:spPr>
          <a:xfrm flipV="1">
            <a:off x="10026650" y="6416568"/>
            <a:ext cx="0" cy="270000"/>
          </a:xfrm>
          <a:prstGeom prst="line">
            <a:avLst/>
          </a:prstGeom>
        </p:spPr>
        <p:style>
          <a:lnRef idx="3">
            <a:schemeClr val="accent6"/>
          </a:lnRef>
          <a:fillRef idx="0">
            <a:schemeClr val="accent6"/>
          </a:fillRef>
          <a:effectRef idx="2">
            <a:schemeClr val="accent6"/>
          </a:effectRef>
          <a:fontRef idx="minor">
            <a:schemeClr val="tx1"/>
          </a:fontRef>
        </p:style>
      </p:cxnSp>
      <p:sp>
        <p:nvSpPr>
          <p:cNvPr id="37" name="Rectangle 36">
            <a:extLst>
              <a:ext uri="{FF2B5EF4-FFF2-40B4-BE49-F238E27FC236}">
                <a16:creationId xmlns:a16="http://schemas.microsoft.com/office/drawing/2014/main" id="{ECC7CC73-F81B-C80D-2770-1ADB1324A9E6}"/>
              </a:ext>
            </a:extLst>
          </p:cNvPr>
          <p:cNvSpPr/>
          <p:nvPr/>
        </p:nvSpPr>
        <p:spPr>
          <a:xfrm>
            <a:off x="1929768" y="6903793"/>
            <a:ext cx="6419581" cy="3390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Alternatives portfolios can be tailored to the preference of clients through the horizon mandate</a:t>
            </a:r>
            <a:endParaRPr lang="en-CH" sz="1100" b="1">
              <a:solidFill>
                <a:schemeClr val="tx1"/>
              </a:solidFill>
            </a:endParaRPr>
          </a:p>
        </p:txBody>
      </p:sp>
      <p:pic>
        <p:nvPicPr>
          <p:cNvPr id="39" name="Graphic 38" descr="Lights On outline">
            <a:extLst>
              <a:ext uri="{FF2B5EF4-FFF2-40B4-BE49-F238E27FC236}">
                <a16:creationId xmlns:a16="http://schemas.microsoft.com/office/drawing/2014/main" id="{4D9AD121-66AE-19DC-37EA-7DB986E8B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9794" y="6785661"/>
            <a:ext cx="457200" cy="457200"/>
          </a:xfrm>
          <a:prstGeom prst="rect">
            <a:avLst/>
          </a:prstGeom>
        </p:spPr>
      </p:pic>
      <p:cxnSp>
        <p:nvCxnSpPr>
          <p:cNvPr id="23" name="Straight Connector 22">
            <a:extLst>
              <a:ext uri="{FF2B5EF4-FFF2-40B4-BE49-F238E27FC236}">
                <a16:creationId xmlns:a16="http://schemas.microsoft.com/office/drawing/2014/main" id="{7C925832-8106-84DF-564F-92EB475D2C19}"/>
              </a:ext>
            </a:extLst>
          </p:cNvPr>
          <p:cNvCxnSpPr>
            <a:cxnSpLocks/>
          </p:cNvCxnSpPr>
          <p:nvPr/>
        </p:nvCxnSpPr>
        <p:spPr>
          <a:xfrm>
            <a:off x="5505176"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1" name="Rectangle 40">
            <a:extLst>
              <a:ext uri="{FF2B5EF4-FFF2-40B4-BE49-F238E27FC236}">
                <a16:creationId xmlns:a16="http://schemas.microsoft.com/office/drawing/2014/main" id="{9373C197-8664-C120-B4F0-0B07CFDC25DA}"/>
              </a:ext>
            </a:extLst>
          </p:cNvPr>
          <p:cNvSpPr/>
          <p:nvPr/>
        </p:nvSpPr>
        <p:spPr>
          <a:xfrm>
            <a:off x="8017018"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AC5D85"/>
                </a:solidFill>
              </a:rPr>
              <a:t>Litigation Finance </a:t>
            </a:r>
            <a:endParaRPr lang="en-CH" sz="1400" b="1">
              <a:solidFill>
                <a:srgbClr val="AC5D85"/>
              </a:solidFill>
            </a:endParaRPr>
          </a:p>
        </p:txBody>
      </p:sp>
      <p:sp>
        <p:nvSpPr>
          <p:cNvPr id="42" name="Text Placeholder 2">
            <a:extLst>
              <a:ext uri="{FF2B5EF4-FFF2-40B4-BE49-F238E27FC236}">
                <a16:creationId xmlns:a16="http://schemas.microsoft.com/office/drawing/2014/main" id="{4D241FE6-701F-7BC8-8CCB-928BBDCD806C}"/>
              </a:ext>
            </a:extLst>
          </p:cNvPr>
          <p:cNvSpPr txBox="1">
            <a:spLocks/>
          </p:cNvSpPr>
          <p:nvPr/>
        </p:nvSpPr>
        <p:spPr>
          <a:xfrm>
            <a:off x="7930238" y="3616167"/>
            <a:ext cx="2046506" cy="846386"/>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rgbClr val="202945"/>
                </a:solidFill>
                <a:latin typeface="Nunito Sans" panose="00000500000000000000" pitchFamily="2" charset="0"/>
                <a:ea typeface="MS Mincho"/>
                <a:cs typeface="Times New Roman"/>
              </a:rPr>
              <a:t>Lending</a:t>
            </a:r>
            <a:r>
              <a:rPr lang="en-US" sz="1100">
                <a:solidFill>
                  <a:srgbClr val="202945"/>
                </a:solidFill>
                <a:latin typeface="Nunito Sans" panose="00000500000000000000" pitchFamily="2" charset="0"/>
                <a:ea typeface="MS Mincho"/>
                <a:cs typeface="Times New Roman"/>
              </a:rPr>
              <a:t> to a party involved in a legal dispute in exchange for a portion of the potential financial recovery. </a:t>
            </a:r>
          </a:p>
        </p:txBody>
      </p:sp>
      <p:sp>
        <p:nvSpPr>
          <p:cNvPr id="43" name="Text Placeholder 2">
            <a:extLst>
              <a:ext uri="{FF2B5EF4-FFF2-40B4-BE49-F238E27FC236}">
                <a16:creationId xmlns:a16="http://schemas.microsoft.com/office/drawing/2014/main" id="{47241F86-24CD-62A5-9586-C1D5B259A985}"/>
              </a:ext>
            </a:extLst>
          </p:cNvPr>
          <p:cNvSpPr txBox="1">
            <a:spLocks/>
          </p:cNvSpPr>
          <p:nvPr/>
        </p:nvSpPr>
        <p:spPr>
          <a:xfrm>
            <a:off x="8025522"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Returns are independent of capital markets.</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Exits achievable even during downturns.</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44" name="TextBox 43">
            <a:extLst>
              <a:ext uri="{FF2B5EF4-FFF2-40B4-BE49-F238E27FC236}">
                <a16:creationId xmlns:a16="http://schemas.microsoft.com/office/drawing/2014/main" id="{61646D25-3D1D-FCC7-6738-E8C2590205E7}"/>
              </a:ext>
            </a:extLst>
          </p:cNvPr>
          <p:cNvSpPr txBox="1"/>
          <p:nvPr/>
        </p:nvSpPr>
        <p:spPr>
          <a:xfrm>
            <a:off x="8755135" y="2126018"/>
            <a:ext cx="1773621" cy="268107"/>
          </a:xfrm>
          <a:prstGeom prst="rect">
            <a:avLst/>
          </a:prstGeom>
          <a:noFill/>
        </p:spPr>
        <p:txBody>
          <a:bodyPr vert="horz" wrap="square" lIns="0" tIns="0" rIns="0" bIns="0" rtlCol="0">
            <a:noAutofit/>
          </a:bodyPr>
          <a:lstStyle/>
          <a:p>
            <a:pPr algn="l"/>
            <a:r>
              <a:rPr lang="en-US" sz="1200" b="1">
                <a:solidFill>
                  <a:schemeClr val="accent4"/>
                </a:solidFill>
              </a:rPr>
              <a:t>8 - 10 years </a:t>
            </a:r>
            <a:endParaRPr lang="en-CH" sz="1200" b="1">
              <a:solidFill>
                <a:schemeClr val="accent4"/>
              </a:solidFill>
            </a:endParaRPr>
          </a:p>
        </p:txBody>
      </p:sp>
      <p:sp>
        <p:nvSpPr>
          <p:cNvPr id="45" name="TextBox 44">
            <a:extLst>
              <a:ext uri="{FF2B5EF4-FFF2-40B4-BE49-F238E27FC236}">
                <a16:creationId xmlns:a16="http://schemas.microsoft.com/office/drawing/2014/main" id="{BB6365A6-26AD-0943-1376-C2FD32B8AE94}"/>
              </a:ext>
            </a:extLst>
          </p:cNvPr>
          <p:cNvSpPr txBox="1"/>
          <p:nvPr/>
        </p:nvSpPr>
        <p:spPr>
          <a:xfrm>
            <a:off x="8000249" y="6256798"/>
            <a:ext cx="2156865" cy="304282"/>
          </a:xfrm>
          <a:prstGeom prst="rect">
            <a:avLst/>
          </a:prstGeom>
          <a:noFill/>
        </p:spPr>
        <p:txBody>
          <a:bodyPr vert="horz" wrap="square" lIns="0" tIns="0" rIns="0" bIns="0" rtlCol="0">
            <a:noAutofit/>
          </a:bodyPr>
          <a:lstStyle/>
          <a:p>
            <a:pPr algn="ctr"/>
            <a:r>
              <a:rPr lang="fi-FI" sz="1400" b="1">
                <a:solidFill>
                  <a:srgbClr val="AC5D85"/>
                </a:solidFill>
              </a:rPr>
              <a:t>15-20 % </a:t>
            </a:r>
            <a:endParaRPr lang="en-CH" sz="1400" b="1">
              <a:solidFill>
                <a:srgbClr val="AC5D85"/>
              </a:solidFill>
            </a:endParaRPr>
          </a:p>
        </p:txBody>
      </p:sp>
    </p:spTree>
    <p:extLst>
      <p:ext uri="{BB962C8B-B14F-4D97-AF65-F5344CB8AC3E}">
        <p14:creationId xmlns:p14="http://schemas.microsoft.com/office/powerpoint/2010/main" val="1287269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4C8C67-106A-41B6-BBD3-EE59A7DF301B}"/>
              </a:ext>
            </a:extLst>
          </p:cNvPr>
          <p:cNvSpPr/>
          <p:nvPr/>
        </p:nvSpPr>
        <p:spPr>
          <a:xfrm>
            <a:off x="1853183" y="2141986"/>
            <a:ext cx="4563367" cy="21600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Expert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Expert: </a:t>
            </a:r>
            <a:r>
              <a:rPr lang="en-US" sz="1100" noProof="0" dirty="0">
                <a:solidFill>
                  <a:schemeClr val="tx1"/>
                </a:solidFill>
              </a:rPr>
              <a:t>your dedicated Investment Advisor brings you personalized advice, and second opinion when you need it</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Proactive: </a:t>
            </a:r>
            <a:r>
              <a:rPr lang="en-US" sz="1100" noProof="0" dirty="0">
                <a:solidFill>
                  <a:schemeClr val="tx1"/>
                </a:solidFill>
              </a:rPr>
              <a:t>we stay on top of your portfolios thanks to active monitoring of risk, performance, and untapped opportunities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Customized: </a:t>
            </a:r>
            <a:r>
              <a:rPr lang="en-US" sz="1100" noProof="0" dirty="0">
                <a:solidFill>
                  <a:schemeClr val="tx1"/>
                </a:solidFill>
              </a:rPr>
              <a:t>share your convictions, ideas, areas of interest or opportunities you want us to look for, and we will formulate tailor-made investment strategies</a:t>
            </a:r>
          </a:p>
        </p:txBody>
      </p:sp>
      <p:sp>
        <p:nvSpPr>
          <p:cNvPr id="9" name="Rectangle 8">
            <a:extLst>
              <a:ext uri="{FF2B5EF4-FFF2-40B4-BE49-F238E27FC236}">
                <a16:creationId xmlns:a16="http://schemas.microsoft.com/office/drawing/2014/main" id="{856B146C-B49F-4E7B-A0FA-371C09821FC2}"/>
              </a:ext>
            </a:extLst>
          </p:cNvPr>
          <p:cNvSpPr/>
          <p:nvPr/>
        </p:nvSpPr>
        <p:spPr>
          <a:xfrm>
            <a:off x="871842" y="4606901"/>
            <a:ext cx="4556745" cy="2160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Select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Trusted Advisor: </a:t>
            </a:r>
            <a:r>
              <a:rPr lang="en-US" sz="1100" noProof="0" dirty="0">
                <a:solidFill>
                  <a:schemeClr val="tx1"/>
                </a:solidFill>
              </a:rPr>
              <a:t>your relationship manager guides you through every step on your investment journey </a:t>
            </a:r>
            <a:endParaRPr lang="en-US" sz="11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On-demand: </a:t>
            </a:r>
            <a:r>
              <a:rPr lang="en-US" sz="1100" noProof="0" dirty="0">
                <a:solidFill>
                  <a:schemeClr val="tx1"/>
                </a:solidFill>
              </a:rPr>
              <a:t>advice from your relationship manager to meet your investment needs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Access: </a:t>
            </a:r>
            <a:r>
              <a:rPr lang="en-US" sz="1100" noProof="0" dirty="0">
                <a:solidFill>
                  <a:schemeClr val="tx1"/>
                </a:solidFill>
              </a:rPr>
              <a:t>to all exclusive </a:t>
            </a:r>
            <a:r>
              <a:rPr lang="en-US" sz="1100" noProof="0" dirty="0" err="1">
                <a:solidFill>
                  <a:schemeClr val="tx1"/>
                </a:solidFill>
              </a:rPr>
              <a:t>Syz</a:t>
            </a:r>
            <a:r>
              <a:rPr lang="en-US" sz="1100" noProof="0" dirty="0">
                <a:solidFill>
                  <a:schemeClr val="tx1"/>
                </a:solidFill>
              </a:rPr>
              <a:t> investment insights and ideas, along with selection of </a:t>
            </a:r>
            <a:r>
              <a:rPr lang="en-US" sz="1100" noProof="0" dirty="0" err="1">
                <a:solidFill>
                  <a:schemeClr val="tx1"/>
                </a:solidFill>
              </a:rPr>
              <a:t>Syz</a:t>
            </a:r>
            <a:r>
              <a:rPr lang="en-US" sz="1100" noProof="0" dirty="0">
                <a:solidFill>
                  <a:schemeClr val="tx1"/>
                </a:solidFill>
              </a:rPr>
              <a:t> investment strategies matching your risk appetite and investment goals</a:t>
            </a:r>
          </a:p>
        </p:txBody>
      </p:sp>
      <p:sp>
        <p:nvSpPr>
          <p:cNvPr id="2" name="Title 1">
            <a:extLst>
              <a:ext uri="{FF2B5EF4-FFF2-40B4-BE49-F238E27FC236}">
                <a16:creationId xmlns:a16="http://schemas.microsoft.com/office/drawing/2014/main" id="{EF3F413F-07CB-44BB-B286-48D92AEB8587}"/>
              </a:ext>
            </a:extLst>
          </p:cNvPr>
          <p:cNvSpPr>
            <a:spLocks noGrp="1"/>
          </p:cNvSpPr>
          <p:nvPr>
            <p:ph type="title"/>
          </p:nvPr>
        </p:nvSpPr>
        <p:spPr>
          <a:xfrm>
            <a:off x="665163" y="1032438"/>
            <a:ext cx="9398001" cy="864586"/>
          </a:xfrm>
        </p:spPr>
        <p:txBody>
          <a:bodyPr/>
          <a:lstStyle/>
          <a:p>
            <a:r>
              <a:rPr lang="en-US" noProof="0" dirty="0" err="1"/>
              <a:t>Syz</a:t>
            </a:r>
            <a:r>
              <a:rPr lang="en-US" noProof="0" dirty="0"/>
              <a:t> Advisory Services : Our offering for your needs  </a:t>
            </a:r>
          </a:p>
        </p:txBody>
      </p:sp>
      <p:sp>
        <p:nvSpPr>
          <p:cNvPr id="10" name="Person">
            <a:extLst>
              <a:ext uri="{FF2B5EF4-FFF2-40B4-BE49-F238E27FC236}">
                <a16:creationId xmlns:a16="http://schemas.microsoft.com/office/drawing/2014/main" id="{B01D87B5-8619-4CC3-8EA6-BF145167153C}"/>
              </a:ext>
            </a:extLst>
          </p:cNvPr>
          <p:cNvSpPr>
            <a:spLocks noChangeAspect="1" noEditPoints="1"/>
          </p:cNvSpPr>
          <p:nvPr>
            <p:custDataLst>
              <p:tags r:id="rId1"/>
            </p:custDataLst>
          </p:nvPr>
        </p:nvSpPr>
        <p:spPr bwMode="auto">
          <a:xfrm>
            <a:off x="871843" y="4174181"/>
            <a:ext cx="406400" cy="406400"/>
          </a:xfrm>
          <a:custGeom>
            <a:avLst/>
            <a:gdLst>
              <a:gd name="T0" fmla="*/ 1196 w 2304"/>
              <a:gd name="T1" fmla="*/ 1441 h 2304"/>
              <a:gd name="T2" fmla="*/ 1292 w 2304"/>
              <a:gd name="T3" fmla="*/ 1447 h 2304"/>
              <a:gd name="T4" fmla="*/ 1398 w 2304"/>
              <a:gd name="T5" fmla="*/ 1460 h 2304"/>
              <a:gd name="T6" fmla="*/ 1508 w 2304"/>
              <a:gd name="T7" fmla="*/ 1479 h 2304"/>
              <a:gd name="T8" fmla="*/ 1621 w 2304"/>
              <a:gd name="T9" fmla="*/ 1504 h 2304"/>
              <a:gd name="T10" fmla="*/ 1735 w 2304"/>
              <a:gd name="T11" fmla="*/ 1536 h 2304"/>
              <a:gd name="T12" fmla="*/ 1845 w 2304"/>
              <a:gd name="T13" fmla="*/ 1574 h 2304"/>
              <a:gd name="T14" fmla="*/ 1950 w 2304"/>
              <a:gd name="T15" fmla="*/ 1618 h 2304"/>
              <a:gd name="T16" fmla="*/ 2046 w 2304"/>
              <a:gd name="T17" fmla="*/ 1668 h 2304"/>
              <a:gd name="T18" fmla="*/ 2132 w 2304"/>
              <a:gd name="T19" fmla="*/ 1726 h 2304"/>
              <a:gd name="T20" fmla="*/ 2202 w 2304"/>
              <a:gd name="T21" fmla="*/ 1789 h 2304"/>
              <a:gd name="T22" fmla="*/ 2257 w 2304"/>
              <a:gd name="T23" fmla="*/ 1858 h 2304"/>
              <a:gd name="T24" fmla="*/ 2291 w 2304"/>
              <a:gd name="T25" fmla="*/ 1934 h 2304"/>
              <a:gd name="T26" fmla="*/ 2304 w 2304"/>
              <a:gd name="T27" fmla="*/ 2016 h 2304"/>
              <a:gd name="T28" fmla="*/ 0 w 2304"/>
              <a:gd name="T29" fmla="*/ 2304 h 2304"/>
              <a:gd name="T30" fmla="*/ 3 w 2304"/>
              <a:gd name="T31" fmla="*/ 1974 h 2304"/>
              <a:gd name="T32" fmla="*/ 27 w 2304"/>
              <a:gd name="T33" fmla="*/ 1896 h 2304"/>
              <a:gd name="T34" fmla="*/ 71 w 2304"/>
              <a:gd name="T35" fmla="*/ 1822 h 2304"/>
              <a:gd name="T36" fmla="*/ 135 w 2304"/>
              <a:gd name="T37" fmla="*/ 1756 h 2304"/>
              <a:gd name="T38" fmla="*/ 214 w 2304"/>
              <a:gd name="T39" fmla="*/ 1697 h 2304"/>
              <a:gd name="T40" fmla="*/ 305 w 2304"/>
              <a:gd name="T41" fmla="*/ 1643 h 2304"/>
              <a:gd name="T42" fmla="*/ 405 w 2304"/>
              <a:gd name="T43" fmla="*/ 1595 h 2304"/>
              <a:gd name="T44" fmla="*/ 513 w 2304"/>
              <a:gd name="T45" fmla="*/ 1554 h 2304"/>
              <a:gd name="T46" fmla="*/ 625 w 2304"/>
              <a:gd name="T47" fmla="*/ 1520 h 2304"/>
              <a:gd name="T48" fmla="*/ 739 w 2304"/>
              <a:gd name="T49" fmla="*/ 1490 h 2304"/>
              <a:gd name="T50" fmla="*/ 851 w 2304"/>
              <a:gd name="T51" fmla="*/ 1468 h 2304"/>
              <a:gd name="T52" fmla="*/ 959 w 2304"/>
              <a:gd name="T53" fmla="*/ 1453 h 2304"/>
              <a:gd name="T54" fmla="*/ 1061 w 2304"/>
              <a:gd name="T55" fmla="*/ 1443 h 2304"/>
              <a:gd name="T56" fmla="*/ 1152 w 2304"/>
              <a:gd name="T57" fmla="*/ 1440 h 2304"/>
              <a:gd name="T58" fmla="*/ 1211 w 2304"/>
              <a:gd name="T59" fmla="*/ 3 h 2304"/>
              <a:gd name="T60" fmla="*/ 1324 w 2304"/>
              <a:gd name="T61" fmla="*/ 26 h 2304"/>
              <a:gd name="T62" fmla="*/ 1426 w 2304"/>
              <a:gd name="T63" fmla="*/ 69 h 2304"/>
              <a:gd name="T64" fmla="*/ 1519 w 2304"/>
              <a:gd name="T65" fmla="*/ 132 h 2304"/>
              <a:gd name="T66" fmla="*/ 1596 w 2304"/>
              <a:gd name="T67" fmla="*/ 209 h 2304"/>
              <a:gd name="T68" fmla="*/ 1659 w 2304"/>
              <a:gd name="T69" fmla="*/ 302 h 2304"/>
              <a:gd name="T70" fmla="*/ 1702 w 2304"/>
              <a:gd name="T71" fmla="*/ 404 h 2304"/>
              <a:gd name="T72" fmla="*/ 1725 w 2304"/>
              <a:gd name="T73" fmla="*/ 517 h 2304"/>
              <a:gd name="T74" fmla="*/ 1725 w 2304"/>
              <a:gd name="T75" fmla="*/ 635 h 2304"/>
              <a:gd name="T76" fmla="*/ 1702 w 2304"/>
              <a:gd name="T77" fmla="*/ 748 h 2304"/>
              <a:gd name="T78" fmla="*/ 1659 w 2304"/>
              <a:gd name="T79" fmla="*/ 850 h 2304"/>
              <a:gd name="T80" fmla="*/ 1596 w 2304"/>
              <a:gd name="T81" fmla="*/ 943 h 2304"/>
              <a:gd name="T82" fmla="*/ 1519 w 2304"/>
              <a:gd name="T83" fmla="*/ 1020 h 2304"/>
              <a:gd name="T84" fmla="*/ 1426 w 2304"/>
              <a:gd name="T85" fmla="*/ 1083 h 2304"/>
              <a:gd name="T86" fmla="*/ 1324 w 2304"/>
              <a:gd name="T87" fmla="*/ 1126 h 2304"/>
              <a:gd name="T88" fmla="*/ 1211 w 2304"/>
              <a:gd name="T89" fmla="*/ 1149 h 2304"/>
              <a:gd name="T90" fmla="*/ 1093 w 2304"/>
              <a:gd name="T91" fmla="*/ 1149 h 2304"/>
              <a:gd name="T92" fmla="*/ 980 w 2304"/>
              <a:gd name="T93" fmla="*/ 1126 h 2304"/>
              <a:gd name="T94" fmla="*/ 878 w 2304"/>
              <a:gd name="T95" fmla="*/ 1083 h 2304"/>
              <a:gd name="T96" fmla="*/ 785 w 2304"/>
              <a:gd name="T97" fmla="*/ 1020 h 2304"/>
              <a:gd name="T98" fmla="*/ 708 w 2304"/>
              <a:gd name="T99" fmla="*/ 943 h 2304"/>
              <a:gd name="T100" fmla="*/ 645 w 2304"/>
              <a:gd name="T101" fmla="*/ 850 h 2304"/>
              <a:gd name="T102" fmla="*/ 602 w 2304"/>
              <a:gd name="T103" fmla="*/ 748 h 2304"/>
              <a:gd name="T104" fmla="*/ 579 w 2304"/>
              <a:gd name="T105" fmla="*/ 635 h 2304"/>
              <a:gd name="T106" fmla="*/ 579 w 2304"/>
              <a:gd name="T107" fmla="*/ 517 h 2304"/>
              <a:gd name="T108" fmla="*/ 602 w 2304"/>
              <a:gd name="T109" fmla="*/ 404 h 2304"/>
              <a:gd name="T110" fmla="*/ 645 w 2304"/>
              <a:gd name="T111" fmla="*/ 302 h 2304"/>
              <a:gd name="T112" fmla="*/ 708 w 2304"/>
              <a:gd name="T113" fmla="*/ 209 h 2304"/>
              <a:gd name="T114" fmla="*/ 785 w 2304"/>
              <a:gd name="T115" fmla="*/ 132 h 2304"/>
              <a:gd name="T116" fmla="*/ 878 w 2304"/>
              <a:gd name="T117" fmla="*/ 69 h 2304"/>
              <a:gd name="T118" fmla="*/ 980 w 2304"/>
              <a:gd name="T119" fmla="*/ 26 h 2304"/>
              <a:gd name="T120" fmla="*/ 1093 w 2304"/>
              <a:gd name="T121" fmla="*/ 3 h 2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04" h="2304">
                <a:moveTo>
                  <a:pt x="1152" y="1440"/>
                </a:moveTo>
                <a:lnTo>
                  <a:pt x="1196" y="1441"/>
                </a:lnTo>
                <a:lnTo>
                  <a:pt x="1243" y="1443"/>
                </a:lnTo>
                <a:lnTo>
                  <a:pt x="1292" y="1447"/>
                </a:lnTo>
                <a:lnTo>
                  <a:pt x="1345" y="1453"/>
                </a:lnTo>
                <a:lnTo>
                  <a:pt x="1398" y="1460"/>
                </a:lnTo>
                <a:lnTo>
                  <a:pt x="1453" y="1468"/>
                </a:lnTo>
                <a:lnTo>
                  <a:pt x="1508" y="1479"/>
                </a:lnTo>
                <a:lnTo>
                  <a:pt x="1565" y="1490"/>
                </a:lnTo>
                <a:lnTo>
                  <a:pt x="1621" y="1504"/>
                </a:lnTo>
                <a:lnTo>
                  <a:pt x="1679" y="1520"/>
                </a:lnTo>
                <a:lnTo>
                  <a:pt x="1735" y="1536"/>
                </a:lnTo>
                <a:lnTo>
                  <a:pt x="1791" y="1554"/>
                </a:lnTo>
                <a:lnTo>
                  <a:pt x="1845" y="1574"/>
                </a:lnTo>
                <a:lnTo>
                  <a:pt x="1899" y="1595"/>
                </a:lnTo>
                <a:lnTo>
                  <a:pt x="1950" y="1618"/>
                </a:lnTo>
                <a:lnTo>
                  <a:pt x="1999" y="1643"/>
                </a:lnTo>
                <a:lnTo>
                  <a:pt x="2046" y="1668"/>
                </a:lnTo>
                <a:lnTo>
                  <a:pt x="2090" y="1697"/>
                </a:lnTo>
                <a:lnTo>
                  <a:pt x="2132" y="1726"/>
                </a:lnTo>
                <a:lnTo>
                  <a:pt x="2169" y="1756"/>
                </a:lnTo>
                <a:lnTo>
                  <a:pt x="2202" y="1789"/>
                </a:lnTo>
                <a:lnTo>
                  <a:pt x="2233" y="1822"/>
                </a:lnTo>
                <a:lnTo>
                  <a:pt x="2257" y="1858"/>
                </a:lnTo>
                <a:lnTo>
                  <a:pt x="2277" y="1896"/>
                </a:lnTo>
                <a:lnTo>
                  <a:pt x="2291" y="1934"/>
                </a:lnTo>
                <a:lnTo>
                  <a:pt x="2301" y="1974"/>
                </a:lnTo>
                <a:lnTo>
                  <a:pt x="2304" y="2016"/>
                </a:lnTo>
                <a:lnTo>
                  <a:pt x="2304" y="2304"/>
                </a:lnTo>
                <a:lnTo>
                  <a:pt x="0" y="2304"/>
                </a:lnTo>
                <a:lnTo>
                  <a:pt x="0" y="2016"/>
                </a:lnTo>
                <a:lnTo>
                  <a:pt x="3" y="1974"/>
                </a:lnTo>
                <a:lnTo>
                  <a:pt x="13" y="1934"/>
                </a:lnTo>
                <a:lnTo>
                  <a:pt x="27" y="1896"/>
                </a:lnTo>
                <a:lnTo>
                  <a:pt x="47" y="1858"/>
                </a:lnTo>
                <a:lnTo>
                  <a:pt x="71" y="1822"/>
                </a:lnTo>
                <a:lnTo>
                  <a:pt x="102" y="1789"/>
                </a:lnTo>
                <a:lnTo>
                  <a:pt x="135" y="1756"/>
                </a:lnTo>
                <a:lnTo>
                  <a:pt x="172" y="1726"/>
                </a:lnTo>
                <a:lnTo>
                  <a:pt x="214" y="1697"/>
                </a:lnTo>
                <a:lnTo>
                  <a:pt x="258" y="1668"/>
                </a:lnTo>
                <a:lnTo>
                  <a:pt x="305" y="1643"/>
                </a:lnTo>
                <a:lnTo>
                  <a:pt x="354" y="1618"/>
                </a:lnTo>
                <a:lnTo>
                  <a:pt x="405" y="1595"/>
                </a:lnTo>
                <a:lnTo>
                  <a:pt x="459" y="1574"/>
                </a:lnTo>
                <a:lnTo>
                  <a:pt x="513" y="1554"/>
                </a:lnTo>
                <a:lnTo>
                  <a:pt x="569" y="1536"/>
                </a:lnTo>
                <a:lnTo>
                  <a:pt x="625" y="1520"/>
                </a:lnTo>
                <a:lnTo>
                  <a:pt x="683" y="1504"/>
                </a:lnTo>
                <a:lnTo>
                  <a:pt x="739" y="1490"/>
                </a:lnTo>
                <a:lnTo>
                  <a:pt x="796" y="1479"/>
                </a:lnTo>
                <a:lnTo>
                  <a:pt x="851" y="1468"/>
                </a:lnTo>
                <a:lnTo>
                  <a:pt x="906" y="1460"/>
                </a:lnTo>
                <a:lnTo>
                  <a:pt x="959" y="1453"/>
                </a:lnTo>
                <a:lnTo>
                  <a:pt x="1012" y="1447"/>
                </a:lnTo>
                <a:lnTo>
                  <a:pt x="1061" y="1443"/>
                </a:lnTo>
                <a:lnTo>
                  <a:pt x="1108" y="1441"/>
                </a:lnTo>
                <a:lnTo>
                  <a:pt x="1152" y="1440"/>
                </a:lnTo>
                <a:close/>
                <a:moveTo>
                  <a:pt x="1152" y="0"/>
                </a:moveTo>
                <a:lnTo>
                  <a:pt x="1211" y="3"/>
                </a:lnTo>
                <a:lnTo>
                  <a:pt x="1268" y="12"/>
                </a:lnTo>
                <a:lnTo>
                  <a:pt x="1324" y="26"/>
                </a:lnTo>
                <a:lnTo>
                  <a:pt x="1376" y="45"/>
                </a:lnTo>
                <a:lnTo>
                  <a:pt x="1426" y="69"/>
                </a:lnTo>
                <a:lnTo>
                  <a:pt x="1475" y="98"/>
                </a:lnTo>
                <a:lnTo>
                  <a:pt x="1519" y="132"/>
                </a:lnTo>
                <a:lnTo>
                  <a:pt x="1559" y="169"/>
                </a:lnTo>
                <a:lnTo>
                  <a:pt x="1596" y="209"/>
                </a:lnTo>
                <a:lnTo>
                  <a:pt x="1630" y="253"/>
                </a:lnTo>
                <a:lnTo>
                  <a:pt x="1659" y="302"/>
                </a:lnTo>
                <a:lnTo>
                  <a:pt x="1683" y="352"/>
                </a:lnTo>
                <a:lnTo>
                  <a:pt x="1702" y="404"/>
                </a:lnTo>
                <a:lnTo>
                  <a:pt x="1716" y="460"/>
                </a:lnTo>
                <a:lnTo>
                  <a:pt x="1725" y="517"/>
                </a:lnTo>
                <a:lnTo>
                  <a:pt x="1728" y="576"/>
                </a:lnTo>
                <a:lnTo>
                  <a:pt x="1725" y="635"/>
                </a:lnTo>
                <a:lnTo>
                  <a:pt x="1716" y="692"/>
                </a:lnTo>
                <a:lnTo>
                  <a:pt x="1702" y="748"/>
                </a:lnTo>
                <a:lnTo>
                  <a:pt x="1683" y="800"/>
                </a:lnTo>
                <a:lnTo>
                  <a:pt x="1659" y="850"/>
                </a:lnTo>
                <a:lnTo>
                  <a:pt x="1630" y="899"/>
                </a:lnTo>
                <a:lnTo>
                  <a:pt x="1596" y="943"/>
                </a:lnTo>
                <a:lnTo>
                  <a:pt x="1559" y="983"/>
                </a:lnTo>
                <a:lnTo>
                  <a:pt x="1519" y="1020"/>
                </a:lnTo>
                <a:lnTo>
                  <a:pt x="1475" y="1054"/>
                </a:lnTo>
                <a:lnTo>
                  <a:pt x="1426" y="1083"/>
                </a:lnTo>
                <a:lnTo>
                  <a:pt x="1376" y="1107"/>
                </a:lnTo>
                <a:lnTo>
                  <a:pt x="1324" y="1126"/>
                </a:lnTo>
                <a:lnTo>
                  <a:pt x="1268" y="1140"/>
                </a:lnTo>
                <a:lnTo>
                  <a:pt x="1211" y="1149"/>
                </a:lnTo>
                <a:lnTo>
                  <a:pt x="1152" y="1152"/>
                </a:lnTo>
                <a:lnTo>
                  <a:pt x="1093" y="1149"/>
                </a:lnTo>
                <a:lnTo>
                  <a:pt x="1036" y="1140"/>
                </a:lnTo>
                <a:lnTo>
                  <a:pt x="980" y="1126"/>
                </a:lnTo>
                <a:lnTo>
                  <a:pt x="928" y="1107"/>
                </a:lnTo>
                <a:lnTo>
                  <a:pt x="878" y="1083"/>
                </a:lnTo>
                <a:lnTo>
                  <a:pt x="829" y="1054"/>
                </a:lnTo>
                <a:lnTo>
                  <a:pt x="785" y="1020"/>
                </a:lnTo>
                <a:lnTo>
                  <a:pt x="745" y="983"/>
                </a:lnTo>
                <a:lnTo>
                  <a:pt x="708" y="943"/>
                </a:lnTo>
                <a:lnTo>
                  <a:pt x="674" y="899"/>
                </a:lnTo>
                <a:lnTo>
                  <a:pt x="645" y="850"/>
                </a:lnTo>
                <a:lnTo>
                  <a:pt x="621" y="800"/>
                </a:lnTo>
                <a:lnTo>
                  <a:pt x="602" y="748"/>
                </a:lnTo>
                <a:lnTo>
                  <a:pt x="588" y="692"/>
                </a:lnTo>
                <a:lnTo>
                  <a:pt x="579" y="635"/>
                </a:lnTo>
                <a:lnTo>
                  <a:pt x="576" y="576"/>
                </a:lnTo>
                <a:lnTo>
                  <a:pt x="579" y="517"/>
                </a:lnTo>
                <a:lnTo>
                  <a:pt x="588" y="460"/>
                </a:lnTo>
                <a:lnTo>
                  <a:pt x="602" y="404"/>
                </a:lnTo>
                <a:lnTo>
                  <a:pt x="621" y="352"/>
                </a:lnTo>
                <a:lnTo>
                  <a:pt x="645" y="302"/>
                </a:lnTo>
                <a:lnTo>
                  <a:pt x="674" y="253"/>
                </a:lnTo>
                <a:lnTo>
                  <a:pt x="708" y="209"/>
                </a:lnTo>
                <a:lnTo>
                  <a:pt x="745" y="169"/>
                </a:lnTo>
                <a:lnTo>
                  <a:pt x="785" y="132"/>
                </a:lnTo>
                <a:lnTo>
                  <a:pt x="829" y="98"/>
                </a:lnTo>
                <a:lnTo>
                  <a:pt x="878" y="69"/>
                </a:lnTo>
                <a:lnTo>
                  <a:pt x="928" y="45"/>
                </a:lnTo>
                <a:lnTo>
                  <a:pt x="980" y="26"/>
                </a:lnTo>
                <a:lnTo>
                  <a:pt x="1036" y="12"/>
                </a:lnTo>
                <a:lnTo>
                  <a:pt x="1093" y="3"/>
                </a:lnTo>
                <a:lnTo>
                  <a:pt x="1152"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sp>
        <p:nvSpPr>
          <p:cNvPr id="12" name="Group add">
            <a:extLst>
              <a:ext uri="{FF2B5EF4-FFF2-40B4-BE49-F238E27FC236}">
                <a16:creationId xmlns:a16="http://schemas.microsoft.com/office/drawing/2014/main" id="{306B04B3-C706-4192-B86F-5908DE03045E}"/>
              </a:ext>
            </a:extLst>
          </p:cNvPr>
          <p:cNvSpPr>
            <a:spLocks noChangeAspect="1" noEditPoints="1"/>
          </p:cNvSpPr>
          <p:nvPr>
            <p:custDataLst>
              <p:tags r:id="rId2"/>
            </p:custDataLst>
          </p:nvPr>
        </p:nvSpPr>
        <p:spPr bwMode="auto">
          <a:xfrm>
            <a:off x="1846564" y="1707745"/>
            <a:ext cx="750277" cy="406400"/>
          </a:xfrm>
          <a:custGeom>
            <a:avLst/>
            <a:gdLst>
              <a:gd name="T0" fmla="*/ 2972 w 3456"/>
              <a:gd name="T1" fmla="*/ 1206 h 1871"/>
              <a:gd name="T2" fmla="*/ 3164 w 3456"/>
              <a:gd name="T3" fmla="*/ 1272 h 1871"/>
              <a:gd name="T4" fmla="*/ 3324 w 3456"/>
              <a:gd name="T5" fmla="*/ 1363 h 1871"/>
              <a:gd name="T6" fmla="*/ 3430 w 3456"/>
              <a:gd name="T7" fmla="*/ 1479 h 1871"/>
              <a:gd name="T8" fmla="*/ 3456 w 3456"/>
              <a:gd name="T9" fmla="*/ 1871 h 1871"/>
              <a:gd name="T10" fmla="*/ 3015 w 3456"/>
              <a:gd name="T11" fmla="*/ 1486 h 1871"/>
              <a:gd name="T12" fmla="*/ 2947 w 3456"/>
              <a:gd name="T13" fmla="*/ 1315 h 1871"/>
              <a:gd name="T14" fmla="*/ 2826 w 3456"/>
              <a:gd name="T15" fmla="*/ 1175 h 1871"/>
              <a:gd name="T16" fmla="*/ 1997 w 3456"/>
              <a:gd name="T17" fmla="*/ 1159 h 1871"/>
              <a:gd name="T18" fmla="*/ 2191 w 3456"/>
              <a:gd name="T19" fmla="*/ 1191 h 1871"/>
              <a:gd name="T20" fmla="*/ 2389 w 3456"/>
              <a:gd name="T21" fmla="*/ 1250 h 1871"/>
              <a:gd name="T22" fmla="*/ 2564 w 3456"/>
              <a:gd name="T23" fmla="*/ 1335 h 1871"/>
              <a:gd name="T24" fmla="*/ 2688 w 3456"/>
              <a:gd name="T25" fmla="*/ 1446 h 1871"/>
              <a:gd name="T26" fmla="*/ 2737 w 3456"/>
              <a:gd name="T27" fmla="*/ 1583 h 1871"/>
              <a:gd name="T28" fmla="*/ 1012 w 3456"/>
              <a:gd name="T29" fmla="*/ 1546 h 1871"/>
              <a:gd name="T30" fmla="*/ 1081 w 3456"/>
              <a:gd name="T31" fmla="*/ 1415 h 1871"/>
              <a:gd name="T32" fmla="*/ 1221 w 3456"/>
              <a:gd name="T33" fmla="*/ 1311 h 1871"/>
              <a:gd name="T34" fmla="*/ 1404 w 3456"/>
              <a:gd name="T35" fmla="*/ 1232 h 1871"/>
              <a:gd name="T36" fmla="*/ 1603 w 3456"/>
              <a:gd name="T37" fmla="*/ 1181 h 1871"/>
              <a:gd name="T38" fmla="*/ 1791 w 3456"/>
              <a:gd name="T39" fmla="*/ 1155 h 1871"/>
              <a:gd name="T40" fmla="*/ 721 w 3456"/>
              <a:gd name="T41" fmla="*/ 288 h 1871"/>
              <a:gd name="T42" fmla="*/ 721 w 3456"/>
              <a:gd name="T43" fmla="*/ 1007 h 1871"/>
              <a:gd name="T44" fmla="*/ 0 w 3456"/>
              <a:gd name="T45" fmla="*/ 1007 h 1871"/>
              <a:gd name="T46" fmla="*/ 2592 w 3456"/>
              <a:gd name="T47" fmla="*/ 0 h 1871"/>
              <a:gd name="T48" fmla="*/ 2782 w 3456"/>
              <a:gd name="T49" fmla="*/ 42 h 1871"/>
              <a:gd name="T50" fmla="*/ 2928 w 3456"/>
              <a:gd name="T51" fmla="*/ 161 h 1871"/>
              <a:gd name="T52" fmla="*/ 3011 w 3456"/>
              <a:gd name="T53" fmla="*/ 332 h 1871"/>
              <a:gd name="T54" fmla="*/ 3011 w 3456"/>
              <a:gd name="T55" fmla="*/ 530 h 1871"/>
              <a:gd name="T56" fmla="*/ 2928 w 3456"/>
              <a:gd name="T57" fmla="*/ 701 h 1871"/>
              <a:gd name="T58" fmla="*/ 2782 w 3456"/>
              <a:gd name="T59" fmla="*/ 820 h 1871"/>
              <a:gd name="T60" fmla="*/ 2592 w 3456"/>
              <a:gd name="T61" fmla="*/ 864 h 1871"/>
              <a:gd name="T62" fmla="*/ 2494 w 3456"/>
              <a:gd name="T63" fmla="*/ 791 h 1871"/>
              <a:gd name="T64" fmla="*/ 2579 w 3456"/>
              <a:gd name="T65" fmla="*/ 560 h 1871"/>
              <a:gd name="T66" fmla="*/ 2579 w 3456"/>
              <a:gd name="T67" fmla="*/ 302 h 1871"/>
              <a:gd name="T68" fmla="*/ 2494 w 3456"/>
              <a:gd name="T69" fmla="*/ 71 h 1871"/>
              <a:gd name="T70" fmla="*/ 2592 w 3456"/>
              <a:gd name="T71" fmla="*/ 0 h 1871"/>
              <a:gd name="T72" fmla="*/ 2018 w 3456"/>
              <a:gd name="T73" fmla="*/ 25 h 1871"/>
              <a:gd name="T74" fmla="*/ 2177 w 3456"/>
              <a:gd name="T75" fmla="*/ 125 h 1871"/>
              <a:gd name="T76" fmla="*/ 2278 w 3456"/>
              <a:gd name="T77" fmla="*/ 285 h 1871"/>
              <a:gd name="T78" fmla="*/ 2300 w 3456"/>
              <a:gd name="T79" fmla="*/ 481 h 1871"/>
              <a:gd name="T80" fmla="*/ 2236 w 3456"/>
              <a:gd name="T81" fmla="*/ 662 h 1871"/>
              <a:gd name="T82" fmla="*/ 2103 w 3456"/>
              <a:gd name="T83" fmla="*/ 795 h 1871"/>
              <a:gd name="T84" fmla="*/ 1923 w 3456"/>
              <a:gd name="T85" fmla="*/ 860 h 1871"/>
              <a:gd name="T86" fmla="*/ 1726 w 3456"/>
              <a:gd name="T87" fmla="*/ 837 h 1871"/>
              <a:gd name="T88" fmla="*/ 1567 w 3456"/>
              <a:gd name="T89" fmla="*/ 737 h 1871"/>
              <a:gd name="T90" fmla="*/ 1465 w 3456"/>
              <a:gd name="T91" fmla="*/ 577 h 1871"/>
              <a:gd name="T92" fmla="*/ 1443 w 3456"/>
              <a:gd name="T93" fmla="*/ 381 h 1871"/>
              <a:gd name="T94" fmla="*/ 1507 w 3456"/>
              <a:gd name="T95" fmla="*/ 200 h 1871"/>
              <a:gd name="T96" fmla="*/ 1640 w 3456"/>
              <a:gd name="T97" fmla="*/ 67 h 1871"/>
              <a:gd name="T98" fmla="*/ 1821 w 3456"/>
              <a:gd name="T99" fmla="*/ 2 h 1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56" h="1870">
                <a:moveTo>
                  <a:pt x="2826" y="1175"/>
                </a:moveTo>
                <a:lnTo>
                  <a:pt x="2874" y="1183"/>
                </a:lnTo>
                <a:lnTo>
                  <a:pt x="2923" y="1194"/>
                </a:lnTo>
                <a:lnTo>
                  <a:pt x="2972" y="1206"/>
                </a:lnTo>
                <a:lnTo>
                  <a:pt x="3021" y="1221"/>
                </a:lnTo>
                <a:lnTo>
                  <a:pt x="3070" y="1236"/>
                </a:lnTo>
                <a:lnTo>
                  <a:pt x="3118" y="1253"/>
                </a:lnTo>
                <a:lnTo>
                  <a:pt x="3164" y="1272"/>
                </a:lnTo>
                <a:lnTo>
                  <a:pt x="3208" y="1292"/>
                </a:lnTo>
                <a:lnTo>
                  <a:pt x="3250" y="1314"/>
                </a:lnTo>
                <a:lnTo>
                  <a:pt x="3288" y="1338"/>
                </a:lnTo>
                <a:lnTo>
                  <a:pt x="3324" y="1363"/>
                </a:lnTo>
                <a:lnTo>
                  <a:pt x="3357" y="1389"/>
                </a:lnTo>
                <a:lnTo>
                  <a:pt x="3386" y="1418"/>
                </a:lnTo>
                <a:lnTo>
                  <a:pt x="3410" y="1448"/>
                </a:lnTo>
                <a:lnTo>
                  <a:pt x="3430" y="1479"/>
                </a:lnTo>
                <a:lnTo>
                  <a:pt x="3443" y="1512"/>
                </a:lnTo>
                <a:lnTo>
                  <a:pt x="3453" y="1546"/>
                </a:lnTo>
                <a:lnTo>
                  <a:pt x="3456" y="1583"/>
                </a:lnTo>
                <a:lnTo>
                  <a:pt x="3456" y="1871"/>
                </a:lnTo>
                <a:lnTo>
                  <a:pt x="3025" y="1871"/>
                </a:lnTo>
                <a:lnTo>
                  <a:pt x="3025" y="1583"/>
                </a:lnTo>
                <a:lnTo>
                  <a:pt x="3021" y="1533"/>
                </a:lnTo>
                <a:lnTo>
                  <a:pt x="3015" y="1486"/>
                </a:lnTo>
                <a:lnTo>
                  <a:pt x="3004" y="1440"/>
                </a:lnTo>
                <a:lnTo>
                  <a:pt x="2989" y="1396"/>
                </a:lnTo>
                <a:lnTo>
                  <a:pt x="2969" y="1355"/>
                </a:lnTo>
                <a:lnTo>
                  <a:pt x="2947" y="1315"/>
                </a:lnTo>
                <a:lnTo>
                  <a:pt x="2921" y="1276"/>
                </a:lnTo>
                <a:lnTo>
                  <a:pt x="2892" y="1241"/>
                </a:lnTo>
                <a:lnTo>
                  <a:pt x="2860" y="1206"/>
                </a:lnTo>
                <a:lnTo>
                  <a:pt x="2826" y="1175"/>
                </a:lnTo>
                <a:close/>
                <a:moveTo>
                  <a:pt x="1873" y="1152"/>
                </a:moveTo>
                <a:lnTo>
                  <a:pt x="1911" y="1152"/>
                </a:lnTo>
                <a:lnTo>
                  <a:pt x="1953" y="1155"/>
                </a:lnTo>
                <a:lnTo>
                  <a:pt x="1997" y="1159"/>
                </a:lnTo>
                <a:lnTo>
                  <a:pt x="2044" y="1164"/>
                </a:lnTo>
                <a:lnTo>
                  <a:pt x="2091" y="1171"/>
                </a:lnTo>
                <a:lnTo>
                  <a:pt x="2141" y="1181"/>
                </a:lnTo>
                <a:lnTo>
                  <a:pt x="2191" y="1191"/>
                </a:lnTo>
                <a:lnTo>
                  <a:pt x="2241" y="1203"/>
                </a:lnTo>
                <a:lnTo>
                  <a:pt x="2290" y="1218"/>
                </a:lnTo>
                <a:lnTo>
                  <a:pt x="2340" y="1232"/>
                </a:lnTo>
                <a:lnTo>
                  <a:pt x="2389" y="1250"/>
                </a:lnTo>
                <a:lnTo>
                  <a:pt x="2435" y="1269"/>
                </a:lnTo>
                <a:lnTo>
                  <a:pt x="2480" y="1289"/>
                </a:lnTo>
                <a:lnTo>
                  <a:pt x="2523" y="1311"/>
                </a:lnTo>
                <a:lnTo>
                  <a:pt x="2564" y="1335"/>
                </a:lnTo>
                <a:lnTo>
                  <a:pt x="2600" y="1360"/>
                </a:lnTo>
                <a:lnTo>
                  <a:pt x="2634" y="1387"/>
                </a:lnTo>
                <a:lnTo>
                  <a:pt x="2663" y="1415"/>
                </a:lnTo>
                <a:lnTo>
                  <a:pt x="2688" y="1446"/>
                </a:lnTo>
                <a:lnTo>
                  <a:pt x="2708" y="1477"/>
                </a:lnTo>
                <a:lnTo>
                  <a:pt x="2724" y="1511"/>
                </a:lnTo>
                <a:lnTo>
                  <a:pt x="2732" y="1546"/>
                </a:lnTo>
                <a:lnTo>
                  <a:pt x="2737" y="1583"/>
                </a:lnTo>
                <a:lnTo>
                  <a:pt x="2737" y="1871"/>
                </a:lnTo>
                <a:lnTo>
                  <a:pt x="1009" y="1871"/>
                </a:lnTo>
                <a:lnTo>
                  <a:pt x="1009" y="1583"/>
                </a:lnTo>
                <a:lnTo>
                  <a:pt x="1012" y="1546"/>
                </a:lnTo>
                <a:lnTo>
                  <a:pt x="1020" y="1511"/>
                </a:lnTo>
                <a:lnTo>
                  <a:pt x="1036" y="1477"/>
                </a:lnTo>
                <a:lnTo>
                  <a:pt x="1056" y="1446"/>
                </a:lnTo>
                <a:lnTo>
                  <a:pt x="1081" y="1415"/>
                </a:lnTo>
                <a:lnTo>
                  <a:pt x="1110" y="1387"/>
                </a:lnTo>
                <a:lnTo>
                  <a:pt x="1144" y="1360"/>
                </a:lnTo>
                <a:lnTo>
                  <a:pt x="1180" y="1335"/>
                </a:lnTo>
                <a:lnTo>
                  <a:pt x="1221" y="1311"/>
                </a:lnTo>
                <a:lnTo>
                  <a:pt x="1264" y="1289"/>
                </a:lnTo>
                <a:lnTo>
                  <a:pt x="1309" y="1269"/>
                </a:lnTo>
                <a:lnTo>
                  <a:pt x="1355" y="1250"/>
                </a:lnTo>
                <a:lnTo>
                  <a:pt x="1404" y="1232"/>
                </a:lnTo>
                <a:lnTo>
                  <a:pt x="1454" y="1218"/>
                </a:lnTo>
                <a:lnTo>
                  <a:pt x="1503" y="1203"/>
                </a:lnTo>
                <a:lnTo>
                  <a:pt x="1553" y="1191"/>
                </a:lnTo>
                <a:lnTo>
                  <a:pt x="1603" y="1181"/>
                </a:lnTo>
                <a:lnTo>
                  <a:pt x="1653" y="1171"/>
                </a:lnTo>
                <a:lnTo>
                  <a:pt x="1700" y="1164"/>
                </a:lnTo>
                <a:lnTo>
                  <a:pt x="1747" y="1159"/>
                </a:lnTo>
                <a:lnTo>
                  <a:pt x="1791" y="1155"/>
                </a:lnTo>
                <a:lnTo>
                  <a:pt x="1833" y="1152"/>
                </a:lnTo>
                <a:lnTo>
                  <a:pt x="1873" y="1152"/>
                </a:lnTo>
                <a:close/>
                <a:moveTo>
                  <a:pt x="431" y="288"/>
                </a:moveTo>
                <a:lnTo>
                  <a:pt x="721" y="288"/>
                </a:lnTo>
                <a:lnTo>
                  <a:pt x="721" y="719"/>
                </a:lnTo>
                <a:lnTo>
                  <a:pt x="1152" y="719"/>
                </a:lnTo>
                <a:lnTo>
                  <a:pt x="1152" y="1007"/>
                </a:lnTo>
                <a:lnTo>
                  <a:pt x="721" y="1007"/>
                </a:lnTo>
                <a:lnTo>
                  <a:pt x="721" y="1440"/>
                </a:lnTo>
                <a:lnTo>
                  <a:pt x="431" y="1440"/>
                </a:lnTo>
                <a:lnTo>
                  <a:pt x="431" y="1007"/>
                </a:lnTo>
                <a:lnTo>
                  <a:pt x="0" y="1007"/>
                </a:lnTo>
                <a:lnTo>
                  <a:pt x="0" y="719"/>
                </a:lnTo>
                <a:lnTo>
                  <a:pt x="431" y="719"/>
                </a:lnTo>
                <a:lnTo>
                  <a:pt x="431" y="288"/>
                </a:lnTo>
                <a:close/>
                <a:moveTo>
                  <a:pt x="2592" y="0"/>
                </a:moveTo>
                <a:lnTo>
                  <a:pt x="2642" y="2"/>
                </a:lnTo>
                <a:lnTo>
                  <a:pt x="2691" y="10"/>
                </a:lnTo>
                <a:lnTo>
                  <a:pt x="2738" y="25"/>
                </a:lnTo>
                <a:lnTo>
                  <a:pt x="2782" y="42"/>
                </a:lnTo>
                <a:lnTo>
                  <a:pt x="2823" y="67"/>
                </a:lnTo>
                <a:lnTo>
                  <a:pt x="2862" y="94"/>
                </a:lnTo>
                <a:lnTo>
                  <a:pt x="2897" y="125"/>
                </a:lnTo>
                <a:lnTo>
                  <a:pt x="2928" y="161"/>
                </a:lnTo>
                <a:lnTo>
                  <a:pt x="2955" y="200"/>
                </a:lnTo>
                <a:lnTo>
                  <a:pt x="2979" y="240"/>
                </a:lnTo>
                <a:lnTo>
                  <a:pt x="2997" y="285"/>
                </a:lnTo>
                <a:lnTo>
                  <a:pt x="3011" y="332"/>
                </a:lnTo>
                <a:lnTo>
                  <a:pt x="3019" y="381"/>
                </a:lnTo>
                <a:lnTo>
                  <a:pt x="3022" y="431"/>
                </a:lnTo>
                <a:lnTo>
                  <a:pt x="3019" y="481"/>
                </a:lnTo>
                <a:lnTo>
                  <a:pt x="3011" y="530"/>
                </a:lnTo>
                <a:lnTo>
                  <a:pt x="2997" y="577"/>
                </a:lnTo>
                <a:lnTo>
                  <a:pt x="2979" y="622"/>
                </a:lnTo>
                <a:lnTo>
                  <a:pt x="2955" y="662"/>
                </a:lnTo>
                <a:lnTo>
                  <a:pt x="2928" y="701"/>
                </a:lnTo>
                <a:lnTo>
                  <a:pt x="2897" y="737"/>
                </a:lnTo>
                <a:lnTo>
                  <a:pt x="2862" y="768"/>
                </a:lnTo>
                <a:lnTo>
                  <a:pt x="2823" y="795"/>
                </a:lnTo>
                <a:lnTo>
                  <a:pt x="2782" y="820"/>
                </a:lnTo>
                <a:lnTo>
                  <a:pt x="2738" y="837"/>
                </a:lnTo>
                <a:lnTo>
                  <a:pt x="2691" y="852"/>
                </a:lnTo>
                <a:lnTo>
                  <a:pt x="2642" y="860"/>
                </a:lnTo>
                <a:lnTo>
                  <a:pt x="2592" y="864"/>
                </a:lnTo>
                <a:lnTo>
                  <a:pt x="2547" y="860"/>
                </a:lnTo>
                <a:lnTo>
                  <a:pt x="2503" y="854"/>
                </a:lnTo>
                <a:lnTo>
                  <a:pt x="2461" y="843"/>
                </a:lnTo>
                <a:lnTo>
                  <a:pt x="2494" y="791"/>
                </a:lnTo>
                <a:lnTo>
                  <a:pt x="2522" y="737"/>
                </a:lnTo>
                <a:lnTo>
                  <a:pt x="2546" y="679"/>
                </a:lnTo>
                <a:lnTo>
                  <a:pt x="2565" y="621"/>
                </a:lnTo>
                <a:lnTo>
                  <a:pt x="2579" y="560"/>
                </a:lnTo>
                <a:lnTo>
                  <a:pt x="2588" y="496"/>
                </a:lnTo>
                <a:lnTo>
                  <a:pt x="2591" y="431"/>
                </a:lnTo>
                <a:lnTo>
                  <a:pt x="2588" y="366"/>
                </a:lnTo>
                <a:lnTo>
                  <a:pt x="2579" y="302"/>
                </a:lnTo>
                <a:lnTo>
                  <a:pt x="2566" y="241"/>
                </a:lnTo>
                <a:lnTo>
                  <a:pt x="2546" y="182"/>
                </a:lnTo>
                <a:lnTo>
                  <a:pt x="2523" y="125"/>
                </a:lnTo>
                <a:lnTo>
                  <a:pt x="2494" y="71"/>
                </a:lnTo>
                <a:lnTo>
                  <a:pt x="2461" y="19"/>
                </a:lnTo>
                <a:lnTo>
                  <a:pt x="2503" y="8"/>
                </a:lnTo>
                <a:lnTo>
                  <a:pt x="2547" y="2"/>
                </a:lnTo>
                <a:lnTo>
                  <a:pt x="2592" y="0"/>
                </a:lnTo>
                <a:close/>
                <a:moveTo>
                  <a:pt x="1873" y="0"/>
                </a:moveTo>
                <a:lnTo>
                  <a:pt x="1923" y="2"/>
                </a:lnTo>
                <a:lnTo>
                  <a:pt x="1971" y="10"/>
                </a:lnTo>
                <a:lnTo>
                  <a:pt x="2018" y="25"/>
                </a:lnTo>
                <a:lnTo>
                  <a:pt x="2062" y="42"/>
                </a:lnTo>
                <a:lnTo>
                  <a:pt x="2103" y="67"/>
                </a:lnTo>
                <a:lnTo>
                  <a:pt x="2142" y="94"/>
                </a:lnTo>
                <a:lnTo>
                  <a:pt x="2177" y="125"/>
                </a:lnTo>
                <a:lnTo>
                  <a:pt x="2209" y="161"/>
                </a:lnTo>
                <a:lnTo>
                  <a:pt x="2236" y="200"/>
                </a:lnTo>
                <a:lnTo>
                  <a:pt x="2259" y="240"/>
                </a:lnTo>
                <a:lnTo>
                  <a:pt x="2278" y="285"/>
                </a:lnTo>
                <a:lnTo>
                  <a:pt x="2291" y="332"/>
                </a:lnTo>
                <a:lnTo>
                  <a:pt x="2300" y="381"/>
                </a:lnTo>
                <a:lnTo>
                  <a:pt x="2303" y="431"/>
                </a:lnTo>
                <a:lnTo>
                  <a:pt x="2300" y="481"/>
                </a:lnTo>
                <a:lnTo>
                  <a:pt x="2291" y="530"/>
                </a:lnTo>
                <a:lnTo>
                  <a:pt x="2278" y="577"/>
                </a:lnTo>
                <a:lnTo>
                  <a:pt x="2259" y="622"/>
                </a:lnTo>
                <a:lnTo>
                  <a:pt x="2236" y="662"/>
                </a:lnTo>
                <a:lnTo>
                  <a:pt x="2209" y="701"/>
                </a:lnTo>
                <a:lnTo>
                  <a:pt x="2177" y="737"/>
                </a:lnTo>
                <a:lnTo>
                  <a:pt x="2142" y="768"/>
                </a:lnTo>
                <a:lnTo>
                  <a:pt x="2103" y="795"/>
                </a:lnTo>
                <a:lnTo>
                  <a:pt x="2062" y="820"/>
                </a:lnTo>
                <a:lnTo>
                  <a:pt x="2018" y="837"/>
                </a:lnTo>
                <a:lnTo>
                  <a:pt x="1971" y="852"/>
                </a:lnTo>
                <a:lnTo>
                  <a:pt x="1923" y="860"/>
                </a:lnTo>
                <a:lnTo>
                  <a:pt x="1873" y="864"/>
                </a:lnTo>
                <a:lnTo>
                  <a:pt x="1821" y="860"/>
                </a:lnTo>
                <a:lnTo>
                  <a:pt x="1773" y="852"/>
                </a:lnTo>
                <a:lnTo>
                  <a:pt x="1726" y="837"/>
                </a:lnTo>
                <a:lnTo>
                  <a:pt x="1682" y="820"/>
                </a:lnTo>
                <a:lnTo>
                  <a:pt x="1640" y="795"/>
                </a:lnTo>
                <a:lnTo>
                  <a:pt x="1601" y="768"/>
                </a:lnTo>
                <a:lnTo>
                  <a:pt x="1567" y="737"/>
                </a:lnTo>
                <a:lnTo>
                  <a:pt x="1534" y="701"/>
                </a:lnTo>
                <a:lnTo>
                  <a:pt x="1507" y="662"/>
                </a:lnTo>
                <a:lnTo>
                  <a:pt x="1484" y="622"/>
                </a:lnTo>
                <a:lnTo>
                  <a:pt x="1465" y="577"/>
                </a:lnTo>
                <a:lnTo>
                  <a:pt x="1452" y="530"/>
                </a:lnTo>
                <a:lnTo>
                  <a:pt x="1443" y="481"/>
                </a:lnTo>
                <a:lnTo>
                  <a:pt x="1440" y="431"/>
                </a:lnTo>
                <a:lnTo>
                  <a:pt x="1443" y="381"/>
                </a:lnTo>
                <a:lnTo>
                  <a:pt x="1452" y="332"/>
                </a:lnTo>
                <a:lnTo>
                  <a:pt x="1465" y="285"/>
                </a:lnTo>
                <a:lnTo>
                  <a:pt x="1484" y="240"/>
                </a:lnTo>
                <a:lnTo>
                  <a:pt x="1507" y="200"/>
                </a:lnTo>
                <a:lnTo>
                  <a:pt x="1534" y="161"/>
                </a:lnTo>
                <a:lnTo>
                  <a:pt x="1567" y="125"/>
                </a:lnTo>
                <a:lnTo>
                  <a:pt x="1601" y="94"/>
                </a:lnTo>
                <a:lnTo>
                  <a:pt x="1640" y="67"/>
                </a:lnTo>
                <a:lnTo>
                  <a:pt x="1682" y="42"/>
                </a:lnTo>
                <a:lnTo>
                  <a:pt x="1726" y="25"/>
                </a:lnTo>
                <a:lnTo>
                  <a:pt x="1773" y="10"/>
                </a:lnTo>
                <a:lnTo>
                  <a:pt x="1821" y="2"/>
                </a:lnTo>
                <a:lnTo>
                  <a:pt x="1873"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cxnSp>
        <p:nvCxnSpPr>
          <p:cNvPr id="6" name="Straight Arrow Connector 5">
            <a:extLst>
              <a:ext uri="{FF2B5EF4-FFF2-40B4-BE49-F238E27FC236}">
                <a16:creationId xmlns:a16="http://schemas.microsoft.com/office/drawing/2014/main" id="{EC7C74B2-200C-E272-A03F-72F805C3691D}"/>
              </a:ext>
            </a:extLst>
          </p:cNvPr>
          <p:cNvCxnSpPr>
            <a:endCxn id="9" idx="3"/>
          </p:cNvCxnSpPr>
          <p:nvPr/>
        </p:nvCxnSpPr>
        <p:spPr>
          <a:xfrm flipH="1">
            <a:off x="5428587" y="5686901"/>
            <a:ext cx="2072262"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7B21388-238D-07C2-2623-D3A8B2BB8E50}"/>
              </a:ext>
            </a:extLst>
          </p:cNvPr>
          <p:cNvCxnSpPr>
            <a:endCxn id="8" idx="3"/>
          </p:cNvCxnSpPr>
          <p:nvPr/>
        </p:nvCxnSpPr>
        <p:spPr>
          <a:xfrm flipH="1">
            <a:off x="6416550" y="3203986"/>
            <a:ext cx="1261356"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sp>
        <p:nvSpPr>
          <p:cNvPr id="15" name="Isosceles Triangle 14">
            <a:extLst>
              <a:ext uri="{FF2B5EF4-FFF2-40B4-BE49-F238E27FC236}">
                <a16:creationId xmlns:a16="http://schemas.microsoft.com/office/drawing/2014/main" id="{E2FC7F74-311A-8660-8E3D-8B360E63D60B}"/>
              </a:ext>
            </a:extLst>
          </p:cNvPr>
          <p:cNvSpPr/>
          <p:nvPr/>
        </p:nvSpPr>
        <p:spPr>
          <a:xfrm>
            <a:off x="7406640" y="1900973"/>
            <a:ext cx="748975" cy="4953233"/>
          </a:xfrm>
          <a:prstGeom prst="triangle">
            <a:avLst/>
          </a:prstGeom>
          <a:gradFill flip="none" rotWithShape="1">
            <a:gsLst>
              <a:gs pos="0">
                <a:schemeClr val="accent4"/>
              </a:gs>
              <a:gs pos="50000">
                <a:schemeClr val="accent3"/>
              </a:gs>
              <a:gs pos="100000">
                <a:schemeClr val="accent3"/>
              </a:gs>
            </a:gsLst>
            <a:lin ang="5400000" scaled="1"/>
          </a:gradFill>
          <a:ln>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6" name="Isosceles Triangle 15">
            <a:extLst>
              <a:ext uri="{FF2B5EF4-FFF2-40B4-BE49-F238E27FC236}">
                <a16:creationId xmlns:a16="http://schemas.microsoft.com/office/drawing/2014/main" id="{A9087265-FCFA-DDD1-BF82-01D056B62973}"/>
              </a:ext>
            </a:extLst>
          </p:cNvPr>
          <p:cNvSpPr/>
          <p:nvPr/>
        </p:nvSpPr>
        <p:spPr>
          <a:xfrm rot="10800000">
            <a:off x="7791743" y="1972518"/>
            <a:ext cx="748975" cy="4953233"/>
          </a:xfrm>
          <a:prstGeom prst="triangle">
            <a:avLst/>
          </a:prstGeom>
          <a:gradFill>
            <a:gsLst>
              <a:gs pos="0">
                <a:schemeClr val="accent4"/>
              </a:gs>
              <a:gs pos="50000">
                <a:schemeClr val="accent3"/>
              </a:gs>
              <a:gs pos="100000">
                <a:schemeClr val="accent3"/>
              </a:gs>
            </a:gsLst>
            <a:lin ang="162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7" name="TextBox 16">
            <a:extLst>
              <a:ext uri="{FF2B5EF4-FFF2-40B4-BE49-F238E27FC236}">
                <a16:creationId xmlns:a16="http://schemas.microsoft.com/office/drawing/2014/main" id="{EE7E6730-7E96-2711-458A-455616118D35}"/>
              </a:ext>
            </a:extLst>
          </p:cNvPr>
          <p:cNvSpPr txBox="1"/>
          <p:nvPr/>
        </p:nvSpPr>
        <p:spPr>
          <a:xfrm>
            <a:off x="7830963" y="2018968"/>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Us</a:t>
            </a:r>
          </a:p>
        </p:txBody>
      </p:sp>
      <p:sp>
        <p:nvSpPr>
          <p:cNvPr id="18" name="TextBox 17">
            <a:extLst>
              <a:ext uri="{FF2B5EF4-FFF2-40B4-BE49-F238E27FC236}">
                <a16:creationId xmlns:a16="http://schemas.microsoft.com/office/drawing/2014/main" id="{94613233-52A7-C4CE-10C6-0FD6BD2FBEF1}"/>
              </a:ext>
            </a:extLst>
          </p:cNvPr>
          <p:cNvSpPr txBox="1"/>
          <p:nvPr/>
        </p:nvSpPr>
        <p:spPr>
          <a:xfrm>
            <a:off x="7423420" y="6625274"/>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You</a:t>
            </a:r>
          </a:p>
        </p:txBody>
      </p:sp>
      <p:sp>
        <p:nvSpPr>
          <p:cNvPr id="3" name="Oval 2">
            <a:extLst>
              <a:ext uri="{FF2B5EF4-FFF2-40B4-BE49-F238E27FC236}">
                <a16:creationId xmlns:a16="http://schemas.microsoft.com/office/drawing/2014/main" id="{4FAFA7CC-62A7-CF8C-FA45-97F91546B41A}"/>
              </a:ext>
            </a:extLst>
          </p:cNvPr>
          <p:cNvSpPr/>
          <p:nvPr/>
        </p:nvSpPr>
        <p:spPr>
          <a:xfrm>
            <a:off x="8316311" y="1032438"/>
            <a:ext cx="365294" cy="36529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 name="Oval 3">
            <a:extLst>
              <a:ext uri="{FF2B5EF4-FFF2-40B4-BE49-F238E27FC236}">
                <a16:creationId xmlns:a16="http://schemas.microsoft.com/office/drawing/2014/main" id="{65F0F8F4-736E-2025-A32C-470A35078383}"/>
              </a:ext>
            </a:extLst>
          </p:cNvPr>
          <p:cNvSpPr/>
          <p:nvPr/>
        </p:nvSpPr>
        <p:spPr>
          <a:xfrm>
            <a:off x="8664831" y="1032438"/>
            <a:ext cx="365294" cy="3652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5" name="Oval 4">
            <a:extLst>
              <a:ext uri="{FF2B5EF4-FFF2-40B4-BE49-F238E27FC236}">
                <a16:creationId xmlns:a16="http://schemas.microsoft.com/office/drawing/2014/main" id="{BA9B3711-1A3D-5EE1-8C17-2A2453C69EC7}"/>
              </a:ext>
            </a:extLst>
          </p:cNvPr>
          <p:cNvSpPr/>
          <p:nvPr/>
        </p:nvSpPr>
        <p:spPr>
          <a:xfrm>
            <a:off x="9007760" y="1032438"/>
            <a:ext cx="365294" cy="365294"/>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14" name="Oval 13">
            <a:extLst>
              <a:ext uri="{FF2B5EF4-FFF2-40B4-BE49-F238E27FC236}">
                <a16:creationId xmlns:a16="http://schemas.microsoft.com/office/drawing/2014/main" id="{FA3E04F2-AE73-DFBB-4FEA-33D6C6746D01}"/>
              </a:ext>
            </a:extLst>
          </p:cNvPr>
          <p:cNvSpPr/>
          <p:nvPr/>
        </p:nvSpPr>
        <p:spPr>
          <a:xfrm>
            <a:off x="9356280" y="1032438"/>
            <a:ext cx="365294" cy="365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19" name="Oval 18">
            <a:extLst>
              <a:ext uri="{FF2B5EF4-FFF2-40B4-BE49-F238E27FC236}">
                <a16:creationId xmlns:a16="http://schemas.microsoft.com/office/drawing/2014/main" id="{68AD1166-97DD-4A9E-BE72-F7745A87EF38}"/>
              </a:ext>
            </a:extLst>
          </p:cNvPr>
          <p:cNvSpPr/>
          <p:nvPr/>
        </p:nvSpPr>
        <p:spPr>
          <a:xfrm>
            <a:off x="9697870" y="1032438"/>
            <a:ext cx="365294" cy="365294"/>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20" name="Rectangle 19">
            <a:extLst>
              <a:ext uri="{FF2B5EF4-FFF2-40B4-BE49-F238E27FC236}">
                <a16:creationId xmlns:a16="http://schemas.microsoft.com/office/drawing/2014/main" id="{CF64DA0D-E9FF-000F-0C46-04B1CCD08D6D}"/>
              </a:ext>
            </a:extLst>
          </p:cNvPr>
          <p:cNvSpPr/>
          <p:nvPr/>
        </p:nvSpPr>
        <p:spPr>
          <a:xfrm>
            <a:off x="9350155" y="1089949"/>
            <a:ext cx="370614" cy="276999"/>
          </a:xfrm>
          <a:prstGeom prst="rect">
            <a:avLst/>
          </a:prstGeom>
        </p:spPr>
        <p:txBody>
          <a:bodyPr wrap="none">
            <a:spAutoFit/>
          </a:bodyPr>
          <a:lstStyle/>
          <a:p>
            <a:r>
              <a:rPr lang="en-US" sz="1200" b="1" noProof="0" dirty="0">
                <a:solidFill>
                  <a:srgbClr val="FFFFFF"/>
                </a:solidFill>
                <a:latin typeface="Nunito Sans" pitchFamily="2" charset="77"/>
              </a:rPr>
              <a:t>04</a:t>
            </a:r>
          </a:p>
        </p:txBody>
      </p:sp>
      <p:sp>
        <p:nvSpPr>
          <p:cNvPr id="21" name="Rectangle 20">
            <a:extLst>
              <a:ext uri="{FF2B5EF4-FFF2-40B4-BE49-F238E27FC236}">
                <a16:creationId xmlns:a16="http://schemas.microsoft.com/office/drawing/2014/main" id="{411B2580-C863-0083-C624-AAD52D5469C4}"/>
              </a:ext>
            </a:extLst>
          </p:cNvPr>
          <p:cNvSpPr/>
          <p:nvPr/>
        </p:nvSpPr>
        <p:spPr>
          <a:xfrm>
            <a:off x="9256567" y="1424459"/>
            <a:ext cx="604653" cy="338554"/>
          </a:xfrm>
          <a:prstGeom prst="rect">
            <a:avLst/>
          </a:prstGeom>
        </p:spPr>
        <p:txBody>
          <a:bodyPr wrap="none">
            <a:spAutoFit/>
          </a:bodyPr>
          <a:lstStyle/>
          <a:p>
            <a:pPr algn="ctr"/>
            <a:r>
              <a:rPr lang="en-US" sz="800" b="1" noProof="0" dirty="0">
                <a:solidFill>
                  <a:schemeClr val="accent4"/>
                </a:solidFill>
                <a:latin typeface="Nunito Sans" pitchFamily="2" charset="77"/>
              </a:rPr>
              <a:t>Advisory</a:t>
            </a:r>
          </a:p>
          <a:p>
            <a:pPr algn="ctr"/>
            <a:r>
              <a:rPr lang="en-US" sz="800" b="1" noProof="0" dirty="0">
                <a:solidFill>
                  <a:schemeClr val="accent4"/>
                </a:solidFill>
                <a:latin typeface="Nunito Sans" pitchFamily="2" charset="77"/>
              </a:rPr>
              <a:t>Offering</a:t>
            </a:r>
          </a:p>
        </p:txBody>
      </p:sp>
    </p:spTree>
    <p:extLst>
      <p:ext uri="{BB962C8B-B14F-4D97-AF65-F5344CB8AC3E}">
        <p14:creationId xmlns:p14="http://schemas.microsoft.com/office/powerpoint/2010/main" val="141200112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Table 54">
            <a:extLst>
              <a:ext uri="{FF2B5EF4-FFF2-40B4-BE49-F238E27FC236}">
                <a16:creationId xmlns:a16="http://schemas.microsoft.com/office/drawing/2014/main" id="{910651F9-D7E0-6B31-3F9F-232E30A61FE2}"/>
              </a:ext>
            </a:extLst>
          </p:cNvPr>
          <p:cNvGraphicFramePr>
            <a:graphicFrameLocks noGrp="1"/>
          </p:cNvGraphicFramePr>
          <p:nvPr>
            <p:extLst>
              <p:ext uri="{D42A27DB-BD31-4B8C-83A1-F6EECF244321}">
                <p14:modId xmlns:p14="http://schemas.microsoft.com/office/powerpoint/2010/main" val="536942246"/>
              </p:ext>
            </p:extLst>
          </p:nvPr>
        </p:nvGraphicFramePr>
        <p:xfrm>
          <a:off x="4545364" y="1851299"/>
          <a:ext cx="5480377" cy="1672548"/>
        </p:xfrm>
        <a:graphic>
          <a:graphicData uri="http://schemas.openxmlformats.org/drawingml/2006/table">
            <a:tbl>
              <a:tblPr firstRow="1" bandRow="1">
                <a:tableStyleId>{2D5ABB26-0587-4C30-8999-92F81FD0307C}</a:tableStyleId>
              </a:tblPr>
              <a:tblGrid>
                <a:gridCol w="1730645">
                  <a:extLst>
                    <a:ext uri="{9D8B030D-6E8A-4147-A177-3AD203B41FA5}">
                      <a16:colId xmlns:a16="http://schemas.microsoft.com/office/drawing/2014/main" val="20000"/>
                    </a:ext>
                  </a:extLst>
                </a:gridCol>
                <a:gridCol w="1581802">
                  <a:extLst>
                    <a:ext uri="{9D8B030D-6E8A-4147-A177-3AD203B41FA5}">
                      <a16:colId xmlns:a16="http://schemas.microsoft.com/office/drawing/2014/main" val="20002"/>
                    </a:ext>
                  </a:extLst>
                </a:gridCol>
                <a:gridCol w="2167930">
                  <a:extLst>
                    <a:ext uri="{9D8B030D-6E8A-4147-A177-3AD203B41FA5}">
                      <a16:colId xmlns:a16="http://schemas.microsoft.com/office/drawing/2014/main" val="546537676"/>
                    </a:ext>
                  </a:extLst>
                </a:gridCol>
              </a:tblGrid>
              <a:tr h="278758">
                <a:tc>
                  <a:txBody>
                    <a:bodyPr/>
                    <a:lstStyle/>
                    <a:p>
                      <a:pPr marL="0" marR="0" lvl="0" indent="0" algn="l" defTabSz="1007943" rtl="0" eaLnBrk="1" fontAlgn="auto" latinLnBrk="0" hangingPunct="1">
                        <a:lnSpc>
                          <a:spcPct val="100000"/>
                        </a:lnSpc>
                        <a:spcBef>
                          <a:spcPct val="0"/>
                        </a:spcBef>
                        <a:spcAft>
                          <a:spcPct val="0"/>
                        </a:spcAft>
                        <a:buClrTx/>
                        <a:buSzTx/>
                        <a:buFontTx/>
                        <a:buNone/>
                        <a:defRPr/>
                      </a:pPr>
                      <a:r>
                        <a:rPr lang="en-US" sz="1100" b="1" noProof="0" dirty="0">
                          <a:solidFill>
                            <a:schemeClr val="tx1"/>
                          </a:solidFill>
                        </a:rPr>
                        <a:t>At you service…</a:t>
                      </a:r>
                    </a:p>
                  </a:txBody>
                  <a:tcPr anchor="ctr">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5"/>
                          </a:solidFill>
                        </a:rPr>
                        <a:t>SELECT</a:t>
                      </a: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100" noProof="0" dirty="0">
                          <a:solidFill>
                            <a:schemeClr val="accent2">
                              <a:lumMod val="75000"/>
                            </a:schemeClr>
                          </a:solidFill>
                        </a:rPr>
                        <a:t>EXPERT</a:t>
                      </a:r>
                    </a:p>
                  </a:txBody>
                  <a:tcPr anchor="ctr">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41643081"/>
                  </a:ext>
                </a:extLst>
              </a:tr>
              <a:tr h="278758">
                <a:tc>
                  <a:txBody>
                    <a:bodyPr/>
                    <a:lstStyle/>
                    <a:p>
                      <a:r>
                        <a:rPr lang="en-US" sz="1100" b="1" noProof="0" dirty="0"/>
                        <a:t>Primary</a:t>
                      </a:r>
                      <a:r>
                        <a:rPr lang="en-US" sz="1100" b="1" baseline="0" noProof="0" dirty="0"/>
                        <a:t> contact</a:t>
                      </a:r>
                      <a:endParaRPr lang="en-US" sz="1100" b="1"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Relationship manager</a:t>
                      </a:r>
                      <a:endParaRPr lang="en-US" sz="1100"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Investment</a:t>
                      </a:r>
                      <a:r>
                        <a:rPr lang="en-US" sz="1100" baseline="0" noProof="0" dirty="0">
                          <a:solidFill>
                            <a:schemeClr val="accent2">
                              <a:lumMod val="75000"/>
                            </a:schemeClr>
                          </a:solidFill>
                        </a:rPr>
                        <a:t> </a:t>
                      </a:r>
                      <a:r>
                        <a:rPr lang="en-US" sz="1100" noProof="0" dirty="0">
                          <a:solidFill>
                            <a:schemeClr val="accent2">
                              <a:lumMod val="75000"/>
                            </a:schemeClr>
                          </a:solidFill>
                        </a:rPr>
                        <a:t>Advisor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758">
                <a:tc>
                  <a:txBody>
                    <a:bodyPr/>
                    <a:lstStyle/>
                    <a:p>
                      <a:r>
                        <a:rPr lang="en-US" sz="1100" b="1" noProof="0" dirty="0"/>
                        <a:t>Interaction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On-demand</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Proactive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8758">
                <a:tc>
                  <a:txBody>
                    <a:bodyPr/>
                    <a:lstStyle/>
                    <a:p>
                      <a:r>
                        <a:rPr lang="en-US" sz="1100" b="1" noProof="0" dirty="0" err="1"/>
                        <a:t>Syz</a:t>
                      </a:r>
                      <a:r>
                        <a:rPr lang="en-US" sz="1100" b="1" noProof="0" dirty="0"/>
                        <a:t> Research &amp; insights</a:t>
                      </a:r>
                      <a:endParaRPr lang="en-US" sz="1100" b="0" noProof="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tx1"/>
                          </a:solidFill>
                        </a:rPr>
                        <a:t> Regular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accent2">
                              <a:lumMod val="75000"/>
                            </a:schemeClr>
                          </a:solidFill>
                        </a:rPr>
                        <a:t>Regular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8758">
                <a:tc>
                  <a:txBody>
                    <a:bodyPr/>
                    <a:lstStyle/>
                    <a:p>
                      <a:r>
                        <a:rPr lang="en-US" sz="1100" b="1" noProof="0" dirty="0"/>
                        <a:t>Investment ideas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t>Syz</a:t>
                      </a:r>
                      <a:r>
                        <a:rPr lang="en-US" sz="1100" noProof="0" dirty="0"/>
                        <a:t> convictions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solidFill>
                            <a:schemeClr val="accent2">
                              <a:lumMod val="75000"/>
                            </a:schemeClr>
                          </a:solidFill>
                        </a:rPr>
                        <a:t>Personalised</a:t>
                      </a:r>
                      <a:r>
                        <a:rPr lang="en-US" sz="1100" noProof="0" dirty="0">
                          <a:solidFill>
                            <a:schemeClr val="accent2">
                              <a:lumMod val="75000"/>
                            </a:schemeClr>
                          </a:solidFill>
                        </a:rPr>
                        <a:t> recommendations</a:t>
                      </a:r>
                    </a:p>
                  </a:txBody>
                  <a:tcPr marL="72000" marR="720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8758">
                <a:tc>
                  <a:txBody>
                    <a:bodyPr/>
                    <a:lstStyle/>
                    <a:p>
                      <a:r>
                        <a:rPr lang="en-US" sz="1100" b="1" noProof="0" dirty="0"/>
                        <a:t>Portfolio review</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Annually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You decide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9F0EA69C-7284-4340-35CE-791E7DC36261}"/>
              </a:ext>
            </a:extLst>
          </p:cNvPr>
          <p:cNvSpPr>
            <a:spLocks noGrp="1"/>
          </p:cNvSpPr>
          <p:nvPr>
            <p:ph type="title"/>
          </p:nvPr>
        </p:nvSpPr>
        <p:spPr>
          <a:xfrm>
            <a:off x="665163" y="1032438"/>
            <a:ext cx="9398001" cy="864586"/>
          </a:xfrm>
        </p:spPr>
        <p:txBody>
          <a:bodyPr/>
          <a:lstStyle/>
          <a:p>
            <a:r>
              <a:rPr lang="en-US" noProof="0" dirty="0"/>
              <a:t>Our Value Proposition</a:t>
            </a:r>
            <a:br>
              <a:rPr lang="en-US" noProof="0" dirty="0"/>
            </a:br>
            <a:r>
              <a:rPr lang="en-US" noProof="0" dirty="0"/>
              <a:t>- Advisory Expert</a:t>
            </a:r>
          </a:p>
        </p:txBody>
      </p:sp>
      <p:graphicFrame>
        <p:nvGraphicFramePr>
          <p:cNvPr id="9" name="Table 9">
            <a:extLst>
              <a:ext uri="{FF2B5EF4-FFF2-40B4-BE49-F238E27FC236}">
                <a16:creationId xmlns:a16="http://schemas.microsoft.com/office/drawing/2014/main" id="{BBE8CD02-37EB-13ED-E168-B3B22D6093B5}"/>
              </a:ext>
            </a:extLst>
          </p:cNvPr>
          <p:cNvGraphicFramePr>
            <a:graphicFrameLocks noGrp="1"/>
          </p:cNvGraphicFramePr>
          <p:nvPr>
            <p:extLst>
              <p:ext uri="{D42A27DB-BD31-4B8C-83A1-F6EECF244321}">
                <p14:modId xmlns:p14="http://schemas.microsoft.com/office/powerpoint/2010/main" val="330235490"/>
              </p:ext>
            </p:extLst>
          </p:nvPr>
        </p:nvGraphicFramePr>
        <p:xfrm>
          <a:off x="4545365" y="3714949"/>
          <a:ext cx="5480378" cy="3089637"/>
        </p:xfrm>
        <a:graphic>
          <a:graphicData uri="http://schemas.openxmlformats.org/drawingml/2006/table">
            <a:tbl>
              <a:tblPr firstCol="1">
                <a:tableStyleId>{5C22544A-7EE6-4342-B048-85BDC9FD1C3A}</a:tableStyleId>
              </a:tblPr>
              <a:tblGrid>
                <a:gridCol w="1080000">
                  <a:extLst>
                    <a:ext uri="{9D8B030D-6E8A-4147-A177-3AD203B41FA5}">
                      <a16:colId xmlns:a16="http://schemas.microsoft.com/office/drawing/2014/main" val="988985580"/>
                    </a:ext>
                  </a:extLst>
                </a:gridCol>
                <a:gridCol w="4400378">
                  <a:extLst>
                    <a:ext uri="{9D8B030D-6E8A-4147-A177-3AD203B41FA5}">
                      <a16:colId xmlns:a16="http://schemas.microsoft.com/office/drawing/2014/main" val="3075069410"/>
                    </a:ext>
                  </a:extLst>
                </a:gridCol>
              </a:tblGrid>
              <a:tr h="1505637">
                <a:tc>
                  <a:txBody>
                    <a:bodyPr/>
                    <a:lstStyle/>
                    <a:p>
                      <a:pPr marL="0" indent="0">
                        <a:buFont typeface="Arial" panose="020B0604020202020204" pitchFamily="34" charset="0"/>
                        <a:buNone/>
                      </a:pPr>
                      <a:r>
                        <a:rPr lang="en-US" sz="1200" b="1" noProof="0" dirty="0"/>
                        <a:t>Your Needs</a:t>
                      </a:r>
                    </a:p>
                  </a:txBody>
                  <a:tcPr anchor="ctr">
                    <a:solidFill>
                      <a:schemeClr val="accent2"/>
                    </a:solidFill>
                  </a:tcPr>
                </a:tc>
                <a:tc>
                  <a:txBody>
                    <a:bodyPr/>
                    <a:lstStyle/>
                    <a:p>
                      <a:pPr marL="180975" indent="-180975">
                        <a:spcBef>
                          <a:spcPts val="600"/>
                        </a:spcBef>
                        <a:spcAft>
                          <a:spcPts val="600"/>
                        </a:spcAft>
                        <a:buFont typeface="Arial" panose="020B0604020202020204" pitchFamily="34" charset="0"/>
                        <a:buChar char="•"/>
                      </a:pPr>
                      <a:r>
                        <a:rPr lang="en-US" sz="1200" noProof="0" dirty="0"/>
                        <a:t>You seek for </a:t>
                      </a:r>
                      <a:r>
                        <a:rPr lang="en-US" sz="1200" b="1" noProof="0" dirty="0"/>
                        <a:t>dynamic support </a:t>
                      </a:r>
                      <a:r>
                        <a:rPr lang="en-US" sz="1200" noProof="0" dirty="0"/>
                        <a:t>and </a:t>
                      </a:r>
                      <a:r>
                        <a:rPr lang="en-US" sz="1200" b="1" noProof="0" dirty="0"/>
                        <a:t>exchange with investment experts </a:t>
                      </a:r>
                      <a:r>
                        <a:rPr lang="en-US" sz="1200" noProof="0" dirty="0"/>
                        <a:t>to craft </a:t>
                      </a:r>
                      <a:r>
                        <a:rPr lang="en-US" sz="1200" b="1" noProof="0" dirty="0" err="1"/>
                        <a:t>personalised</a:t>
                      </a:r>
                      <a:r>
                        <a:rPr lang="en-US" sz="1200" noProof="0" dirty="0"/>
                        <a:t> investment strategies</a:t>
                      </a:r>
                    </a:p>
                    <a:p>
                      <a:pPr marL="180975" indent="-180975">
                        <a:spcBef>
                          <a:spcPts val="600"/>
                        </a:spcBef>
                        <a:spcAft>
                          <a:spcPts val="600"/>
                        </a:spcAft>
                        <a:buFont typeface="Arial" panose="020B0604020202020204" pitchFamily="34" charset="0"/>
                        <a:buChar char="•"/>
                      </a:pPr>
                      <a:r>
                        <a:rPr lang="en-US" sz="1200" noProof="0" dirty="0"/>
                        <a:t>You enjoy </a:t>
                      </a:r>
                      <a:r>
                        <a:rPr lang="en-US" sz="1200" b="1" noProof="0" dirty="0"/>
                        <a:t>exploring investment opportunities, </a:t>
                      </a:r>
                      <a:r>
                        <a:rPr lang="en-US" sz="1200" b="0" noProof="0" dirty="0"/>
                        <a:t>and </a:t>
                      </a:r>
                      <a:r>
                        <a:rPr lang="en-US" sz="1200" noProof="0" dirty="0"/>
                        <a:t>desire a </a:t>
                      </a:r>
                      <a:r>
                        <a:rPr lang="en-US" sz="1200" b="1" noProof="0" dirty="0"/>
                        <a:t>higher level of </a:t>
                      </a:r>
                      <a:r>
                        <a:rPr lang="en-US" sz="1200" b="1" noProof="0" dirty="0">
                          <a:solidFill>
                            <a:schemeClr val="tx1"/>
                          </a:solidFill>
                        </a:rPr>
                        <a:t>support</a:t>
                      </a:r>
                      <a:r>
                        <a:rPr lang="en-US" sz="1200" b="1" noProof="0" dirty="0">
                          <a:solidFill>
                            <a:srgbClr val="FF0000"/>
                          </a:solidFill>
                        </a:rPr>
                        <a:t> </a:t>
                      </a:r>
                      <a:r>
                        <a:rPr lang="en-US" sz="1200" noProof="0" dirty="0"/>
                        <a:t>through </a:t>
                      </a:r>
                      <a:r>
                        <a:rPr lang="en-US" sz="1200" b="1" noProof="0" dirty="0"/>
                        <a:t>active portfolio monitoring </a:t>
                      </a:r>
                      <a:r>
                        <a:rPr lang="en-US" sz="1200" noProof="0" dirty="0"/>
                        <a:t>by your </a:t>
                      </a:r>
                      <a:r>
                        <a:rPr lang="en-US" sz="1200" b="1" noProof="0" dirty="0"/>
                        <a:t>dedicated advisor</a:t>
                      </a:r>
                      <a:endParaRPr lang="en-US" sz="1200" noProof="0" dirty="0"/>
                    </a:p>
                  </a:txBody>
                  <a:tcPr anchor="ctr">
                    <a:solidFill>
                      <a:schemeClr val="accent2">
                        <a:lumMod val="20000"/>
                        <a:lumOff val="80000"/>
                      </a:schemeClr>
                    </a:solidFill>
                  </a:tcPr>
                </a:tc>
                <a:extLst>
                  <a:ext uri="{0D108BD9-81ED-4DB2-BD59-A6C34878D82A}">
                    <a16:rowId xmlns:a16="http://schemas.microsoft.com/office/drawing/2014/main" val="3835578771"/>
                  </a:ext>
                </a:extLst>
              </a:tr>
              <a:tr h="1584000">
                <a:tc>
                  <a:txBody>
                    <a:bodyPr/>
                    <a:lstStyle/>
                    <a:p>
                      <a:pPr marL="0" indent="0">
                        <a:buFont typeface="Arial" panose="020B0604020202020204" pitchFamily="34" charset="0"/>
                        <a:buNone/>
                      </a:pPr>
                      <a:r>
                        <a:rPr lang="en-US" sz="1200" b="1" noProof="0" dirty="0"/>
                        <a:t>Our Offering</a:t>
                      </a:r>
                    </a:p>
                  </a:txBody>
                  <a:tcPr anchor="ctr">
                    <a:solidFill>
                      <a:schemeClr val="accent2"/>
                    </a:solidFill>
                  </a:tcPr>
                </a:tc>
                <a:tc>
                  <a:txBody>
                    <a:bodyPr/>
                    <a:lstStyle/>
                    <a:p>
                      <a:pPr marL="180975" marR="0" lvl="0" indent="-180975" algn="l" defTabSz="1007943" rtl="0" eaLnBrk="1" fontAlgn="auto" latinLnBrk="0" hangingPunct="1">
                        <a:lnSpc>
                          <a:spcPct val="100000"/>
                        </a:lnSpc>
                        <a:spcBef>
                          <a:spcPts val="600"/>
                        </a:spcBef>
                        <a:spcAft>
                          <a:spcPts val="600"/>
                        </a:spcAft>
                        <a:buClrTx/>
                        <a:buSzTx/>
                        <a:buFont typeface="Arial" panose="020B0604020202020204" pitchFamily="34" charset="0"/>
                        <a:buChar char="•"/>
                        <a:defRPr/>
                      </a:pPr>
                      <a:r>
                        <a:rPr lang="en-US" sz="1200" b="1" noProof="0" dirty="0"/>
                        <a:t>Dedicated advisor </a:t>
                      </a:r>
                      <a:r>
                        <a:rPr lang="en-US" sz="1200" noProof="0" dirty="0"/>
                        <a:t>for your portfolio, providing </a:t>
                      </a:r>
                      <a:r>
                        <a:rPr lang="en-US" sz="1200" b="1" noProof="0" dirty="0"/>
                        <a:t>proactive tailored advice </a:t>
                      </a:r>
                      <a:r>
                        <a:rPr lang="en-US" sz="1200" noProof="0" dirty="0"/>
                        <a:t>and </a:t>
                      </a:r>
                      <a:r>
                        <a:rPr lang="en-US" sz="1200" b="1" noProof="0" dirty="0"/>
                        <a:t>handpicking</a:t>
                      </a:r>
                      <a:r>
                        <a:rPr lang="en-US" sz="1200" noProof="0" dirty="0"/>
                        <a:t> opportunities for your needs</a:t>
                      </a:r>
                    </a:p>
                    <a:p>
                      <a:pPr marL="180975" indent="-180975">
                        <a:spcBef>
                          <a:spcPts val="600"/>
                        </a:spcBef>
                        <a:spcAft>
                          <a:spcPts val="600"/>
                        </a:spcAft>
                        <a:buFont typeface="Arial" panose="020B0604020202020204" pitchFamily="34" charset="0"/>
                        <a:buChar char="•"/>
                      </a:pPr>
                      <a:r>
                        <a:rPr lang="en-US" sz="1200" noProof="0" dirty="0"/>
                        <a:t>Access to </a:t>
                      </a:r>
                      <a:r>
                        <a:rPr lang="en-US" sz="1200" b="1" noProof="0" dirty="0"/>
                        <a:t>asset-class and investment experts </a:t>
                      </a:r>
                      <a:r>
                        <a:rPr lang="en-US" sz="1200" noProof="0" dirty="0"/>
                        <a:t>to deep dive on investment topics</a:t>
                      </a:r>
                    </a:p>
                    <a:p>
                      <a:pPr marL="180975" indent="-180975">
                        <a:spcBef>
                          <a:spcPts val="600"/>
                        </a:spcBef>
                        <a:spcAft>
                          <a:spcPts val="600"/>
                        </a:spcAft>
                        <a:buFont typeface="Arial" panose="020B0604020202020204" pitchFamily="34" charset="0"/>
                        <a:buChar char="•"/>
                      </a:pPr>
                      <a:r>
                        <a:rPr lang="en-US" sz="1200" b="1" noProof="0" dirty="0"/>
                        <a:t>Active portfolio monitoring </a:t>
                      </a:r>
                      <a:r>
                        <a:rPr lang="en-US" sz="1200" noProof="0" dirty="0"/>
                        <a:t>and alerts</a:t>
                      </a:r>
                    </a:p>
                  </a:txBody>
                  <a:tcPr anchor="ctr">
                    <a:solidFill>
                      <a:schemeClr val="accent2">
                        <a:lumMod val="20000"/>
                        <a:lumOff val="80000"/>
                      </a:schemeClr>
                    </a:solidFill>
                  </a:tcPr>
                </a:tc>
                <a:extLst>
                  <a:ext uri="{0D108BD9-81ED-4DB2-BD59-A6C34878D82A}">
                    <a16:rowId xmlns:a16="http://schemas.microsoft.com/office/drawing/2014/main" val="878091863"/>
                  </a:ext>
                </a:extLst>
              </a:tr>
            </a:tbl>
          </a:graphicData>
        </a:graphic>
      </p:graphicFrame>
      <p:sp>
        <p:nvSpPr>
          <p:cNvPr id="24" name="Rectangle 23">
            <a:extLst>
              <a:ext uri="{FF2B5EF4-FFF2-40B4-BE49-F238E27FC236}">
                <a16:creationId xmlns:a16="http://schemas.microsoft.com/office/drawing/2014/main" id="{B8BA49EC-988A-182B-5885-F528D3DCAF69}"/>
              </a:ext>
            </a:extLst>
          </p:cNvPr>
          <p:cNvSpPr/>
          <p:nvPr/>
        </p:nvSpPr>
        <p:spPr>
          <a:xfrm>
            <a:off x="7857811" y="1795989"/>
            <a:ext cx="2167929" cy="1811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38" name="Oval 37">
            <a:extLst>
              <a:ext uri="{FF2B5EF4-FFF2-40B4-BE49-F238E27FC236}">
                <a16:creationId xmlns:a16="http://schemas.microsoft.com/office/drawing/2014/main" id="{BBA9B03A-167B-ED15-6632-47B907E09563}"/>
              </a:ext>
            </a:extLst>
          </p:cNvPr>
          <p:cNvSpPr/>
          <p:nvPr/>
        </p:nvSpPr>
        <p:spPr>
          <a:xfrm>
            <a:off x="8316311" y="1032438"/>
            <a:ext cx="365294" cy="36529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0" name="Oval 39">
            <a:extLst>
              <a:ext uri="{FF2B5EF4-FFF2-40B4-BE49-F238E27FC236}">
                <a16:creationId xmlns:a16="http://schemas.microsoft.com/office/drawing/2014/main" id="{14AAEE0C-C1B8-E3DC-456C-5FA9282E1745}"/>
              </a:ext>
            </a:extLst>
          </p:cNvPr>
          <p:cNvSpPr/>
          <p:nvPr/>
        </p:nvSpPr>
        <p:spPr>
          <a:xfrm>
            <a:off x="8664831" y="1032438"/>
            <a:ext cx="365294" cy="3652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1" name="Oval 40">
            <a:extLst>
              <a:ext uri="{FF2B5EF4-FFF2-40B4-BE49-F238E27FC236}">
                <a16:creationId xmlns:a16="http://schemas.microsoft.com/office/drawing/2014/main" id="{03ECE030-FD5F-4EF4-2A03-1C1A9420DC26}"/>
              </a:ext>
            </a:extLst>
          </p:cNvPr>
          <p:cNvSpPr/>
          <p:nvPr/>
        </p:nvSpPr>
        <p:spPr>
          <a:xfrm>
            <a:off x="9007760" y="1032438"/>
            <a:ext cx="365294" cy="365294"/>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4" name="Oval 43">
            <a:extLst>
              <a:ext uri="{FF2B5EF4-FFF2-40B4-BE49-F238E27FC236}">
                <a16:creationId xmlns:a16="http://schemas.microsoft.com/office/drawing/2014/main" id="{EE583F7E-5281-FB81-0954-C9054080103A}"/>
              </a:ext>
            </a:extLst>
          </p:cNvPr>
          <p:cNvSpPr/>
          <p:nvPr/>
        </p:nvSpPr>
        <p:spPr>
          <a:xfrm>
            <a:off x="9356280" y="1032438"/>
            <a:ext cx="365294" cy="36529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8" name="Oval 47">
            <a:extLst>
              <a:ext uri="{FF2B5EF4-FFF2-40B4-BE49-F238E27FC236}">
                <a16:creationId xmlns:a16="http://schemas.microsoft.com/office/drawing/2014/main" id="{CD1B636A-BB80-5C09-408F-EBAE26EE3D69}"/>
              </a:ext>
            </a:extLst>
          </p:cNvPr>
          <p:cNvSpPr/>
          <p:nvPr/>
        </p:nvSpPr>
        <p:spPr>
          <a:xfrm>
            <a:off x="9697870" y="1032438"/>
            <a:ext cx="365294" cy="365294"/>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00" noProof="0" dirty="0">
              <a:latin typeface="Nunito Sans" pitchFamily="2" charset="77"/>
            </a:endParaRPr>
          </a:p>
        </p:txBody>
      </p:sp>
      <p:sp>
        <p:nvSpPr>
          <p:cNvPr id="49" name="Rectangle 48">
            <a:extLst>
              <a:ext uri="{FF2B5EF4-FFF2-40B4-BE49-F238E27FC236}">
                <a16:creationId xmlns:a16="http://schemas.microsoft.com/office/drawing/2014/main" id="{9880E897-67A9-EEAA-FFD6-98EA55BCF078}"/>
              </a:ext>
            </a:extLst>
          </p:cNvPr>
          <p:cNvSpPr/>
          <p:nvPr/>
        </p:nvSpPr>
        <p:spPr>
          <a:xfrm>
            <a:off x="9350155" y="1089949"/>
            <a:ext cx="370614" cy="276999"/>
          </a:xfrm>
          <a:prstGeom prst="rect">
            <a:avLst/>
          </a:prstGeom>
        </p:spPr>
        <p:txBody>
          <a:bodyPr wrap="none">
            <a:spAutoFit/>
          </a:bodyPr>
          <a:lstStyle/>
          <a:p>
            <a:r>
              <a:rPr lang="en-US" sz="1200" b="1" noProof="0" dirty="0">
                <a:solidFill>
                  <a:srgbClr val="FFFFFF"/>
                </a:solidFill>
                <a:latin typeface="Nunito Sans" pitchFamily="2" charset="77"/>
              </a:rPr>
              <a:t>04</a:t>
            </a:r>
          </a:p>
        </p:txBody>
      </p:sp>
      <p:sp>
        <p:nvSpPr>
          <p:cNvPr id="50" name="Rectangle 49">
            <a:extLst>
              <a:ext uri="{FF2B5EF4-FFF2-40B4-BE49-F238E27FC236}">
                <a16:creationId xmlns:a16="http://schemas.microsoft.com/office/drawing/2014/main" id="{6088DF1A-0F13-CE31-95F4-1249BCD88884}"/>
              </a:ext>
            </a:extLst>
          </p:cNvPr>
          <p:cNvSpPr/>
          <p:nvPr/>
        </p:nvSpPr>
        <p:spPr>
          <a:xfrm>
            <a:off x="9256567" y="1424459"/>
            <a:ext cx="604653" cy="338554"/>
          </a:xfrm>
          <a:prstGeom prst="rect">
            <a:avLst/>
          </a:prstGeom>
        </p:spPr>
        <p:txBody>
          <a:bodyPr wrap="none">
            <a:spAutoFit/>
          </a:bodyPr>
          <a:lstStyle/>
          <a:p>
            <a:pPr algn="ctr"/>
            <a:r>
              <a:rPr lang="en-US" sz="800" b="1" noProof="0" dirty="0">
                <a:solidFill>
                  <a:schemeClr val="accent4"/>
                </a:solidFill>
                <a:latin typeface="Nunito Sans" pitchFamily="2" charset="77"/>
              </a:rPr>
              <a:t>Advisory</a:t>
            </a:r>
          </a:p>
          <a:p>
            <a:pPr algn="ctr"/>
            <a:r>
              <a:rPr lang="en-US" sz="800" b="1" noProof="0" dirty="0">
                <a:solidFill>
                  <a:schemeClr val="accent4"/>
                </a:solidFill>
                <a:latin typeface="Nunito Sans" pitchFamily="2" charset="77"/>
              </a:rPr>
              <a:t>Expert</a:t>
            </a:r>
          </a:p>
        </p:txBody>
      </p:sp>
      <p:grpSp>
        <p:nvGrpSpPr>
          <p:cNvPr id="26" name="Group 25">
            <a:extLst>
              <a:ext uri="{FF2B5EF4-FFF2-40B4-BE49-F238E27FC236}">
                <a16:creationId xmlns:a16="http://schemas.microsoft.com/office/drawing/2014/main" id="{CD6EDA3D-58E0-2B41-5E49-EB85A0AAF4E5}"/>
              </a:ext>
            </a:extLst>
          </p:cNvPr>
          <p:cNvGrpSpPr/>
          <p:nvPr/>
        </p:nvGrpSpPr>
        <p:grpSpPr>
          <a:xfrm>
            <a:off x="655940" y="2273480"/>
            <a:ext cx="3852000" cy="3895167"/>
            <a:chOff x="560934" y="2293200"/>
            <a:chExt cx="3852000" cy="3895167"/>
          </a:xfrm>
        </p:grpSpPr>
        <p:sp>
          <p:nvSpPr>
            <p:cNvPr id="27" name="Partial Circle 26">
              <a:extLst>
                <a:ext uri="{FF2B5EF4-FFF2-40B4-BE49-F238E27FC236}">
                  <a16:creationId xmlns:a16="http://schemas.microsoft.com/office/drawing/2014/main" id="{6BBB90BE-3317-F97F-2D98-225FD75B0087}"/>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8" name="Partial Circle 27">
              <a:extLst>
                <a:ext uri="{FF2B5EF4-FFF2-40B4-BE49-F238E27FC236}">
                  <a16:creationId xmlns:a16="http://schemas.microsoft.com/office/drawing/2014/main" id="{8A412A8E-9A1D-43FF-56DB-D6C53E44C495}"/>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29" name="Partial Circle 28">
            <a:extLst>
              <a:ext uri="{FF2B5EF4-FFF2-40B4-BE49-F238E27FC236}">
                <a16:creationId xmlns:a16="http://schemas.microsoft.com/office/drawing/2014/main" id="{EA43B179-C956-19C9-4AC9-5288F4F169F0}"/>
              </a:ext>
            </a:extLst>
          </p:cNvPr>
          <p:cNvSpPr/>
          <p:nvPr/>
        </p:nvSpPr>
        <p:spPr>
          <a:xfrm>
            <a:off x="967962" y="2645779"/>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30" name="Arc 29">
            <a:extLst>
              <a:ext uri="{FF2B5EF4-FFF2-40B4-BE49-F238E27FC236}">
                <a16:creationId xmlns:a16="http://schemas.microsoft.com/office/drawing/2014/main" id="{619C2123-D32C-A314-B026-2F68FC923401}"/>
              </a:ext>
            </a:extLst>
          </p:cNvPr>
          <p:cNvSpPr/>
          <p:nvPr/>
        </p:nvSpPr>
        <p:spPr>
          <a:xfrm>
            <a:off x="1761591" y="3633958"/>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4" name="Arc 33">
            <a:extLst>
              <a:ext uri="{FF2B5EF4-FFF2-40B4-BE49-F238E27FC236}">
                <a16:creationId xmlns:a16="http://schemas.microsoft.com/office/drawing/2014/main" id="{55A7C6C8-D1E1-2F50-169F-E8CAC7392117}"/>
              </a:ext>
            </a:extLst>
          </p:cNvPr>
          <p:cNvSpPr/>
          <p:nvPr/>
        </p:nvSpPr>
        <p:spPr>
          <a:xfrm>
            <a:off x="1748560" y="3633958"/>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BA000969-59D7-FA29-8502-444042E29A44}"/>
              </a:ext>
            </a:extLst>
          </p:cNvPr>
          <p:cNvSpPr/>
          <p:nvPr/>
        </p:nvSpPr>
        <p:spPr>
          <a:xfrm>
            <a:off x="1650150" y="2520834"/>
            <a:ext cx="1837223" cy="573950"/>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36" name="Group 35">
            <a:extLst>
              <a:ext uri="{FF2B5EF4-FFF2-40B4-BE49-F238E27FC236}">
                <a16:creationId xmlns:a16="http://schemas.microsoft.com/office/drawing/2014/main" id="{060CE9C0-39E7-0C6C-78F8-52AE940B46A8}"/>
              </a:ext>
            </a:extLst>
          </p:cNvPr>
          <p:cNvGrpSpPr/>
          <p:nvPr/>
        </p:nvGrpSpPr>
        <p:grpSpPr>
          <a:xfrm>
            <a:off x="2194260" y="4208897"/>
            <a:ext cx="759080" cy="783882"/>
            <a:chOff x="2099254" y="4178377"/>
            <a:chExt cx="759080" cy="783882"/>
          </a:xfrm>
        </p:grpSpPr>
        <p:grpSp>
          <p:nvGrpSpPr>
            <p:cNvPr id="37" name="Group 36">
              <a:extLst>
                <a:ext uri="{FF2B5EF4-FFF2-40B4-BE49-F238E27FC236}">
                  <a16:creationId xmlns:a16="http://schemas.microsoft.com/office/drawing/2014/main" id="{168BDBDD-8031-6FFB-ABBF-B79D845BD5D1}"/>
                </a:ext>
              </a:extLst>
            </p:cNvPr>
            <p:cNvGrpSpPr/>
            <p:nvPr/>
          </p:nvGrpSpPr>
          <p:grpSpPr>
            <a:xfrm>
              <a:off x="2262794" y="4178377"/>
              <a:ext cx="432000" cy="462775"/>
              <a:chOff x="2262794" y="4178377"/>
              <a:chExt cx="432000" cy="462775"/>
            </a:xfrm>
          </p:grpSpPr>
          <p:sp>
            <p:nvSpPr>
              <p:cNvPr id="42" name="Oval 41">
                <a:extLst>
                  <a:ext uri="{FF2B5EF4-FFF2-40B4-BE49-F238E27FC236}">
                    <a16:creationId xmlns:a16="http://schemas.microsoft.com/office/drawing/2014/main" id="{8F5B7FD8-A6A7-6FA1-6CF7-84F349B689ED}"/>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43" name="object 19">
                <a:extLst>
                  <a:ext uri="{FF2B5EF4-FFF2-40B4-BE49-F238E27FC236}">
                    <a16:creationId xmlns:a16="http://schemas.microsoft.com/office/drawing/2014/main" id="{7A8D2277-5D30-0F6F-FB4D-559B6AE57CCB}"/>
                  </a:ext>
                </a:extLst>
              </p:cNvPr>
              <p:cNvPicPr/>
              <p:nvPr/>
            </p:nvPicPr>
            <p:blipFill>
              <a:blip r:embed="rId3"/>
              <a:stretch>
                <a:fillRect/>
              </a:stretch>
            </p:blipFill>
            <p:spPr>
              <a:xfrm>
                <a:off x="2262794" y="4209152"/>
                <a:ext cx="432000" cy="432000"/>
              </a:xfrm>
              <a:prstGeom prst="rect">
                <a:avLst/>
              </a:prstGeom>
              <a:noFill/>
            </p:spPr>
          </p:pic>
        </p:grpSp>
        <p:sp>
          <p:nvSpPr>
            <p:cNvPr id="39" name="TextBox 38">
              <a:extLst>
                <a:ext uri="{FF2B5EF4-FFF2-40B4-BE49-F238E27FC236}">
                  <a16:creationId xmlns:a16="http://schemas.microsoft.com/office/drawing/2014/main" id="{DD26E5B1-D383-01C7-AE3D-E357C1102547}"/>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45" name="Group 44">
            <a:extLst>
              <a:ext uri="{FF2B5EF4-FFF2-40B4-BE49-F238E27FC236}">
                <a16:creationId xmlns:a16="http://schemas.microsoft.com/office/drawing/2014/main" id="{151B4B2B-F21E-E8A9-8F35-47A14B9CA3FC}"/>
              </a:ext>
            </a:extLst>
          </p:cNvPr>
          <p:cNvGrpSpPr/>
          <p:nvPr/>
        </p:nvGrpSpPr>
        <p:grpSpPr>
          <a:xfrm>
            <a:off x="1432083" y="4136897"/>
            <a:ext cx="759080" cy="704947"/>
            <a:chOff x="1337077" y="4106377"/>
            <a:chExt cx="759080" cy="704947"/>
          </a:xfrm>
        </p:grpSpPr>
        <p:grpSp>
          <p:nvGrpSpPr>
            <p:cNvPr id="46" name="Group 45">
              <a:extLst>
                <a:ext uri="{FF2B5EF4-FFF2-40B4-BE49-F238E27FC236}">
                  <a16:creationId xmlns:a16="http://schemas.microsoft.com/office/drawing/2014/main" id="{EBAB9569-965E-0812-4BEE-97D058CA10AC}"/>
                </a:ext>
              </a:extLst>
            </p:cNvPr>
            <p:cNvGrpSpPr/>
            <p:nvPr/>
          </p:nvGrpSpPr>
          <p:grpSpPr>
            <a:xfrm>
              <a:off x="1500617" y="4106377"/>
              <a:ext cx="432000" cy="432000"/>
              <a:chOff x="1500617" y="4106377"/>
              <a:chExt cx="432000" cy="432000"/>
            </a:xfrm>
          </p:grpSpPr>
          <p:sp>
            <p:nvSpPr>
              <p:cNvPr id="51" name="Oval 50">
                <a:extLst>
                  <a:ext uri="{FF2B5EF4-FFF2-40B4-BE49-F238E27FC236}">
                    <a16:creationId xmlns:a16="http://schemas.microsoft.com/office/drawing/2014/main" id="{411715C7-8AAB-418B-F8B8-D0692A0DB0C6}"/>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2" name="Graphic 16" descr="User with solid fill">
                <a:extLst>
                  <a:ext uri="{FF2B5EF4-FFF2-40B4-BE49-F238E27FC236}">
                    <a16:creationId xmlns:a16="http://schemas.microsoft.com/office/drawing/2014/main" id="{7C01A91C-0568-CC72-932E-7D8F6C67F242}"/>
                  </a:ext>
                </a:extLst>
              </p:cNvPr>
              <p:cNvGrpSpPr/>
              <p:nvPr/>
            </p:nvGrpSpPr>
            <p:grpSpPr>
              <a:xfrm>
                <a:off x="1572617" y="4178377"/>
                <a:ext cx="288000" cy="288000"/>
                <a:chOff x="3230775" y="4182439"/>
                <a:chExt cx="303371" cy="322332"/>
              </a:xfrm>
              <a:solidFill>
                <a:schemeClr val="accent2"/>
              </a:solidFill>
            </p:grpSpPr>
            <p:sp>
              <p:nvSpPr>
                <p:cNvPr id="53" name="Freeform: Shape 52">
                  <a:extLst>
                    <a:ext uri="{FF2B5EF4-FFF2-40B4-BE49-F238E27FC236}">
                      <a16:creationId xmlns:a16="http://schemas.microsoft.com/office/drawing/2014/main" id="{A9DEE5B7-C1A1-6D45-3095-5A1572AF628F}"/>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DBDFCA9F-E357-E027-0519-30AC19538B39}"/>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47" name="TextBox 46">
              <a:extLst>
                <a:ext uri="{FF2B5EF4-FFF2-40B4-BE49-F238E27FC236}">
                  <a16:creationId xmlns:a16="http://schemas.microsoft.com/office/drawing/2014/main" id="{C5044E5A-74F3-0CCA-5668-F67D40BB0AC3}"/>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56" name="Group 55">
            <a:extLst>
              <a:ext uri="{FF2B5EF4-FFF2-40B4-BE49-F238E27FC236}">
                <a16:creationId xmlns:a16="http://schemas.microsoft.com/office/drawing/2014/main" id="{E8138892-6D11-79E8-690A-27CAE7840661}"/>
              </a:ext>
            </a:extLst>
          </p:cNvPr>
          <p:cNvGrpSpPr/>
          <p:nvPr/>
        </p:nvGrpSpPr>
        <p:grpSpPr>
          <a:xfrm>
            <a:off x="2951288" y="4128578"/>
            <a:ext cx="759080" cy="704947"/>
            <a:chOff x="2856282" y="4098058"/>
            <a:chExt cx="759080" cy="704947"/>
          </a:xfrm>
        </p:grpSpPr>
        <p:grpSp>
          <p:nvGrpSpPr>
            <p:cNvPr id="57" name="Group 56">
              <a:extLst>
                <a:ext uri="{FF2B5EF4-FFF2-40B4-BE49-F238E27FC236}">
                  <a16:creationId xmlns:a16="http://schemas.microsoft.com/office/drawing/2014/main" id="{81CE4ED1-C33F-3A94-B4A1-C7E6EFCC898E}"/>
                </a:ext>
              </a:extLst>
            </p:cNvPr>
            <p:cNvGrpSpPr/>
            <p:nvPr/>
          </p:nvGrpSpPr>
          <p:grpSpPr>
            <a:xfrm>
              <a:off x="3019822" y="4098058"/>
              <a:ext cx="432000" cy="432000"/>
              <a:chOff x="6577112" y="3042950"/>
              <a:chExt cx="432000" cy="432000"/>
            </a:xfrm>
          </p:grpSpPr>
          <p:sp>
            <p:nvSpPr>
              <p:cNvPr id="59" name="Oval 58">
                <a:extLst>
                  <a:ext uri="{FF2B5EF4-FFF2-40B4-BE49-F238E27FC236}">
                    <a16:creationId xmlns:a16="http://schemas.microsoft.com/office/drawing/2014/main" id="{01C27E0B-44A3-122A-8696-301A32EBE431}"/>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60" name="Graphic 16" descr="User with solid fill">
                <a:extLst>
                  <a:ext uri="{FF2B5EF4-FFF2-40B4-BE49-F238E27FC236}">
                    <a16:creationId xmlns:a16="http://schemas.microsoft.com/office/drawing/2014/main" id="{8CB2C0F0-E4C1-4810-F717-77567CCB7848}"/>
                  </a:ext>
                </a:extLst>
              </p:cNvPr>
              <p:cNvGrpSpPr/>
              <p:nvPr/>
            </p:nvGrpSpPr>
            <p:grpSpPr>
              <a:xfrm>
                <a:off x="6649112" y="3114950"/>
                <a:ext cx="288000" cy="288000"/>
                <a:chOff x="3230775" y="4182439"/>
                <a:chExt cx="303371" cy="322332"/>
              </a:xfrm>
              <a:solidFill>
                <a:schemeClr val="accent2"/>
              </a:solidFill>
            </p:grpSpPr>
            <p:sp>
              <p:nvSpPr>
                <p:cNvPr id="61" name="Freeform: Shape 60">
                  <a:extLst>
                    <a:ext uri="{FF2B5EF4-FFF2-40B4-BE49-F238E27FC236}">
                      <a16:creationId xmlns:a16="http://schemas.microsoft.com/office/drawing/2014/main" id="{F8C7932A-EC4C-ACFB-E33E-E985FBF86DC9}"/>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AB2086AD-2DD4-4E8E-A997-73854A5B083B}"/>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58" name="TextBox 57">
              <a:extLst>
                <a:ext uri="{FF2B5EF4-FFF2-40B4-BE49-F238E27FC236}">
                  <a16:creationId xmlns:a16="http://schemas.microsoft.com/office/drawing/2014/main" id="{B1FA33AC-DCE2-89F6-D409-728A9B135565}"/>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63" name="Arc 62">
            <a:extLst>
              <a:ext uri="{FF2B5EF4-FFF2-40B4-BE49-F238E27FC236}">
                <a16:creationId xmlns:a16="http://schemas.microsoft.com/office/drawing/2014/main" id="{7940DF03-E6A0-9036-8017-1DA528622493}"/>
              </a:ext>
            </a:extLst>
          </p:cNvPr>
          <p:cNvSpPr/>
          <p:nvPr/>
        </p:nvSpPr>
        <p:spPr>
          <a:xfrm>
            <a:off x="1219962" y="3146265"/>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4" name="Arc 63">
            <a:extLst>
              <a:ext uri="{FF2B5EF4-FFF2-40B4-BE49-F238E27FC236}">
                <a16:creationId xmlns:a16="http://schemas.microsoft.com/office/drawing/2014/main" id="{7E835DE5-9FB9-D2FA-0F1C-7CCC42A5FB7C}"/>
              </a:ext>
            </a:extLst>
          </p:cNvPr>
          <p:cNvSpPr/>
          <p:nvPr/>
        </p:nvSpPr>
        <p:spPr>
          <a:xfrm>
            <a:off x="804762" y="2656812"/>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5" name="TextBox 64">
            <a:extLst>
              <a:ext uri="{FF2B5EF4-FFF2-40B4-BE49-F238E27FC236}">
                <a16:creationId xmlns:a16="http://schemas.microsoft.com/office/drawing/2014/main" id="{6D1F1231-DDAA-692C-9999-33FC2C354B8D}"/>
              </a:ext>
            </a:extLst>
          </p:cNvPr>
          <p:cNvSpPr txBox="1"/>
          <p:nvPr/>
        </p:nvSpPr>
        <p:spPr>
          <a:xfrm>
            <a:off x="2098249" y="3035755"/>
            <a:ext cx="920621" cy="255834"/>
          </a:xfrm>
          <a:prstGeom prst="rect">
            <a:avLst/>
          </a:prstGeom>
          <a:noFill/>
        </p:spPr>
        <p:txBody>
          <a:bodyPr vert="horz" wrap="square" lIns="0" tIns="0" rIns="0" bIns="0" rtlCol="0">
            <a:noAutofit/>
          </a:bodyPr>
          <a:lstStyle/>
          <a:p>
            <a:pPr algn="ctr"/>
            <a:r>
              <a:rPr lang="en-US" sz="1100" b="1" noProof="0" dirty="0" err="1">
                <a:solidFill>
                  <a:schemeClr val="accent4"/>
                </a:solidFill>
              </a:rPr>
              <a:t>Personalised</a:t>
            </a:r>
            <a:endParaRPr lang="en-US" sz="1100" b="1" noProof="0" dirty="0">
              <a:solidFill>
                <a:schemeClr val="accent4"/>
              </a:solidFill>
            </a:endParaRPr>
          </a:p>
          <a:p>
            <a:pPr algn="ctr"/>
            <a:r>
              <a:rPr lang="en-US" sz="1100" b="1" noProof="0" dirty="0">
                <a:solidFill>
                  <a:schemeClr val="accent4"/>
                </a:solidFill>
              </a:rPr>
              <a:t>Ideas</a:t>
            </a:r>
          </a:p>
        </p:txBody>
      </p:sp>
      <p:grpSp>
        <p:nvGrpSpPr>
          <p:cNvPr id="66" name="Group 65">
            <a:extLst>
              <a:ext uri="{FF2B5EF4-FFF2-40B4-BE49-F238E27FC236}">
                <a16:creationId xmlns:a16="http://schemas.microsoft.com/office/drawing/2014/main" id="{60A739BF-CE8E-EDCD-93F4-234407083599}"/>
              </a:ext>
            </a:extLst>
          </p:cNvPr>
          <p:cNvGrpSpPr/>
          <p:nvPr/>
        </p:nvGrpSpPr>
        <p:grpSpPr>
          <a:xfrm>
            <a:off x="3315783" y="3424203"/>
            <a:ext cx="612000" cy="620206"/>
            <a:chOff x="3220777" y="3393683"/>
            <a:chExt cx="612000" cy="620206"/>
          </a:xfrm>
        </p:grpSpPr>
        <p:grpSp>
          <p:nvGrpSpPr>
            <p:cNvPr id="67" name="Group 66">
              <a:extLst>
                <a:ext uri="{FF2B5EF4-FFF2-40B4-BE49-F238E27FC236}">
                  <a16:creationId xmlns:a16="http://schemas.microsoft.com/office/drawing/2014/main" id="{395AD743-E61F-61C9-72E9-FD729FE95E26}"/>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FA3FF94-7C8E-8DAE-EDE7-A62417C78027}"/>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0" name="Graphic 69" descr="Users with solid fill">
                <a:extLst>
                  <a:ext uri="{FF2B5EF4-FFF2-40B4-BE49-F238E27FC236}">
                    <a16:creationId xmlns:a16="http://schemas.microsoft.com/office/drawing/2014/main" id="{DFEE8DC5-C0AC-88F8-778D-FB404C70F3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92777" y="3393683"/>
                <a:ext cx="468000" cy="468000"/>
              </a:xfrm>
              <a:prstGeom prst="rect">
                <a:avLst/>
              </a:prstGeom>
            </p:spPr>
          </p:pic>
        </p:grpSp>
        <p:sp>
          <p:nvSpPr>
            <p:cNvPr id="68" name="TextBox 67">
              <a:extLst>
                <a:ext uri="{FF2B5EF4-FFF2-40B4-BE49-F238E27FC236}">
                  <a16:creationId xmlns:a16="http://schemas.microsoft.com/office/drawing/2014/main" id="{3B8E15F6-3B75-7A51-FDD3-F19F0C09653A}"/>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1" name="Arc 70">
            <a:extLst>
              <a:ext uri="{FF2B5EF4-FFF2-40B4-BE49-F238E27FC236}">
                <a16:creationId xmlns:a16="http://schemas.microsoft.com/office/drawing/2014/main" id="{18F35427-A5F7-62D2-7D0B-2E562C248641}"/>
              </a:ext>
            </a:extLst>
          </p:cNvPr>
          <p:cNvSpPr/>
          <p:nvPr/>
        </p:nvSpPr>
        <p:spPr>
          <a:xfrm>
            <a:off x="1222814" y="3137950"/>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2" name="Group 71">
            <a:extLst>
              <a:ext uri="{FF2B5EF4-FFF2-40B4-BE49-F238E27FC236}">
                <a16:creationId xmlns:a16="http://schemas.microsoft.com/office/drawing/2014/main" id="{3C6B6D59-8C4E-7770-CFEB-8B36AEC7CDE9}"/>
              </a:ext>
            </a:extLst>
          </p:cNvPr>
          <p:cNvGrpSpPr/>
          <p:nvPr/>
        </p:nvGrpSpPr>
        <p:grpSpPr>
          <a:xfrm>
            <a:off x="2275940" y="5500409"/>
            <a:ext cx="612000" cy="702666"/>
            <a:chOff x="3220777" y="3393683"/>
            <a:chExt cx="612000" cy="702666"/>
          </a:xfrm>
        </p:grpSpPr>
        <p:grpSp>
          <p:nvGrpSpPr>
            <p:cNvPr id="73" name="Group 72">
              <a:extLst>
                <a:ext uri="{FF2B5EF4-FFF2-40B4-BE49-F238E27FC236}">
                  <a16:creationId xmlns:a16="http://schemas.microsoft.com/office/drawing/2014/main" id="{F5383743-2440-4E39-C4B6-83A2CD49B537}"/>
                </a:ext>
              </a:extLst>
            </p:cNvPr>
            <p:cNvGrpSpPr/>
            <p:nvPr/>
          </p:nvGrpSpPr>
          <p:grpSpPr>
            <a:xfrm>
              <a:off x="3220777" y="3393683"/>
              <a:ext cx="612000" cy="620206"/>
              <a:chOff x="3220777" y="3393683"/>
              <a:chExt cx="612000" cy="620206"/>
            </a:xfrm>
          </p:grpSpPr>
          <p:sp>
            <p:nvSpPr>
              <p:cNvPr id="75" name="Oval 74">
                <a:extLst>
                  <a:ext uri="{FF2B5EF4-FFF2-40B4-BE49-F238E27FC236}">
                    <a16:creationId xmlns:a16="http://schemas.microsoft.com/office/drawing/2014/main" id="{E28512A5-8075-505D-1F77-EA40B33CEA6A}"/>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6" name="Graphic 75" descr="Users with solid fill">
                <a:extLst>
                  <a:ext uri="{FF2B5EF4-FFF2-40B4-BE49-F238E27FC236}">
                    <a16:creationId xmlns:a16="http://schemas.microsoft.com/office/drawing/2014/main" id="{5FFDF728-D01A-9A37-EB6A-146FE58BD9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92777" y="3393683"/>
                <a:ext cx="468000" cy="468000"/>
              </a:xfrm>
              <a:prstGeom prst="rect">
                <a:avLst/>
              </a:prstGeom>
            </p:spPr>
          </p:pic>
        </p:grpSp>
        <p:sp>
          <p:nvSpPr>
            <p:cNvPr id="74" name="TextBox 73">
              <a:extLst>
                <a:ext uri="{FF2B5EF4-FFF2-40B4-BE49-F238E27FC236}">
                  <a16:creationId xmlns:a16="http://schemas.microsoft.com/office/drawing/2014/main" id="{16A71876-1A97-6D6F-D2E0-DE1789104319}"/>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77" name="Arc 76">
            <a:extLst>
              <a:ext uri="{FF2B5EF4-FFF2-40B4-BE49-F238E27FC236}">
                <a16:creationId xmlns:a16="http://schemas.microsoft.com/office/drawing/2014/main" id="{C6ED463D-9FB2-A86A-23FC-904EE1EFFFAA}"/>
              </a:ext>
            </a:extLst>
          </p:cNvPr>
          <p:cNvSpPr/>
          <p:nvPr/>
        </p:nvSpPr>
        <p:spPr>
          <a:xfrm>
            <a:off x="1222814" y="3139855"/>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8" name="Group 77">
            <a:extLst>
              <a:ext uri="{FF2B5EF4-FFF2-40B4-BE49-F238E27FC236}">
                <a16:creationId xmlns:a16="http://schemas.microsoft.com/office/drawing/2014/main" id="{CC266B9F-D0FA-1049-B867-629A9151A298}"/>
              </a:ext>
            </a:extLst>
          </p:cNvPr>
          <p:cNvGrpSpPr/>
          <p:nvPr/>
        </p:nvGrpSpPr>
        <p:grpSpPr>
          <a:xfrm>
            <a:off x="1133360" y="3434366"/>
            <a:ext cx="612000" cy="690398"/>
            <a:chOff x="3220777" y="3393683"/>
            <a:chExt cx="612000" cy="690398"/>
          </a:xfrm>
        </p:grpSpPr>
        <p:grpSp>
          <p:nvGrpSpPr>
            <p:cNvPr id="79" name="Group 78">
              <a:extLst>
                <a:ext uri="{FF2B5EF4-FFF2-40B4-BE49-F238E27FC236}">
                  <a16:creationId xmlns:a16="http://schemas.microsoft.com/office/drawing/2014/main" id="{217FC900-49C6-FC45-0B28-A8023A89D231}"/>
                </a:ext>
              </a:extLst>
            </p:cNvPr>
            <p:cNvGrpSpPr/>
            <p:nvPr/>
          </p:nvGrpSpPr>
          <p:grpSpPr>
            <a:xfrm>
              <a:off x="3220777" y="3393683"/>
              <a:ext cx="612000" cy="620206"/>
              <a:chOff x="3220777" y="3393683"/>
              <a:chExt cx="612000" cy="620206"/>
            </a:xfrm>
          </p:grpSpPr>
          <p:sp>
            <p:nvSpPr>
              <p:cNvPr id="81" name="Oval 80">
                <a:extLst>
                  <a:ext uri="{FF2B5EF4-FFF2-40B4-BE49-F238E27FC236}">
                    <a16:creationId xmlns:a16="http://schemas.microsoft.com/office/drawing/2014/main" id="{5A770FD9-FADF-FA4A-21CC-8F12BF934B11}"/>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2" name="Graphic 81" descr="Users with solid fill">
                <a:extLst>
                  <a:ext uri="{FF2B5EF4-FFF2-40B4-BE49-F238E27FC236}">
                    <a16:creationId xmlns:a16="http://schemas.microsoft.com/office/drawing/2014/main" id="{95EAE5AE-FF47-7B08-918F-5E587EF606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80" name="TextBox 79">
              <a:extLst>
                <a:ext uri="{FF2B5EF4-FFF2-40B4-BE49-F238E27FC236}">
                  <a16:creationId xmlns:a16="http://schemas.microsoft.com/office/drawing/2014/main" id="{68783AB0-3B31-898C-9322-1BD7AF31D7EB}"/>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83" name="Arc 82">
            <a:extLst>
              <a:ext uri="{FF2B5EF4-FFF2-40B4-BE49-F238E27FC236}">
                <a16:creationId xmlns:a16="http://schemas.microsoft.com/office/drawing/2014/main" id="{4F5CBEFB-049C-EC7E-B035-FC45C7512D77}"/>
              </a:ext>
            </a:extLst>
          </p:cNvPr>
          <p:cNvSpPr/>
          <p:nvPr/>
        </p:nvSpPr>
        <p:spPr>
          <a:xfrm>
            <a:off x="804762" y="2762138"/>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4" name="Group 83">
            <a:extLst>
              <a:ext uri="{FF2B5EF4-FFF2-40B4-BE49-F238E27FC236}">
                <a16:creationId xmlns:a16="http://schemas.microsoft.com/office/drawing/2014/main" id="{DCDE70EA-F1F6-64E4-ED70-9D4175A85FD0}"/>
              </a:ext>
            </a:extLst>
          </p:cNvPr>
          <p:cNvGrpSpPr/>
          <p:nvPr/>
        </p:nvGrpSpPr>
        <p:grpSpPr>
          <a:xfrm>
            <a:off x="3495099" y="5512550"/>
            <a:ext cx="612000" cy="730651"/>
            <a:chOff x="3220777" y="3383574"/>
            <a:chExt cx="612000" cy="730651"/>
          </a:xfrm>
        </p:grpSpPr>
        <p:grpSp>
          <p:nvGrpSpPr>
            <p:cNvPr id="85" name="Group 84">
              <a:extLst>
                <a:ext uri="{FF2B5EF4-FFF2-40B4-BE49-F238E27FC236}">
                  <a16:creationId xmlns:a16="http://schemas.microsoft.com/office/drawing/2014/main" id="{24083894-D9C8-9637-B280-2D3D105769A0}"/>
                </a:ext>
              </a:extLst>
            </p:cNvPr>
            <p:cNvGrpSpPr/>
            <p:nvPr/>
          </p:nvGrpSpPr>
          <p:grpSpPr>
            <a:xfrm>
              <a:off x="3220777" y="3383574"/>
              <a:ext cx="612000" cy="630315"/>
              <a:chOff x="3220777" y="3383574"/>
              <a:chExt cx="612000" cy="630315"/>
            </a:xfrm>
          </p:grpSpPr>
          <p:sp>
            <p:nvSpPr>
              <p:cNvPr id="87" name="Oval 86">
                <a:extLst>
                  <a:ext uri="{FF2B5EF4-FFF2-40B4-BE49-F238E27FC236}">
                    <a16:creationId xmlns:a16="http://schemas.microsoft.com/office/drawing/2014/main" id="{CA72AEBE-A19F-640C-749A-F3C304FAC8DD}"/>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8" name="Graphic 87" descr="Users with solid fill">
                <a:extLst>
                  <a:ext uri="{FF2B5EF4-FFF2-40B4-BE49-F238E27FC236}">
                    <a16:creationId xmlns:a16="http://schemas.microsoft.com/office/drawing/2014/main" id="{A3D6773E-5A95-E621-5878-EF2AB3615B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72111" y="3383574"/>
                <a:ext cx="504000" cy="504000"/>
              </a:xfrm>
              <a:prstGeom prst="rect">
                <a:avLst/>
              </a:prstGeom>
            </p:spPr>
          </p:pic>
        </p:grpSp>
        <p:sp>
          <p:nvSpPr>
            <p:cNvPr id="86" name="TextBox 85">
              <a:extLst>
                <a:ext uri="{FF2B5EF4-FFF2-40B4-BE49-F238E27FC236}">
                  <a16:creationId xmlns:a16="http://schemas.microsoft.com/office/drawing/2014/main" id="{94600680-F1B5-7DB1-D77B-CCFA40A1E64F}"/>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extLst>
      <p:ext uri="{BB962C8B-B14F-4D97-AF65-F5344CB8AC3E}">
        <p14:creationId xmlns:p14="http://schemas.microsoft.com/office/powerpoint/2010/main" val="181904259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E4C28-7A5A-5991-4D8E-0B86ADE12621}"/>
            </a:ext>
          </a:extLst>
        </p:cNvPr>
        <p:cNvGrpSpPr/>
        <p:nvPr/>
      </p:nvGrpSpPr>
      <p:grpSpPr>
        <a:xfrm>
          <a:off x="0" y="0"/>
          <a:ext cx="0" cy="0"/>
          <a:chOff x="0" y="0"/>
          <a:chExt cx="0" cy="0"/>
        </a:xfrm>
      </p:grpSpPr>
      <p:sp>
        <p:nvSpPr>
          <p:cNvPr id="23" name="Espace réservé du texte 22">
            <a:extLst>
              <a:ext uri="{FF2B5EF4-FFF2-40B4-BE49-F238E27FC236}">
                <a16:creationId xmlns:a16="http://schemas.microsoft.com/office/drawing/2014/main" id="{1926FD5C-FA6B-FAA8-A1DE-2FD6390155E6}"/>
              </a:ext>
            </a:extLst>
          </p:cNvPr>
          <p:cNvSpPr>
            <a:spLocks noGrp="1"/>
          </p:cNvSpPr>
          <p:nvPr>
            <p:ph type="body" sz="quarter" idx="10"/>
          </p:nvPr>
        </p:nvSpPr>
        <p:spPr>
          <a:xfrm>
            <a:off x="665163" y="1891437"/>
            <a:ext cx="8736934" cy="632290"/>
          </a:xfrm>
        </p:spPr>
        <p:txBody>
          <a:bodyPr/>
          <a:lstStyle/>
          <a:p>
            <a:r>
              <a:rPr lang="en-US" sz="1400" b="1" noProof="0" dirty="0">
                <a:solidFill>
                  <a:schemeClr val="accent4"/>
                </a:solidFill>
              </a:rPr>
              <a:t>BNY Mellon Global Short-Dated High Yield Bond Fund is a global High Yield portfolio to capture credit return with low sensitivity to interest rate movements:</a:t>
            </a:r>
          </a:p>
          <a:p>
            <a:endParaRPr lang="en-US" sz="1400" noProof="0" dirty="0">
              <a:solidFill>
                <a:schemeClr val="accent4"/>
              </a:solidFill>
            </a:endParaRPr>
          </a:p>
        </p:txBody>
      </p:sp>
      <p:sp>
        <p:nvSpPr>
          <p:cNvPr id="3" name="Espace réservé du contenu 2">
            <a:extLst>
              <a:ext uri="{FF2B5EF4-FFF2-40B4-BE49-F238E27FC236}">
                <a16:creationId xmlns:a16="http://schemas.microsoft.com/office/drawing/2014/main" id="{3331D8F3-3D6C-A804-5FBD-B63566C935AD}"/>
              </a:ext>
            </a:extLst>
          </p:cNvPr>
          <p:cNvSpPr>
            <a:spLocks noGrp="1"/>
          </p:cNvSpPr>
          <p:nvPr>
            <p:ph idx="1"/>
          </p:nvPr>
        </p:nvSpPr>
        <p:spPr>
          <a:xfrm>
            <a:off x="582036" y="1998886"/>
            <a:ext cx="5580422" cy="1412413"/>
          </a:xfrm>
        </p:spPr>
        <p:txBody>
          <a:bodyPr/>
          <a:lstStyle/>
          <a:p>
            <a:pPr marL="0" indent="0" algn="ctr">
              <a:spcBef>
                <a:spcPts val="300"/>
              </a:spcBef>
              <a:buNone/>
            </a:pPr>
            <a:endParaRPr lang="en-US" sz="1000" b="1" noProof="0" dirty="0"/>
          </a:p>
          <a:p>
            <a:pPr>
              <a:spcBef>
                <a:spcPts val="300"/>
              </a:spcBef>
            </a:pPr>
            <a:endParaRPr lang="en-US" sz="1000" noProof="0" dirty="0"/>
          </a:p>
          <a:p>
            <a:pPr>
              <a:spcBef>
                <a:spcPts val="300"/>
              </a:spcBef>
            </a:pPr>
            <a:r>
              <a:rPr lang="en-US" sz="1000" b="1" noProof="0" dirty="0"/>
              <a:t>Current yield of 7.4% </a:t>
            </a:r>
            <a:r>
              <a:rPr lang="en-US" sz="1000" noProof="0" dirty="0"/>
              <a:t>in USD (i.e. 60 bp per month of carry return)</a:t>
            </a:r>
            <a:r>
              <a:rPr lang="en-US" sz="1000" noProof="0" dirty="0">
                <a:solidFill>
                  <a:schemeClr val="accent4"/>
                </a:solidFill>
              </a:rPr>
              <a:t> </a:t>
            </a:r>
            <a:endParaRPr lang="en-US" sz="1000" noProof="0" dirty="0"/>
          </a:p>
          <a:p>
            <a:pPr>
              <a:spcBef>
                <a:spcPts val="300"/>
              </a:spcBef>
            </a:pPr>
            <a:r>
              <a:rPr lang="en-US" sz="1000" b="1" noProof="0" dirty="0" err="1"/>
              <a:t>AuM</a:t>
            </a:r>
            <a:r>
              <a:rPr lang="en-US" sz="1000" b="1" noProof="0" dirty="0"/>
              <a:t> of USD 1.54 bn </a:t>
            </a:r>
            <a:r>
              <a:rPr lang="en-US" sz="1000" noProof="0" dirty="0"/>
              <a:t>(have doubled since the inclusion on our Fund Recommended List in February 2024)</a:t>
            </a:r>
          </a:p>
          <a:p>
            <a:pPr>
              <a:spcBef>
                <a:spcPts val="300"/>
              </a:spcBef>
            </a:pPr>
            <a:r>
              <a:rPr lang="en-US" sz="1000" noProof="0" dirty="0"/>
              <a:t>The fund has generated a </a:t>
            </a:r>
            <a:r>
              <a:rPr lang="en-US" sz="1000" b="1" noProof="0" dirty="0"/>
              <a:t>total return of +2.8% YTD </a:t>
            </a:r>
            <a:r>
              <a:rPr lang="en-US" sz="1000" noProof="0" dirty="0"/>
              <a:t>this year and </a:t>
            </a:r>
            <a:r>
              <a:rPr lang="en-US" sz="1000" b="1" noProof="0" dirty="0"/>
              <a:t>posted a positive performance in Apr</a:t>
            </a:r>
            <a:r>
              <a:rPr lang="en-US" sz="1000" noProof="0" dirty="0"/>
              <a:t>il despite the market turmoil. Total return was +8.3% in 2024 and +13.2% in 2023.</a:t>
            </a:r>
          </a:p>
          <a:p>
            <a:pPr>
              <a:spcBef>
                <a:spcPts val="300"/>
              </a:spcBef>
            </a:pPr>
            <a:r>
              <a:rPr lang="en-US" sz="1000" noProof="0" dirty="0"/>
              <a:t>It invests in </a:t>
            </a:r>
            <a:r>
              <a:rPr lang="en-US" sz="1000" b="1" noProof="0" dirty="0"/>
              <a:t>short maturity bonds </a:t>
            </a:r>
            <a:r>
              <a:rPr lang="en-US" sz="1000" noProof="0" dirty="0"/>
              <a:t>(portfolio duration 2.3 years) --&gt; </a:t>
            </a:r>
            <a:r>
              <a:rPr lang="en-US" sz="1000" b="1" noProof="0" dirty="0"/>
              <a:t>low sensitivity to interest rate movements and lower probability of default </a:t>
            </a:r>
            <a:r>
              <a:rPr lang="en-US" sz="1000" noProof="0" dirty="0"/>
              <a:t>(strong visibility on cash flows in the near future)</a:t>
            </a:r>
          </a:p>
          <a:p>
            <a:pPr>
              <a:spcBef>
                <a:spcPts val="300"/>
              </a:spcBef>
            </a:pPr>
            <a:r>
              <a:rPr lang="en-US" sz="1000" noProof="0" dirty="0"/>
              <a:t>It is actively managed with a meticulous bottom-up approach. The </a:t>
            </a:r>
            <a:r>
              <a:rPr lang="en-US" sz="1000" b="1" noProof="0" dirty="0"/>
              <a:t>3 fund managers </a:t>
            </a:r>
            <a:r>
              <a:rPr lang="en-US" sz="1000" noProof="0" dirty="0"/>
              <a:t>are supported by a team of </a:t>
            </a:r>
            <a:r>
              <a:rPr lang="en-US" sz="1000" b="1" noProof="0" dirty="0"/>
              <a:t>21 credit analysts</a:t>
            </a:r>
          </a:p>
          <a:p>
            <a:pPr>
              <a:spcBef>
                <a:spcPts val="300"/>
              </a:spcBef>
            </a:pPr>
            <a:r>
              <a:rPr lang="en-US" sz="1000" noProof="0" dirty="0"/>
              <a:t>It focuses on </a:t>
            </a:r>
            <a:r>
              <a:rPr lang="en-US" sz="1000" b="1" noProof="0" dirty="0"/>
              <a:t>strong quality issuers </a:t>
            </a:r>
            <a:r>
              <a:rPr lang="en-US" sz="1000" noProof="0" dirty="0"/>
              <a:t>in the high yield space, maintaining an </a:t>
            </a:r>
            <a:r>
              <a:rPr lang="en-US" sz="1000" b="1" noProof="0" dirty="0"/>
              <a:t>average rating of BB- </a:t>
            </a:r>
          </a:p>
          <a:p>
            <a:pPr>
              <a:spcBef>
                <a:spcPts val="300"/>
              </a:spcBef>
            </a:pPr>
            <a:r>
              <a:rPr lang="en-US" sz="1000" noProof="0" dirty="0"/>
              <a:t>It </a:t>
            </a:r>
            <a:r>
              <a:rPr lang="en-US" sz="1000" b="1" noProof="0" dirty="0"/>
              <a:t>avoids low quality credit </a:t>
            </a:r>
            <a:r>
              <a:rPr lang="en-US" sz="1000" noProof="0" dirty="0"/>
              <a:t>(CCC ratings), unlike passive solutions that invest in all types of issuers</a:t>
            </a:r>
          </a:p>
          <a:p>
            <a:pPr>
              <a:spcBef>
                <a:spcPts val="300"/>
              </a:spcBef>
            </a:pPr>
            <a:endParaRPr lang="en-US" sz="1000" noProof="0" dirty="0"/>
          </a:p>
          <a:p>
            <a:pPr marL="0" indent="0">
              <a:spcBef>
                <a:spcPts val="300"/>
              </a:spcBef>
              <a:buNone/>
            </a:pPr>
            <a:endParaRPr lang="en-US" sz="2300" b="1" noProof="0" dirty="0">
              <a:gradFill flip="none" rotWithShape="1">
                <a:gsLst>
                  <a:gs pos="0">
                    <a:schemeClr val="accent4"/>
                  </a:gs>
                  <a:gs pos="100000">
                    <a:srgbClr val="FFA400"/>
                  </a:gs>
                </a:gsLst>
                <a:lin ang="0" scaled="1"/>
                <a:tileRect/>
              </a:gradFill>
              <a:latin typeface="+mj-lt"/>
              <a:ea typeface="+mj-ea"/>
              <a:cs typeface="+mj-cs"/>
            </a:endParaRPr>
          </a:p>
          <a:p>
            <a:pPr marL="0" indent="0" algn="ctr">
              <a:buNone/>
            </a:pPr>
            <a:endParaRPr lang="en-US" noProof="0" dirty="0">
              <a:ln w="0"/>
              <a:solidFill>
                <a:schemeClr val="accent1"/>
              </a:solidFill>
              <a:effectLst>
                <a:outerShdw blurRad="38100" dist="25400" dir="5400000" algn="ctr" rotWithShape="0">
                  <a:srgbClr val="6E747A">
                    <a:alpha val="43000"/>
                  </a:srgbClr>
                </a:outerShdw>
              </a:effectLst>
              <a:latin typeface="Nunito Sans ExtraBold" panose="00000900000000000000" pitchFamily="2" charset="0"/>
            </a:endParaRPr>
          </a:p>
          <a:p>
            <a:pPr>
              <a:spcBef>
                <a:spcPts val="300"/>
              </a:spcBef>
            </a:pPr>
            <a:endParaRPr lang="en-US" sz="900" noProof="0" dirty="0"/>
          </a:p>
        </p:txBody>
      </p:sp>
      <p:sp>
        <p:nvSpPr>
          <p:cNvPr id="2" name="Titre 1">
            <a:extLst>
              <a:ext uri="{FF2B5EF4-FFF2-40B4-BE49-F238E27FC236}">
                <a16:creationId xmlns:a16="http://schemas.microsoft.com/office/drawing/2014/main" id="{8BB07752-50B0-8C44-F8AC-CAB57D0872B4}"/>
              </a:ext>
            </a:extLst>
          </p:cNvPr>
          <p:cNvSpPr>
            <a:spLocks noGrp="1"/>
          </p:cNvSpPr>
          <p:nvPr>
            <p:ph type="title"/>
          </p:nvPr>
        </p:nvSpPr>
        <p:spPr/>
        <p:txBody>
          <a:bodyPr/>
          <a:lstStyle/>
          <a:p>
            <a:r>
              <a:rPr lang="en-US" sz="2400" b="1" noProof="0" dirty="0">
                <a:solidFill>
                  <a:srgbClr val="FF8300"/>
                </a:solidFill>
              </a:rPr>
              <a:t>Fixed Income </a:t>
            </a:r>
            <a:r>
              <a:rPr lang="en-US" noProof="0" dirty="0">
                <a:solidFill>
                  <a:srgbClr val="FF8300"/>
                </a:solidFill>
              </a:rPr>
              <a:t>– BNY Mellon Global Short Dated High Yield Fund</a:t>
            </a:r>
            <a:br>
              <a:rPr lang="en-US" sz="1800" noProof="0" dirty="0">
                <a:effectLst/>
                <a:latin typeface="Aptos" panose="020B0004020202020204" pitchFamily="34" charset="0"/>
                <a:ea typeface="DengXian" panose="02010600030101010101" pitchFamily="2" charset="-122"/>
                <a:cs typeface="Times New Roman" panose="02020603050405020304" pitchFamily="18" charset="0"/>
              </a:rPr>
            </a:br>
            <a:endParaRPr lang="en-US" noProof="0" dirty="0">
              <a:solidFill>
                <a:srgbClr val="FF8300"/>
              </a:solidFill>
            </a:endParaRPr>
          </a:p>
        </p:txBody>
      </p:sp>
      <p:sp>
        <p:nvSpPr>
          <p:cNvPr id="24" name="Rectangle 23">
            <a:extLst>
              <a:ext uri="{FF2B5EF4-FFF2-40B4-BE49-F238E27FC236}">
                <a16:creationId xmlns:a16="http://schemas.microsoft.com/office/drawing/2014/main" id="{C953AC3B-6726-4214-2596-83D112122B9B}"/>
              </a:ext>
            </a:extLst>
          </p:cNvPr>
          <p:cNvSpPr/>
          <p:nvPr/>
        </p:nvSpPr>
        <p:spPr>
          <a:xfrm>
            <a:off x="1037227" y="500032"/>
            <a:ext cx="1357129" cy="369332"/>
          </a:xfrm>
          <a:prstGeom prst="rect">
            <a:avLst/>
          </a:prstGeom>
        </p:spPr>
        <p:txBody>
          <a:bodyPr wrap="square">
            <a:spAutoFit/>
          </a:bodyPr>
          <a:lstStyle/>
          <a:p>
            <a:r>
              <a:rPr lang="en-US" sz="900" b="1" noProof="0" dirty="0">
                <a:solidFill>
                  <a:schemeClr val="accent2"/>
                </a:solidFill>
              </a:rPr>
              <a:t>FUND</a:t>
            </a:r>
          </a:p>
          <a:p>
            <a:r>
              <a:rPr lang="en-US" sz="900" b="1" noProof="0" dirty="0">
                <a:solidFill>
                  <a:schemeClr val="accent2"/>
                </a:solidFill>
              </a:rPr>
              <a:t>RECOMMENDATION </a:t>
            </a:r>
          </a:p>
        </p:txBody>
      </p:sp>
      <p:sp>
        <p:nvSpPr>
          <p:cNvPr id="27" name="Rounded Rectangle 26">
            <a:extLst>
              <a:ext uri="{FF2B5EF4-FFF2-40B4-BE49-F238E27FC236}">
                <a16:creationId xmlns:a16="http://schemas.microsoft.com/office/drawing/2014/main" id="{6830209C-EBA7-0802-7C3A-1E8942964CFD}"/>
              </a:ext>
            </a:extLst>
          </p:cNvPr>
          <p:cNvSpPr/>
          <p:nvPr/>
        </p:nvSpPr>
        <p:spPr>
          <a:xfrm>
            <a:off x="665163" y="617143"/>
            <a:ext cx="372064"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ounded Rectangle 27">
            <a:extLst>
              <a:ext uri="{FF2B5EF4-FFF2-40B4-BE49-F238E27FC236}">
                <a16:creationId xmlns:a16="http://schemas.microsoft.com/office/drawing/2014/main" id="{5781A0C9-0195-7B8F-36D4-46CF8A657AD3}"/>
              </a:ext>
            </a:extLst>
          </p:cNvPr>
          <p:cNvSpPr/>
          <p:nvPr/>
        </p:nvSpPr>
        <p:spPr>
          <a:xfrm rot="2494024">
            <a:off x="835441" y="574104"/>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Rounded Rectangle 32">
            <a:extLst>
              <a:ext uri="{FF2B5EF4-FFF2-40B4-BE49-F238E27FC236}">
                <a16:creationId xmlns:a16="http://schemas.microsoft.com/office/drawing/2014/main" id="{62DB1004-1FCE-287D-F37C-CFF8050B7D81}"/>
              </a:ext>
            </a:extLst>
          </p:cNvPr>
          <p:cNvSpPr/>
          <p:nvPr/>
        </p:nvSpPr>
        <p:spPr>
          <a:xfrm rot="19105976" flipH="1">
            <a:off x="835441" y="657629"/>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7" name="Straight Connector 36">
            <a:extLst>
              <a:ext uri="{FF2B5EF4-FFF2-40B4-BE49-F238E27FC236}">
                <a16:creationId xmlns:a16="http://schemas.microsoft.com/office/drawing/2014/main" id="{9D2CB077-64B7-A1CF-10A4-47DFAC3C9F61}"/>
              </a:ext>
            </a:extLst>
          </p:cNvPr>
          <p:cNvCxnSpPr/>
          <p:nvPr/>
        </p:nvCxnSpPr>
        <p:spPr>
          <a:xfrm>
            <a:off x="2367880" y="521861"/>
            <a:ext cx="0" cy="286003"/>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E604B27-142F-47B5-714C-18500810039D}"/>
              </a:ext>
            </a:extLst>
          </p:cNvPr>
          <p:cNvSpPr/>
          <p:nvPr/>
        </p:nvSpPr>
        <p:spPr>
          <a:xfrm>
            <a:off x="6627379" y="2813826"/>
            <a:ext cx="3482398" cy="1077218"/>
          </a:xfrm>
          <a:prstGeom prst="rect">
            <a:avLst/>
          </a:prstGeom>
        </p:spPr>
        <p:txBody>
          <a:bodyPr wrap="square">
            <a:spAutoFit/>
          </a:bodyPr>
          <a:lstStyle/>
          <a:p>
            <a:r>
              <a:rPr lang="en-US" sz="1100" noProof="0" dirty="0">
                <a:solidFill>
                  <a:srgbClr val="3AB7C8"/>
                </a:solidFill>
                <a:latin typeface="Nunito Sans" pitchFamily="2" charset="77"/>
              </a:rPr>
              <a:t>The fund is available in </a:t>
            </a:r>
            <a:r>
              <a:rPr lang="en-US" sz="1100" b="1" noProof="0" dirty="0">
                <a:solidFill>
                  <a:srgbClr val="3AB7C8"/>
                </a:solidFill>
                <a:latin typeface="Nunito Sans" pitchFamily="2" charset="77"/>
              </a:rPr>
              <a:t>USD</a:t>
            </a:r>
            <a:r>
              <a:rPr lang="en-US" sz="1100" noProof="0" dirty="0">
                <a:solidFill>
                  <a:srgbClr val="3AB7C8"/>
                </a:solidFill>
                <a:latin typeface="Nunito Sans" pitchFamily="2" charset="77"/>
              </a:rPr>
              <a:t>, as well as in </a:t>
            </a:r>
            <a:r>
              <a:rPr lang="en-US" sz="1100" b="1" noProof="0" dirty="0">
                <a:solidFill>
                  <a:srgbClr val="3AB7C8"/>
                </a:solidFill>
                <a:latin typeface="Nunito Sans" pitchFamily="2" charset="77"/>
              </a:rPr>
              <a:t>EUR </a:t>
            </a:r>
            <a:r>
              <a:rPr lang="en-US" sz="1100" noProof="0" dirty="0">
                <a:solidFill>
                  <a:srgbClr val="3AB7C8"/>
                </a:solidFill>
                <a:latin typeface="Nunito Sans" pitchFamily="2" charset="77"/>
              </a:rPr>
              <a:t>and </a:t>
            </a:r>
            <a:r>
              <a:rPr lang="en-US" sz="1100" b="1" noProof="0" dirty="0">
                <a:solidFill>
                  <a:srgbClr val="3AB7C8"/>
                </a:solidFill>
                <a:latin typeface="Nunito Sans" pitchFamily="2" charset="77"/>
              </a:rPr>
              <a:t>CHF (with full FX hedging).</a:t>
            </a:r>
          </a:p>
          <a:p>
            <a:r>
              <a:rPr lang="en-US" sz="1100" noProof="0" dirty="0">
                <a:solidFill>
                  <a:srgbClr val="3AB7C8"/>
                </a:solidFill>
                <a:latin typeface="Nunito Sans" pitchFamily="2" charset="77"/>
              </a:rPr>
              <a:t>Possibility to opt for a </a:t>
            </a:r>
            <a:r>
              <a:rPr lang="en-US" sz="1100" b="1" noProof="0" dirty="0">
                <a:solidFill>
                  <a:srgbClr val="3AB7C8"/>
                </a:solidFill>
                <a:latin typeface="Nunito Sans" pitchFamily="2" charset="77"/>
              </a:rPr>
              <a:t>distributive share class </a:t>
            </a:r>
            <a:r>
              <a:rPr lang="en-US" sz="1100" noProof="0" dirty="0">
                <a:solidFill>
                  <a:srgbClr val="3AB7C8"/>
                </a:solidFill>
                <a:latin typeface="Nunito Sans" pitchFamily="2" charset="77"/>
              </a:rPr>
              <a:t>with quarterly distribution </a:t>
            </a:r>
          </a:p>
          <a:p>
            <a:endParaRPr lang="en-US" sz="1000" b="1" noProof="0" dirty="0">
              <a:solidFill>
                <a:srgbClr val="3AB7C8"/>
              </a:solidFill>
              <a:latin typeface="Nunito Sans" pitchFamily="2" charset="77"/>
            </a:endParaRPr>
          </a:p>
          <a:p>
            <a:endParaRPr lang="en-US" sz="1000" b="1" noProof="0" dirty="0">
              <a:solidFill>
                <a:srgbClr val="3AB7C8"/>
              </a:solidFill>
              <a:latin typeface="Nunito Sans" pitchFamily="2" charset="77"/>
            </a:endParaRPr>
          </a:p>
        </p:txBody>
      </p:sp>
      <p:sp>
        <p:nvSpPr>
          <p:cNvPr id="8" name="Rectangle 7">
            <a:extLst>
              <a:ext uri="{FF2B5EF4-FFF2-40B4-BE49-F238E27FC236}">
                <a16:creationId xmlns:a16="http://schemas.microsoft.com/office/drawing/2014/main" id="{3665EC4F-F513-3D36-A00B-2FADA82DFF28}"/>
              </a:ext>
            </a:extLst>
          </p:cNvPr>
          <p:cNvSpPr/>
          <p:nvPr/>
        </p:nvSpPr>
        <p:spPr>
          <a:xfrm>
            <a:off x="6627379" y="3660608"/>
            <a:ext cx="4296304" cy="1323439"/>
          </a:xfrm>
          <a:prstGeom prst="rect">
            <a:avLst/>
          </a:prstGeom>
        </p:spPr>
        <p:txBody>
          <a:bodyPr wrap="square">
            <a:spAutoFit/>
          </a:bodyPr>
          <a:lstStyle/>
          <a:p>
            <a:pPr algn="just">
              <a:tabLst>
                <a:tab pos="1641475" algn="l"/>
              </a:tabLst>
            </a:pPr>
            <a:r>
              <a:rPr lang="en-US" sz="1000" b="1" noProof="0" dirty="0">
                <a:solidFill>
                  <a:schemeClr val="tx2"/>
                </a:solidFill>
                <a:latin typeface="Nunito Sans" panose="00000500000000000000" pitchFamily="2" charset="0"/>
              </a:rPr>
              <a:t>IE00BD5CTV53	USD </a:t>
            </a:r>
          </a:p>
          <a:p>
            <a:pPr algn="just">
              <a:tabLst>
                <a:tab pos="1641475" algn="l"/>
              </a:tabLst>
            </a:pPr>
            <a:r>
              <a:rPr lang="en-US" sz="1000" b="1" noProof="0" dirty="0">
                <a:solidFill>
                  <a:schemeClr val="tx2"/>
                </a:solidFill>
                <a:effectLst/>
                <a:ea typeface="DengXian" panose="02010600030101010101" pitchFamily="2" charset="-122"/>
              </a:rPr>
              <a:t>IE00BD5CTW60	USD Income</a:t>
            </a:r>
          </a:p>
          <a:p>
            <a:pPr algn="just">
              <a:tabLst>
                <a:tab pos="1641475" algn="l"/>
              </a:tabLst>
            </a:pPr>
            <a:endParaRPr lang="en-US" sz="1000" b="1" noProof="0" dirty="0">
              <a:solidFill>
                <a:schemeClr val="tx2"/>
              </a:solidFill>
              <a:effectLst/>
              <a:ea typeface="DengXian" panose="02010600030101010101" pitchFamily="2" charset="-122"/>
            </a:endParaRPr>
          </a:p>
          <a:p>
            <a:pPr algn="just">
              <a:tabLst>
                <a:tab pos="1641475" algn="l"/>
              </a:tabLst>
            </a:pPr>
            <a:r>
              <a:rPr lang="en-US" sz="1000" b="1" noProof="0" dirty="0">
                <a:solidFill>
                  <a:schemeClr val="tx2"/>
                </a:solidFill>
              </a:rPr>
              <a:t>IE00BD5CTX77	EUR Acc. (hedged)</a:t>
            </a:r>
          </a:p>
          <a:p>
            <a:pPr algn="just">
              <a:tabLst>
                <a:tab pos="1641475" algn="l"/>
              </a:tabLst>
            </a:pPr>
            <a:r>
              <a:rPr lang="en-US" sz="1000" b="1" noProof="0" dirty="0">
                <a:solidFill>
                  <a:schemeClr val="tx2"/>
                </a:solidFill>
              </a:rPr>
              <a:t>IE00BD5CTY84	EUR Income (hedged)</a:t>
            </a:r>
          </a:p>
          <a:p>
            <a:pPr algn="just">
              <a:tabLst>
                <a:tab pos="1641475" algn="l"/>
              </a:tabLst>
            </a:pPr>
            <a:endParaRPr lang="en-US" sz="1000" b="1" noProof="0" dirty="0">
              <a:solidFill>
                <a:schemeClr val="tx2"/>
              </a:solidFill>
            </a:endParaRPr>
          </a:p>
          <a:p>
            <a:pPr algn="just">
              <a:tabLst>
                <a:tab pos="1641475" algn="l"/>
              </a:tabLst>
            </a:pPr>
            <a:r>
              <a:rPr lang="en-US" sz="1000" b="1" noProof="0" dirty="0">
                <a:solidFill>
                  <a:schemeClr val="tx2"/>
                </a:solidFill>
              </a:rPr>
              <a:t>IE00BD5CV195	CHF  Acc. (hedged)</a:t>
            </a:r>
          </a:p>
          <a:p>
            <a:pPr algn="just">
              <a:tabLst>
                <a:tab pos="1641475" algn="l"/>
              </a:tabLst>
            </a:pPr>
            <a:endParaRPr lang="en-US" sz="1000" b="1" noProof="0" dirty="0">
              <a:solidFill>
                <a:srgbClr val="4B5F80"/>
              </a:solidFill>
            </a:endParaRPr>
          </a:p>
        </p:txBody>
      </p:sp>
      <p:cxnSp>
        <p:nvCxnSpPr>
          <p:cNvPr id="9" name="Straight Connector 8">
            <a:extLst>
              <a:ext uri="{FF2B5EF4-FFF2-40B4-BE49-F238E27FC236}">
                <a16:creationId xmlns:a16="http://schemas.microsoft.com/office/drawing/2014/main" id="{14664293-ACCD-55AC-F64F-D69589D375F7}"/>
              </a:ext>
            </a:extLst>
          </p:cNvPr>
          <p:cNvCxnSpPr>
            <a:cxnSpLocks/>
          </p:cNvCxnSpPr>
          <p:nvPr/>
        </p:nvCxnSpPr>
        <p:spPr>
          <a:xfrm>
            <a:off x="6724449" y="4933011"/>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9477BC8-80AF-F2CC-F5FC-B2D93DE5735C}"/>
              </a:ext>
            </a:extLst>
          </p:cNvPr>
          <p:cNvCxnSpPr>
            <a:cxnSpLocks/>
          </p:cNvCxnSpPr>
          <p:nvPr/>
        </p:nvCxnSpPr>
        <p:spPr>
          <a:xfrm>
            <a:off x="6706678" y="3580904"/>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 name="Chart 3">
            <a:extLst>
              <a:ext uri="{FF2B5EF4-FFF2-40B4-BE49-F238E27FC236}">
                <a16:creationId xmlns:a16="http://schemas.microsoft.com/office/drawing/2014/main" id="{5F05562A-9719-18A0-D10A-EF087164B7A5}"/>
              </a:ext>
            </a:extLst>
          </p:cNvPr>
          <p:cNvGraphicFramePr>
            <a:graphicFrameLocks/>
          </p:cNvGraphicFramePr>
          <p:nvPr>
            <p:extLst>
              <p:ext uri="{D42A27DB-BD31-4B8C-83A1-F6EECF244321}">
                <p14:modId xmlns:p14="http://schemas.microsoft.com/office/powerpoint/2010/main" val="30921175"/>
              </p:ext>
            </p:extLst>
          </p:nvPr>
        </p:nvGraphicFramePr>
        <p:xfrm>
          <a:off x="851195" y="4765967"/>
          <a:ext cx="5182460" cy="21831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224326EF-7E42-7F48-163C-2C1114B40BB1}"/>
              </a:ext>
            </a:extLst>
          </p:cNvPr>
          <p:cNvGraphicFramePr/>
          <p:nvPr>
            <p:extLst>
              <p:ext uri="{D42A27DB-BD31-4B8C-83A1-F6EECF244321}">
                <p14:modId xmlns:p14="http://schemas.microsoft.com/office/powerpoint/2010/main" val="2708688934"/>
              </p:ext>
            </p:extLst>
          </p:nvPr>
        </p:nvGraphicFramePr>
        <p:xfrm>
          <a:off x="722463" y="4854455"/>
          <a:ext cx="5497295" cy="257274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46598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43A29-1E3C-4F06-1415-CE248C3926E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399AD98-B8A0-64F8-4B8A-A9C482EC5917}"/>
              </a:ext>
            </a:extLst>
          </p:cNvPr>
          <p:cNvSpPr>
            <a:spLocks noGrp="1"/>
          </p:cNvSpPr>
          <p:nvPr>
            <p:ph idx="1"/>
          </p:nvPr>
        </p:nvSpPr>
        <p:spPr>
          <a:xfrm>
            <a:off x="665163" y="1948505"/>
            <a:ext cx="5580422" cy="2783750"/>
          </a:xfrm>
        </p:spPr>
        <p:txBody>
          <a:bodyPr/>
          <a:lstStyle/>
          <a:p>
            <a:pPr marL="0" indent="0">
              <a:spcBef>
                <a:spcPts val="300"/>
              </a:spcBef>
              <a:buNone/>
            </a:pPr>
            <a:endParaRPr lang="en-US" sz="1050" b="1" noProof="0" dirty="0"/>
          </a:p>
          <a:p>
            <a:pPr>
              <a:spcBef>
                <a:spcPts val="300"/>
              </a:spcBef>
            </a:pPr>
            <a:r>
              <a:rPr lang="en-US" sz="1050" noProof="0" dirty="0"/>
              <a:t>For clients invested in Swiss equities, or for conservative investors who usually rely on income but are now looking for alternatives as rates are back at zero, this strategy offers an attractive solution.</a:t>
            </a:r>
          </a:p>
          <a:p>
            <a:pPr>
              <a:spcBef>
                <a:spcPts val="300"/>
              </a:spcBef>
            </a:pPr>
            <a:r>
              <a:rPr lang="en-US" sz="1050" noProof="0" dirty="0"/>
              <a:t>The strategy works best in uncertain or volatile markets that trade sideways or move only slightly up or down. </a:t>
            </a:r>
          </a:p>
          <a:p>
            <a:pPr>
              <a:spcBef>
                <a:spcPts val="300"/>
              </a:spcBef>
            </a:pPr>
            <a:r>
              <a:rPr lang="en-US" sz="1050" noProof="0" dirty="0"/>
              <a:t>In addition to dividend income, the fund also distributes capital generated from writing call options. The goal of the fund is to benefit from market volatility and collect call  premiums, creating an above-average income stream, even though this can also cap the upside potential.</a:t>
            </a:r>
          </a:p>
          <a:p>
            <a:pPr>
              <a:spcBef>
                <a:spcPts val="300"/>
              </a:spcBef>
            </a:pPr>
            <a:r>
              <a:rPr lang="en-US" sz="1050" noProof="0" dirty="0"/>
              <a:t>The fund is particularly attractive for Swiss tax residents, as income from capital gains is tax-free; the dividends, however, are subject to withholding tax.</a:t>
            </a:r>
          </a:p>
          <a:p>
            <a:pPr>
              <a:spcBef>
                <a:spcPts val="300"/>
              </a:spcBef>
            </a:pPr>
            <a:r>
              <a:rPr lang="en-US" sz="1050" noProof="0" dirty="0"/>
              <a:t>As of end-July, the indicative equity yield stood at 8.42%, with expected distributions of 3.37% from dividends and 5.05% from the call overlay (both as % of NAV).</a:t>
            </a:r>
          </a:p>
          <a:p>
            <a:pPr>
              <a:spcBef>
                <a:spcPts val="300"/>
              </a:spcBef>
            </a:pPr>
            <a:r>
              <a:rPr lang="en-US" sz="1050" noProof="0" dirty="0"/>
              <a:t>For information, the fund handles option writing and stock selection, a difficult task for individual investors to execute efficiently. </a:t>
            </a:r>
          </a:p>
        </p:txBody>
      </p:sp>
      <p:sp>
        <p:nvSpPr>
          <p:cNvPr id="35" name="Espace réservé du contenu 2">
            <a:extLst>
              <a:ext uri="{FF2B5EF4-FFF2-40B4-BE49-F238E27FC236}">
                <a16:creationId xmlns:a16="http://schemas.microsoft.com/office/drawing/2014/main" id="{9E221DD4-A735-67C8-4C51-210C0A406595}"/>
              </a:ext>
            </a:extLst>
          </p:cNvPr>
          <p:cNvSpPr txBox="1">
            <a:spLocks/>
          </p:cNvSpPr>
          <p:nvPr/>
        </p:nvSpPr>
        <p:spPr>
          <a:xfrm>
            <a:off x="2469456" y="610563"/>
            <a:ext cx="1406710" cy="130980"/>
          </a:xfrm>
          <a:prstGeom prst="rect">
            <a:avLst/>
          </a:prstGeom>
          <a:noFill/>
        </p:spPr>
        <p:txBody>
          <a:bodyPr vert="horz" lIns="0" tIns="0" rIns="0" bIns="0" rtlCol="0">
            <a:noAutofit/>
          </a:bodyPr>
          <a:lstStyle>
            <a:lvl1pPr marL="273600" indent="-27360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Char char=""/>
              <a:defRPr sz="1400" b="0" kern="1200" cap="none" baseline="0">
                <a:solidFill>
                  <a:schemeClr val="tx1"/>
                </a:solidFill>
                <a:latin typeface="+mn-lt"/>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0" indent="0">
              <a:spcBef>
                <a:spcPts val="0"/>
              </a:spcBef>
              <a:buNone/>
              <a:tabLst>
                <a:tab pos="542925" algn="l"/>
              </a:tabLst>
            </a:pPr>
            <a:r>
              <a:rPr lang="en-US" sz="1050" noProof="0" dirty="0">
                <a:solidFill>
                  <a:schemeClr val="accent1"/>
                </a:solidFill>
                <a:latin typeface="+mj-lt"/>
              </a:rPr>
              <a:t>ISIN: CH0017043958</a:t>
            </a:r>
          </a:p>
        </p:txBody>
      </p:sp>
      <p:sp>
        <p:nvSpPr>
          <p:cNvPr id="23" name="Espace réservé du texte 22">
            <a:extLst>
              <a:ext uri="{FF2B5EF4-FFF2-40B4-BE49-F238E27FC236}">
                <a16:creationId xmlns:a16="http://schemas.microsoft.com/office/drawing/2014/main" id="{95EC22C4-F8F9-09D8-19CF-B2934FE6EFDD}"/>
              </a:ext>
            </a:extLst>
          </p:cNvPr>
          <p:cNvSpPr>
            <a:spLocks noGrp="1"/>
          </p:cNvSpPr>
          <p:nvPr>
            <p:ph type="body" sz="quarter" idx="10"/>
          </p:nvPr>
        </p:nvSpPr>
        <p:spPr>
          <a:xfrm>
            <a:off x="716458" y="1819432"/>
            <a:ext cx="6210815" cy="294968"/>
          </a:xfrm>
        </p:spPr>
        <p:txBody>
          <a:bodyPr/>
          <a:lstStyle/>
          <a:p>
            <a:r>
              <a:rPr lang="en-US" sz="1400" noProof="0" dirty="0">
                <a:solidFill>
                  <a:schemeClr val="accent4"/>
                </a:solidFill>
              </a:rPr>
              <a:t>CHOOSING THE UBS SWISS INCOME EQUITY FUND, KEY REASONS: </a:t>
            </a:r>
          </a:p>
        </p:txBody>
      </p:sp>
      <p:sp>
        <p:nvSpPr>
          <p:cNvPr id="2" name="Titre 1">
            <a:extLst>
              <a:ext uri="{FF2B5EF4-FFF2-40B4-BE49-F238E27FC236}">
                <a16:creationId xmlns:a16="http://schemas.microsoft.com/office/drawing/2014/main" id="{19C6F4CD-9B88-DE0C-5922-6E596CFCB3A6}"/>
              </a:ext>
            </a:extLst>
          </p:cNvPr>
          <p:cNvSpPr>
            <a:spLocks noGrp="1"/>
          </p:cNvSpPr>
          <p:nvPr>
            <p:ph type="title"/>
          </p:nvPr>
        </p:nvSpPr>
        <p:spPr/>
        <p:txBody>
          <a:bodyPr/>
          <a:lstStyle/>
          <a:p>
            <a:r>
              <a:rPr lang="en-US" noProof="0" dirty="0"/>
              <a:t>Introducing the UBS Swiss Income Equity Fund (CHF)</a:t>
            </a:r>
          </a:p>
        </p:txBody>
      </p:sp>
      <p:sp>
        <p:nvSpPr>
          <p:cNvPr id="24" name="Rectangle 23">
            <a:extLst>
              <a:ext uri="{FF2B5EF4-FFF2-40B4-BE49-F238E27FC236}">
                <a16:creationId xmlns:a16="http://schemas.microsoft.com/office/drawing/2014/main" id="{BCC6B3F2-5EEB-9454-55FE-71CF86879FBE}"/>
              </a:ext>
            </a:extLst>
          </p:cNvPr>
          <p:cNvSpPr/>
          <p:nvPr/>
        </p:nvSpPr>
        <p:spPr>
          <a:xfrm>
            <a:off x="1037227" y="500032"/>
            <a:ext cx="1357129" cy="369332"/>
          </a:xfrm>
          <a:prstGeom prst="rect">
            <a:avLst/>
          </a:prstGeom>
        </p:spPr>
        <p:txBody>
          <a:bodyPr wrap="square">
            <a:spAutoFit/>
          </a:bodyPr>
          <a:lstStyle/>
          <a:p>
            <a:r>
              <a:rPr lang="en-US" sz="900" b="1" noProof="0" dirty="0">
                <a:solidFill>
                  <a:schemeClr val="accent2"/>
                </a:solidFill>
              </a:rPr>
              <a:t>FUND</a:t>
            </a:r>
          </a:p>
          <a:p>
            <a:r>
              <a:rPr lang="en-US" sz="900" b="1" noProof="0" dirty="0">
                <a:solidFill>
                  <a:schemeClr val="accent2"/>
                </a:solidFill>
              </a:rPr>
              <a:t>RECOMMENDATION </a:t>
            </a:r>
          </a:p>
        </p:txBody>
      </p:sp>
      <p:sp>
        <p:nvSpPr>
          <p:cNvPr id="27" name="Rounded Rectangle 26">
            <a:extLst>
              <a:ext uri="{FF2B5EF4-FFF2-40B4-BE49-F238E27FC236}">
                <a16:creationId xmlns:a16="http://schemas.microsoft.com/office/drawing/2014/main" id="{25524FE6-2104-240F-1353-208757F977DB}"/>
              </a:ext>
            </a:extLst>
          </p:cNvPr>
          <p:cNvSpPr/>
          <p:nvPr/>
        </p:nvSpPr>
        <p:spPr>
          <a:xfrm>
            <a:off x="665163" y="617143"/>
            <a:ext cx="372064"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ounded Rectangle 27">
            <a:extLst>
              <a:ext uri="{FF2B5EF4-FFF2-40B4-BE49-F238E27FC236}">
                <a16:creationId xmlns:a16="http://schemas.microsoft.com/office/drawing/2014/main" id="{16C3D599-49D9-8617-14CF-09F576737CC7}"/>
              </a:ext>
            </a:extLst>
          </p:cNvPr>
          <p:cNvSpPr/>
          <p:nvPr/>
        </p:nvSpPr>
        <p:spPr>
          <a:xfrm rot="2494024">
            <a:off x="835441" y="574104"/>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Rounded Rectangle 32">
            <a:extLst>
              <a:ext uri="{FF2B5EF4-FFF2-40B4-BE49-F238E27FC236}">
                <a16:creationId xmlns:a16="http://schemas.microsoft.com/office/drawing/2014/main" id="{8D2EADE6-F6DB-DCE6-83B9-4125B7A3044F}"/>
              </a:ext>
            </a:extLst>
          </p:cNvPr>
          <p:cNvSpPr/>
          <p:nvPr/>
        </p:nvSpPr>
        <p:spPr>
          <a:xfrm rot="19105976" flipH="1">
            <a:off x="835441" y="657629"/>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7" name="Straight Connector 36">
            <a:extLst>
              <a:ext uri="{FF2B5EF4-FFF2-40B4-BE49-F238E27FC236}">
                <a16:creationId xmlns:a16="http://schemas.microsoft.com/office/drawing/2014/main" id="{68F3C536-AD48-079F-0948-3BE0735677FD}"/>
              </a:ext>
            </a:extLst>
          </p:cNvPr>
          <p:cNvCxnSpPr/>
          <p:nvPr/>
        </p:nvCxnSpPr>
        <p:spPr>
          <a:xfrm>
            <a:off x="2367880" y="521861"/>
            <a:ext cx="0" cy="286003"/>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 Box 6">
            <a:extLst>
              <a:ext uri="{FF2B5EF4-FFF2-40B4-BE49-F238E27FC236}">
                <a16:creationId xmlns:a16="http://schemas.microsoft.com/office/drawing/2014/main" id="{C55C81B9-6058-B38B-4301-B4BDB251BFD6}"/>
              </a:ext>
            </a:extLst>
          </p:cNvPr>
          <p:cNvSpPr txBox="1">
            <a:spLocks noChangeArrowheads="1"/>
          </p:cNvSpPr>
          <p:nvPr/>
        </p:nvSpPr>
        <p:spPr bwMode="auto">
          <a:xfrm>
            <a:off x="5111581" y="7030554"/>
            <a:ext cx="3663950"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944" tIns="0" rIns="0" bIns="0">
            <a:spAutoFit/>
          </a:bodyPr>
          <a:lstStyle>
            <a:lvl1pPr defTabSz="858838">
              <a:defRPr sz="2800">
                <a:solidFill>
                  <a:schemeClr val="tx1"/>
                </a:solidFill>
                <a:latin typeface="Arial" panose="020B0604020202020204" pitchFamily="34" charset="0"/>
              </a:defRPr>
            </a:lvl1pPr>
            <a:lvl2pPr marL="742950" indent="-285750" defTabSz="858838">
              <a:defRPr sz="2800">
                <a:solidFill>
                  <a:schemeClr val="tx1"/>
                </a:solidFill>
                <a:latin typeface="Arial" panose="020B0604020202020204" pitchFamily="34" charset="0"/>
              </a:defRPr>
            </a:lvl2pPr>
            <a:lvl3pPr marL="1143000" indent="-228600" defTabSz="858838">
              <a:defRPr sz="2800">
                <a:solidFill>
                  <a:schemeClr val="tx1"/>
                </a:solidFill>
                <a:latin typeface="Arial" panose="020B0604020202020204" pitchFamily="34" charset="0"/>
              </a:defRPr>
            </a:lvl3pPr>
            <a:lvl4pPr marL="1600200" indent="-228600" defTabSz="858838">
              <a:defRPr sz="2800">
                <a:solidFill>
                  <a:schemeClr val="tx1"/>
                </a:solidFill>
                <a:latin typeface="Arial" panose="020B0604020202020204" pitchFamily="34" charset="0"/>
              </a:defRPr>
            </a:lvl4pPr>
            <a:lvl5pPr marL="2057400" indent="-228600" defTabSz="858838">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defRPr sz="2800">
                <a:solidFill>
                  <a:schemeClr val="tx1"/>
                </a:solidFill>
                <a:latin typeface="Arial" panose="020B0604020202020204" pitchFamily="34" charset="0"/>
              </a:defRPr>
            </a:lvl9pPr>
          </a:lstStyle>
          <a:p>
            <a:r>
              <a:rPr lang="en-US" sz="700" b="1" i="1" noProof="0" dirty="0">
                <a:solidFill>
                  <a:srgbClr val="4B5F80"/>
                </a:solidFill>
                <a:latin typeface="Nunito Sans" pitchFamily="2" charset="77"/>
              </a:rPr>
              <a:t>Source: UBS, Bloomberg </a:t>
            </a:r>
            <a:endParaRPr lang="en-US" sz="700" i="1" noProof="0" dirty="0">
              <a:solidFill>
                <a:srgbClr val="4B5F80"/>
              </a:solidFill>
              <a:latin typeface="Nunito Sans" pitchFamily="2" charset="77"/>
            </a:endParaRPr>
          </a:p>
        </p:txBody>
      </p:sp>
      <p:sp>
        <p:nvSpPr>
          <p:cNvPr id="6" name="Text Box 5">
            <a:extLst>
              <a:ext uri="{FF2B5EF4-FFF2-40B4-BE49-F238E27FC236}">
                <a16:creationId xmlns:a16="http://schemas.microsoft.com/office/drawing/2014/main" id="{1C6FF4FC-277C-686C-0CBC-E0D645776642}"/>
              </a:ext>
            </a:extLst>
          </p:cNvPr>
          <p:cNvSpPr txBox="1">
            <a:spLocks noChangeArrowheads="1"/>
          </p:cNvSpPr>
          <p:nvPr/>
        </p:nvSpPr>
        <p:spPr bwMode="auto">
          <a:xfrm>
            <a:off x="6627379" y="5303076"/>
            <a:ext cx="296436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5944" tIns="0" rIns="0" bIns="0">
            <a:spAutoFit/>
          </a:bodyPr>
          <a:lstStyle>
            <a:lvl1pPr defTabSz="858838">
              <a:tabLst>
                <a:tab pos="536575" algn="l"/>
                <a:tab pos="2971800" algn="r"/>
              </a:tabLst>
              <a:defRPr sz="2800">
                <a:solidFill>
                  <a:schemeClr val="tx1"/>
                </a:solidFill>
                <a:latin typeface="Arial" panose="020B0604020202020204" pitchFamily="34" charset="0"/>
              </a:defRPr>
            </a:lvl1pPr>
            <a:lvl2pPr marL="742950" indent="-285750" defTabSz="858838">
              <a:tabLst>
                <a:tab pos="536575" algn="l"/>
                <a:tab pos="2971800" algn="r"/>
              </a:tabLst>
              <a:defRPr sz="2800">
                <a:solidFill>
                  <a:schemeClr val="tx1"/>
                </a:solidFill>
                <a:latin typeface="Arial" panose="020B0604020202020204" pitchFamily="34" charset="0"/>
              </a:defRPr>
            </a:lvl2pPr>
            <a:lvl3pPr marL="1143000" indent="-228600" defTabSz="858838">
              <a:tabLst>
                <a:tab pos="536575" algn="l"/>
                <a:tab pos="2971800" algn="r"/>
              </a:tabLst>
              <a:defRPr sz="2800">
                <a:solidFill>
                  <a:schemeClr val="tx1"/>
                </a:solidFill>
                <a:latin typeface="Arial" panose="020B0604020202020204" pitchFamily="34" charset="0"/>
              </a:defRPr>
            </a:lvl3pPr>
            <a:lvl4pPr marL="1600200" indent="-228600" defTabSz="858838">
              <a:tabLst>
                <a:tab pos="536575" algn="l"/>
                <a:tab pos="2971800" algn="r"/>
              </a:tabLst>
              <a:defRPr sz="2800">
                <a:solidFill>
                  <a:schemeClr val="tx1"/>
                </a:solidFill>
                <a:latin typeface="Arial" panose="020B0604020202020204" pitchFamily="34" charset="0"/>
              </a:defRPr>
            </a:lvl4pPr>
            <a:lvl5pPr marL="2057400" indent="-228600" defTabSz="858838">
              <a:tabLst>
                <a:tab pos="536575" algn="l"/>
                <a:tab pos="2971800" algn="r"/>
              </a:tabLst>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9pPr>
          </a:lstStyle>
          <a:p>
            <a:pPr>
              <a:tabLst>
                <a:tab pos="536575" algn="l"/>
                <a:tab pos="2060575" algn="r"/>
              </a:tabLst>
            </a:pPr>
            <a:r>
              <a:rPr lang="en-US" sz="1000" b="1" noProof="0" dirty="0">
                <a:solidFill>
                  <a:srgbClr val="3AB7C8"/>
                </a:solidFill>
                <a:latin typeface="Nunito Sans" pitchFamily="2" charset="77"/>
              </a:rPr>
              <a:t>SFDR article                           6 </a:t>
            </a:r>
          </a:p>
          <a:p>
            <a:pPr>
              <a:tabLst>
                <a:tab pos="536575" algn="l"/>
                <a:tab pos="2600325" algn="r"/>
              </a:tabLst>
            </a:pPr>
            <a:endParaRPr lang="en-US" sz="900" noProof="0" dirty="0">
              <a:latin typeface="Nunito Sans" pitchFamily="2" charset="77"/>
            </a:endParaRPr>
          </a:p>
        </p:txBody>
      </p:sp>
      <p:sp>
        <p:nvSpPr>
          <p:cNvPr id="7" name="Rectangle 6">
            <a:extLst>
              <a:ext uri="{FF2B5EF4-FFF2-40B4-BE49-F238E27FC236}">
                <a16:creationId xmlns:a16="http://schemas.microsoft.com/office/drawing/2014/main" id="{4A5FBF92-4F99-A4ED-FE44-B72D88D784A9}"/>
              </a:ext>
            </a:extLst>
          </p:cNvPr>
          <p:cNvSpPr/>
          <p:nvPr/>
        </p:nvSpPr>
        <p:spPr>
          <a:xfrm>
            <a:off x="6627379" y="3073104"/>
            <a:ext cx="1217000" cy="246221"/>
          </a:xfrm>
          <a:prstGeom prst="rect">
            <a:avLst/>
          </a:prstGeom>
        </p:spPr>
        <p:txBody>
          <a:bodyPr wrap="none">
            <a:spAutoFit/>
          </a:bodyPr>
          <a:lstStyle/>
          <a:p>
            <a:r>
              <a:rPr lang="en-US" sz="1000" b="1" noProof="0" dirty="0">
                <a:solidFill>
                  <a:srgbClr val="3AB7C8"/>
                </a:solidFill>
                <a:latin typeface="Nunito Sans" pitchFamily="2" charset="77"/>
              </a:rPr>
              <a:t>Certificate details</a:t>
            </a:r>
          </a:p>
        </p:txBody>
      </p:sp>
      <p:sp>
        <p:nvSpPr>
          <p:cNvPr id="8" name="Rectangle 7">
            <a:extLst>
              <a:ext uri="{FF2B5EF4-FFF2-40B4-BE49-F238E27FC236}">
                <a16:creationId xmlns:a16="http://schemas.microsoft.com/office/drawing/2014/main" id="{B4C8D3F7-CAD5-0FAD-D750-CA7A40D090D3}"/>
              </a:ext>
            </a:extLst>
          </p:cNvPr>
          <p:cNvSpPr/>
          <p:nvPr/>
        </p:nvSpPr>
        <p:spPr>
          <a:xfrm>
            <a:off x="6627379" y="3317963"/>
            <a:ext cx="4296304" cy="1785104"/>
          </a:xfrm>
          <a:prstGeom prst="rect">
            <a:avLst/>
          </a:prstGeom>
        </p:spPr>
        <p:txBody>
          <a:bodyPr wrap="square">
            <a:spAutoFit/>
          </a:bodyPr>
          <a:lstStyle/>
          <a:p>
            <a:pPr algn="just">
              <a:tabLst>
                <a:tab pos="1641475" algn="l"/>
              </a:tabLst>
            </a:pPr>
            <a:r>
              <a:rPr lang="en-US" sz="1000" b="1" noProof="0" dirty="0">
                <a:solidFill>
                  <a:schemeClr val="tx2"/>
                </a:solidFill>
                <a:latin typeface="Nunito Sans" panose="00000500000000000000" pitchFamily="2" charset="0"/>
              </a:rPr>
              <a:t>ASSET CLASS	</a:t>
            </a:r>
            <a:r>
              <a:rPr lang="en-US" sz="1000" noProof="0" dirty="0">
                <a:solidFill>
                  <a:schemeClr val="tx2"/>
                </a:solidFill>
                <a:latin typeface="Nunito Sans" panose="00000500000000000000" pitchFamily="2" charset="0"/>
              </a:rPr>
              <a:t>Equity</a:t>
            </a:r>
          </a:p>
          <a:p>
            <a:pPr algn="just">
              <a:tabLst>
                <a:tab pos="1641475" algn="l"/>
              </a:tabLst>
            </a:pPr>
            <a:r>
              <a:rPr lang="en-US" sz="1000" b="1" noProof="0" dirty="0">
                <a:solidFill>
                  <a:schemeClr val="tx2"/>
                </a:solidFill>
                <a:latin typeface="Nunito Sans" panose="00000500000000000000" pitchFamily="2" charset="0"/>
              </a:rPr>
              <a:t>CURRENCY	</a:t>
            </a:r>
            <a:r>
              <a:rPr lang="en-US" sz="1000" noProof="0" dirty="0">
                <a:solidFill>
                  <a:schemeClr val="tx2"/>
                </a:solidFill>
                <a:latin typeface="Nunito Sans" panose="00000500000000000000" pitchFamily="2" charset="0"/>
              </a:rPr>
              <a:t>CHF</a:t>
            </a:r>
          </a:p>
          <a:p>
            <a:pPr algn="just">
              <a:tabLst>
                <a:tab pos="1641475" algn="l"/>
              </a:tabLst>
            </a:pPr>
            <a:r>
              <a:rPr lang="en-US" sz="1000" b="1" noProof="0" dirty="0">
                <a:solidFill>
                  <a:schemeClr val="tx2"/>
                </a:solidFill>
                <a:latin typeface="Nunito Sans" panose="00000500000000000000" pitchFamily="2" charset="0"/>
              </a:rPr>
              <a:t>NAV	</a:t>
            </a:r>
            <a:r>
              <a:rPr lang="en-US" sz="1000" noProof="0" dirty="0">
                <a:solidFill>
                  <a:schemeClr val="tx2"/>
                </a:solidFill>
                <a:latin typeface="Nunito Sans" panose="00000500000000000000" pitchFamily="2" charset="0"/>
              </a:rPr>
              <a:t>106,4 as of 05 September 2025</a:t>
            </a:r>
          </a:p>
          <a:p>
            <a:pPr algn="just">
              <a:tabLst>
                <a:tab pos="1641475" algn="l"/>
              </a:tabLst>
            </a:pPr>
            <a:r>
              <a:rPr lang="en-US" sz="1000" b="1" noProof="0" dirty="0">
                <a:solidFill>
                  <a:schemeClr val="tx2"/>
                </a:solidFill>
                <a:latin typeface="Nunito Sans" panose="00000500000000000000" pitchFamily="2" charset="0"/>
              </a:rPr>
              <a:t>SIZE	</a:t>
            </a:r>
            <a:r>
              <a:rPr lang="en-US" sz="1000" noProof="0" dirty="0">
                <a:solidFill>
                  <a:schemeClr val="tx2"/>
                </a:solidFill>
                <a:latin typeface="Nunito Sans" panose="00000500000000000000" pitchFamily="2" charset="0"/>
              </a:rPr>
              <a:t>USD 2.5 bn </a:t>
            </a:r>
            <a:r>
              <a:rPr lang="en-US" sz="1000" b="1" noProof="0" dirty="0">
                <a:solidFill>
                  <a:schemeClr val="tx2"/>
                </a:solidFill>
                <a:latin typeface="Nunito Sans" panose="00000500000000000000" pitchFamily="2" charset="0"/>
              </a:rPr>
              <a:t>	</a:t>
            </a:r>
          </a:p>
          <a:p>
            <a:pPr algn="just">
              <a:tabLst>
                <a:tab pos="1641475" algn="l"/>
              </a:tabLst>
            </a:pPr>
            <a:r>
              <a:rPr lang="en-US" sz="1000" b="1" noProof="0" dirty="0">
                <a:solidFill>
                  <a:schemeClr val="tx2"/>
                </a:solidFill>
                <a:latin typeface="Nunito Sans" panose="00000500000000000000" pitchFamily="2" charset="0"/>
              </a:rPr>
              <a:t>BENCHMARK	</a:t>
            </a:r>
            <a:r>
              <a:rPr lang="en-US" sz="1000" noProof="0" dirty="0">
                <a:solidFill>
                  <a:schemeClr val="tx2"/>
                </a:solidFill>
                <a:latin typeface="Nunito Sans" panose="00000500000000000000" pitchFamily="2" charset="0"/>
              </a:rPr>
              <a:t>SPI TR Index </a:t>
            </a:r>
          </a:p>
          <a:p>
            <a:pPr algn="just">
              <a:tabLst>
                <a:tab pos="1641475" algn="l"/>
              </a:tabLst>
            </a:pPr>
            <a:r>
              <a:rPr lang="en-US" sz="1000" b="1" noProof="0" dirty="0">
                <a:solidFill>
                  <a:schemeClr val="tx2"/>
                </a:solidFill>
                <a:latin typeface="Nunito Sans" panose="00000500000000000000" pitchFamily="2" charset="0"/>
              </a:rPr>
              <a:t>LAUNCH DATE	</a:t>
            </a:r>
            <a:r>
              <a:rPr lang="en-US" sz="1000" noProof="0" dirty="0">
                <a:solidFill>
                  <a:schemeClr val="tx2"/>
                </a:solidFill>
                <a:latin typeface="Nunito Sans" panose="00000500000000000000" pitchFamily="2" charset="0"/>
              </a:rPr>
              <a:t>02 November2015</a:t>
            </a:r>
          </a:p>
          <a:p>
            <a:pPr algn="just">
              <a:tabLst>
                <a:tab pos="1641475" algn="l"/>
              </a:tabLst>
            </a:pPr>
            <a:r>
              <a:rPr lang="en-US" sz="1000" b="1" noProof="0" dirty="0">
                <a:solidFill>
                  <a:schemeClr val="tx2"/>
                </a:solidFill>
                <a:latin typeface="Nunito Sans" panose="00000500000000000000" pitchFamily="2" charset="0"/>
              </a:rPr>
              <a:t>LEAD MANAGER NAME	</a:t>
            </a:r>
            <a:r>
              <a:rPr lang="en-US" sz="1000" noProof="0" dirty="0"/>
              <a:t>Bernhard </a:t>
            </a:r>
            <a:r>
              <a:rPr lang="en-US" sz="1000" noProof="0" dirty="0" err="1"/>
              <a:t>Lüthi</a:t>
            </a:r>
            <a:r>
              <a:rPr lang="en-US" sz="1000" noProof="0" dirty="0"/>
              <a:t> &amp; team</a:t>
            </a:r>
            <a:endParaRPr lang="en-US" sz="1000" noProof="0" dirty="0">
              <a:solidFill>
                <a:schemeClr val="tx2"/>
              </a:solidFill>
              <a:latin typeface="Nunito Sans" panose="00000500000000000000" pitchFamily="2" charset="0"/>
            </a:endParaRPr>
          </a:p>
          <a:p>
            <a:pPr algn="just">
              <a:tabLst>
                <a:tab pos="1641475" algn="l"/>
              </a:tabLst>
            </a:pPr>
            <a:r>
              <a:rPr lang="en-US" sz="1000" b="1" noProof="0" dirty="0">
                <a:solidFill>
                  <a:schemeClr val="tx2"/>
                </a:solidFill>
                <a:latin typeface="Nunito Sans" panose="00000500000000000000" pitchFamily="2" charset="0"/>
              </a:rPr>
              <a:t>LIQUIDITY (SUB./RED.)	</a:t>
            </a:r>
            <a:r>
              <a:rPr lang="en-US" sz="1000" noProof="0" dirty="0">
                <a:solidFill>
                  <a:schemeClr val="tx2"/>
                </a:solidFill>
                <a:latin typeface="Nunito Sans" panose="00000500000000000000" pitchFamily="2" charset="0"/>
              </a:rPr>
              <a:t>Daily</a:t>
            </a:r>
          </a:p>
          <a:p>
            <a:pPr algn="just">
              <a:tabLst>
                <a:tab pos="1641475" algn="l"/>
              </a:tabLst>
            </a:pPr>
            <a:r>
              <a:rPr lang="en-US" sz="1000" b="1" noProof="0" dirty="0">
                <a:solidFill>
                  <a:schemeClr val="tx2"/>
                </a:solidFill>
                <a:latin typeface="Nunito Sans" panose="00000500000000000000" pitchFamily="2" charset="0"/>
              </a:rPr>
              <a:t>ISIN CODE	</a:t>
            </a:r>
            <a:r>
              <a:rPr lang="en-US" sz="1000" noProof="0" dirty="0"/>
              <a:t>CH0017043958</a:t>
            </a:r>
          </a:p>
          <a:p>
            <a:pPr algn="just">
              <a:tabLst>
                <a:tab pos="1641475" algn="l"/>
              </a:tabLst>
            </a:pPr>
            <a:r>
              <a:rPr lang="en-US" sz="1000" b="1" noProof="0" dirty="0">
                <a:solidFill>
                  <a:schemeClr val="tx2"/>
                </a:solidFill>
                <a:latin typeface="Nunito Sans" panose="00000500000000000000" pitchFamily="2" charset="0"/>
              </a:rPr>
              <a:t>UCITS compliant 	</a:t>
            </a:r>
            <a:r>
              <a:rPr lang="en-US" sz="1000" noProof="0" dirty="0">
                <a:solidFill>
                  <a:schemeClr val="tx2"/>
                </a:solidFill>
                <a:latin typeface="Nunito Sans" panose="00000500000000000000" pitchFamily="2" charset="0"/>
              </a:rPr>
              <a:t>yes</a:t>
            </a:r>
          </a:p>
          <a:p>
            <a:pPr algn="just">
              <a:tabLst>
                <a:tab pos="1641475" algn="l"/>
              </a:tabLst>
            </a:pPr>
            <a:r>
              <a:rPr lang="en-US" sz="1000" b="1" noProof="0" dirty="0">
                <a:solidFill>
                  <a:schemeClr val="tx2"/>
                </a:solidFill>
                <a:latin typeface="Nunito Sans" panose="00000500000000000000" pitchFamily="2" charset="0"/>
              </a:rPr>
              <a:t>SRRI risk grade 	</a:t>
            </a:r>
            <a:r>
              <a:rPr lang="en-US" sz="1000" noProof="0" dirty="0">
                <a:solidFill>
                  <a:schemeClr val="tx2"/>
                </a:solidFill>
                <a:latin typeface="Nunito Sans" panose="00000500000000000000" pitchFamily="2" charset="0"/>
              </a:rPr>
              <a:t>5</a:t>
            </a:r>
          </a:p>
        </p:txBody>
      </p:sp>
      <p:cxnSp>
        <p:nvCxnSpPr>
          <p:cNvPr id="9" name="Straight Connector 8">
            <a:extLst>
              <a:ext uri="{FF2B5EF4-FFF2-40B4-BE49-F238E27FC236}">
                <a16:creationId xmlns:a16="http://schemas.microsoft.com/office/drawing/2014/main" id="{56401852-7FE2-EBC5-168E-6BB4783C9584}"/>
              </a:ext>
            </a:extLst>
          </p:cNvPr>
          <p:cNvCxnSpPr>
            <a:cxnSpLocks/>
          </p:cNvCxnSpPr>
          <p:nvPr/>
        </p:nvCxnSpPr>
        <p:spPr>
          <a:xfrm>
            <a:off x="6724449" y="5198478"/>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5EECD1-F9F6-D684-5202-C6CE76E55116}"/>
              </a:ext>
            </a:extLst>
          </p:cNvPr>
          <p:cNvCxnSpPr>
            <a:cxnSpLocks/>
          </p:cNvCxnSpPr>
          <p:nvPr/>
        </p:nvCxnSpPr>
        <p:spPr>
          <a:xfrm>
            <a:off x="6706678" y="3337561"/>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B80D962-BDFB-2F86-51B0-A440266D5B57}"/>
              </a:ext>
            </a:extLst>
          </p:cNvPr>
          <p:cNvSpPr txBox="1"/>
          <p:nvPr/>
        </p:nvSpPr>
        <p:spPr>
          <a:xfrm>
            <a:off x="1666240" y="4709160"/>
            <a:ext cx="914400" cy="914400"/>
          </a:xfrm>
          <a:prstGeom prst="rect">
            <a:avLst/>
          </a:prstGeom>
          <a:noFill/>
        </p:spPr>
        <p:txBody>
          <a:bodyPr vert="horz" wrap="none" lIns="0" tIns="0" rIns="0" bIns="0" rtlCol="0">
            <a:noAutofit/>
          </a:bodyPr>
          <a:lstStyle/>
          <a:p>
            <a:pPr algn="l"/>
            <a:endParaRPr lang="en-US" sz="1400" noProof="0" dirty="0"/>
          </a:p>
        </p:txBody>
      </p:sp>
      <p:sp>
        <p:nvSpPr>
          <p:cNvPr id="13" name="Rectangle 12">
            <a:extLst>
              <a:ext uri="{FF2B5EF4-FFF2-40B4-BE49-F238E27FC236}">
                <a16:creationId xmlns:a16="http://schemas.microsoft.com/office/drawing/2014/main" id="{7635AA6B-D074-90C8-06C6-31DE90B1AC2A}"/>
              </a:ext>
            </a:extLst>
          </p:cNvPr>
          <p:cNvSpPr/>
          <p:nvPr/>
        </p:nvSpPr>
        <p:spPr>
          <a:xfrm>
            <a:off x="1361665" y="4692166"/>
            <a:ext cx="4581935" cy="253916"/>
          </a:xfrm>
          <a:prstGeom prst="rect">
            <a:avLst/>
          </a:prstGeom>
        </p:spPr>
        <p:txBody>
          <a:bodyPr wrap="square">
            <a:spAutoFit/>
          </a:bodyPr>
          <a:lstStyle/>
          <a:p>
            <a:r>
              <a:rPr lang="en-US" sz="1050" b="1" noProof="0" dirty="0">
                <a:solidFill>
                  <a:schemeClr val="accent4"/>
                </a:solidFill>
                <a:latin typeface="Nunito Sans" pitchFamily="2" charset="77"/>
              </a:rPr>
              <a:t>UBS Swiss Income (green) vs. SPI TR (blue) 3-year performance </a:t>
            </a:r>
            <a:endParaRPr lang="en-US" sz="1050" b="1" noProof="0" dirty="0">
              <a:solidFill>
                <a:schemeClr val="tx2"/>
              </a:solidFill>
              <a:latin typeface="Nunito Sans" pitchFamily="2" charset="77"/>
            </a:endParaRPr>
          </a:p>
        </p:txBody>
      </p:sp>
      <p:graphicFrame>
        <p:nvGraphicFramePr>
          <p:cNvPr id="15" name="Chart 14">
            <a:extLst>
              <a:ext uri="{FF2B5EF4-FFF2-40B4-BE49-F238E27FC236}">
                <a16:creationId xmlns:a16="http://schemas.microsoft.com/office/drawing/2014/main" id="{5F3B2288-1123-F0A1-0E6C-78E06FB989DE}"/>
              </a:ext>
            </a:extLst>
          </p:cNvPr>
          <p:cNvGraphicFramePr>
            <a:graphicFrameLocks/>
          </p:cNvGraphicFramePr>
          <p:nvPr/>
        </p:nvGraphicFramePr>
        <p:xfrm>
          <a:off x="943961" y="4929005"/>
          <a:ext cx="5301624" cy="194456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37317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C3E0F36-51A4-806B-4C7A-729CEE85C198}"/>
              </a:ext>
            </a:extLst>
          </p:cNvPr>
          <p:cNvSpPr/>
          <p:nvPr/>
        </p:nvSpPr>
        <p:spPr>
          <a:xfrm>
            <a:off x="665163" y="1960293"/>
            <a:ext cx="1319590" cy="382076"/>
          </a:xfrm>
          <a:prstGeom prst="roundRect">
            <a:avLst>
              <a:gd name="adj" fmla="val 288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highlight>
                <a:srgbClr val="C0C0C0"/>
              </a:highlight>
              <a:uLnTx/>
              <a:uFillTx/>
              <a:latin typeface="Nunito Sans"/>
              <a:ea typeface="+mn-ea"/>
              <a:cs typeface="+mn-cs"/>
            </a:endParaRPr>
          </a:p>
        </p:txBody>
      </p:sp>
      <p:sp>
        <p:nvSpPr>
          <p:cNvPr id="2" name="Title 1">
            <a:extLst>
              <a:ext uri="{FF2B5EF4-FFF2-40B4-BE49-F238E27FC236}">
                <a16:creationId xmlns:a16="http://schemas.microsoft.com/office/drawing/2014/main" id="{9C48BCFF-B159-EB4C-8C8A-F0031E4326A3}"/>
              </a:ext>
            </a:extLst>
          </p:cNvPr>
          <p:cNvSpPr>
            <a:spLocks noGrp="1"/>
          </p:cNvSpPr>
          <p:nvPr>
            <p:ph type="title"/>
          </p:nvPr>
        </p:nvSpPr>
        <p:spPr/>
        <p:txBody>
          <a:bodyPr/>
          <a:lstStyle/>
          <a:p>
            <a:r>
              <a:rPr lang="en-US" noProof="0" dirty="0">
                <a:gradFill flip="none">
                  <a:gsLst>
                    <a:gs pos="0">
                      <a:srgbClr val="FF6C0E"/>
                    </a:gs>
                    <a:gs pos="100000">
                      <a:srgbClr val="FFA400"/>
                    </a:gs>
                  </a:gsLst>
                  <a:lin ang="0" scaled="1"/>
                  <a:tileRect/>
                </a:gradFill>
              </a:rPr>
              <a:t>Fund’s characteristics </a:t>
            </a:r>
            <a:endParaRPr lang="en-US" noProof="0" dirty="0"/>
          </a:p>
        </p:txBody>
      </p:sp>
      <p:sp>
        <p:nvSpPr>
          <p:cNvPr id="7" name="Rectangle 6">
            <a:extLst>
              <a:ext uri="{FF2B5EF4-FFF2-40B4-BE49-F238E27FC236}">
                <a16:creationId xmlns:a16="http://schemas.microsoft.com/office/drawing/2014/main" id="{94E76283-1089-AC46-B4BC-10A907186156}"/>
              </a:ext>
            </a:extLst>
          </p:cNvPr>
          <p:cNvSpPr/>
          <p:nvPr/>
        </p:nvSpPr>
        <p:spPr>
          <a:xfrm>
            <a:off x="748660" y="2471974"/>
            <a:ext cx="1319592" cy="253916"/>
          </a:xfrm>
          <a:prstGeom prst="rect">
            <a:avLst/>
          </a:prstGeom>
        </p:spPr>
        <p:txBody>
          <a:bodyPr wrap="none">
            <a:spAutoFit/>
          </a:bodyPr>
          <a:lstStyle/>
          <a:p>
            <a:r>
              <a:rPr lang="en-US" sz="1050" b="1" noProof="0" dirty="0">
                <a:solidFill>
                  <a:schemeClr val="accent4"/>
                </a:solidFill>
                <a:latin typeface="Nunito Sans" pitchFamily="2" charset="77"/>
              </a:rPr>
              <a:t>Sector weightings</a:t>
            </a:r>
          </a:p>
        </p:txBody>
      </p:sp>
      <p:sp>
        <p:nvSpPr>
          <p:cNvPr id="11" name="Rectangle 10">
            <a:extLst>
              <a:ext uri="{FF2B5EF4-FFF2-40B4-BE49-F238E27FC236}">
                <a16:creationId xmlns:a16="http://schemas.microsoft.com/office/drawing/2014/main" id="{D74FD215-8D89-1C4F-879F-39C1395FAB7F}"/>
              </a:ext>
            </a:extLst>
          </p:cNvPr>
          <p:cNvSpPr/>
          <p:nvPr/>
        </p:nvSpPr>
        <p:spPr>
          <a:xfrm>
            <a:off x="748660" y="4662604"/>
            <a:ext cx="2195431" cy="253916"/>
          </a:xfrm>
          <a:prstGeom prst="rect">
            <a:avLst/>
          </a:prstGeom>
        </p:spPr>
        <p:txBody>
          <a:bodyPr wrap="square">
            <a:spAutoFit/>
          </a:bodyPr>
          <a:lstStyle/>
          <a:p>
            <a:r>
              <a:rPr lang="en-US" sz="1050" b="1" noProof="0" dirty="0">
                <a:solidFill>
                  <a:schemeClr val="accent4"/>
                </a:solidFill>
                <a:latin typeface="Nunito Sans" pitchFamily="2" charset="77"/>
              </a:rPr>
              <a:t>Top 10 benchmark holdings</a:t>
            </a:r>
            <a:r>
              <a:rPr lang="en-US" sz="1050" b="1" noProof="0" dirty="0">
                <a:solidFill>
                  <a:schemeClr val="tx2"/>
                </a:solidFill>
                <a:latin typeface="Nunito Sans" pitchFamily="2" charset="77"/>
              </a:rPr>
              <a:t>	</a:t>
            </a:r>
          </a:p>
        </p:txBody>
      </p:sp>
      <p:sp>
        <p:nvSpPr>
          <p:cNvPr id="9" name="Rounded Rectangle 12">
            <a:extLst>
              <a:ext uri="{FF2B5EF4-FFF2-40B4-BE49-F238E27FC236}">
                <a16:creationId xmlns:a16="http://schemas.microsoft.com/office/drawing/2014/main" id="{42195D4F-1856-6045-60AA-55425B570213}"/>
              </a:ext>
            </a:extLst>
          </p:cNvPr>
          <p:cNvSpPr/>
          <p:nvPr/>
        </p:nvSpPr>
        <p:spPr>
          <a:xfrm>
            <a:off x="2078965" y="1965668"/>
            <a:ext cx="1145131" cy="391510"/>
          </a:xfrm>
          <a:prstGeom prst="roundRect">
            <a:avLst>
              <a:gd name="adj" fmla="val 288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Nunito Sans"/>
              <a:ea typeface="+mn-ea"/>
              <a:cs typeface="+mn-cs"/>
            </a:endParaRPr>
          </a:p>
        </p:txBody>
      </p:sp>
      <p:sp>
        <p:nvSpPr>
          <p:cNvPr id="15" name="TextBox 14">
            <a:extLst>
              <a:ext uri="{FF2B5EF4-FFF2-40B4-BE49-F238E27FC236}">
                <a16:creationId xmlns:a16="http://schemas.microsoft.com/office/drawing/2014/main" id="{00E35441-1C28-7CAA-24AC-1917864E2609}"/>
              </a:ext>
            </a:extLst>
          </p:cNvPr>
          <p:cNvSpPr txBox="1"/>
          <p:nvPr/>
        </p:nvSpPr>
        <p:spPr>
          <a:xfrm>
            <a:off x="651516" y="1940545"/>
            <a:ext cx="1333236" cy="445507"/>
          </a:xfrm>
          <a:prstGeom prst="rect">
            <a:avLst/>
          </a:prstGeom>
          <a:noFill/>
        </p:spPr>
        <p:txBody>
          <a:bodyPr wrap="square" rtlCol="0">
            <a:spAutoFit/>
          </a:bodyPr>
          <a:lstStyle/>
          <a:p>
            <a:pPr marL="0" marR="0" lvl="0" indent="0" algn="ctr" defTabSz="457200" rtl="0" eaLnBrk="1" fontAlgn="auto" latinLnBrk="0" hangingPunct="1">
              <a:lnSpc>
                <a:spcPct val="95000"/>
              </a:lnSpc>
              <a:spcBef>
                <a:spcPts val="0"/>
              </a:spcBef>
              <a:spcAft>
                <a:spcPts val="0"/>
              </a:spcAft>
              <a:buClrTx/>
              <a:buSzTx/>
              <a:buFontTx/>
              <a:buNone/>
              <a:tabLst/>
              <a:defRPr/>
            </a:pPr>
            <a:r>
              <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rPr>
              <a:t># </a:t>
            </a:r>
            <a:r>
              <a:rPr lang="en-US" sz="1200" b="1" kern="600" spc="-30" noProof="0" dirty="0">
                <a:solidFill>
                  <a:schemeClr val="bg1"/>
                </a:solidFill>
                <a:latin typeface="Nunito Sans" pitchFamily="2" charset="77"/>
              </a:rPr>
              <a:t>Swiss quality     equities</a:t>
            </a:r>
            <a:endPar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endParaRPr>
          </a:p>
        </p:txBody>
      </p:sp>
      <p:sp>
        <p:nvSpPr>
          <p:cNvPr id="16" name="TextBox 14">
            <a:extLst>
              <a:ext uri="{FF2B5EF4-FFF2-40B4-BE49-F238E27FC236}">
                <a16:creationId xmlns:a16="http://schemas.microsoft.com/office/drawing/2014/main" id="{98FF1733-FBAC-A02B-7334-022555750468}"/>
              </a:ext>
            </a:extLst>
          </p:cNvPr>
          <p:cNvSpPr txBox="1"/>
          <p:nvPr/>
        </p:nvSpPr>
        <p:spPr>
          <a:xfrm>
            <a:off x="2050890" y="2035836"/>
            <a:ext cx="1319591" cy="270074"/>
          </a:xfrm>
          <a:prstGeom prst="rect">
            <a:avLst/>
          </a:prstGeom>
          <a:noFill/>
        </p:spPr>
        <p:txBody>
          <a:bodyPr wrap="square" rtlCol="0">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rPr>
              <a:t># </a:t>
            </a:r>
            <a:r>
              <a:rPr lang="en-US" sz="1200" b="1" kern="600" spc="-30" noProof="0" dirty="0">
                <a:solidFill>
                  <a:schemeClr val="bg1"/>
                </a:solidFill>
                <a:latin typeface="Nunito Sans" pitchFamily="2" charset="77"/>
              </a:rPr>
              <a:t>high</a:t>
            </a:r>
            <a:r>
              <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rPr>
              <a:t> dividend</a:t>
            </a:r>
          </a:p>
        </p:txBody>
      </p:sp>
      <p:sp>
        <p:nvSpPr>
          <p:cNvPr id="17" name="Text Placeholder 6">
            <a:extLst>
              <a:ext uri="{FF2B5EF4-FFF2-40B4-BE49-F238E27FC236}">
                <a16:creationId xmlns:a16="http://schemas.microsoft.com/office/drawing/2014/main" id="{12473863-6BBF-D4C9-9755-03078093CDF8}"/>
              </a:ext>
            </a:extLst>
          </p:cNvPr>
          <p:cNvSpPr txBox="1">
            <a:spLocks/>
          </p:cNvSpPr>
          <p:nvPr/>
        </p:nvSpPr>
        <p:spPr>
          <a:xfrm>
            <a:off x="2960366" y="4668278"/>
            <a:ext cx="1408749" cy="229166"/>
          </a:xfrm>
          <a:prstGeom prst="rect">
            <a:avLst/>
          </a:prstGeom>
          <a:noFill/>
        </p:spPr>
        <p:txBody>
          <a:bodyPr vert="horz" lIns="0" tIns="0" rIns="0" bIns="0" rtlCol="0" anchor="b">
            <a:no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2"/>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algn="r"/>
            <a:r>
              <a:rPr lang="en-US" sz="1000" b="1" noProof="0" dirty="0"/>
              <a:t>Weights</a:t>
            </a:r>
          </a:p>
        </p:txBody>
      </p:sp>
      <p:graphicFrame>
        <p:nvGraphicFramePr>
          <p:cNvPr id="19" name="Table 18">
            <a:extLst>
              <a:ext uri="{FF2B5EF4-FFF2-40B4-BE49-F238E27FC236}">
                <a16:creationId xmlns:a16="http://schemas.microsoft.com/office/drawing/2014/main" id="{52F086A8-1173-6572-A565-431D8EEB5172}"/>
              </a:ext>
            </a:extLst>
          </p:cNvPr>
          <p:cNvGraphicFramePr>
            <a:graphicFrameLocks noGrp="1"/>
          </p:cNvGraphicFramePr>
          <p:nvPr>
            <p:custDataLst>
              <p:tags r:id="rId1"/>
            </p:custDataLst>
            <p:extLst>
              <p:ext uri="{D42A27DB-BD31-4B8C-83A1-F6EECF244321}">
                <p14:modId xmlns:p14="http://schemas.microsoft.com/office/powerpoint/2010/main" val="3718208227"/>
              </p:ext>
            </p:extLst>
          </p:nvPr>
        </p:nvGraphicFramePr>
        <p:xfrm>
          <a:off x="853473" y="4990733"/>
          <a:ext cx="3518111" cy="1834386"/>
        </p:xfrm>
        <a:graphic>
          <a:graphicData uri="http://schemas.openxmlformats.org/drawingml/2006/table">
            <a:tbl>
              <a:tblPr/>
              <a:tblGrid>
                <a:gridCol w="2476467">
                  <a:extLst>
                    <a:ext uri="{9D8B030D-6E8A-4147-A177-3AD203B41FA5}">
                      <a16:colId xmlns:a16="http://schemas.microsoft.com/office/drawing/2014/main" val="4038750185"/>
                    </a:ext>
                  </a:extLst>
                </a:gridCol>
                <a:gridCol w="480060">
                  <a:extLst>
                    <a:ext uri="{9D8B030D-6E8A-4147-A177-3AD203B41FA5}">
                      <a16:colId xmlns:a16="http://schemas.microsoft.com/office/drawing/2014/main" val="1210533160"/>
                    </a:ext>
                  </a:extLst>
                </a:gridCol>
                <a:gridCol w="561584">
                  <a:extLst>
                    <a:ext uri="{9D8B030D-6E8A-4147-A177-3AD203B41FA5}">
                      <a16:colId xmlns:a16="http://schemas.microsoft.com/office/drawing/2014/main" val="1926744572"/>
                    </a:ext>
                  </a:extLst>
                </a:gridCol>
              </a:tblGrid>
              <a:tr h="118323">
                <a:tc>
                  <a:txBody>
                    <a:bodyPr/>
                    <a:lstStyle/>
                    <a:p>
                      <a:pPr algn="l" fontAlgn="b"/>
                      <a:r>
                        <a:rPr lang="en-US" sz="1050" b="1" i="0" u="none" strike="noStrike" noProof="0" dirty="0">
                          <a:solidFill>
                            <a:schemeClr val="accent1"/>
                          </a:solidFill>
                          <a:effectLst/>
                          <a:latin typeface="Lucida"/>
                        </a:rPr>
                        <a:t>Novartis AG</a:t>
                      </a:r>
                    </a:p>
                  </a:txBody>
                  <a:tcPr marL="0" marR="0" marT="0" marB="0" anchor="b">
                    <a:lnL>
                      <a:noFill/>
                    </a:lnL>
                    <a:lnR>
                      <a:noFill/>
                    </a:lnR>
                    <a:lnT>
                      <a:noFill/>
                    </a:lnT>
                    <a:lnB>
                      <a:noFill/>
                    </a:lnB>
                    <a:noFill/>
                  </a:tcPr>
                </a:tc>
                <a:tc>
                  <a:txBody>
                    <a:bodyPr/>
                    <a:lstStyle/>
                    <a:p>
                      <a:pPr algn="l" fontAlgn="b"/>
                      <a:endParaRPr lang="en-US" sz="1050" b="1" i="0" u="none" strike="noStrike" noProof="0" dirty="0">
                        <a:solidFill>
                          <a:schemeClr val="accent1"/>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9.46%</a:t>
                      </a:r>
                    </a:p>
                  </a:txBody>
                  <a:tcPr marL="0" marR="0" marT="0" marB="0" anchor="b">
                    <a:lnL>
                      <a:noFill/>
                    </a:lnL>
                    <a:lnR>
                      <a:noFill/>
                    </a:lnR>
                    <a:lnT>
                      <a:noFill/>
                    </a:lnT>
                    <a:lnB>
                      <a:noFill/>
                    </a:lnB>
                    <a:noFill/>
                  </a:tcPr>
                </a:tc>
                <a:extLst>
                  <a:ext uri="{0D108BD9-81ED-4DB2-BD59-A6C34878D82A}">
                    <a16:rowId xmlns:a16="http://schemas.microsoft.com/office/drawing/2014/main" val="2619299991"/>
                  </a:ext>
                </a:extLst>
              </a:tr>
              <a:tr h="0">
                <a:tc>
                  <a:txBody>
                    <a:bodyPr/>
                    <a:lstStyle/>
                    <a:p>
                      <a:pPr marL="0" algn="l" defTabSz="1007943" rtl="0" eaLnBrk="1" fontAlgn="b" latinLnBrk="0" hangingPunct="1"/>
                      <a:r>
                        <a:rPr lang="en-US" sz="1050" b="1" i="0" u="none" strike="noStrike" kern="1200" noProof="0" dirty="0">
                          <a:solidFill>
                            <a:schemeClr val="accent5"/>
                          </a:solidFill>
                          <a:effectLst/>
                          <a:latin typeface="Lucida"/>
                          <a:ea typeface="+mn-ea"/>
                          <a:cs typeface="+mn-cs"/>
                        </a:rPr>
                        <a:t>Roche Holding AG</a:t>
                      </a: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kern="1200" noProof="0" dirty="0">
                        <a:solidFill>
                          <a:schemeClr val="accent5"/>
                        </a:solidFill>
                        <a:effectLst/>
                        <a:latin typeface="Lucida"/>
                        <a:ea typeface="+mn-ea"/>
                        <a:cs typeface="+mn-cs"/>
                      </a:endParaRP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9.43%</a:t>
                      </a:r>
                    </a:p>
                  </a:txBody>
                  <a:tcPr marL="0" marR="0" marT="0" marB="0" anchor="b">
                    <a:lnL>
                      <a:noFill/>
                    </a:lnL>
                    <a:lnR>
                      <a:noFill/>
                    </a:lnR>
                    <a:lnT>
                      <a:noFill/>
                    </a:lnT>
                    <a:lnB>
                      <a:noFill/>
                    </a:lnB>
                    <a:noFill/>
                  </a:tcPr>
                </a:tc>
                <a:extLst>
                  <a:ext uri="{0D108BD9-81ED-4DB2-BD59-A6C34878D82A}">
                    <a16:rowId xmlns:a16="http://schemas.microsoft.com/office/drawing/2014/main" val="4289126896"/>
                  </a:ext>
                </a:extLst>
              </a:tr>
              <a:tr h="0">
                <a:tc>
                  <a:txBody>
                    <a:bodyPr/>
                    <a:lstStyle/>
                    <a:p>
                      <a:pPr marL="0" algn="l" defTabSz="1007943" rtl="0" eaLnBrk="1" fontAlgn="b" latinLnBrk="0" hangingPunct="1"/>
                      <a:r>
                        <a:rPr lang="en-US" sz="1050" b="1" i="0" u="none" strike="noStrike" kern="1200" noProof="0" dirty="0">
                          <a:solidFill>
                            <a:schemeClr val="accent4"/>
                          </a:solidFill>
                          <a:effectLst/>
                          <a:latin typeface="Lucida"/>
                          <a:ea typeface="+mn-ea"/>
                          <a:cs typeface="+mn-cs"/>
                        </a:rPr>
                        <a:t>UBS group AG</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9.30%</a:t>
                      </a:r>
                    </a:p>
                  </a:txBody>
                  <a:tcPr marL="0" marR="0" marT="0" marB="0" anchor="b">
                    <a:lnL>
                      <a:noFill/>
                    </a:lnL>
                    <a:lnR>
                      <a:noFill/>
                    </a:lnR>
                    <a:lnT>
                      <a:noFill/>
                    </a:lnT>
                    <a:lnB>
                      <a:noFill/>
                    </a:lnB>
                    <a:noFill/>
                  </a:tcPr>
                </a:tc>
                <a:extLst>
                  <a:ext uri="{0D108BD9-81ED-4DB2-BD59-A6C34878D82A}">
                    <a16:rowId xmlns:a16="http://schemas.microsoft.com/office/drawing/2014/main" val="962780608"/>
                  </a:ext>
                </a:extLst>
              </a:tr>
              <a:tr h="0">
                <a:tc>
                  <a:txBody>
                    <a:bodyPr/>
                    <a:lstStyle/>
                    <a:p>
                      <a:pPr algn="l" fontAlgn="b"/>
                      <a:r>
                        <a:rPr lang="en-US" sz="1050" b="1" kern="1200" noProof="0" dirty="0">
                          <a:solidFill>
                            <a:schemeClr val="accent2"/>
                          </a:solidFill>
                          <a:latin typeface="Lucida"/>
                          <a:ea typeface="+mn-ea"/>
                          <a:cs typeface="+mn-cs"/>
                        </a:rPr>
                        <a:t>Nestle SA</a:t>
                      </a: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2"/>
                          </a:solidFill>
                          <a:effectLst/>
                          <a:latin typeface="Lucida"/>
                        </a:rPr>
                        <a:t>9.01%</a:t>
                      </a:r>
                    </a:p>
                  </a:txBody>
                  <a:tcPr marL="0" marR="0" marT="0" marB="0" anchor="b">
                    <a:lnL>
                      <a:noFill/>
                    </a:lnL>
                    <a:lnR>
                      <a:noFill/>
                    </a:lnR>
                    <a:lnT>
                      <a:noFill/>
                    </a:lnT>
                    <a:lnB>
                      <a:noFill/>
                    </a:lnB>
                    <a:noFill/>
                  </a:tcPr>
                </a:tc>
                <a:extLst>
                  <a:ext uri="{0D108BD9-81ED-4DB2-BD59-A6C34878D82A}">
                    <a16:rowId xmlns:a16="http://schemas.microsoft.com/office/drawing/2014/main" val="982958273"/>
                  </a:ext>
                </a:extLst>
              </a:tr>
              <a:tr h="200025">
                <a:tc>
                  <a:txBody>
                    <a:bodyPr/>
                    <a:lstStyle/>
                    <a:p>
                      <a:pPr algn="l" fontAlgn="b"/>
                      <a:r>
                        <a:rPr lang="en-US" sz="1050" b="1" i="0" u="none" strike="noStrike" kern="1200" noProof="0" dirty="0">
                          <a:solidFill>
                            <a:srgbClr val="EB3F8E"/>
                          </a:solidFill>
                          <a:effectLst/>
                          <a:latin typeface="Lucida"/>
                          <a:ea typeface="+mn-ea"/>
                          <a:cs typeface="+mn-cs"/>
                        </a:rPr>
                        <a:t>Zurich Insurance Group AG</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rgbClr val="EB3F8E"/>
                          </a:solidFill>
                          <a:effectLst/>
                          <a:latin typeface="Lucida"/>
                          <a:ea typeface="+mn-ea"/>
                          <a:cs typeface="+mn-cs"/>
                        </a:rPr>
                        <a:t>8.78%</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1670788518"/>
                  </a:ext>
                </a:extLst>
              </a:tr>
              <a:tr h="194181">
                <a:tc>
                  <a:txBody>
                    <a:bodyPr/>
                    <a:lstStyle/>
                    <a:p>
                      <a:pPr algn="l" fontAlgn="b"/>
                      <a:r>
                        <a:rPr lang="en-US" sz="1050" b="1" i="0" u="none" strike="noStrike" noProof="0" dirty="0">
                          <a:solidFill>
                            <a:schemeClr val="accent1"/>
                          </a:solidFill>
                          <a:effectLst/>
                          <a:latin typeface="Lucida"/>
                        </a:rPr>
                        <a:t>ABB Ltd</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1"/>
                          </a:solidFill>
                          <a:effectLst/>
                          <a:latin typeface="Lucida"/>
                        </a:rPr>
                        <a:t>7.44%</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3053358887"/>
                  </a:ext>
                </a:extLst>
              </a:tr>
              <a:tr h="200025">
                <a:tc>
                  <a:txBody>
                    <a:bodyPr/>
                    <a:lstStyle/>
                    <a:p>
                      <a:pPr algn="l" fontAlgn="b"/>
                      <a:r>
                        <a:rPr lang="en-US" sz="1050" b="1" i="0" u="none" strike="noStrike" kern="1200" noProof="0" dirty="0">
                          <a:solidFill>
                            <a:schemeClr val="accent5"/>
                          </a:solidFill>
                          <a:effectLst/>
                          <a:latin typeface="Lucida"/>
                          <a:ea typeface="+mn-ea"/>
                          <a:cs typeface="+mn-cs"/>
                        </a:rPr>
                        <a:t>Swiss Re AG</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chemeClr val="accent5"/>
                          </a:solidFill>
                          <a:effectLst/>
                          <a:latin typeface="Lucida"/>
                          <a:ea typeface="+mn-ea"/>
                          <a:cs typeface="+mn-cs"/>
                        </a:rPr>
                        <a:t>6.27%</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228805539"/>
                  </a:ext>
                </a:extLst>
              </a:tr>
              <a:tr h="200025">
                <a:tc>
                  <a:txBody>
                    <a:bodyPr/>
                    <a:lstStyle/>
                    <a:p>
                      <a:pPr algn="l" fontAlgn="b"/>
                      <a:r>
                        <a:rPr lang="en-US" sz="1050" b="1" i="0" u="none" strike="noStrike" kern="1200" noProof="0" dirty="0">
                          <a:solidFill>
                            <a:schemeClr val="accent4"/>
                          </a:solidFill>
                          <a:effectLst/>
                          <a:latin typeface="Lucida"/>
                          <a:ea typeface="+mn-ea"/>
                          <a:cs typeface="+mn-cs"/>
                        </a:rPr>
                        <a:t>Givaudan SA</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chemeClr val="accent4"/>
                          </a:solidFill>
                          <a:effectLst/>
                          <a:latin typeface="Lucida"/>
                          <a:ea typeface="+mn-ea"/>
                          <a:cs typeface="+mn-cs"/>
                        </a:rPr>
                        <a:t>4.19%</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3741001515"/>
                  </a:ext>
                </a:extLst>
              </a:tr>
              <a:tr h="200025">
                <a:tc>
                  <a:txBody>
                    <a:bodyPr/>
                    <a:lstStyle/>
                    <a:p>
                      <a:pPr algn="l" fontAlgn="b"/>
                      <a:r>
                        <a:rPr lang="en-US" sz="1050" b="1" kern="1200" noProof="0" dirty="0">
                          <a:solidFill>
                            <a:schemeClr val="accent2"/>
                          </a:solidFill>
                          <a:latin typeface="Lucida"/>
                          <a:ea typeface="+mn-ea"/>
                          <a:cs typeface="+mn-cs"/>
                        </a:rPr>
                        <a:t>Swiss Life Holding</a:t>
                      </a: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2"/>
                          </a:solidFill>
                          <a:effectLst/>
                          <a:latin typeface="Lucida"/>
                        </a:rPr>
                        <a:t>3.99%</a:t>
                      </a:r>
                    </a:p>
                  </a:txBody>
                  <a:tcPr marL="0" marR="0" marT="0" marB="0" anchor="b">
                    <a:lnL>
                      <a:noFill/>
                    </a:lnL>
                    <a:lnR>
                      <a:noFill/>
                    </a:lnR>
                    <a:lnT>
                      <a:noFill/>
                    </a:lnT>
                    <a:lnB>
                      <a:noFill/>
                    </a:lnB>
                    <a:noFill/>
                  </a:tcPr>
                </a:tc>
                <a:extLst>
                  <a:ext uri="{0D108BD9-81ED-4DB2-BD59-A6C34878D82A}">
                    <a16:rowId xmlns:a16="http://schemas.microsoft.com/office/drawing/2014/main" val="1216838664"/>
                  </a:ext>
                </a:extLst>
              </a:tr>
              <a:tr h="200025">
                <a:tc>
                  <a:txBody>
                    <a:bodyPr/>
                    <a:lstStyle/>
                    <a:p>
                      <a:pPr marL="0" algn="l" defTabSz="1007943" rtl="0" eaLnBrk="1" fontAlgn="b" latinLnBrk="0" hangingPunct="1"/>
                      <a:r>
                        <a:rPr lang="en-US" sz="1050" b="1" i="0" u="none" strike="noStrike" kern="1200" noProof="0" dirty="0">
                          <a:solidFill>
                            <a:srgbClr val="EB3F8E"/>
                          </a:solidFill>
                          <a:effectLst/>
                          <a:latin typeface="Lucida"/>
                          <a:ea typeface="+mn-ea"/>
                          <a:cs typeface="+mn-cs"/>
                        </a:rPr>
                        <a:t>Holcim AG</a:t>
                      </a:r>
                      <a:endParaRPr lang="en-US" sz="1050" b="1" i="0" u="none" strike="noStrike" noProof="0" dirty="0">
                        <a:effectLst/>
                        <a:latin typeface="Lucida"/>
                      </a:endParaRP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noProof="0" dirty="0">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3.76%</a:t>
                      </a:r>
                    </a:p>
                  </a:txBody>
                  <a:tcPr marL="0" marR="0" marT="0" marB="0" anchor="b">
                    <a:lnL>
                      <a:noFill/>
                    </a:lnL>
                    <a:lnR>
                      <a:noFill/>
                    </a:lnR>
                    <a:lnT>
                      <a:noFill/>
                    </a:lnT>
                    <a:lnB>
                      <a:noFill/>
                    </a:lnB>
                    <a:noFill/>
                  </a:tcPr>
                </a:tc>
                <a:extLst>
                  <a:ext uri="{0D108BD9-81ED-4DB2-BD59-A6C34878D82A}">
                    <a16:rowId xmlns:a16="http://schemas.microsoft.com/office/drawing/2014/main" val="3036441744"/>
                  </a:ext>
                </a:extLst>
              </a:tr>
            </a:tbl>
          </a:graphicData>
        </a:graphic>
      </p:graphicFrame>
      <p:cxnSp>
        <p:nvCxnSpPr>
          <p:cNvPr id="25" name="Straight Connector 24">
            <a:extLst>
              <a:ext uri="{FF2B5EF4-FFF2-40B4-BE49-F238E27FC236}">
                <a16:creationId xmlns:a16="http://schemas.microsoft.com/office/drawing/2014/main" id="{C2BDF49E-83E1-24D7-1CD2-94EB01782F7C}"/>
              </a:ext>
            </a:extLst>
          </p:cNvPr>
          <p:cNvCxnSpPr>
            <a:cxnSpLocks/>
          </p:cNvCxnSpPr>
          <p:nvPr/>
        </p:nvCxnSpPr>
        <p:spPr>
          <a:xfrm>
            <a:off x="815605" y="4889863"/>
            <a:ext cx="35535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3" name="Graphique 8">
            <a:extLst>
              <a:ext uri="{FF2B5EF4-FFF2-40B4-BE49-F238E27FC236}">
                <a16:creationId xmlns:a16="http://schemas.microsoft.com/office/drawing/2014/main" id="{3BB54F31-4551-8992-B840-0B6E7DB23188}"/>
              </a:ext>
            </a:extLst>
          </p:cNvPr>
          <p:cNvGraphicFramePr>
            <a:graphicFrameLocks/>
          </p:cNvGraphicFramePr>
          <p:nvPr/>
        </p:nvGraphicFramePr>
        <p:xfrm>
          <a:off x="1468268" y="2570309"/>
          <a:ext cx="7791790" cy="1922913"/>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angle 3">
            <a:extLst>
              <a:ext uri="{FF2B5EF4-FFF2-40B4-BE49-F238E27FC236}">
                <a16:creationId xmlns:a16="http://schemas.microsoft.com/office/drawing/2014/main" id="{339D7A0C-BD24-5B30-3185-644EF764CA33}"/>
              </a:ext>
            </a:extLst>
          </p:cNvPr>
          <p:cNvSpPr/>
          <p:nvPr/>
        </p:nvSpPr>
        <p:spPr>
          <a:xfrm>
            <a:off x="5941063" y="4662604"/>
            <a:ext cx="2195431" cy="253916"/>
          </a:xfrm>
          <a:prstGeom prst="rect">
            <a:avLst/>
          </a:prstGeom>
        </p:spPr>
        <p:txBody>
          <a:bodyPr wrap="square">
            <a:spAutoFit/>
          </a:bodyPr>
          <a:lstStyle/>
          <a:p>
            <a:r>
              <a:rPr lang="en-US" sz="1050" b="1" noProof="0" dirty="0">
                <a:solidFill>
                  <a:schemeClr val="tx2"/>
                </a:solidFill>
                <a:latin typeface="Nunito Sans" pitchFamily="2" charset="77"/>
              </a:rPr>
              <a:t>	</a:t>
            </a:r>
          </a:p>
        </p:txBody>
      </p:sp>
      <p:sp>
        <p:nvSpPr>
          <p:cNvPr id="6" name="Text Placeholder 6">
            <a:extLst>
              <a:ext uri="{FF2B5EF4-FFF2-40B4-BE49-F238E27FC236}">
                <a16:creationId xmlns:a16="http://schemas.microsoft.com/office/drawing/2014/main" id="{4C96ED97-0EA4-7D66-07AB-3C7BFEA685DA}"/>
              </a:ext>
            </a:extLst>
          </p:cNvPr>
          <p:cNvSpPr txBox="1">
            <a:spLocks/>
          </p:cNvSpPr>
          <p:nvPr/>
        </p:nvSpPr>
        <p:spPr>
          <a:xfrm>
            <a:off x="9468204" y="4560396"/>
            <a:ext cx="707272" cy="229166"/>
          </a:xfrm>
          <a:prstGeom prst="rect">
            <a:avLst/>
          </a:prstGeom>
          <a:noFill/>
        </p:spPr>
        <p:txBody>
          <a:bodyPr vert="horz" lIns="0" tIns="0" rIns="0" bIns="0" rtlCol="0" anchor="b">
            <a:no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2"/>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algn="r"/>
            <a:endParaRPr lang="en-US" sz="1000" b="1" noProof="0" dirty="0"/>
          </a:p>
        </p:txBody>
      </p:sp>
      <p:sp>
        <p:nvSpPr>
          <p:cNvPr id="18" name="Rounded Rectangle 17">
            <a:extLst>
              <a:ext uri="{FF2B5EF4-FFF2-40B4-BE49-F238E27FC236}">
                <a16:creationId xmlns:a16="http://schemas.microsoft.com/office/drawing/2014/main" id="{8109FB9D-9D77-B834-09DC-65D0DB68AD9B}"/>
              </a:ext>
            </a:extLst>
          </p:cNvPr>
          <p:cNvSpPr/>
          <p:nvPr/>
        </p:nvSpPr>
        <p:spPr>
          <a:xfrm>
            <a:off x="3318310" y="1964145"/>
            <a:ext cx="1620835" cy="382076"/>
          </a:xfrm>
          <a:prstGeom prst="roundRect">
            <a:avLst>
              <a:gd name="adj" fmla="val 2883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b="1" noProof="0" dirty="0">
                <a:solidFill>
                  <a:srgbClr val="FFFFFF"/>
                </a:solidFill>
                <a:latin typeface="Nunito Sans"/>
              </a:rPr>
              <a:t># income through call overwriting </a:t>
            </a:r>
            <a:endParaRPr kumimoji="0" lang="en-US" sz="1200" b="1" i="0" u="none" strike="noStrike" kern="1200" cap="none" spc="0" normalizeH="0" baseline="0" noProof="0" dirty="0">
              <a:ln>
                <a:noFill/>
              </a:ln>
              <a:solidFill>
                <a:srgbClr val="FFFFFF"/>
              </a:solidFill>
              <a:effectLst/>
              <a:uLnTx/>
              <a:uFillTx/>
              <a:latin typeface="Nunito Sans"/>
              <a:ea typeface="+mn-ea"/>
              <a:cs typeface="+mn-cs"/>
            </a:endParaRPr>
          </a:p>
        </p:txBody>
      </p:sp>
      <p:sp>
        <p:nvSpPr>
          <p:cNvPr id="12" name="Text Box 6">
            <a:extLst>
              <a:ext uri="{FF2B5EF4-FFF2-40B4-BE49-F238E27FC236}">
                <a16:creationId xmlns:a16="http://schemas.microsoft.com/office/drawing/2014/main" id="{E62A4B3E-EC8F-BCAF-2FAC-F2F5B84B186D}"/>
              </a:ext>
            </a:extLst>
          </p:cNvPr>
          <p:cNvSpPr txBox="1">
            <a:spLocks noChangeArrowheads="1"/>
          </p:cNvSpPr>
          <p:nvPr/>
        </p:nvSpPr>
        <p:spPr bwMode="auto">
          <a:xfrm>
            <a:off x="4653271" y="7106106"/>
            <a:ext cx="3663950"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944" tIns="0" rIns="0" bIns="0">
            <a:spAutoFit/>
          </a:bodyPr>
          <a:lstStyle>
            <a:lvl1pPr defTabSz="858838">
              <a:defRPr sz="2800">
                <a:solidFill>
                  <a:schemeClr val="tx1"/>
                </a:solidFill>
                <a:latin typeface="Arial" panose="020B0604020202020204" pitchFamily="34" charset="0"/>
              </a:defRPr>
            </a:lvl1pPr>
            <a:lvl2pPr marL="742950" indent="-285750" defTabSz="858838">
              <a:defRPr sz="2800">
                <a:solidFill>
                  <a:schemeClr val="tx1"/>
                </a:solidFill>
                <a:latin typeface="Arial" panose="020B0604020202020204" pitchFamily="34" charset="0"/>
              </a:defRPr>
            </a:lvl2pPr>
            <a:lvl3pPr marL="1143000" indent="-228600" defTabSz="858838">
              <a:defRPr sz="2800">
                <a:solidFill>
                  <a:schemeClr val="tx1"/>
                </a:solidFill>
                <a:latin typeface="Arial" panose="020B0604020202020204" pitchFamily="34" charset="0"/>
              </a:defRPr>
            </a:lvl3pPr>
            <a:lvl4pPr marL="1600200" indent="-228600" defTabSz="858838">
              <a:defRPr sz="2800">
                <a:solidFill>
                  <a:schemeClr val="tx1"/>
                </a:solidFill>
                <a:latin typeface="Arial" panose="020B0604020202020204" pitchFamily="34" charset="0"/>
              </a:defRPr>
            </a:lvl4pPr>
            <a:lvl5pPr marL="2057400" indent="-228600" defTabSz="858838">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defRPr sz="2800">
                <a:solidFill>
                  <a:schemeClr val="tx1"/>
                </a:solidFill>
                <a:latin typeface="Arial" panose="020B0604020202020204" pitchFamily="34" charset="0"/>
              </a:defRPr>
            </a:lvl9pPr>
          </a:lstStyle>
          <a:p>
            <a:r>
              <a:rPr lang="en-US" sz="700" b="1" i="1" noProof="0" dirty="0">
                <a:solidFill>
                  <a:srgbClr val="4B5F80"/>
                </a:solidFill>
                <a:latin typeface="Nunito Sans" pitchFamily="2" charset="77"/>
              </a:rPr>
              <a:t>Source: UBS</a:t>
            </a:r>
            <a:endParaRPr lang="en-US" sz="700" i="1" noProof="0" dirty="0">
              <a:solidFill>
                <a:srgbClr val="4B5F80"/>
              </a:solidFill>
              <a:latin typeface="Nunito Sans" pitchFamily="2" charset="77"/>
            </a:endParaRPr>
          </a:p>
        </p:txBody>
      </p:sp>
      <p:graphicFrame>
        <p:nvGraphicFramePr>
          <p:cNvPr id="8" name="Chart 7">
            <a:extLst>
              <a:ext uri="{FF2B5EF4-FFF2-40B4-BE49-F238E27FC236}">
                <a16:creationId xmlns:a16="http://schemas.microsoft.com/office/drawing/2014/main" id="{9D09A266-7BC0-9A42-320A-A1E1DDCC0DC1}"/>
              </a:ext>
            </a:extLst>
          </p:cNvPr>
          <p:cNvGraphicFramePr>
            <a:graphicFrameLocks/>
          </p:cNvGraphicFramePr>
          <p:nvPr/>
        </p:nvGraphicFramePr>
        <p:xfrm>
          <a:off x="5706548" y="5123843"/>
          <a:ext cx="3553510" cy="1931827"/>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Box 19">
            <a:extLst>
              <a:ext uri="{FF2B5EF4-FFF2-40B4-BE49-F238E27FC236}">
                <a16:creationId xmlns:a16="http://schemas.microsoft.com/office/drawing/2014/main" id="{65DC12E0-2B4C-39AB-7AE2-82CD633B1FD2}"/>
              </a:ext>
            </a:extLst>
          </p:cNvPr>
          <p:cNvSpPr txBox="1"/>
          <p:nvPr/>
        </p:nvSpPr>
        <p:spPr>
          <a:xfrm>
            <a:off x="5706548" y="4982857"/>
            <a:ext cx="3663950" cy="356938"/>
          </a:xfrm>
          <a:prstGeom prst="rect">
            <a:avLst/>
          </a:prstGeom>
          <a:noFill/>
        </p:spPr>
        <p:txBody>
          <a:bodyPr vert="horz" wrap="square" lIns="0" tIns="0" rIns="0" bIns="0" rtlCol="0">
            <a:noAutofit/>
          </a:bodyPr>
          <a:lstStyle/>
          <a:p>
            <a:pPr algn="l"/>
            <a:r>
              <a:rPr lang="en-US" sz="800" noProof="0" dirty="0">
                <a:solidFill>
                  <a:srgbClr val="7C7C7C"/>
                </a:solidFill>
              </a:rPr>
              <a:t>Indicative current yield = dividend yield + call overwriting yield</a:t>
            </a:r>
          </a:p>
        </p:txBody>
      </p:sp>
      <p:sp>
        <p:nvSpPr>
          <p:cNvPr id="21" name="TextBox 20">
            <a:extLst>
              <a:ext uri="{FF2B5EF4-FFF2-40B4-BE49-F238E27FC236}">
                <a16:creationId xmlns:a16="http://schemas.microsoft.com/office/drawing/2014/main" id="{BACBBB35-3834-3ECE-7D30-13743B7BE348}"/>
              </a:ext>
            </a:extLst>
          </p:cNvPr>
          <p:cNvSpPr txBox="1"/>
          <p:nvPr/>
        </p:nvSpPr>
        <p:spPr>
          <a:xfrm>
            <a:off x="6567867" y="5302386"/>
            <a:ext cx="736009" cy="207538"/>
          </a:xfrm>
          <a:prstGeom prst="rect">
            <a:avLst/>
          </a:prstGeom>
          <a:noFill/>
        </p:spPr>
        <p:txBody>
          <a:bodyPr vert="horz" wrap="square" lIns="0" tIns="0" rIns="0" bIns="0" rtlCol="0">
            <a:noAutofit/>
          </a:bodyPr>
          <a:lstStyle/>
          <a:p>
            <a:pPr algn="l"/>
            <a:r>
              <a:rPr lang="en-US" sz="900" b="1" noProof="0" dirty="0">
                <a:solidFill>
                  <a:srgbClr val="7C7C7C"/>
                </a:solidFill>
              </a:rPr>
              <a:t>Total: 8.42%</a:t>
            </a:r>
          </a:p>
        </p:txBody>
      </p:sp>
      <p:cxnSp>
        <p:nvCxnSpPr>
          <p:cNvPr id="23" name="Straight Connector 22">
            <a:extLst>
              <a:ext uri="{FF2B5EF4-FFF2-40B4-BE49-F238E27FC236}">
                <a16:creationId xmlns:a16="http://schemas.microsoft.com/office/drawing/2014/main" id="{816FC70A-D924-73C7-AAF8-6E2442416660}"/>
              </a:ext>
            </a:extLst>
          </p:cNvPr>
          <p:cNvCxnSpPr>
            <a:cxnSpLocks/>
          </p:cNvCxnSpPr>
          <p:nvPr/>
        </p:nvCxnSpPr>
        <p:spPr>
          <a:xfrm>
            <a:off x="5706548" y="4889863"/>
            <a:ext cx="35535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80A04E51-12F9-8E78-3E16-BD86CAD1F963}"/>
              </a:ext>
            </a:extLst>
          </p:cNvPr>
          <p:cNvSpPr txBox="1"/>
          <p:nvPr/>
        </p:nvSpPr>
        <p:spPr>
          <a:xfrm>
            <a:off x="5626591" y="4686383"/>
            <a:ext cx="3354571" cy="253916"/>
          </a:xfrm>
          <a:prstGeom prst="rect">
            <a:avLst/>
          </a:prstGeom>
          <a:noFill/>
        </p:spPr>
        <p:txBody>
          <a:bodyPr wrap="square">
            <a:spAutoFit/>
          </a:bodyPr>
          <a:lstStyle/>
          <a:p>
            <a:r>
              <a:rPr lang="en-US" sz="1050" b="1" noProof="0" dirty="0">
                <a:solidFill>
                  <a:schemeClr val="accent4"/>
                </a:solidFill>
                <a:latin typeface="Nunito Sans" pitchFamily="2" charset="77"/>
              </a:rPr>
              <a:t>Attractive income from dividends and call options</a:t>
            </a:r>
            <a:endParaRPr lang="en-US" sz="1050" noProof="0" dirty="0"/>
          </a:p>
        </p:txBody>
      </p:sp>
    </p:spTree>
    <p:extLst>
      <p:ext uri="{BB962C8B-B14F-4D97-AF65-F5344CB8AC3E}">
        <p14:creationId xmlns:p14="http://schemas.microsoft.com/office/powerpoint/2010/main" val="39324726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43A29-1E3C-4F06-1415-CE248C3926E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399AD98-B8A0-64F8-4B8A-A9C482EC5917}"/>
              </a:ext>
            </a:extLst>
          </p:cNvPr>
          <p:cNvSpPr>
            <a:spLocks noGrp="1"/>
          </p:cNvSpPr>
          <p:nvPr>
            <p:ph idx="1"/>
          </p:nvPr>
        </p:nvSpPr>
        <p:spPr>
          <a:xfrm>
            <a:off x="665163" y="2052410"/>
            <a:ext cx="5580422" cy="2904010"/>
          </a:xfrm>
        </p:spPr>
        <p:txBody>
          <a:bodyPr/>
          <a:lstStyle/>
          <a:p>
            <a:pPr marL="0" indent="0">
              <a:spcBef>
                <a:spcPts val="300"/>
              </a:spcBef>
              <a:buNone/>
            </a:pPr>
            <a:endParaRPr lang="en-US" sz="1050" b="1" noProof="0" dirty="0"/>
          </a:p>
          <a:p>
            <a:pPr>
              <a:spcBef>
                <a:spcPts val="300"/>
              </a:spcBef>
            </a:pPr>
            <a:r>
              <a:rPr lang="en-US" sz="1050" noProof="0" dirty="0"/>
              <a:t>Given that beating the S&amp;P 500 is notoriously difficult, the Schroder US large Cap Fund’s </a:t>
            </a:r>
            <a:r>
              <a:rPr lang="en-US" sz="1050" b="1" noProof="0" dirty="0"/>
              <a:t>5-year outperformance is a notable achievement</a:t>
            </a:r>
            <a:r>
              <a:rPr lang="en-US" sz="1050" noProof="0" dirty="0"/>
              <a:t>. The fund follows </a:t>
            </a:r>
            <a:r>
              <a:rPr lang="en-US" sz="1050" b="1" noProof="0" dirty="0"/>
              <a:t>a blended US strategy, </a:t>
            </a:r>
            <a:r>
              <a:rPr lang="en-US" sz="1050" noProof="0" dirty="0"/>
              <a:t>combining the Schroder team’s best value and growth ideas.</a:t>
            </a:r>
          </a:p>
          <a:p>
            <a:pPr>
              <a:spcBef>
                <a:spcPts val="300"/>
              </a:spcBef>
            </a:pPr>
            <a:r>
              <a:rPr lang="en-US" sz="1050" noProof="0" dirty="0"/>
              <a:t>The management team applies a proven </a:t>
            </a:r>
            <a:r>
              <a:rPr lang="en-US" sz="1050" b="1" noProof="0" dirty="0"/>
              <a:t>proprietary screening process, the “growth gap approach”,</a:t>
            </a:r>
            <a:r>
              <a:rPr lang="en-US" sz="1050" noProof="0" dirty="0"/>
              <a:t> which exploits the </a:t>
            </a:r>
            <a:r>
              <a:rPr lang="en-US" sz="1050" b="1" noProof="0" dirty="0"/>
              <a:t>market’s tendency to underprice positive fundamental changes (such as earnings upgrades) </a:t>
            </a:r>
            <a:r>
              <a:rPr lang="en-US" sz="1050" noProof="0" dirty="0"/>
              <a:t>and to delay cutting forecasts when companies weaken; often </a:t>
            </a:r>
            <a:r>
              <a:rPr lang="en-US" sz="1050" b="1" noProof="0" dirty="0"/>
              <a:t>leading to sharp earnings revisions. </a:t>
            </a:r>
          </a:p>
          <a:p>
            <a:pPr>
              <a:spcBef>
                <a:spcPts val="300"/>
              </a:spcBef>
            </a:pPr>
            <a:r>
              <a:rPr lang="en-US" sz="1050" noProof="0" dirty="0"/>
              <a:t>With this approach, two-third of the portfolio is invested in companies with </a:t>
            </a:r>
            <a:r>
              <a:rPr lang="en-US" sz="1050" b="1" noProof="0" dirty="0"/>
              <a:t>underappreciated growth prospects, forming the Core of the fund</a:t>
            </a:r>
            <a:r>
              <a:rPr lang="en-US" sz="1050" noProof="0" dirty="0"/>
              <a:t>. The remaining third is allocated in shorter-term, </a:t>
            </a:r>
            <a:r>
              <a:rPr lang="en-US" sz="1050" b="1" noProof="0" dirty="0"/>
              <a:t>more Opportunistic positions </a:t>
            </a:r>
            <a:r>
              <a:rPr lang="en-US" sz="1050" noProof="0" dirty="0"/>
              <a:t>(often cyclical companies) allowing the strategy </a:t>
            </a:r>
            <a:r>
              <a:rPr lang="en-US" sz="1050" b="1" noProof="0" dirty="0"/>
              <a:t>to capture additional opportunities across market phases</a:t>
            </a:r>
            <a:r>
              <a:rPr lang="en-US" sz="1050" noProof="0" dirty="0"/>
              <a:t>.</a:t>
            </a:r>
          </a:p>
          <a:p>
            <a:pPr>
              <a:spcBef>
                <a:spcPts val="300"/>
              </a:spcBef>
            </a:pPr>
            <a:r>
              <a:rPr lang="en-US" sz="1050" noProof="0" dirty="0"/>
              <a:t>This approach has </a:t>
            </a:r>
            <a:r>
              <a:rPr lang="en-US" sz="1050" b="1" noProof="0" dirty="0"/>
              <a:t>positioned the fund well to navigate diverse market environments in recent years. </a:t>
            </a:r>
            <a:endParaRPr lang="en-US" sz="1000" noProof="0" dirty="0"/>
          </a:p>
          <a:p>
            <a:pPr>
              <a:spcBef>
                <a:spcPts val="300"/>
              </a:spcBef>
            </a:pPr>
            <a:endParaRPr lang="en-US" sz="1000" noProof="0" dirty="0"/>
          </a:p>
          <a:p>
            <a:pPr>
              <a:spcBef>
                <a:spcPts val="300"/>
              </a:spcBef>
            </a:pPr>
            <a:endParaRPr lang="en-US" sz="900" noProof="0" dirty="0"/>
          </a:p>
        </p:txBody>
      </p:sp>
      <p:sp>
        <p:nvSpPr>
          <p:cNvPr id="35" name="Espace réservé du contenu 2">
            <a:extLst>
              <a:ext uri="{FF2B5EF4-FFF2-40B4-BE49-F238E27FC236}">
                <a16:creationId xmlns:a16="http://schemas.microsoft.com/office/drawing/2014/main" id="{9E221DD4-A735-67C8-4C51-210C0A406595}"/>
              </a:ext>
            </a:extLst>
          </p:cNvPr>
          <p:cNvSpPr txBox="1">
            <a:spLocks/>
          </p:cNvSpPr>
          <p:nvPr/>
        </p:nvSpPr>
        <p:spPr>
          <a:xfrm>
            <a:off x="2469456" y="610563"/>
            <a:ext cx="1406710" cy="130980"/>
          </a:xfrm>
          <a:prstGeom prst="rect">
            <a:avLst/>
          </a:prstGeom>
          <a:noFill/>
        </p:spPr>
        <p:txBody>
          <a:bodyPr vert="horz" lIns="0" tIns="0" rIns="0" bIns="0" rtlCol="0">
            <a:noAutofit/>
          </a:bodyPr>
          <a:lstStyle>
            <a:lvl1pPr marL="273600" indent="-27360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Char char=""/>
              <a:defRPr sz="1400" b="0" kern="1200" cap="none" baseline="0">
                <a:solidFill>
                  <a:schemeClr val="tx1"/>
                </a:solidFill>
                <a:latin typeface="+mn-lt"/>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0" indent="0">
              <a:spcBef>
                <a:spcPts val="0"/>
              </a:spcBef>
              <a:buNone/>
              <a:tabLst>
                <a:tab pos="542925" algn="l"/>
              </a:tabLst>
            </a:pPr>
            <a:r>
              <a:rPr lang="en-US" sz="1050" noProof="0" dirty="0">
                <a:solidFill>
                  <a:schemeClr val="accent1"/>
                </a:solidFill>
                <a:latin typeface="+mj-lt"/>
              </a:rPr>
              <a:t>ISIN: LU0106261372</a:t>
            </a:r>
          </a:p>
          <a:p>
            <a:pPr marL="0" indent="0">
              <a:spcBef>
                <a:spcPts val="0"/>
              </a:spcBef>
              <a:buNone/>
              <a:tabLst>
                <a:tab pos="542925" algn="l"/>
              </a:tabLst>
            </a:pPr>
            <a:endParaRPr lang="en-US" sz="1050" noProof="0" dirty="0">
              <a:solidFill>
                <a:schemeClr val="accent1"/>
              </a:solidFill>
              <a:latin typeface="+mj-lt"/>
            </a:endParaRPr>
          </a:p>
        </p:txBody>
      </p:sp>
      <p:sp>
        <p:nvSpPr>
          <p:cNvPr id="23" name="Espace réservé du texte 22">
            <a:extLst>
              <a:ext uri="{FF2B5EF4-FFF2-40B4-BE49-F238E27FC236}">
                <a16:creationId xmlns:a16="http://schemas.microsoft.com/office/drawing/2014/main" id="{95EC22C4-F8F9-09D8-19CF-B2934FE6EFDD}"/>
              </a:ext>
            </a:extLst>
          </p:cNvPr>
          <p:cNvSpPr>
            <a:spLocks noGrp="1"/>
          </p:cNvSpPr>
          <p:nvPr>
            <p:ph type="body" sz="quarter" idx="10"/>
          </p:nvPr>
        </p:nvSpPr>
        <p:spPr>
          <a:xfrm>
            <a:off x="716458" y="1819432"/>
            <a:ext cx="5741879" cy="294968"/>
          </a:xfrm>
        </p:spPr>
        <p:txBody>
          <a:bodyPr/>
          <a:lstStyle/>
          <a:p>
            <a:r>
              <a:rPr lang="en-US" sz="1400" noProof="0" dirty="0">
                <a:solidFill>
                  <a:schemeClr val="accent4"/>
                </a:solidFill>
              </a:rPr>
              <a:t>CHOOSING THE SCHRODER LARGE CAP FUND, KEY REASONS: </a:t>
            </a:r>
          </a:p>
        </p:txBody>
      </p:sp>
      <p:sp>
        <p:nvSpPr>
          <p:cNvPr id="2" name="Titre 1">
            <a:extLst>
              <a:ext uri="{FF2B5EF4-FFF2-40B4-BE49-F238E27FC236}">
                <a16:creationId xmlns:a16="http://schemas.microsoft.com/office/drawing/2014/main" id="{19C6F4CD-9B88-DE0C-5922-6E596CFCB3A6}"/>
              </a:ext>
            </a:extLst>
          </p:cNvPr>
          <p:cNvSpPr>
            <a:spLocks noGrp="1"/>
          </p:cNvSpPr>
          <p:nvPr>
            <p:ph type="title"/>
          </p:nvPr>
        </p:nvSpPr>
        <p:spPr/>
        <p:txBody>
          <a:bodyPr/>
          <a:lstStyle/>
          <a:p>
            <a:r>
              <a:rPr lang="en-US" noProof="0" dirty="0"/>
              <a:t>Introducing the Schroder US Large Cap Fund (USD)</a:t>
            </a:r>
          </a:p>
        </p:txBody>
      </p:sp>
      <p:sp>
        <p:nvSpPr>
          <p:cNvPr id="24" name="Rectangle 23">
            <a:extLst>
              <a:ext uri="{FF2B5EF4-FFF2-40B4-BE49-F238E27FC236}">
                <a16:creationId xmlns:a16="http://schemas.microsoft.com/office/drawing/2014/main" id="{BCC6B3F2-5EEB-9454-55FE-71CF86879FBE}"/>
              </a:ext>
            </a:extLst>
          </p:cNvPr>
          <p:cNvSpPr/>
          <p:nvPr/>
        </p:nvSpPr>
        <p:spPr>
          <a:xfrm>
            <a:off x="1037227" y="500032"/>
            <a:ext cx="1357129" cy="369332"/>
          </a:xfrm>
          <a:prstGeom prst="rect">
            <a:avLst/>
          </a:prstGeom>
        </p:spPr>
        <p:txBody>
          <a:bodyPr wrap="square">
            <a:spAutoFit/>
          </a:bodyPr>
          <a:lstStyle/>
          <a:p>
            <a:r>
              <a:rPr lang="en-US" sz="900" b="1" noProof="0" dirty="0">
                <a:solidFill>
                  <a:schemeClr val="accent2"/>
                </a:solidFill>
              </a:rPr>
              <a:t>FUND</a:t>
            </a:r>
          </a:p>
          <a:p>
            <a:r>
              <a:rPr lang="en-US" sz="900" b="1" noProof="0" dirty="0">
                <a:solidFill>
                  <a:schemeClr val="accent2"/>
                </a:solidFill>
              </a:rPr>
              <a:t>RECOMMENDATION </a:t>
            </a:r>
          </a:p>
        </p:txBody>
      </p:sp>
      <p:sp>
        <p:nvSpPr>
          <p:cNvPr id="27" name="Rounded Rectangle 26">
            <a:extLst>
              <a:ext uri="{FF2B5EF4-FFF2-40B4-BE49-F238E27FC236}">
                <a16:creationId xmlns:a16="http://schemas.microsoft.com/office/drawing/2014/main" id="{25524FE6-2104-240F-1353-208757F977DB}"/>
              </a:ext>
            </a:extLst>
          </p:cNvPr>
          <p:cNvSpPr/>
          <p:nvPr/>
        </p:nvSpPr>
        <p:spPr>
          <a:xfrm>
            <a:off x="665163" y="617143"/>
            <a:ext cx="372064"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Rounded Rectangle 27">
            <a:extLst>
              <a:ext uri="{FF2B5EF4-FFF2-40B4-BE49-F238E27FC236}">
                <a16:creationId xmlns:a16="http://schemas.microsoft.com/office/drawing/2014/main" id="{16C3D599-49D9-8617-14CF-09F576737CC7}"/>
              </a:ext>
            </a:extLst>
          </p:cNvPr>
          <p:cNvSpPr/>
          <p:nvPr/>
        </p:nvSpPr>
        <p:spPr>
          <a:xfrm rot="2494024">
            <a:off x="835441" y="574104"/>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Rounded Rectangle 32">
            <a:extLst>
              <a:ext uri="{FF2B5EF4-FFF2-40B4-BE49-F238E27FC236}">
                <a16:creationId xmlns:a16="http://schemas.microsoft.com/office/drawing/2014/main" id="{8D2EADE6-F6DB-DCE6-83B9-4125B7A3044F}"/>
              </a:ext>
            </a:extLst>
          </p:cNvPr>
          <p:cNvSpPr/>
          <p:nvPr/>
        </p:nvSpPr>
        <p:spPr>
          <a:xfrm rot="19105976" flipH="1">
            <a:off x="835441" y="657629"/>
            <a:ext cx="218107" cy="89096"/>
          </a:xfrm>
          <a:prstGeom prst="roundRect">
            <a:avLst>
              <a:gd name="adj" fmla="val 50000"/>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7" name="Straight Connector 36">
            <a:extLst>
              <a:ext uri="{FF2B5EF4-FFF2-40B4-BE49-F238E27FC236}">
                <a16:creationId xmlns:a16="http://schemas.microsoft.com/office/drawing/2014/main" id="{68F3C536-AD48-079F-0948-3BE0735677FD}"/>
              </a:ext>
            </a:extLst>
          </p:cNvPr>
          <p:cNvCxnSpPr/>
          <p:nvPr/>
        </p:nvCxnSpPr>
        <p:spPr>
          <a:xfrm>
            <a:off x="2367880" y="521861"/>
            <a:ext cx="0" cy="286003"/>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 Box 6">
            <a:extLst>
              <a:ext uri="{FF2B5EF4-FFF2-40B4-BE49-F238E27FC236}">
                <a16:creationId xmlns:a16="http://schemas.microsoft.com/office/drawing/2014/main" id="{C55C81B9-6058-B38B-4301-B4BDB251BFD6}"/>
              </a:ext>
            </a:extLst>
          </p:cNvPr>
          <p:cNvSpPr txBox="1">
            <a:spLocks noChangeArrowheads="1"/>
          </p:cNvSpPr>
          <p:nvPr/>
        </p:nvSpPr>
        <p:spPr bwMode="auto">
          <a:xfrm>
            <a:off x="4653271" y="7106106"/>
            <a:ext cx="3663950"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944" tIns="0" rIns="0" bIns="0">
            <a:spAutoFit/>
          </a:bodyPr>
          <a:lstStyle>
            <a:lvl1pPr defTabSz="858838">
              <a:defRPr sz="2800">
                <a:solidFill>
                  <a:schemeClr val="tx1"/>
                </a:solidFill>
                <a:latin typeface="Arial" panose="020B0604020202020204" pitchFamily="34" charset="0"/>
              </a:defRPr>
            </a:lvl1pPr>
            <a:lvl2pPr marL="742950" indent="-285750" defTabSz="858838">
              <a:defRPr sz="2800">
                <a:solidFill>
                  <a:schemeClr val="tx1"/>
                </a:solidFill>
                <a:latin typeface="Arial" panose="020B0604020202020204" pitchFamily="34" charset="0"/>
              </a:defRPr>
            </a:lvl2pPr>
            <a:lvl3pPr marL="1143000" indent="-228600" defTabSz="858838">
              <a:defRPr sz="2800">
                <a:solidFill>
                  <a:schemeClr val="tx1"/>
                </a:solidFill>
                <a:latin typeface="Arial" panose="020B0604020202020204" pitchFamily="34" charset="0"/>
              </a:defRPr>
            </a:lvl3pPr>
            <a:lvl4pPr marL="1600200" indent="-228600" defTabSz="858838">
              <a:defRPr sz="2800">
                <a:solidFill>
                  <a:schemeClr val="tx1"/>
                </a:solidFill>
                <a:latin typeface="Arial" panose="020B0604020202020204" pitchFamily="34" charset="0"/>
              </a:defRPr>
            </a:lvl4pPr>
            <a:lvl5pPr marL="2057400" indent="-228600" defTabSz="858838">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defRPr sz="2800">
                <a:solidFill>
                  <a:schemeClr val="tx1"/>
                </a:solidFill>
                <a:latin typeface="Arial" panose="020B0604020202020204" pitchFamily="34" charset="0"/>
              </a:defRPr>
            </a:lvl9pPr>
          </a:lstStyle>
          <a:p>
            <a:r>
              <a:rPr lang="en-US" sz="700" b="1" i="1" noProof="0" dirty="0">
                <a:solidFill>
                  <a:srgbClr val="4B5F80"/>
                </a:solidFill>
                <a:latin typeface="Nunito Sans" pitchFamily="2" charset="77"/>
              </a:rPr>
              <a:t>Source: Schroder, Bloomberg </a:t>
            </a:r>
            <a:endParaRPr lang="en-US" sz="700" i="1" noProof="0" dirty="0">
              <a:solidFill>
                <a:srgbClr val="4B5F80"/>
              </a:solidFill>
              <a:latin typeface="Nunito Sans" pitchFamily="2" charset="77"/>
            </a:endParaRPr>
          </a:p>
        </p:txBody>
      </p:sp>
      <p:sp>
        <p:nvSpPr>
          <p:cNvPr id="6" name="Text Box 5">
            <a:extLst>
              <a:ext uri="{FF2B5EF4-FFF2-40B4-BE49-F238E27FC236}">
                <a16:creationId xmlns:a16="http://schemas.microsoft.com/office/drawing/2014/main" id="{1C6FF4FC-277C-686C-0CBC-E0D645776642}"/>
              </a:ext>
            </a:extLst>
          </p:cNvPr>
          <p:cNvSpPr txBox="1">
            <a:spLocks noChangeArrowheads="1"/>
          </p:cNvSpPr>
          <p:nvPr/>
        </p:nvSpPr>
        <p:spPr bwMode="auto">
          <a:xfrm>
            <a:off x="6627379" y="5303076"/>
            <a:ext cx="2964364"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5944" tIns="0" rIns="0" bIns="0">
            <a:spAutoFit/>
          </a:bodyPr>
          <a:lstStyle>
            <a:lvl1pPr defTabSz="858838">
              <a:tabLst>
                <a:tab pos="536575" algn="l"/>
                <a:tab pos="2971800" algn="r"/>
              </a:tabLst>
              <a:defRPr sz="2800">
                <a:solidFill>
                  <a:schemeClr val="tx1"/>
                </a:solidFill>
                <a:latin typeface="Arial" panose="020B0604020202020204" pitchFamily="34" charset="0"/>
              </a:defRPr>
            </a:lvl1pPr>
            <a:lvl2pPr marL="742950" indent="-285750" defTabSz="858838">
              <a:tabLst>
                <a:tab pos="536575" algn="l"/>
                <a:tab pos="2971800" algn="r"/>
              </a:tabLst>
              <a:defRPr sz="2800">
                <a:solidFill>
                  <a:schemeClr val="tx1"/>
                </a:solidFill>
                <a:latin typeface="Arial" panose="020B0604020202020204" pitchFamily="34" charset="0"/>
              </a:defRPr>
            </a:lvl2pPr>
            <a:lvl3pPr marL="1143000" indent="-228600" defTabSz="858838">
              <a:tabLst>
                <a:tab pos="536575" algn="l"/>
                <a:tab pos="2971800" algn="r"/>
              </a:tabLst>
              <a:defRPr sz="2800">
                <a:solidFill>
                  <a:schemeClr val="tx1"/>
                </a:solidFill>
                <a:latin typeface="Arial" panose="020B0604020202020204" pitchFamily="34" charset="0"/>
              </a:defRPr>
            </a:lvl3pPr>
            <a:lvl4pPr marL="1600200" indent="-228600" defTabSz="858838">
              <a:tabLst>
                <a:tab pos="536575" algn="l"/>
                <a:tab pos="2971800" algn="r"/>
              </a:tabLst>
              <a:defRPr sz="2800">
                <a:solidFill>
                  <a:schemeClr val="tx1"/>
                </a:solidFill>
                <a:latin typeface="Arial" panose="020B0604020202020204" pitchFamily="34" charset="0"/>
              </a:defRPr>
            </a:lvl4pPr>
            <a:lvl5pPr marL="2057400" indent="-228600" defTabSz="858838">
              <a:tabLst>
                <a:tab pos="536575" algn="l"/>
                <a:tab pos="2971800" algn="r"/>
              </a:tabLst>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tabLst>
                <a:tab pos="536575" algn="l"/>
                <a:tab pos="2971800" algn="r"/>
              </a:tabLst>
              <a:defRPr sz="2800">
                <a:solidFill>
                  <a:schemeClr val="tx1"/>
                </a:solidFill>
                <a:latin typeface="Arial" panose="020B0604020202020204" pitchFamily="34" charset="0"/>
              </a:defRPr>
            </a:lvl9pPr>
          </a:lstStyle>
          <a:p>
            <a:pPr>
              <a:tabLst>
                <a:tab pos="536575" algn="l"/>
                <a:tab pos="2060575" algn="r"/>
              </a:tabLst>
            </a:pPr>
            <a:r>
              <a:rPr lang="en-US" sz="1000" b="1" noProof="0" dirty="0">
                <a:solidFill>
                  <a:srgbClr val="3AB7C8"/>
                </a:solidFill>
                <a:latin typeface="Nunito Sans" pitchFamily="2" charset="77"/>
              </a:rPr>
              <a:t>SFDR article                           8 </a:t>
            </a:r>
          </a:p>
          <a:p>
            <a:pPr>
              <a:tabLst>
                <a:tab pos="536575" algn="l"/>
                <a:tab pos="2600325" algn="r"/>
              </a:tabLst>
            </a:pPr>
            <a:endParaRPr lang="en-US" sz="900" noProof="0" dirty="0">
              <a:latin typeface="Nunito Sans" pitchFamily="2" charset="77"/>
            </a:endParaRPr>
          </a:p>
        </p:txBody>
      </p:sp>
      <p:sp>
        <p:nvSpPr>
          <p:cNvPr id="7" name="Rectangle 6">
            <a:extLst>
              <a:ext uri="{FF2B5EF4-FFF2-40B4-BE49-F238E27FC236}">
                <a16:creationId xmlns:a16="http://schemas.microsoft.com/office/drawing/2014/main" id="{4A5FBF92-4F99-A4ED-FE44-B72D88D784A9}"/>
              </a:ext>
            </a:extLst>
          </p:cNvPr>
          <p:cNvSpPr/>
          <p:nvPr/>
        </p:nvSpPr>
        <p:spPr>
          <a:xfrm>
            <a:off x="6627379" y="3073104"/>
            <a:ext cx="1217000" cy="246221"/>
          </a:xfrm>
          <a:prstGeom prst="rect">
            <a:avLst/>
          </a:prstGeom>
        </p:spPr>
        <p:txBody>
          <a:bodyPr wrap="none">
            <a:spAutoFit/>
          </a:bodyPr>
          <a:lstStyle/>
          <a:p>
            <a:r>
              <a:rPr lang="en-US" sz="1000" b="1" noProof="0" dirty="0">
                <a:solidFill>
                  <a:srgbClr val="3AB7C8"/>
                </a:solidFill>
                <a:latin typeface="Nunito Sans" pitchFamily="2" charset="77"/>
              </a:rPr>
              <a:t>Certificate details</a:t>
            </a:r>
          </a:p>
        </p:txBody>
      </p:sp>
      <p:sp>
        <p:nvSpPr>
          <p:cNvPr id="8" name="Rectangle 7">
            <a:extLst>
              <a:ext uri="{FF2B5EF4-FFF2-40B4-BE49-F238E27FC236}">
                <a16:creationId xmlns:a16="http://schemas.microsoft.com/office/drawing/2014/main" id="{B4C8D3F7-CAD5-0FAD-D750-CA7A40D090D3}"/>
              </a:ext>
            </a:extLst>
          </p:cNvPr>
          <p:cNvSpPr/>
          <p:nvPr/>
        </p:nvSpPr>
        <p:spPr>
          <a:xfrm>
            <a:off x="6627379" y="3317963"/>
            <a:ext cx="4296304" cy="1785104"/>
          </a:xfrm>
          <a:prstGeom prst="rect">
            <a:avLst/>
          </a:prstGeom>
        </p:spPr>
        <p:txBody>
          <a:bodyPr wrap="square">
            <a:spAutoFit/>
          </a:bodyPr>
          <a:lstStyle/>
          <a:p>
            <a:pPr algn="just">
              <a:tabLst>
                <a:tab pos="1641475" algn="l"/>
              </a:tabLst>
            </a:pPr>
            <a:r>
              <a:rPr lang="en-US" sz="1000" b="1" noProof="0" dirty="0">
                <a:solidFill>
                  <a:schemeClr val="tx2"/>
                </a:solidFill>
                <a:latin typeface="Nunito Sans" panose="00000500000000000000" pitchFamily="2" charset="0"/>
              </a:rPr>
              <a:t>ASSET CLASS	</a:t>
            </a:r>
            <a:r>
              <a:rPr lang="en-US" sz="1000" noProof="0" dirty="0">
                <a:solidFill>
                  <a:schemeClr val="tx2"/>
                </a:solidFill>
                <a:latin typeface="Nunito Sans" panose="00000500000000000000" pitchFamily="2" charset="0"/>
              </a:rPr>
              <a:t>Equity</a:t>
            </a:r>
          </a:p>
          <a:p>
            <a:pPr algn="just">
              <a:tabLst>
                <a:tab pos="1641475" algn="l"/>
              </a:tabLst>
            </a:pPr>
            <a:r>
              <a:rPr lang="en-US" sz="1000" b="1" noProof="0" dirty="0">
                <a:solidFill>
                  <a:schemeClr val="tx2"/>
                </a:solidFill>
                <a:latin typeface="Nunito Sans" panose="00000500000000000000" pitchFamily="2" charset="0"/>
              </a:rPr>
              <a:t>CURRENCY	</a:t>
            </a:r>
            <a:r>
              <a:rPr lang="en-US" sz="1000" noProof="0" dirty="0">
                <a:solidFill>
                  <a:schemeClr val="tx2"/>
                </a:solidFill>
                <a:latin typeface="Nunito Sans" panose="00000500000000000000" pitchFamily="2" charset="0"/>
              </a:rPr>
              <a:t>USD</a:t>
            </a:r>
          </a:p>
          <a:p>
            <a:pPr algn="just">
              <a:tabLst>
                <a:tab pos="1641475" algn="l"/>
              </a:tabLst>
            </a:pPr>
            <a:r>
              <a:rPr lang="en-US" sz="1000" b="1" noProof="0" dirty="0">
                <a:solidFill>
                  <a:schemeClr val="tx2"/>
                </a:solidFill>
                <a:latin typeface="Nunito Sans" panose="00000500000000000000" pitchFamily="2" charset="0"/>
              </a:rPr>
              <a:t>NAV	</a:t>
            </a:r>
            <a:r>
              <a:rPr lang="en-US" sz="1000" noProof="0" dirty="0">
                <a:solidFill>
                  <a:schemeClr val="tx2"/>
                </a:solidFill>
                <a:latin typeface="Nunito Sans" panose="00000500000000000000" pitchFamily="2" charset="0"/>
              </a:rPr>
              <a:t>390.5</a:t>
            </a:r>
            <a:r>
              <a:rPr lang="en-US" sz="1000" b="1" noProof="0" dirty="0">
                <a:solidFill>
                  <a:schemeClr val="tx2"/>
                </a:solidFill>
                <a:latin typeface="Nunito Sans" panose="00000500000000000000" pitchFamily="2" charset="0"/>
              </a:rPr>
              <a:t> </a:t>
            </a:r>
            <a:r>
              <a:rPr lang="en-US" sz="1000" noProof="0" dirty="0">
                <a:solidFill>
                  <a:schemeClr val="tx2"/>
                </a:solidFill>
                <a:latin typeface="Nunito Sans" panose="00000500000000000000" pitchFamily="2" charset="0"/>
              </a:rPr>
              <a:t>as of 19 August 2025</a:t>
            </a:r>
          </a:p>
          <a:p>
            <a:pPr algn="just">
              <a:tabLst>
                <a:tab pos="1641475" algn="l"/>
              </a:tabLst>
            </a:pPr>
            <a:r>
              <a:rPr lang="en-US" sz="1000" b="1" noProof="0" dirty="0">
                <a:solidFill>
                  <a:schemeClr val="tx2"/>
                </a:solidFill>
                <a:latin typeface="Nunito Sans" panose="00000500000000000000" pitchFamily="2" charset="0"/>
              </a:rPr>
              <a:t>SIZE	</a:t>
            </a:r>
            <a:r>
              <a:rPr lang="en-US" sz="1000" noProof="0" dirty="0">
                <a:solidFill>
                  <a:schemeClr val="tx2"/>
                </a:solidFill>
                <a:latin typeface="Nunito Sans" panose="00000500000000000000" pitchFamily="2" charset="0"/>
              </a:rPr>
              <a:t>USD 8.2 bn </a:t>
            </a:r>
            <a:r>
              <a:rPr lang="en-US" sz="1000" b="1" noProof="0" dirty="0">
                <a:solidFill>
                  <a:schemeClr val="tx2"/>
                </a:solidFill>
                <a:latin typeface="Nunito Sans" panose="00000500000000000000" pitchFamily="2" charset="0"/>
              </a:rPr>
              <a:t>	</a:t>
            </a:r>
          </a:p>
          <a:p>
            <a:pPr algn="just">
              <a:tabLst>
                <a:tab pos="1641475" algn="l"/>
              </a:tabLst>
            </a:pPr>
            <a:r>
              <a:rPr lang="en-US" sz="1000" b="1" noProof="0" dirty="0">
                <a:solidFill>
                  <a:schemeClr val="tx2"/>
                </a:solidFill>
                <a:latin typeface="Nunito Sans" panose="00000500000000000000" pitchFamily="2" charset="0"/>
              </a:rPr>
              <a:t>BENCHMARK	</a:t>
            </a:r>
            <a:r>
              <a:rPr lang="en-US" sz="1000" noProof="0" dirty="0">
                <a:solidFill>
                  <a:schemeClr val="tx2"/>
                </a:solidFill>
                <a:latin typeface="Nunito Sans" panose="00000500000000000000" pitchFamily="2" charset="0"/>
              </a:rPr>
              <a:t>S&amp;P 500 NTR Lagged Index </a:t>
            </a:r>
          </a:p>
          <a:p>
            <a:pPr algn="just">
              <a:tabLst>
                <a:tab pos="1641475" algn="l"/>
              </a:tabLst>
            </a:pPr>
            <a:r>
              <a:rPr lang="en-US" sz="1000" b="1" noProof="0" dirty="0">
                <a:solidFill>
                  <a:schemeClr val="tx2"/>
                </a:solidFill>
                <a:latin typeface="Nunito Sans" panose="00000500000000000000" pitchFamily="2" charset="0"/>
              </a:rPr>
              <a:t>LAUNCH DATE	</a:t>
            </a:r>
            <a:r>
              <a:rPr lang="en-US" sz="1000" noProof="0" dirty="0">
                <a:solidFill>
                  <a:schemeClr val="tx2"/>
                </a:solidFill>
                <a:latin typeface="Nunito Sans" panose="00000500000000000000" pitchFamily="2" charset="0"/>
              </a:rPr>
              <a:t>02 August 2003</a:t>
            </a:r>
          </a:p>
          <a:p>
            <a:pPr algn="just">
              <a:tabLst>
                <a:tab pos="1641475" algn="l"/>
              </a:tabLst>
            </a:pPr>
            <a:r>
              <a:rPr lang="en-US" sz="1000" b="1" noProof="0" dirty="0">
                <a:solidFill>
                  <a:schemeClr val="tx2"/>
                </a:solidFill>
                <a:latin typeface="Nunito Sans" panose="00000500000000000000" pitchFamily="2" charset="0"/>
              </a:rPr>
              <a:t>LEAD MANAGER NAMES	</a:t>
            </a:r>
            <a:r>
              <a:rPr lang="en-US" sz="1000" noProof="0" dirty="0">
                <a:solidFill>
                  <a:schemeClr val="tx2"/>
                </a:solidFill>
                <a:latin typeface="Nunito Sans" panose="00000500000000000000" pitchFamily="2" charset="0"/>
              </a:rPr>
              <a:t>Frank Thormann </a:t>
            </a:r>
          </a:p>
          <a:p>
            <a:pPr algn="just">
              <a:tabLst>
                <a:tab pos="1641475" algn="l"/>
              </a:tabLst>
            </a:pPr>
            <a:r>
              <a:rPr lang="en-US" sz="1000" b="1" noProof="0" dirty="0">
                <a:solidFill>
                  <a:schemeClr val="tx2"/>
                </a:solidFill>
                <a:latin typeface="Nunito Sans" panose="00000500000000000000" pitchFamily="2" charset="0"/>
              </a:rPr>
              <a:t>LIQUIDITY (SUB./RED.)	</a:t>
            </a:r>
            <a:r>
              <a:rPr lang="en-US" sz="1000" noProof="0" dirty="0">
                <a:solidFill>
                  <a:schemeClr val="tx2"/>
                </a:solidFill>
                <a:latin typeface="Nunito Sans" panose="00000500000000000000" pitchFamily="2" charset="0"/>
              </a:rPr>
              <a:t>Daily</a:t>
            </a:r>
          </a:p>
          <a:p>
            <a:pPr algn="just">
              <a:tabLst>
                <a:tab pos="1641475" algn="l"/>
              </a:tabLst>
            </a:pPr>
            <a:r>
              <a:rPr lang="en-US" sz="1000" b="1" noProof="0" dirty="0">
                <a:solidFill>
                  <a:schemeClr val="tx2"/>
                </a:solidFill>
                <a:latin typeface="Nunito Sans" panose="00000500000000000000" pitchFamily="2" charset="0"/>
              </a:rPr>
              <a:t>ISIN CODE	</a:t>
            </a:r>
            <a:r>
              <a:rPr lang="en-US" sz="1000" noProof="0" dirty="0">
                <a:solidFill>
                  <a:schemeClr val="tx2"/>
                </a:solidFill>
                <a:latin typeface="Nunito Sans" panose="00000500000000000000" pitchFamily="2" charset="0"/>
              </a:rPr>
              <a:t>LU0106261372</a:t>
            </a:r>
          </a:p>
          <a:p>
            <a:pPr algn="just">
              <a:tabLst>
                <a:tab pos="1641475" algn="l"/>
              </a:tabLst>
            </a:pPr>
            <a:r>
              <a:rPr lang="en-US" sz="1000" b="1" noProof="0" dirty="0">
                <a:solidFill>
                  <a:schemeClr val="tx2"/>
                </a:solidFill>
                <a:latin typeface="Nunito Sans" panose="00000500000000000000" pitchFamily="2" charset="0"/>
              </a:rPr>
              <a:t>UCITS compliant 	</a:t>
            </a:r>
            <a:r>
              <a:rPr lang="en-US" sz="1000" noProof="0" dirty="0">
                <a:solidFill>
                  <a:schemeClr val="tx2"/>
                </a:solidFill>
                <a:latin typeface="Nunito Sans" panose="00000500000000000000" pitchFamily="2" charset="0"/>
              </a:rPr>
              <a:t>yes</a:t>
            </a:r>
          </a:p>
          <a:p>
            <a:pPr algn="just">
              <a:tabLst>
                <a:tab pos="1641475" algn="l"/>
              </a:tabLst>
            </a:pPr>
            <a:r>
              <a:rPr lang="en-US" sz="1000" b="1" noProof="0" dirty="0">
                <a:solidFill>
                  <a:schemeClr val="tx2"/>
                </a:solidFill>
                <a:latin typeface="Nunito Sans" panose="00000500000000000000" pitchFamily="2" charset="0"/>
              </a:rPr>
              <a:t>SRRI risk grade 	</a:t>
            </a:r>
            <a:r>
              <a:rPr lang="en-US" sz="1000" noProof="0" dirty="0">
                <a:solidFill>
                  <a:schemeClr val="tx2"/>
                </a:solidFill>
                <a:latin typeface="Nunito Sans" panose="00000500000000000000" pitchFamily="2" charset="0"/>
              </a:rPr>
              <a:t>4</a:t>
            </a:r>
          </a:p>
        </p:txBody>
      </p:sp>
      <p:cxnSp>
        <p:nvCxnSpPr>
          <p:cNvPr id="9" name="Straight Connector 8">
            <a:extLst>
              <a:ext uri="{FF2B5EF4-FFF2-40B4-BE49-F238E27FC236}">
                <a16:creationId xmlns:a16="http://schemas.microsoft.com/office/drawing/2014/main" id="{56401852-7FE2-EBC5-168E-6BB4783C9584}"/>
              </a:ext>
            </a:extLst>
          </p:cNvPr>
          <p:cNvCxnSpPr>
            <a:cxnSpLocks/>
          </p:cNvCxnSpPr>
          <p:nvPr/>
        </p:nvCxnSpPr>
        <p:spPr>
          <a:xfrm>
            <a:off x="6724449" y="5198478"/>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D5EECD1-F9F6-D684-5202-C6CE76E55116}"/>
              </a:ext>
            </a:extLst>
          </p:cNvPr>
          <p:cNvCxnSpPr>
            <a:cxnSpLocks/>
          </p:cNvCxnSpPr>
          <p:nvPr/>
        </p:nvCxnSpPr>
        <p:spPr>
          <a:xfrm>
            <a:off x="6706678" y="3337561"/>
            <a:ext cx="3221085"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4" name="Chart 3">
            <a:extLst>
              <a:ext uri="{FF2B5EF4-FFF2-40B4-BE49-F238E27FC236}">
                <a16:creationId xmlns:a16="http://schemas.microsoft.com/office/drawing/2014/main" id="{260498B1-504B-CADB-B27E-F445F7E30F8B}"/>
              </a:ext>
            </a:extLst>
          </p:cNvPr>
          <p:cNvGraphicFramePr>
            <a:graphicFrameLocks/>
          </p:cNvGraphicFramePr>
          <p:nvPr>
            <p:extLst>
              <p:ext uri="{D42A27DB-BD31-4B8C-83A1-F6EECF244321}">
                <p14:modId xmlns:p14="http://schemas.microsoft.com/office/powerpoint/2010/main" val="2146299028"/>
              </p:ext>
            </p:extLst>
          </p:nvPr>
        </p:nvGraphicFramePr>
        <p:xfrm>
          <a:off x="944494" y="4353378"/>
          <a:ext cx="5301091" cy="270626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716608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C3E0F36-51A4-806B-4C7A-729CEE85C198}"/>
              </a:ext>
            </a:extLst>
          </p:cNvPr>
          <p:cNvSpPr/>
          <p:nvPr/>
        </p:nvSpPr>
        <p:spPr>
          <a:xfrm>
            <a:off x="748660" y="1969588"/>
            <a:ext cx="1289520" cy="348368"/>
          </a:xfrm>
          <a:prstGeom prst="roundRect">
            <a:avLst>
              <a:gd name="adj" fmla="val 2883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highlight>
                <a:srgbClr val="C0C0C0"/>
              </a:highlight>
              <a:uLnTx/>
              <a:uFillTx/>
              <a:latin typeface="Nunito Sans"/>
              <a:ea typeface="+mn-ea"/>
              <a:cs typeface="+mn-cs"/>
            </a:endParaRPr>
          </a:p>
        </p:txBody>
      </p:sp>
      <p:sp>
        <p:nvSpPr>
          <p:cNvPr id="2" name="Title 1">
            <a:extLst>
              <a:ext uri="{FF2B5EF4-FFF2-40B4-BE49-F238E27FC236}">
                <a16:creationId xmlns:a16="http://schemas.microsoft.com/office/drawing/2014/main" id="{9C48BCFF-B159-EB4C-8C8A-F0031E4326A3}"/>
              </a:ext>
            </a:extLst>
          </p:cNvPr>
          <p:cNvSpPr>
            <a:spLocks noGrp="1"/>
          </p:cNvSpPr>
          <p:nvPr>
            <p:ph type="title"/>
          </p:nvPr>
        </p:nvSpPr>
        <p:spPr/>
        <p:txBody>
          <a:bodyPr/>
          <a:lstStyle/>
          <a:p>
            <a:r>
              <a:rPr lang="en-US" noProof="0" dirty="0">
                <a:gradFill flip="none">
                  <a:gsLst>
                    <a:gs pos="0">
                      <a:srgbClr val="FF6C0E"/>
                    </a:gs>
                    <a:gs pos="100000">
                      <a:srgbClr val="FFA400"/>
                    </a:gs>
                  </a:gsLst>
                  <a:lin ang="0" scaled="1"/>
                  <a:tileRect/>
                </a:gradFill>
              </a:rPr>
              <a:t>Fund’s characteristics </a:t>
            </a:r>
            <a:endParaRPr lang="en-US" noProof="0" dirty="0"/>
          </a:p>
        </p:txBody>
      </p:sp>
      <p:sp>
        <p:nvSpPr>
          <p:cNvPr id="7" name="Rectangle 6">
            <a:extLst>
              <a:ext uri="{FF2B5EF4-FFF2-40B4-BE49-F238E27FC236}">
                <a16:creationId xmlns:a16="http://schemas.microsoft.com/office/drawing/2014/main" id="{94E76283-1089-AC46-B4BC-10A907186156}"/>
              </a:ext>
            </a:extLst>
          </p:cNvPr>
          <p:cNvSpPr/>
          <p:nvPr/>
        </p:nvSpPr>
        <p:spPr>
          <a:xfrm>
            <a:off x="748660" y="2471974"/>
            <a:ext cx="1319592" cy="253916"/>
          </a:xfrm>
          <a:prstGeom prst="rect">
            <a:avLst/>
          </a:prstGeom>
        </p:spPr>
        <p:txBody>
          <a:bodyPr wrap="none">
            <a:spAutoFit/>
          </a:bodyPr>
          <a:lstStyle/>
          <a:p>
            <a:r>
              <a:rPr lang="en-US" sz="1050" b="1" noProof="0" dirty="0">
                <a:solidFill>
                  <a:schemeClr val="accent4"/>
                </a:solidFill>
                <a:latin typeface="Nunito Sans" pitchFamily="2" charset="77"/>
              </a:rPr>
              <a:t>Sector weightings</a:t>
            </a:r>
          </a:p>
        </p:txBody>
      </p:sp>
      <p:sp>
        <p:nvSpPr>
          <p:cNvPr id="11" name="Rectangle 10">
            <a:extLst>
              <a:ext uri="{FF2B5EF4-FFF2-40B4-BE49-F238E27FC236}">
                <a16:creationId xmlns:a16="http://schemas.microsoft.com/office/drawing/2014/main" id="{D74FD215-8D89-1C4F-879F-39C1395FAB7F}"/>
              </a:ext>
            </a:extLst>
          </p:cNvPr>
          <p:cNvSpPr/>
          <p:nvPr/>
        </p:nvSpPr>
        <p:spPr>
          <a:xfrm>
            <a:off x="748660" y="4662604"/>
            <a:ext cx="2195431" cy="253916"/>
          </a:xfrm>
          <a:prstGeom prst="rect">
            <a:avLst/>
          </a:prstGeom>
        </p:spPr>
        <p:txBody>
          <a:bodyPr wrap="square">
            <a:spAutoFit/>
          </a:bodyPr>
          <a:lstStyle/>
          <a:p>
            <a:r>
              <a:rPr lang="en-US" sz="1050" b="1" noProof="0" dirty="0">
                <a:solidFill>
                  <a:schemeClr val="accent4"/>
                </a:solidFill>
                <a:latin typeface="Nunito Sans" pitchFamily="2" charset="77"/>
              </a:rPr>
              <a:t>Top 10 benchmark holdings</a:t>
            </a:r>
            <a:r>
              <a:rPr lang="en-US" sz="1050" b="1" noProof="0" dirty="0">
                <a:solidFill>
                  <a:schemeClr val="tx2"/>
                </a:solidFill>
                <a:latin typeface="Nunito Sans" pitchFamily="2" charset="77"/>
              </a:rPr>
              <a:t>	</a:t>
            </a:r>
          </a:p>
        </p:txBody>
      </p:sp>
      <p:sp>
        <p:nvSpPr>
          <p:cNvPr id="9" name="Rounded Rectangle 12">
            <a:extLst>
              <a:ext uri="{FF2B5EF4-FFF2-40B4-BE49-F238E27FC236}">
                <a16:creationId xmlns:a16="http://schemas.microsoft.com/office/drawing/2014/main" id="{42195D4F-1856-6045-60AA-55425B570213}"/>
              </a:ext>
            </a:extLst>
          </p:cNvPr>
          <p:cNvSpPr/>
          <p:nvPr/>
        </p:nvSpPr>
        <p:spPr>
          <a:xfrm>
            <a:off x="2094725" y="1979034"/>
            <a:ext cx="1167040" cy="348369"/>
          </a:xfrm>
          <a:prstGeom prst="roundRect">
            <a:avLst>
              <a:gd name="adj" fmla="val 2883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Nunito Sans"/>
              <a:ea typeface="+mn-ea"/>
              <a:cs typeface="+mn-cs"/>
            </a:endParaRPr>
          </a:p>
        </p:txBody>
      </p:sp>
      <p:sp>
        <p:nvSpPr>
          <p:cNvPr id="15" name="TextBox 14">
            <a:extLst>
              <a:ext uri="{FF2B5EF4-FFF2-40B4-BE49-F238E27FC236}">
                <a16:creationId xmlns:a16="http://schemas.microsoft.com/office/drawing/2014/main" id="{00E35441-1C28-7CAA-24AC-1917864E2609}"/>
              </a:ext>
            </a:extLst>
          </p:cNvPr>
          <p:cNvSpPr txBox="1"/>
          <p:nvPr/>
        </p:nvSpPr>
        <p:spPr>
          <a:xfrm>
            <a:off x="741838" y="2033574"/>
            <a:ext cx="1333236" cy="284886"/>
          </a:xfrm>
          <a:prstGeom prst="rect">
            <a:avLst/>
          </a:prstGeom>
          <a:noFill/>
        </p:spPr>
        <p:txBody>
          <a:bodyPr wrap="square" rtlCol="0">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lang="en-US" sz="1300" b="1" i="0" u="none" strike="noStrike" kern="600" cap="none" spc="-30" normalizeH="0" baseline="0" noProof="0" dirty="0">
                <a:ln>
                  <a:noFill/>
                </a:ln>
                <a:solidFill>
                  <a:schemeClr val="bg1"/>
                </a:solidFill>
                <a:effectLst/>
                <a:uLnTx/>
                <a:uFillTx/>
                <a:latin typeface="Nunito Sans" pitchFamily="2" charset="77"/>
                <a:ea typeface="+mn-ea"/>
                <a:cs typeface="+mn-cs"/>
              </a:rPr>
              <a:t># </a:t>
            </a:r>
            <a:r>
              <a:rPr lang="en-US" sz="1300" b="1" kern="600" spc="-30" noProof="0" dirty="0">
                <a:solidFill>
                  <a:schemeClr val="bg1"/>
                </a:solidFill>
                <a:latin typeface="Nunito Sans" pitchFamily="2" charset="77"/>
              </a:rPr>
              <a:t>Buy America</a:t>
            </a:r>
            <a:endParaRPr kumimoji="0" lang="en-US" sz="1300" b="1" i="0" u="none" strike="noStrike" kern="600" cap="none" spc="-30" normalizeH="0" baseline="0" noProof="0" dirty="0">
              <a:ln>
                <a:noFill/>
              </a:ln>
              <a:solidFill>
                <a:schemeClr val="bg1"/>
              </a:solidFill>
              <a:effectLst/>
              <a:uLnTx/>
              <a:uFillTx/>
              <a:latin typeface="Nunito Sans" pitchFamily="2" charset="77"/>
              <a:ea typeface="+mn-ea"/>
              <a:cs typeface="+mn-cs"/>
            </a:endParaRPr>
          </a:p>
        </p:txBody>
      </p:sp>
      <p:sp>
        <p:nvSpPr>
          <p:cNvPr id="16" name="TextBox 14">
            <a:extLst>
              <a:ext uri="{FF2B5EF4-FFF2-40B4-BE49-F238E27FC236}">
                <a16:creationId xmlns:a16="http://schemas.microsoft.com/office/drawing/2014/main" id="{98FF1733-FBAC-A02B-7334-022555750468}"/>
              </a:ext>
            </a:extLst>
          </p:cNvPr>
          <p:cNvSpPr txBox="1"/>
          <p:nvPr/>
        </p:nvSpPr>
        <p:spPr>
          <a:xfrm>
            <a:off x="2096811" y="2027264"/>
            <a:ext cx="1319591" cy="284886"/>
          </a:xfrm>
          <a:prstGeom prst="rect">
            <a:avLst/>
          </a:prstGeom>
          <a:noFill/>
        </p:spPr>
        <p:txBody>
          <a:bodyPr wrap="square" rtlCol="0">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lang="en-US" sz="1300" b="1" i="0" u="none" strike="noStrike" kern="600" cap="none" spc="-30" normalizeH="0" baseline="0" noProof="0" dirty="0">
                <a:ln>
                  <a:noFill/>
                </a:ln>
                <a:solidFill>
                  <a:schemeClr val="bg1"/>
                </a:solidFill>
                <a:effectLst/>
                <a:uLnTx/>
                <a:uFillTx/>
                <a:latin typeface="Nunito Sans" pitchFamily="2" charset="77"/>
                <a:ea typeface="+mn-ea"/>
                <a:cs typeface="+mn-cs"/>
              </a:rPr>
              <a:t># </a:t>
            </a:r>
            <a:r>
              <a:rPr lang="en-US" sz="1300" b="1" kern="600" spc="-30" noProof="0" dirty="0">
                <a:solidFill>
                  <a:schemeClr val="bg1"/>
                </a:solidFill>
                <a:latin typeface="Nunito Sans" pitchFamily="2" charset="77"/>
              </a:rPr>
              <a:t>growth gap</a:t>
            </a:r>
            <a:endParaRPr kumimoji="0" lang="en-US" sz="1300" b="1" i="0" u="none" strike="noStrike" kern="600" cap="none" spc="-30" normalizeH="0" baseline="0" noProof="0" dirty="0">
              <a:ln>
                <a:noFill/>
              </a:ln>
              <a:solidFill>
                <a:schemeClr val="bg1"/>
              </a:solidFill>
              <a:effectLst/>
              <a:uLnTx/>
              <a:uFillTx/>
              <a:latin typeface="Nunito Sans" pitchFamily="2" charset="77"/>
              <a:ea typeface="+mn-ea"/>
              <a:cs typeface="+mn-cs"/>
            </a:endParaRPr>
          </a:p>
        </p:txBody>
      </p:sp>
      <p:sp>
        <p:nvSpPr>
          <p:cNvPr id="17" name="Text Placeholder 6">
            <a:extLst>
              <a:ext uri="{FF2B5EF4-FFF2-40B4-BE49-F238E27FC236}">
                <a16:creationId xmlns:a16="http://schemas.microsoft.com/office/drawing/2014/main" id="{12473863-6BBF-D4C9-9755-03078093CDF8}"/>
              </a:ext>
            </a:extLst>
          </p:cNvPr>
          <p:cNvSpPr txBox="1">
            <a:spLocks/>
          </p:cNvSpPr>
          <p:nvPr/>
        </p:nvSpPr>
        <p:spPr>
          <a:xfrm>
            <a:off x="2960366" y="4668278"/>
            <a:ext cx="1408749" cy="229166"/>
          </a:xfrm>
          <a:prstGeom prst="rect">
            <a:avLst/>
          </a:prstGeom>
          <a:noFill/>
        </p:spPr>
        <p:txBody>
          <a:bodyPr vert="horz" lIns="0" tIns="0" rIns="0" bIns="0" rtlCol="0" anchor="b">
            <a:no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2"/>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algn="r"/>
            <a:r>
              <a:rPr lang="en-US" sz="1000" b="1" noProof="0" dirty="0"/>
              <a:t>Weights</a:t>
            </a:r>
          </a:p>
        </p:txBody>
      </p:sp>
      <p:graphicFrame>
        <p:nvGraphicFramePr>
          <p:cNvPr id="19" name="Table 18">
            <a:extLst>
              <a:ext uri="{FF2B5EF4-FFF2-40B4-BE49-F238E27FC236}">
                <a16:creationId xmlns:a16="http://schemas.microsoft.com/office/drawing/2014/main" id="{52F086A8-1173-6572-A565-431D8EEB5172}"/>
              </a:ext>
            </a:extLst>
          </p:cNvPr>
          <p:cNvGraphicFramePr>
            <a:graphicFrameLocks noGrp="1"/>
          </p:cNvGraphicFramePr>
          <p:nvPr>
            <p:custDataLst>
              <p:tags r:id="rId1"/>
            </p:custDataLst>
            <p:extLst>
              <p:ext uri="{D42A27DB-BD31-4B8C-83A1-F6EECF244321}">
                <p14:modId xmlns:p14="http://schemas.microsoft.com/office/powerpoint/2010/main" val="3563373473"/>
              </p:ext>
            </p:extLst>
          </p:nvPr>
        </p:nvGraphicFramePr>
        <p:xfrm>
          <a:off x="853473" y="4990733"/>
          <a:ext cx="3515643" cy="1880235"/>
        </p:xfrm>
        <a:graphic>
          <a:graphicData uri="http://schemas.openxmlformats.org/drawingml/2006/table">
            <a:tbl>
              <a:tblPr/>
              <a:tblGrid>
                <a:gridCol w="2476467">
                  <a:extLst>
                    <a:ext uri="{9D8B030D-6E8A-4147-A177-3AD203B41FA5}">
                      <a16:colId xmlns:a16="http://schemas.microsoft.com/office/drawing/2014/main" val="4038750185"/>
                    </a:ext>
                  </a:extLst>
                </a:gridCol>
                <a:gridCol w="480060">
                  <a:extLst>
                    <a:ext uri="{9D8B030D-6E8A-4147-A177-3AD203B41FA5}">
                      <a16:colId xmlns:a16="http://schemas.microsoft.com/office/drawing/2014/main" val="1210533160"/>
                    </a:ext>
                  </a:extLst>
                </a:gridCol>
                <a:gridCol w="559116">
                  <a:extLst>
                    <a:ext uri="{9D8B030D-6E8A-4147-A177-3AD203B41FA5}">
                      <a16:colId xmlns:a16="http://schemas.microsoft.com/office/drawing/2014/main" val="1926744572"/>
                    </a:ext>
                  </a:extLst>
                </a:gridCol>
              </a:tblGrid>
              <a:tr h="118323">
                <a:tc>
                  <a:txBody>
                    <a:bodyPr/>
                    <a:lstStyle/>
                    <a:p>
                      <a:pPr algn="l" fontAlgn="b"/>
                      <a:r>
                        <a:rPr lang="en-US" sz="1050" b="1" i="0" u="none" strike="noStrike" noProof="0" dirty="0">
                          <a:solidFill>
                            <a:schemeClr val="accent1"/>
                          </a:solidFill>
                          <a:effectLst/>
                          <a:latin typeface="Lucida"/>
                        </a:rPr>
                        <a:t>Microsoft Corp</a:t>
                      </a:r>
                    </a:p>
                  </a:txBody>
                  <a:tcPr marL="0" marR="0" marT="0" marB="0" anchor="b">
                    <a:lnL>
                      <a:noFill/>
                    </a:lnL>
                    <a:lnR>
                      <a:noFill/>
                    </a:lnR>
                    <a:lnT>
                      <a:noFill/>
                    </a:lnT>
                    <a:lnB>
                      <a:noFill/>
                    </a:lnB>
                    <a:noFill/>
                  </a:tcPr>
                </a:tc>
                <a:tc>
                  <a:txBody>
                    <a:bodyPr/>
                    <a:lstStyle/>
                    <a:p>
                      <a:pPr algn="l" fontAlgn="b"/>
                      <a:endParaRPr lang="en-US" sz="1050" b="1" i="0" u="none" strike="noStrike" noProof="0" dirty="0">
                        <a:solidFill>
                          <a:schemeClr val="accent1"/>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9.4%</a:t>
                      </a:r>
                    </a:p>
                  </a:txBody>
                  <a:tcPr marL="0" marR="0" marT="0" marB="0" anchor="b">
                    <a:lnL>
                      <a:noFill/>
                    </a:lnL>
                    <a:lnR>
                      <a:noFill/>
                    </a:lnR>
                    <a:lnT>
                      <a:noFill/>
                    </a:lnT>
                    <a:lnB>
                      <a:noFill/>
                    </a:lnB>
                    <a:noFill/>
                  </a:tcPr>
                </a:tc>
                <a:extLst>
                  <a:ext uri="{0D108BD9-81ED-4DB2-BD59-A6C34878D82A}">
                    <a16:rowId xmlns:a16="http://schemas.microsoft.com/office/drawing/2014/main" val="2619299991"/>
                  </a:ext>
                </a:extLst>
              </a:tr>
              <a:tr h="0">
                <a:tc>
                  <a:txBody>
                    <a:bodyPr/>
                    <a:lstStyle/>
                    <a:p>
                      <a:pPr marL="0" algn="l" defTabSz="1007943" rtl="0" eaLnBrk="1" fontAlgn="b" latinLnBrk="0" hangingPunct="1"/>
                      <a:r>
                        <a:rPr lang="en-US" sz="1050" b="1" i="0" u="none" strike="noStrike" kern="1200" noProof="0" dirty="0">
                          <a:solidFill>
                            <a:schemeClr val="accent5"/>
                          </a:solidFill>
                          <a:effectLst/>
                          <a:latin typeface="Lucida"/>
                          <a:ea typeface="+mn-ea"/>
                          <a:cs typeface="+mn-cs"/>
                        </a:rPr>
                        <a:t>Meta Platforms Inc</a:t>
                      </a: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kern="1200" noProof="0" dirty="0">
                        <a:solidFill>
                          <a:schemeClr val="accent5"/>
                        </a:solidFill>
                        <a:effectLst/>
                        <a:latin typeface="Lucida"/>
                        <a:ea typeface="+mn-ea"/>
                        <a:cs typeface="+mn-cs"/>
                      </a:endParaRP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        5.5%</a:t>
                      </a:r>
                    </a:p>
                  </a:txBody>
                  <a:tcPr marL="0" marR="0" marT="0" marB="0" anchor="b">
                    <a:lnL>
                      <a:noFill/>
                    </a:lnL>
                    <a:lnR>
                      <a:noFill/>
                    </a:lnR>
                    <a:lnT>
                      <a:noFill/>
                    </a:lnT>
                    <a:lnB>
                      <a:noFill/>
                    </a:lnB>
                    <a:noFill/>
                  </a:tcPr>
                </a:tc>
                <a:extLst>
                  <a:ext uri="{0D108BD9-81ED-4DB2-BD59-A6C34878D82A}">
                    <a16:rowId xmlns:a16="http://schemas.microsoft.com/office/drawing/2014/main" val="4289126896"/>
                  </a:ext>
                </a:extLst>
              </a:tr>
              <a:tr h="0">
                <a:tc>
                  <a:txBody>
                    <a:bodyPr/>
                    <a:lstStyle/>
                    <a:p>
                      <a:pPr marL="0" algn="l" defTabSz="1007943" rtl="0" eaLnBrk="1" fontAlgn="b" latinLnBrk="0" hangingPunct="1"/>
                      <a:r>
                        <a:rPr lang="en-US" sz="1050" b="1" i="0" u="none" strike="noStrike" kern="1200" noProof="0" dirty="0">
                          <a:solidFill>
                            <a:schemeClr val="accent4"/>
                          </a:solidFill>
                          <a:effectLst/>
                          <a:latin typeface="Lucida"/>
                          <a:ea typeface="+mn-ea"/>
                          <a:cs typeface="+mn-cs"/>
                        </a:rPr>
                        <a:t>Alphabet Inc</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5.4%</a:t>
                      </a:r>
                    </a:p>
                  </a:txBody>
                  <a:tcPr marL="0" marR="0" marT="0" marB="0" anchor="b">
                    <a:lnL>
                      <a:noFill/>
                    </a:lnL>
                    <a:lnR>
                      <a:noFill/>
                    </a:lnR>
                    <a:lnT>
                      <a:noFill/>
                    </a:lnT>
                    <a:lnB>
                      <a:noFill/>
                    </a:lnB>
                    <a:noFill/>
                  </a:tcPr>
                </a:tc>
                <a:extLst>
                  <a:ext uri="{0D108BD9-81ED-4DB2-BD59-A6C34878D82A}">
                    <a16:rowId xmlns:a16="http://schemas.microsoft.com/office/drawing/2014/main" val="962780608"/>
                  </a:ext>
                </a:extLst>
              </a:tr>
              <a:tr h="200025">
                <a:tc>
                  <a:txBody>
                    <a:bodyPr/>
                    <a:lstStyle/>
                    <a:p>
                      <a:pPr algn="l" fontAlgn="b"/>
                      <a:r>
                        <a:rPr lang="en-US" sz="1050" b="1" kern="1200" noProof="0" dirty="0">
                          <a:solidFill>
                            <a:schemeClr val="accent2"/>
                          </a:solidFill>
                          <a:latin typeface="Lucida"/>
                          <a:ea typeface="+mn-ea"/>
                          <a:cs typeface="+mn-cs"/>
                        </a:rPr>
                        <a:t>NVIDIA Corp</a:t>
                      </a: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2"/>
                          </a:solidFill>
                          <a:effectLst/>
                          <a:latin typeface="Lucida"/>
                        </a:rPr>
                        <a:t>4.4%</a:t>
                      </a:r>
                    </a:p>
                  </a:txBody>
                  <a:tcPr marL="0" marR="0" marT="0" marB="0" anchor="b">
                    <a:lnL>
                      <a:noFill/>
                    </a:lnL>
                    <a:lnR>
                      <a:noFill/>
                    </a:lnR>
                    <a:lnT>
                      <a:noFill/>
                    </a:lnT>
                    <a:lnB>
                      <a:noFill/>
                    </a:lnB>
                    <a:noFill/>
                  </a:tcPr>
                </a:tc>
                <a:extLst>
                  <a:ext uri="{0D108BD9-81ED-4DB2-BD59-A6C34878D82A}">
                    <a16:rowId xmlns:a16="http://schemas.microsoft.com/office/drawing/2014/main" val="982958273"/>
                  </a:ext>
                </a:extLst>
              </a:tr>
              <a:tr h="200025">
                <a:tc>
                  <a:txBody>
                    <a:bodyPr/>
                    <a:lstStyle/>
                    <a:p>
                      <a:pPr algn="l" fontAlgn="b"/>
                      <a:r>
                        <a:rPr lang="en-US" sz="1050" b="1" i="0" u="none" strike="noStrike" kern="1200" noProof="0" dirty="0">
                          <a:solidFill>
                            <a:srgbClr val="EB3F8E"/>
                          </a:solidFill>
                          <a:effectLst/>
                          <a:latin typeface="Lucida"/>
                          <a:ea typeface="+mn-ea"/>
                          <a:cs typeface="+mn-cs"/>
                        </a:rPr>
                        <a:t>Broadcom Inc</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rgbClr val="EB3F8E"/>
                          </a:solidFill>
                          <a:effectLst/>
                          <a:latin typeface="Lucida"/>
                          <a:ea typeface="+mn-ea"/>
                          <a:cs typeface="+mn-cs"/>
                        </a:rPr>
                        <a:t>4.0%</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1670788518"/>
                  </a:ext>
                </a:extLst>
              </a:tr>
              <a:tr h="200025">
                <a:tc>
                  <a:txBody>
                    <a:bodyPr/>
                    <a:lstStyle/>
                    <a:p>
                      <a:pPr algn="l" fontAlgn="b"/>
                      <a:r>
                        <a:rPr lang="en-US" sz="1050" b="1" i="0" u="none" strike="noStrike" noProof="0" dirty="0">
                          <a:solidFill>
                            <a:schemeClr val="accent1"/>
                          </a:solidFill>
                          <a:effectLst/>
                          <a:latin typeface="Lucida"/>
                        </a:rPr>
                        <a:t>Netflix Inc</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1"/>
                          </a:solidFill>
                          <a:effectLst/>
                          <a:latin typeface="Lucida"/>
                        </a:rPr>
                        <a:t>3.9%</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3053358887"/>
                  </a:ext>
                </a:extLst>
              </a:tr>
              <a:tr h="200025">
                <a:tc>
                  <a:txBody>
                    <a:bodyPr/>
                    <a:lstStyle/>
                    <a:p>
                      <a:pPr algn="l" fontAlgn="b"/>
                      <a:r>
                        <a:rPr lang="en-US" sz="1050" b="1" i="0" u="none" strike="noStrike" kern="1200" noProof="0" dirty="0">
                          <a:solidFill>
                            <a:schemeClr val="accent5"/>
                          </a:solidFill>
                          <a:effectLst/>
                          <a:latin typeface="Lucida"/>
                          <a:ea typeface="+mn-ea"/>
                          <a:cs typeface="+mn-cs"/>
                        </a:rPr>
                        <a:t>Eli Lilly &amp; Co</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chemeClr val="accent5"/>
                          </a:solidFill>
                          <a:effectLst/>
                          <a:latin typeface="Lucida"/>
                          <a:ea typeface="+mn-ea"/>
                          <a:cs typeface="+mn-cs"/>
                        </a:rPr>
                        <a:t>3.0%</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228805539"/>
                  </a:ext>
                </a:extLst>
              </a:tr>
              <a:tr h="200025">
                <a:tc>
                  <a:txBody>
                    <a:bodyPr/>
                    <a:lstStyle/>
                    <a:p>
                      <a:pPr algn="l" fontAlgn="b"/>
                      <a:r>
                        <a:rPr lang="en-US" sz="1050" b="1" i="0" u="none" strike="noStrike" kern="1200" noProof="0" dirty="0">
                          <a:solidFill>
                            <a:schemeClr val="accent4"/>
                          </a:solidFill>
                          <a:effectLst/>
                          <a:latin typeface="Lucida"/>
                          <a:ea typeface="+mn-ea"/>
                          <a:cs typeface="+mn-cs"/>
                        </a:rPr>
                        <a:t>JPMorgan Chase &amp; Co</a:t>
                      </a:r>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kern="1200" noProof="0" dirty="0">
                          <a:solidFill>
                            <a:schemeClr val="accent4"/>
                          </a:solidFill>
                          <a:effectLst/>
                          <a:latin typeface="Lucida"/>
                          <a:ea typeface="+mn-ea"/>
                          <a:cs typeface="+mn-cs"/>
                        </a:rPr>
                        <a:t>2.7%</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3741001515"/>
                  </a:ext>
                </a:extLst>
              </a:tr>
              <a:tr h="200025">
                <a:tc>
                  <a:txBody>
                    <a:bodyPr/>
                    <a:lstStyle/>
                    <a:p>
                      <a:pPr algn="l" fontAlgn="b"/>
                      <a:r>
                        <a:rPr lang="en-US" sz="1050" b="1" kern="1200" noProof="0" dirty="0">
                          <a:solidFill>
                            <a:schemeClr val="accent2"/>
                          </a:solidFill>
                          <a:latin typeface="Lucida"/>
                          <a:ea typeface="+mn-ea"/>
                          <a:cs typeface="+mn-cs"/>
                        </a:rPr>
                        <a:t>Visa Inc</a:t>
                      </a:r>
                    </a:p>
                  </a:txBody>
                  <a:tcPr marL="0" marR="0" marT="0" marB="0" anchor="b">
                    <a:lnL>
                      <a:noFill/>
                    </a:lnL>
                    <a:lnR>
                      <a:noFill/>
                    </a:lnR>
                    <a:lnT>
                      <a:noFill/>
                    </a:lnT>
                    <a:lnB>
                      <a:noFill/>
                    </a:lnB>
                    <a:noFill/>
                  </a:tcPr>
                </a:tc>
                <a:tc>
                  <a:txBody>
                    <a:bodyPr/>
                    <a:lstStyle/>
                    <a:p>
                      <a:pPr algn="l" fontAlgn="b"/>
                      <a:endParaRPr lang="en-US" sz="1050" b="1" kern="1200" noProof="0" dirty="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marL="0" marR="0" lvl="0" indent="0" algn="r" defTabSz="1007943" rtl="0" eaLnBrk="1" fontAlgn="b" latinLnBrk="0" hangingPunct="1">
                        <a:lnSpc>
                          <a:spcPct val="100000"/>
                        </a:lnSpc>
                        <a:spcBef>
                          <a:spcPts val="0"/>
                        </a:spcBef>
                        <a:spcAft>
                          <a:spcPts val="0"/>
                        </a:spcAft>
                        <a:buClrTx/>
                        <a:buSzTx/>
                        <a:buFontTx/>
                        <a:buNone/>
                        <a:tabLst/>
                        <a:defRPr/>
                      </a:pPr>
                      <a:r>
                        <a:rPr lang="en-US" sz="1050" b="1" i="0" u="none" strike="noStrike" noProof="0" dirty="0">
                          <a:solidFill>
                            <a:schemeClr val="accent2"/>
                          </a:solidFill>
                          <a:effectLst/>
                          <a:latin typeface="Lucida"/>
                        </a:rPr>
                        <a:t>2.6%</a:t>
                      </a:r>
                    </a:p>
                  </a:txBody>
                  <a:tcPr marL="0" marR="0" marT="0" marB="0" anchor="b">
                    <a:lnL>
                      <a:noFill/>
                    </a:lnL>
                    <a:lnR>
                      <a:noFill/>
                    </a:lnR>
                    <a:lnT>
                      <a:noFill/>
                    </a:lnT>
                    <a:lnB>
                      <a:noFill/>
                    </a:lnB>
                    <a:noFill/>
                  </a:tcPr>
                </a:tc>
                <a:extLst>
                  <a:ext uri="{0D108BD9-81ED-4DB2-BD59-A6C34878D82A}">
                    <a16:rowId xmlns:a16="http://schemas.microsoft.com/office/drawing/2014/main" val="1216838664"/>
                  </a:ext>
                </a:extLst>
              </a:tr>
              <a:tr h="200025">
                <a:tc>
                  <a:txBody>
                    <a:bodyPr/>
                    <a:lstStyle/>
                    <a:p>
                      <a:pPr marL="0" algn="l" defTabSz="1007943" rtl="0" eaLnBrk="1" fontAlgn="b" latinLnBrk="0" hangingPunct="1"/>
                      <a:r>
                        <a:rPr lang="en-US" sz="1050" b="1" i="0" u="none" strike="noStrike" kern="1200" noProof="0" dirty="0">
                          <a:solidFill>
                            <a:srgbClr val="EB3F8E"/>
                          </a:solidFill>
                          <a:effectLst/>
                          <a:latin typeface="Lucida"/>
                          <a:ea typeface="+mn-ea"/>
                          <a:cs typeface="+mn-cs"/>
                        </a:rPr>
                        <a:t>Coca-Cola Co</a:t>
                      </a:r>
                      <a:endParaRPr lang="en-US" sz="1050" b="1" i="0" u="none" strike="noStrike" noProof="0" dirty="0">
                        <a:effectLst/>
                        <a:latin typeface="Lucida"/>
                      </a:endParaRPr>
                    </a:p>
                  </a:txBody>
                  <a:tcPr marL="0" marR="0" marT="0" marB="0" anchor="b">
                    <a:lnL>
                      <a:noFill/>
                    </a:lnL>
                    <a:lnR>
                      <a:noFill/>
                    </a:lnR>
                    <a:lnT>
                      <a:noFill/>
                    </a:lnT>
                    <a:lnB>
                      <a:noFill/>
                    </a:lnB>
                    <a:noFill/>
                  </a:tcPr>
                </a:tc>
                <a:tc>
                  <a:txBody>
                    <a:bodyPr/>
                    <a:lstStyle/>
                    <a:p>
                      <a:pPr marL="0" algn="l" defTabSz="1007943" rtl="0" eaLnBrk="1" fontAlgn="b" latinLnBrk="0" hangingPunct="1"/>
                      <a:endParaRPr lang="en-US" sz="1050" b="1" i="0" u="none" strike="noStrike" noProof="0" dirty="0">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2.5%</a:t>
                      </a:r>
                    </a:p>
                  </a:txBody>
                  <a:tcPr marL="0" marR="0" marT="0" marB="0" anchor="b">
                    <a:lnL>
                      <a:noFill/>
                    </a:lnL>
                    <a:lnR>
                      <a:noFill/>
                    </a:lnR>
                    <a:lnT>
                      <a:noFill/>
                    </a:lnT>
                    <a:lnB>
                      <a:noFill/>
                    </a:lnB>
                    <a:noFill/>
                  </a:tcPr>
                </a:tc>
                <a:extLst>
                  <a:ext uri="{0D108BD9-81ED-4DB2-BD59-A6C34878D82A}">
                    <a16:rowId xmlns:a16="http://schemas.microsoft.com/office/drawing/2014/main" val="3036441744"/>
                  </a:ext>
                </a:extLst>
              </a:tr>
            </a:tbl>
          </a:graphicData>
        </a:graphic>
      </p:graphicFrame>
      <p:cxnSp>
        <p:nvCxnSpPr>
          <p:cNvPr id="25" name="Straight Connector 24">
            <a:extLst>
              <a:ext uri="{FF2B5EF4-FFF2-40B4-BE49-F238E27FC236}">
                <a16:creationId xmlns:a16="http://schemas.microsoft.com/office/drawing/2014/main" id="{C2BDF49E-83E1-24D7-1CD2-94EB01782F7C}"/>
              </a:ext>
            </a:extLst>
          </p:cNvPr>
          <p:cNvCxnSpPr>
            <a:cxnSpLocks/>
          </p:cNvCxnSpPr>
          <p:nvPr/>
        </p:nvCxnSpPr>
        <p:spPr>
          <a:xfrm>
            <a:off x="815605" y="4944088"/>
            <a:ext cx="35535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3" name="Graphique 8">
            <a:extLst>
              <a:ext uri="{FF2B5EF4-FFF2-40B4-BE49-F238E27FC236}">
                <a16:creationId xmlns:a16="http://schemas.microsoft.com/office/drawing/2014/main" id="{3BB54F31-4551-8992-B840-0B6E7DB23188}"/>
              </a:ext>
            </a:extLst>
          </p:cNvPr>
          <p:cNvGraphicFramePr>
            <a:graphicFrameLocks/>
          </p:cNvGraphicFramePr>
          <p:nvPr/>
        </p:nvGraphicFramePr>
        <p:xfrm>
          <a:off x="1468268" y="2570309"/>
          <a:ext cx="7791790" cy="2228800"/>
        </p:xfrm>
        <a:graphic>
          <a:graphicData uri="http://schemas.openxmlformats.org/drawingml/2006/chart">
            <c:chart xmlns:c="http://schemas.openxmlformats.org/drawingml/2006/chart" xmlns:r="http://schemas.openxmlformats.org/officeDocument/2006/relationships" r:id="rId4"/>
          </a:graphicData>
        </a:graphic>
      </p:graphicFrame>
      <p:sp>
        <p:nvSpPr>
          <p:cNvPr id="4" name="Rectangle 3">
            <a:extLst>
              <a:ext uri="{FF2B5EF4-FFF2-40B4-BE49-F238E27FC236}">
                <a16:creationId xmlns:a16="http://schemas.microsoft.com/office/drawing/2014/main" id="{339D7A0C-BD24-5B30-3185-644EF764CA33}"/>
              </a:ext>
            </a:extLst>
          </p:cNvPr>
          <p:cNvSpPr/>
          <p:nvPr/>
        </p:nvSpPr>
        <p:spPr>
          <a:xfrm>
            <a:off x="5941063" y="4662604"/>
            <a:ext cx="2195431" cy="415498"/>
          </a:xfrm>
          <a:prstGeom prst="rect">
            <a:avLst/>
          </a:prstGeom>
        </p:spPr>
        <p:txBody>
          <a:bodyPr wrap="square">
            <a:spAutoFit/>
          </a:bodyPr>
          <a:lstStyle/>
          <a:p>
            <a:r>
              <a:rPr lang="en-US" sz="1050" b="1" noProof="0" dirty="0">
                <a:solidFill>
                  <a:schemeClr val="accent4"/>
                </a:solidFill>
                <a:latin typeface="Nunito Sans" pitchFamily="2" charset="77"/>
              </a:rPr>
              <a:t>Top 10 overweighted holdings </a:t>
            </a:r>
            <a:r>
              <a:rPr lang="en-US" sz="1050" b="1" noProof="0" dirty="0">
                <a:solidFill>
                  <a:schemeClr val="tx2"/>
                </a:solidFill>
                <a:latin typeface="Nunito Sans" pitchFamily="2" charset="77"/>
              </a:rPr>
              <a:t>	</a:t>
            </a:r>
          </a:p>
        </p:txBody>
      </p:sp>
      <p:graphicFrame>
        <p:nvGraphicFramePr>
          <p:cNvPr id="10" name="Table 9">
            <a:extLst>
              <a:ext uri="{FF2B5EF4-FFF2-40B4-BE49-F238E27FC236}">
                <a16:creationId xmlns:a16="http://schemas.microsoft.com/office/drawing/2014/main" id="{A93EF075-1731-BA67-F2EE-6E5849D3E58D}"/>
              </a:ext>
            </a:extLst>
          </p:cNvPr>
          <p:cNvGraphicFramePr>
            <a:graphicFrameLocks noGrp="1"/>
          </p:cNvGraphicFramePr>
          <p:nvPr>
            <p:custDataLst>
              <p:tags r:id="rId2"/>
            </p:custDataLst>
            <p:extLst>
              <p:ext uri="{D42A27DB-BD31-4B8C-83A1-F6EECF244321}">
                <p14:modId xmlns:p14="http://schemas.microsoft.com/office/powerpoint/2010/main" val="1212408525"/>
              </p:ext>
            </p:extLst>
          </p:nvPr>
        </p:nvGraphicFramePr>
        <p:xfrm>
          <a:off x="6045878" y="4990733"/>
          <a:ext cx="3564763" cy="1912132"/>
        </p:xfrm>
        <a:graphic>
          <a:graphicData uri="http://schemas.openxmlformats.org/drawingml/2006/table">
            <a:tbl>
              <a:tblPr/>
              <a:tblGrid>
                <a:gridCol w="1220270">
                  <a:extLst>
                    <a:ext uri="{9D8B030D-6E8A-4147-A177-3AD203B41FA5}">
                      <a16:colId xmlns:a16="http://schemas.microsoft.com/office/drawing/2014/main" val="4038750185"/>
                    </a:ext>
                  </a:extLst>
                </a:gridCol>
                <a:gridCol w="525132">
                  <a:extLst>
                    <a:ext uri="{9D8B030D-6E8A-4147-A177-3AD203B41FA5}">
                      <a16:colId xmlns:a16="http://schemas.microsoft.com/office/drawing/2014/main" val="3312350356"/>
                    </a:ext>
                  </a:extLst>
                </a:gridCol>
                <a:gridCol w="576433">
                  <a:extLst>
                    <a:ext uri="{9D8B030D-6E8A-4147-A177-3AD203B41FA5}">
                      <a16:colId xmlns:a16="http://schemas.microsoft.com/office/drawing/2014/main" val="2663181130"/>
                    </a:ext>
                  </a:extLst>
                </a:gridCol>
                <a:gridCol w="409575">
                  <a:extLst>
                    <a:ext uri="{9D8B030D-6E8A-4147-A177-3AD203B41FA5}">
                      <a16:colId xmlns:a16="http://schemas.microsoft.com/office/drawing/2014/main" val="3067749877"/>
                    </a:ext>
                  </a:extLst>
                </a:gridCol>
                <a:gridCol w="833353">
                  <a:extLst>
                    <a:ext uri="{9D8B030D-6E8A-4147-A177-3AD203B41FA5}">
                      <a16:colId xmlns:a16="http://schemas.microsoft.com/office/drawing/2014/main" val="1926744572"/>
                    </a:ext>
                  </a:extLst>
                </a:gridCol>
              </a:tblGrid>
              <a:tr h="167823">
                <a:tc gridSpan="3">
                  <a:txBody>
                    <a:bodyPr/>
                    <a:lstStyle/>
                    <a:p>
                      <a:pPr algn="l" fontAlgn="b"/>
                      <a:r>
                        <a:rPr lang="en-US" sz="1050" b="1" i="0" u="none" strike="noStrike" noProof="0" dirty="0">
                          <a:solidFill>
                            <a:schemeClr val="accent1"/>
                          </a:solidFill>
                          <a:effectLst/>
                          <a:latin typeface="Lucida"/>
                        </a:rPr>
                        <a:t>Netflix</a:t>
                      </a:r>
                    </a:p>
                  </a:txBody>
                  <a:tcPr marL="0" marR="0" marT="0" marB="0" anchor="b">
                    <a:lnL>
                      <a:noFill/>
                    </a:lnL>
                    <a:lnR>
                      <a:noFill/>
                    </a:lnR>
                    <a:lnT>
                      <a:noFill/>
                    </a:lnT>
                    <a:lnB>
                      <a:noFill/>
                    </a:lnB>
                    <a:noFill/>
                  </a:tcPr>
                </a:tc>
                <a:tc hMerge="1">
                  <a:txBody>
                    <a:bodyPr/>
                    <a:lstStyle/>
                    <a:p>
                      <a:endParaRPr lang="fr-CH"/>
                    </a:p>
                  </a:txBody>
                  <a:tcPr/>
                </a:tc>
                <a:tc hMerge="1">
                  <a:txBody>
                    <a:bodyPr/>
                    <a:lstStyle/>
                    <a:p>
                      <a:pPr algn="l" fontAlgn="b"/>
                      <a:endParaRPr lang="fr-CH" sz="1050" b="1" i="0" u="none" strike="noStrike">
                        <a:solidFill>
                          <a:schemeClr val="accent1"/>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 4.7%</a:t>
                      </a: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1.1%</a:t>
                      </a:r>
                    </a:p>
                  </a:txBody>
                  <a:tcPr marL="0" marR="0" marT="0" marB="0" anchor="b">
                    <a:lnL>
                      <a:noFill/>
                    </a:lnL>
                    <a:lnR>
                      <a:noFill/>
                    </a:lnR>
                    <a:lnT>
                      <a:noFill/>
                    </a:lnT>
                    <a:lnB>
                      <a:noFill/>
                    </a:lnB>
                    <a:noFill/>
                  </a:tcPr>
                </a:tc>
                <a:extLst>
                  <a:ext uri="{0D108BD9-81ED-4DB2-BD59-A6C34878D82A}">
                    <a16:rowId xmlns:a16="http://schemas.microsoft.com/office/drawing/2014/main" val="2619299991"/>
                  </a:ext>
                </a:extLst>
              </a:tr>
              <a:tr h="159402">
                <a:tc gridSpan="3">
                  <a:txBody>
                    <a:bodyPr/>
                    <a:lstStyle/>
                    <a:p>
                      <a:pPr marL="0" algn="l" defTabSz="1007943" rtl="0" eaLnBrk="1" fontAlgn="b" latinLnBrk="0" hangingPunct="1"/>
                      <a:r>
                        <a:rPr lang="en-US" sz="1050" b="1" i="0" u="none" strike="noStrike" kern="1200" noProof="0" dirty="0">
                          <a:solidFill>
                            <a:schemeClr val="accent5"/>
                          </a:solidFill>
                          <a:effectLst/>
                          <a:latin typeface="Lucida"/>
                          <a:ea typeface="+mn-ea"/>
                          <a:cs typeface="+mn-cs"/>
                        </a:rPr>
                        <a:t>KLA Corp</a:t>
                      </a:r>
                    </a:p>
                  </a:txBody>
                  <a:tcPr marL="0" marR="0" marT="0" marB="0" anchor="b">
                    <a:lnL>
                      <a:noFill/>
                    </a:lnL>
                    <a:lnR>
                      <a:noFill/>
                    </a:lnR>
                    <a:lnT>
                      <a:noFill/>
                    </a:lnT>
                    <a:lnB>
                      <a:noFill/>
                    </a:lnB>
                    <a:noFill/>
                  </a:tcPr>
                </a:tc>
                <a:tc hMerge="1">
                  <a:txBody>
                    <a:bodyPr/>
                    <a:lstStyle/>
                    <a:p>
                      <a:endParaRPr lang="fr-CH"/>
                    </a:p>
                  </a:txBody>
                  <a:tcPr/>
                </a:tc>
                <a:tc hMerge="1">
                  <a:txBody>
                    <a:bodyPr/>
                    <a:lstStyle/>
                    <a:p>
                      <a:pPr marL="0" algn="l" defTabSz="1007943" rtl="0" eaLnBrk="1" fontAlgn="b" latinLnBrk="0" hangingPunct="1"/>
                      <a:endParaRPr lang="fr-CH" sz="1050" b="1" i="0" u="none" strike="noStrike" kern="1200">
                        <a:solidFill>
                          <a:schemeClr val="accent5"/>
                        </a:solidFill>
                        <a:effectLst/>
                        <a:latin typeface="Lucida"/>
                        <a:ea typeface="+mn-ea"/>
                        <a:cs typeface="+mn-cs"/>
                      </a:endParaRP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2.5%</a:t>
                      </a: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0.2%</a:t>
                      </a:r>
                    </a:p>
                  </a:txBody>
                  <a:tcPr marL="0" marR="0" marT="0" marB="0" anchor="b">
                    <a:lnL>
                      <a:noFill/>
                    </a:lnL>
                    <a:lnR>
                      <a:noFill/>
                    </a:lnR>
                    <a:lnT>
                      <a:noFill/>
                    </a:lnT>
                    <a:lnB>
                      <a:noFill/>
                    </a:lnB>
                    <a:noFill/>
                  </a:tcPr>
                </a:tc>
                <a:extLst>
                  <a:ext uri="{0D108BD9-81ED-4DB2-BD59-A6C34878D82A}">
                    <a16:rowId xmlns:a16="http://schemas.microsoft.com/office/drawing/2014/main" val="4289126896"/>
                  </a:ext>
                </a:extLst>
              </a:tr>
              <a:tr h="159803">
                <a:tc>
                  <a:txBody>
                    <a:bodyPr/>
                    <a:lstStyle/>
                    <a:p>
                      <a:pPr marL="0" algn="l" defTabSz="1007943" rtl="0" eaLnBrk="1" fontAlgn="b" latinLnBrk="0" hangingPunct="1"/>
                      <a:r>
                        <a:rPr lang="en-US" sz="1050" b="1" i="0" u="none" strike="noStrike" kern="1200" noProof="0" dirty="0">
                          <a:solidFill>
                            <a:schemeClr val="accent4"/>
                          </a:solidFill>
                          <a:effectLst/>
                          <a:latin typeface="Lucida"/>
                          <a:ea typeface="+mn-ea"/>
                          <a:cs typeface="+mn-cs"/>
                        </a:rPr>
                        <a:t>Meta Platforms</a:t>
                      </a:r>
                    </a:p>
                  </a:txBody>
                  <a:tcPr marL="0" marR="0" marT="0" marB="0" anchor="b">
                    <a:lnL>
                      <a:noFill/>
                    </a:lnL>
                    <a:lnR>
                      <a:noFill/>
                    </a:lnR>
                    <a:lnT>
                      <a:noFill/>
                    </a:lnT>
                    <a:lnB>
                      <a:noFill/>
                    </a:lnB>
                    <a:noFill/>
                  </a:tcPr>
                </a:tc>
                <a:tc gridSpan="2">
                  <a:txBody>
                    <a:bodyPr/>
                    <a:lstStyle/>
                    <a:p>
                      <a:pPr algn="l" fontAlgn="b"/>
                      <a:r>
                        <a:rPr lang="en-US" sz="1050" b="1" i="0" u="none" strike="noStrike" noProof="0" dirty="0">
                          <a:solidFill>
                            <a:schemeClr val="accent2"/>
                          </a:solidFill>
                          <a:effectLst/>
                          <a:latin typeface="Lucida"/>
                        </a:rPr>
                        <a:t> </a:t>
                      </a:r>
                    </a:p>
                  </a:txBody>
                  <a:tcPr marL="0" marR="0" marT="0" marB="0" anchor="b">
                    <a:lnL>
                      <a:noFill/>
                    </a:lnL>
                    <a:lnR>
                      <a:noFill/>
                    </a:lnR>
                    <a:lnT>
                      <a:noFill/>
                    </a:lnT>
                    <a:lnB>
                      <a:noFill/>
                    </a:lnB>
                    <a:noFill/>
                  </a:tcPr>
                </a:tc>
                <a:tc hMerge="1">
                  <a:txBody>
                    <a:bodyPr/>
                    <a:lstStyle/>
                    <a:p>
                      <a:pPr algn="l" fontAlgn="b"/>
                      <a:endParaRPr lang="fr-CH" sz="1050" b="1" i="0" u="none" strike="noStrike">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5.3%</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3.1%</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962780608"/>
                  </a:ext>
                </a:extLst>
              </a:tr>
              <a:tr h="172236">
                <a:tc gridSpan="3">
                  <a:txBody>
                    <a:bodyPr/>
                    <a:lstStyle/>
                    <a:p>
                      <a:pPr algn="l" fontAlgn="b"/>
                      <a:r>
                        <a:rPr lang="en-US" sz="1050" b="1" kern="1200" noProof="0" dirty="0">
                          <a:solidFill>
                            <a:schemeClr val="accent2"/>
                          </a:solidFill>
                          <a:latin typeface="Lucida"/>
                          <a:ea typeface="+mn-ea"/>
                          <a:cs typeface="+mn-cs"/>
                        </a:rPr>
                        <a:t>Morgan Stanley</a:t>
                      </a:r>
                    </a:p>
                  </a:txBody>
                  <a:tcPr marL="0" marR="0" marT="0" marB="0" anchor="b">
                    <a:lnL>
                      <a:noFill/>
                    </a:lnL>
                    <a:lnR>
                      <a:noFill/>
                    </a:lnR>
                    <a:lnT>
                      <a:noFill/>
                    </a:lnT>
                    <a:lnB>
                      <a:noFill/>
                    </a:lnB>
                    <a:noFill/>
                  </a:tcPr>
                </a:tc>
                <a:tc hMerge="1">
                  <a:txBody>
                    <a:bodyPr/>
                    <a:lstStyle/>
                    <a:p>
                      <a:endParaRPr lang="fr-CH"/>
                    </a:p>
                  </a:txBody>
                  <a:tcPr/>
                </a:tc>
                <a:tc hMerge="1">
                  <a:txBody>
                    <a:bodyPr/>
                    <a:lstStyle/>
                    <a:p>
                      <a:pPr algn="l" fontAlgn="b"/>
                      <a:endParaRPr lang="fr-CH" sz="1050" b="1" kern="120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r" fontAlgn="b"/>
                      <a:r>
                        <a:rPr lang="en-US" sz="1050" b="1" kern="1200" noProof="0" dirty="0">
                          <a:solidFill>
                            <a:schemeClr val="accent2"/>
                          </a:solidFill>
                          <a:latin typeface="Lucida"/>
                          <a:ea typeface="+mn-ea"/>
                          <a:cs typeface="+mn-cs"/>
                        </a:rPr>
                        <a:t>2.5%</a:t>
                      </a:r>
                      <a:endParaRPr lang="en-US" sz="1050" b="1" i="0" u="none" strike="noStrike" noProof="0" dirty="0">
                        <a:solidFill>
                          <a:schemeClr val="accent4"/>
                        </a:solidFill>
                        <a:effectLst/>
                        <a:latin typeface="Lucida"/>
                      </a:endParaRPr>
                    </a:p>
                  </a:txBody>
                  <a:tcPr marL="0" marR="0" marT="0" marB="0" anchor="b">
                    <a:lnL>
                      <a:noFill/>
                    </a:lnL>
                    <a:lnR>
                      <a:noFill/>
                    </a:lnR>
                    <a:lnT>
                      <a:noFill/>
                    </a:lnT>
                    <a:lnB>
                      <a:noFill/>
                    </a:lnB>
                    <a:noFill/>
                  </a:tcPr>
                </a:tc>
                <a:tc>
                  <a:txBody>
                    <a:bodyPr/>
                    <a:lstStyle/>
                    <a:p>
                      <a:pPr algn="r" fontAlgn="b"/>
                      <a:r>
                        <a:rPr lang="en-US" sz="1050" b="1" kern="1200" noProof="0" dirty="0">
                          <a:solidFill>
                            <a:schemeClr val="accent2"/>
                          </a:solidFill>
                          <a:latin typeface="Lucida"/>
                          <a:ea typeface="+mn-ea"/>
                          <a:cs typeface="+mn-cs"/>
                        </a:rPr>
                        <a:t>0.3%</a:t>
                      </a:r>
                      <a:endParaRPr lang="en-US" sz="1050" b="1" i="0" u="none" strike="noStrike" noProof="0" dirty="0">
                        <a:solidFill>
                          <a:schemeClr val="accent4"/>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1216838664"/>
                  </a:ext>
                </a:extLst>
              </a:tr>
              <a:tr h="180473">
                <a:tc gridSpan="2">
                  <a:txBody>
                    <a:bodyPr/>
                    <a:lstStyle/>
                    <a:p>
                      <a:pPr marL="0" algn="l" defTabSz="1007943" rtl="0" eaLnBrk="1" fontAlgn="b" latinLnBrk="0" hangingPunct="1"/>
                      <a:r>
                        <a:rPr lang="en-US" sz="1050" b="1" i="0" u="none" strike="noStrike" kern="1200" noProof="0" dirty="0">
                          <a:solidFill>
                            <a:srgbClr val="EB3F8E"/>
                          </a:solidFill>
                          <a:effectLst/>
                          <a:latin typeface="Lucida"/>
                          <a:ea typeface="+mn-ea"/>
                          <a:cs typeface="+mn-cs"/>
                        </a:rPr>
                        <a:t>Coca-Cola</a:t>
                      </a:r>
                    </a:p>
                  </a:txBody>
                  <a:tcPr marL="0" marR="0" marT="0" marB="0" anchor="b">
                    <a:lnL>
                      <a:noFill/>
                    </a:lnL>
                    <a:lnR>
                      <a:noFill/>
                    </a:lnR>
                    <a:lnT>
                      <a:noFill/>
                    </a:lnT>
                    <a:lnB>
                      <a:noFill/>
                    </a:lnB>
                    <a:noFill/>
                  </a:tcPr>
                </a:tc>
                <a:tc hMerge="1">
                  <a:txBody>
                    <a:bodyPr/>
                    <a:lstStyle/>
                    <a:p>
                      <a:pPr algn="l" fontAlgn="b"/>
                      <a:r>
                        <a:rPr lang="fr-CH" sz="1050" b="1" i="0" u="none" strike="noStrike">
                          <a:effectLst/>
                          <a:latin typeface="Lucida"/>
                        </a:rPr>
                        <a:t> </a:t>
                      </a:r>
                    </a:p>
                  </a:txBody>
                  <a:tcPr marL="0" marR="0" marT="0" marB="0" anchor="b">
                    <a:lnL>
                      <a:noFill/>
                    </a:lnL>
                    <a:lnR>
                      <a:noFill/>
                    </a:lnR>
                    <a:lnT>
                      <a:noFill/>
                    </a:lnT>
                    <a:lnB>
                      <a:noFill/>
                    </a:lnB>
                    <a:noFill/>
                  </a:tcPr>
                </a:tc>
                <a:tc>
                  <a:txBody>
                    <a:bodyPr/>
                    <a:lstStyle/>
                    <a:p>
                      <a:pPr algn="l" fontAlgn="b"/>
                      <a:r>
                        <a:rPr lang="en-US" sz="1050" b="1" i="0" u="none" strike="noStrike" noProof="0" dirty="0">
                          <a:effectLst/>
                          <a:latin typeface="Lucida"/>
                        </a:rPr>
                        <a:t> </a:t>
                      </a: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2.6%</a:t>
                      </a: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0.5%</a:t>
                      </a:r>
                    </a:p>
                  </a:txBody>
                  <a:tcPr marL="0" marR="0" marT="0" marB="0" anchor="b">
                    <a:lnL>
                      <a:noFill/>
                    </a:lnL>
                    <a:lnR>
                      <a:noFill/>
                    </a:lnR>
                    <a:lnT>
                      <a:noFill/>
                    </a:lnT>
                    <a:lnB>
                      <a:noFill/>
                    </a:lnB>
                    <a:noFill/>
                  </a:tcPr>
                </a:tc>
                <a:extLst>
                  <a:ext uri="{0D108BD9-81ED-4DB2-BD59-A6C34878D82A}">
                    <a16:rowId xmlns:a16="http://schemas.microsoft.com/office/drawing/2014/main" val="3036441744"/>
                  </a:ext>
                </a:extLst>
              </a:tr>
              <a:tr h="214312">
                <a:tc gridSpan="3">
                  <a:txBody>
                    <a:bodyPr/>
                    <a:lstStyle/>
                    <a:p>
                      <a:pPr algn="l" fontAlgn="b"/>
                      <a:r>
                        <a:rPr lang="en-US" sz="1050" b="1" i="0" u="none" strike="noStrike" noProof="0" dirty="0">
                          <a:solidFill>
                            <a:schemeClr val="accent1"/>
                          </a:solidFill>
                          <a:effectLst/>
                          <a:latin typeface="Lucida"/>
                        </a:rPr>
                        <a:t>Boston Scientific Group</a:t>
                      </a:r>
                    </a:p>
                  </a:txBody>
                  <a:tcPr marL="0" marR="0" marT="0" marB="0" anchor="b">
                    <a:lnL>
                      <a:noFill/>
                    </a:lnL>
                    <a:lnR>
                      <a:noFill/>
                    </a:lnR>
                    <a:lnT>
                      <a:noFill/>
                    </a:lnT>
                    <a:lnB>
                      <a:noFill/>
                    </a:lnB>
                    <a:noFill/>
                  </a:tcPr>
                </a:tc>
                <a:tc hMerge="1">
                  <a:txBody>
                    <a:bodyPr/>
                    <a:lstStyle/>
                    <a:p>
                      <a:endParaRPr lang="fr-CH"/>
                    </a:p>
                  </a:txBody>
                  <a:tcPr/>
                </a:tc>
                <a:tc hMerge="1">
                  <a:txBody>
                    <a:bodyPr/>
                    <a:lstStyle/>
                    <a:p>
                      <a:pPr algn="l" fontAlgn="b"/>
                      <a:endParaRPr lang="fr-CH" sz="1050" b="1" i="0" u="none" strike="noStrike">
                        <a:solidFill>
                          <a:schemeClr val="accent1"/>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2.3%</a:t>
                      </a: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1"/>
                          </a:solidFill>
                          <a:effectLst/>
                          <a:latin typeface="Lucida"/>
                        </a:rPr>
                        <a:t>0.3%</a:t>
                      </a:r>
                    </a:p>
                  </a:txBody>
                  <a:tcPr marL="0" marR="0" marT="0" marB="0" anchor="b">
                    <a:lnL>
                      <a:noFill/>
                    </a:lnL>
                    <a:lnR>
                      <a:noFill/>
                    </a:lnR>
                    <a:lnT>
                      <a:noFill/>
                    </a:lnT>
                    <a:lnB>
                      <a:noFill/>
                    </a:lnB>
                    <a:noFill/>
                  </a:tcPr>
                </a:tc>
                <a:extLst>
                  <a:ext uri="{0D108BD9-81ED-4DB2-BD59-A6C34878D82A}">
                    <a16:rowId xmlns:a16="http://schemas.microsoft.com/office/drawing/2014/main" val="15531529"/>
                  </a:ext>
                </a:extLst>
              </a:tr>
              <a:tr h="214312">
                <a:tc gridSpan="3">
                  <a:txBody>
                    <a:bodyPr/>
                    <a:lstStyle/>
                    <a:p>
                      <a:pPr marL="0" algn="l" defTabSz="1007943" rtl="0" eaLnBrk="1" fontAlgn="b" latinLnBrk="0" hangingPunct="1"/>
                      <a:r>
                        <a:rPr lang="en-US" sz="1050" b="1" i="0" u="none" strike="noStrike" kern="1200" noProof="0" dirty="0">
                          <a:solidFill>
                            <a:schemeClr val="accent5"/>
                          </a:solidFill>
                          <a:effectLst/>
                          <a:latin typeface="Lucida"/>
                          <a:ea typeface="+mn-ea"/>
                          <a:cs typeface="+mn-cs"/>
                        </a:rPr>
                        <a:t>Lilly (Eli) &amp; Co</a:t>
                      </a:r>
                    </a:p>
                  </a:txBody>
                  <a:tcPr marL="0" marR="0" marT="0" marB="0" anchor="b">
                    <a:lnL>
                      <a:noFill/>
                    </a:lnL>
                    <a:lnR>
                      <a:noFill/>
                    </a:lnR>
                    <a:lnT>
                      <a:noFill/>
                    </a:lnT>
                    <a:lnB>
                      <a:noFill/>
                    </a:lnB>
                    <a:noFill/>
                  </a:tcPr>
                </a:tc>
                <a:tc hMerge="1">
                  <a:txBody>
                    <a:bodyPr/>
                    <a:lstStyle/>
                    <a:p>
                      <a:endParaRPr lang="fr-CH"/>
                    </a:p>
                  </a:txBody>
                  <a:tcPr/>
                </a:tc>
                <a:tc hMerge="1">
                  <a:txBody>
                    <a:bodyPr/>
                    <a:lstStyle/>
                    <a:p>
                      <a:pPr marL="0" algn="l" defTabSz="1007943" rtl="0" eaLnBrk="1" fontAlgn="b" latinLnBrk="0" hangingPunct="1"/>
                      <a:endParaRPr lang="fr-CH" sz="1050" b="1" i="0" u="none" strike="noStrike" kern="1200">
                        <a:solidFill>
                          <a:schemeClr val="accent5"/>
                        </a:solidFill>
                        <a:effectLst/>
                        <a:latin typeface="Lucida"/>
                        <a:ea typeface="+mn-ea"/>
                        <a:cs typeface="+mn-cs"/>
                      </a:endParaRP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3.1%</a:t>
                      </a:r>
                    </a:p>
                  </a:txBody>
                  <a:tcPr marL="0" marR="0" marT="0" marB="0" anchor="b">
                    <a:lnL>
                      <a:noFill/>
                    </a:lnL>
                    <a:lnR>
                      <a:noFill/>
                    </a:lnR>
                    <a:lnT>
                      <a:noFill/>
                    </a:lnT>
                    <a:lnB>
                      <a:noFill/>
                    </a:lnB>
                    <a:noFill/>
                  </a:tcPr>
                </a:tc>
                <a:tc>
                  <a:txBody>
                    <a:bodyPr/>
                    <a:lstStyle/>
                    <a:p>
                      <a:pPr marL="0" algn="r" defTabSz="1007943" rtl="0" eaLnBrk="1" fontAlgn="b" latinLnBrk="0" hangingPunct="1"/>
                      <a:r>
                        <a:rPr lang="en-US" sz="1050" b="1" i="0" u="none" strike="noStrike" kern="1200" noProof="0" dirty="0">
                          <a:solidFill>
                            <a:schemeClr val="accent5"/>
                          </a:solidFill>
                          <a:effectLst/>
                          <a:latin typeface="Lucida"/>
                          <a:ea typeface="+mn-ea"/>
                          <a:cs typeface="+mn-cs"/>
                        </a:rPr>
                        <a:t>1.2%</a:t>
                      </a:r>
                    </a:p>
                  </a:txBody>
                  <a:tcPr marL="0" marR="0" marT="0" marB="0" anchor="b">
                    <a:lnL>
                      <a:noFill/>
                    </a:lnL>
                    <a:lnR>
                      <a:noFill/>
                    </a:lnR>
                    <a:lnT>
                      <a:noFill/>
                    </a:lnT>
                    <a:lnB>
                      <a:noFill/>
                    </a:lnB>
                    <a:noFill/>
                  </a:tcPr>
                </a:tc>
                <a:extLst>
                  <a:ext uri="{0D108BD9-81ED-4DB2-BD59-A6C34878D82A}">
                    <a16:rowId xmlns:a16="http://schemas.microsoft.com/office/drawing/2014/main" val="4143705441"/>
                  </a:ext>
                </a:extLst>
              </a:tr>
              <a:tr h="214312">
                <a:tc>
                  <a:txBody>
                    <a:bodyPr/>
                    <a:lstStyle/>
                    <a:p>
                      <a:pPr marL="0" algn="l" defTabSz="1007943" rtl="0" eaLnBrk="1" fontAlgn="b" latinLnBrk="0" hangingPunct="1"/>
                      <a:r>
                        <a:rPr lang="en-US" sz="1050" b="1" i="0" u="none" strike="noStrike" kern="1200" noProof="0" dirty="0" err="1">
                          <a:solidFill>
                            <a:schemeClr val="accent4"/>
                          </a:solidFill>
                          <a:effectLst/>
                          <a:latin typeface="Lucida"/>
                          <a:ea typeface="+mn-ea"/>
                          <a:cs typeface="+mn-cs"/>
                        </a:rPr>
                        <a:t>Autozone</a:t>
                      </a:r>
                      <a:r>
                        <a:rPr lang="en-US" sz="1050" b="1" i="0" u="none" strike="noStrike" kern="1200" noProof="0" dirty="0">
                          <a:solidFill>
                            <a:schemeClr val="accent4"/>
                          </a:solidFill>
                          <a:effectLst/>
                          <a:latin typeface="Lucida"/>
                          <a:ea typeface="+mn-ea"/>
                          <a:cs typeface="+mn-cs"/>
                        </a:rPr>
                        <a:t> </a:t>
                      </a:r>
                    </a:p>
                  </a:txBody>
                  <a:tcPr marL="0" marR="0" marT="0" marB="0" anchor="b">
                    <a:lnL>
                      <a:noFill/>
                    </a:lnL>
                    <a:lnR>
                      <a:noFill/>
                    </a:lnR>
                    <a:lnT>
                      <a:noFill/>
                    </a:lnT>
                    <a:lnB>
                      <a:noFill/>
                    </a:lnB>
                    <a:noFill/>
                  </a:tcPr>
                </a:tc>
                <a:tc gridSpan="2">
                  <a:txBody>
                    <a:bodyPr/>
                    <a:lstStyle/>
                    <a:p>
                      <a:pPr algn="l" fontAlgn="b"/>
                      <a:r>
                        <a:rPr lang="en-US" sz="1050" b="1" i="0" u="none" strike="noStrike" noProof="0" dirty="0">
                          <a:solidFill>
                            <a:schemeClr val="accent2"/>
                          </a:solidFill>
                          <a:effectLst/>
                          <a:latin typeface="Lucida"/>
                        </a:rPr>
                        <a:t> </a:t>
                      </a:r>
                    </a:p>
                  </a:txBody>
                  <a:tcPr marL="0" marR="0" marT="0"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pPr algn="l" fontAlgn="b"/>
                      <a:endParaRPr lang="fr-CH" sz="1050" b="1" i="0" u="none" strike="noStrike">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2.0%</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tc>
                  <a:txBody>
                    <a:bodyPr/>
                    <a:lstStyle/>
                    <a:p>
                      <a:pPr algn="r" fontAlgn="b"/>
                      <a:r>
                        <a:rPr lang="en-US" sz="1050" b="1" i="0" u="none" strike="noStrike" noProof="0" dirty="0">
                          <a:solidFill>
                            <a:schemeClr val="accent4"/>
                          </a:solidFill>
                          <a:effectLst/>
                          <a:latin typeface="Lucida"/>
                        </a:rPr>
                        <a:t>0.1%</a:t>
                      </a:r>
                      <a:endParaRPr lang="en-US" sz="1050" b="1" i="0" u="none" strike="noStrike" noProof="0" dirty="0">
                        <a:solidFill>
                          <a:schemeClr val="accent2"/>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4182240970"/>
                  </a:ext>
                </a:extLst>
              </a:tr>
              <a:tr h="214312">
                <a:tc gridSpan="3">
                  <a:txBody>
                    <a:bodyPr/>
                    <a:lstStyle/>
                    <a:p>
                      <a:pPr algn="l" fontAlgn="b"/>
                      <a:r>
                        <a:rPr lang="en-US" sz="1050" b="1" kern="1200" noProof="0" dirty="0">
                          <a:solidFill>
                            <a:schemeClr val="accent2"/>
                          </a:solidFill>
                          <a:latin typeface="Lucida"/>
                          <a:ea typeface="+mn-ea"/>
                          <a:cs typeface="+mn-cs"/>
                        </a:rPr>
                        <a:t>Spotify Technology</a:t>
                      </a:r>
                    </a:p>
                  </a:txBody>
                  <a:tcPr marL="0" marR="0" marT="0" marB="0" anchor="b">
                    <a:lnL>
                      <a:noFill/>
                    </a:lnL>
                    <a:lnR>
                      <a:noFill/>
                    </a:lnR>
                    <a:lnT>
                      <a:noFill/>
                    </a:lnT>
                    <a:lnB>
                      <a:noFill/>
                    </a:lnB>
                    <a:noFill/>
                  </a:tcPr>
                </a:tc>
                <a:tc hMerge="1">
                  <a:txBody>
                    <a:bodyPr/>
                    <a:lstStyle/>
                    <a:p>
                      <a:endParaRPr lang="fr-CH"/>
                    </a:p>
                  </a:txBody>
                  <a:tcPr/>
                </a:tc>
                <a:tc hMerge="1">
                  <a:txBody>
                    <a:bodyPr/>
                    <a:lstStyle/>
                    <a:p>
                      <a:pPr algn="l" fontAlgn="b"/>
                      <a:endParaRPr lang="fr-CH" sz="1050" b="1" kern="1200">
                        <a:solidFill>
                          <a:schemeClr val="accent2"/>
                        </a:solidFill>
                        <a:latin typeface="Lucida"/>
                        <a:ea typeface="+mn-ea"/>
                        <a:cs typeface="+mn-cs"/>
                      </a:endParaRPr>
                    </a:p>
                  </a:txBody>
                  <a:tcPr marL="0" marR="0" marT="0" marB="0" anchor="b">
                    <a:lnL>
                      <a:noFill/>
                    </a:lnL>
                    <a:lnR>
                      <a:noFill/>
                    </a:lnR>
                    <a:lnT>
                      <a:noFill/>
                    </a:lnT>
                    <a:lnB>
                      <a:noFill/>
                    </a:lnB>
                    <a:noFill/>
                  </a:tcPr>
                </a:tc>
                <a:tc>
                  <a:txBody>
                    <a:bodyPr/>
                    <a:lstStyle/>
                    <a:p>
                      <a:pPr algn="r" fontAlgn="b"/>
                      <a:r>
                        <a:rPr lang="en-US" sz="1050" b="1" kern="1200" noProof="0" dirty="0">
                          <a:solidFill>
                            <a:schemeClr val="accent2"/>
                          </a:solidFill>
                          <a:latin typeface="Lucida"/>
                          <a:ea typeface="+mn-ea"/>
                          <a:cs typeface="+mn-cs"/>
                        </a:rPr>
                        <a:t>1.8%</a:t>
                      </a:r>
                      <a:endParaRPr lang="en-US" sz="1050" b="1" i="0" u="none" strike="noStrike" noProof="0" dirty="0">
                        <a:solidFill>
                          <a:schemeClr val="accent4"/>
                        </a:solidFill>
                        <a:effectLst/>
                        <a:latin typeface="Lucida"/>
                      </a:endParaRPr>
                    </a:p>
                  </a:txBody>
                  <a:tcPr marL="0" marR="0" marT="0" marB="0" anchor="b">
                    <a:lnL>
                      <a:noFill/>
                    </a:lnL>
                    <a:lnR>
                      <a:noFill/>
                    </a:lnR>
                    <a:lnT>
                      <a:noFill/>
                    </a:lnT>
                    <a:lnB>
                      <a:noFill/>
                    </a:lnB>
                    <a:noFill/>
                  </a:tcPr>
                </a:tc>
                <a:tc>
                  <a:txBody>
                    <a:bodyPr/>
                    <a:lstStyle/>
                    <a:p>
                      <a:pPr algn="r" fontAlgn="b"/>
                      <a:r>
                        <a:rPr lang="en-US" sz="1050" b="1" kern="1200" noProof="0" dirty="0">
                          <a:solidFill>
                            <a:schemeClr val="accent2"/>
                          </a:solidFill>
                          <a:latin typeface="Lucida"/>
                          <a:ea typeface="+mn-ea"/>
                          <a:cs typeface="+mn-cs"/>
                        </a:rPr>
                        <a:t>-</a:t>
                      </a:r>
                      <a:endParaRPr lang="en-US" sz="1050" b="1" i="0" u="none" strike="noStrike" noProof="0" dirty="0">
                        <a:solidFill>
                          <a:schemeClr val="accent4"/>
                        </a:solidFill>
                        <a:effectLst/>
                        <a:latin typeface="Lucida"/>
                      </a:endParaRPr>
                    </a:p>
                  </a:txBody>
                  <a:tcPr marL="0" marR="0" marT="0" marB="0" anchor="b">
                    <a:lnL>
                      <a:noFill/>
                    </a:lnL>
                    <a:lnR>
                      <a:noFill/>
                    </a:lnR>
                    <a:lnT>
                      <a:noFill/>
                    </a:lnT>
                    <a:lnB>
                      <a:noFill/>
                    </a:lnB>
                    <a:noFill/>
                  </a:tcPr>
                </a:tc>
                <a:extLst>
                  <a:ext uri="{0D108BD9-81ED-4DB2-BD59-A6C34878D82A}">
                    <a16:rowId xmlns:a16="http://schemas.microsoft.com/office/drawing/2014/main" val="1889539097"/>
                  </a:ext>
                </a:extLst>
              </a:tr>
              <a:tr h="214312">
                <a:tc gridSpan="2">
                  <a:txBody>
                    <a:bodyPr/>
                    <a:lstStyle/>
                    <a:p>
                      <a:pPr marL="0" algn="l" defTabSz="1007943" rtl="0" eaLnBrk="1" fontAlgn="b" latinLnBrk="0" hangingPunct="1"/>
                      <a:r>
                        <a:rPr lang="en-US" sz="1050" b="1" i="0" u="none" strike="noStrike" kern="1200" noProof="0" dirty="0">
                          <a:solidFill>
                            <a:srgbClr val="EB3F8E"/>
                          </a:solidFill>
                          <a:effectLst/>
                          <a:latin typeface="Lucida"/>
                          <a:ea typeface="+mn-ea"/>
                          <a:cs typeface="+mn-cs"/>
                        </a:rPr>
                        <a:t>Microsoft</a:t>
                      </a:r>
                    </a:p>
                  </a:txBody>
                  <a:tcPr marL="0" marR="0" marT="0" marB="0" anchor="b">
                    <a:lnL>
                      <a:noFill/>
                    </a:lnL>
                    <a:lnR>
                      <a:noFill/>
                    </a:lnR>
                    <a:lnT>
                      <a:noFill/>
                    </a:lnT>
                    <a:lnB>
                      <a:noFill/>
                    </a:lnB>
                    <a:noFill/>
                  </a:tcPr>
                </a:tc>
                <a:tc hMerge="1">
                  <a:txBody>
                    <a:bodyPr/>
                    <a:lstStyle/>
                    <a:p>
                      <a:pPr algn="l" fontAlgn="b"/>
                      <a:r>
                        <a:rPr lang="fr-CH" sz="1050" b="1" i="0" u="none" strike="noStrike">
                          <a:effectLst/>
                          <a:latin typeface="Lucida"/>
                        </a:rPr>
                        <a:t> </a:t>
                      </a:r>
                    </a:p>
                  </a:txBody>
                  <a:tcPr marL="0" marR="0" marT="0" marB="0" anchor="b"/>
                </a:tc>
                <a:tc>
                  <a:txBody>
                    <a:bodyPr/>
                    <a:lstStyle/>
                    <a:p>
                      <a:pPr algn="l" fontAlgn="b"/>
                      <a:r>
                        <a:rPr lang="en-US" sz="1050" b="1" i="0" u="none" strike="noStrike" noProof="0" dirty="0">
                          <a:effectLst/>
                          <a:latin typeface="Lucida"/>
                        </a:rPr>
                        <a:t> </a:t>
                      </a: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8.8%</a:t>
                      </a:r>
                    </a:p>
                  </a:txBody>
                  <a:tcPr marL="0" marR="0" marT="0" marB="0" anchor="b">
                    <a:lnL>
                      <a:noFill/>
                    </a:lnL>
                    <a:lnR>
                      <a:noFill/>
                    </a:lnR>
                    <a:lnT>
                      <a:noFill/>
                    </a:lnT>
                    <a:lnB>
                      <a:noFill/>
                    </a:lnB>
                    <a:noFill/>
                  </a:tcPr>
                </a:tc>
                <a:tc>
                  <a:txBody>
                    <a:bodyPr/>
                    <a:lstStyle/>
                    <a:p>
                      <a:pPr algn="r" fontAlgn="b"/>
                      <a:r>
                        <a:rPr lang="en-US" sz="1050" b="1" i="0" u="none" strike="noStrike" kern="1200" noProof="0" dirty="0">
                          <a:solidFill>
                            <a:srgbClr val="EB3F8E"/>
                          </a:solidFill>
                          <a:effectLst/>
                          <a:latin typeface="Lucida"/>
                          <a:ea typeface="+mn-ea"/>
                          <a:cs typeface="+mn-cs"/>
                        </a:rPr>
                        <a:t>7.0%</a:t>
                      </a:r>
                    </a:p>
                  </a:txBody>
                  <a:tcPr marL="0" marR="0" marT="0" marB="0" anchor="b">
                    <a:lnL>
                      <a:noFill/>
                    </a:lnL>
                    <a:lnR>
                      <a:noFill/>
                    </a:lnR>
                    <a:lnT>
                      <a:noFill/>
                    </a:lnT>
                    <a:lnB>
                      <a:noFill/>
                    </a:lnB>
                    <a:noFill/>
                  </a:tcPr>
                </a:tc>
                <a:extLst>
                  <a:ext uri="{0D108BD9-81ED-4DB2-BD59-A6C34878D82A}">
                    <a16:rowId xmlns:a16="http://schemas.microsoft.com/office/drawing/2014/main" val="3315356535"/>
                  </a:ext>
                </a:extLst>
              </a:tr>
            </a:tbl>
          </a:graphicData>
        </a:graphic>
      </p:graphicFrame>
      <p:cxnSp>
        <p:nvCxnSpPr>
          <p:cNvPr id="14" name="Straight Connector 13">
            <a:extLst>
              <a:ext uri="{FF2B5EF4-FFF2-40B4-BE49-F238E27FC236}">
                <a16:creationId xmlns:a16="http://schemas.microsoft.com/office/drawing/2014/main" id="{6A2F3242-53BE-6795-7E33-0D0AB542FF7C}"/>
              </a:ext>
            </a:extLst>
          </p:cNvPr>
          <p:cNvCxnSpPr>
            <a:cxnSpLocks/>
          </p:cNvCxnSpPr>
          <p:nvPr/>
        </p:nvCxnSpPr>
        <p:spPr>
          <a:xfrm>
            <a:off x="6008008" y="4944088"/>
            <a:ext cx="355351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6">
            <a:extLst>
              <a:ext uri="{FF2B5EF4-FFF2-40B4-BE49-F238E27FC236}">
                <a16:creationId xmlns:a16="http://schemas.microsoft.com/office/drawing/2014/main" id="{4C96ED97-0EA4-7D66-07AB-3C7BFEA685DA}"/>
              </a:ext>
            </a:extLst>
          </p:cNvPr>
          <p:cNvSpPr txBox="1">
            <a:spLocks/>
          </p:cNvSpPr>
          <p:nvPr/>
        </p:nvSpPr>
        <p:spPr>
          <a:xfrm>
            <a:off x="8903369" y="4662604"/>
            <a:ext cx="707272" cy="229166"/>
          </a:xfrm>
          <a:prstGeom prst="rect">
            <a:avLst/>
          </a:prstGeom>
          <a:noFill/>
        </p:spPr>
        <p:txBody>
          <a:bodyPr vert="horz" lIns="0" tIns="0" rIns="0" bIns="0" rtlCol="0" anchor="b">
            <a:no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2"/>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algn="r"/>
            <a:r>
              <a:rPr lang="en-US" sz="1000" b="1" noProof="0" dirty="0"/>
              <a:t>Benchmark</a:t>
            </a:r>
          </a:p>
        </p:txBody>
      </p:sp>
      <p:sp>
        <p:nvSpPr>
          <p:cNvPr id="5" name="TextBox 14">
            <a:extLst>
              <a:ext uri="{FF2B5EF4-FFF2-40B4-BE49-F238E27FC236}">
                <a16:creationId xmlns:a16="http://schemas.microsoft.com/office/drawing/2014/main" id="{4BA2FA25-FBE6-A61D-4225-27B097C3C2A1}"/>
              </a:ext>
            </a:extLst>
          </p:cNvPr>
          <p:cNvSpPr txBox="1"/>
          <p:nvPr/>
        </p:nvSpPr>
        <p:spPr>
          <a:xfrm>
            <a:off x="3924755" y="2001913"/>
            <a:ext cx="2083253" cy="270074"/>
          </a:xfrm>
          <a:prstGeom prst="rect">
            <a:avLst/>
          </a:prstGeom>
          <a:noFill/>
        </p:spPr>
        <p:txBody>
          <a:bodyPr wrap="square" rtlCol="0">
            <a:spAutoFit/>
          </a:bodyPr>
          <a:lstStyle/>
          <a:p>
            <a:pPr marL="0" marR="0" lvl="0" indent="0" algn="l" defTabSz="457200" rtl="0" eaLnBrk="1" fontAlgn="auto" latinLnBrk="0" hangingPunct="1">
              <a:lnSpc>
                <a:spcPct val="95000"/>
              </a:lnSpc>
              <a:spcBef>
                <a:spcPts val="0"/>
              </a:spcBef>
              <a:spcAft>
                <a:spcPts val="0"/>
              </a:spcAft>
              <a:buClrTx/>
              <a:buSzTx/>
              <a:buFontTx/>
              <a:buNone/>
              <a:tabLst/>
              <a:defRPr/>
            </a:pPr>
            <a:r>
              <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rPr>
              <a:t># L</a:t>
            </a:r>
            <a:r>
              <a:rPr lang="en-US" sz="1200" b="1" kern="600" spc="-30" noProof="0" dirty="0">
                <a:solidFill>
                  <a:schemeClr val="bg1"/>
                </a:solidFill>
                <a:latin typeface="Nunito Sans" pitchFamily="2" charset="77"/>
              </a:rPr>
              <a:t>ong-term performance</a:t>
            </a:r>
            <a:endParaRPr kumimoji="0" lang="en-US" sz="1200" b="1" i="0" u="none" strike="noStrike" kern="600" cap="none" spc="-30" normalizeH="0" baseline="0" noProof="0" dirty="0">
              <a:ln>
                <a:noFill/>
              </a:ln>
              <a:solidFill>
                <a:schemeClr val="bg1"/>
              </a:solidFill>
              <a:effectLst/>
              <a:uLnTx/>
              <a:uFillTx/>
              <a:latin typeface="Nunito Sans" pitchFamily="2" charset="77"/>
              <a:ea typeface="+mn-ea"/>
              <a:cs typeface="+mn-cs"/>
            </a:endParaRPr>
          </a:p>
        </p:txBody>
      </p:sp>
      <p:sp>
        <p:nvSpPr>
          <p:cNvPr id="18" name="Rounded Rectangle 17">
            <a:extLst>
              <a:ext uri="{FF2B5EF4-FFF2-40B4-BE49-F238E27FC236}">
                <a16:creationId xmlns:a16="http://schemas.microsoft.com/office/drawing/2014/main" id="{8109FB9D-9D77-B834-09DC-65D0DB68AD9B}"/>
              </a:ext>
            </a:extLst>
          </p:cNvPr>
          <p:cNvSpPr/>
          <p:nvPr/>
        </p:nvSpPr>
        <p:spPr>
          <a:xfrm>
            <a:off x="3318310" y="1964145"/>
            <a:ext cx="1620835" cy="382076"/>
          </a:xfrm>
          <a:prstGeom prst="roundRect">
            <a:avLst>
              <a:gd name="adj" fmla="val 2883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1" noProof="0" dirty="0">
                <a:solidFill>
                  <a:srgbClr val="FFFFFF"/>
                </a:solidFill>
                <a:latin typeface="Nunito Sans"/>
              </a:rPr>
              <a:t># proven process</a:t>
            </a:r>
            <a:endParaRPr kumimoji="0" lang="en-US" sz="1300" b="1" i="0" u="none" strike="noStrike" kern="1200" cap="none" spc="0" normalizeH="0" baseline="0" noProof="0" dirty="0">
              <a:ln>
                <a:noFill/>
              </a:ln>
              <a:solidFill>
                <a:srgbClr val="FFFFFF"/>
              </a:solidFill>
              <a:effectLst/>
              <a:uLnTx/>
              <a:uFillTx/>
              <a:latin typeface="Nunito Sans"/>
              <a:ea typeface="+mn-ea"/>
              <a:cs typeface="+mn-cs"/>
            </a:endParaRPr>
          </a:p>
        </p:txBody>
      </p:sp>
      <p:sp>
        <p:nvSpPr>
          <p:cNvPr id="22" name="Text Placeholder 6">
            <a:extLst>
              <a:ext uri="{FF2B5EF4-FFF2-40B4-BE49-F238E27FC236}">
                <a16:creationId xmlns:a16="http://schemas.microsoft.com/office/drawing/2014/main" id="{E45E2AB6-1F67-0F76-975C-39CEBA913AFE}"/>
              </a:ext>
            </a:extLst>
          </p:cNvPr>
          <p:cNvSpPr txBox="1">
            <a:spLocks/>
          </p:cNvSpPr>
          <p:nvPr/>
        </p:nvSpPr>
        <p:spPr>
          <a:xfrm>
            <a:off x="8454655" y="4662604"/>
            <a:ext cx="322634" cy="229166"/>
          </a:xfrm>
          <a:prstGeom prst="rect">
            <a:avLst/>
          </a:prstGeom>
          <a:noFill/>
        </p:spPr>
        <p:txBody>
          <a:bodyPr vert="horz" lIns="0" tIns="0" rIns="0" bIns="0" rtlCol="0" anchor="b">
            <a:no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2"/>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algn="r"/>
            <a:r>
              <a:rPr lang="en-US" sz="1000" b="1" noProof="0" dirty="0"/>
              <a:t>Fund</a:t>
            </a:r>
          </a:p>
        </p:txBody>
      </p:sp>
      <p:sp>
        <p:nvSpPr>
          <p:cNvPr id="12" name="Text Box 6">
            <a:extLst>
              <a:ext uri="{FF2B5EF4-FFF2-40B4-BE49-F238E27FC236}">
                <a16:creationId xmlns:a16="http://schemas.microsoft.com/office/drawing/2014/main" id="{E62A4B3E-EC8F-BCAF-2FAC-F2F5B84B186D}"/>
              </a:ext>
            </a:extLst>
          </p:cNvPr>
          <p:cNvSpPr txBox="1">
            <a:spLocks noChangeArrowheads="1"/>
          </p:cNvSpPr>
          <p:nvPr/>
        </p:nvSpPr>
        <p:spPr bwMode="auto">
          <a:xfrm>
            <a:off x="4653271" y="7106106"/>
            <a:ext cx="3663950"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944" tIns="0" rIns="0" bIns="0">
            <a:spAutoFit/>
          </a:bodyPr>
          <a:lstStyle>
            <a:lvl1pPr defTabSz="858838">
              <a:defRPr sz="2800">
                <a:solidFill>
                  <a:schemeClr val="tx1"/>
                </a:solidFill>
                <a:latin typeface="Arial" panose="020B0604020202020204" pitchFamily="34" charset="0"/>
              </a:defRPr>
            </a:lvl1pPr>
            <a:lvl2pPr marL="742950" indent="-285750" defTabSz="858838">
              <a:defRPr sz="2800">
                <a:solidFill>
                  <a:schemeClr val="tx1"/>
                </a:solidFill>
                <a:latin typeface="Arial" panose="020B0604020202020204" pitchFamily="34" charset="0"/>
              </a:defRPr>
            </a:lvl2pPr>
            <a:lvl3pPr marL="1143000" indent="-228600" defTabSz="858838">
              <a:defRPr sz="2800">
                <a:solidFill>
                  <a:schemeClr val="tx1"/>
                </a:solidFill>
                <a:latin typeface="Arial" panose="020B0604020202020204" pitchFamily="34" charset="0"/>
              </a:defRPr>
            </a:lvl3pPr>
            <a:lvl4pPr marL="1600200" indent="-228600" defTabSz="858838">
              <a:defRPr sz="2800">
                <a:solidFill>
                  <a:schemeClr val="tx1"/>
                </a:solidFill>
                <a:latin typeface="Arial" panose="020B0604020202020204" pitchFamily="34" charset="0"/>
              </a:defRPr>
            </a:lvl4pPr>
            <a:lvl5pPr marL="2057400" indent="-228600" defTabSz="858838">
              <a:defRPr sz="2800">
                <a:solidFill>
                  <a:schemeClr val="tx1"/>
                </a:solidFill>
                <a:latin typeface="Arial" panose="020B0604020202020204" pitchFamily="34" charset="0"/>
              </a:defRPr>
            </a:lvl5pPr>
            <a:lvl6pPr marL="2514600" indent="-228600" defTabSz="858838" eaLnBrk="0" fontAlgn="base" hangingPunct="0">
              <a:spcBef>
                <a:spcPct val="0"/>
              </a:spcBef>
              <a:spcAft>
                <a:spcPct val="0"/>
              </a:spcAft>
              <a:defRPr sz="2800">
                <a:solidFill>
                  <a:schemeClr val="tx1"/>
                </a:solidFill>
                <a:latin typeface="Arial" panose="020B0604020202020204" pitchFamily="34" charset="0"/>
              </a:defRPr>
            </a:lvl6pPr>
            <a:lvl7pPr marL="2971800" indent="-228600" defTabSz="858838" eaLnBrk="0" fontAlgn="base" hangingPunct="0">
              <a:spcBef>
                <a:spcPct val="0"/>
              </a:spcBef>
              <a:spcAft>
                <a:spcPct val="0"/>
              </a:spcAft>
              <a:defRPr sz="2800">
                <a:solidFill>
                  <a:schemeClr val="tx1"/>
                </a:solidFill>
                <a:latin typeface="Arial" panose="020B0604020202020204" pitchFamily="34" charset="0"/>
              </a:defRPr>
            </a:lvl7pPr>
            <a:lvl8pPr marL="3429000" indent="-228600" defTabSz="858838" eaLnBrk="0" fontAlgn="base" hangingPunct="0">
              <a:spcBef>
                <a:spcPct val="0"/>
              </a:spcBef>
              <a:spcAft>
                <a:spcPct val="0"/>
              </a:spcAft>
              <a:defRPr sz="2800">
                <a:solidFill>
                  <a:schemeClr val="tx1"/>
                </a:solidFill>
                <a:latin typeface="Arial" panose="020B0604020202020204" pitchFamily="34" charset="0"/>
              </a:defRPr>
            </a:lvl8pPr>
            <a:lvl9pPr marL="3886200" indent="-228600" defTabSz="858838" eaLnBrk="0" fontAlgn="base" hangingPunct="0">
              <a:spcBef>
                <a:spcPct val="0"/>
              </a:spcBef>
              <a:spcAft>
                <a:spcPct val="0"/>
              </a:spcAft>
              <a:defRPr sz="2800">
                <a:solidFill>
                  <a:schemeClr val="tx1"/>
                </a:solidFill>
                <a:latin typeface="Arial" panose="020B0604020202020204" pitchFamily="34" charset="0"/>
              </a:defRPr>
            </a:lvl9pPr>
          </a:lstStyle>
          <a:p>
            <a:r>
              <a:rPr lang="en-US" sz="700" b="1" noProof="0" dirty="0">
                <a:solidFill>
                  <a:srgbClr val="4B5F80"/>
                </a:solidFill>
                <a:latin typeface="Nunito Sans" pitchFamily="2" charset="77"/>
              </a:rPr>
              <a:t>Source: Schroder</a:t>
            </a:r>
            <a:endParaRPr lang="en-US" sz="700" noProof="0" dirty="0">
              <a:solidFill>
                <a:srgbClr val="4B5F80"/>
              </a:solidFill>
              <a:latin typeface="Nunito Sans" pitchFamily="2" charset="77"/>
            </a:endParaRPr>
          </a:p>
        </p:txBody>
      </p:sp>
    </p:spTree>
    <p:extLst>
      <p:ext uri="{BB962C8B-B14F-4D97-AF65-F5344CB8AC3E}">
        <p14:creationId xmlns:p14="http://schemas.microsoft.com/office/powerpoint/2010/main" val="11338108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7763.0"/>
  <p:tag name="AS_RELEASE_DATE" val="2022.02.14"/>
  <p:tag name="AS_TITLE" val="Aspose.Slides for .NET 4.0"/>
  <p:tag name="AS_VERSION" val="22.2"/>
  <p:tag name="BOTTOMMARGIN" val="41,3"/>
  <p:tag name="COLUMNSGUTTER" val="5,4"/>
  <p:tag name="COLUMNSNUMBER" val="1"/>
  <p:tag name="LEFTMARGIN" val="18,5"/>
  <p:tag name="MARGINSIZEUNIT" val="mm"/>
  <p:tag name="RIGHTMARGIN" val="17,3"/>
  <p:tag name="ROWSGUTTER" val="5,4"/>
  <p:tag name="ROWSNUMBER" val="1"/>
  <p:tag name="TEMPLATEFULLNAMETAG" val="Syz Template Selector"/>
  <p:tag name="TEMPLATESHORTNAMETAG" val="Syz Template Selector"/>
  <p:tag name="THINKCELLUNDODONOTDELETE" val="0"/>
  <p:tag name="TOPMARGIN" val="77,8"/>
  <p:tag name="UNIQUEMARGIN" val="False"/>
  <p:tag name="UPSLIDE" val="Ban02538_Syz_05-30-2022"/>
  <p:tag name="UPSLIDEPRINTFACINGPAGESDESIGN" val="SYZ"/>
  <p:tag name="UPSLIDEPRINTFACINGPAGESLAYOUT" val="Cover"/>
  <p:tag name="UPSLIDETOCALGOID" val="Standard"/>
  <p:tag name="UPSLIDETOCMASTERID" val="SYZ - New Branding 202112 16 2020"/>
  <p:tag name="UPSLIDETOCMASTERLASTEDITIONDATE" val="637515950111483232"/>
  <p:tag name="UPSLIDETOCMASTERNAME" val="SYZ - New Branding 2021"/>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true&lt;/ContainsUnNumberedSections&gt;&#10;    &lt;SlideTitle /&gt;&#10;  &lt;/TocSlidesOptions&gt;&#10;  &lt;SectionSlideOptions&gt;&#10;    &lt;ContainsOwnSubSection&gt;true&lt;/ContainsOwnSubSection&gt;&#10;    &lt;ContainsOwnSlide&gt;false&lt;/ContainsOwnSlide&gt;&#10;    &lt;ContainsOtherSections&gt;true&lt;/ContainsOtherSections&gt;&#10;    &lt;ContainsOthersSubsection&gt;false&lt;/ContainsOthersSubsection&gt;&#10;    &lt;containsAppendix&gt;true&lt;/containsAppendix&gt;&#10;    &lt;containsUnnumberedSections&gt;true&lt;/containsUnnumberedSections&gt;&#10;    &lt;SlideTitle /&gt;&#10;  &lt;/SectionSlideOptions&gt;&#10;  &lt;SubSectionSlideOptions&gt;&#10;    &lt;ContainsOtherSubsections&gt;false&lt;/ContainsOtherSubsections&gt;&#10;    &lt;ContainsOwnSlides&gt;false&lt;/ContainsOwnSlides&gt;&#10;    &lt;ContainsParentSection&gt;false&lt;/ContainsParentSection&gt;&#10;    &lt;ContainsOtherSections&gt;false&lt;/ContainsOtherSections&gt;&#10;    &lt;containsAppendix&gt;false&lt;/containsAppendix&gt;&#10;    &lt;containsUnnumberedSections&gt;false&lt;/containsUnnumberedSections&gt;&#10;    &lt;SlideTitle /&gt;&#10;  &lt;/SubSectionSlideOptions&gt;&#10;  &lt;UsedSlideLayouts&gt;&#10;    &lt;TocSlidesLayout&gt;&#10;      &lt;DesignName&gt;SYZ&lt;/DesignName&gt;&#10;      &lt;LayoutName&gt;Agenda&lt;/LayoutName&gt;&#10;    &lt;/TocSlidesLayout&gt;&#10;    &lt;SectionLayout&gt;&#10;      &lt;DesignName&gt;SYZ&lt;/DesignName&gt;&#10;      &lt;LayoutName&gt;Agenda&lt;/LayoutName&gt;&#10;    &lt;/SectionLayout&gt;&#10;    &lt;SubsectionLayout&gt;&#10;      &lt;DesignName&gt;SYZ&lt;/DesignName&gt;&#10;      &lt;LayoutName&gt;Agenda&lt;/LayoutName&gt;&#10;    &lt;/SubsectionLayout&gt;&#10;    &lt;AppendixLayout&gt;&#10;      &lt;DesignName /&gt;&#10;      &lt;LayoutName /&gt;&#10;    &lt;/AppendixLayout&gt;&#10;    &lt;TitleSliLayout&gt;&#10;      &lt;DesignName&gt;SYZ&lt;/DesignName&gt;&#10;      &lt;LayoutName&gt;Cover (Default)&lt;/LayoutName&gt;&#10;    &lt;/TitleSliLayout&gt;&#10;  &lt;/UsedSlideLayouts&gt;&#10;  &lt;ActiveReminders&gt;&#10;    &lt;MigrationVersion&gt;6.8.22.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false&lt;/ShowSlideIndex&gt;&#10;      &lt;myColorOfNonCurrentItems&gt;&#10;        &lt;UseFixedColor&gt;true&lt;/UseFixedColor&gt;&#10;        &lt;R&gt;167&lt;/R&gt;&#10;        &lt;G&gt;168&lt;/G&gt;&#10;        &lt;B&gt;169&lt;/B&gt;&#10;      &lt;/myColorOfNonCurrentItems&gt;&#10;      &lt;currentItemFormat&gt;&#10;        &lt;UseBanner&gt;false&lt;/UseBanner&gt;&#10;        &lt;BannerFillR&gt;0&lt;/BannerFillR&gt;&#10;        &lt;BannerFillG&gt;0&lt;/BannerFillG&gt;&#10;        &lt;BannerFillB&gt;0&lt;/BannerFillB&gt;&#10;        &lt;ForceBold&gt;true&lt;/ForceBold&gt;&#10;        &lt;ApplyToSubSections&gt;true&lt;/ApplyToSubSections&gt;&#10;        &lt;ApplyToSectionsOnSubSectionDividers&gt;tru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0&lt;/Shading&gt;&#10;      &lt;/nonCurrentItemAttenuation&gt;&#10;      &lt;ForceDisplayTOCOnTwocolumns&gt;false&lt;/ForceDisplayTOCOnTwocolumns&gt;&#10;      &lt;DisplayTOCOnTwocolumns&gt;false&lt;/DisplayTOCOnTwocolumns&gt;&#10;      &lt;Scripts&gt;&#10;        &lt;BeforeSubSecTitle /&gt;&#10;        &lt;BeforeSlideIndex /&gt;&#10;        &lt;AfterSecNum /&gt;&#10;        &lt;BeforeSecNum&gt;0&lt;/BeforeSecNum&gt;&#10;        &lt;AfterSubSecNum /&gt;&#10;        &lt;BeforeSubSecNum&gt;0&lt;/BeforeSubSecNum&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4.25&lt;/SpaceBeforeSections&gt;&#10;          &lt;SpaceBeforeSubSections&gt;3&lt;/SpaceBeforeSubSections&gt;&#10;          &lt;SpaceBeforeSlides&gt;3&lt;/SpaceBeforeSlides&gt;&#10;        &lt;/ManualSpacing&gt;&#10;        &lt;ManualSpacingSections&gt;&#10;          &lt;SpaceBeforeSections&gt;4.25&lt;/SpaceBeforeSections&gt;&#10;          &lt;SpaceBeforeSubSections&gt;3&lt;/SpaceBeforeSubSections&gt;&#10;          &lt;SpaceBeforeSlides&gt;3&lt;/SpaceBeforeSlides&gt;&#10;        &lt;/ManualSpacingSections&gt;&#10;        &lt;ManualSpacingSubSections&gt;&#10;          &lt;SpaceBeforeSections&gt;18.1855736&lt;/SpaceBeforeSections&gt;&#10;          &lt;SpaceBeforeSubSections&gt;12.1237164&lt;/SpaceBeforeSubSections&gt;&#10;          &lt;SpaceBeforeSlides&gt;6.06185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 xsi:nil=&quot;true&quot; /&gt;&#10;    &lt;SectionDividersContainOwnSubSections xsi:nil=&quot;true&quot; /&gt;&#10;    &lt;SectionDividersContainOwnSlideTitles xsi:nil=&quot;true&quot; /&gt;&#10;    &lt;SubSectionDividersContainOwnSlideTitles xsi:nil=&quot;true&quot; /&gt;&#10;    &lt;TOCSlidesContainSubsectionTitles xsi:nil=&quot;true&quot; /&gt;&#10;    &lt;TOCSlidesContainSlideTitles xsi:nil=&quot;true&quot; /&gt;&#10;    &lt;DisplayRemindersOnSlides&gt;true&lt;/DisplayRemindersOnSlides&gt;&#10;    &lt;SectionsHaveSlide&gt;true&lt;/SectionsHaveSlide&gt;&#10;    &lt;DoNotCountHiddenSlidesInPagination&gt;false&lt;/DoNotCountHiddenSlidesInPagination&gt;&#10;  &lt;/UserPresentationOptions&gt;&#10;  &lt;XmlSubSectionsHaveSlide&gt;false&lt;/XmlSubSectionsHaveSlide&gt;&#10;  &lt;AllowDuplicateTitleSlides&gt;tru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UPSLIDEVERSION" val="6.8.22.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UPSLIDESLIDELIBITEMEDITIONDATE" val="637880173275917213"/>
  <p:tag name="UPSLIDESLIDELIBITEMINSERTIONID" val="1f21fdea-9d2c-4c07-bdd5-97533c8dc00f"/>
  <p:tag name="UPSLIDESLIDELIBITEMLASTCREATOR" val="pbaldauf"/>
  <p:tag name="UPSLIDESLIDELIBITEMNAME" val="Syz as a Service"/>
  <p:tag name="UPSLIDESLIDELIBRARYITEMID" val="e7743891-734a-492d-9569-7fbcce3068e4"/>
  <p:tag name="UPSLIDESLIDELIBRARYITEMPARTINDEX" val="11"/>
  <p:tag name="UPSLIDESTOREDSLIDELOCATION" val="\\fangio.intrasyz.org\newdistrib\upslide\library\Independent Managers\SaaS OCIO - May 2022.pptlib"/>
</p:tagLst>
</file>

<file path=ppt/tags/tag8.xml><?xml version="1.0" encoding="utf-8"?>
<p:tagLst xmlns:a="http://schemas.openxmlformats.org/drawingml/2006/main" xmlns:r="http://schemas.openxmlformats.org/officeDocument/2006/relationships" xmlns:p="http://schemas.openxmlformats.org/presentationml/2006/main">
  <p:tag name="NAME" val="1"/>
</p:tagLst>
</file>

<file path=ppt/tags/tag9.xml><?xml version="1.0" encoding="utf-8"?>
<p:tagLst xmlns:a="http://schemas.openxmlformats.org/drawingml/2006/main" xmlns:r="http://schemas.openxmlformats.org/officeDocument/2006/relationships" xmlns:p="http://schemas.openxmlformats.org/presentationml/2006/main">
  <p:tag name="UPSLIDESHAPELIBITEMEDITIONDATE" val="636989849337108269"/>
  <p:tag name="UPSLIDESHAPELIBITEMID" val="7cc08c91-0d5e-46f4-aa4f-c478997526c5"/>
  <p:tag name="UPSLIDESHAPELIBITEMLASTCREATOR" val="mateer"/>
  <p:tag name="UPSLIDESHAPELIBITEMNAME" val="Person"/>
  <p:tag name="UPSLIDESTOREDSHAPELOCATION" val="\\fscap01\courrier\upslide\library\_Branding\Icons\People.lib"/>
</p:tagLst>
</file>

<file path=ppt/tags/tag10.xml><?xml version="1.0" encoding="utf-8"?>
<p:tagLst xmlns:a="http://schemas.openxmlformats.org/drawingml/2006/main" xmlns:r="http://schemas.openxmlformats.org/officeDocument/2006/relationships" xmlns:p="http://schemas.openxmlformats.org/presentationml/2006/main">
  <p:tag name="UPSLIDESHAPELIBITEMEDITIONDATE" val="636989849336848969"/>
  <p:tag name="UPSLIDESHAPELIBITEMID" val="8764d29a-946e-44b3-8266-865cc6597a9e"/>
  <p:tag name="UPSLIDESHAPELIBITEMLASTCREATOR" val="mateer"/>
  <p:tag name="UPSLIDESHAPELIBITEMNAME" val="Group add"/>
  <p:tag name="UPSLIDESTOREDSHAPELOCATION" val="\\fscap01\courrier\upslide\library\_Branding\Icons\People.lib"/>
</p:tagLst>
</file>

<file path=ppt/tags/tag11.xml><?xml version="1.0" encoding="utf-8"?>
<p:tagLst xmlns:a="http://schemas.openxmlformats.org/drawingml/2006/main" xmlns:r="http://schemas.openxmlformats.org/officeDocument/2006/relationships" xmlns:p="http://schemas.openxmlformats.org/presentationml/2006/main">
  <p:tag name="AFSPANMODE" val="span"/>
</p:tagLst>
</file>

<file path=ppt/tags/tag12.xml><?xml version="1.0" encoding="utf-8"?>
<p:tagLst xmlns:a="http://schemas.openxmlformats.org/drawingml/2006/main" xmlns:r="http://schemas.openxmlformats.org/officeDocument/2006/relationships" xmlns:p="http://schemas.openxmlformats.org/presentationml/2006/main">
  <p:tag name="AFSPANMODE" val="span"/>
</p:tagLst>
</file>

<file path=ppt/tags/tag13.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SYZ">
  <a:themeElements>
    <a:clrScheme name="Syz 2024">
      <a:dk1>
        <a:srgbClr val="000000"/>
      </a:dk1>
      <a:lt1>
        <a:srgbClr val="FFFFFF"/>
      </a:lt1>
      <a:dk2>
        <a:srgbClr val="202945"/>
      </a:dk2>
      <a:lt2>
        <a:srgbClr val="FFC545"/>
      </a:lt2>
      <a:accent1>
        <a:srgbClr val="79D6FF"/>
      </a:accent1>
      <a:accent2>
        <a:srgbClr val="3BAF90"/>
      </a:accent2>
      <a:accent3>
        <a:srgbClr val="FFA400"/>
      </a:accent3>
      <a:accent4>
        <a:srgbClr val="FF6C0E"/>
      </a:accent4>
      <a:accent5>
        <a:srgbClr val="AC5D85"/>
      </a:accent5>
      <a:accent6>
        <a:srgbClr val="4B5F80"/>
      </a:accent6>
      <a:hlink>
        <a:srgbClr val="FF6C0E"/>
      </a:hlink>
      <a:folHlink>
        <a:srgbClr val="79D6FF"/>
      </a:folHlink>
    </a:clrScheme>
    <a:fontScheme name="SYZ 2021">
      <a:majorFont>
        <a:latin typeface="Nunito Sans ExtraBold"/>
        <a:ea typeface="Nunito Sans ExtraBold"/>
        <a:cs typeface="Arial"/>
      </a:majorFont>
      <a:minorFont>
        <a:latin typeface="Nunito Sans"/>
        <a:ea typeface="Nunito Sans"/>
        <a:cs typeface="Arial"/>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rtlCol="0">
        <a:noAutofit/>
      </a:bodyPr>
      <a:lstStyle>
        <a:defPPr algn="l">
          <a:defRPr sz="1400" dirty="0" err="1" smtClean="0"/>
        </a:defPPr>
      </a:lstStyle>
    </a:txDef>
  </a:objectDefaults>
  <a:extraClrSchemeLst/>
  <a:custClrLst>
    <a:custClr name="Yellow">
      <a:srgbClr val="FFA400"/>
    </a:custClr>
    <a:custClr name="Grey Blue">
      <a:srgbClr val="4B5F80"/>
    </a:custClr>
    <a:custClr name="Light Orange">
      <a:srgbClr val="FF8300"/>
    </a:custClr>
    <a:custClr name="Red">
      <a:srgbClr val="EE3B2A"/>
    </a:custClr>
    <a:custClr name="Pink">
      <a:srgbClr val="EB3F8E"/>
    </a:custClr>
    <a:custClr name="Blue Violet">
      <a:srgbClr val="7C83C7"/>
    </a:custClr>
    <a:custClr name="Mint">
      <a:srgbClr val="00CEB0"/>
    </a:custClr>
    <a:custClr name="Gold">
      <a:srgbClr val="AA9561"/>
    </a:custClr>
  </a:custClrLst>
  <a:extLst>
    <a:ext uri="{05A4C25C-085E-4340-85A3-A5531E510DB2}">
      <thm15:themeFamily xmlns:thm15="http://schemas.microsoft.com/office/thememl/2012/main" name="Presentation1" id="{B3B8F48F-1018-4A2D-8D2B-9C960F482D4D}" vid="{D40E8840-519A-42E4-95FC-493740DADA0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dd2fe0a4-d3ef-4bed-b6e7-3a585006b1c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D1D05210C2F64187D216D26E3F0B6F" ma:contentTypeVersion="14" ma:contentTypeDescription="Create a new document." ma:contentTypeScope="" ma:versionID="b4cfa6d9fdd4a2e4307bb8fd413d16ec">
  <xsd:schema xmlns:xsd="http://www.w3.org/2001/XMLSchema" xmlns:xs="http://www.w3.org/2001/XMLSchema" xmlns:p="http://schemas.microsoft.com/office/2006/metadata/properties" xmlns:ns1="http://schemas.microsoft.com/sharepoint/v3" xmlns:ns2="dd2fe0a4-d3ef-4bed-b6e7-3a585006b1c3" targetNamespace="http://schemas.microsoft.com/office/2006/metadata/properties" ma:root="true" ma:fieldsID="1f886a3054b7d63501bf347a79a4f3df" ns1:_="" ns2:_="">
    <xsd:import namespace="http://schemas.microsoft.com/sharepoint/v3"/>
    <xsd:import namespace="dd2fe0a4-d3ef-4bed-b6e7-3a585006b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1:_ip_UnifiedCompliancePolicyProperties" minOccurs="0"/>
                <xsd:element ref="ns1:_ip_UnifiedCompliancePolicyUIAction" minOccurs="0"/>
                <xsd:element ref="ns2:MediaServiceLocation"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2fe0a4-d3ef-4bed-b6e7-3a585006b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8" nillable="true" ma:displayName="Location" ma:descrip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db05547-f467-46b2-afe8-b2299a9b6da0"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9325FC-7DD1-46F3-BA35-F1155CED6762}">
  <ds:schemaRefs>
    <ds:schemaRef ds:uri="http://schemas.microsoft.com/sharepoint/v3/contenttype/forms"/>
  </ds:schemaRefs>
</ds:datastoreItem>
</file>

<file path=customXml/itemProps2.xml><?xml version="1.0" encoding="utf-8"?>
<ds:datastoreItem xmlns:ds="http://schemas.openxmlformats.org/officeDocument/2006/customXml" ds:itemID="{94C4076E-6B4E-457A-9634-0B8020DC6A3B}">
  <ds:schemaRefs>
    <ds:schemaRef ds:uri="http://schemas.microsoft.com/office/2006/documentManagement/types"/>
    <ds:schemaRef ds:uri="dd2fe0a4-d3ef-4bed-b6e7-3a585006b1c3"/>
    <ds:schemaRef ds:uri="http://schemas.microsoft.com/office/2006/metadata/properties"/>
    <ds:schemaRef ds:uri="http://schemas.openxmlformats.org/package/2006/metadata/core-properties"/>
    <ds:schemaRef ds:uri="http://schemas.microsoft.com/office/infopath/2007/PartnerControls"/>
    <ds:schemaRef ds:uri="http://purl.org/dc/terms/"/>
    <ds:schemaRef ds:uri="http://purl.org/dc/elements/1.1/"/>
    <ds:schemaRef ds:uri="http://schemas.microsoft.com/sharepoint/v3"/>
    <ds:schemaRef ds:uri="http://www.w3.org/XML/1998/namespace"/>
    <ds:schemaRef ds:uri="http://purl.org/dc/dcmitype/"/>
  </ds:schemaRefs>
</ds:datastoreItem>
</file>

<file path=customXml/itemProps3.xml><?xml version="1.0" encoding="utf-8"?>
<ds:datastoreItem xmlns:ds="http://schemas.openxmlformats.org/officeDocument/2006/customXml" ds:itemID="{CE8252FF-B06B-43A8-8AF6-570744A286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d2fe0a4-d3ef-4bed-b6e7-3a585006b1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026e4c1-5892-497a-b9da-ee493c9f0364}" enabled="0" method="" siteId="{d026e4c1-5892-497a-b9da-ee493c9f0364}" removed="1"/>
</clbl:labelList>
</file>

<file path=docProps/app.xml><?xml version="1.0" encoding="utf-8"?>
<Properties xmlns="http://schemas.openxmlformats.org/officeDocument/2006/extended-properties" xmlns:vt="http://schemas.openxmlformats.org/officeDocument/2006/docPropsVTypes">
  <Template>blank</Template>
  <TotalTime>0</TotalTime>
  <Words>4939</Words>
  <Application>Microsoft Office PowerPoint</Application>
  <PresentationFormat>Custom</PresentationFormat>
  <Paragraphs>1054</Paragraphs>
  <Slides>36</Slides>
  <Notes>9</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52" baseType="lpstr">
      <vt:lpstr>DengXian</vt:lpstr>
      <vt:lpstr>Lucida</vt:lpstr>
      <vt:lpstr>Maison Neue Light Italic</vt:lpstr>
      <vt:lpstr>Urbane Bold</vt:lpstr>
      <vt:lpstr>Aptos</vt:lpstr>
      <vt:lpstr>Arial</vt:lpstr>
      <vt:lpstr>Calibri</vt:lpstr>
      <vt:lpstr>Cambria</vt:lpstr>
      <vt:lpstr>Lucida Sans</vt:lpstr>
      <vt:lpstr>Nunito</vt:lpstr>
      <vt:lpstr>Nunito Sans</vt:lpstr>
      <vt:lpstr>Nunito Sans Black</vt:lpstr>
      <vt:lpstr>Nunito Sans ExtraBold</vt:lpstr>
      <vt:lpstr>Wingdings 3</vt:lpstr>
      <vt:lpstr>SYZ</vt:lpstr>
      <vt:lpstr>think-cell Slide</vt:lpstr>
      <vt:lpstr>Investment Proposal </vt:lpstr>
      <vt:lpstr>PowerPoint Presentation</vt:lpstr>
      <vt:lpstr>How markets moved last week</vt:lpstr>
      <vt:lpstr>What drove the move: four forces</vt:lpstr>
      <vt:lpstr>Our economic scenario</vt:lpstr>
      <vt:lpstr>Our current investment views</vt:lpstr>
      <vt:lpstr>PowerPoint Presentation</vt:lpstr>
      <vt:lpstr>Portfolio strategies across the (risk - return) trade-off</vt:lpstr>
      <vt:lpstr>Proposed portfolio: cash and fixed income</vt:lpstr>
      <vt:lpstr>Proposed portfolio: equity, alternatives and commodities</vt:lpstr>
      <vt:lpstr>Portfolio overview</vt:lpstr>
      <vt:lpstr>Geographic &amp; sector exposure</vt:lpstr>
      <vt:lpstr>Fixed Income: income-type specifics</vt:lpstr>
      <vt:lpstr>PowerPoint Presentation</vt:lpstr>
      <vt:lpstr>Equities: income-type specifics</vt:lpstr>
      <vt:lpstr>PowerPoint Presentation</vt:lpstr>
      <vt:lpstr>Alternatives: income-type specifics</vt:lpstr>
      <vt:lpstr>Commodities</vt:lpstr>
      <vt:lpstr>Structured products</vt:lpstr>
      <vt:lpstr>Liquidity profile</vt:lpstr>
      <vt:lpstr>Concentration &amp; top holdings</vt:lpstr>
      <vt:lpstr>Income &amp; interest-rate sensitivity</vt:lpstr>
      <vt:lpstr>Appendix</vt:lpstr>
      <vt:lpstr>PowerPoint Presentation</vt:lpstr>
      <vt:lpstr>The house view: tactical asset allocation</vt:lpstr>
      <vt:lpstr>Your Virtual team of Experts </vt:lpstr>
      <vt:lpstr>Our Investment Universe</vt:lpstr>
      <vt:lpstr>Alternative Investments Opportunities </vt:lpstr>
      <vt:lpstr>Syz Advisory Services : Our offering for your needs  </vt:lpstr>
      <vt:lpstr>Our Value Proposition - Advisory Expert</vt:lpstr>
      <vt:lpstr>Fixed Income – BNY Mellon Global Short Dated High Yield Fund </vt:lpstr>
      <vt:lpstr>Introducing the UBS Swiss Income Equity Fund (CHF)</vt:lpstr>
      <vt:lpstr>Fund’s characteristics </vt:lpstr>
      <vt:lpstr>Introducing the Schroder US Large Cap Fund (USD)</vt:lpstr>
      <vt:lpstr>Fund’s characteristics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Lambert</dc:creator>
  <cp:lastModifiedBy>Assia Driss</cp:lastModifiedBy>
  <cp:revision>3</cp:revision>
  <cp:lastPrinted>2024-09-04T14:35:26Z</cp:lastPrinted>
  <dcterms:created xsi:type="dcterms:W3CDTF">2026-08-13T09:29:30Z</dcterms:created>
  <dcterms:modified xsi:type="dcterms:W3CDTF">2026-08-18T07:57:33Z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0x01010036D1D05210C2F64187D216D26E3F0B6F</vt:lpwstr>
  </property>
  <property fmtid="{D5CDD505-2E9C-101B-9397-08002B2CF9AE}" pid="3" name="LINKTEK-CHUNK-1">
    <vt:lpwstr>010021{"F":2,"I":"51FC-251D-9A34-0BAC"}</vt:lpwstr>
  </property>
  <property fmtid="{D5CDD505-2E9C-101B-9397-08002B2CF9AE}" pid="4" name="MediaServiceImageTags">
    <vt:lpwstr/>
  </property>
  <property fmtid="{D5CDD505-2E9C-101B-9397-08002B2CF9AE}" pid="5" name="MSIP_Label_0a1a20d1-d9ec-454a-bae3-fbfdced94e84_ActionId">
    <vt:lpwstr>99d58f59-bc11-4a83-9639-92b884b394e5</vt:lpwstr>
  </property>
  <property fmtid="{D5CDD505-2E9C-101B-9397-08002B2CF9AE}" pid="6" name="MSIP_Label_0a1a20d1-d9ec-454a-bae3-fbfdced94e84_ContentBits">
    <vt:lpwstr>0</vt:lpwstr>
  </property>
  <property fmtid="{D5CDD505-2E9C-101B-9397-08002B2CF9AE}" pid="7" name="MSIP_Label_0a1a20d1-d9ec-454a-bae3-fbfdced94e84_Enabled">
    <vt:lpwstr>true</vt:lpwstr>
  </property>
  <property fmtid="{D5CDD505-2E9C-101B-9397-08002B2CF9AE}" pid="8" name="MSIP_Label_0a1a20d1-d9ec-454a-bae3-fbfdced94e84_Method">
    <vt:lpwstr>Privileged</vt:lpwstr>
  </property>
  <property fmtid="{D5CDD505-2E9C-101B-9397-08002B2CF9AE}" pid="9" name="MSIP_Label_0a1a20d1-d9ec-454a-bae3-fbfdced94e84_Name">
    <vt:lpwstr>C0-Public</vt:lpwstr>
  </property>
  <property fmtid="{D5CDD505-2E9C-101B-9397-08002B2CF9AE}" pid="10" name="MSIP_Label_0a1a20d1-d9ec-454a-bae3-fbfdced94e84_SetDate">
    <vt:lpwstr>2024-11-06T14:01:58Z</vt:lpwstr>
  </property>
  <property fmtid="{D5CDD505-2E9C-101B-9397-08002B2CF9AE}" pid="11" name="MSIP_Label_0a1a20d1-d9ec-454a-bae3-fbfdced94e84_SiteId">
    <vt:lpwstr>00137d3d-3556-4d89-bdd6-8cf30cc386e2</vt:lpwstr>
  </property>
  <property fmtid="{D5CDD505-2E9C-101B-9397-08002B2CF9AE}" pid="12" name="MSIP_Label_c4f60076-b082-445a-b1ef-a2dfddfd9d55_ActionId">
    <vt:lpwstr>91272aa2-e663-4e06-96ff-f506c65a425d</vt:lpwstr>
  </property>
  <property fmtid="{D5CDD505-2E9C-101B-9397-08002B2CF9AE}" pid="13" name="MSIP_Label_c4f60076-b082-445a-b1ef-a2dfddfd9d55_ContentBits">
    <vt:lpwstr>0</vt:lpwstr>
  </property>
  <property fmtid="{D5CDD505-2E9C-101B-9397-08002B2CF9AE}" pid="14" name="MSIP_Label_c4f60076-b082-445a-b1ef-a2dfddfd9d55_Enabled">
    <vt:lpwstr>true</vt:lpwstr>
  </property>
  <property fmtid="{D5CDD505-2E9C-101B-9397-08002B2CF9AE}" pid="15" name="MSIP_Label_c4f60076-b082-445a-b1ef-a2dfddfd9d55_Method">
    <vt:lpwstr>Standard</vt:lpwstr>
  </property>
  <property fmtid="{D5CDD505-2E9C-101B-9397-08002B2CF9AE}" pid="16" name="MSIP_Label_c4f60076-b082-445a-b1ef-a2dfddfd9d55_Name">
    <vt:lpwstr>C2-Confidential</vt:lpwstr>
  </property>
  <property fmtid="{D5CDD505-2E9C-101B-9397-08002B2CF9AE}" pid="17" name="MSIP_Label_c4f60076-b082-445a-b1ef-a2dfddfd9d55_SetDate">
    <vt:lpwstr>2023-03-14T08:09:43Z</vt:lpwstr>
  </property>
  <property fmtid="{D5CDD505-2E9C-101B-9397-08002B2CF9AE}" pid="18" name="MSIP_Label_c4f60076-b082-445a-b1ef-a2dfddfd9d55_SiteId">
    <vt:lpwstr>7460684c-d2b3-4e8d-b436-2d0df6ff5988</vt:lpwstr>
  </property>
  <property fmtid="{D5CDD505-2E9C-101B-9397-08002B2CF9AE}" pid="19" name="Order">
    <vt:r8>100</vt:r8>
  </property>
</Properties>
</file>