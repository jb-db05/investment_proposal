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dPt>
            <c:idx val="6"/>
            <c:spPr>
              <a:solidFill>
                <a:srgbClr val="4B5F80"/>
              </a:solidFill>
            </c:spPr>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dPt>
            <c:idx val="3"/>
            <c:spPr>
              <a:solidFill>
                <a:srgbClr val="FFA400"/>
              </a:solidFill>
            </c:spPr>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dPt>
            <c:idx val="5"/>
            <c:spPr>
              <a:solidFill>
                <a:srgbClr val="FFA400"/>
              </a:solidFill>
            </c:spPr>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0.86264842</c:v>
                </c:pt>
                <c:pt idx="1">
                  <c:v>0.13735158</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39%</c:v>
                </c:pt>
                <c:pt idx="1">
                  <c:v>Physical assets  21%</c:v>
                </c:pt>
                <c:pt idx="2">
                  <c:v>Listed  19%</c:v>
                </c:pt>
                <c:pt idx="3">
                  <c:v>Illiquid (lock-up)  16%</c:v>
                </c:pt>
                <c:pt idx="4">
                  <c:v>Cash &amp; metal accounts  4%</c:v>
                </c:pt>
              </c:strCache>
            </c:strRef>
          </c:cat>
          <c:val>
            <c:numRef>
              <c:f>Sheet1!$B$2:$B$6</c:f>
              <c:numCache>
                <c:formatCode>General</c:formatCode>
                <c:ptCount val="5"/>
                <c:pt idx="0">
                  <c:v>0.39424633</c:v>
                </c:pt>
                <c:pt idx="1">
                  <c:v>0.21314650000000002</c:v>
                </c:pt>
                <c:pt idx="2">
                  <c:v>0.19192499999999998</c:v>
                </c:pt>
                <c:pt idx="3">
                  <c:v>0.1627031</c:v>
                </c:pt>
                <c:pt idx="4">
                  <c:v>0.037979059999999995</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