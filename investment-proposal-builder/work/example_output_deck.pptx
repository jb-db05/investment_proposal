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9392" r:id="rId18"/>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25%</c:v>
                </c:pt>
                <c:pt idx="2">
                  <c:v>Private Assets  16%</c:v>
                </c:pt>
                <c:pt idx="3">
                  <c:v>Fixed Income  15%</c:v>
                </c:pt>
                <c:pt idx="4">
                  <c:v>Structured Products  6%</c:v>
                </c:pt>
                <c:pt idx="5">
                  <c:v>Cash  4%</c:v>
                </c:pt>
                <c:pt idx="6">
                  <c:v>Other  1%</c:v>
                </c:pt>
              </c:strCache>
            </c:strRef>
          </c:cat>
          <c:val>
            <c:numRef>
              <c:f>Sheet1!$B$2:$B$8</c:f>
              <c:numCache>
                <c:formatCode>General</c:formatCode>
                <c:ptCount val="7"/>
                <c:pt idx="0">
                  <c:v>0.33704701</c:v>
                </c:pt>
                <c:pt idx="1">
                  <c:v>0.25043606</c:v>
                </c:pt>
                <c:pt idx="2">
                  <c:v>0.1627031</c:v>
                </c:pt>
                <c:pt idx="3">
                  <c:v>0.15084641</c:v>
                </c:pt>
                <c:pt idx="4">
                  <c:v>0.05502035</c:v>
                </c:pt>
                <c:pt idx="5">
                  <c:v>0.037979059999999995</c:v>
                </c:pt>
                <c:pt idx="6">
                  <c:v>0.005968020000000001</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40%</c:v>
                </c:pt>
                <c:pt idx="1">
                  <c:v>CHF  30%</c:v>
                </c:pt>
                <c:pt idx="2">
                  <c:v>EUR  23%</c:v>
                </c:pt>
                <c:pt idx="3">
                  <c:v>GBP  4%</c:v>
                </c:pt>
                <c:pt idx="4">
                  <c:v>XAG  1%</c:v>
                </c:pt>
                <c:pt idx="5">
                  <c:v>SEK  1%</c:v>
                </c:pt>
                <c:pt idx="6">
                  <c:v>XPT  1%</c:v>
                </c:pt>
              </c:strCache>
            </c:strRef>
          </c:cat>
          <c:val>
            <c:numRef>
              <c:f>Sheet1!$B$2:$B$8</c:f>
              <c:numCache>
                <c:formatCode>General</c:formatCode>
                <c:ptCount val="7"/>
                <c:pt idx="0">
                  <c:v>0.40389930999999996</c:v>
                </c:pt>
                <c:pt idx="1">
                  <c:v>0.29621392</c:v>
                </c:pt>
                <c:pt idx="2">
                  <c:v>0.2291397</c:v>
                </c:pt>
                <c:pt idx="3">
                  <c:v>0.03921222</c:v>
                </c:pt>
                <c:pt idx="4">
                  <c:v>0.01093388</c:v>
                </c:pt>
                <c:pt idx="5">
                  <c:v>0.01048082</c:v>
                </c:pt>
                <c:pt idx="6">
                  <c:v>0.01011987</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0.55616955</c:v>
                </c:pt>
                <c:pt idx="1">
                  <c:v>0.31091342</c:v>
                </c:pt>
                <c:pt idx="2">
                  <c:v>0.12558847</c:v>
                </c:pt>
                <c:pt idx="3">
                  <c:v>0.00732856</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58%</c:v>
                </c:pt>
                <c:pt idx="1">
                  <c:v>Fund  23%</c:v>
                </c:pt>
                <c:pt idx="2">
                  <c:v>Structured / AMC  19%</c:v>
                </c:pt>
              </c:strCache>
            </c:strRef>
          </c:cat>
          <c:val>
            <c:numRef>
              <c:f>Sheet1!$B$2:$B$4</c:f>
              <c:numCache>
                <c:formatCode>General</c:formatCode>
                <c:ptCount val="3"/>
                <c:pt idx="0">
                  <c:v>0.5785216900000001</c:v>
                </c:pt>
                <c:pt idx="1">
                  <c:v>0.22766681</c:v>
                </c:pt>
                <c:pt idx="2">
                  <c:v>0.19381150000000003</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4D04-4F23-9F99-238125506A13}"/>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4D04-4F23-9F99-238125506A13}"/>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4D04-4F23-9F99-238125506A13}"/>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4D04-4F23-9F99-238125506A13}"/>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4D04-4F23-9F99-238125506A13}"/>
              </c:ext>
            </c:extLst>
          </c:dPt>
          <c:dPt>
            <c:idx val="5"/>
            <c:bubble3D val="0"/>
            <c:spPr>
              <a:solidFill>
                <a:srgbClr val="9BA3B4"/>
              </a:solidFill>
              <a:ln w="9525" cap="flat">
                <a:noFill/>
                <a:prstDash val="solid"/>
                <a:round/>
              </a:ln>
              <a:effectLst/>
            </c:spPr>
            <c:extLst>
              <c:ext xmlns:c16="http://schemas.microsoft.com/office/drawing/2014/chart" uri="{C3380CC4-5D6E-409C-BE32-E72D297353CC}">
                <c16:uniqueId val="{0000000B-4D04-4F23-9F99-238125506A13}"/>
              </c:ext>
            </c:extLst>
          </c:dPt>
          <c:cat>
            <c:strRef>
              <c:f>Sheet1!$A$2:$A$8</c:f>
              <c:strCache>
                <c:ptCount val="7"/>
                <c:pt idx="0">
                  <c:v>United States   14.3%</c:v>
                </c:pt>
                <c:pt idx="1">
                  <c:v>France   14.3%</c:v>
                </c:pt>
                <c:pt idx="2">
                  <c:v>Luxembourg   14.3%</c:v>
                </c:pt>
                <c:pt idx="3">
                  <c:v>Ireland   14.3%</c:v>
                </c:pt>
                <c:pt idx="4">
                  <c:v>Japan   14.3%</c:v>
                </c:pt>
                <c:pt idx="5">
                  <c:v>United Kingdom   14.3%</c:v>
                </c:pt>
                <c:pt idx="6">
                  <c:v>Unknown   14.3%</c:v>
                </c:pt>
              </c:strCache>
            </c:strRef>
          </c:cat>
          <c:val>
            <c:numRef>
              <c:f>Sheet1!$B$2:$B$8</c:f>
              <c:numCache>
                <c:formatCode>General</c:formatCode>
                <c:ptCount val="7"/>
                <c:pt idx="0">
                  <c:v>0.142857</c:v>
                </c:pt>
                <c:pt idx="1">
                  <c:v>0.142857</c:v>
                </c:pt>
                <c:pt idx="2">
                  <c:v>0.142857</c:v>
                </c:pt>
                <c:pt idx="3">
                  <c:v>0.142857</c:v>
                </c:pt>
                <c:pt idx="4">
                  <c:v>0.142857</c:v>
                </c:pt>
                <c:pt idx="5">
                  <c:v>0.142857</c:v>
                </c:pt>
                <c:pt idx="6">
                  <c:v>0.142857</c:v>
                </c:pt>
              </c:numCache>
            </c:numRef>
          </c:val>
          <c:extLst>
            <c:ext xmlns:c16="http://schemas.microsoft.com/office/drawing/2014/chart" uri="{C3380CC4-5D6E-409C-BE32-E72D297353CC}">
              <c16:uniqueId val="{0000000C-4D04-4F23-9F99-238125506A13}"/>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8B3-44D7-964B-8347C60FDD09}"/>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8B3-44D7-964B-8347C60FDD09}"/>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8B3-44D7-964B-8347C60FDD09}"/>
              </c:ext>
            </c:extLst>
          </c:dPt>
          <c:cat>
            <c:strRef>
              <c:f>Sheet1!$A$2:$A$3</c:f>
              <c:strCache>
                <c:ptCount val="2"/>
                <c:pt idx="0">
                  <c:v>EUR   85.7%</c:v>
                </c:pt>
                <c:pt idx="1">
                  <c:v>Unknown   14.3%</c:v>
                </c:pt>
              </c:strCache>
            </c:strRef>
          </c:cat>
          <c:val>
            <c:numRef>
              <c:f>Sheet1!$B$2:$B$3</c:f>
              <c:numCache>
                <c:formatCode>General</c:formatCode>
                <c:ptCount val="2"/>
                <c:pt idx="0">
                  <c:v>0.857143</c:v>
                </c:pt>
                <c:pt idx="1">
                  <c:v>0.142857</c:v>
                </c:pt>
              </c:numCache>
            </c:numRef>
          </c:val>
          <c:extLst>
            <c:ext xmlns:c16="http://schemas.microsoft.com/office/drawing/2014/chart" uri="{C3380CC4-5D6E-409C-BE32-E72D297353CC}">
              <c16:uniqueId val="{00000006-B8B3-44D7-964B-8347C60FDD09}"/>
            </c:ext>
          </c:extLst>
        </c:ser>
        <c:dLbls>
          <c:showLegendKey val="0"/>
          <c:showVal val="0"/>
          <c:showCatName val="0"/>
          <c:showSerName val="0"/>
          <c:showPercent val="0"/>
          <c:showBubbleSize val="0"/>
          <c:showLeaderLines val="0"/>
        </c:dLbls>
        <c:firstSliceAng val="0"/>
        <c:holeSize val="62"/>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solidFill>
                <a:srgbClr val="F9F9F9"/>
              </a:solidFill>
              <a:prstDash val="solid"/>
              <a:round/>
            </a:ln>
            <a:effectLst/>
          </c:spPr>
          <c:dPt>
            <c:idx val="0"/>
            <c:bubble3D val="0"/>
            <c:spPr>
              <a:solidFill>
                <a:srgbClr val="FF6C0E"/>
              </a:solidFill>
              <a:ln w="9525" cap="flat">
                <a:solidFill>
                  <a:srgbClr val="FAFAFB"/>
                </a:solidFill>
                <a:prstDash val="solid"/>
                <a:round/>
              </a:ln>
              <a:effectLst/>
            </c:spPr>
            <c:extLst>
              <c:ext xmlns:c16="http://schemas.microsoft.com/office/drawing/2014/chart" uri="{C3380CC4-5D6E-409C-BE32-E72D297353CC}">
                <c16:uniqueId val="{00000001-F801-48E9-B837-D9C81C3857EA}"/>
              </c:ext>
            </c:extLst>
          </c:dPt>
          <c:dPt>
            <c:idx val="1"/>
            <c:bubble3D val="0"/>
            <c:spPr>
              <a:solidFill>
                <a:srgbClr val="FFC545"/>
              </a:solidFill>
              <a:ln w="9525" cap="flat">
                <a:solidFill>
                  <a:srgbClr val="FAFAFB"/>
                </a:solidFill>
                <a:prstDash val="solid"/>
                <a:round/>
              </a:ln>
              <a:effectLst/>
            </c:spPr>
            <c:extLst>
              <c:ext xmlns:c16="http://schemas.microsoft.com/office/drawing/2014/chart" uri="{C3380CC4-5D6E-409C-BE32-E72D297353CC}">
                <c16:uniqueId val="{00000003-F801-48E9-B837-D9C81C3857EA}"/>
              </c:ext>
            </c:extLst>
          </c:dPt>
          <c:dPt>
            <c:idx val="2"/>
            <c:bubble3D val="0"/>
            <c:spPr>
              <a:solidFill>
                <a:srgbClr val="79D6FF"/>
              </a:solidFill>
              <a:ln w="9525" cap="flat">
                <a:solidFill>
                  <a:srgbClr val="FAFAFB"/>
                </a:solidFill>
                <a:prstDash val="solid"/>
                <a:round/>
              </a:ln>
              <a:effectLst/>
            </c:spPr>
            <c:extLst>
              <c:ext xmlns:c16="http://schemas.microsoft.com/office/drawing/2014/chart" uri="{C3380CC4-5D6E-409C-BE32-E72D297353CC}">
                <c16:uniqueId val="{00000005-F801-48E9-B837-D9C81C3857EA}"/>
              </c:ext>
            </c:extLst>
          </c:dPt>
          <c:cat>
            <c:strRef>
              <c:f>Sheet1!$A$2:$A$5</c:f>
              <c:strCache>
                <c:ptCount val="4"/>
                <c:pt idx="0">
                  <c:v>3 - 5 years   57.1%</c:v>
                </c:pt>
                <c:pt idx="1">
                  <c:v>5 - 7 years   14.3%</c:v>
                </c:pt>
                <c:pt idx="2">
                  <c:v>0 - 3 years   14.3%</c:v>
                </c:pt>
                <c:pt idx="3">
                  <c:v>Unknown   14.3%</c:v>
                </c:pt>
              </c:strCache>
            </c:strRef>
          </c:cat>
          <c:val>
            <c:numRef>
              <c:f>Sheet1!$B$2:$B$5</c:f>
              <c:numCache>
                <c:formatCode>General</c:formatCode>
                <c:ptCount val="4"/>
                <c:pt idx="0">
                  <c:v>0.571429</c:v>
                </c:pt>
                <c:pt idx="1">
                  <c:v>0.142857</c:v>
                </c:pt>
                <c:pt idx="2">
                  <c:v>0.142857</c:v>
                </c:pt>
                <c:pt idx="3">
                  <c:v>0.142857</c:v>
                </c:pt>
              </c:numCache>
            </c:numRef>
          </c:val>
          <c:extLst>
            <c:ext xmlns:c16="http://schemas.microsoft.com/office/drawing/2014/chart" uri="{C3380CC4-5D6E-409C-BE32-E72D297353CC}">
              <c16:uniqueId val="{00000006-F801-48E9-B837-D9C81C3857EA}"/>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D28A-4F7B-AAC0-EB5D8BC7AD46}"/>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D28A-4F7B-AAC0-EB5D8BC7AD46}"/>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D28A-4F7B-AAC0-EB5D8BC7AD46}"/>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D28A-4F7B-AAC0-EB5D8BC7AD46}"/>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D28A-4F7B-AAC0-EB5D8BC7AD46}"/>
              </c:ext>
            </c:extLst>
          </c:dPt>
          <c:cat>
            <c:strRef>
              <c:f>Sheet1!$A$2:$A$7</c:f>
              <c:strCache>
                <c:ptCount val="6"/>
                <c:pt idx="0">
                  <c:v>BBB+   28.6%</c:v>
                </c:pt>
                <c:pt idx="1">
                  <c:v>A-   14.3%</c:v>
                </c:pt>
                <c:pt idx="2">
                  <c:v>A+   14.3%</c:v>
                </c:pt>
                <c:pt idx="3">
                  <c:v>BBB   14.3%</c:v>
                </c:pt>
                <c:pt idx="4">
                  <c:v>BB+   14.3%</c:v>
                </c:pt>
                <c:pt idx="5">
                  <c:v>Unknown   14.3%</c:v>
                </c:pt>
              </c:strCache>
            </c:strRef>
          </c:cat>
          <c:val>
            <c:numRef>
              <c:f>Sheet1!$B$2:$B$7</c:f>
              <c:numCache>
                <c:formatCode>General</c:formatCode>
                <c:ptCount val="6"/>
                <c:pt idx="0">
                  <c:v>0.285714</c:v>
                </c:pt>
                <c:pt idx="1">
                  <c:v>0.142857</c:v>
                </c:pt>
                <c:pt idx="2">
                  <c:v>0.142857</c:v>
                </c:pt>
                <c:pt idx="3">
                  <c:v>0.142857</c:v>
                </c:pt>
                <c:pt idx="4">
                  <c:v>0.142857</c:v>
                </c:pt>
                <c:pt idx="5">
                  <c:v>0.142857</c:v>
                </c:pt>
              </c:numCache>
            </c:numRef>
          </c:val>
          <c:extLst>
            <c:ext xmlns:c16="http://schemas.microsoft.com/office/drawing/2014/chart" uri="{C3380CC4-5D6E-409C-BE32-E72D297353CC}">
              <c16:uniqueId val="{0000000A-D28A-4F7B-AAC0-EB5D8BC7AD46}"/>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0.9394714500000001</c:v>
                </c:pt>
                <c:pt idx="1">
                  <c:v>0.06052855</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43.6%</c:v>
                </c:pt>
                <c:pt idx="1">
                  <c:v>Eurozone   26.5%</c:v>
                </c:pt>
                <c:pt idx="2">
                  <c:v>Switzerland   19.0%</c:v>
                </c:pt>
                <c:pt idx="3">
                  <c:v>UK   6.0%</c:v>
                </c:pt>
                <c:pt idx="4">
                  <c:v>US   4.9%</c:v>
                </c:pt>
              </c:strCache>
            </c:strRef>
          </c:cat>
          <c:val>
            <c:numRef>
              <c:f>Sheet1!$B$2:$B$6</c:f>
              <c:numCache>
                <c:formatCode>General</c:formatCode>
                <c:ptCount val="5"/>
                <c:pt idx="0">
                  <c:v>0.43587864000000004</c:v>
                </c:pt>
                <c:pt idx="1">
                  <c:v>0.26544267</c:v>
                </c:pt>
                <c:pt idx="2">
                  <c:v>0.18984689</c:v>
                </c:pt>
                <c:pt idx="3">
                  <c:v>0.05989882</c:v>
                </c:pt>
                <c:pt idx="4">
                  <c:v>0.048932989999999996</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65%</c:v>
                </c:pt>
                <c:pt idx="1">
                  <c:v>Listed  19%</c:v>
                </c:pt>
                <c:pt idx="2">
                  <c:v>Illiquid (lock-up)  16%</c:v>
                </c:pt>
              </c:strCache>
            </c:strRef>
          </c:cat>
          <c:val>
            <c:numRef>
              <c:f>Sheet1!$B$2:$B$4</c:f>
              <c:numCache>
                <c:formatCode>General</c:formatCode>
                <c:ptCount val="3"/>
                <c:pt idx="0">
                  <c:v>0.6453719</c:v>
                </c:pt>
                <c:pt idx="1">
                  <c:v>0.19192499999999998</c:v>
                </c:pt>
                <c:pt idx="2">
                  <c:v>0.1627031</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1.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chart" Target="../charts/chart8.xml"/><Relationship Id="rId6" Type="http://schemas.openxmlformats.org/officeDocument/2006/relationships/chart" Target="../charts/chart9.xml"/><Relationship Id="rId7"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Balanced EUR 21.3m</a:t>
            </a:r>
            <a:endParaRPr lang="en-GB" sz="1600" b="1" dirty="0"/>
          </a:p>
          <a:p>
            <a:r>
              <a:t/>
            </a:r>
            <a:endParaRPr lang="en-GB" sz="1400" b="1" dirty="0"/>
          </a:p>
          <a:p>
            <a:r>
              <a:rPr lang="en-CH" sz="1100" dirty="0"/>
              <a:t>Prepared for Jane Doe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How markets moved last week</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+0.33%</a:t>
            </a:r>
          </a:p>
          <a:p>
            <a:pPr algn="ctr"/>
            <a:r>
              <a:rPr lang="en-US" sz="1200" noProof="0" dirty="0">
                <a:solidFill>
                  <a:srgbClr val="202945"/>
                </a:solidFill>
                <a:latin typeface="Nunito Sans"/>
              </a:rPr>
              <a:t>S&amp;P 500, week</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-0.01%</a:t>
            </a:r>
          </a:p>
          <a:p>
            <a:pPr algn="ctr"/>
            <a:r>
              <a:rPr lang="en-US" sz="1200" noProof="0" dirty="0">
                <a:solidFill>
                  <a:srgbClr val="202945"/>
                </a:solidFill>
                <a:latin typeface="Nunito Sans"/>
              </a:rPr>
              <a:t>Nasdaq, week</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+5.36%</a:t>
            </a:r>
          </a:p>
          <a:p>
            <a:pPr algn="ctr"/>
            <a:r>
              <a:rPr lang="en-US" sz="1200" noProof="0" dirty="0">
                <a:solidFill>
                  <a:srgbClr val="202945"/>
                </a:solidFill>
                <a:latin typeface="Nunito Sans"/>
              </a:rPr>
              <a:t>Oil, week</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+7.33%</a:t>
            </a:r>
            <a:endParaRPr lang="en-US" sz="2400" noProof="0" dirty="0"/>
          </a:p>
          <a:p>
            <a:pPr algn="ctr"/>
            <a:r>
              <a:rPr lang="en-US" sz="1200" noProof="0" dirty="0">
                <a:solidFill>
                  <a:srgbClr val="202945"/>
                </a:solidFill>
                <a:latin typeface="Nunito Sans"/>
              </a:rPr>
              <a:t>Energy sector, week</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Cross-asset scoreboard</a:t>
            </a:r>
          </a:p>
        </p:txBody>
      </p:sp>
      <p:sp>
        <p:nvSpPr>
          <p:cNvPr id="9" name="TextBox"/>
          <p:cNvSpPr txBox="1"/>
          <p:nvPr/>
        </p:nvSpPr>
        <p:spPr>
          <a:xfrm>
            <a:off x="666000" y="4100000"/>
            <a:ext cx="270000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Index</a:t>
            </a:r>
          </a:p>
          <a:p>
            <a:pPr algn="l">
              <a:spcAft>
                <a:spcPts val="600"/>
              </a:spcAft>
            </a:pPr>
            <a:r>
              <a:rPr lang="en-US" sz="1100" b="0" noProof="0" dirty="0">
                <a:solidFill>
                  <a:srgbClr val="202945"/>
                </a:solidFill>
                <a:latin typeface="Nunito Sans"/>
              </a:rPr>
              <a:t>S&amp;P 500</a:t>
            </a:r>
          </a:p>
          <a:p>
            <a:pPr algn="l">
              <a:spcAft>
                <a:spcPts val="600"/>
              </a:spcAft>
            </a:pPr>
            <a:r>
              <a:rPr lang="en-US" sz="1100" b="0" noProof="0" dirty="0">
                <a:solidFill>
                  <a:srgbClr val="202945"/>
                </a:solidFill>
                <a:latin typeface="Nunito Sans"/>
              </a:rPr>
              <a:t>Nasdaq Composite</a:t>
            </a:r>
          </a:p>
          <a:p>
            <a:pPr algn="l">
              <a:spcAft>
                <a:spcPts val="600"/>
              </a:spcAft>
            </a:pPr>
            <a:r>
              <a:rPr lang="en-US" sz="1100" b="0" noProof="0" dirty="0">
                <a:solidFill>
                  <a:srgbClr val="202945"/>
                </a:solidFill>
                <a:latin typeface="Nunito Sans"/>
              </a:rPr>
              <a:t>Russell 2000</a:t>
            </a:r>
          </a:p>
          <a:p>
            <a:pPr algn="l">
              <a:spcAft>
                <a:spcPts val="600"/>
              </a:spcAft>
            </a:pPr>
            <a:r>
              <a:rPr lang="en-US" sz="1100" b="0" noProof="0" dirty="0">
                <a:solidFill>
                  <a:srgbClr val="202945"/>
                </a:solidFill>
                <a:latin typeface="Nunito Sans"/>
              </a:rPr>
              <a:t>MSCI EM</a:t>
            </a:r>
          </a:p>
          <a:p>
            <a:pPr algn="l">
              <a:spcAft>
                <a:spcPts val="600"/>
              </a:spcAft>
            </a:pPr>
            <a:r>
              <a:rPr lang="en-US" sz="1100" b="0" noProof="0" dirty="0">
                <a:solidFill>
                  <a:srgbClr val="202945"/>
                </a:solidFill>
                <a:latin typeface="Nunito Sans"/>
              </a:rPr>
              <a:t>Bloomberg U.S. Aggregate</a:t>
            </a:r>
          </a:p>
          <a:p>
            <a:pPr algn="l">
              <a:spcAft>
                <a:spcPts val="600"/>
              </a:spcAft>
            </a:pPr>
            <a:r>
              <a:rPr lang="en-US" sz="1100" b="0" noProof="0" dirty="0">
                <a:solidFill>
                  <a:srgbClr val="202945"/>
                </a:solidFill>
                <a:latin typeface="Nunito Sans"/>
              </a:rPr>
              <a:t>Bloomberg High Yield</a:t>
            </a:r>
          </a:p>
          <a:p>
            <a:pPr algn="l">
              <a:spcAft>
                <a:spcPts val="600"/>
              </a:spcAft>
            </a:pPr>
            <a:r>
              <a:rPr lang="en-US" sz="1100" b="0" noProof="0" dirty="0">
                <a:solidFill>
                  <a:srgbClr val="202945"/>
                </a:solidFill>
                <a:latin typeface="Nunito Sans"/>
              </a:rPr>
              <a:t>Oil (WTI)</a:t>
            </a:r>
          </a:p>
          <a:p>
            <a:pPr algn="l">
              <a:spcAft>
                <a:spcPts val="600"/>
              </a:spcAft>
            </a:pPr>
            <a:r>
              <a:rPr lang="en-US" sz="1100" b="0" noProof="0" dirty="0">
                <a:solidFill>
                  <a:srgbClr val="202945"/>
                </a:solidFill>
                <a:latin typeface="Nunito Sans"/>
              </a:rPr>
              <a:t>Gold</a:t>
            </a:r>
          </a:p>
          <a:p>
            <a:pPr algn="l">
              <a:spcAft>
                <a:spcPts val="600"/>
              </a:spcAft>
            </a:pPr>
            <a:r>
              <a:rPr lang="en-US" sz="1100" b="0" noProof="0" dirty="0">
                <a:solidFill>
                  <a:srgbClr val="202945"/>
                </a:solidFill>
                <a:latin typeface="Nunito Sans"/>
              </a:rPr>
              <a:t>S&amp;P 500 Energy</a:t>
            </a:r>
          </a:p>
        </p:txBody>
      </p:sp>
      <p:sp>
        <p:nvSpPr>
          <p:cNvPr id="10" name="TextBox"/>
          <p:cNvSpPr txBox="1"/>
          <p:nvPr/>
        </p:nvSpPr>
        <p:spPr>
          <a:xfrm>
            <a:off x="340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Week</a:t>
            </a:r>
            <a:endParaRPr lang="en-US" sz="1100" noProof="0" dirty="0"/>
          </a:p>
          <a:p>
            <a:pPr algn="r">
              <a:spcAft>
                <a:spcPts val="600"/>
              </a:spcAft>
            </a:pPr>
            <a:r>
              <a:rPr lang="en-US" sz="1100" b="0" noProof="0" dirty="0">
                <a:solidFill>
                  <a:srgbClr val="3BAF90"/>
                </a:solidFill>
                <a:latin typeface="Nunito Sans"/>
              </a:rPr>
              <a:t>+0.33%</a:t>
            </a:r>
          </a:p>
          <a:p>
            <a:pPr algn="r">
              <a:spcAft>
                <a:spcPts val="600"/>
              </a:spcAft>
            </a:pPr>
            <a:r>
              <a:rPr lang="en-US" sz="1100" b="0" noProof="0" dirty="0">
                <a:solidFill>
                  <a:srgbClr val="FF6C0E"/>
                </a:solidFill>
                <a:latin typeface="Nunito Sans"/>
              </a:rPr>
              <a:t>-0.01%</a:t>
            </a:r>
          </a:p>
          <a:p>
            <a:pPr algn="r">
              <a:spcAft>
                <a:spcPts val="600"/>
              </a:spcAft>
            </a:pPr>
            <a:r>
              <a:rPr lang="en-US" sz="1100" b="0" noProof="0" dirty="0">
                <a:solidFill>
                  <a:srgbClr val="3BAF90"/>
                </a:solidFill>
                <a:latin typeface="Nunito Sans"/>
              </a:rPr>
              <a:t>+0.97%</a:t>
            </a:r>
          </a:p>
          <a:p>
            <a:pPr algn="r">
              <a:spcAft>
                <a:spcPts val="600"/>
              </a:spcAft>
            </a:pPr>
            <a:r>
              <a:rPr lang="en-US" sz="1100" b="0" noProof="0" dirty="0">
                <a:solidFill>
                  <a:srgbClr val="3BAF90"/>
                </a:solidFill>
                <a:latin typeface="Nunito Sans"/>
              </a:rPr>
              <a:t>+1.38%</a:t>
            </a:r>
          </a:p>
          <a:p>
            <a:pPr algn="r">
              <a:spcAft>
                <a:spcPts val="600"/>
              </a:spcAft>
            </a:pPr>
            <a:r>
              <a:rPr lang="en-US" sz="1100" b="0" noProof="0" dirty="0">
                <a:solidFill>
                  <a:srgbClr val="3BAF90"/>
                </a:solidFill>
                <a:latin typeface="Nunito Sans"/>
              </a:rPr>
              <a:t>+0.13%</a:t>
            </a:r>
          </a:p>
          <a:p>
            <a:pPr algn="r">
              <a:spcAft>
                <a:spcPts val="600"/>
              </a:spcAft>
            </a:pPr>
            <a:r>
              <a:rPr lang="en-US" sz="1100" b="0" noProof="0" dirty="0">
                <a:solidFill>
                  <a:srgbClr val="3BAF90"/>
                </a:solidFill>
                <a:latin typeface="Nunito Sans"/>
              </a:rPr>
              <a:t>+0.19%</a:t>
            </a:r>
          </a:p>
          <a:p>
            <a:pPr algn="r">
              <a:spcAft>
                <a:spcPts val="600"/>
              </a:spcAft>
            </a:pPr>
            <a:r>
              <a:rPr lang="en-US" sz="1100" b="0" noProof="0" dirty="0">
                <a:solidFill>
                  <a:srgbClr val="3BAF90"/>
                </a:solidFill>
                <a:latin typeface="Nunito Sans"/>
              </a:rPr>
              <a:t>+5.36%</a:t>
            </a:r>
          </a:p>
          <a:p>
            <a:pPr algn="r">
              <a:spcAft>
                <a:spcPts val="600"/>
              </a:spcAft>
            </a:pPr>
            <a:r>
              <a:rPr lang="en-US" sz="1100" b="0" noProof="0" dirty="0">
                <a:solidFill>
                  <a:srgbClr val="3BAF90"/>
                </a:solidFill>
                <a:latin typeface="Nunito Sans"/>
              </a:rPr>
              <a:t>+0.8%</a:t>
            </a:r>
          </a:p>
          <a:p>
            <a:pPr algn="r">
              <a:spcAft>
                <a:spcPts val="600"/>
              </a:spcAft>
            </a:pPr>
            <a:r>
              <a:rPr lang="en-US" sz="1100" b="0" noProof="0" dirty="0">
                <a:solidFill>
                  <a:srgbClr val="3BAF90"/>
                </a:solidFill>
                <a:latin typeface="Nunito Sans"/>
              </a:rPr>
              <a:t>+7.33%</a:t>
            </a:r>
          </a:p>
        </p:txBody>
      </p:sp>
      <p:sp>
        <p:nvSpPr>
          <p:cNvPr id="11" name="TextBox"/>
          <p:cNvSpPr txBox="1"/>
          <p:nvPr/>
        </p:nvSpPr>
        <p:spPr>
          <a:xfrm>
            <a:off x="4260000" y="4100000"/>
            <a:ext cx="800000"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YTD</a:t>
            </a:r>
            <a:endParaRPr lang="en-US" sz="1100" noProof="0" dirty="0"/>
          </a:p>
          <a:p>
            <a:pPr algn="r">
              <a:spcAft>
                <a:spcPts val="600"/>
              </a:spcAft>
            </a:pPr>
            <a:r>
              <a:rPr lang="en-US" sz="1100" b="0" noProof="0" dirty="0">
                <a:solidFill>
                  <a:srgbClr val="3BAF90"/>
                </a:solidFill>
                <a:latin typeface="Nunito Sans"/>
              </a:rPr>
              <a:t>+13.70%</a:t>
            </a:r>
          </a:p>
          <a:p>
            <a:pPr algn="r">
              <a:spcAft>
                <a:spcPts val="600"/>
              </a:spcAft>
            </a:pPr>
            <a:r>
              <a:rPr lang="en-US" sz="1100" b="0" noProof="0" dirty="0">
                <a:solidFill>
                  <a:srgbClr val="3BAF90"/>
                </a:solidFill>
                <a:latin typeface="Nunito Sans"/>
              </a:rPr>
              <a:t>+14.83%</a:t>
            </a:r>
          </a:p>
          <a:p>
            <a:pPr algn="r">
              <a:spcAft>
                <a:spcPts val="600"/>
              </a:spcAft>
            </a:pPr>
            <a:r>
              <a:rPr lang="en-US" sz="1100" b="0" noProof="0" dirty="0">
                <a:solidFill>
                  <a:srgbClr val="3BAF90"/>
                </a:solidFill>
                <a:latin typeface="Nunito Sans"/>
              </a:rPr>
              <a:t>+23.46%</a:t>
            </a:r>
          </a:p>
          <a:p>
            <a:pPr algn="r">
              <a:spcAft>
                <a:spcPts val="600"/>
              </a:spcAft>
            </a:pPr>
            <a:r>
              <a:rPr lang="en-US" sz="1100" b="0" noProof="0" dirty="0">
                <a:solidFill>
                  <a:srgbClr val="3BAF90"/>
                </a:solidFill>
                <a:latin typeface="Nunito Sans"/>
              </a:rPr>
              <a:t>+21.63%</a:t>
            </a:r>
          </a:p>
          <a:p>
            <a:pPr algn="r">
              <a:spcAft>
                <a:spcPts val="600"/>
              </a:spcAft>
            </a:pPr>
            <a:r>
              <a:rPr lang="en-US" sz="1100" b="0" noProof="0" dirty="0">
                <a:solidFill>
                  <a:srgbClr val="3BAF90"/>
                </a:solidFill>
                <a:latin typeface="Nunito Sans"/>
              </a:rPr>
              <a:t>+0.04%</a:t>
            </a:r>
          </a:p>
          <a:p>
            <a:pPr algn="r">
              <a:spcAft>
                <a:spcPts val="600"/>
              </a:spcAft>
            </a:pPr>
            <a:r>
              <a:rPr lang="en-US" sz="1100" b="0" noProof="0" dirty="0">
                <a:solidFill>
                  <a:srgbClr val="3BAF90"/>
                </a:solidFill>
                <a:latin typeface="Nunito Sans"/>
              </a:rPr>
              <a:t>+2.64%</a:t>
            </a:r>
          </a:p>
          <a:p>
            <a:pPr algn="r">
              <a:spcAft>
                <a:spcPts val="600"/>
              </a:spcAft>
            </a:pPr>
            <a:r>
              <a:rPr lang="en-US" sz="1100" b="0" noProof="0" dirty="0">
                <a:solidFill>
                  <a:srgbClr val="3BAF90"/>
                </a:solidFill>
                <a:latin typeface="Nunito Sans"/>
              </a:rPr>
              <a:t>+43.5%</a:t>
            </a:r>
          </a:p>
          <a:p>
            <a:pPr algn="r">
              <a:spcAft>
                <a:spcPts val="600"/>
              </a:spcAft>
            </a:pPr>
            <a:r>
              <a:rPr lang="en-US" sz="1100" b="0" noProof="0" dirty="0">
                <a:solidFill>
                  <a:srgbClr val="3BAF90"/>
                </a:solidFill>
                <a:latin typeface="Nunito Sans"/>
              </a:rPr>
              <a:t>+1.3%</a:t>
            </a:r>
          </a:p>
          <a:p>
            <a:pPr algn="r">
              <a:spcAft>
                <a:spcPts val="600"/>
              </a:spcAft>
            </a:pPr>
            <a:r>
              <a:rPr lang="en-US" sz="1100" b="0" noProof="0" dirty="0">
                <a:solidFill>
                  <a:srgbClr val="3BAF90"/>
                </a:solidFill>
                <a:latin typeface="Nunito Sans"/>
              </a:rPr>
              <a:t>+37.80%</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Energy is carrying the year</a:t>
            </a:r>
            <a:endParaRPr lang="en-US" sz="1200" noProof="0" dirty="0"/>
          </a:p>
          <a:p>
            <a:pPr algn="l"/>
            <a:r>
              <a:rPr lang="en-US" sz="1100" b="0" noProof="0" dirty="0">
                <a:solidFill>
                  <a:srgbClr val="202945"/>
                </a:solidFill>
                <a:latin typeface="Nunito Sans"/>
              </a:rPr>
              <a:t>It was the only sector up more than 2% on the week and, at +37.80% year to date, is more than fourteen points ahead of the next-best sector.</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scoreboard flatters the tape</a:t>
            </a:r>
            <a:endParaRPr lang="en-US" sz="1200" noProof="0" dirty="0"/>
          </a:p>
          <a:p>
            <a:pPr algn="l"/>
            <a:r>
              <a:rPr lang="en-US" sz="1100" b="0" noProof="0" dirty="0">
                <a:solidFill>
                  <a:srgbClr val="202945"/>
                </a:solidFill>
                <a:latin typeface="Nunito Sans"/>
              </a:rPr>
              <a:t>Core bonds ended barely positive at +0.13% after a full round trip, and the Aggregate is up just 0.04% on the year.</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Breadth is still where the returns are</a:t>
            </a:r>
            <a:endParaRPr lang="en-US" sz="1200" noProof="0" dirty="0"/>
          </a:p>
          <a:p>
            <a:pPr algn="l"/>
            <a:r>
              <a:rPr lang="en-US" sz="1100" b="0" noProof="0" dirty="0">
                <a:solidFill>
                  <a:srgbClr val="202945"/>
                </a:solidFill>
                <a:latin typeface="Nunito Sans"/>
              </a:rPr>
              <a:t>The Russell 2000 leads at +23.46% year to date and MSCI EM, at +1.38%, led the week.</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The S&amp;P 500 added 0.33% and no major benchmark moved more than 1.4% in either direction. Cooler July inflation took the front end lower, but the 30-year auction cleared at its highest yield since 2001 and crude rose 5.36% on the Hormuz deadlock; our tactical allocation stays neutral equities, underweight fixed income, overweight cash, gold and commodities.</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drove the move: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Cooler inflation, at last</a:t>
            </a:r>
            <a:endParaRPr lang="en-US" sz="1200" noProof="0" dirty="0">
              <a:solidFill>
                <a:schemeClr val="tx2"/>
              </a:solidFill>
            </a:endParaRPr>
          </a:p>
          <a:p>
            <a:pPr algn="l">
              <a:spcAft>
                <a:spcPts val="800"/>
              </a:spcAft>
            </a:pPr>
            <a:r>
              <a:rPr lang="en-US" sz="1100" b="0" noProof="0" dirty="0">
                <a:solidFill>
                  <a:srgbClr val="202945"/>
                </a:solidFill>
                <a:latin typeface="Nunito Sans"/>
              </a:rPr>
              <a:t>July CPI confirmed US consumer inflation is cooling, headline easing to 3.4% and core to 2.5%, though annual producer inflation is still 4.7% headline and 4.2% core.</a:t>
            </a:r>
          </a:p>
          <a:p>
            <a:pPr>
              <a:spcAft>
                <a:spcPts val="800"/>
              </a:spcAft>
            </a:pPr>
            <a:r>
              <a:rPr lang="en-US" sz="1200" b="0" noProof="0" dirty="0">
                <a:solidFill>
                  <a:schemeClr val="tx2"/>
                </a:solidFill>
                <a:latin typeface="Nunito Sans ExtraBold"/>
              </a:rPr>
              <a:t>CPI 3.4% headline</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The long end would not cooperate</a:t>
            </a:r>
          </a:p>
          <a:p>
            <a:pPr algn="l">
              <a:spcAft>
                <a:spcPts val="800"/>
              </a:spcAft>
            </a:pPr>
            <a:r>
              <a:rPr lang="en-US" sz="1100" b="0" noProof="0" dirty="0">
                <a:solidFill>
                  <a:srgbClr val="202945"/>
                </a:solidFill>
                <a:latin typeface="Nunito Sans"/>
              </a:rPr>
              <a:t>Cooler prints rallied Treasuries mid-week; Thursday's auctions took it back. The 30-year cleared at its highest yield since 2001.</a:t>
            </a:r>
          </a:p>
          <a:p>
            <a:pPr>
              <a:spcAft>
                <a:spcPts val="800"/>
              </a:spcAft>
            </a:pPr>
            <a:r>
              <a:rPr lang="en-US" sz="1200" b="0" noProof="0" dirty="0">
                <a:solidFill>
                  <a:schemeClr val="tx2"/>
                </a:solidFill>
                <a:latin typeface="Nunito Sans ExtraBold"/>
              </a:rPr>
              <a:t>30y at 25-year high</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Hormuz kept a bid under energy</a:t>
            </a:r>
          </a:p>
          <a:p>
            <a:pPr algn="l">
              <a:spcAft>
                <a:spcPts val="800"/>
              </a:spcAft>
            </a:pPr>
            <a:r>
              <a:rPr lang="en-US" sz="1100" b="0" noProof="0" dirty="0">
                <a:solidFill>
                  <a:srgbClr val="202945"/>
                </a:solidFill>
                <a:latin typeface="Nunito Sans"/>
              </a:rPr>
              <a:t>Oil traded 85-89 USD/bbl and rose 5.36% as the deadlock held and the IEA projected the widest global supply deficit in five years.</a:t>
            </a:r>
          </a:p>
          <a:p>
            <a:pPr>
              <a:spcAft>
                <a:spcPts val="800"/>
              </a:spcAft>
            </a:pPr>
            <a:r>
              <a:rPr lang="en-US" sz="1200" b="0" noProof="0" dirty="0">
                <a:solidFill>
                  <a:schemeClr val="tx2"/>
                </a:solidFill>
                <a:latin typeface="Nunito Sans ExtraBold"/>
              </a:rPr>
              <a:t>Energy +37.80% YTD</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A consumer that is cooling</a:t>
            </a:r>
          </a:p>
          <a:p>
            <a:pPr algn="l">
              <a:spcAft>
                <a:spcPts val="800"/>
              </a:spcAft>
            </a:pPr>
            <a:r>
              <a:rPr lang="en-US" sz="1100" b="0" noProof="0" dirty="0">
                <a:solidFill>
                  <a:srgbClr val="202945"/>
                </a:solidFill>
                <a:latin typeface="Nunito Sans"/>
              </a:rPr>
              <a:t>Retail sales fell 0.6% month on month against a 0.1% rise expected, with no growth in real worker compensation in Q2.</a:t>
            </a:r>
          </a:p>
          <a:p>
            <a:pPr>
              <a:spcAft>
                <a:spcPts val="800"/>
              </a:spcAft>
            </a:pPr>
            <a:r>
              <a:rPr lang="en-US" sz="1200" b="0" noProof="0" dirty="0">
                <a:solidFill>
                  <a:schemeClr val="tx2"/>
                </a:solidFill>
                <a:latin typeface="Nunito Sans ExtraBold"/>
              </a:rPr>
              <a:t>Retail sales -0.6%</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June CPI fell 0.4% m/m (annual rate down from 4.2% to 3.5%) and July hike odds collapsed from 42% to 17%, but Chair Warsh stayed firm on inflation.</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Cooler inflation took the front end lower, the long end would not follow, energy stayed bid on the Hormuz deadlock, and the consumer is visibly cooling.</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Balanced - 81%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Medium to long term (5 to 10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Balanced between growth and distribution</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68545" y="2916562"/>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867319" y="3142883"/>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200" noProof="0" dirty="0" b="1">
                  <a:solidFill>
                    <a:srgbClr val="FFA400"/>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1 of 4. Weights as at 17 August 2026.</a:t>
            </a:r>
          </a:p>
        </p:txBody>
      </p:sp>
      <p:graphicFrame>
        <p:nvGraphicFramePr>
          <p:cNvPr id="4" name="Table 3"/>
          <p:cNvGraphicFramePr>
            <a:graphicFrameLocks noGrp="1"/>
          </p:cNvGraphicFramePr>
          <p:nvPr/>
        </p:nvGraphicFramePr>
        <p:xfrm>
          <a:off x="665163" y="2140000"/>
          <a:ext cx="9398001" cy="451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3.8%</a:t>
                      </a:r>
                    </a:p>
                  </a:txBody>
                  <a:tcPr marL="45720" marR="45720" marT="9144" marB="9144" anchor="ctr">
                    <a:solidFill>
                      <a:srgbClr val="FFC545"/>
                    </a:solidFill>
                  </a:tcPr>
                </a:tc>
              </a:tr>
              <a:tr h="205000">
                <a:tc rowSpan="9">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2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15.1%</a:t>
                      </a:r>
                    </a:p>
                  </a:txBody>
                  <a:tcPr marL="45720" marR="45720" marT="9144" marB="9144" anchor="ctr">
                    <a:solidFill>
                      <a:srgbClr val="4B5F80"/>
                    </a:solid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21.3M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83.7%</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465k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201k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3.82%</a:t>
                      </a:r>
                    </a:p>
                  </a:txBody>
                  <a:tcPr marL="45720" marR="45720" anchor="ctr">
                    <a:noFill/>
                  </a:tcPr>
                </a:tc>
              </a:tr>
              <a:tr h="313200">
                <a:tc>
                  <a:txBody>
                    <a:bodyPr wrap="square"/>
                    <a:lstStyle/>
                    <a:p>
                      <a:pPr algn="l"/>
                      <a:r>
                        <a:rPr sz="900" b="0">
                          <a:solidFill>
                            <a:srgbClr val="202945"/>
                          </a:solidFill>
                        </a:rPr>
                        <a:t>3.5% VONOVIA NOV32  12.11.2032</a:t>
                      </a:r>
                    </a:p>
                  </a:txBody>
                  <a:tcPr marL="45720" marR="45720" anchor="ctr">
                    <a:noFill/>
                  </a:tcPr>
                </a:tc>
                <a:tc>
                  <a:txBody>
                    <a:bodyPr wrap="square"/>
                    <a:lstStyle/>
                    <a:p>
                      <a:pPr algn="l"/>
                      <a:r>
                        <a:rPr sz="900" b="0">
                          <a:solidFill>
                            <a:srgbClr val="202945"/>
                          </a:solidFill>
                        </a:rPr>
                        <a:t>EUR 200k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4.00%</a:t>
                      </a:r>
                    </a:p>
                  </a:txBody>
                  <a:tcPr marL="45720" marR="45720" anchor="ctr">
                    <a:noFill/>
                  </a:tcPr>
                </a:tc>
              </a:tr>
            </a:tbl>
          </a:graphicData>
        </a:graphic>
      </p:graphicFrame>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alpha val="0"/>
          </a:schemeClr>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400">
                <a:solidFill>
                  <a:srgbClr val="3C445D"/>
                </a:solidFill>
                <a:latin typeface="Nunito" pitchFamily="34" charset="0"/>
                <a:ea typeface="Nunito" pitchFamily="34" charset="-122"/>
                <a:cs typeface="Nunito" pitchFamily="34" charset="-120"/>
              </a:rPr>
              <a:t>Proposed bond selection: 7 issues, EUR 700,000, equally weighted at EUR 100,000 each.</a:t>
            </a:r>
            <a:endParaRPr lang="en-US" sz="1400"/>
          </a:p>
        </p:txBody>
      </p:sp>
      <p:sp>
        <p:nvSpPr>
          <p:cNvPr id="4" name="Shape 2"/>
          <p:cNvSpPr/>
          <p:nvPr/>
        </p:nvSpPr>
        <p:spPr>
          <a:xfrm>
            <a:off x="671062" y="2161791"/>
            <a:ext cx="9350385" cy="4707183"/>
          </a:xfrm>
          <a:prstGeom prst="roundRect">
            <a:avLst>
              <a:gd name="adj" fmla="val 777"/>
            </a:avLst>
          </a:prstGeom>
          <a:noFill/>
          <a:ln w="12700">
            <a:solidFill>
              <a:srgbClr val="FAFAFB"/>
            </a:solidFill>
            <a:prstDash val="solid"/>
          </a:ln>
          <a:effectLst/>
        </p:spPr>
        <p:txBody>
          <a:bodyPr/>
          <a:lstStyle/>
          <a:p>
            <a:endParaRPr lang="en-CH"/>
          </a:p>
        </p:txBody>
      </p:sp>
      <p:sp>
        <p:nvSpPr>
          <p:cNvPr id="5" name="Text 3"/>
          <p:cNvSpPr/>
          <p:nvPr/>
        </p:nvSpPr>
        <p:spPr>
          <a:xfrm>
            <a:off x="872146"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700527141"/>
              </p:ext>
            </p:extLst>
          </p:nvPr>
        </p:nvGraphicFramePr>
        <p:xfrm>
          <a:off x="826445" y="2604945"/>
          <a:ext cx="1690930" cy="169093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2727599" y="2678067"/>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2901262" y="260037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States   14.3%</a:t>
            </a:r>
            <a:endParaRPr lang="en-US" sz="1200"/>
          </a:p>
        </p:txBody>
      </p:sp>
      <p:sp>
        <p:nvSpPr>
          <p:cNvPr id="9" name="Shape 6"/>
          <p:cNvSpPr/>
          <p:nvPr/>
        </p:nvSpPr>
        <p:spPr>
          <a:xfrm>
            <a:off x="2727599" y="2961412"/>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2901262" y="288372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France   14.3%</a:t>
            </a:r>
            <a:endParaRPr lang="en-US" sz="1200"/>
          </a:p>
        </p:txBody>
      </p:sp>
      <p:sp>
        <p:nvSpPr>
          <p:cNvPr id="11" name="Shape 8"/>
          <p:cNvSpPr/>
          <p:nvPr/>
        </p:nvSpPr>
        <p:spPr>
          <a:xfrm>
            <a:off x="2727599" y="3244757"/>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2901262" y="3167065"/>
            <a:ext cx="2513544" cy="28334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Luxembourg   14.3%</a:t>
            </a:r>
            <a:endParaRPr lang="en-US" sz="1200" dirty="0"/>
          </a:p>
        </p:txBody>
      </p:sp>
      <p:sp>
        <p:nvSpPr>
          <p:cNvPr id="13" name="Shape 10"/>
          <p:cNvSpPr/>
          <p:nvPr/>
        </p:nvSpPr>
        <p:spPr>
          <a:xfrm>
            <a:off x="2727599" y="3528102"/>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2901262" y="345041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Ireland   14.3%</a:t>
            </a:r>
            <a:endParaRPr lang="en-US" sz="1200"/>
          </a:p>
        </p:txBody>
      </p:sp>
      <p:sp>
        <p:nvSpPr>
          <p:cNvPr id="15" name="Shape 12"/>
          <p:cNvSpPr/>
          <p:nvPr/>
        </p:nvSpPr>
        <p:spPr>
          <a:xfrm>
            <a:off x="2727599" y="3811447"/>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2901262" y="3733755"/>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Japan   14.3%</a:t>
            </a:r>
            <a:endParaRPr lang="en-US" sz="1200"/>
          </a:p>
        </p:txBody>
      </p:sp>
      <p:sp>
        <p:nvSpPr>
          <p:cNvPr id="17" name="Shape 14"/>
          <p:cNvSpPr/>
          <p:nvPr/>
        </p:nvSpPr>
        <p:spPr>
          <a:xfrm>
            <a:off x="2727599" y="4094792"/>
            <a:ext cx="95972" cy="95972"/>
          </a:xfrm>
          <a:prstGeom prst="rect">
            <a:avLst/>
          </a:prstGeom>
          <a:solidFill>
            <a:srgbClr val="9BA3B4"/>
          </a:solidFill>
          <a:ln w="12700">
            <a:solidFill>
              <a:srgbClr val="9BA3B4"/>
            </a:solidFill>
            <a:prstDash val="solid"/>
          </a:ln>
        </p:spPr>
        <p:txBody>
          <a:bodyPr/>
          <a:lstStyle/>
          <a:p>
            <a:endParaRPr lang="en-CH"/>
          </a:p>
        </p:txBody>
      </p:sp>
      <p:sp>
        <p:nvSpPr>
          <p:cNvPr id="18" name="Text 15"/>
          <p:cNvSpPr/>
          <p:nvPr/>
        </p:nvSpPr>
        <p:spPr>
          <a:xfrm>
            <a:off x="2901262" y="4017100"/>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United Kingdom   14.3%</a:t>
            </a:r>
            <a:endParaRPr lang="en-US" sz="1200"/>
          </a:p>
        </p:txBody>
      </p:sp>
      <p:sp>
        <p:nvSpPr>
          <p:cNvPr id="19" name="Text 16"/>
          <p:cNvSpPr/>
          <p:nvPr/>
        </p:nvSpPr>
        <p:spPr>
          <a:xfrm>
            <a:off x="5533628" y="228504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currency</a:t>
            </a:r>
          </a:p>
        </p:txBody>
      </p:sp>
      <p:graphicFrame>
        <p:nvGraphicFramePr>
          <p:cNvPr id="20" name="Chart 1"/>
          <p:cNvGraphicFramePr/>
          <p:nvPr>
            <p:extLst>
              <p:ext uri="{D42A27DB-BD31-4B8C-83A1-F6EECF244321}">
                <p14:modId xmlns:p14="http://schemas.microsoft.com/office/powerpoint/2010/main" val="3341096340"/>
              </p:ext>
            </p:extLst>
          </p:nvPr>
        </p:nvGraphicFramePr>
        <p:xfrm>
          <a:off x="5487927" y="2604945"/>
          <a:ext cx="1690930" cy="1690930"/>
        </p:xfrm>
        <a:graphic>
          <a:graphicData uri="http://schemas.openxmlformats.org/drawingml/2006/chart">
            <c:chart xmlns:c="http://schemas.openxmlformats.org/drawingml/2006/chart" xmlns:r="http://schemas.openxmlformats.org/officeDocument/2006/relationships" r:id="rId4"/>
          </a:graphicData>
        </a:graphic>
      </p:graphicFrame>
      <p:sp>
        <p:nvSpPr>
          <p:cNvPr id="21" name="Shape 17"/>
          <p:cNvSpPr/>
          <p:nvPr/>
        </p:nvSpPr>
        <p:spPr>
          <a:xfrm>
            <a:off x="7389081" y="3103084"/>
            <a:ext cx="95972" cy="95972"/>
          </a:xfrm>
          <a:prstGeom prst="rect">
            <a:avLst/>
          </a:prstGeom>
          <a:solidFill>
            <a:srgbClr val="FF6C0E"/>
          </a:solidFill>
          <a:ln w="12700">
            <a:solidFill>
              <a:srgbClr val="FF6C0E"/>
            </a:solidFill>
            <a:prstDash val="solid"/>
          </a:ln>
        </p:spPr>
        <p:txBody>
          <a:bodyPr/>
          <a:lstStyle/>
          <a:p>
            <a:endParaRPr lang="en-CH"/>
          </a:p>
        </p:txBody>
      </p:sp>
      <p:sp>
        <p:nvSpPr>
          <p:cNvPr id="22" name="Text 18"/>
          <p:cNvSpPr/>
          <p:nvPr/>
        </p:nvSpPr>
        <p:spPr>
          <a:xfrm>
            <a:off x="7562744" y="302539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EUR   85.7%</a:t>
            </a:r>
            <a:endParaRPr lang="en-US" sz="1200"/>
          </a:p>
        </p:txBody>
      </p:sp>
      <p:sp>
        <p:nvSpPr>
          <p:cNvPr id="23" name="Shape 19"/>
          <p:cNvSpPr/>
          <p:nvPr/>
        </p:nvSpPr>
        <p:spPr>
          <a:xfrm>
            <a:off x="7389081" y="3386429"/>
            <a:ext cx="95972" cy="95972"/>
          </a:xfrm>
          <a:prstGeom prst="rect">
            <a:avLst/>
          </a:prstGeom>
          <a:solidFill>
            <a:srgbClr val="FFC545"/>
          </a:solidFill>
          <a:ln w="12700">
            <a:solidFill>
              <a:srgbClr val="FFC545"/>
            </a:solidFill>
            <a:prstDash val="solid"/>
          </a:ln>
        </p:spPr>
        <p:txBody>
          <a:bodyPr/>
          <a:lstStyle/>
          <a:p>
            <a:endParaRPr lang="en-CH"/>
          </a:p>
        </p:txBody>
      </p:sp>
      <p:sp>
        <p:nvSpPr>
          <p:cNvPr id="24" name="Text 20"/>
          <p:cNvSpPr/>
          <p:nvPr/>
        </p:nvSpPr>
        <p:spPr>
          <a:xfrm>
            <a:off x="7562744" y="330873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Unknown   14.3%</a:t>
            </a:r>
            <a:endParaRPr lang="en-US" sz="1200"/>
          </a:p>
        </p:txBody>
      </p:sp>
      <p:sp>
        <p:nvSpPr>
          <p:cNvPr id="25" name="Shape 21"/>
          <p:cNvSpPr/>
          <p:nvPr/>
        </p:nvSpPr>
        <p:spPr>
          <a:xfrm>
            <a:off x="7389081" y="3669774"/>
            <a:ext cx="95972" cy="95972"/>
          </a:xfrm>
          <a:prstGeom prst="rect">
            <a:avLst/>
          </a:prstGeom>
          <a:solidFill>
            <a:srgbClr val="79D6FF"/>
          </a:solidFill>
          <a:ln w="12700">
            <a:solidFill>
              <a:srgbClr val="79D6FF"/>
            </a:solidFill>
            <a:prstDash val="solid"/>
          </a:ln>
        </p:spPr>
        <p:txBody>
          <a:bodyPr/>
          <a:lstStyle/>
          <a:p>
            <a:endParaRPr lang="en-CH"/>
          </a:p>
        </p:txBody>
      </p:sp>
      <p:sp>
        <p:nvSpPr>
          <p:cNvPr id="26" name="Text 22"/>
          <p:cNvSpPr/>
          <p:nvPr/>
        </p:nvSpPr>
        <p:spPr>
          <a:xfrm>
            <a:off x="7562744" y="359208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
            </a:r>
            <a:endParaRPr lang="en-US" sz="1200"/>
          </a:p>
        </p:txBody>
      </p:sp>
      <p:sp>
        <p:nvSpPr>
          <p:cNvPr id="27" name="Text 23"/>
          <p:cNvSpPr/>
          <p:nvPr/>
        </p:nvSpPr>
        <p:spPr>
          <a:xfrm>
            <a:off x="872146"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maturity</a:t>
            </a:r>
          </a:p>
        </p:txBody>
      </p:sp>
      <p:graphicFrame>
        <p:nvGraphicFramePr>
          <p:cNvPr id="28" name="Chart 2"/>
          <p:cNvGraphicFramePr/>
          <p:nvPr>
            <p:extLst>
              <p:ext uri="{D42A27DB-BD31-4B8C-83A1-F6EECF244321}">
                <p14:modId xmlns:p14="http://schemas.microsoft.com/office/powerpoint/2010/main" val="2538154021"/>
              </p:ext>
            </p:extLst>
          </p:nvPr>
        </p:nvGraphicFramePr>
        <p:xfrm>
          <a:off x="826445" y="4889986"/>
          <a:ext cx="1690930" cy="1690930"/>
        </p:xfrm>
        <a:graphic>
          <a:graphicData uri="http://schemas.openxmlformats.org/drawingml/2006/chart">
            <c:chart xmlns:c="http://schemas.openxmlformats.org/drawingml/2006/chart" xmlns:r="http://schemas.openxmlformats.org/officeDocument/2006/relationships" r:id="rId5"/>
          </a:graphicData>
        </a:graphic>
      </p:graphicFrame>
      <p:sp>
        <p:nvSpPr>
          <p:cNvPr id="29" name="Shape 24"/>
          <p:cNvSpPr/>
          <p:nvPr/>
        </p:nvSpPr>
        <p:spPr>
          <a:xfrm>
            <a:off x="2727599" y="5388124"/>
            <a:ext cx="95972" cy="95972"/>
          </a:xfrm>
          <a:prstGeom prst="rect">
            <a:avLst/>
          </a:prstGeom>
          <a:solidFill>
            <a:srgbClr val="FF6C0E"/>
          </a:solidFill>
          <a:ln w="12700">
            <a:solidFill>
              <a:srgbClr val="FF6C0E"/>
            </a:solidFill>
            <a:prstDash val="solid"/>
          </a:ln>
        </p:spPr>
        <p:txBody>
          <a:bodyPr/>
          <a:lstStyle/>
          <a:p>
            <a:endParaRPr lang="en-CH"/>
          </a:p>
        </p:txBody>
      </p:sp>
      <p:sp>
        <p:nvSpPr>
          <p:cNvPr id="30" name="Text 25"/>
          <p:cNvSpPr/>
          <p:nvPr/>
        </p:nvSpPr>
        <p:spPr>
          <a:xfrm>
            <a:off x="2901262"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3 - 5 years   57.1%</a:t>
            </a:r>
            <a:endParaRPr lang="en-US" sz="1200"/>
          </a:p>
        </p:txBody>
      </p:sp>
      <p:sp>
        <p:nvSpPr>
          <p:cNvPr id="31" name="Shape 26"/>
          <p:cNvSpPr/>
          <p:nvPr/>
        </p:nvSpPr>
        <p:spPr>
          <a:xfrm>
            <a:off x="2727599" y="5671469"/>
            <a:ext cx="95972" cy="95972"/>
          </a:xfrm>
          <a:prstGeom prst="rect">
            <a:avLst/>
          </a:prstGeom>
          <a:solidFill>
            <a:srgbClr val="FFC545"/>
          </a:solidFill>
          <a:ln w="12700">
            <a:solidFill>
              <a:srgbClr val="FFC545"/>
            </a:solidFill>
            <a:prstDash val="solid"/>
          </a:ln>
        </p:spPr>
        <p:txBody>
          <a:bodyPr/>
          <a:lstStyle/>
          <a:p>
            <a:endParaRPr lang="en-CH"/>
          </a:p>
        </p:txBody>
      </p:sp>
      <p:sp>
        <p:nvSpPr>
          <p:cNvPr id="32" name="Text 27"/>
          <p:cNvSpPr/>
          <p:nvPr/>
        </p:nvSpPr>
        <p:spPr>
          <a:xfrm>
            <a:off x="2901262"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5 - 7 years   14.3%</a:t>
            </a:r>
            <a:endParaRPr lang="en-US" sz="1200"/>
          </a:p>
        </p:txBody>
      </p:sp>
      <p:sp>
        <p:nvSpPr>
          <p:cNvPr id="33" name="Shape 28"/>
          <p:cNvSpPr/>
          <p:nvPr/>
        </p:nvSpPr>
        <p:spPr>
          <a:xfrm>
            <a:off x="2727599" y="5954814"/>
            <a:ext cx="95972" cy="95972"/>
          </a:xfrm>
          <a:prstGeom prst="rect">
            <a:avLst/>
          </a:prstGeom>
          <a:solidFill>
            <a:srgbClr val="79D6FF"/>
          </a:solidFill>
          <a:ln w="12700">
            <a:solidFill>
              <a:srgbClr val="79D6FF"/>
            </a:solidFill>
            <a:prstDash val="solid"/>
          </a:ln>
        </p:spPr>
        <p:txBody>
          <a:bodyPr/>
          <a:lstStyle/>
          <a:p>
            <a:endParaRPr lang="en-CH"/>
          </a:p>
        </p:txBody>
      </p:sp>
      <p:sp>
        <p:nvSpPr>
          <p:cNvPr id="34" name="Text 29"/>
          <p:cNvSpPr/>
          <p:nvPr/>
        </p:nvSpPr>
        <p:spPr>
          <a:xfrm>
            <a:off x="2901262"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0 - 3 years   14.3%</a:t>
            </a:r>
            <a:endParaRPr lang="en-US" sz="1200"/>
          </a:p>
        </p:txBody>
      </p:sp>
      <p:sp>
        <p:nvSpPr>
          <p:cNvPr id="35" name="Text 30"/>
          <p:cNvSpPr/>
          <p:nvPr/>
        </p:nvSpPr>
        <p:spPr>
          <a:xfrm>
            <a:off x="5533628" y="4570080"/>
            <a:ext cx="4021671" cy="274205"/>
          </a:xfrm>
          <a:prstGeom prst="rect">
            <a:avLst/>
          </a:prstGeom>
          <a:noFill/>
          <a:ln/>
        </p:spPr>
        <p:txBody>
          <a:bodyPr wrap="square" lIns="0" tIns="0" rIns="0" bIns="0" rtlCol="0" anchor="ctr"/>
          <a:lstStyle/>
          <a:p>
            <a:r>
              <a:rPr lang="en-US" sz="1400" b="1">
                <a:solidFill>
                  <a:srgbClr val="202945"/>
                </a:solidFill>
                <a:latin typeface="Nunito Sans ExtraBold"/>
              </a:rPr>
              <a:t>By credit quality</a:t>
            </a:r>
          </a:p>
        </p:txBody>
      </p:sp>
      <p:graphicFrame>
        <p:nvGraphicFramePr>
          <p:cNvPr id="36" name="Chart 3"/>
          <p:cNvGraphicFramePr/>
          <p:nvPr>
            <p:extLst>
              <p:ext uri="{D42A27DB-BD31-4B8C-83A1-F6EECF244321}">
                <p14:modId xmlns:p14="http://schemas.microsoft.com/office/powerpoint/2010/main" val="384069647"/>
              </p:ext>
            </p:extLst>
          </p:nvPr>
        </p:nvGraphicFramePr>
        <p:xfrm>
          <a:off x="5487927" y="4889986"/>
          <a:ext cx="1690930" cy="1690930"/>
        </p:xfrm>
        <a:graphic>
          <a:graphicData uri="http://schemas.openxmlformats.org/drawingml/2006/chart">
            <c:chart xmlns:c="http://schemas.openxmlformats.org/drawingml/2006/chart" xmlns:r="http://schemas.openxmlformats.org/officeDocument/2006/relationships" r:id="rId6"/>
          </a:graphicData>
        </a:graphic>
      </p:graphicFrame>
      <p:sp>
        <p:nvSpPr>
          <p:cNvPr id="37" name="Shape 31"/>
          <p:cNvSpPr/>
          <p:nvPr/>
        </p:nvSpPr>
        <p:spPr>
          <a:xfrm>
            <a:off x="7389081" y="5104779"/>
            <a:ext cx="95972" cy="95972"/>
          </a:xfrm>
          <a:prstGeom prst="rect">
            <a:avLst/>
          </a:prstGeom>
          <a:solidFill>
            <a:srgbClr val="FF6C0E"/>
          </a:solidFill>
          <a:ln w="12700">
            <a:solidFill>
              <a:srgbClr val="FF6C0E"/>
            </a:solidFill>
            <a:prstDash val="solid"/>
          </a:ln>
        </p:spPr>
        <p:txBody>
          <a:bodyPr/>
          <a:lstStyle/>
          <a:p>
            <a:endParaRPr lang="en-CH"/>
          </a:p>
        </p:txBody>
      </p:sp>
      <p:sp>
        <p:nvSpPr>
          <p:cNvPr id="38" name="Text 32"/>
          <p:cNvSpPr/>
          <p:nvPr/>
        </p:nvSpPr>
        <p:spPr>
          <a:xfrm>
            <a:off x="7562744" y="502708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28.6%</a:t>
            </a:r>
            <a:endParaRPr lang="en-US" sz="1200"/>
          </a:p>
        </p:txBody>
      </p:sp>
      <p:sp>
        <p:nvSpPr>
          <p:cNvPr id="39" name="Shape 33"/>
          <p:cNvSpPr/>
          <p:nvPr/>
        </p:nvSpPr>
        <p:spPr>
          <a:xfrm>
            <a:off x="7389081" y="5388124"/>
            <a:ext cx="95972" cy="95972"/>
          </a:xfrm>
          <a:prstGeom prst="rect">
            <a:avLst/>
          </a:prstGeom>
          <a:solidFill>
            <a:srgbClr val="FFC545"/>
          </a:solidFill>
          <a:ln w="12700">
            <a:solidFill>
              <a:srgbClr val="FFC545"/>
            </a:solidFill>
            <a:prstDash val="solid"/>
          </a:ln>
        </p:spPr>
        <p:txBody>
          <a:bodyPr/>
          <a:lstStyle/>
          <a:p>
            <a:endParaRPr lang="en-CH"/>
          </a:p>
        </p:txBody>
      </p:sp>
      <p:sp>
        <p:nvSpPr>
          <p:cNvPr id="40" name="Text 34"/>
          <p:cNvSpPr/>
          <p:nvPr/>
        </p:nvSpPr>
        <p:spPr>
          <a:xfrm>
            <a:off x="7562744" y="531043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1" name="Shape 35"/>
          <p:cNvSpPr/>
          <p:nvPr/>
        </p:nvSpPr>
        <p:spPr>
          <a:xfrm>
            <a:off x="7389081" y="5671469"/>
            <a:ext cx="95972" cy="95972"/>
          </a:xfrm>
          <a:prstGeom prst="rect">
            <a:avLst/>
          </a:prstGeom>
          <a:solidFill>
            <a:srgbClr val="79D6FF"/>
          </a:solidFill>
          <a:ln w="12700">
            <a:solidFill>
              <a:srgbClr val="79D6FF"/>
            </a:solidFill>
            <a:prstDash val="solid"/>
          </a:ln>
        </p:spPr>
        <p:txBody>
          <a:bodyPr/>
          <a:lstStyle/>
          <a:p>
            <a:endParaRPr lang="en-CH"/>
          </a:p>
        </p:txBody>
      </p:sp>
      <p:sp>
        <p:nvSpPr>
          <p:cNvPr id="42" name="Text 36"/>
          <p:cNvSpPr/>
          <p:nvPr/>
        </p:nvSpPr>
        <p:spPr>
          <a:xfrm>
            <a:off x="7562744" y="559377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A+   14.3%</a:t>
            </a:r>
            <a:endParaRPr lang="en-US" sz="1200"/>
          </a:p>
        </p:txBody>
      </p:sp>
      <p:sp>
        <p:nvSpPr>
          <p:cNvPr id="43" name="Shape 37"/>
          <p:cNvSpPr/>
          <p:nvPr/>
        </p:nvSpPr>
        <p:spPr>
          <a:xfrm>
            <a:off x="7389081" y="5954814"/>
            <a:ext cx="95972" cy="95972"/>
          </a:xfrm>
          <a:prstGeom prst="rect">
            <a:avLst/>
          </a:prstGeom>
          <a:solidFill>
            <a:srgbClr val="202945"/>
          </a:solidFill>
          <a:ln w="12700">
            <a:solidFill>
              <a:srgbClr val="202945"/>
            </a:solidFill>
            <a:prstDash val="solid"/>
          </a:ln>
        </p:spPr>
        <p:txBody>
          <a:bodyPr/>
          <a:lstStyle/>
          <a:p>
            <a:endParaRPr lang="en-CH"/>
          </a:p>
        </p:txBody>
      </p:sp>
      <p:sp>
        <p:nvSpPr>
          <p:cNvPr id="44" name="Text 38"/>
          <p:cNvSpPr/>
          <p:nvPr/>
        </p:nvSpPr>
        <p:spPr>
          <a:xfrm>
            <a:off x="7562744" y="5877123"/>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BBB   14.3%</a:t>
            </a:r>
            <a:endParaRPr lang="en-US" sz="1200"/>
          </a:p>
        </p:txBody>
      </p:sp>
      <p:sp>
        <p:nvSpPr>
          <p:cNvPr id="45" name="Shape 39"/>
          <p:cNvSpPr/>
          <p:nvPr/>
        </p:nvSpPr>
        <p:spPr>
          <a:xfrm>
            <a:off x="7389081" y="6238159"/>
            <a:ext cx="95972" cy="95972"/>
          </a:xfrm>
          <a:prstGeom prst="rect">
            <a:avLst/>
          </a:prstGeom>
          <a:solidFill>
            <a:srgbClr val="3BAF90"/>
          </a:solidFill>
          <a:ln w="12700">
            <a:solidFill>
              <a:srgbClr val="3BAF90"/>
            </a:solidFill>
            <a:prstDash val="solid"/>
          </a:ln>
        </p:spPr>
        <p:txBody>
          <a:bodyPr/>
          <a:lstStyle/>
          <a:p>
            <a:endParaRPr lang="en-CH"/>
          </a:p>
        </p:txBody>
      </p:sp>
      <p:sp>
        <p:nvSpPr>
          <p:cNvPr id="46" name="Text 40"/>
          <p:cNvSpPr/>
          <p:nvPr/>
        </p:nvSpPr>
        <p:spPr>
          <a:xfrm>
            <a:off x="7562744" y="6160468"/>
            <a:ext cx="2513544" cy="283345"/>
          </a:xfrm>
          <a:prstGeom prst="rect">
            <a:avLst/>
          </a:prstGeom>
          <a:noFill/>
          <a:ln/>
        </p:spPr>
        <p:txBody>
          <a:bodyPr wrap="square" lIns="0" tIns="0" rIns="0" bIns="0" rtlCol="0" anchor="ctr"/>
          <a:lstStyle/>
          <a:p>
            <a:r>
              <a:rPr lang="en-US" sz="1200">
                <a:solidFill>
                  <a:srgbClr val="3C445D"/>
                </a:solidFill>
                <a:latin typeface="Nunito" pitchFamily="34" charset="0"/>
                <a:ea typeface="Nunito" pitchFamily="34" charset="-122"/>
                <a:cs typeface="Nunito" pitchFamily="34" charset="-120"/>
              </a:rPr>
              <a:t>BB+   14.3%</a:t>
            </a:r>
            <a:endParaRPr lang="en-US" sz="1200"/>
          </a:p>
        </p:txBody>
      </p:sp>
      <p:sp>
        <p:nvSpPr>
          <p:cNvPr id="47" name="Text 41"/>
          <p:cNvSpPr/>
          <p:nvPr/>
        </p:nvSpPr>
        <p:spPr>
          <a:xfrm>
            <a:off x="671062" y="6964802"/>
            <a:ext cx="8774555" cy="228504"/>
          </a:xfrm>
          <a:prstGeom prst="rect">
            <a:avLst/>
          </a:prstGeom>
          <a:noFill/>
          <a:ln/>
        </p:spPr>
        <p:txBody>
          <a:bodyPr wrap="square" lIns="0" tIns="0" rIns="0" bIns="0" rtlCol="0" anchor="ctr"/>
          <a:lstStyle/>
          <a:p>
            <a:r>
              <a:rPr lang="en-US" sz="900">
                <a:solidFill>
                  <a:srgbClr val="A8B0BF"/>
                </a:solidFill>
                <a:latin typeface="Nunito" pitchFamily="34" charset="0"/>
                <a:ea typeface="Nunito" pitchFamily="34" charset="-122"/>
                <a:cs typeface="Nunito" pitchFamily="34" charset="-120"/>
              </a:rPr>
              <a:t/>
            </a:r>
            <a:endParaRPr lang="en-US" sz="900"/>
          </a:p>
        </p:txBody>
      </p:sp>
      <p:sp>
        <p:nvSpPr>
          <p:cNvPr id="48" name="Text 42"/>
          <p:cNvSpPr/>
          <p:nvPr/>
        </p:nvSpPr>
        <p:spPr>
          <a:xfrm>
            <a:off x="9601000" y="7129325"/>
            <a:ext cx="420447" cy="201084"/>
          </a:xfrm>
          <a:prstGeom prst="rect">
            <a:avLst/>
          </a:prstGeom>
          <a:noFill/>
          <a:ln/>
        </p:spPr>
        <p:txBody>
          <a:bodyPr wrap="square" lIns="0" tIns="0" rIns="0" bIns="0" rtlCol="0" anchor="ctr"/>
          <a:lstStyle/>
          <a:p>
            <a:pPr algn="r"/>
            <a:r>
              <a:rPr lang="en-US" sz="900">
                <a:solidFill>
                  <a:srgbClr val="A8B0BF"/>
                </a:solidFill>
                <a:latin typeface="Nunito" pitchFamily="34" charset="0"/>
                <a:ea typeface="Nunito" pitchFamily="34" charset="-122"/>
                <a:cs typeface="Nunito" pitchFamily="34" charset="-120"/>
              </a:rPr>
              <a:t/>
            </a:r>
            <a:endParaRPr lang="en-US" sz="900"/>
          </a:p>
        </p:txBody>
      </p:sp>
      <p:sp>
        <p:nvSpPr>
          <p:cNvPr id="49" name="Text 43"/>
          <p:cNvSpPr/>
          <p:nvPr/>
        </p:nvSpPr>
        <p:spPr>
          <a:xfrm rot="5400000">
            <a:off x="8549881" y="3884568"/>
            <a:ext cx="3838868" cy="201084"/>
          </a:xfrm>
          <a:prstGeom prst="rect">
            <a:avLst/>
          </a:prstGeom>
          <a:noFill/>
          <a:ln/>
        </p:spPr>
        <p:txBody>
          <a:bodyPr wrap="square" lIns="0" tIns="0" rIns="0" bIns="0" rtlCol="0" anchor="ctr"/>
          <a:lstStyle/>
          <a:p>
            <a:pPr algn="ctr"/>
            <a:r>
              <a:rPr lang="en-US" sz="600">
                <a:solidFill>
                  <a:srgbClr val="D5D9E0"/>
                </a:solidFill>
                <a:latin typeface="Nunito" pitchFamily="34" charset="0"/>
                <a:ea typeface="Nunito" pitchFamily="34" charset="-122"/>
                <a:cs typeface="Nunito" pitchFamily="34" charset="-120"/>
              </a:rPr>
              <a:t>Please see important information at the end of the document</a:t>
            </a:r>
            <a:endParaRPr lang="en-US" sz="600"/>
          </a:p>
        </p:txBody>
      </p:sp>
      <p:sp>
        <p:nvSpPr>
          <p:cNvPr id="50" name="TextBox 49">
            <a:extLst>
              <a:ext uri="{FF2B5EF4-FFF2-40B4-BE49-F238E27FC236}">
                <a16:creationId xmlns:a16="http://schemas.microsoft.com/office/drawing/2014/main" id="{39325C91-09F5-798A-5623-60B86B5EEE9C}"/>
              </a:ext>
            </a:extLst>
          </p:cNvPr>
          <p:cNvSpPr txBox="1"/>
          <p:nvPr/>
        </p:nvSpPr>
        <p:spPr>
          <a:xfrm>
            <a:off x="5334000" y="457200"/>
            <a:ext cx="0" cy="0"/>
          </a:xfrm>
          <a:prstGeom prst="rect">
            <a:avLst/>
          </a:prstGeom>
          <a:noFill/>
        </p:spPr>
        <p:txBody>
          <a:bodyPr vert="horz" wrap="none" lIns="0" tIns="0" rIns="0" bIns="0" rtlCol="0">
            <a:noAutofit/>
          </a:bodyPr>
          <a:lstStyle/>
          <a:p>
            <a:pPr algn="l"/>
            <a:endParaRPr lang="en-CH" sz="1400" err="1"/>
          </a:p>
        </p:txBody>
      </p:sp>
      <p:sp>
        <p:nvSpPr>
          <p:cNvPr id="51" name="TextBox 50">
            <a:extLst>
              <a:ext uri="{FF2B5EF4-FFF2-40B4-BE49-F238E27FC236}">
                <a16:creationId xmlns:a16="http://schemas.microsoft.com/office/drawing/2014/main" id="{C5022B25-907A-1DE1-6103-7AC8388F0D0A}"/>
              </a:ext>
            </a:extLst>
          </p:cNvPr>
          <p:cNvSpPr txBox="1"/>
          <p:nvPr/>
        </p:nvSpPr>
        <p:spPr>
          <a:xfrm>
            <a:off x="10180320" y="525780"/>
            <a:ext cx="0" cy="0"/>
          </a:xfrm>
          <a:prstGeom prst="rect">
            <a:avLst/>
          </a:prstGeom>
          <a:noFill/>
        </p:spPr>
        <p:txBody>
          <a:bodyPr vert="horz" wrap="none" lIns="0" tIns="0" rIns="0" bIns="0" rtlCol="0">
            <a:noAutofit/>
          </a:bodyPr>
          <a:lstStyle/>
          <a:p>
            <a:pPr algn="l"/>
            <a:endParaRPr lang="en-CH" sz="1400" err="1"/>
          </a:p>
        </p:txBody>
      </p:sp>
      <p:sp>
        <p:nvSpPr>
          <p:cNvPr id="54" name="TextBox 53">
            <a:extLst>
              <a:ext uri="{FF2B5EF4-FFF2-40B4-BE49-F238E27FC236}">
                <a16:creationId xmlns:a16="http://schemas.microsoft.com/office/drawing/2014/main" id="{BCA8683E-CD77-48E5-4C08-80E574A96309}"/>
              </a:ext>
            </a:extLst>
          </p:cNvPr>
          <p:cNvSpPr txBox="1"/>
          <p:nvPr/>
        </p:nvSpPr>
        <p:spPr>
          <a:xfrm>
            <a:off x="-1295400" y="906780"/>
            <a:ext cx="0" cy="0"/>
          </a:xfrm>
          <a:prstGeom prst="rect">
            <a:avLst/>
          </a:prstGeom>
          <a:noFill/>
        </p:spPr>
        <p:txBody>
          <a:bodyPr vert="horz" wrap="none" lIns="0" tIns="0" rIns="0" bIns="0" rtlCol="0">
            <a:noAutofit/>
          </a:bodyPr>
          <a:lstStyle/>
          <a:p>
            <a:pPr algn="l"/>
            <a:endParaRPr lang="en-CH" sz="1400" dirty="0" err="1"/>
          </a:p>
        </p:txBody>
      </p:sp>
      <p:grpSp>
        <p:nvGrpSpPr>
          <p:cNvPr id="52" name="Group 51">
            <a:extLst>
              <a:ext uri="{FF2B5EF4-FFF2-40B4-BE49-F238E27FC236}">
                <a16:creationId xmlns:a16="http://schemas.microsoft.com/office/drawing/2014/main" id="{5EDFD447-8373-9482-A127-A4B91709C685}"/>
              </a:ext>
            </a:extLst>
          </p:cNvPr>
          <p:cNvGrpSpPr/>
          <p:nvPr/>
        </p:nvGrpSpPr>
        <p:grpSpPr>
          <a:xfrm>
            <a:off x="9966508" y="935038"/>
            <a:ext cx="540000" cy="540000"/>
            <a:chOff x="9862599" y="872588"/>
            <a:chExt cx="540000" cy="540000"/>
          </a:xfrm>
        </p:grpSpPr>
        <p:pic>
          <p:nvPicPr>
            <p:cNvPr id="55" name="Graphic 54" descr="Greek Pillar with solid fill">
              <a:extLst>
                <a:ext uri="{FF2B5EF4-FFF2-40B4-BE49-F238E27FC236}">
                  <a16:creationId xmlns:a16="http://schemas.microsoft.com/office/drawing/2014/main" id="{713BEBC4-B3D7-F7E4-6653-9CC7207D578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911195" y="935038"/>
              <a:ext cx="442808" cy="442808"/>
            </a:xfrm>
            <a:prstGeom prst="rect">
              <a:avLst/>
            </a:prstGeom>
          </p:spPr>
        </p:pic>
        <p:sp>
          <p:nvSpPr>
            <p:cNvPr id="56" name="Oval 55">
              <a:extLst>
                <a:ext uri="{FF2B5EF4-FFF2-40B4-BE49-F238E27FC236}">
                  <a16:creationId xmlns:a16="http://schemas.microsoft.com/office/drawing/2014/main" id="{4033B535-EA06-986B-9097-662991DBE177}"/>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615k</a:t>
                      </a:r>
                    </a:p>
                  </a:txBody>
                  <a:tcPr marL="45720" marR="45720" anchor="ctr">
                    <a:noFill/>
                  </a:tcPr>
                </a:tc>
                <a:tc>
                  <a:txBody>
                    <a:bodyPr wrap="square"/>
                    <a:lstStyle/>
                    <a:p>
                      <a:pPr algn="r"/>
                      <a:r>
                        <a:rPr sz="900" b="0">
                          <a:solidFill>
                            <a:srgbClr val="202945"/>
                          </a:solidFill>
                        </a:rPr>
                        <a:t>2.9%</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554k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552k</a:t>
                      </a:r>
                    </a:p>
                  </a:txBody>
                  <a:tcPr marL="45720" marR="45720" anchor="ctr">
                    <a:noFill/>
                  </a:tcPr>
                </a:tc>
                <a:tc>
                  <a:txBody>
                    <a:bodyPr wrap="square"/>
                    <a:lstStyle/>
                    <a:p>
                      <a:pPr algn="r"/>
                      <a:r>
                        <a:rPr sz="900" b="0">
                          <a:solidFill>
                            <a:srgbClr val="202945"/>
                          </a:solidFill>
                        </a:rPr>
                        <a:t>2.6%</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533k</a:t>
                      </a:r>
                    </a:p>
                  </a:txBody>
                  <a:tcPr marL="45720" marR="45720" anchor="ctr">
                    <a:noFill/>
                  </a:tcPr>
                </a:tc>
                <a:tc>
                  <a:txBody>
                    <a:bodyPr wrap="square"/>
                    <a:lstStyle/>
                    <a:p>
                      <a:pPr algn="r"/>
                      <a:r>
                        <a:rPr sz="900" b="0">
                          <a:solidFill>
                            <a:srgbClr val="202945"/>
                          </a:solidFill>
                        </a:rPr>
                        <a:t>2.2%</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444k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23 lines, EUR 7.2m, 33.7%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43.6%</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26.5%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19.0%</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6.0%</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4.9%</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1464k</a:t>
                      </a:r>
                    </a:p>
                  </a:txBody>
                  <a:tcPr marL="45720" marR="45720" anchor="ctr">
                    <a:noFill/>
                  </a:tcPr>
                </a:tc>
                <a:tc>
                  <a:txBody>
                    <a:bodyPr wrap="square"/>
                    <a:lstStyle/>
                    <a:p>
                      <a:pPr algn="r"/>
                      <a:r>
                        <a:rPr sz="900" b="0">
                          <a:solidFill>
                            <a:srgbClr val="202945"/>
                          </a:solidFill>
                        </a:rPr>
                        <a:t>6.0%</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4004k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309k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WISDOMT.ETC-COPPER COM ID</a:t>
                      </a:r>
                    </a:p>
                  </a:txBody>
                  <a:tcPr marL="45720" marR="45720" anchor="ctr">
                    <a:noFill/>
                  </a:tcPr>
                </a:tc>
                <a:tc>
                  <a:txBody>
                    <a:bodyPr wrap="square"/>
                    <a:lstStyle/>
                    <a:p>
                      <a:pPr algn="l"/>
                      <a:r>
                        <a:rPr sz="900" b="0">
                          <a:solidFill>
                            <a:srgbClr val="202945"/>
                          </a:solidFill>
                        </a:rPr>
                        <a:t>USD 241k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WISDOMTREE-ETC-ALUMIN PER</a:t>
                      </a:r>
                    </a:p>
                  </a:txBody>
                  <a:tcPr marL="45720" marR="45720" anchor="ctr">
                    <a:noFill/>
                  </a:tcPr>
                </a:tc>
                <a:tc>
                  <a:txBody>
                    <a:bodyPr wrap="square"/>
                    <a:lstStyle/>
                    <a:p>
                      <a:pPr algn="l"/>
                      <a:r>
                        <a:rPr sz="900" b="0">
                          <a:solidFill>
                            <a:srgbClr val="202945"/>
                          </a:solidFill>
                        </a:rPr>
                        <a:t>USD 230k</a:t>
                      </a:r>
                    </a:p>
                  </a:txBody>
                  <a:tcPr marL="45720" marR="45720" anchor="ctr">
                    <a:noFill/>
                  </a:tcPr>
                </a:tc>
                <a:tc>
                  <a:txBody>
                    <a:bodyPr wrap="square"/>
                    <a:lstStyle/>
                    <a:p>
                      <a:pPr algn="r"/>
                      <a:r>
                        <a:rPr sz="900" b="0">
                          <a:solidFill>
                            <a:srgbClr val="202945"/>
                          </a:solidFill>
                        </a:rPr>
                        <a:t>0.9%</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233k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4.10%</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245k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211k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BIL OC 211.5% NESN  13.12.2027</a:t>
                      </a:r>
                    </a:p>
                  </a:txBody>
                  <a:tcPr marL="45720" marR="45720" anchor="ctr">
                    <a:noFill/>
                  </a:tcPr>
                </a:tc>
                <a:tc>
                  <a:txBody>
                    <a:bodyPr wrap="square"/>
                    <a:lstStyle/>
                    <a:p>
                      <a:pPr algn="l"/>
                      <a:r>
                        <a:rPr sz="900" b="0">
                          <a:solidFill>
                            <a:srgbClr val="202945"/>
                          </a:solidFill>
                        </a:rPr>
                        <a:t>CHF 168k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8% DCI-XAGUSD-48.206 UBS  24.08.2026</a:t>
                      </a:r>
                    </a:p>
                  </a:txBody>
                  <a:tcPr marL="45720" marR="45720" anchor="ctr">
                    <a:noFill/>
                  </a:tcPr>
                </a:tc>
                <a:tc>
                  <a:txBody>
                    <a:bodyPr wrap="square"/>
                    <a:lstStyle/>
                    <a:p>
                      <a:pPr algn="l"/>
                      <a:r>
                        <a:rPr sz="900" b="0">
                          <a:solidFill>
                            <a:srgbClr val="202945"/>
                          </a:solidFill>
                        </a:rPr>
                        <a:t>USD 201k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16.3%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4,272,852</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1,428,239</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1,268,546</a:t>
                      </a:r>
                    </a:p>
                  </a:txBody>
                  <a:tcPr marL="45720" marR="45720" marT="18000" marB="18000" anchor="ctr">
                    <a:noFill/>
                  </a:tcPr>
                </a:tc>
                <a:tc>
                  <a:txBody>
                    <a:bodyPr wrap="square"/>
                    <a:lstStyle/>
                    <a:p>
                      <a:pPr algn="r"/>
                      <a:r>
                        <a:rPr lang="en-US" sz="900" b="0" noProof="0" dirty="0">
                          <a:solidFill>
                            <a:srgbClr val="202945"/>
                          </a:solidFill>
                          <a:latin typeface="Nunito Sans"/>
                        </a:rPr>
                        <a:t>6.0%</a:t>
                      </a:r>
                    </a:p>
                  </a:txBody>
                  <a:tcPr marL="45720" marR="45720" marT="18000" marB="18000" anchor="ctr">
                    <a:noFill/>
                  </a:tcPr>
                </a:tc>
                <a:tc>
                  <a:txBody>
                    <a:bodyPr wrap="square"/>
                    <a:lstStyle/>
                    <a:p>
                      <a:pPr algn="r"/>
                      <a:r>
                        <a:rPr lang="en-US" sz="900" b="0" noProof="0" dirty="0">
                          <a:solidFill>
                            <a:srgbClr val="202945"/>
                          </a:solidFill>
                          <a:latin typeface="Nunito Sans"/>
                        </a:rPr>
                        <a:t>32.7%</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622,739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35.6%</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615,109</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38.5%</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590,957</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41.3%</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551,912</a:t>
                      </a:r>
                    </a:p>
                  </a:txBody>
                  <a:tcPr marL="45720" marR="45720" marT="18000" marB="18000" anchor="ctr">
                    <a:noFill/>
                  </a:tcPr>
                </a:tc>
                <a:tc>
                  <a:txBody>
                    <a:bodyPr wrap="square"/>
                    <a:lstStyle/>
                    <a:p>
                      <a:pPr algn="r"/>
                      <a:r>
                        <a:rPr lang="en-US" sz="900" b="0" noProof="0" dirty="0">
                          <a:solidFill>
                            <a:srgbClr val="202945"/>
                          </a:solidFill>
                          <a:latin typeface="Nunito Sans"/>
                        </a:rPr>
                        <a:t>2.6%</a:t>
                      </a:r>
                    </a:p>
                  </a:txBody>
                  <a:tcPr marL="45720" marR="45720" marT="18000" marB="18000" anchor="ctr">
                    <a:noFill/>
                  </a:tcPr>
                </a:tc>
                <a:tc>
                  <a:txBody>
                    <a:bodyPr wrap="square"/>
                    <a:lstStyle/>
                    <a:p>
                      <a:pPr algn="r"/>
                      <a:r>
                        <a:rPr lang="en-US" sz="900" b="0" noProof="0" dirty="0">
                          <a:solidFill>
                            <a:srgbClr val="202945"/>
                          </a:solidFill>
                          <a:latin typeface="Nunito Sans"/>
                        </a:rPr>
                        <a:t>43.9%</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465,463</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46.1%</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461,847</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48.3%</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444,453</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50.3%</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38.5%</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50.3%</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66.5%</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73,710</a:t>
                      </a:r>
                    </a:p>
                  </a:txBody>
                  <a:tcPr marL="45720" marR="45720" marT="18000" marB="18000" anchor="ctr">
                    <a:noFill/>
                  </a:tcPr>
                </a:tc>
                <a:tc>
                  <a:txBody>
                    <a:bodyPr wrap="square"/>
                    <a:lstStyle/>
                    <a:p>
                      <a:pPr algn="r"/>
                      <a:r>
                        <a:rPr lang="en-US" sz="900" b="0" noProof="0" dirty="0">
                          <a:solidFill>
                            <a:srgbClr val="202945"/>
                          </a:solidFill>
                          <a:latin typeface="Nunito Sans"/>
                        </a:rPr>
                        <a:t>64.5%</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40,593</a:t>
                      </a:r>
                    </a:p>
                  </a:txBody>
                  <a:tcPr marL="45720" marR="45720" marT="18000" marB="18000" anchor="ctr">
                    <a:noFill/>
                  </a:tcPr>
                </a:tc>
                <a:tc>
                  <a:txBody>
                    <a:bodyPr wrap="square"/>
                    <a:lstStyle/>
                    <a:p>
                      <a:pPr algn="r"/>
                      <a:r>
                        <a:rPr lang="en-US" sz="900" b="0" noProof="0" dirty="0">
                          <a:solidFill>
                            <a:srgbClr val="202945"/>
                          </a:solidFill>
                          <a:latin typeface="Nunito Sans"/>
                        </a:rPr>
                        <a:t>35.5%</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-100,892</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2,270,377</a:t>
                      </a:r>
                    </a:p>
                  </a:txBody>
                  <a:tcPr marL="45720" marR="45720" anchor="ctr">
                    <a:noFill/>
                  </a:tcPr>
                </a:tc>
                <a:tc>
                  <a:txBody>
                    <a:bodyPr wrap="square"/>
                    <a:lstStyle/>
                    <a:p>
                      <a:pPr algn="r"/>
                      <a:r>
                        <a:rPr sz="850" b="0">
                          <a:solidFill>
                            <a:srgbClr val="202945"/>
                          </a:solidFill>
                        </a:rPr>
                        <a:t>2.5</a:t>
                      </a:r>
                    </a:p>
                  </a:txBody>
                  <a:tcPr marL="45720" marR="45720" anchor="ctr">
                    <a:noFill/>
                  </a:tcPr>
                </a:tc>
                <a:tc>
                  <a:txBody>
                    <a:bodyPr wrap="square"/>
                    <a:lstStyle/>
                    <a:p>
                      <a:pPr algn="r"/>
                      <a:r>
                        <a:rPr sz="850" b="0">
                          <a:solidFill>
                            <a:srgbClr val="202945"/>
                          </a:solidFill>
                        </a:rPr>
                        <a:t>1.80</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622,739</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320,000</a:t>
                      </a:r>
                    </a:p>
                  </a:txBody>
                  <a:tcPr marL="45720" marR="45720" anchor="ctr">
                    <a:noFill/>
                  </a:tcPr>
                </a:tc>
                <a:tc>
                  <a:txBody>
                    <a:bodyPr wrap="square"/>
                    <a:lstStyle/>
                    <a:p>
                      <a:pPr algn="r"/>
                      <a:r>
                        <a:rPr sz="850" b="0">
                          <a:solidFill>
                            <a:srgbClr val="202945"/>
                          </a:solidFill>
                        </a:rPr>
                        <a:t>0.2</a:t>
                      </a:r>
                    </a:p>
                  </a:txBody>
                  <a:tcPr marL="45720" marR="45720" anchor="ctr">
                    <a:noFill/>
                  </a:tcPr>
                </a:tc>
                <a:tc>
                  <a:txBody>
                    <a:bodyPr wrap="square"/>
                    <a:lstStyle/>
                    <a:p>
                      <a:pPr algn="r"/>
                      <a:r>
                        <a:rPr sz="850" b="0">
                          <a:solidFill>
                            <a:srgbClr val="202945"/>
                          </a:solidFill>
                        </a:rPr>
                        <a:t>0.02</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3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33.7%</a:t>
                      </a:r>
                    </a:p>
                  </a:txBody>
                  <a:tcPr marL="45720" marR="45720" marT="9144" marB="9144" anchor="ctr">
                    <a:solidFill>
                      <a:srgbClr val="79D6FF"/>
                    </a:solidFill>
                  </a:tcPr>
                </a:tc>
              </a:tr>
              <a:tr h="205000">
                <a:tc rowSpan="11">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CH1587815338</a:t>
                      </a:r>
                    </a:p>
                  </a:txBody>
                  <a:tcPr marL="45720" marR="45720" marT="9144" marB="9144" anchor="ctr">
                    <a:noFill/>
                  </a:tcPr>
                </a:tc>
                <a:tc>
                  <a:txBody>
                    <a:bodyPr wrap="square"/>
                    <a:lstStyle/>
                    <a:p>
                      <a:pPr algn="l"/>
                      <a:r>
                        <a:rPr sz="950" b="0">
                          <a:solidFill>
                            <a:srgbClr val="202945"/>
                          </a:solidFill>
                          <a:latin typeface="Calibri"/>
                        </a:rPr>
                        <a:t>8% DCI-XAGUSD-48.206 UBS  24.08.2026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21.3m allocation, part 4 of 4. Weights as at 17 August 2026.</a:t>
            </a:r>
          </a:p>
        </p:txBody>
      </p:sp>
      <p:graphicFrame>
        <p:nvGraphicFramePr>
          <p:cNvPr id="4" name="Table 3"/>
          <p:cNvGraphicFramePr>
            <a:graphicFrameLocks noGrp="1"/>
          </p:cNvGraphicFramePr>
          <p:nvPr/>
        </p:nvGraphicFramePr>
        <p:xfrm>
          <a:off x="665163" y="2140000"/>
          <a:ext cx="9398001" cy="410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16.3%</a:t>
                      </a:r>
                    </a:p>
                  </a:txBody>
                  <a:tcPr marL="45720" marR="45720" marT="9144" marB="9144" anchor="ctr">
                    <a:solidFill>
                      <a:srgbClr val="AC5D85"/>
                    </a:solidFill>
                  </a:tcPr>
                </a:tc>
              </a:tr>
              <a:tr h="205000">
                <a:tc rowSpan="8">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XX9970157842</a:t>
                      </a:r>
                    </a:p>
                  </a:txBody>
                  <a:tcPr marL="45720" marR="45720" marT="9144" marB="9144" anchor="ctr">
                    <a:noFill/>
                  </a:tcPr>
                </a:tc>
                <a:tc>
                  <a:txBody>
                    <a:bodyPr wrap="square"/>
                    <a:lstStyle/>
                    <a:p>
                      <a:pPr algn="l"/>
                      <a:r>
                        <a:rPr sz="950" b="0">
                          <a:solidFill>
                            <a:srgbClr val="202945"/>
                          </a:solidFill>
                          <a:latin typeface="Calibri"/>
                        </a:rPr>
                        <a:t>LEFT LANE II CLT2 CC</a:t>
                      </a:r>
                    </a:p>
                  </a:txBody>
                  <a:tcPr marL="45720" marR="45720" marT="9144" marB="9144" anchor="ctr">
                    <a:noFill/>
                  </a:tcPr>
                </a:tc>
                <a:tc>
                  <a:txBody>
                    <a:bodyPr wrap="square"/>
                    <a:lstStyle/>
                    <a:p>
                      <a:pPr algn="r"/>
                      <a:r>
                        <a:rPr sz="950" b="0">
                          <a:solidFill>
                            <a:srgbClr val="202945"/>
                          </a:solidFill>
                          <a:latin typeface="Calibri"/>
                        </a:rPr>
                        <a:t>0.2%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25.0%</a:t>
                      </a:r>
                    </a:p>
                  </a:txBody>
                  <a:tcPr marL="45720" marR="45720" marT="9144" marB="9144" anchor="ctr">
                    <a:solidFill>
                      <a:srgbClr val="3BAF90"/>
                    </a:solidFill>
                  </a:tcPr>
                </a:tc>
              </a:tr>
              <a:tr h="205000">
                <a:tc rowSpan="6">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0.6%</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