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27%</c:v>
                </c:pt>
                <c:pt idx="2">
                  <c:v>Private Assets  16%</c:v>
                </c:pt>
                <c:pt idx="3">
                  <c:v>Fixed Income  15%</c:v>
                </c:pt>
                <c:pt idx="4">
                  <c:v>Structured Products  6%</c:v>
                </c:pt>
                <c:pt idx="5">
                  <c:v>Cash  2%</c:v>
                </c:pt>
                <c:pt idx="6">
                  <c:v>Other  1%</c:v>
                </c:pt>
              </c:strCache>
            </c:strRef>
          </c:cat>
          <c:val>
            <c:numRef>
              <c:f>Sheet1!$B$2:$B$8</c:f>
              <c:numCache>
                <c:formatCode>General</c:formatCode>
                <c:ptCount val="7"/>
                <c:pt idx="0">
                  <c:v>0.33704701</c:v>
                </c:pt>
                <c:pt idx="1">
                  <c:v>0.2714898</c:v>
                </c:pt>
                <c:pt idx="2">
                  <c:v>0.1627031</c:v>
                </c:pt>
                <c:pt idx="3">
                  <c:v>0.15084641</c:v>
                </c:pt>
                <c:pt idx="4">
                  <c:v>0.05502035</c:v>
                </c:pt>
                <c:pt idx="5">
                  <c:v>0.01692532</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Sheet1!$A$2:$A$3</c:f>
              <c:strCache>
                <c:ptCount val="2"/>
                <c:pt idx="0">
                  <c:v>Fund  92%</c:v>
                </c:pt>
                <c:pt idx="1">
                  <c:v>Direct line  8%</c:v>
                </c:pt>
              </c:strCache>
            </c:strRef>
          </c:cat>
          <c:val>
            <c:numRef>
              <c:f>Sheet1!$B$2:$B$3</c:f>
              <c:numCache>
                <c:formatCode>General</c:formatCode>
                <c:ptCount val="2"/>
                <c:pt idx="0">
                  <c:v>0.92245108</c:v>
                </c:pt>
                <c:pt idx="1">
                  <c:v>0.07754892</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62%</c:v>
                </c:pt>
                <c:pt idx="1">
                  <c:v>Listed  21%</c:v>
                </c:pt>
                <c:pt idx="2">
                  <c:v>Illiquid (lock-up)  16%</c:v>
                </c:pt>
              </c:strCache>
            </c:strRef>
          </c:cat>
          <c:val>
            <c:numRef>
              <c:f>Sheet1!$B$2:$B$4</c:f>
              <c:numCache>
                <c:formatCode>General</c:formatCode>
                <c:ptCount val="3"/>
                <c:pt idx="0">
                  <c:v>0.62431816</c:v>
                </c:pt>
                <c:pt idx="1">
                  <c:v>0.21297874</c:v>
                </c:pt>
                <c:pt idx="2">
                  <c:v>0.1627031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1.7%</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216k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27.1%</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