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44"/>
    <p:sldId id="2147379400" r:id="rId49"/>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7.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0.33704700000000004</c:v>
                </c:pt>
                <c:pt idx="1">
                  <c:v>0.250436</c:v>
                </c:pt>
                <c:pt idx="2">
                  <c:v>0.162703</c:v>
                </c:pt>
                <c:pt idx="3">
                  <c:v>0.150846</c:v>
                </c:pt>
                <c:pt idx="4">
                  <c:v>0.05502</c:v>
                </c:pt>
                <c:pt idx="5">
                  <c:v>0.037979</c:v>
                </c:pt>
                <c:pt idx="6">
                  <c:v>0.005968</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0.40389899999999995</c:v>
                </c:pt>
                <c:pt idx="1">
                  <c:v>0.29621400000000003</c:v>
                </c:pt>
                <c:pt idx="2">
                  <c:v>0.22914</c:v>
                </c:pt>
                <c:pt idx="3">
                  <c:v>0.039212</c:v>
                </c:pt>
                <c:pt idx="4">
                  <c:v>0.010934</c:v>
                </c:pt>
                <c:pt idx="5">
                  <c:v>0.010481</c:v>
                </c:pt>
                <c:pt idx="6">
                  <c:v>0.01012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0.5561699999999999</c:v>
                </c:pt>
                <c:pt idx="1">
                  <c:v>0.310913</c:v>
                </c:pt>
                <c:pt idx="2">
                  <c:v>0.125588</c:v>
                </c:pt>
                <c:pt idx="3">
                  <c:v>0.007329</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0.578522</c:v>
                </c:pt>
                <c:pt idx="1">
                  <c:v>0.227667</c:v>
                </c:pt>
                <c:pt idx="2">
                  <c:v>0.19381199999999998</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0.9394710000000001</c:v>
                </c:pt>
                <c:pt idx="1">
                  <c:v>0.060529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0.43587899999999996</c:v>
                </c:pt>
                <c:pt idx="1">
                  <c:v>0.265443</c:v>
                </c:pt>
                <c:pt idx="2">
                  <c:v>0.189847</c:v>
                </c:pt>
                <c:pt idx="3">
                  <c:v>0.059898999999999994</c:v>
                </c:pt>
                <c:pt idx="4">
                  <c:v>0.048933</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0.645372</c:v>
                </c:pt>
                <c:pt idx="1">
                  <c:v>0.19192499999999998</c:v>
                </c:pt>
                <c:pt idx="2">
                  <c:v>0.162703</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Cooler inflation took the front end lower, the long end would not follow, energy stayed bid on the Hormuz deadlock, and the consumer is visibly cooling.</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4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4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grpSp>
        <p:nvGrpSpPr>
          <p:cNvPr id="46" name="Graphic 8" descr="Employee badge with solid fill">
            <a:extLst>
              <a:ext uri="{FF2B5EF4-FFF2-40B4-BE49-F238E27FC236}">
                <a16:creationId xmlns:a16="http://schemas.microsoft.com/office/drawing/2014/main" id="{7B20DB22-D944-98F5-66AB-ECA9D5B820AA}"/>
              </a:ext>
            </a:extLst>
          </p:cNvPr>
          <p:cNvGrpSpPr/>
          <p:nvPr/>
        </p:nvGrpSpPr>
        <p:grpSpPr>
          <a:xfrm>
            <a:off x="1080512" y="2996233"/>
            <a:ext cx="379280" cy="322388"/>
            <a:chOff x="5901650" y="2605949"/>
            <a:chExt cx="379280" cy="322388"/>
          </a:xfrm>
          <a:solidFill>
            <a:schemeClr val="bg1"/>
          </a:solidFill>
        </p:grpSpPr>
        <p:sp>
          <p:nvSpPr>
            <p:cNvPr id="47" name="Freeform: Shape 46">
              <a:extLst>
                <a:ext uri="{FF2B5EF4-FFF2-40B4-BE49-F238E27FC236}">
                  <a16:creationId xmlns:a16="http://schemas.microsoft.com/office/drawing/2014/main" id="{525B448D-D486-70A1-5648-76CC42556D5D}"/>
                </a:ext>
              </a:extLst>
            </p:cNvPr>
            <p:cNvSpPr/>
            <p:nvPr/>
          </p:nvSpPr>
          <p:spPr>
            <a:xfrm>
              <a:off x="6062844" y="2605949"/>
              <a:ext cx="56892" cy="75856"/>
            </a:xfrm>
            <a:custGeom>
              <a:avLst/>
              <a:gdLst>
                <a:gd name="connsiteX0" fmla="*/ 37928 w 56892"/>
                <a:gd name="connsiteY0" fmla="*/ 75856 h 75856"/>
                <a:gd name="connsiteX1" fmla="*/ 18964 w 56892"/>
                <a:gd name="connsiteY1" fmla="*/ 75856 h 75856"/>
                <a:gd name="connsiteX2" fmla="*/ 0 w 56892"/>
                <a:gd name="connsiteY2" fmla="*/ 56892 h 75856"/>
                <a:gd name="connsiteX3" fmla="*/ 0 w 56892"/>
                <a:gd name="connsiteY3" fmla="*/ 18964 h 75856"/>
                <a:gd name="connsiteX4" fmla="*/ 18964 w 56892"/>
                <a:gd name="connsiteY4" fmla="*/ 0 h 75856"/>
                <a:gd name="connsiteX5" fmla="*/ 37928 w 56892"/>
                <a:gd name="connsiteY5" fmla="*/ 0 h 75856"/>
                <a:gd name="connsiteX6" fmla="*/ 56892 w 56892"/>
                <a:gd name="connsiteY6" fmla="*/ 18964 h 75856"/>
                <a:gd name="connsiteX7" fmla="*/ 56892 w 56892"/>
                <a:gd name="connsiteY7" fmla="*/ 56892 h 75856"/>
                <a:gd name="connsiteX8" fmla="*/ 37928 w 56892"/>
                <a:gd name="connsiteY8" fmla="*/ 75856 h 75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892" h="75856">
                  <a:moveTo>
                    <a:pt x="37928" y="75856"/>
                  </a:moveTo>
                  <a:lnTo>
                    <a:pt x="18964" y="75856"/>
                  </a:lnTo>
                  <a:cubicBezTo>
                    <a:pt x="8534" y="75856"/>
                    <a:pt x="0" y="67322"/>
                    <a:pt x="0" y="56892"/>
                  </a:cubicBezTo>
                  <a:lnTo>
                    <a:pt x="0" y="18964"/>
                  </a:lnTo>
                  <a:cubicBezTo>
                    <a:pt x="0" y="8534"/>
                    <a:pt x="8534" y="0"/>
                    <a:pt x="18964" y="0"/>
                  </a:cubicBezTo>
                  <a:lnTo>
                    <a:pt x="37928" y="0"/>
                  </a:lnTo>
                  <a:cubicBezTo>
                    <a:pt x="48358" y="0"/>
                    <a:pt x="56892" y="8534"/>
                    <a:pt x="56892" y="18964"/>
                  </a:cubicBezTo>
                  <a:lnTo>
                    <a:pt x="56892" y="56892"/>
                  </a:lnTo>
                  <a:cubicBezTo>
                    <a:pt x="56892" y="67322"/>
                    <a:pt x="48358" y="75856"/>
                    <a:pt x="37928" y="75856"/>
                  </a:cubicBezTo>
                  <a:close/>
                </a:path>
              </a:pathLst>
            </a:custGeom>
            <a:solidFill>
              <a:schemeClr val="bg1"/>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DF612D98-7C4F-95DE-7959-1D54D1F276F7}"/>
                </a:ext>
              </a:extLst>
            </p:cNvPr>
            <p:cNvSpPr/>
            <p:nvPr/>
          </p:nvSpPr>
          <p:spPr>
            <a:xfrm>
              <a:off x="5901650" y="2662841"/>
              <a:ext cx="379280" cy="265496"/>
            </a:xfrm>
            <a:custGeom>
              <a:avLst/>
              <a:gdLst>
                <a:gd name="connsiteX0" fmla="*/ 341353 w 379280"/>
                <a:gd name="connsiteY0" fmla="*/ 113784 h 265496"/>
                <a:gd name="connsiteX1" fmla="*/ 227569 w 379280"/>
                <a:gd name="connsiteY1" fmla="*/ 113784 h 265496"/>
                <a:gd name="connsiteX2" fmla="*/ 227569 w 379280"/>
                <a:gd name="connsiteY2" fmla="*/ 94820 h 265496"/>
                <a:gd name="connsiteX3" fmla="*/ 341353 w 379280"/>
                <a:gd name="connsiteY3" fmla="*/ 94820 h 265496"/>
                <a:gd name="connsiteX4" fmla="*/ 341353 w 379280"/>
                <a:gd name="connsiteY4" fmla="*/ 113784 h 265496"/>
                <a:gd name="connsiteX5" fmla="*/ 341353 w 379280"/>
                <a:gd name="connsiteY5" fmla="*/ 170676 h 265496"/>
                <a:gd name="connsiteX6" fmla="*/ 227569 w 379280"/>
                <a:gd name="connsiteY6" fmla="*/ 170676 h 265496"/>
                <a:gd name="connsiteX7" fmla="*/ 227569 w 379280"/>
                <a:gd name="connsiteY7" fmla="*/ 151712 h 265496"/>
                <a:gd name="connsiteX8" fmla="*/ 341353 w 379280"/>
                <a:gd name="connsiteY8" fmla="*/ 151712 h 265496"/>
                <a:gd name="connsiteX9" fmla="*/ 341353 w 379280"/>
                <a:gd name="connsiteY9" fmla="*/ 170676 h 265496"/>
                <a:gd name="connsiteX10" fmla="*/ 341353 w 379280"/>
                <a:gd name="connsiteY10" fmla="*/ 227569 h 265496"/>
                <a:gd name="connsiteX11" fmla="*/ 227569 w 379280"/>
                <a:gd name="connsiteY11" fmla="*/ 227569 h 265496"/>
                <a:gd name="connsiteX12" fmla="*/ 227569 w 379280"/>
                <a:gd name="connsiteY12" fmla="*/ 208604 h 265496"/>
                <a:gd name="connsiteX13" fmla="*/ 341353 w 379280"/>
                <a:gd name="connsiteY13" fmla="*/ 208604 h 265496"/>
                <a:gd name="connsiteX14" fmla="*/ 341353 w 379280"/>
                <a:gd name="connsiteY14" fmla="*/ 227569 h 265496"/>
                <a:gd name="connsiteX15" fmla="*/ 189640 w 379280"/>
                <a:gd name="connsiteY15" fmla="*/ 227569 h 265496"/>
                <a:gd name="connsiteX16" fmla="*/ 37928 w 379280"/>
                <a:gd name="connsiteY16" fmla="*/ 227569 h 265496"/>
                <a:gd name="connsiteX17" fmla="*/ 37928 w 379280"/>
                <a:gd name="connsiteY17" fmla="*/ 189640 h 265496"/>
                <a:gd name="connsiteX18" fmla="*/ 45514 w 379280"/>
                <a:gd name="connsiteY18" fmla="*/ 174469 h 265496"/>
                <a:gd name="connsiteX19" fmla="*/ 82494 w 379280"/>
                <a:gd name="connsiteY19" fmla="*/ 156453 h 265496"/>
                <a:gd name="connsiteX20" fmla="*/ 113784 w 379280"/>
                <a:gd name="connsiteY20" fmla="*/ 151712 h 265496"/>
                <a:gd name="connsiteX21" fmla="*/ 145075 w 379280"/>
                <a:gd name="connsiteY21" fmla="*/ 156453 h 265496"/>
                <a:gd name="connsiteX22" fmla="*/ 182055 w 379280"/>
                <a:gd name="connsiteY22" fmla="*/ 174469 h 265496"/>
                <a:gd name="connsiteX23" fmla="*/ 189640 w 379280"/>
                <a:gd name="connsiteY23" fmla="*/ 189640 h 265496"/>
                <a:gd name="connsiteX24" fmla="*/ 189640 w 379280"/>
                <a:gd name="connsiteY24" fmla="*/ 227569 h 265496"/>
                <a:gd name="connsiteX25" fmla="*/ 113784 w 379280"/>
                <a:gd name="connsiteY25" fmla="*/ 66374 h 265496"/>
                <a:gd name="connsiteX26" fmla="*/ 151712 w 379280"/>
                <a:gd name="connsiteY26" fmla="*/ 104302 h 265496"/>
                <a:gd name="connsiteX27" fmla="*/ 113784 w 379280"/>
                <a:gd name="connsiteY27" fmla="*/ 142230 h 265496"/>
                <a:gd name="connsiteX28" fmla="*/ 75856 w 379280"/>
                <a:gd name="connsiteY28" fmla="*/ 104302 h 265496"/>
                <a:gd name="connsiteX29" fmla="*/ 113784 w 379280"/>
                <a:gd name="connsiteY29" fmla="*/ 66374 h 265496"/>
                <a:gd name="connsiteX30" fmla="*/ 360317 w 379280"/>
                <a:gd name="connsiteY30" fmla="*/ 0 h 265496"/>
                <a:gd name="connsiteX31" fmla="*/ 237051 w 379280"/>
                <a:gd name="connsiteY31" fmla="*/ 0 h 265496"/>
                <a:gd name="connsiteX32" fmla="*/ 199122 w 379280"/>
                <a:gd name="connsiteY32" fmla="*/ 37928 h 265496"/>
                <a:gd name="connsiteX33" fmla="*/ 180158 w 379280"/>
                <a:gd name="connsiteY33" fmla="*/ 37928 h 265496"/>
                <a:gd name="connsiteX34" fmla="*/ 142230 w 379280"/>
                <a:gd name="connsiteY34" fmla="*/ 0 h 265496"/>
                <a:gd name="connsiteX35" fmla="*/ 18964 w 379280"/>
                <a:gd name="connsiteY35" fmla="*/ 0 h 265496"/>
                <a:gd name="connsiteX36" fmla="*/ 0 w 379280"/>
                <a:gd name="connsiteY36" fmla="*/ 18964 h 265496"/>
                <a:gd name="connsiteX37" fmla="*/ 0 w 379280"/>
                <a:gd name="connsiteY37" fmla="*/ 246533 h 265496"/>
                <a:gd name="connsiteX38" fmla="*/ 18964 w 379280"/>
                <a:gd name="connsiteY38" fmla="*/ 265497 h 265496"/>
                <a:gd name="connsiteX39" fmla="*/ 360317 w 379280"/>
                <a:gd name="connsiteY39" fmla="*/ 265497 h 265496"/>
                <a:gd name="connsiteX40" fmla="*/ 379281 w 379280"/>
                <a:gd name="connsiteY40" fmla="*/ 246533 h 265496"/>
                <a:gd name="connsiteX41" fmla="*/ 379281 w 379280"/>
                <a:gd name="connsiteY41" fmla="*/ 18964 h 265496"/>
                <a:gd name="connsiteX42" fmla="*/ 360317 w 379280"/>
                <a:gd name="connsiteY42" fmla="*/ 0 h 265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79280" h="265496">
                  <a:moveTo>
                    <a:pt x="341353" y="113784"/>
                  </a:moveTo>
                  <a:lnTo>
                    <a:pt x="227569" y="113784"/>
                  </a:lnTo>
                  <a:lnTo>
                    <a:pt x="227569" y="94820"/>
                  </a:lnTo>
                  <a:lnTo>
                    <a:pt x="341353" y="94820"/>
                  </a:lnTo>
                  <a:lnTo>
                    <a:pt x="341353" y="113784"/>
                  </a:lnTo>
                  <a:close/>
                  <a:moveTo>
                    <a:pt x="341353" y="170676"/>
                  </a:moveTo>
                  <a:lnTo>
                    <a:pt x="227569" y="170676"/>
                  </a:lnTo>
                  <a:lnTo>
                    <a:pt x="227569" y="151712"/>
                  </a:lnTo>
                  <a:lnTo>
                    <a:pt x="341353" y="151712"/>
                  </a:lnTo>
                  <a:lnTo>
                    <a:pt x="341353" y="170676"/>
                  </a:lnTo>
                  <a:close/>
                  <a:moveTo>
                    <a:pt x="341353" y="227569"/>
                  </a:moveTo>
                  <a:lnTo>
                    <a:pt x="227569" y="227569"/>
                  </a:lnTo>
                  <a:lnTo>
                    <a:pt x="227569" y="208604"/>
                  </a:lnTo>
                  <a:lnTo>
                    <a:pt x="341353" y="208604"/>
                  </a:lnTo>
                  <a:lnTo>
                    <a:pt x="341353" y="227569"/>
                  </a:lnTo>
                  <a:close/>
                  <a:moveTo>
                    <a:pt x="189640" y="227569"/>
                  </a:moveTo>
                  <a:lnTo>
                    <a:pt x="37928" y="227569"/>
                  </a:lnTo>
                  <a:lnTo>
                    <a:pt x="37928" y="189640"/>
                  </a:lnTo>
                  <a:cubicBezTo>
                    <a:pt x="37928" y="183951"/>
                    <a:pt x="40773" y="178262"/>
                    <a:pt x="45514" y="174469"/>
                  </a:cubicBezTo>
                  <a:cubicBezTo>
                    <a:pt x="55944" y="166884"/>
                    <a:pt x="69219" y="160246"/>
                    <a:pt x="82494" y="156453"/>
                  </a:cubicBezTo>
                  <a:cubicBezTo>
                    <a:pt x="92924" y="153609"/>
                    <a:pt x="103354" y="151712"/>
                    <a:pt x="113784" y="151712"/>
                  </a:cubicBezTo>
                  <a:cubicBezTo>
                    <a:pt x="125163" y="151712"/>
                    <a:pt x="135593" y="153609"/>
                    <a:pt x="145075" y="156453"/>
                  </a:cubicBezTo>
                  <a:cubicBezTo>
                    <a:pt x="158350" y="160246"/>
                    <a:pt x="171625" y="165935"/>
                    <a:pt x="182055" y="174469"/>
                  </a:cubicBezTo>
                  <a:cubicBezTo>
                    <a:pt x="186796" y="178262"/>
                    <a:pt x="189640" y="183951"/>
                    <a:pt x="189640" y="189640"/>
                  </a:cubicBezTo>
                  <a:lnTo>
                    <a:pt x="189640" y="227569"/>
                  </a:lnTo>
                  <a:close/>
                  <a:moveTo>
                    <a:pt x="113784" y="66374"/>
                  </a:moveTo>
                  <a:cubicBezTo>
                    <a:pt x="134645" y="66374"/>
                    <a:pt x="151712" y="83442"/>
                    <a:pt x="151712" y="104302"/>
                  </a:cubicBezTo>
                  <a:cubicBezTo>
                    <a:pt x="151712" y="125163"/>
                    <a:pt x="134645" y="142230"/>
                    <a:pt x="113784" y="142230"/>
                  </a:cubicBezTo>
                  <a:cubicBezTo>
                    <a:pt x="92924" y="142230"/>
                    <a:pt x="75856" y="125163"/>
                    <a:pt x="75856" y="104302"/>
                  </a:cubicBezTo>
                  <a:cubicBezTo>
                    <a:pt x="75856" y="83442"/>
                    <a:pt x="92924" y="66374"/>
                    <a:pt x="113784" y="66374"/>
                  </a:cubicBezTo>
                  <a:close/>
                  <a:moveTo>
                    <a:pt x="360317" y="0"/>
                  </a:moveTo>
                  <a:lnTo>
                    <a:pt x="237051" y="0"/>
                  </a:lnTo>
                  <a:cubicBezTo>
                    <a:pt x="237051" y="20860"/>
                    <a:pt x="219983" y="37928"/>
                    <a:pt x="199122" y="37928"/>
                  </a:cubicBezTo>
                  <a:lnTo>
                    <a:pt x="180158" y="37928"/>
                  </a:lnTo>
                  <a:cubicBezTo>
                    <a:pt x="159298" y="37928"/>
                    <a:pt x="142230" y="20860"/>
                    <a:pt x="142230" y="0"/>
                  </a:cubicBezTo>
                  <a:lnTo>
                    <a:pt x="18964" y="0"/>
                  </a:lnTo>
                  <a:cubicBezTo>
                    <a:pt x="8534" y="0"/>
                    <a:pt x="0" y="8534"/>
                    <a:pt x="0" y="18964"/>
                  </a:cubicBezTo>
                  <a:lnTo>
                    <a:pt x="0" y="246533"/>
                  </a:lnTo>
                  <a:cubicBezTo>
                    <a:pt x="0" y="256963"/>
                    <a:pt x="8534" y="265497"/>
                    <a:pt x="18964" y="265497"/>
                  </a:cubicBezTo>
                  <a:lnTo>
                    <a:pt x="360317" y="265497"/>
                  </a:lnTo>
                  <a:cubicBezTo>
                    <a:pt x="370747" y="265497"/>
                    <a:pt x="379281" y="256963"/>
                    <a:pt x="379281" y="246533"/>
                  </a:cubicBezTo>
                  <a:lnTo>
                    <a:pt x="379281" y="18964"/>
                  </a:lnTo>
                  <a:cubicBezTo>
                    <a:pt x="379281" y="8534"/>
                    <a:pt x="370747" y="0"/>
                    <a:pt x="360317" y="0"/>
                  </a:cubicBezTo>
                  <a:close/>
                </a:path>
              </a:pathLst>
            </a:custGeom>
            <a:solidFill>
              <a:schemeClr val="bg1"/>
            </a:solidFill>
            <a:ln w="4663" cap="flat">
              <a:noFill/>
              <a:prstDash val="solid"/>
              <a:miter/>
            </a:ln>
          </p:spPr>
          <p:txBody>
            <a:bodyPr rtlCol="0" anchor="ctr"/>
            <a:lstStyle/>
            <a:p>
              <a:endParaRPr lang="en-US" noProof="0" dirty="0"/>
            </a:p>
          </p:txBody>
        </p:sp>
      </p:grpSp>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55" name="Graphic 54" descr="Speedometer Middle with solid fill">
            <a:extLst>
              <a:ext uri="{FF2B5EF4-FFF2-40B4-BE49-F238E27FC236}">
                <a16:creationId xmlns:a16="http://schemas.microsoft.com/office/drawing/2014/main" id="{0AA3E156-42AB-C0AF-BECA-1EF6353D62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9385" y="3287294"/>
            <a:ext cx="473304" cy="473304"/>
          </a:xfrm>
          <a:prstGeom prst="rect">
            <a:avLst/>
          </a:prstGeom>
        </p:spPr>
      </p:pic>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EUR 21.3m allocation, part 1 of 4. Weights as at 17 August 2026.</a:t>
            </a:r>
          </a:p>
        </p:txBody>
      </p:sp>
      <p:graphicFrame>
        <p:nvGraphicFramePr>
          <p:cNvPr id="4" name="Table 3"/>
          <p:cNvGraphicFramePr>
            <a:graphicFrameLocks noGrp="1"/>
          </p:cNvGraphicFramePr>
          <p:nvPr/>
        </p:nvGraphicFramePr>
        <p:xfrm>
          <a:off x="665163" y="2260000"/>
          <a:ext cx="9398001" cy="50292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Nunito Sans ExtraBold"/>
                        </a:rPr>
                        <a:t>Asset Allocation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ISIN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Instrument</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Weight</a:t>
                      </a:r>
                    </a:p>
                  </a:txBody>
                  <a:tcPr marL="45720" marR="45720" marT="9144" marB="9144" anchor="ctr">
                    <a:solidFill>
                      <a:srgbClr val="202945"/>
                    </a:solidFill>
                  </a:tcPr>
                </a:tc>
              </a:tr>
              <a:tr h="2286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286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286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286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EUR 21.3m allocation, part 2 of 4. Weights as at 17 August 2026.</a:t>
            </a:r>
          </a:p>
        </p:txBody>
      </p:sp>
      <p:graphicFrame>
        <p:nvGraphicFramePr>
          <p:cNvPr id="4" name="Table 3"/>
          <p:cNvGraphicFramePr>
            <a:graphicFrameLocks noGrp="1"/>
          </p:cNvGraphicFramePr>
          <p:nvPr/>
        </p:nvGraphicFramePr>
        <p:xfrm>
          <a:off x="665163" y="2260000"/>
          <a:ext cx="9398001" cy="45720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Nunito Sans ExtraBold"/>
                        </a:rPr>
                        <a:t>Asset Allocation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ISIN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Instrument</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Weight</a:t>
                      </a:r>
                    </a:p>
                  </a:txBody>
                  <a:tcPr marL="45720" marR="45720" marT="9144" marB="9144" anchor="ctr">
                    <a:solidFill>
                      <a:srgbClr val="202945"/>
                    </a:solidFill>
                  </a:tcPr>
                </a:tc>
              </a:tr>
              <a:tr h="2286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286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28600">
                <a:tc>
                  <a:txBody>
                    <a:bodyPr wrap="square"/>
                    <a:lstStyle/>
                    <a:p>
                      <a:pPr algn="l"/>
                      <a:r>
                        <a:rPr sz="1050" b="1">
                          <a:solidFill>
                            <a:srgbClr val="FFFFFF"/>
                          </a:solidFill>
                          <a:latin typeface="Nunito Sans ExtraBold"/>
                        </a:rPr>
                        <a:t>Equities</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33.7%</a:t>
                      </a:r>
                    </a:p>
                  </a:txBody>
                  <a:tcPr marL="45720" marR="45720" marT="9144" marB="9144" anchor="ctr">
                    <a:solidFill>
                      <a:srgbClr val="4B5F80"/>
                    </a:solidFill>
                  </a:tcPr>
                </a:tc>
              </a:tr>
              <a:tr h="2286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286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286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9" name="TextBox 8"/>
          <p:cNvSpPr txBox="1"/>
          <p:nvPr/>
        </p:nvSpPr>
        <p:spPr>
          <a:xfrm>
            <a:off x="1231105" y="3680847"/>
            <a:ext cx="2455389" cy="324000"/>
          </a:xfrm>
          <a:prstGeom prst="rect">
            <a:avLst/>
          </a:prstGeom>
          <a:noFill/>
        </p:spPr>
        <p:txBody>
          <a:bodyPr wrap="square" anchor="t">
            <a:spAutoFit/>
          </a:bodyPr>
          <a:lstStyle/>
          <a:p>
            <a:pPr algn="l"/>
            <a:r>
              <a:rPr lang="en-US" sz="1500" b="1" noProof="0" dirty="0">
                <a:solidFill>
                  <a:srgbClr val="202945"/>
                </a:solidFill>
                <a:latin typeface="Nunito Sans ExtraBold"/>
              </a:rPr>
              <a:t>Allocation by asset class</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a:extLst>
              <a:ext uri="{FF2B5EF4-FFF2-40B4-BE49-F238E27FC236}">
                <a16:creationId xmlns:a16="http://schemas.microsoft.com/office/drawing/2014/main" id="{A44FDFA7-5F75-D136-DB3B-84D2D7243C33}"/>
              </a:ext>
            </a:extLst>
          </p:cNvPr>
          <p:cNvSpPr txBox="1"/>
          <p:nvPr/>
        </p:nvSpPr>
        <p:spPr>
          <a:xfrm>
            <a:off x="6178396" y="3701819"/>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a:p>
            <a:pPr algn="l"/>
            <a:r>
              <a:rPr lang="en-US" sz="1400" b="1" noProof="0">
                <a:solidFill>
                  <a:srgbClr val="202945"/>
                </a:solidFill>
                <a:latin typeface="Nunito Sans ExtraBold"/>
              </a:rPr>
              <a:t>(not available: the custodian file carries no sector field for these holdings — see references/assumptions.md §7)</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44530" y="3391292"/>
            <a:ext cx="1282723" cy="307777"/>
          </a:xfrm>
          <a:prstGeom prst="rect">
            <a:avLst/>
          </a:prstGeom>
          <a:noFill/>
        </p:spPr>
        <p:txBody>
          <a:bodyPr wrap="none" anchor="ctr">
            <a:spAutoFit/>
          </a:bodyPr>
          <a:lstStyle/>
          <a:p>
            <a:pPr algn="ctr"/>
            <a:r>
              <a:rPr lang="en-US" sz="1400" b="1" noProof="0">
                <a:solidFill>
                  <a:srgbClr val="202945"/>
                </a:solidFill>
                <a:latin typeface="Nunito Sans"/>
              </a:rPr>
              <a:t>Fixed Income</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
        <p:nvSpPr>
          <p:cNvPr id="57" name="Title 1">
            <a:extLst>
              <a:ext uri="{FF2B5EF4-FFF2-40B4-BE49-F238E27FC236}">
                <a16:creationId xmlns:a16="http://schemas.microsoft.com/office/drawing/2014/main" id="{96A02808-F9B4-32D1-2DF7-3BCAD7535770}"/>
              </a:ext>
            </a:extLst>
          </p:cNvPr>
          <p:cNvSpPr txBox="1">
            <a:spLocks/>
          </p:cNvSpPr>
          <p:nvPr/>
        </p:nvSpPr>
        <p:spPr>
          <a:xfrm>
            <a:off x="665163" y="1032442"/>
            <a:ext cx="9398001" cy="864587"/>
          </a:xfrm>
          <a:prstGeom prst="rect">
            <a:avLst/>
          </a:prstGeom>
        </p:spPr>
        <p:txBody>
          <a:bodyPr lIns="0"/>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en-US" dirty="0"/>
              <a:t>Fixed Income Breakdown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5703742" y="3419837"/>
            <a:ext cx="2378880" cy="360000"/>
          </a:xfrm>
          <a:prstGeom prst="rect">
            <a:avLst/>
          </a:prstGeom>
          <a:noFill/>
        </p:spPr>
        <p:txBody>
          <a:bodyPr wrap="none" anchor="ctr">
            <a:spAutoFit/>
          </a:bodyPr>
          <a:lstStyle/>
          <a:p>
            <a:pPr algn="ctr"/>
            <a:r>
              <a:rPr lang="en-US" sz="1300" noProof="0" dirty="0">
                <a:solidFill>
                  <a:srgbClr val="202945"/>
                </a:solidFill>
                <a:latin typeface="Nunito Sans"/>
              </a:rPr>
              <a:t>Equities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1062" y="868315"/>
            <a:ext cx="7312129" cy="502709"/>
          </a:xfrm>
          <a:prstGeom prst="rect">
            <a:avLst/>
          </a:prstGeom>
          <a:noFill/>
          <a:ln/>
        </p:spPr>
        <p:txBody>
          <a:bodyPr wrap="square" lIns="0" tIns="0" rIns="0" bIns="0" rtlCol="0" anchor="ctr"/>
          <a:lstStyle/>
          <a:p>
            <a:pPr defTabSz="801899">
              <a:lnSpc>
                <a:spcPct val="90000"/>
              </a:lnSpc>
              <a:spcBef>
                <a:spcPct val="0"/>
              </a:spcBef>
            </a:pPr>
            <a:r>
              <a:rPr lang="en-US" sz="2400" b="1" dirty="0">
                <a:gradFill flip="none" rotWithShape="1">
                  <a:gsLst>
                    <a:gs pos="0">
                      <a:schemeClr val="accent4"/>
                    </a:gs>
                    <a:gs pos="100000">
                      <a:srgbClr val="FFA400"/>
                    </a:gs>
                  </a:gsLst>
                  <a:lin ang="0" scaled="1"/>
                </a:gradFill>
                <a:latin typeface="+mj-lt"/>
                <a:ea typeface="+mj-ea"/>
                <a:cs typeface="+mj-cs"/>
              </a:rPr>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 (not available for this custodian file)</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 (not available for this custodian file)</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66305" y="4274112"/>
            <a:ext cx="1212191" cy="307777"/>
          </a:xfrm>
          <a:prstGeom prst="rect">
            <a:avLst/>
          </a:prstGeom>
          <a:noFill/>
        </p:spPr>
        <p:txBody>
          <a:bodyPr wrap="none" anchor="ctr">
            <a:spAutoFit/>
          </a:bodyPr>
          <a:lstStyle/>
          <a:p>
            <a:pPr algn="ctr"/>
            <a:r>
              <a:rPr lang="en-US" sz="1400" b="1" noProof="0" dirty="0">
                <a:solidFill>
                  <a:srgbClr val="202945"/>
                </a:solidFill>
                <a:latin typeface="Nunito Sans"/>
              </a:rPr>
              <a:t>Alternatives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B6197356-199E-D26C-624C-421380FA41E7}"/>
              </a:ext>
            </a:extLst>
          </p:cNvPr>
          <p:cNvSpPr txBox="1"/>
          <p:nvPr/>
        </p:nvSpPr>
        <p:spPr>
          <a:xfrm>
            <a:off x="6230235" y="4274112"/>
            <a:ext cx="1284327" cy="307777"/>
          </a:xfrm>
          <a:prstGeom prst="rect">
            <a:avLst/>
          </a:prstGeom>
          <a:noFill/>
        </p:spPr>
        <p:txBody>
          <a:bodyPr wrap="none" anchor="ctr">
            <a:spAutoFit/>
          </a:bodyPr>
          <a:lstStyle/>
          <a:p>
            <a:pPr algn="ctr"/>
            <a:r>
              <a:rPr lang="en-US" sz="1400" b="1">
                <a:solidFill>
                  <a:srgbClr val="202945"/>
                </a:solidFill>
                <a:latin typeface="Nunito Sans"/>
              </a:rPr>
              <a:t>Commodities</a:t>
            </a:r>
            <a:endParaRPr lang="en-US" sz="1400" b="1" noProof="0">
              <a:solidFill>
                <a:srgbClr val="202945"/>
              </a:solidFill>
              <a:latin typeface="Nunito Sans"/>
            </a:endParaRPr>
          </a:p>
        </p:txBody>
      </p:sp>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791491" cy="4025520"/>
        </p:xfrm>
        <a:graphic>
          <a:graphicData uri="http://schemas.openxmlformats.org/drawingml/2006/table">
            <a:tbl>
              <a:tblPr firstRow="1" bandRow="1">
                <a:tableStyleId>{5C22544A-7EE6-4342-B048-85BDC9FD1C3A}</a:tableStyleId>
              </a:tblPr>
              <a:tblGrid>
                <a:gridCol w="1197872"/>
                <a:gridCol w="1197872"/>
                <a:gridCol w="1197872"/>
                <a:gridCol w="1197875"/>
              </a:tblGrid>
              <a:tr h="100638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100638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100638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100638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sp>
        <p:nvSpPr>
          <p:cNvPr id="36" name="Oval 35">
            <a:extLst>
              <a:ext uri="{FF2B5EF4-FFF2-40B4-BE49-F238E27FC236}">
                <a16:creationId xmlns:a16="http://schemas.microsoft.com/office/drawing/2014/main" id="{3F32FD2C-E1E5-8EE9-FD7B-E624D1D2428D}"/>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7" name="Oval 36">
            <a:extLst>
              <a:ext uri="{FF2B5EF4-FFF2-40B4-BE49-F238E27FC236}">
                <a16:creationId xmlns:a16="http://schemas.microsoft.com/office/drawing/2014/main" id="{87FC446A-7E3A-62A1-23CF-F6012B213A04}"/>
              </a:ext>
            </a:extLst>
          </p:cNvPr>
          <p:cNvSpPr/>
          <p:nvPr/>
        </p:nvSpPr>
        <p:spPr>
          <a:xfrm>
            <a:off x="8664831" y="1032438"/>
            <a:ext cx="365294" cy="36529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8" name="Oval 37">
            <a:extLst>
              <a:ext uri="{FF2B5EF4-FFF2-40B4-BE49-F238E27FC236}">
                <a16:creationId xmlns:a16="http://schemas.microsoft.com/office/drawing/2014/main" id="{E7EC9A29-7BDE-6AA2-0A34-031904AC787D}"/>
              </a:ext>
            </a:extLst>
          </p:cNvPr>
          <p:cNvSpPr/>
          <p:nvPr/>
        </p:nvSpPr>
        <p:spPr>
          <a:xfrm>
            <a:off x="9007760"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9" name="Oval 38">
            <a:extLst>
              <a:ext uri="{FF2B5EF4-FFF2-40B4-BE49-F238E27FC236}">
                <a16:creationId xmlns:a16="http://schemas.microsoft.com/office/drawing/2014/main" id="{3BC58316-7BD7-F638-DA28-4CE238039F7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2" name="Oval 41">
            <a:extLst>
              <a:ext uri="{FF2B5EF4-FFF2-40B4-BE49-F238E27FC236}">
                <a16:creationId xmlns:a16="http://schemas.microsoft.com/office/drawing/2014/main" id="{41B42E8F-C130-2203-06DB-4EC5723BF38F}"/>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5" name="Rectangle 44">
            <a:extLst>
              <a:ext uri="{FF2B5EF4-FFF2-40B4-BE49-F238E27FC236}">
                <a16:creationId xmlns:a16="http://schemas.microsoft.com/office/drawing/2014/main" id="{2DAB404B-ACFA-4A21-B07F-4B3F1238707E}"/>
              </a:ext>
            </a:extLst>
          </p:cNvPr>
          <p:cNvSpPr/>
          <p:nvPr/>
        </p:nvSpPr>
        <p:spPr>
          <a:xfrm>
            <a:off x="8667991"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02</a:t>
            </a:r>
          </a:p>
        </p:txBody>
      </p:sp>
      <p:sp>
        <p:nvSpPr>
          <p:cNvPr id="46" name="Rectangle 45">
            <a:extLst>
              <a:ext uri="{FF2B5EF4-FFF2-40B4-BE49-F238E27FC236}">
                <a16:creationId xmlns:a16="http://schemas.microsoft.com/office/drawing/2014/main" id="{82EFE47E-F825-75D8-FD3F-CD2E6F9EC372}"/>
              </a:ext>
            </a:extLst>
          </p:cNvPr>
          <p:cNvSpPr/>
          <p:nvPr/>
        </p:nvSpPr>
        <p:spPr>
          <a:xfrm>
            <a:off x="8491451" y="1416542"/>
            <a:ext cx="712054" cy="338554"/>
          </a:xfrm>
          <a:prstGeom prst="rect">
            <a:avLst/>
          </a:prstGeom>
        </p:spPr>
        <p:txBody>
          <a:bodyPr wrap="none">
            <a:spAutoFit/>
          </a:bodyPr>
          <a:lstStyle/>
          <a:p>
            <a:pPr algn="ctr"/>
            <a:r>
              <a:rPr lang="en-US" sz="800" b="1" noProof="0" dirty="0">
                <a:solidFill>
                  <a:schemeClr val="accent2"/>
                </a:solidFill>
                <a:latin typeface="Nunito Sans" pitchFamily="2" charset="77"/>
              </a:rPr>
              <a:t>Investment</a:t>
            </a:r>
          </a:p>
          <a:p>
            <a:pPr algn="ctr"/>
            <a:r>
              <a:rPr lang="en-US" sz="800" b="1" noProof="0" dirty="0">
                <a:solidFill>
                  <a:schemeClr val="accent2"/>
                </a:solidFill>
                <a:latin typeface="Nunito Sans" pitchFamily="2" charset="77"/>
              </a:rPr>
              <a:t>Experts</a:t>
            </a:r>
          </a:p>
        </p:txBody>
      </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3" name="Oval 2">
            <a:extLst>
              <a:ext uri="{FF2B5EF4-FFF2-40B4-BE49-F238E27FC236}">
                <a16:creationId xmlns:a16="http://schemas.microsoft.com/office/drawing/2014/main" id="{4B357220-56E8-85EC-7FAF-84B86A79A48C}"/>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5" name="Oval 14">
            <a:extLst>
              <a:ext uri="{FF2B5EF4-FFF2-40B4-BE49-F238E27FC236}">
                <a16:creationId xmlns:a16="http://schemas.microsoft.com/office/drawing/2014/main" id="{FE61534B-46A8-0F70-EBA1-FF937BBA3DC7}"/>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8B33B0F8-A88E-DAD0-B6A4-0507E3521E5B}"/>
              </a:ext>
            </a:extLst>
          </p:cNvPr>
          <p:cNvSpPr/>
          <p:nvPr/>
        </p:nvSpPr>
        <p:spPr>
          <a:xfrm>
            <a:off x="9007760" y="1032438"/>
            <a:ext cx="365294" cy="36529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1" name="Oval 20">
            <a:extLst>
              <a:ext uri="{FF2B5EF4-FFF2-40B4-BE49-F238E27FC236}">
                <a16:creationId xmlns:a16="http://schemas.microsoft.com/office/drawing/2014/main" id="{A70369F2-30D9-2C0A-AD6B-61781668874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2" name="Oval 21">
            <a:extLst>
              <a:ext uri="{FF2B5EF4-FFF2-40B4-BE49-F238E27FC236}">
                <a16:creationId xmlns:a16="http://schemas.microsoft.com/office/drawing/2014/main" id="{3265DE06-4A04-305A-8E4D-0ADD30DE2AE1}"/>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3" name="Rectangle 22">
            <a:extLst>
              <a:ext uri="{FF2B5EF4-FFF2-40B4-BE49-F238E27FC236}">
                <a16:creationId xmlns:a16="http://schemas.microsoft.com/office/drawing/2014/main" id="{599B572B-29B0-ACCE-9DAF-27A6A5551916}"/>
              </a:ext>
            </a:extLst>
          </p:cNvPr>
          <p:cNvSpPr/>
          <p:nvPr/>
        </p:nvSpPr>
        <p:spPr>
          <a:xfrm>
            <a:off x="9004299"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03</a:t>
            </a:r>
          </a:p>
        </p:txBody>
      </p:sp>
      <p:sp>
        <p:nvSpPr>
          <p:cNvPr id="24" name="Rectangle 23">
            <a:extLst>
              <a:ext uri="{FF2B5EF4-FFF2-40B4-BE49-F238E27FC236}">
                <a16:creationId xmlns:a16="http://schemas.microsoft.com/office/drawing/2014/main" id="{9E29A5E2-D7B5-7A05-1252-28F9B22E07A9}"/>
              </a:ext>
            </a:extLst>
          </p:cNvPr>
          <p:cNvSpPr/>
          <p:nvPr/>
        </p:nvSpPr>
        <p:spPr>
          <a:xfrm>
            <a:off x="8834380" y="1424459"/>
            <a:ext cx="712054" cy="338554"/>
          </a:xfrm>
          <a:prstGeom prst="rect">
            <a:avLst/>
          </a:prstGeom>
        </p:spPr>
        <p:txBody>
          <a:bodyPr wrap="none">
            <a:spAutoFit/>
          </a:bodyPr>
          <a:lstStyle/>
          <a:p>
            <a:pPr algn="ctr"/>
            <a:r>
              <a:rPr lang="en-US" sz="800" b="1" noProof="0" dirty="0">
                <a:solidFill>
                  <a:schemeClr val="accent3"/>
                </a:solidFill>
                <a:latin typeface="Nunito Sans" pitchFamily="2" charset="77"/>
              </a:rPr>
              <a:t>Investment</a:t>
            </a:r>
          </a:p>
          <a:p>
            <a:pPr algn="ctr"/>
            <a:r>
              <a:rPr lang="en-US" sz="800" b="1" noProof="0" dirty="0">
                <a:solidFill>
                  <a:schemeClr val="accent3"/>
                </a:solidFill>
                <a:latin typeface="Nunito Sans" pitchFamily="2" charset="77"/>
              </a:rPr>
              <a:t>Universe</a:t>
            </a:r>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
        <p:nvSpPr>
          <p:cNvPr id="3" name="Oval 2">
            <a:extLst>
              <a:ext uri="{FF2B5EF4-FFF2-40B4-BE49-F238E27FC236}">
                <a16:creationId xmlns:a16="http://schemas.microsoft.com/office/drawing/2014/main" id="{4FAFA7CC-62A7-CF8C-FA45-97F91546B41A}"/>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 name="Oval 3">
            <a:extLst>
              <a:ext uri="{FF2B5EF4-FFF2-40B4-BE49-F238E27FC236}">
                <a16:creationId xmlns:a16="http://schemas.microsoft.com/office/drawing/2014/main" id="{65F0F8F4-736E-2025-A32C-470A35078383}"/>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5" name="Oval 4">
            <a:extLst>
              <a:ext uri="{FF2B5EF4-FFF2-40B4-BE49-F238E27FC236}">
                <a16:creationId xmlns:a16="http://schemas.microsoft.com/office/drawing/2014/main" id="{BA9B3711-1A3D-5EE1-8C17-2A2453C69EC7}"/>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4" name="Oval 13">
            <a:extLst>
              <a:ext uri="{FF2B5EF4-FFF2-40B4-BE49-F238E27FC236}">
                <a16:creationId xmlns:a16="http://schemas.microsoft.com/office/drawing/2014/main" id="{FA3E04F2-AE73-DFBB-4FEA-33D6C6746D01}"/>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68AD1166-97DD-4A9E-BE72-F7745A87EF38}"/>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0" name="Rectangle 19">
            <a:extLst>
              <a:ext uri="{FF2B5EF4-FFF2-40B4-BE49-F238E27FC236}">
                <a16:creationId xmlns:a16="http://schemas.microsoft.com/office/drawing/2014/main" id="{CF64DA0D-E9FF-000F-0C46-04B1CCD08D6D}"/>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21" name="Rectangle 20">
            <a:extLst>
              <a:ext uri="{FF2B5EF4-FFF2-40B4-BE49-F238E27FC236}">
                <a16:creationId xmlns:a16="http://schemas.microsoft.com/office/drawing/2014/main" id="{411B2580-C863-0083-C624-AAD52D5469C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Offering</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38" name="Oval 37">
            <a:extLst>
              <a:ext uri="{FF2B5EF4-FFF2-40B4-BE49-F238E27FC236}">
                <a16:creationId xmlns:a16="http://schemas.microsoft.com/office/drawing/2014/main" id="{BBA9B03A-167B-ED15-6632-47B907E09563}"/>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0" name="Oval 39">
            <a:extLst>
              <a:ext uri="{FF2B5EF4-FFF2-40B4-BE49-F238E27FC236}">
                <a16:creationId xmlns:a16="http://schemas.microsoft.com/office/drawing/2014/main" id="{14AAEE0C-C1B8-E3DC-456C-5FA9282E1745}"/>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1" name="Oval 40">
            <a:extLst>
              <a:ext uri="{FF2B5EF4-FFF2-40B4-BE49-F238E27FC236}">
                <a16:creationId xmlns:a16="http://schemas.microsoft.com/office/drawing/2014/main" id="{03ECE030-FD5F-4EF4-2A03-1C1A9420DC26}"/>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4" name="Oval 43">
            <a:extLst>
              <a:ext uri="{FF2B5EF4-FFF2-40B4-BE49-F238E27FC236}">
                <a16:creationId xmlns:a16="http://schemas.microsoft.com/office/drawing/2014/main" id="{EE583F7E-5281-FB81-0954-C9054080103A}"/>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8" name="Oval 47">
            <a:extLst>
              <a:ext uri="{FF2B5EF4-FFF2-40B4-BE49-F238E27FC236}">
                <a16:creationId xmlns:a16="http://schemas.microsoft.com/office/drawing/2014/main" id="{CD1B636A-BB80-5C09-408F-EBAE26EE3D69}"/>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9" name="Rectangle 48">
            <a:extLst>
              <a:ext uri="{FF2B5EF4-FFF2-40B4-BE49-F238E27FC236}">
                <a16:creationId xmlns:a16="http://schemas.microsoft.com/office/drawing/2014/main" id="{9880E897-67A9-EEAA-FFD6-98EA55BCF078}"/>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50" name="Rectangle 49">
            <a:extLst>
              <a:ext uri="{FF2B5EF4-FFF2-40B4-BE49-F238E27FC236}">
                <a16:creationId xmlns:a16="http://schemas.microsoft.com/office/drawing/2014/main" id="{6088DF1A-0F13-CE31-95F4-1249BCD8888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Expert</a:t>
            </a:r>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a:spLocks noGrp="1"/>
          </p:cNvSpPr>
          <p:nvPr>
            <p:ph type="body" idx="14" sz="quarter"/>
          </p:nvPr>
        </p:nvSpPr>
        <p:spPr/>
        <p:txBody>
          <a:bodyPr/>
          <a:lstStyle/>
          <a:p>
            <a:r>
              <a:t>All positions of the proposed EUR 21.3m allocation, part 3 of 4. Weights as at 17 August 2026.</a:t>
            </a:r>
          </a:p>
        </p:txBody>
      </p:sp>
      <p:graphicFrame>
        <p:nvGraphicFramePr>
          <p:cNvPr id="4" name="Table 3"/>
          <p:cNvGraphicFramePr>
            <a:graphicFrameLocks noGrp="1"/>
          </p:cNvGraphicFramePr>
          <p:nvPr/>
        </p:nvGraphicFramePr>
        <p:xfrm>
          <a:off x="665163" y="2260000"/>
          <a:ext cx="9398001" cy="45720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Nunito Sans ExtraBold"/>
                        </a:rPr>
                        <a:t>Asset Allocation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ISIN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Instrument</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Weight</a:t>
                      </a:r>
                    </a:p>
                  </a:txBody>
                  <a:tcPr marL="45720" marR="45720" marT="9144" marB="9144" anchor="ctr">
                    <a:solidFill>
                      <a:srgbClr val="202945"/>
                    </a:solidFill>
                  </a:tcPr>
                </a:tc>
              </a:tr>
              <a:tr h="228600">
                <a:tc>
                  <a:txBody>
                    <a:bodyPr wrap="square"/>
                    <a:lstStyle/>
                    <a:p>
                      <a:pPr algn="l"/>
                      <a:r>
                        <a:rPr sz="1050" b="1">
                          <a:solidFill>
                            <a:srgbClr val="FFFFFF"/>
                          </a:solidFill>
                          <a:latin typeface="Nunito Sans ExtraBold"/>
                        </a:rPr>
                        <a:t>Equities</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33.7%</a:t>
                      </a:r>
                    </a:p>
                  </a:txBody>
                  <a:tcPr marL="45720" marR="45720" marT="9144" marB="9144" anchor="ctr">
                    <a:solidFill>
                      <a:srgbClr val="4B5F80"/>
                    </a:solidFill>
                  </a:tcPr>
                </a:tc>
              </a:tr>
              <a:tr h="2286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a:txBody>
                    <a:bodyPr wrap="square"/>
                    <a:lstStyle/>
                    <a:p>
                      <a:pPr algn="l"/>
                      <a:r>
                        <a:rPr sz="1050" b="1">
                          <a:solidFill>
                            <a:srgbClr val="FFFFFF"/>
                          </a:solidFill>
                          <a:latin typeface="Nunito Sans ExtraBold"/>
                        </a:rPr>
                        <a:t>Structured Products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5.5%</a:t>
                      </a:r>
                    </a:p>
                  </a:txBody>
                  <a:tcPr marL="45720" marR="45720" marT="9144" marB="9144" anchor="ctr">
                    <a:solidFill>
                      <a:srgbClr val="79D6FF"/>
                    </a:solidFill>
                  </a:tcPr>
                </a:tc>
              </a:tr>
              <a:tr h="2286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a:spLocks noGrp="1"/>
          </p:cNvSpPr>
          <p:nvPr>
            <p:ph type="body" idx="14" sz="quarter"/>
          </p:nvPr>
        </p:nvSpPr>
        <p:spPr/>
        <p:txBody>
          <a:bodyPr/>
          <a:lstStyle/>
          <a:p>
            <a:r>
              <a:t>All positions of the proposed EUR 21.3m allocation, part 4 of 4. Weights as at 17 August 2026.</a:t>
            </a:r>
          </a:p>
        </p:txBody>
      </p:sp>
      <p:graphicFrame>
        <p:nvGraphicFramePr>
          <p:cNvPr id="4" name="Table 3"/>
          <p:cNvGraphicFramePr>
            <a:graphicFrameLocks noGrp="1"/>
          </p:cNvGraphicFramePr>
          <p:nvPr/>
        </p:nvGraphicFramePr>
        <p:xfrm>
          <a:off x="665163" y="2260000"/>
          <a:ext cx="9398001" cy="4572000"/>
        </p:xfrm>
        <a:graphic>
          <a:graphicData uri="http://schemas.openxmlformats.org/drawingml/2006/table">
            <a:tbl>
              <a:tblPr>
                <a:tableStyleId>{5C22544A-7EE6-4342-B048-85BDC9FD1C3A}</a:tableStyleId>
              </a:tblPr>
              <a:tblGrid>
                <a:gridCol w="1900000"/>
                <a:gridCol w="1500000"/>
                <a:gridCol w="4573001"/>
                <a:gridCol w="1425000"/>
              </a:tblGrid>
              <a:tr h="228600">
                <a:tc>
                  <a:txBody>
                    <a:bodyPr wrap="square"/>
                    <a:lstStyle/>
                    <a:p>
                      <a:pPr algn="l"/>
                      <a:r>
                        <a:rPr sz="1000" b="1">
                          <a:solidFill>
                            <a:srgbClr val="FFFFFF"/>
                          </a:solidFill>
                          <a:latin typeface="Nunito Sans ExtraBold"/>
                        </a:rPr>
                        <a:t>Asset Allocation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ISIN</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Instrument</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Weight</a:t>
                      </a:r>
                    </a:p>
                  </a:txBody>
                  <a:tcPr marL="45720" marR="45720" marT="9144" marB="9144" anchor="ctr">
                    <a:solidFill>
                      <a:srgbClr val="202945"/>
                    </a:solidFill>
                  </a:tcPr>
                </a:tc>
              </a:tr>
              <a:tr h="2286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286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0.0%</a:t>
                      </a:r>
                    </a:p>
                  </a:txBody>
                  <a:tcPr marL="45720" marR="45720" marT="9144" marB="9144" anchor="ctr">
                    <a:noFill/>
                  </a:tcPr>
                </a:tc>
              </a:tr>
              <a:tr h="2286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286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286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286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286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286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