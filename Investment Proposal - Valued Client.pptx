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image11.svg" ContentType="image/svg+xml"/>
  <Override PartName="/ppt/media/image13.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26.svg" ContentType="image/svg"/>
  <Override PartName="/ppt/media/image27.svg" ContentType="image/svg"/>
  <Override PartName="/ppt/media/image28.svg" ContentType="image/svg"/>
  <Override PartName="/ppt/media/image29.svg" ContentType="image/svg"/>
  <Override PartName="/ppt/media/image30.svg" ContentType="image/svg+xml"/>
  <Override PartName="/ppt/media/image31.svg" ContentType="image/svg"/>
  <Override PartName="/ppt/media/image32.svg" ContentType="image/svg"/>
  <Override PartName="/ppt/media/image33.svg" ContentType="image/sv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41"/>
  </p:notesMasterIdLst>
  <p:handoutMasterIdLst>
    <p:handoutMasterId r:id="rId42"/>
  </p:handoutMasterIdLst>
  <p:sldIdLst>
    <p:sldId id="2147377584" r:id="rId5"/>
    <p:sldId id="2147377586" r:id="rId6"/>
    <p:sldId id="256" r:id="rId7"/>
    <p:sldId id="2147379389" r:id="rId8"/>
    <p:sldId id="271" r:id="rId9"/>
    <p:sldId id="272" r:id="rId10"/>
    <p:sldId id="2147378131" r:id="rId11"/>
    <p:sldId id="2147379390" r:id="rId12"/>
    <p:sldId id="2147377582" r:id="rId13"/>
    <p:sldId id="2147377583" r:id="rId14"/>
    <p:sldId id="2147379399" r:id="rId39"/>
    <p:sldId id="2147379400" r:id="rId44"/>
    <p:sldId id="2147378133" r:id="rId15"/>
    <p:sldId id="263" r:id="rId16"/>
    <p:sldId id="2147378134" r:id="rId17"/>
    <p:sldId id="2147379392" r:id="rId18"/>
    <p:sldId id="2147378135" r:id="rId19"/>
    <p:sldId id="2147379393" r:id="rId20"/>
    <p:sldId id="2147378136" r:id="rId21"/>
    <p:sldId id="2147379394" r:id="rId22"/>
    <p:sldId id="2147379395" r:id="rId23"/>
    <p:sldId id="264" r:id="rId24"/>
    <p:sldId id="265" r:id="rId25"/>
    <p:sldId id="266" r:id="rId26"/>
    <p:sldId id="2147379388" r:id="rId27"/>
    <p:sldId id="2147378129" r:id="rId28"/>
    <p:sldId id="270" r:id="rId29"/>
    <p:sldId id="2147377382" r:id="rId30"/>
    <p:sldId id="2147377387" r:id="rId31"/>
    <p:sldId id="2147379398" r:id="rId32"/>
    <p:sldId id="2461" r:id="rId33"/>
    <p:sldId id="2147377376" r:id="rId34"/>
    <p:sldId id="282" r:id="rId40"/>
  </p:sldIdLst>
  <p:sldSz cx="10691813" cy="7559675"/>
  <p:notesSz cx="6797675" cy="9926638"/>
  <p:custDataLst>
    <p:tags r:id="rId43"/>
  </p:custDataLst>
  <p:defaultTextStyle>
    <a:defPPr>
      <a:defRPr lang="en-US"/>
    </a:defPPr>
    <a:lvl1pPr marL="0" algn="l" defTabSz="457129" rtl="0" eaLnBrk="1" latinLnBrk="0" hangingPunct="1">
      <a:defRPr sz="1800" kern="1200">
        <a:solidFill>
          <a:schemeClr val="tx1"/>
        </a:solidFill>
        <a:latin typeface="+mn-lt"/>
        <a:ea typeface="+mn-ea"/>
        <a:cs typeface="+mn-cs"/>
      </a:defRPr>
    </a:lvl1pPr>
    <a:lvl2pPr marL="457129" algn="l" defTabSz="457129" rtl="0" eaLnBrk="1" latinLnBrk="0" hangingPunct="1">
      <a:defRPr sz="1800" kern="1200">
        <a:solidFill>
          <a:schemeClr val="tx1"/>
        </a:solidFill>
        <a:latin typeface="+mn-lt"/>
        <a:ea typeface="+mn-ea"/>
        <a:cs typeface="+mn-cs"/>
      </a:defRPr>
    </a:lvl2pPr>
    <a:lvl3pPr marL="914261" algn="l" defTabSz="457129" rtl="0" eaLnBrk="1" latinLnBrk="0" hangingPunct="1">
      <a:defRPr sz="1800" kern="1200">
        <a:solidFill>
          <a:schemeClr val="tx1"/>
        </a:solidFill>
        <a:latin typeface="+mn-lt"/>
        <a:ea typeface="+mn-ea"/>
        <a:cs typeface="+mn-cs"/>
      </a:defRPr>
    </a:lvl3pPr>
    <a:lvl4pPr marL="1371389" algn="l" defTabSz="457129" rtl="0" eaLnBrk="1" latinLnBrk="0" hangingPunct="1">
      <a:defRPr sz="1800" kern="1200">
        <a:solidFill>
          <a:schemeClr val="tx1"/>
        </a:solidFill>
        <a:latin typeface="+mn-lt"/>
        <a:ea typeface="+mn-ea"/>
        <a:cs typeface="+mn-cs"/>
      </a:defRPr>
    </a:lvl4pPr>
    <a:lvl5pPr marL="1828519" algn="l" defTabSz="457129" rtl="0" eaLnBrk="1" latinLnBrk="0" hangingPunct="1">
      <a:defRPr sz="1800" kern="1200">
        <a:solidFill>
          <a:schemeClr val="tx1"/>
        </a:solidFill>
        <a:latin typeface="+mn-lt"/>
        <a:ea typeface="+mn-ea"/>
        <a:cs typeface="+mn-cs"/>
      </a:defRPr>
    </a:lvl5pPr>
    <a:lvl6pPr marL="2285649" algn="l" defTabSz="457129" rtl="0" eaLnBrk="1" latinLnBrk="0" hangingPunct="1">
      <a:defRPr sz="1800" kern="1200">
        <a:solidFill>
          <a:schemeClr val="tx1"/>
        </a:solidFill>
        <a:latin typeface="+mn-lt"/>
        <a:ea typeface="+mn-ea"/>
        <a:cs typeface="+mn-cs"/>
      </a:defRPr>
    </a:lvl6pPr>
    <a:lvl7pPr marL="2742778" algn="l" defTabSz="457129" rtl="0" eaLnBrk="1" latinLnBrk="0" hangingPunct="1">
      <a:defRPr sz="1800" kern="1200">
        <a:solidFill>
          <a:schemeClr val="tx1"/>
        </a:solidFill>
        <a:latin typeface="+mn-lt"/>
        <a:ea typeface="+mn-ea"/>
        <a:cs typeface="+mn-cs"/>
      </a:defRPr>
    </a:lvl7pPr>
    <a:lvl8pPr marL="3199907" algn="l" defTabSz="457129" rtl="0" eaLnBrk="1" latinLnBrk="0" hangingPunct="1">
      <a:defRPr sz="1800" kern="1200">
        <a:solidFill>
          <a:schemeClr val="tx1"/>
        </a:solidFill>
        <a:latin typeface="+mn-lt"/>
        <a:ea typeface="+mn-ea"/>
        <a:cs typeface="+mn-cs"/>
      </a:defRPr>
    </a:lvl8pPr>
    <a:lvl9pPr marL="3657037" algn="l" defTabSz="457129"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774" userDrawn="1">
          <p15:clr>
            <a:srgbClr val="A4A3A4"/>
          </p15:clr>
        </p15:guide>
        <p15:guide id="2" orient="horz" pos="24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294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723"/>
  </p:normalViewPr>
  <p:slideViewPr>
    <p:cSldViewPr snapToGrid="0">
      <p:cViewPr varScale="1">
        <p:scale>
          <a:sx n="110" d="100"/>
          <a:sy n="110" d="100"/>
        </p:scale>
        <p:origin x="1459" y="82"/>
      </p:cViewPr>
      <p:guideLst>
        <p:guide pos="4774"/>
        <p:guide orient="horz" pos="2404"/>
      </p:guideLst>
    </p:cSldViewPr>
  </p:slideViewPr>
  <p:notesTextViewPr>
    <p:cViewPr>
      <p:scale>
        <a:sx n="1" d="1"/>
        <a:sy n="1" d="1"/>
      </p:scale>
      <p:origin x="0" y="0"/>
    </p:cViewPr>
  </p:notesTextViewPr>
  <p:notesViewPr>
    <p:cSldViewPr snapToGrid="0">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9" Type="http://schemas.openxmlformats.org/officeDocument/2006/relationships/slide" Target="slides/slide32.xml"/><Relationship Id="rId40" Type="http://schemas.openxmlformats.org/officeDocument/2006/relationships/slide" Target="slides/slide31.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tags" Target="tags/tag1.xml"/><Relationship Id="rId44" Type="http://schemas.openxmlformats.org/officeDocument/2006/relationships/slide" Target="slides/slide33.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6DCB-4C5A-9D45-1DB0C87C1D63}"/>
              </c:ext>
            </c:extLst>
          </c:dPt>
          <c:dPt>
            <c:idx val="1"/>
            <c:bubble3D val="0"/>
            <c:spPr>
              <a:solidFill>
                <a:srgbClr val="FFC545"/>
              </a:solidFill>
            </c:spPr>
            <c:extLst>
              <c:ext xmlns:c16="http://schemas.microsoft.com/office/drawing/2014/chart" uri="{C3380CC4-5D6E-409C-BE32-E72D297353CC}">
                <c16:uniqueId val="{00000003-6DCB-4C5A-9D45-1DB0C87C1D63}"/>
              </c:ext>
            </c:extLst>
          </c:dPt>
          <c:dPt>
            <c:idx val="2"/>
            <c:bubble3D val="0"/>
            <c:spPr>
              <a:solidFill>
                <a:srgbClr val="79D6FF"/>
              </a:solidFill>
            </c:spPr>
            <c:extLst>
              <c:ext xmlns:c16="http://schemas.microsoft.com/office/drawing/2014/chart" uri="{C3380CC4-5D6E-409C-BE32-E72D297353CC}">
                <c16:uniqueId val="{00000005-6DCB-4C5A-9D45-1DB0C87C1D63}"/>
              </c:ext>
            </c:extLst>
          </c:dPt>
          <c:dPt>
            <c:idx val="3"/>
            <c:bubble3D val="0"/>
            <c:spPr>
              <a:solidFill>
                <a:srgbClr val="202945"/>
              </a:solidFill>
            </c:spPr>
            <c:extLst>
              <c:ext xmlns:c16="http://schemas.microsoft.com/office/drawing/2014/chart" uri="{C3380CC4-5D6E-409C-BE32-E72D297353CC}">
                <c16:uniqueId val="{00000007-6DCB-4C5A-9D45-1DB0C87C1D63}"/>
              </c:ext>
            </c:extLst>
          </c:dPt>
          <c:dPt>
            <c:idx val="4"/>
            <c:bubble3D val="0"/>
            <c:spPr>
              <a:solidFill>
                <a:srgbClr val="3BAF90"/>
              </a:solidFill>
            </c:spPr>
            <c:extLst>
              <c:ext xmlns:c16="http://schemas.microsoft.com/office/drawing/2014/chart" uri="{C3380CC4-5D6E-409C-BE32-E72D297353CC}">
                <c16:uniqueId val="{00000009-6DCB-4C5A-9D45-1DB0C87C1D63}"/>
              </c:ext>
            </c:extLst>
          </c:dPt>
          <c:cat>
            <c:strRef>
              <c:f>Sheet1!$A$2:$A$8</c:f>
              <c:strCache>
                <c:ptCount val="7"/>
                <c:pt idx="0">
                  <c:v>Equities  34%</c:v>
                </c:pt>
                <c:pt idx="1">
                  <c:v>Commodities  25%</c:v>
                </c:pt>
                <c:pt idx="2">
                  <c:v>Private Assets  16%</c:v>
                </c:pt>
                <c:pt idx="3">
                  <c:v>Fixed Income  15%</c:v>
                </c:pt>
                <c:pt idx="4">
                  <c:v>Structured Products  6%</c:v>
                </c:pt>
                <c:pt idx="5">
                  <c:v>Cash  4%</c:v>
                </c:pt>
                <c:pt idx="6">
                  <c:v>Other  1%</c:v>
                </c:pt>
              </c:strCache>
            </c:strRef>
          </c:cat>
          <c:val>
            <c:numRef>
              <c:f>Sheet1!$B$2:$B$8</c:f>
              <c:numCache>
                <c:formatCode>General</c:formatCode>
                <c:ptCount val="7"/>
                <c:pt idx="0">
                  <c:v>0.33704701</c:v>
                </c:pt>
                <c:pt idx="1">
                  <c:v>0.25043606</c:v>
                </c:pt>
                <c:pt idx="2">
                  <c:v>0.1627031</c:v>
                </c:pt>
                <c:pt idx="3">
                  <c:v>0.15084641</c:v>
                </c:pt>
                <c:pt idx="4">
                  <c:v>0.05502035</c:v>
                </c:pt>
                <c:pt idx="5">
                  <c:v>0.037979059999999995</c:v>
                </c:pt>
                <c:pt idx="6">
                  <c:v>0.005968020000000001</c:v>
                </c:pt>
              </c:numCache>
            </c:numRef>
          </c:val>
          <c:extLst>
            <c:ext xmlns:c16="http://schemas.microsoft.com/office/drawing/2014/chart" uri="{C3380CC4-5D6E-409C-BE32-E72D297353CC}">
              <c16:uniqueId val="{0000000A-6DCB-4C5A-9D45-1DB0C87C1D63}"/>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12FC-40BB-BF3C-F2EDC4F748DA}"/>
              </c:ext>
            </c:extLst>
          </c:dPt>
          <c:dPt>
            <c:idx val="1"/>
            <c:bubble3D val="0"/>
            <c:spPr>
              <a:solidFill>
                <a:srgbClr val="FFC545"/>
              </a:solidFill>
            </c:spPr>
            <c:extLst>
              <c:ext xmlns:c16="http://schemas.microsoft.com/office/drawing/2014/chart" uri="{C3380CC4-5D6E-409C-BE32-E72D297353CC}">
                <c16:uniqueId val="{00000003-12FC-40BB-BF3C-F2EDC4F748DA}"/>
              </c:ext>
            </c:extLst>
          </c:dPt>
          <c:dPt>
            <c:idx val="2"/>
            <c:bubble3D val="0"/>
            <c:spPr>
              <a:solidFill>
                <a:srgbClr val="79D6FF"/>
              </a:solidFill>
            </c:spPr>
            <c:extLst>
              <c:ext xmlns:c16="http://schemas.microsoft.com/office/drawing/2014/chart" uri="{C3380CC4-5D6E-409C-BE32-E72D297353CC}">
                <c16:uniqueId val="{00000005-12FC-40BB-BF3C-F2EDC4F748DA}"/>
              </c:ext>
            </c:extLst>
          </c:dPt>
          <c:dPt>
            <c:idx val="3"/>
            <c:bubble3D val="0"/>
            <c:spPr>
              <a:solidFill>
                <a:srgbClr val="202945"/>
              </a:solidFill>
            </c:spPr>
            <c:extLst>
              <c:ext xmlns:c16="http://schemas.microsoft.com/office/drawing/2014/chart" uri="{C3380CC4-5D6E-409C-BE32-E72D297353CC}">
                <c16:uniqueId val="{00000007-12FC-40BB-BF3C-F2EDC4F748DA}"/>
              </c:ext>
            </c:extLst>
          </c:dPt>
          <c:cat>
            <c:strRef>
              <c:f>Sheet1!$A$2:$A$8</c:f>
              <c:strCache>
                <c:ptCount val="7"/>
                <c:pt idx="0">
                  <c:v>USD  40%</c:v>
                </c:pt>
                <c:pt idx="1">
                  <c:v>CHF  30%</c:v>
                </c:pt>
                <c:pt idx="2">
                  <c:v>EUR  23%</c:v>
                </c:pt>
                <c:pt idx="3">
                  <c:v>GBP  4%</c:v>
                </c:pt>
                <c:pt idx="4">
                  <c:v>XAG  1%</c:v>
                </c:pt>
                <c:pt idx="5">
                  <c:v>SEK  1%</c:v>
                </c:pt>
                <c:pt idx="6">
                  <c:v>XPT  1%</c:v>
                </c:pt>
              </c:strCache>
            </c:strRef>
          </c:cat>
          <c:val>
            <c:numRef>
              <c:f>Sheet1!$B$2:$B$8</c:f>
              <c:numCache>
                <c:formatCode>General</c:formatCode>
                <c:ptCount val="7"/>
                <c:pt idx="0">
                  <c:v>0.40389930999999996</c:v>
                </c:pt>
                <c:pt idx="1">
                  <c:v>0.29621392</c:v>
                </c:pt>
                <c:pt idx="2">
                  <c:v>0.2291397</c:v>
                </c:pt>
                <c:pt idx="3">
                  <c:v>0.03921222</c:v>
                </c:pt>
                <c:pt idx="4">
                  <c:v>0.01093388</c:v>
                </c:pt>
                <c:pt idx="5">
                  <c:v>0.01048082</c:v>
                </c:pt>
                <c:pt idx="6">
                  <c:v>0.01011987</c:v>
                </c:pt>
              </c:numCache>
            </c:numRef>
          </c:val>
          <c:extLst>
            <c:ext xmlns:c16="http://schemas.microsoft.com/office/drawing/2014/chart" uri="{C3380CC4-5D6E-409C-BE32-E72D297353CC}">
              <c16:uniqueId val="{00000008-12FC-40BB-BF3C-F2EDC4F748DA}"/>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9BC4-41CE-A2D6-DB7B98CABE3A}"/>
              </c:ext>
            </c:extLst>
          </c:dPt>
          <c:dPt>
            <c:idx val="1"/>
            <c:invertIfNegative val="0"/>
            <c:bubble3D val="0"/>
            <c:spPr>
              <a:solidFill>
                <a:srgbClr val="202945"/>
              </a:solidFill>
            </c:spPr>
            <c:extLst>
              <c:ext xmlns:c16="http://schemas.microsoft.com/office/drawing/2014/chart" uri="{C3380CC4-5D6E-409C-BE32-E72D297353CC}">
                <c16:uniqueId val="{00000003-9BC4-41CE-A2D6-DB7B98CABE3A}"/>
              </c:ext>
            </c:extLst>
          </c:dPt>
          <c:dPt>
            <c:idx val="2"/>
            <c:invertIfNegative val="0"/>
            <c:bubble3D val="0"/>
            <c:spPr>
              <a:solidFill>
                <a:srgbClr val="FFC545"/>
              </a:solidFill>
            </c:spPr>
            <c:extLst>
              <c:ext xmlns:c16="http://schemas.microsoft.com/office/drawing/2014/chart" uri="{C3380CC4-5D6E-409C-BE32-E72D297353CC}">
                <c16:uniqueId val="{00000005-9BC4-41CE-A2D6-DB7B98CABE3A}"/>
              </c:ext>
            </c:extLst>
          </c:dPt>
          <c:dPt>
            <c:idx val="3"/>
            <c:invertIfNegative val="0"/>
            <c:bubble3D val="0"/>
            <c:spPr>
              <a:solidFill>
                <a:srgbClr val="79D6FF"/>
              </a:solidFill>
            </c:spPr>
            <c:extLst>
              <c:ext xmlns:c16="http://schemas.microsoft.com/office/drawing/2014/chart" uri="{C3380CC4-5D6E-409C-BE32-E72D297353CC}">
                <c16:uniqueId val="{00000007-9BC4-41CE-A2D6-DB7B98CABE3A}"/>
              </c:ext>
            </c:extLst>
          </c:dPt>
          <c:dPt>
            <c:idx val="4"/>
            <c:invertIfNegative val="0"/>
            <c:bubble3D val="0"/>
            <c:spPr>
              <a:solidFill>
                <a:srgbClr val="3BAF90"/>
              </a:solidFill>
            </c:spPr>
            <c:extLst>
              <c:ext xmlns:c16="http://schemas.microsoft.com/office/drawing/2014/chart" uri="{C3380CC4-5D6E-409C-BE32-E72D297353CC}">
                <c16:uniqueId val="{00000009-9BC4-41CE-A2D6-DB7B98CABE3A}"/>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Global</c:v>
                </c:pt>
                <c:pt idx="1">
                  <c:v>Europe DM</c:v>
                </c:pt>
                <c:pt idx="2">
                  <c:v>US</c:v>
                </c:pt>
                <c:pt idx="3">
                  <c:v>MEA EM</c:v>
                </c:pt>
              </c:strCache>
            </c:strRef>
          </c:cat>
          <c:val>
            <c:numRef>
              <c:f>Sheet1!$B$2:$B$5</c:f>
              <c:numCache>
                <c:formatCode>General</c:formatCode>
                <c:ptCount val="4"/>
                <c:pt idx="0">
                  <c:v>0.55616955</c:v>
                </c:pt>
                <c:pt idx="1">
                  <c:v>0.31091342</c:v>
                </c:pt>
                <c:pt idx="2">
                  <c:v>0.12558847</c:v>
                </c:pt>
                <c:pt idx="3">
                  <c:v>0.00732856</c:v>
                </c:pt>
              </c:numCache>
            </c:numRef>
          </c:val>
          <c:extLst>
            <c:ext xmlns:c16="http://schemas.microsoft.com/office/drawing/2014/chart" uri="{C3380CC4-5D6E-409C-BE32-E72D297353CC}">
              <c16:uniqueId val="{0000000A-9BC4-41CE-A2D6-DB7B98CABE3A}"/>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
                </c:pt>
              </c:strCache>
            </c:strRef>
          </c:tx>
          <c:invertIfNegative val="0"/>
          <c:dPt>
            <c:idx val="0"/>
            <c:invertIfNegative val="0"/>
            <c:bubble3D val="0"/>
            <c:spPr>
              <a:solidFill>
                <a:srgbClr val="FF6C0E"/>
              </a:solidFill>
            </c:spPr>
            <c:extLst>
              <c:ext xmlns:c16="http://schemas.microsoft.com/office/drawing/2014/chart" uri="{C3380CC4-5D6E-409C-BE32-E72D297353CC}">
                <c16:uniqueId val="{00000001-8A61-4B6B-AB01-2A584015E766}"/>
              </c:ext>
            </c:extLst>
          </c:dPt>
          <c:dPt>
            <c:idx val="1"/>
            <c:invertIfNegative val="0"/>
            <c:bubble3D val="0"/>
            <c:spPr>
              <a:solidFill>
                <a:srgbClr val="202945"/>
              </a:solidFill>
            </c:spPr>
            <c:extLst>
              <c:ext xmlns:c16="http://schemas.microsoft.com/office/drawing/2014/chart" uri="{C3380CC4-5D6E-409C-BE32-E72D297353CC}">
                <c16:uniqueId val="{00000003-8A61-4B6B-AB01-2A584015E766}"/>
              </c:ext>
            </c:extLst>
          </c:dPt>
          <c:dPt>
            <c:idx val="2"/>
            <c:invertIfNegative val="0"/>
            <c:bubble3D val="0"/>
            <c:spPr>
              <a:solidFill>
                <a:srgbClr val="FFC545"/>
              </a:solidFill>
            </c:spPr>
            <c:extLst>
              <c:ext xmlns:c16="http://schemas.microsoft.com/office/drawing/2014/chart" uri="{C3380CC4-5D6E-409C-BE32-E72D297353CC}">
                <c16:uniqueId val="{00000005-8A61-4B6B-AB01-2A584015E766}"/>
              </c:ext>
            </c:extLst>
          </c:dPt>
          <c:dPt>
            <c:idx val="3"/>
            <c:invertIfNegative val="0"/>
            <c:bubble3D val="0"/>
            <c:spPr>
              <a:solidFill>
                <a:srgbClr val="79D6FF"/>
              </a:solidFill>
            </c:spPr>
            <c:extLst>
              <c:ext xmlns:c16="http://schemas.microsoft.com/office/drawing/2014/chart" uri="{C3380CC4-5D6E-409C-BE32-E72D297353CC}">
                <c16:uniqueId val="{00000007-8A61-4B6B-AB01-2A584015E766}"/>
              </c:ext>
            </c:extLst>
          </c:dPt>
          <c:dPt>
            <c:idx val="4"/>
            <c:invertIfNegative val="0"/>
            <c:bubble3D val="0"/>
            <c:spPr>
              <a:solidFill>
                <a:srgbClr val="3BAF90"/>
              </a:solidFill>
            </c:spPr>
            <c:extLst>
              <c:ext xmlns:c16="http://schemas.microsoft.com/office/drawing/2014/chart" uri="{C3380CC4-5D6E-409C-BE32-E72D297353CC}">
                <c16:uniqueId val="{00000009-8A61-4B6B-AB01-2A584015E766}"/>
              </c:ext>
            </c:extLst>
          </c:dPt>
          <c:dPt>
            <c:idx val="5"/>
            <c:invertIfNegative val="0"/>
            <c:bubble3D val="0"/>
            <c:spPr>
              <a:solidFill>
                <a:srgbClr val="AC5D85"/>
              </a:solidFill>
            </c:spPr>
            <c:extLst>
              <c:ext xmlns:c16="http://schemas.microsoft.com/office/drawing/2014/chart" uri="{C3380CC4-5D6E-409C-BE32-E72D297353CC}">
                <c16:uniqueId val="{0000000B-8A61-4B6B-AB01-2A584015E766}"/>
              </c:ext>
            </c:extLst>
          </c:dPt>
          <c:dPt>
            <c:idx val="6"/>
            <c:invertIfNegative val="0"/>
            <c:bubble3D val="0"/>
            <c:spPr>
              <a:solidFill>
                <a:srgbClr val="FFA400"/>
              </a:solidFill>
            </c:spPr>
            <c:extLst>
              <c:ext xmlns:c16="http://schemas.microsoft.com/office/drawing/2014/chart" uri="{C3380CC4-5D6E-409C-BE32-E72D297353CC}">
                <c16:uniqueId val="{0000000D-8A61-4B6B-AB01-2A584015E766}"/>
              </c:ext>
            </c:extLst>
          </c:dPt>
          <c:dPt>
            <c:idx val="7"/>
            <c:invertIfNegative val="0"/>
            <c:bubble3D val="0"/>
            <c:spPr>
              <a:solidFill>
                <a:srgbClr val="4B5F80"/>
              </a:solidFill>
            </c:spPr>
            <c:extLst>
              <c:ext xmlns:c16="http://schemas.microsoft.com/office/drawing/2014/chart" uri="{C3380CC4-5D6E-409C-BE32-E72D297353CC}">
                <c16:uniqueId val="{0000000F-8A61-4B6B-AB01-2A584015E766}"/>
              </c:ext>
            </c:extLst>
          </c:dPt>
          <c:dLbls>
            <c:numFmt formatCode="0%" sourceLinked="0"/>
            <c:spPr>
              <a:noFill/>
              <a:ln>
                <a:noFill/>
              </a:ln>
              <a:effectLst/>
            </c:spPr>
            <c:txPr>
              <a:bodyPr/>
              <a:lstStyle/>
              <a:p>
                <a:pPr>
                  <a:defRPr sz="900"/>
                </a:pPr>
                <a:endParaRPr lang="en-CH"/>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Not available</c:v>
                </c:pt>
              </c:strCache>
            </c:strRef>
          </c:cat>
          <c:val>
            <c:numRef>
              <c:f>Sheet1!$B$2:$B$2</c:f>
              <c:numCache>
                <c:formatCode>General</c:formatCode>
                <c:ptCount val="1"/>
                <c:pt idx="0">
                  <c:v>1.0</c:v>
                </c:pt>
              </c:numCache>
            </c:numRef>
          </c:val>
          <c:extLst>
            <c:ext xmlns:c16="http://schemas.microsoft.com/office/drawing/2014/chart" uri="{C3380CC4-5D6E-409C-BE32-E72D297353CC}">
              <c16:uniqueId val="{00000010-8A61-4B6B-AB01-2A584015E766}"/>
            </c:ext>
          </c:extLst>
        </c:ser>
        <c:dLbls>
          <c:dLblPos val="outEnd"/>
          <c:showLegendKey val="0"/>
          <c:showVal val="1"/>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200"/>
            </a:pPr>
            <a:endParaRPr lang="en-CH"/>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300">
          <a:solidFill>
            <a:srgbClr val="202945"/>
          </a:solidFill>
          <a:latin typeface="Nunito Sans"/>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7E78-4776-BAC0-45DF06E8E22D}"/>
              </c:ext>
            </c:extLst>
          </c:dPt>
          <c:dPt>
            <c:idx val="1"/>
            <c:bubble3D val="0"/>
            <c:spPr>
              <a:solidFill>
                <a:srgbClr val="FFC545"/>
              </a:solidFill>
            </c:spPr>
            <c:extLst>
              <c:ext xmlns:c16="http://schemas.microsoft.com/office/drawing/2014/chart" uri="{C3380CC4-5D6E-409C-BE32-E72D297353CC}">
                <c16:uniqueId val="{00000003-7E78-4776-BAC0-45DF06E8E22D}"/>
              </c:ext>
            </c:extLst>
          </c:dPt>
          <c:dPt>
            <c:idx val="2"/>
            <c:bubble3D val="0"/>
            <c:spPr>
              <a:solidFill>
                <a:srgbClr val="79D6FF"/>
              </a:solidFill>
            </c:spPr>
            <c:extLst>
              <c:ext xmlns:c16="http://schemas.microsoft.com/office/drawing/2014/chart" uri="{C3380CC4-5D6E-409C-BE32-E72D297353CC}">
                <c16:uniqueId val="{00000005-7E78-4776-BAC0-45DF06E8E22D}"/>
              </c:ext>
            </c:extLst>
          </c:dPt>
          <c:cat>
            <c:strRef>
              <c:f>Sheet1!$A$2:$A$4</c:f>
              <c:strCache>
                <c:ptCount val="3"/>
                <c:pt idx="0">
                  <c:v>Direct line  58%</c:v>
                </c:pt>
                <c:pt idx="1">
                  <c:v>Fund  23%</c:v>
                </c:pt>
                <c:pt idx="2">
                  <c:v>Structured / AMC  19%</c:v>
                </c:pt>
              </c:strCache>
            </c:strRef>
          </c:cat>
          <c:val>
            <c:numRef>
              <c:f>Sheet1!$B$2:$B$4</c:f>
              <c:numCache>
                <c:formatCode>General</c:formatCode>
                <c:ptCount val="3"/>
                <c:pt idx="0">
                  <c:v>0.5785216900000001</c:v>
                </c:pt>
                <c:pt idx="1">
                  <c:v>0.22766681</c:v>
                </c:pt>
                <c:pt idx="2">
                  <c:v>0.19381150000000003</c:v>
                </c:pt>
              </c:numCache>
            </c:numRef>
          </c:val>
          <c:extLst>
            <c:ext xmlns:c16="http://schemas.microsoft.com/office/drawing/2014/chart" uri="{C3380CC4-5D6E-409C-BE32-E72D297353CC}">
              <c16:uniqueId val="{00000006-7E78-4776-BAC0-45DF06E8E22D}"/>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4D04-4F23-9F99-238125506A13}"/>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4D04-4F23-9F99-238125506A13}"/>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4D04-4F23-9F99-238125506A13}"/>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4D04-4F23-9F99-238125506A13}"/>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4D04-4F23-9F99-238125506A13}"/>
              </c:ext>
            </c:extLst>
          </c:dPt>
          <c:dPt>
            <c:idx val="5"/>
            <c:bubble3D val="0"/>
            <c:spPr>
              <a:solidFill>
                <a:srgbClr val="9BA3B4"/>
              </a:solidFill>
              <a:ln w="9525" cap="flat">
                <a:noFill/>
                <a:prstDash val="solid"/>
                <a:round/>
              </a:ln>
              <a:effectLst/>
            </c:spPr>
            <c:extLst>
              <c:ext xmlns:c16="http://schemas.microsoft.com/office/drawing/2014/chart" uri="{C3380CC4-5D6E-409C-BE32-E72D297353CC}">
                <c16:uniqueId val="{0000000B-4D04-4F23-9F99-238125506A13}"/>
              </c:ext>
            </c:extLst>
          </c:dPt>
          <c:cat>
            <c:strRef>
              <c:f>Sheet1!$A$2:$A$8</c:f>
              <c:strCache>
                <c:ptCount val="7"/>
                <c:pt idx="0">
                  <c:v>United States   14.3%</c:v>
                </c:pt>
                <c:pt idx="1">
                  <c:v>France   14.3%</c:v>
                </c:pt>
                <c:pt idx="2">
                  <c:v>Luxembourg   14.3%</c:v>
                </c:pt>
                <c:pt idx="3">
                  <c:v>Ireland   14.3%</c:v>
                </c:pt>
                <c:pt idx="4">
                  <c:v>Japan   14.3%</c:v>
                </c:pt>
                <c:pt idx="5">
                  <c:v>United Kingdom   14.3%</c:v>
                </c:pt>
                <c:pt idx="6">
                  <c:v>Unknown   14.3%</c:v>
                </c:pt>
              </c:strCache>
            </c:strRef>
          </c:cat>
          <c:val>
            <c:numRef>
              <c:f>Sheet1!$B$2:$B$8</c:f>
              <c:numCache>
                <c:formatCode>General</c:formatCode>
                <c:ptCount val="7"/>
                <c:pt idx="0">
                  <c:v>0.142857</c:v>
                </c:pt>
                <c:pt idx="1">
                  <c:v>0.142857</c:v>
                </c:pt>
                <c:pt idx="2">
                  <c:v>0.142857</c:v>
                </c:pt>
                <c:pt idx="3">
                  <c:v>0.142857</c:v>
                </c:pt>
                <c:pt idx="4">
                  <c:v>0.142857</c:v>
                </c:pt>
                <c:pt idx="5">
                  <c:v>0.142857</c:v>
                </c:pt>
                <c:pt idx="6">
                  <c:v>0.142857</c:v>
                </c:pt>
              </c:numCache>
            </c:numRef>
          </c:val>
          <c:extLst>
            <c:ext xmlns:c16="http://schemas.microsoft.com/office/drawing/2014/chart" uri="{C3380CC4-5D6E-409C-BE32-E72D297353CC}">
              <c16:uniqueId val="{0000000C-4D04-4F23-9F99-238125506A13}"/>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8B3-44D7-964B-8347C60FDD09}"/>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8B3-44D7-964B-8347C60FDD09}"/>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8B3-44D7-964B-8347C60FDD09}"/>
              </c:ext>
            </c:extLst>
          </c:dPt>
          <c:cat>
            <c:strRef>
              <c:f>Sheet1!$A$2:$A$3</c:f>
              <c:strCache>
                <c:ptCount val="2"/>
                <c:pt idx="0">
                  <c:v>EUR   85.7%</c:v>
                </c:pt>
                <c:pt idx="1">
                  <c:v>Unknown   14.3%</c:v>
                </c:pt>
              </c:strCache>
            </c:strRef>
          </c:cat>
          <c:val>
            <c:numRef>
              <c:f>Sheet1!$B$2:$B$3</c:f>
              <c:numCache>
                <c:formatCode>General</c:formatCode>
                <c:ptCount val="2"/>
                <c:pt idx="0">
                  <c:v>0.857143</c:v>
                </c:pt>
                <c:pt idx="1">
                  <c:v>0.142857</c:v>
                </c:pt>
              </c:numCache>
            </c:numRef>
          </c:val>
          <c:extLst>
            <c:ext xmlns:c16="http://schemas.microsoft.com/office/drawing/2014/chart" uri="{C3380CC4-5D6E-409C-BE32-E72D297353CC}">
              <c16:uniqueId val="{00000006-B8B3-44D7-964B-8347C60FDD09}"/>
            </c:ext>
          </c:extLst>
        </c:ser>
        <c:dLbls>
          <c:showLegendKey val="0"/>
          <c:showVal val="0"/>
          <c:showCatName val="0"/>
          <c:showSerName val="0"/>
          <c:showPercent val="0"/>
          <c:showBubbleSize val="0"/>
          <c:showLeaderLines val="0"/>
        </c:dLbls>
        <c:firstSliceAng val="0"/>
        <c:holeSize val="62"/>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FF6C0E"/>
              </a:solidFill>
              <a:ln w="9525" cap="flat">
                <a:solidFill>
                  <a:srgbClr val="FAFAFB"/>
                </a:solidFill>
                <a:prstDash val="solid"/>
                <a:round/>
              </a:ln>
              <a:effectLst/>
            </c:spPr>
            <c:extLst>
              <c:ext xmlns:c16="http://schemas.microsoft.com/office/drawing/2014/chart" uri="{C3380CC4-5D6E-409C-BE32-E72D297353CC}">
                <c16:uniqueId val="{00000001-F801-48E9-B837-D9C81C3857EA}"/>
              </c:ext>
            </c:extLst>
          </c:dPt>
          <c:dPt>
            <c:idx val="1"/>
            <c:bubble3D val="0"/>
            <c:spPr>
              <a:solidFill>
                <a:srgbClr val="FFC545"/>
              </a:solidFill>
              <a:ln w="9525" cap="flat">
                <a:solidFill>
                  <a:srgbClr val="FAFAFB"/>
                </a:solidFill>
                <a:prstDash val="solid"/>
                <a:round/>
              </a:ln>
              <a:effectLst/>
            </c:spPr>
            <c:extLst>
              <c:ext xmlns:c16="http://schemas.microsoft.com/office/drawing/2014/chart" uri="{C3380CC4-5D6E-409C-BE32-E72D297353CC}">
                <c16:uniqueId val="{00000003-F801-48E9-B837-D9C81C3857EA}"/>
              </c:ext>
            </c:extLst>
          </c:dPt>
          <c:dPt>
            <c:idx val="2"/>
            <c:bubble3D val="0"/>
            <c:spPr>
              <a:solidFill>
                <a:srgbClr val="79D6FF"/>
              </a:solidFill>
              <a:ln w="9525" cap="flat">
                <a:solidFill>
                  <a:srgbClr val="FAFAFB"/>
                </a:solidFill>
                <a:prstDash val="solid"/>
                <a:round/>
              </a:ln>
              <a:effectLst/>
            </c:spPr>
            <c:extLst>
              <c:ext xmlns:c16="http://schemas.microsoft.com/office/drawing/2014/chart" uri="{C3380CC4-5D6E-409C-BE32-E72D297353CC}">
                <c16:uniqueId val="{00000005-F801-48E9-B837-D9C81C3857EA}"/>
              </c:ext>
            </c:extLst>
          </c:dPt>
          <c:cat>
            <c:strRef>
              <c:f>Sheet1!$A$2:$A$5</c:f>
              <c:strCache>
                <c:ptCount val="4"/>
                <c:pt idx="0">
                  <c:v>3 - 5 years   57.1%</c:v>
                </c:pt>
                <c:pt idx="1">
                  <c:v>5 - 7 years   14.3%</c:v>
                </c:pt>
                <c:pt idx="2">
                  <c:v>0 - 3 years   14.3%</c:v>
                </c:pt>
                <c:pt idx="3">
                  <c:v>Unknown   14.3%</c:v>
                </c:pt>
              </c:strCache>
            </c:strRef>
          </c:cat>
          <c:val>
            <c:numRef>
              <c:f>Sheet1!$B$2:$B$5</c:f>
              <c:numCache>
                <c:formatCode>General</c:formatCode>
                <c:ptCount val="4"/>
                <c:pt idx="0">
                  <c:v>0.571429</c:v>
                </c:pt>
                <c:pt idx="1">
                  <c:v>0.142857</c:v>
                </c:pt>
                <c:pt idx="2">
                  <c:v>0.142857</c:v>
                </c:pt>
                <c:pt idx="3">
                  <c:v>0.142857</c:v>
                </c:pt>
              </c:numCache>
            </c:numRef>
          </c:val>
          <c:extLst>
            <c:ext xmlns:c16="http://schemas.microsoft.com/office/drawing/2014/chart" uri="{C3380CC4-5D6E-409C-BE32-E72D297353CC}">
              <c16:uniqueId val="{00000006-F801-48E9-B837-D9C81C3857EA}"/>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D28A-4F7B-AAC0-EB5D8BC7AD46}"/>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D28A-4F7B-AAC0-EB5D8BC7AD46}"/>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D28A-4F7B-AAC0-EB5D8BC7AD46}"/>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D28A-4F7B-AAC0-EB5D8BC7AD46}"/>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D28A-4F7B-AAC0-EB5D8BC7AD46}"/>
              </c:ext>
            </c:extLst>
          </c:dPt>
          <c:cat>
            <c:strRef>
              <c:f>Sheet1!$A$2:$A$7</c:f>
              <c:strCache>
                <c:ptCount val="6"/>
                <c:pt idx="0">
                  <c:v>BBB+   28.6%</c:v>
                </c:pt>
                <c:pt idx="1">
                  <c:v>A-   14.3%</c:v>
                </c:pt>
                <c:pt idx="2">
                  <c:v>A+   14.3%</c:v>
                </c:pt>
                <c:pt idx="3">
                  <c:v>BBB   14.3%</c:v>
                </c:pt>
                <c:pt idx="4">
                  <c:v>BB+   14.3%</c:v>
                </c:pt>
                <c:pt idx="5">
                  <c:v>Unknown   14.3%</c:v>
                </c:pt>
              </c:strCache>
            </c:strRef>
          </c:cat>
          <c:val>
            <c:numRef>
              <c:f>Sheet1!$B$2:$B$7</c:f>
              <c:numCache>
                <c:formatCode>General</c:formatCode>
                <c:ptCount val="6"/>
                <c:pt idx="0">
                  <c:v>0.285714</c:v>
                </c:pt>
                <c:pt idx="1">
                  <c:v>0.142857</c:v>
                </c:pt>
                <c:pt idx="2">
                  <c:v>0.142857</c:v>
                </c:pt>
                <c:pt idx="3">
                  <c:v>0.142857</c:v>
                </c:pt>
                <c:pt idx="4">
                  <c:v>0.142857</c:v>
                </c:pt>
                <c:pt idx="5">
                  <c:v>0.142857</c:v>
                </c:pt>
              </c:numCache>
            </c:numRef>
          </c:val>
          <c:extLst>
            <c:ext xmlns:c16="http://schemas.microsoft.com/office/drawing/2014/chart" uri="{C3380CC4-5D6E-409C-BE32-E72D297353CC}">
              <c16:uniqueId val="{0000000A-D28A-4F7B-AAC0-EB5D8BC7AD46}"/>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4C58-46F0-85EB-19DB55FECB80}"/>
              </c:ext>
            </c:extLst>
          </c:dPt>
          <c:dPt>
            <c:idx val="1"/>
            <c:bubble3D val="0"/>
            <c:spPr>
              <a:solidFill>
                <a:srgbClr val="FFC545"/>
              </a:solidFill>
            </c:spPr>
            <c:extLst>
              <c:ext xmlns:c16="http://schemas.microsoft.com/office/drawing/2014/chart" uri="{C3380CC4-5D6E-409C-BE32-E72D297353CC}">
                <c16:uniqueId val="{00000003-4C58-46F0-85EB-19DB55FECB80}"/>
              </c:ext>
            </c:extLst>
          </c:dPt>
          <c:cat>
            <c:strRef>
              <c:f>Sheet1!$A$2:$A$3</c:f>
              <c:strCache>
                <c:ptCount val="2"/>
                <c:pt idx="0">
                  <c:v>Fund  94%</c:v>
                </c:pt>
                <c:pt idx="1">
                  <c:v>Direct line  6%</c:v>
                </c:pt>
              </c:strCache>
            </c:strRef>
          </c:cat>
          <c:val>
            <c:numRef>
              <c:f>Sheet1!$B$2:$B$3</c:f>
              <c:numCache>
                <c:formatCode>General</c:formatCode>
                <c:ptCount val="2"/>
                <c:pt idx="0">
                  <c:v>0.9394714500000001</c:v>
                </c:pt>
                <c:pt idx="1">
                  <c:v>0.06052855</c:v>
                </c:pt>
              </c:numCache>
            </c:numRef>
          </c:val>
          <c:extLst>
            <c:ext xmlns:c16="http://schemas.microsoft.com/office/drawing/2014/chart" uri="{C3380CC4-5D6E-409C-BE32-E72D297353CC}">
              <c16:uniqueId val="{00000004-4C58-46F0-85EB-19DB55FECB80}"/>
            </c:ext>
          </c:extLst>
        </c:ser>
        <c:dLbls>
          <c:showLegendKey val="0"/>
          <c:showVal val="0"/>
          <c:showCatName val="0"/>
          <c:showSerName val="0"/>
          <c:showPercent val="0"/>
          <c:showBubbleSize val="0"/>
          <c:showLeaderLines val="1"/>
        </c:dLbls>
        <c:firstSliceAng val="0"/>
        <c:holeSize val="70"/>
      </c:doughnutChart>
    </c:plotArea>
    <c:legend>
      <c:legendPos val="r"/>
      <c:overlay val="0"/>
      <c:txPr>
        <a:bodyPr/>
        <a:lstStyle/>
        <a:p>
          <a:pPr>
            <a:defRPr sz="13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7858-40CB-B006-9C099370F2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7858-40CB-B006-9C099370F2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7858-40CB-B006-9C099370F25F}"/>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7858-40CB-B006-9C099370F25F}"/>
              </c:ext>
            </c:extLst>
          </c:dPt>
          <c:dPt>
            <c:idx val="4"/>
            <c:bubble3D val="0"/>
            <c:spPr>
              <a:solidFill>
                <a:srgbClr val="3BAF90"/>
              </a:solidFill>
              <a:ln w="9525" cap="flat">
                <a:noFill/>
                <a:prstDash val="solid"/>
                <a:round/>
              </a:ln>
              <a:effectLst/>
            </c:spPr>
            <c:extLst>
              <c:ext xmlns:c16="http://schemas.microsoft.com/office/drawing/2014/chart" uri="{C3380CC4-5D6E-409C-BE32-E72D297353CC}">
                <c16:uniqueId val="{00000009-7858-40CB-B006-9C099370F25F}"/>
              </c:ext>
            </c:extLst>
          </c:dPt>
          <c:cat>
            <c:strRef>
              <c:f>Sheet1!$A$2:$A$6</c:f>
              <c:strCache>
                <c:ptCount val="5"/>
                <c:pt idx="0">
                  <c:v>Global / thematic   43.6%</c:v>
                </c:pt>
                <c:pt idx="1">
                  <c:v>Eurozone   26.5%</c:v>
                </c:pt>
                <c:pt idx="2">
                  <c:v>Switzerland   19.0%</c:v>
                </c:pt>
                <c:pt idx="3">
                  <c:v>UK   6.0%</c:v>
                </c:pt>
                <c:pt idx="4">
                  <c:v>US   4.9%</c:v>
                </c:pt>
              </c:strCache>
            </c:strRef>
          </c:cat>
          <c:val>
            <c:numRef>
              <c:f>Sheet1!$B$2:$B$6</c:f>
              <c:numCache>
                <c:formatCode>General</c:formatCode>
                <c:ptCount val="5"/>
                <c:pt idx="0">
                  <c:v>0.43587864000000004</c:v>
                </c:pt>
                <c:pt idx="1">
                  <c:v>0.26544267</c:v>
                </c:pt>
                <c:pt idx="2">
                  <c:v>0.18984689</c:v>
                </c:pt>
                <c:pt idx="3">
                  <c:v>0.05989882</c:v>
                </c:pt>
                <c:pt idx="4">
                  <c:v>0.048932989999999996</c:v>
                </c:pt>
              </c:numCache>
            </c:numRef>
          </c:val>
          <c:extLst>
            <c:ext xmlns:c16="http://schemas.microsoft.com/office/drawing/2014/chart" uri="{C3380CC4-5D6E-409C-BE32-E72D297353CC}">
              <c16:uniqueId val="{0000000A-7858-40CB-B006-9C099370F25F}"/>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EBB8-42C2-89E7-A36B30CA2114}"/>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EBB8-42C2-89E7-A36B30CA2114}"/>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EBB8-42C2-89E7-A36B30CA2114}"/>
              </c:ext>
            </c:extLst>
          </c:dPt>
          <c:dPt>
            <c:idx val="3"/>
            <c:bubble3D val="0"/>
            <c:spPr>
              <a:solidFill>
                <a:srgbClr val="202945"/>
              </a:solidFill>
              <a:ln w="9525" cap="flat">
                <a:noFill/>
                <a:prstDash val="solid"/>
                <a:round/>
              </a:ln>
              <a:effectLst/>
            </c:spPr>
            <c:extLst>
              <c:ext xmlns:c16="http://schemas.microsoft.com/office/drawing/2014/chart" uri="{C3380CC4-5D6E-409C-BE32-E72D297353CC}">
                <c16:uniqueId val="{00000007-EBB8-42C2-89E7-A36B30CA2114}"/>
              </c:ext>
            </c:extLst>
          </c:dPt>
          <c:dPt>
            <c:idx val="4"/>
            <c:bubble3D val="0"/>
            <c:spPr>
              <a:solidFill>
                <a:srgbClr val="9BA3B4"/>
              </a:solidFill>
              <a:ln w="9525" cap="flat">
                <a:noFill/>
                <a:prstDash val="solid"/>
                <a:round/>
              </a:ln>
              <a:effectLst/>
            </c:spPr>
            <c:extLst>
              <c:ext xmlns:c16="http://schemas.microsoft.com/office/drawing/2014/chart" uri="{C3380CC4-5D6E-409C-BE32-E72D297353CC}">
                <c16:uniqueId val="{00000009-EBB8-42C2-89E7-A36B30CA2114}"/>
              </c:ext>
            </c:extLst>
          </c:dPt>
          <c:cat>
            <c:strRef>
              <c:f>Sheet1!$A$2:$A$2</c:f>
              <c:strCache>
                <c:ptCount val="1"/>
                <c:pt idx="0">
                  <c:v>Not available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A-EBB8-42C2-89E7-A36B30CA2114}"/>
            </c:ext>
          </c:extLst>
        </c:ser>
        <c:dLbls>
          <c:showLegendKey val="0"/>
          <c:showVal val="0"/>
          <c:showCatName val="0"/>
          <c:showSerName val="0"/>
          <c:showPercent val="0"/>
          <c:showBubbleSize val="0"/>
          <c:showLeaderLines val="0"/>
        </c:dLbls>
        <c:firstSliceAng val="0"/>
        <c:holeSize val="7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
                </c:pt>
              </c:strCache>
            </c:strRef>
          </c:tx>
          <c:spPr>
            <a:solidFill>
              <a:schemeClr val="accent1"/>
            </a:solidFill>
            <a:ln w="9525" cap="flat">
              <a:noFill/>
              <a:prstDash val="solid"/>
              <a:round/>
            </a:ln>
            <a:effectLst/>
          </c:spPr>
          <c:dPt>
            <c:idx val="0"/>
            <c:bubble3D val="0"/>
            <c:spPr>
              <a:solidFill>
                <a:srgbClr val="FF6C0E"/>
              </a:solidFill>
              <a:ln w="9525" cap="flat">
                <a:noFill/>
                <a:prstDash val="solid"/>
                <a:round/>
              </a:ln>
              <a:effectLst/>
            </c:spPr>
            <c:extLst>
              <c:ext xmlns:c16="http://schemas.microsoft.com/office/drawing/2014/chart" uri="{C3380CC4-5D6E-409C-BE32-E72D297353CC}">
                <c16:uniqueId val="{00000001-BB36-45C4-B629-418875BB245F}"/>
              </c:ext>
            </c:extLst>
          </c:dPt>
          <c:dPt>
            <c:idx val="1"/>
            <c:bubble3D val="0"/>
            <c:spPr>
              <a:solidFill>
                <a:srgbClr val="FFC545"/>
              </a:solidFill>
              <a:ln w="9525" cap="flat">
                <a:noFill/>
                <a:prstDash val="solid"/>
                <a:round/>
              </a:ln>
              <a:effectLst/>
            </c:spPr>
            <c:extLst>
              <c:ext xmlns:c16="http://schemas.microsoft.com/office/drawing/2014/chart" uri="{C3380CC4-5D6E-409C-BE32-E72D297353CC}">
                <c16:uniqueId val="{00000003-BB36-45C4-B629-418875BB245F}"/>
              </c:ext>
            </c:extLst>
          </c:dPt>
          <c:dPt>
            <c:idx val="2"/>
            <c:bubble3D val="0"/>
            <c:spPr>
              <a:solidFill>
                <a:srgbClr val="79D6FF"/>
              </a:solidFill>
              <a:ln w="9525" cap="flat">
                <a:noFill/>
                <a:prstDash val="solid"/>
                <a:round/>
              </a:ln>
              <a:effectLst/>
            </c:spPr>
            <c:extLst>
              <c:ext xmlns:c16="http://schemas.microsoft.com/office/drawing/2014/chart" uri="{C3380CC4-5D6E-409C-BE32-E72D297353CC}">
                <c16:uniqueId val="{00000005-BB36-45C4-B629-418875BB245F}"/>
              </c:ext>
            </c:extLst>
          </c:dPt>
          <c:cat>
            <c:strRef>
              <c:f>Sheet1!$A$2:$A$2</c:f>
              <c:strCache>
                <c:ptCount val="1"/>
                <c:pt idx="0">
                  <c:v>Not available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6-BB36-45C4-B629-418875BB245F}"/>
            </c:ext>
          </c:extLst>
        </c:ser>
        <c:dLbls>
          <c:showLegendKey val="0"/>
          <c:showVal val="0"/>
          <c:showCatName val="0"/>
          <c:showSerName val="0"/>
          <c:showPercent val="0"/>
          <c:showBubbleSize val="0"/>
          <c:showLeaderLines val="0"/>
        </c:dLbls>
        <c:firstSliceAng val="0"/>
        <c:holeSize val="70"/>
      </c:doughnutChart>
      <c:spPr>
        <a:solidFill>
          <a:schemeClr val="bg1"/>
        </a:solid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Fund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AED1-461B-9628-3BCC513998CA}"/>
              </c:ext>
            </c:extLst>
          </c:dPt>
          <c:cat>
            <c:strRef>
              <c:f>Sheet1!$A$2:$A$2</c:f>
              <c:strCache>
                <c:ptCount val="1"/>
                <c:pt idx="0">
                  <c:v>Fund  100%</c:v>
                </c:pt>
              </c:strCache>
            </c:strRef>
          </c:cat>
          <c:val>
            <c:numRef>
              <c:f>Sheet1!$B$2:$B$2</c:f>
              <c:numCache>
                <c:formatCode>General</c:formatCode>
                <c:ptCount val="1"/>
                <c:pt idx="0">
                  <c:v>1.0</c:v>
                </c:pt>
              </c:numCache>
            </c:numRef>
          </c:val>
          <c:extLst>
            <c:ext xmlns:c16="http://schemas.microsoft.com/office/drawing/2014/chart" uri="{C3380CC4-5D6E-409C-BE32-E72D297353CC}">
              <c16:uniqueId val="{00000002-AED1-461B-9628-3BCC513998CA}"/>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4"/>
          <c:w val="0.56000000000000005"/>
          <c:h val="0.92"/>
        </c:manualLayout>
      </c:layout>
      <c:doughnutChart>
        <c:varyColors val="1"/>
        <c:ser>
          <c:idx val="0"/>
          <c:order val="0"/>
          <c:tx>
            <c:strRef>
              <c:f>Sheet1!$B$1</c:f>
              <c:strCache>
                <c:ptCount val="1"/>
                <c:pt idx="0">
                  <c:v/>
                </c:pt>
              </c:strCache>
            </c:strRef>
          </c:tx>
          <c:dPt>
            <c:idx val="0"/>
            <c:bubble3D val="0"/>
            <c:spPr>
              <a:solidFill>
                <a:srgbClr val="FF6C0E"/>
              </a:solidFill>
            </c:spPr>
            <c:extLst>
              <c:ext xmlns:c16="http://schemas.microsoft.com/office/drawing/2014/chart" uri="{C3380CC4-5D6E-409C-BE32-E72D297353CC}">
                <c16:uniqueId val="{00000001-8EC8-4112-B258-3651A3B751D3}"/>
              </c:ext>
            </c:extLst>
          </c:dPt>
          <c:dPt>
            <c:idx val="1"/>
            <c:bubble3D val="0"/>
            <c:spPr>
              <a:solidFill>
                <a:srgbClr val="FFC545"/>
              </a:solidFill>
            </c:spPr>
            <c:extLst>
              <c:ext xmlns:c16="http://schemas.microsoft.com/office/drawing/2014/chart" uri="{C3380CC4-5D6E-409C-BE32-E72D297353CC}">
                <c16:uniqueId val="{00000003-8EC8-4112-B258-3651A3B751D3}"/>
              </c:ext>
            </c:extLst>
          </c:dPt>
          <c:dPt>
            <c:idx val="2"/>
            <c:bubble3D val="0"/>
            <c:spPr>
              <a:solidFill>
                <a:srgbClr val="79D6FF"/>
              </a:solidFill>
            </c:spPr>
            <c:extLst>
              <c:ext xmlns:c16="http://schemas.microsoft.com/office/drawing/2014/chart" uri="{C3380CC4-5D6E-409C-BE32-E72D297353CC}">
                <c16:uniqueId val="{00000005-8EC8-4112-B258-3651A3B751D3}"/>
              </c:ext>
            </c:extLst>
          </c:dPt>
          <c:cat>
            <c:strRef>
              <c:f>Sheet1!$A$2:$A$4</c:f>
              <c:strCache>
                <c:ptCount val="3"/>
                <c:pt idx="0">
                  <c:v>Daily-liquid fund  65%</c:v>
                </c:pt>
                <c:pt idx="1">
                  <c:v>Listed  19%</c:v>
                </c:pt>
                <c:pt idx="2">
                  <c:v>Illiquid (lock-up)  16%</c:v>
                </c:pt>
              </c:strCache>
            </c:strRef>
          </c:cat>
          <c:val>
            <c:numRef>
              <c:f>Sheet1!$B$2:$B$4</c:f>
              <c:numCache>
                <c:formatCode>General</c:formatCode>
                <c:ptCount val="3"/>
                <c:pt idx="0">
                  <c:v>0.6453719</c:v>
                </c:pt>
                <c:pt idx="1">
                  <c:v>0.19192499999999998</c:v>
                </c:pt>
                <c:pt idx="2">
                  <c:v>0.1627031</c:v>
                </c:pt>
              </c:numCache>
            </c:numRef>
          </c:val>
          <c:extLst>
            <c:ext xmlns:c16="http://schemas.microsoft.com/office/drawing/2014/chart" uri="{C3380CC4-5D6E-409C-BE32-E72D297353CC}">
              <c16:uniqueId val="{00000006-8EC8-4112-B258-3651A3B751D3}"/>
            </c:ext>
          </c:extLst>
        </c:ser>
        <c:dLbls>
          <c:showLegendKey val="0"/>
          <c:showVal val="0"/>
          <c:showCatName val="0"/>
          <c:showSerName val="0"/>
          <c:showPercent val="0"/>
          <c:showBubbleSize val="0"/>
          <c:showLeaderLines val="1"/>
        </c:dLbls>
        <c:firstSliceAng val="0"/>
        <c:holeSize val="70"/>
      </c:doughnutChart>
    </c:plotArea>
    <c:legend>
      <c:legendPos val="r"/>
      <c:legendEntry>
        <c:idx val="0"/>
        <c:txPr>
          <a:bodyPr/>
          <a:lstStyle/>
          <a:p>
            <a:pPr>
              <a:defRPr sz="1200"/>
            </a:pPr>
            <a:endParaRPr lang="en-CH"/>
          </a:p>
        </c:txPr>
      </c:legendEntry>
      <c:legendEntry>
        <c:idx val="1"/>
        <c:txPr>
          <a:bodyPr/>
          <a:lstStyle/>
          <a:p>
            <a:pPr>
              <a:defRPr sz="1200"/>
            </a:pPr>
            <a:endParaRPr lang="en-CH"/>
          </a:p>
        </c:txPr>
      </c:legendEntry>
      <c:legendEntry>
        <c:idx val="2"/>
        <c:txPr>
          <a:bodyPr/>
          <a:lstStyle/>
          <a:p>
            <a:pPr>
              <a:defRPr sz="1200"/>
            </a:pPr>
            <a:endParaRPr lang="en-CH"/>
          </a:p>
        </c:txPr>
      </c:legendEntry>
      <c:overlay val="0"/>
      <c:txPr>
        <a:bodyPr/>
        <a:lstStyle/>
        <a:p>
          <a:pPr>
            <a:defRPr sz="1200"/>
          </a:pPr>
          <a:endParaRPr lang="en-CH"/>
        </a:p>
      </c:txPr>
    </c:legend>
    <c:plotVisOnly val="1"/>
    <c:dispBlanksAs val="gap"/>
    <c:showDLblsOverMax val="0"/>
  </c:chart>
  <c:txPr>
    <a:bodyPr/>
    <a:lstStyle/>
    <a:p>
      <a:pPr>
        <a:defRPr sz="1300">
          <a:solidFill>
            <a:srgbClr val="202945"/>
          </a:solidFill>
          <a:latin typeface="Nunito Sans"/>
        </a:defRPr>
      </a:pPr>
      <a:endParaRPr lang="en-CH"/>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9FB62C-34C7-C950-6EDA-37D4080E2E27}"/>
              </a:ext>
            </a:extLst>
          </p:cNvPr>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CH"/>
          </a:p>
        </p:txBody>
      </p:sp>
      <p:sp>
        <p:nvSpPr>
          <p:cNvPr id="3" name="Date Placeholder 2">
            <a:extLst>
              <a:ext uri="{FF2B5EF4-FFF2-40B4-BE49-F238E27FC236}">
                <a16:creationId xmlns:a16="http://schemas.microsoft.com/office/drawing/2014/main" id="{F81EFBB5-D2A0-3F2F-F8A6-3BE73464E49A}"/>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3531B123-D5C2-46AB-84D1-B3439C6E55E4}" type="datetimeFigureOut">
              <a:rPr lang="fr-CH" smtClean="0"/>
              <a:t>17.08.2026</a:t>
            </a:fld>
            <a:endParaRPr lang="fr-CH"/>
          </a:p>
        </p:txBody>
      </p:sp>
      <p:sp>
        <p:nvSpPr>
          <p:cNvPr id="4" name="Footer Placeholder 3">
            <a:extLst>
              <a:ext uri="{FF2B5EF4-FFF2-40B4-BE49-F238E27FC236}">
                <a16:creationId xmlns:a16="http://schemas.microsoft.com/office/drawing/2014/main" id="{B96C4A39-9384-3942-F077-81E7BB567B49}"/>
              </a:ext>
            </a:extLst>
          </p:cNvPr>
          <p:cNvSpPr>
            <a:spLocks noGrp="1"/>
          </p:cNvSpPr>
          <p:nvPr>
            <p:ph type="ftr" sz="quarter" idx="2"/>
          </p:nvPr>
        </p:nvSpPr>
        <p:spPr>
          <a:xfrm>
            <a:off x="1" y="9428585"/>
            <a:ext cx="2945659" cy="498055"/>
          </a:xfrm>
          <a:prstGeom prst="rect">
            <a:avLst/>
          </a:prstGeom>
        </p:spPr>
        <p:txBody>
          <a:bodyPr vert="horz" lIns="91440" tIns="45720" rIns="91440" bIns="45720" rtlCol="0" anchor="b"/>
          <a:lstStyle>
            <a:lvl1pPr algn="l">
              <a:defRPr sz="1200"/>
            </a:lvl1pPr>
          </a:lstStyle>
          <a:p>
            <a:endParaRPr lang="fr-CH"/>
          </a:p>
        </p:txBody>
      </p:sp>
      <p:sp>
        <p:nvSpPr>
          <p:cNvPr id="5" name="Slide Number Placeholder 4">
            <a:extLst>
              <a:ext uri="{FF2B5EF4-FFF2-40B4-BE49-F238E27FC236}">
                <a16:creationId xmlns:a16="http://schemas.microsoft.com/office/drawing/2014/main" id="{86DE8807-C32A-5172-B001-63D1D854AC46}"/>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963FD519-F66F-452D-B925-0199049DD93F}" type="slidenum">
              <a:rPr lang="fr-CH" smtClean="0"/>
              <a:t>‹#›</a:t>
            </a:fld>
            <a:endParaRPr lang="fr-CH"/>
          </a:p>
        </p:txBody>
      </p:sp>
    </p:spTree>
    <p:extLst>
      <p:ext uri="{BB962C8B-B14F-4D97-AF65-F5344CB8AC3E}">
        <p14:creationId xmlns:p14="http://schemas.microsoft.com/office/powerpoint/2010/main" val="9109065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2945659" cy="498056"/>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5E93E09A-228D-4562-A1B1-13015B77C2C1}" type="datetimeFigureOut">
              <a:rPr lang="fr-FR" smtClean="0"/>
              <a:t>17/08/2026</a:t>
            </a:fld>
            <a:endParaRPr lang="fr-FR"/>
          </a:p>
        </p:txBody>
      </p:sp>
      <p:sp>
        <p:nvSpPr>
          <p:cNvPr id="4" name="Espace réservé de l'image des diapositives 3"/>
          <p:cNvSpPr>
            <a:spLocks noGrp="1" noRot="1" noChangeAspect="1"/>
          </p:cNvSpPr>
          <p:nvPr>
            <p:ph type="sldImg" idx="2"/>
          </p:nvPr>
        </p:nvSpPr>
        <p:spPr>
          <a:xfrm>
            <a:off x="1030288" y="1241425"/>
            <a:ext cx="4737100" cy="3349625"/>
          </a:xfrm>
          <a:prstGeom prst="rect">
            <a:avLst/>
          </a:prstGeom>
          <a:noFill/>
          <a:ln w="12700">
            <a:solidFill>
              <a:prstClr val="black"/>
            </a:solidFill>
          </a:ln>
        </p:spPr>
      </p:sp>
      <p:sp>
        <p:nvSpPr>
          <p:cNvPr id="5" name="Espace réservé des note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28585"/>
            <a:ext cx="2945659" cy="49805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DC1F2C2-3FE6-4E84-9695-8A42647BC1FB}" type="slidenum">
              <a:rPr lang="fr-FR" smtClean="0"/>
              <a:t>‹#›</a:t>
            </a:fld>
            <a:endParaRPr lang="fr-FR"/>
          </a:p>
        </p:txBody>
      </p:sp>
    </p:spTree>
    <p:extLst>
      <p:ext uri="{BB962C8B-B14F-4D97-AF65-F5344CB8AC3E}">
        <p14:creationId xmlns:p14="http://schemas.microsoft.com/office/powerpoint/2010/main" val="1155130610"/>
      </p:ext>
    </p:extLst>
  </p:cSld>
  <p:clrMap bg1="lt1" tx1="dk1" bg2="lt2" tx2="dk2" accent1="accent1" accent2="accent2" accent3="accent3" accent4="accent4" accent5="accent5" accent6="accent6" hlink="hlink" folHlink="folHlink"/>
  <p:notesStyle>
    <a:lvl1pPr marL="0" algn="l" defTabSz="914261" rtl="0" eaLnBrk="1" latinLnBrk="0" hangingPunct="1">
      <a:defRPr sz="1199" kern="1200">
        <a:solidFill>
          <a:schemeClr val="tx1"/>
        </a:solidFill>
        <a:latin typeface="+mn-lt"/>
        <a:ea typeface="+mn-ea"/>
        <a:cs typeface="+mn-cs"/>
      </a:defRPr>
    </a:lvl1pPr>
    <a:lvl2pPr marL="457129" algn="l" defTabSz="914261" rtl="0" eaLnBrk="1" latinLnBrk="0" hangingPunct="1">
      <a:defRPr sz="1199" kern="1200">
        <a:solidFill>
          <a:schemeClr val="tx1"/>
        </a:solidFill>
        <a:latin typeface="+mn-lt"/>
        <a:ea typeface="+mn-ea"/>
        <a:cs typeface="+mn-cs"/>
      </a:defRPr>
    </a:lvl2pPr>
    <a:lvl3pPr marL="914261" algn="l" defTabSz="914261" rtl="0" eaLnBrk="1" latinLnBrk="0" hangingPunct="1">
      <a:defRPr sz="1199" kern="1200">
        <a:solidFill>
          <a:schemeClr val="tx1"/>
        </a:solidFill>
        <a:latin typeface="+mn-lt"/>
        <a:ea typeface="+mn-ea"/>
        <a:cs typeface="+mn-cs"/>
      </a:defRPr>
    </a:lvl3pPr>
    <a:lvl4pPr marL="1371389" algn="l" defTabSz="914261" rtl="0" eaLnBrk="1" latinLnBrk="0" hangingPunct="1">
      <a:defRPr sz="1199" kern="1200">
        <a:solidFill>
          <a:schemeClr val="tx1"/>
        </a:solidFill>
        <a:latin typeface="+mn-lt"/>
        <a:ea typeface="+mn-ea"/>
        <a:cs typeface="+mn-cs"/>
      </a:defRPr>
    </a:lvl4pPr>
    <a:lvl5pPr marL="1828519" algn="l" defTabSz="914261" rtl="0" eaLnBrk="1" latinLnBrk="0" hangingPunct="1">
      <a:defRPr sz="1199" kern="1200">
        <a:solidFill>
          <a:schemeClr val="tx1"/>
        </a:solidFill>
        <a:latin typeface="+mn-lt"/>
        <a:ea typeface="+mn-ea"/>
        <a:cs typeface="+mn-cs"/>
      </a:defRPr>
    </a:lvl5pPr>
    <a:lvl6pPr marL="2285649" algn="l" defTabSz="914261" rtl="0" eaLnBrk="1" latinLnBrk="0" hangingPunct="1">
      <a:defRPr sz="1199" kern="1200">
        <a:solidFill>
          <a:schemeClr val="tx1"/>
        </a:solidFill>
        <a:latin typeface="+mn-lt"/>
        <a:ea typeface="+mn-ea"/>
        <a:cs typeface="+mn-cs"/>
      </a:defRPr>
    </a:lvl6pPr>
    <a:lvl7pPr marL="2742778" algn="l" defTabSz="914261" rtl="0" eaLnBrk="1" latinLnBrk="0" hangingPunct="1">
      <a:defRPr sz="1199" kern="1200">
        <a:solidFill>
          <a:schemeClr val="tx1"/>
        </a:solidFill>
        <a:latin typeface="+mn-lt"/>
        <a:ea typeface="+mn-ea"/>
        <a:cs typeface="+mn-cs"/>
      </a:defRPr>
    </a:lvl7pPr>
    <a:lvl8pPr marL="3199907" algn="l" defTabSz="914261" rtl="0" eaLnBrk="1" latinLnBrk="0" hangingPunct="1">
      <a:defRPr sz="1199" kern="1200">
        <a:solidFill>
          <a:schemeClr val="tx1"/>
        </a:solidFill>
        <a:latin typeface="+mn-lt"/>
        <a:ea typeface="+mn-ea"/>
        <a:cs typeface="+mn-cs"/>
      </a:defRPr>
    </a:lvl8pPr>
    <a:lvl9pPr marL="3657037" algn="l" defTabSz="914261" rtl="0" eaLnBrk="1" latinLnBrk="0" hangingPunct="1">
      <a:defRPr sz="119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0DEC2-83E7-0E2C-49CA-B9CEEEF83E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59EFB-4143-AFDE-0AEE-503A3AC659EE}"/>
              </a:ext>
            </a:extLst>
          </p:cNvPr>
          <p:cNvSpPr>
            <a:spLocks noGrp="1" noRot="1" noChangeAspect="1"/>
          </p:cNvSpPr>
          <p:nvPr>
            <p:ph type="sldImg"/>
          </p:nvPr>
        </p:nvSpPr>
        <p:spPr/>
        <p:txBody>
          <a:bodyPr/>
          <a:lstStyle/>
          <a:p>
            <a:endParaRPr lang="en-CH"/>
          </a:p>
        </p:txBody>
      </p:sp>
      <p:sp>
        <p:nvSpPr>
          <p:cNvPr id="3" name="Notes Placeholder 2">
            <a:extLst>
              <a:ext uri="{FF2B5EF4-FFF2-40B4-BE49-F238E27FC236}">
                <a16:creationId xmlns:a16="http://schemas.microsoft.com/office/drawing/2014/main" id="{11CE799E-74CF-9A91-D49C-79BE39BF299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C5FA5D7-ACCA-2EE7-1D86-47D243274107}"/>
              </a:ext>
            </a:extLst>
          </p:cNvPr>
          <p:cNvSpPr>
            <a:spLocks noGrp="1"/>
          </p:cNvSpPr>
          <p:nvPr>
            <p:ph type="sldNum" sz="quarter" idx="5"/>
          </p:nvPr>
        </p:nvSpPr>
        <p:spPr/>
        <p:txBody>
          <a:bodyPr/>
          <a:lstStyle/>
          <a:p>
            <a:fld id="{CDC1F2C2-3FE6-4E84-9695-8A42647BC1FB}" type="slidenum">
              <a:rPr lang="fr-FR" smtClean="0"/>
              <a:t>23</a:t>
            </a:fld>
            <a:endParaRPr lang="fr-FR"/>
          </a:p>
        </p:txBody>
      </p:sp>
    </p:spTree>
    <p:extLst>
      <p:ext uri="{BB962C8B-B14F-4D97-AF65-F5344CB8AC3E}">
        <p14:creationId xmlns:p14="http://schemas.microsoft.com/office/powerpoint/2010/main" val="33341570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DC1F2C2-3FE6-4E84-9695-8A42647BC1FB}" type="slidenum">
              <a:rPr lang="fr-FR" smtClean="0"/>
              <a:t>24</a:t>
            </a:fld>
            <a:endParaRPr lang="fr-FR"/>
          </a:p>
        </p:txBody>
      </p:sp>
    </p:spTree>
    <p:extLst>
      <p:ext uri="{BB962C8B-B14F-4D97-AF65-F5344CB8AC3E}">
        <p14:creationId xmlns:p14="http://schemas.microsoft.com/office/powerpoint/2010/main" val="216597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26</a:t>
            </a:fld>
            <a:endParaRPr lang="fr-FR"/>
          </a:p>
        </p:txBody>
      </p:sp>
    </p:spTree>
    <p:extLst>
      <p:ext uri="{BB962C8B-B14F-4D97-AF65-F5344CB8AC3E}">
        <p14:creationId xmlns:p14="http://schemas.microsoft.com/office/powerpoint/2010/main" val="19553029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27</a:t>
            </a:fld>
            <a:endParaRPr lang="fr-FR"/>
          </a:p>
        </p:txBody>
      </p:sp>
    </p:spTree>
    <p:extLst>
      <p:ext uri="{BB962C8B-B14F-4D97-AF65-F5344CB8AC3E}">
        <p14:creationId xmlns:p14="http://schemas.microsoft.com/office/powerpoint/2010/main" val="904084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0DDFB-1E3C-335D-F481-B2C11FD770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3CCF4-B15A-4C82-F5F8-7DF6EEE572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7864FE-5CC0-0420-3F47-199FAA985567}"/>
              </a:ext>
            </a:extLst>
          </p:cNvPr>
          <p:cNvSpPr>
            <a:spLocks noGrp="1"/>
          </p:cNvSpPr>
          <p:nvPr>
            <p:ph type="body" idx="1"/>
          </p:nvPr>
        </p:nvSpPr>
        <p:spPr/>
        <p:txBody>
          <a:bodyPr/>
          <a:lstStyle/>
          <a:p>
            <a:endParaRPr lang="fr-CH"/>
          </a:p>
        </p:txBody>
      </p:sp>
      <p:sp>
        <p:nvSpPr>
          <p:cNvPr id="4" name="Slide Number Placeholder 3">
            <a:extLst>
              <a:ext uri="{FF2B5EF4-FFF2-40B4-BE49-F238E27FC236}">
                <a16:creationId xmlns:a16="http://schemas.microsoft.com/office/drawing/2014/main" id="{D3793791-9556-BBB1-5F98-29A0A07D2E1D}"/>
              </a:ext>
            </a:extLst>
          </p:cNvPr>
          <p:cNvSpPr>
            <a:spLocks noGrp="1"/>
          </p:cNvSpPr>
          <p:nvPr>
            <p:ph type="sldNum" sz="quarter" idx="5"/>
          </p:nvPr>
        </p:nvSpPr>
        <p:spPr/>
        <p:txBody>
          <a:bodyPr/>
          <a:lstStyle/>
          <a:p>
            <a:fld id="{CDC1F2C2-3FE6-4E84-9695-8A42647BC1FB}" type="slidenum">
              <a:rPr lang="fr-FR" smtClean="0"/>
              <a:t>28</a:t>
            </a:fld>
            <a:endParaRPr lang="fr-FR"/>
          </a:p>
        </p:txBody>
      </p:sp>
    </p:spTree>
    <p:extLst>
      <p:ext uri="{BB962C8B-B14F-4D97-AF65-F5344CB8AC3E}">
        <p14:creationId xmlns:p14="http://schemas.microsoft.com/office/powerpoint/2010/main" val="4181384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29</a:t>
            </a:fld>
            <a:endParaRPr lang="fr-FR"/>
          </a:p>
        </p:txBody>
      </p:sp>
    </p:spTree>
    <p:extLst>
      <p:ext uri="{BB962C8B-B14F-4D97-AF65-F5344CB8AC3E}">
        <p14:creationId xmlns:p14="http://schemas.microsoft.com/office/powerpoint/2010/main" val="11151822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H"/>
          </a:p>
        </p:txBody>
      </p:sp>
      <p:sp>
        <p:nvSpPr>
          <p:cNvPr id="4" name="Slide Number Placeholder 3"/>
          <p:cNvSpPr>
            <a:spLocks noGrp="1"/>
          </p:cNvSpPr>
          <p:nvPr>
            <p:ph type="sldNum" sz="quarter" idx="5"/>
          </p:nvPr>
        </p:nvSpPr>
        <p:spPr/>
        <p:txBody>
          <a:bodyPr/>
          <a:lstStyle/>
          <a:p>
            <a:fld id="{CDC1F2C2-3FE6-4E84-9695-8A42647BC1FB}" type="slidenum">
              <a:rPr lang="fr-FR" smtClean="0"/>
              <a:t>30</a:t>
            </a:fld>
            <a:endParaRPr lang="fr-FR"/>
          </a:p>
        </p:txBody>
      </p:sp>
    </p:spTree>
    <p:extLst>
      <p:ext uri="{BB962C8B-B14F-4D97-AF65-F5344CB8AC3E}">
        <p14:creationId xmlns:p14="http://schemas.microsoft.com/office/powerpoint/2010/main" val="4290504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gradient">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sp>
        <p:nvSpPr>
          <p:cNvPr id="10" name="Title 9">
            <a:extLst>
              <a:ext uri="{FF2B5EF4-FFF2-40B4-BE49-F238E27FC236}">
                <a16:creationId xmlns:a16="http://schemas.microsoft.com/office/drawing/2014/main" id="{F9C284E6-090E-4772-71F2-BE9D9ACEE7A0}"/>
              </a:ext>
            </a:extLst>
          </p:cNvPr>
          <p:cNvSpPr>
            <a:spLocks noGrp="1"/>
          </p:cNvSpPr>
          <p:nvPr>
            <p:ph type="title" hasCustomPrompt="1"/>
          </p:nvPr>
        </p:nvSpPr>
        <p:spPr>
          <a:xfrm>
            <a:off x="665163" y="3675152"/>
            <a:ext cx="9398001" cy="864587"/>
          </a:xfrm>
        </p:spPr>
        <p:txBody>
          <a:bodyPr/>
          <a:lstStyle>
            <a:lvl1pPr algn="ctr">
              <a:defRPr sz="2800">
                <a:solidFill>
                  <a:schemeClr val="bg1"/>
                </a:solidFill>
              </a:defRPr>
            </a:lvl1pPr>
          </a:lstStyle>
          <a:p>
            <a:r>
              <a:rPr lang="en-GB"/>
              <a:t>Click to edit title</a:t>
            </a:r>
          </a:p>
        </p:txBody>
      </p:sp>
    </p:spTree>
    <p:extLst>
      <p:ext uri="{BB962C8B-B14F-4D97-AF65-F5344CB8AC3E}">
        <p14:creationId xmlns:p14="http://schemas.microsoft.com/office/powerpoint/2010/main" val="109581210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5166" y="5455024"/>
            <a:ext cx="3505819" cy="1028391"/>
          </a:xfrm>
          <a:noFill/>
        </p:spPr>
        <p:txBody>
          <a:bodyPr wrap="square" lIns="0" tIns="0" rIns="0" bIns="0" anchor="t" anchorCtr="0">
            <a:noAutofit/>
          </a:bodyPr>
          <a:lstStyle>
            <a:lvl1pPr algn="l">
              <a:lnSpc>
                <a:spcPct val="100000"/>
              </a:lnSpc>
              <a:defRPr sz="2400" b="0" cap="none" baseline="0">
                <a:gradFill flip="none" rotWithShape="1">
                  <a:gsLst>
                    <a:gs pos="0">
                      <a:schemeClr val="accent4"/>
                    </a:gs>
                    <a:gs pos="100000">
                      <a:srgbClr val="FFA400"/>
                    </a:gs>
                  </a:gsLst>
                  <a:lin ang="0" scaled="1"/>
                </a:gradFill>
                <a:latin typeface="+mj-lt"/>
              </a:defRPr>
            </a:lvl1pPr>
          </a:lstStyle>
          <a:p>
            <a:r>
              <a:rPr lang="en-GB" noProof="0"/>
              <a:t>Title on one </a:t>
            </a:r>
            <a:br>
              <a:rPr lang="en-GB" noProof="0"/>
            </a:br>
            <a:r>
              <a:rPr lang="en-GB" noProof="0"/>
              <a:t>or two lines</a:t>
            </a:r>
          </a:p>
        </p:txBody>
      </p:sp>
      <p:sp>
        <p:nvSpPr>
          <p:cNvPr id="7" name="Espace réservé du texte 6">
            <a:extLst>
              <a:ext uri="{FF2B5EF4-FFF2-40B4-BE49-F238E27FC236}">
                <a16:creationId xmlns:a16="http://schemas.microsoft.com/office/drawing/2014/main" id="{C0537D46-3E08-43B9-A8FE-19337D7C171B}"/>
              </a:ext>
            </a:extLst>
          </p:cNvPr>
          <p:cNvSpPr>
            <a:spLocks noGrp="1"/>
          </p:cNvSpPr>
          <p:nvPr>
            <p:ph type="body" sz="quarter" idx="13" hasCustomPrompt="1"/>
          </p:nvPr>
        </p:nvSpPr>
        <p:spPr>
          <a:xfrm>
            <a:off x="665166" y="4907572"/>
            <a:ext cx="3023135" cy="379589"/>
          </a:xfrm>
          <a:noFill/>
        </p:spPr>
        <p:txBody>
          <a:bodyPr lIns="0" tIns="0" rIns="0" bIns="0" anchor="t"/>
          <a:lstStyle>
            <a:lvl1pPr marL="0" indent="0">
              <a:spcBef>
                <a:spcPct val="0"/>
              </a:spcBef>
              <a:spcAft>
                <a:spcPct val="0"/>
              </a:spcAft>
              <a:buNone/>
              <a:defRPr sz="954" b="0" cap="none" baseline="0">
                <a:solidFill>
                  <a:srgbClr val="4B5F80"/>
                </a:solidFill>
              </a:defRPr>
            </a:lvl1pPr>
          </a:lstStyle>
          <a:p>
            <a:pPr lvl="0"/>
            <a:r>
              <a:rPr lang="en-GB"/>
              <a:t>INTRO LINE</a:t>
            </a:r>
          </a:p>
        </p:txBody>
      </p:sp>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pic>
        <p:nvPicPr>
          <p:cNvPr id="3" name="Picture 2">
            <a:extLst>
              <a:ext uri="{FF2B5EF4-FFF2-40B4-BE49-F238E27FC236}">
                <a16:creationId xmlns:a16="http://schemas.microsoft.com/office/drawing/2014/main" id="{6536F54C-E62B-0D11-424E-908F7C5AFDD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65166" y="861501"/>
            <a:ext cx="1255672" cy="1133762"/>
          </a:xfrm>
          <a:prstGeom prst="rect">
            <a:avLst/>
          </a:prstGeom>
        </p:spPr>
      </p:pic>
    </p:spTree>
    <p:extLst>
      <p:ext uri="{BB962C8B-B14F-4D97-AF65-F5344CB8AC3E}">
        <p14:creationId xmlns:p14="http://schemas.microsoft.com/office/powerpoint/2010/main" val="61388173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7B97CC1-DC51-4792-25CC-4FAD8394D6D6}"/>
              </a:ext>
            </a:extLst>
          </p:cNvPr>
          <p:cNvSpPr>
            <a:spLocks noGrp="1"/>
          </p:cNvSpPr>
          <p:nvPr>
            <p:ph type="pic" sz="quarter" idx="14"/>
          </p:nvPr>
        </p:nvSpPr>
        <p:spPr>
          <a:xfrm>
            <a:off x="5345906" y="0"/>
            <a:ext cx="5345906" cy="7559675"/>
          </a:xfrm>
        </p:spPr>
        <p:txBody>
          <a:bodyPr/>
          <a:lstStyle/>
          <a:p>
            <a:r>
              <a:rPr lang="en-US"/>
              <a:t>Click icon to add picture</a:t>
            </a:r>
            <a:endParaRPr lang="en-GB"/>
          </a:p>
        </p:txBody>
      </p:sp>
      <p:sp>
        <p:nvSpPr>
          <p:cNvPr id="6" name="Title 1">
            <a:extLst>
              <a:ext uri="{FF2B5EF4-FFF2-40B4-BE49-F238E27FC236}">
                <a16:creationId xmlns:a16="http://schemas.microsoft.com/office/drawing/2014/main" id="{BCB30788-EE0B-1E3E-4889-FDDDF6F0C1E3}"/>
              </a:ext>
            </a:extLst>
          </p:cNvPr>
          <p:cNvSpPr txBox="1"/>
          <p:nvPr userDrawn="1"/>
        </p:nvSpPr>
        <p:spPr>
          <a:xfrm>
            <a:off x="675137" y="1442131"/>
            <a:ext cx="4808826" cy="784337"/>
          </a:xfrm>
          <a:prstGeom prst="rect">
            <a:avLst/>
          </a:prstGeom>
        </p:spPr>
        <p:txBody>
          <a:bodyPr vert="horz" lIns="0" tIns="0" rIns="0" bIns="0" rtlCol="0" anchor="t" anchorCtr="0">
            <a:noAutofit/>
          </a:bodyPr>
          <a:lst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a:lstStyle>
          <a:p>
            <a:r>
              <a:rPr lang="fr-FR"/>
              <a:t>Agenda</a:t>
            </a:r>
          </a:p>
        </p:txBody>
      </p:sp>
      <p:sp>
        <p:nvSpPr>
          <p:cNvPr id="18" name="Text Placeholder 21">
            <a:extLst>
              <a:ext uri="{FF2B5EF4-FFF2-40B4-BE49-F238E27FC236}">
                <a16:creationId xmlns:a16="http://schemas.microsoft.com/office/drawing/2014/main" id="{8D056D14-6552-602E-166B-3EEA11274939}"/>
              </a:ext>
            </a:extLst>
          </p:cNvPr>
          <p:cNvSpPr>
            <a:spLocks noGrp="1"/>
          </p:cNvSpPr>
          <p:nvPr>
            <p:ph type="body" sz="quarter" idx="20" hasCustomPrompt="1"/>
          </p:nvPr>
        </p:nvSpPr>
        <p:spPr>
          <a:xfrm>
            <a:off x="1064392" y="3083075"/>
            <a:ext cx="2851200" cy="303354"/>
          </a:xfrm>
          <a:solidFill>
            <a:schemeClr val="accent3"/>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19" name="Text Placeholder 21">
            <a:extLst>
              <a:ext uri="{FF2B5EF4-FFF2-40B4-BE49-F238E27FC236}">
                <a16:creationId xmlns:a16="http://schemas.microsoft.com/office/drawing/2014/main" id="{7D0A2B12-6E02-0B8D-4BA8-C3621FFD7468}"/>
              </a:ext>
            </a:extLst>
          </p:cNvPr>
          <p:cNvSpPr>
            <a:spLocks noGrp="1"/>
          </p:cNvSpPr>
          <p:nvPr>
            <p:ph type="body" sz="quarter" idx="21" hasCustomPrompt="1"/>
          </p:nvPr>
        </p:nvSpPr>
        <p:spPr>
          <a:xfrm>
            <a:off x="1064392" y="3446004"/>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0" name="Text Placeholder 21">
            <a:extLst>
              <a:ext uri="{FF2B5EF4-FFF2-40B4-BE49-F238E27FC236}">
                <a16:creationId xmlns:a16="http://schemas.microsoft.com/office/drawing/2014/main" id="{7629280E-8681-E8FE-0396-17CBE1FD485E}"/>
              </a:ext>
            </a:extLst>
          </p:cNvPr>
          <p:cNvSpPr>
            <a:spLocks noGrp="1"/>
          </p:cNvSpPr>
          <p:nvPr>
            <p:ph type="body" sz="quarter" idx="22" hasCustomPrompt="1"/>
          </p:nvPr>
        </p:nvSpPr>
        <p:spPr>
          <a:xfrm>
            <a:off x="1064392" y="3808933"/>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1" name="Text Placeholder 21">
            <a:extLst>
              <a:ext uri="{FF2B5EF4-FFF2-40B4-BE49-F238E27FC236}">
                <a16:creationId xmlns:a16="http://schemas.microsoft.com/office/drawing/2014/main" id="{C4DDC98F-5EEC-B05A-0B96-D4B63E95F155}"/>
              </a:ext>
            </a:extLst>
          </p:cNvPr>
          <p:cNvSpPr>
            <a:spLocks noGrp="1"/>
          </p:cNvSpPr>
          <p:nvPr>
            <p:ph type="body" sz="quarter" idx="23" hasCustomPrompt="1"/>
          </p:nvPr>
        </p:nvSpPr>
        <p:spPr>
          <a:xfrm>
            <a:off x="1064392" y="417186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2" name="Text Placeholder 21">
            <a:extLst>
              <a:ext uri="{FF2B5EF4-FFF2-40B4-BE49-F238E27FC236}">
                <a16:creationId xmlns:a16="http://schemas.microsoft.com/office/drawing/2014/main" id="{DB233D09-5BF5-BAAB-046E-311A4E3F2476}"/>
              </a:ext>
            </a:extLst>
          </p:cNvPr>
          <p:cNvSpPr>
            <a:spLocks noGrp="1"/>
          </p:cNvSpPr>
          <p:nvPr>
            <p:ph type="body" sz="quarter" idx="24" hasCustomPrompt="1"/>
          </p:nvPr>
        </p:nvSpPr>
        <p:spPr>
          <a:xfrm>
            <a:off x="1064392" y="4534792"/>
            <a:ext cx="2851200" cy="303354"/>
          </a:xfrm>
          <a:solidFill>
            <a:schemeClr val="accent3">
              <a:lumMod val="40000"/>
              <a:lumOff val="60000"/>
            </a:schemeClr>
          </a:solidFill>
        </p:spPr>
        <p:txBody>
          <a:bodyPr lIns="72000" rIns="72000" bIns="0" anchor="ctr" anchorCtr="0"/>
          <a:lstStyle>
            <a:lvl1pPr marL="0" indent="0">
              <a:buNone/>
              <a:defRPr sz="1050" b="1" i="0">
                <a:solidFill>
                  <a:schemeClr val="bg1"/>
                </a:solidFill>
                <a:latin typeface="Nunito" pitchFamily="2" charset="77"/>
              </a:defRPr>
            </a:lvl1pPr>
          </a:lstStyle>
          <a:p>
            <a:pPr lvl="0"/>
            <a:r>
              <a:rPr lang="en-GB"/>
              <a:t>Enter text</a:t>
            </a:r>
          </a:p>
        </p:txBody>
      </p:sp>
      <p:sp>
        <p:nvSpPr>
          <p:cNvPr id="23" name="Text Placeholder 21">
            <a:extLst>
              <a:ext uri="{FF2B5EF4-FFF2-40B4-BE49-F238E27FC236}">
                <a16:creationId xmlns:a16="http://schemas.microsoft.com/office/drawing/2014/main" id="{C11D3BD7-7B6A-46D1-9A9B-E3FED282711F}"/>
              </a:ext>
            </a:extLst>
          </p:cNvPr>
          <p:cNvSpPr>
            <a:spLocks noGrp="1"/>
          </p:cNvSpPr>
          <p:nvPr>
            <p:ph type="body" sz="quarter" idx="25" hasCustomPrompt="1"/>
          </p:nvPr>
        </p:nvSpPr>
        <p:spPr>
          <a:xfrm>
            <a:off x="665161" y="3083075"/>
            <a:ext cx="331013" cy="303354"/>
          </a:xfrm>
          <a:noFill/>
        </p:spPr>
        <p:txBody>
          <a:bodyPr lIns="72000" rIns="72000" bIns="0" anchor="ctr" anchorCtr="0"/>
          <a:lstStyle>
            <a:lvl1pPr marL="0" indent="0">
              <a:buNone/>
              <a:defRPr sz="1050" b="1" i="0">
                <a:solidFill>
                  <a:schemeClr val="accent3"/>
                </a:solidFill>
                <a:latin typeface="Nunito" pitchFamily="2" charset="77"/>
              </a:defRPr>
            </a:lvl1pPr>
          </a:lstStyle>
          <a:p>
            <a:pPr lvl="0"/>
            <a:r>
              <a:rPr lang="fr-CH"/>
              <a:t>page</a:t>
            </a:r>
            <a:endParaRPr lang="en-GB"/>
          </a:p>
        </p:txBody>
      </p:sp>
      <p:sp>
        <p:nvSpPr>
          <p:cNvPr id="24" name="Text Placeholder 21">
            <a:extLst>
              <a:ext uri="{FF2B5EF4-FFF2-40B4-BE49-F238E27FC236}">
                <a16:creationId xmlns:a16="http://schemas.microsoft.com/office/drawing/2014/main" id="{332997ED-3D78-F97E-AD07-6499F495A9AD}"/>
              </a:ext>
            </a:extLst>
          </p:cNvPr>
          <p:cNvSpPr>
            <a:spLocks noGrp="1"/>
          </p:cNvSpPr>
          <p:nvPr>
            <p:ph type="body" sz="quarter" idx="26" hasCustomPrompt="1"/>
          </p:nvPr>
        </p:nvSpPr>
        <p:spPr>
          <a:xfrm>
            <a:off x="665161" y="3446004"/>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fr-CH"/>
              <a:t>page</a:t>
            </a:r>
            <a:endParaRPr lang="en-GB"/>
          </a:p>
        </p:txBody>
      </p:sp>
      <p:sp>
        <p:nvSpPr>
          <p:cNvPr id="25" name="Text Placeholder 21">
            <a:extLst>
              <a:ext uri="{FF2B5EF4-FFF2-40B4-BE49-F238E27FC236}">
                <a16:creationId xmlns:a16="http://schemas.microsoft.com/office/drawing/2014/main" id="{5291EB23-3F11-F04B-957B-7497B18673E1}"/>
              </a:ext>
            </a:extLst>
          </p:cNvPr>
          <p:cNvSpPr>
            <a:spLocks noGrp="1"/>
          </p:cNvSpPr>
          <p:nvPr>
            <p:ph type="body" sz="quarter" idx="27" hasCustomPrompt="1"/>
          </p:nvPr>
        </p:nvSpPr>
        <p:spPr>
          <a:xfrm>
            <a:off x="665161" y="3808933"/>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6" name="Text Placeholder 21">
            <a:extLst>
              <a:ext uri="{FF2B5EF4-FFF2-40B4-BE49-F238E27FC236}">
                <a16:creationId xmlns:a16="http://schemas.microsoft.com/office/drawing/2014/main" id="{8FE067F3-B309-D196-AE89-DF3010BF2053}"/>
              </a:ext>
            </a:extLst>
          </p:cNvPr>
          <p:cNvSpPr>
            <a:spLocks noGrp="1"/>
          </p:cNvSpPr>
          <p:nvPr>
            <p:ph type="body" sz="quarter" idx="28" hasCustomPrompt="1"/>
          </p:nvPr>
        </p:nvSpPr>
        <p:spPr>
          <a:xfrm>
            <a:off x="665161" y="417186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
        <p:nvSpPr>
          <p:cNvPr id="27" name="Text Placeholder 21">
            <a:extLst>
              <a:ext uri="{FF2B5EF4-FFF2-40B4-BE49-F238E27FC236}">
                <a16:creationId xmlns:a16="http://schemas.microsoft.com/office/drawing/2014/main" id="{DE62711F-A766-B9C1-A992-9147EF6CD00B}"/>
              </a:ext>
            </a:extLst>
          </p:cNvPr>
          <p:cNvSpPr>
            <a:spLocks noGrp="1"/>
          </p:cNvSpPr>
          <p:nvPr>
            <p:ph type="body" sz="quarter" idx="29" hasCustomPrompt="1"/>
          </p:nvPr>
        </p:nvSpPr>
        <p:spPr>
          <a:xfrm>
            <a:off x="665161" y="4534792"/>
            <a:ext cx="331013" cy="303354"/>
          </a:xfrm>
          <a:noFill/>
        </p:spPr>
        <p:txBody>
          <a:bodyPr lIns="72000" rIns="72000" bIns="0" anchor="ctr" anchorCtr="0"/>
          <a:lstStyle>
            <a:lvl1pPr marL="0" indent="0">
              <a:buNone/>
              <a:defRPr sz="1050" b="1" i="0">
                <a:solidFill>
                  <a:schemeClr val="accent3">
                    <a:lumMod val="40000"/>
                    <a:lumOff val="60000"/>
                  </a:schemeClr>
                </a:solidFill>
                <a:latin typeface="Nunito" pitchFamily="2" charset="77"/>
              </a:defRPr>
            </a:lvl1pPr>
          </a:lstStyle>
          <a:p>
            <a:pPr lvl="0"/>
            <a:r>
              <a:rPr lang="en-GB"/>
              <a:t>page</a:t>
            </a:r>
          </a:p>
        </p:txBody>
      </p:sp>
    </p:spTree>
    <p:extLst>
      <p:ext uri="{BB962C8B-B14F-4D97-AF65-F5344CB8AC3E}">
        <p14:creationId xmlns:p14="http://schemas.microsoft.com/office/powerpoint/2010/main" val="19478053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gradFill flip="none" rotWithShape="1">
                  <a:gsLst>
                    <a:gs pos="0">
                      <a:schemeClr val="accent4"/>
                    </a:gs>
                    <a:gs pos="100000">
                      <a:srgbClr val="FFA400"/>
                    </a:gs>
                  </a:gsLst>
                  <a:lin ang="0" scaled="1"/>
                </a:gradFill>
              </a:defRPr>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5522650" y="4782896"/>
            <a:ext cx="4536000" cy="180000"/>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7CF13E4-BAB6-8297-CE1C-3E6F9B0D6037}"/>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22176982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9" y="2795336"/>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5527698" y="2795334"/>
            <a:ext cx="4533679"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2788" y="2788214"/>
            <a:ext cx="4535467"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5527700" y="2788214"/>
            <a:ext cx="4535467"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165"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576804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576804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9" y="5620577"/>
            <a:ext cx="416522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27" y="5142445"/>
            <a:ext cx="4150037"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5" name="Rectangle 4">
            <a:extLst>
              <a:ext uri="{FF2B5EF4-FFF2-40B4-BE49-F238E27FC236}">
                <a16:creationId xmlns:a16="http://schemas.microsoft.com/office/drawing/2014/main" id="{77544857-5437-1C3C-1478-9EC6F18E4D71}"/>
              </a:ext>
            </a:extLst>
          </p:cNvPr>
          <p:cNvSpPr/>
          <p:nvPr userDrawn="1"/>
        </p:nvSpPr>
        <p:spPr>
          <a:xfrm>
            <a:off x="5529992" y="4782896"/>
            <a:ext cx="4536000" cy="180000"/>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Text Placeholder 4">
            <a:extLst>
              <a:ext uri="{FF2B5EF4-FFF2-40B4-BE49-F238E27FC236}">
                <a16:creationId xmlns:a16="http://schemas.microsoft.com/office/drawing/2014/main" id="{F00E8640-ABD2-F67E-20F2-78BF41DB4461}"/>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69463738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2787" y="4782895"/>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0625" y="4782893"/>
            <a:ext cx="2970000" cy="1877458"/>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098690" y="4776109"/>
            <a:ext cx="2970000" cy="1877458"/>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506"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6344"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103034"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3377"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911215" y="4782896"/>
            <a:ext cx="2968821"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9280"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Text Placeholder 4">
            <a:extLst>
              <a:ext uri="{FF2B5EF4-FFF2-40B4-BE49-F238E27FC236}">
                <a16:creationId xmlns:a16="http://schemas.microsoft.com/office/drawing/2014/main" id="{8113008E-E9EE-C626-8405-308DAA976974}"/>
              </a:ext>
            </a:extLst>
          </p:cNvPr>
          <p:cNvSpPr>
            <a:spLocks noGrp="1"/>
          </p:cNvSpPr>
          <p:nvPr>
            <p:ph type="body" sz="quarter" idx="14" hasCustomPrompt="1"/>
          </p:nvPr>
        </p:nvSpPr>
        <p:spPr>
          <a:xfrm>
            <a:off x="665163" y="1939097"/>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898478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8688" y="2795336"/>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915398" y="2795334"/>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A4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7100055" y="2788550"/>
            <a:ext cx="2957396"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8105" y="2788214"/>
            <a:ext cx="295856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914815" y="2788214"/>
            <a:ext cx="295856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7099472" y="2788214"/>
            <a:ext cx="295856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7094343"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7343384"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7343387"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4153498"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4153501"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961827" y="5620577"/>
            <a:ext cx="2717046"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961830" y="5142445"/>
            <a:ext cx="2707139"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6" name="Rectangle 5">
            <a:extLst>
              <a:ext uri="{FF2B5EF4-FFF2-40B4-BE49-F238E27FC236}">
                <a16:creationId xmlns:a16="http://schemas.microsoft.com/office/drawing/2014/main" id="{85E32EFA-1A66-4183-CDD0-A1DA0186E23B}"/>
              </a:ext>
            </a:extLst>
          </p:cNvPr>
          <p:cNvSpPr/>
          <p:nvPr userDrawn="1"/>
        </p:nvSpPr>
        <p:spPr>
          <a:xfrm>
            <a:off x="3909686" y="4782896"/>
            <a:ext cx="2968821"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1" name="Text Placeholder 4">
            <a:extLst>
              <a:ext uri="{FF2B5EF4-FFF2-40B4-BE49-F238E27FC236}">
                <a16:creationId xmlns:a16="http://schemas.microsoft.com/office/drawing/2014/main" id="{5F6BD925-AEFF-89C2-27D1-9169397386C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728016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Boxes Content - Bicolour">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798541" y="2788550"/>
            <a:ext cx="2182051" cy="3865017"/>
          </a:xfrm>
          <a:prstGeom prst="roundRect">
            <a:avLst>
              <a:gd name="adj" fmla="val 9296"/>
            </a:avLst>
          </a:prstGeom>
          <a:solidFill>
            <a:schemeClr val="bg1"/>
          </a:solidFill>
          <a:ln>
            <a:solidFill>
              <a:schemeClr val="accent6"/>
            </a:solidFill>
          </a:ln>
          <a:effectLst>
            <a:outerShdw blurRad="615666" dist="38100" dir="5400000" sx="103538" sy="103538" algn="t" rotWithShape="0">
              <a:srgbClr val="4B5F8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798110"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4325" y="4782896"/>
            <a:ext cx="2190482" cy="173124"/>
          </a:xfrm>
          <a:prstGeom prst="rect">
            <a:avLst/>
          </a:prstGeom>
          <a:gradFill>
            <a:gsLst>
              <a:gs pos="0">
                <a:srgbClr val="202945"/>
              </a:gs>
              <a:gs pos="99000">
                <a:srgbClr val="4B5F8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4B5F80"/>
                </a:solidFill>
                <a:latin typeface="Nunito" pitchFamily="2" charset="77"/>
              </a:defRPr>
            </a:lvl1pPr>
          </a:lstStyle>
          <a:p>
            <a:pPr lvl="0"/>
            <a:r>
              <a:rPr lang="en-GB"/>
              <a:t>Enter text</a:t>
            </a:r>
          </a:p>
        </p:txBody>
      </p:sp>
      <p:sp>
        <p:nvSpPr>
          <p:cNvPr id="16" name="Text Placeholder 4">
            <a:extLst>
              <a:ext uri="{FF2B5EF4-FFF2-40B4-BE49-F238E27FC236}">
                <a16:creationId xmlns:a16="http://schemas.microsoft.com/office/drawing/2014/main" id="{ED73ADEE-F9BE-CE96-E209-4D698D3BE133}"/>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0836749"/>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Boxes Content - Oran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2B4EC977-2E77-E6C8-3B1E-8939B56169EA}"/>
              </a:ext>
            </a:extLst>
          </p:cNvPr>
          <p:cNvSpPr/>
          <p:nvPr userDrawn="1"/>
        </p:nvSpPr>
        <p:spPr>
          <a:xfrm>
            <a:off x="717192" y="2795336"/>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4" name="Rounded Rectangle 3">
            <a:extLst>
              <a:ext uri="{FF2B5EF4-FFF2-40B4-BE49-F238E27FC236}">
                <a16:creationId xmlns:a16="http://schemas.microsoft.com/office/drawing/2014/main" id="{2E236926-7BE6-EF59-0B50-F412EF79AE03}"/>
              </a:ext>
            </a:extLst>
          </p:cNvPr>
          <p:cNvSpPr/>
          <p:nvPr userDrawn="1"/>
        </p:nvSpPr>
        <p:spPr>
          <a:xfrm>
            <a:off x="3073944" y="2795334"/>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CCD3EB5C-0568-A6CB-E497-E654623D719A}"/>
              </a:ext>
            </a:extLst>
          </p:cNvPr>
          <p:cNvSpPr/>
          <p:nvPr userDrawn="1"/>
        </p:nvSpPr>
        <p:spPr>
          <a:xfrm>
            <a:off x="5431068"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14CCBD35-8AD5-DE40-3190-FDC6673CD4FA}"/>
              </a:ext>
            </a:extLst>
          </p:cNvPr>
          <p:cNvSpPr/>
          <p:nvPr userDrawn="1"/>
        </p:nvSpPr>
        <p:spPr>
          <a:xfrm>
            <a:off x="7802457" y="2788550"/>
            <a:ext cx="2182051" cy="3865017"/>
          </a:xfrm>
          <a:prstGeom prst="roundRect">
            <a:avLst>
              <a:gd name="adj" fmla="val 9296"/>
            </a:avLst>
          </a:prstGeom>
          <a:solidFill>
            <a:schemeClr val="bg1"/>
          </a:solidFill>
          <a:ln>
            <a:solidFill>
              <a:schemeClr val="accent3"/>
            </a:solid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Picture Placeholder 7">
            <a:extLst>
              <a:ext uri="{FF2B5EF4-FFF2-40B4-BE49-F238E27FC236}">
                <a16:creationId xmlns:a16="http://schemas.microsoft.com/office/drawing/2014/main" id="{AD2870F1-24BD-0BA4-BBDA-422677BCE6D0}"/>
              </a:ext>
            </a:extLst>
          </p:cNvPr>
          <p:cNvSpPr>
            <a:spLocks noGrp="1"/>
          </p:cNvSpPr>
          <p:nvPr>
            <p:ph type="pic" sz="quarter" idx="10"/>
          </p:nvPr>
        </p:nvSpPr>
        <p:spPr>
          <a:xfrm>
            <a:off x="716761" y="2788214"/>
            <a:ext cx="2182912" cy="1994681"/>
          </a:xfrm>
        </p:spPr>
        <p:txBody>
          <a:bodyPr/>
          <a:lstStyle/>
          <a:p>
            <a:r>
              <a:rPr lang="en-US"/>
              <a:t>Click icon to add picture</a:t>
            </a:r>
            <a:endParaRPr lang="en-GB"/>
          </a:p>
        </p:txBody>
      </p:sp>
      <p:sp>
        <p:nvSpPr>
          <p:cNvPr id="9" name="Picture Placeholder 7">
            <a:extLst>
              <a:ext uri="{FF2B5EF4-FFF2-40B4-BE49-F238E27FC236}">
                <a16:creationId xmlns:a16="http://schemas.microsoft.com/office/drawing/2014/main" id="{BC2E9E2B-C558-358B-0379-05B2E2D0120B}"/>
              </a:ext>
            </a:extLst>
          </p:cNvPr>
          <p:cNvSpPr>
            <a:spLocks noGrp="1"/>
          </p:cNvSpPr>
          <p:nvPr>
            <p:ph type="pic" sz="quarter" idx="11"/>
          </p:nvPr>
        </p:nvSpPr>
        <p:spPr>
          <a:xfrm>
            <a:off x="3073513" y="2788214"/>
            <a:ext cx="2182912" cy="1994681"/>
          </a:xfrm>
        </p:spPr>
        <p:txBody>
          <a:bodyPr/>
          <a:lstStyle/>
          <a:p>
            <a:r>
              <a:rPr lang="en-US"/>
              <a:t>Click icon to add picture</a:t>
            </a:r>
            <a:endParaRPr lang="en-GB"/>
          </a:p>
        </p:txBody>
      </p:sp>
      <p:sp>
        <p:nvSpPr>
          <p:cNvPr id="10" name="Picture Placeholder 7">
            <a:extLst>
              <a:ext uri="{FF2B5EF4-FFF2-40B4-BE49-F238E27FC236}">
                <a16:creationId xmlns:a16="http://schemas.microsoft.com/office/drawing/2014/main" id="{0F990878-F61E-D2F9-C47C-021E64188303}"/>
              </a:ext>
            </a:extLst>
          </p:cNvPr>
          <p:cNvSpPr>
            <a:spLocks noGrp="1"/>
          </p:cNvSpPr>
          <p:nvPr>
            <p:ph type="pic" sz="quarter" idx="12"/>
          </p:nvPr>
        </p:nvSpPr>
        <p:spPr>
          <a:xfrm>
            <a:off x="5430637" y="2788214"/>
            <a:ext cx="2182912" cy="1994681"/>
          </a:xfrm>
        </p:spPr>
        <p:txBody>
          <a:bodyPr/>
          <a:lstStyle/>
          <a:p>
            <a:r>
              <a:rPr lang="en-US"/>
              <a:t>Click icon to add picture</a:t>
            </a:r>
            <a:endParaRPr lang="en-GB"/>
          </a:p>
        </p:txBody>
      </p:sp>
      <p:sp>
        <p:nvSpPr>
          <p:cNvPr id="11" name="Picture Placeholder 7">
            <a:extLst>
              <a:ext uri="{FF2B5EF4-FFF2-40B4-BE49-F238E27FC236}">
                <a16:creationId xmlns:a16="http://schemas.microsoft.com/office/drawing/2014/main" id="{4284997B-1702-9BBF-447A-2202459E90EF}"/>
              </a:ext>
            </a:extLst>
          </p:cNvPr>
          <p:cNvSpPr>
            <a:spLocks noGrp="1"/>
          </p:cNvSpPr>
          <p:nvPr>
            <p:ph type="pic" sz="quarter" idx="13"/>
          </p:nvPr>
        </p:nvSpPr>
        <p:spPr>
          <a:xfrm>
            <a:off x="7802456" y="2788214"/>
            <a:ext cx="2182912" cy="1994681"/>
          </a:xfrm>
        </p:spPr>
        <p:txBody>
          <a:bodyPr/>
          <a:lstStyle/>
          <a:p>
            <a:r>
              <a:rPr lang="en-US"/>
              <a:t>Click icon to add picture</a:t>
            </a:r>
            <a:endParaRPr lang="en-GB"/>
          </a:p>
        </p:txBody>
      </p:sp>
      <p:sp>
        <p:nvSpPr>
          <p:cNvPr id="12" name="Rectangle 11">
            <a:extLst>
              <a:ext uri="{FF2B5EF4-FFF2-40B4-BE49-F238E27FC236}">
                <a16:creationId xmlns:a16="http://schemas.microsoft.com/office/drawing/2014/main" id="{E215D75A-053F-4D97-85C5-CB7ABEF07B09}"/>
              </a:ext>
            </a:extLst>
          </p:cNvPr>
          <p:cNvSpPr/>
          <p:nvPr userDrawn="1"/>
        </p:nvSpPr>
        <p:spPr>
          <a:xfrm>
            <a:off x="712976"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3" name="Rectangle 12">
            <a:extLst>
              <a:ext uri="{FF2B5EF4-FFF2-40B4-BE49-F238E27FC236}">
                <a16:creationId xmlns:a16="http://schemas.microsoft.com/office/drawing/2014/main" id="{99BA444B-8868-0C6A-CB33-816EFA606CE1}"/>
              </a:ext>
            </a:extLst>
          </p:cNvPr>
          <p:cNvSpPr/>
          <p:nvPr userDrawn="1"/>
        </p:nvSpPr>
        <p:spPr>
          <a:xfrm>
            <a:off x="3069728"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Rectangle 13">
            <a:extLst>
              <a:ext uri="{FF2B5EF4-FFF2-40B4-BE49-F238E27FC236}">
                <a16:creationId xmlns:a16="http://schemas.microsoft.com/office/drawing/2014/main" id="{5270AD9C-3720-C293-3FD0-E557FEB655B9}"/>
              </a:ext>
            </a:extLst>
          </p:cNvPr>
          <p:cNvSpPr/>
          <p:nvPr userDrawn="1"/>
        </p:nvSpPr>
        <p:spPr>
          <a:xfrm>
            <a:off x="5426852"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5" name="Rectangle 14">
            <a:extLst>
              <a:ext uri="{FF2B5EF4-FFF2-40B4-BE49-F238E27FC236}">
                <a16:creationId xmlns:a16="http://schemas.microsoft.com/office/drawing/2014/main" id="{D4C31299-95D5-168A-7017-7B8EE145F385}"/>
              </a:ext>
            </a:extLst>
          </p:cNvPr>
          <p:cNvSpPr/>
          <p:nvPr userDrawn="1"/>
        </p:nvSpPr>
        <p:spPr>
          <a:xfrm>
            <a:off x="7793764" y="4782896"/>
            <a:ext cx="2190482" cy="173124"/>
          </a:xfrm>
          <a:prstGeom prst="rect">
            <a:avLst/>
          </a:prstGeom>
          <a:gradFill>
            <a:gsLst>
              <a:gs pos="0">
                <a:srgbClr val="FE6B0F"/>
              </a:gs>
              <a:gs pos="99000">
                <a:srgbClr val="FFA4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0" name="Text Placeholder 18">
            <a:extLst>
              <a:ext uri="{FF2B5EF4-FFF2-40B4-BE49-F238E27FC236}">
                <a16:creationId xmlns:a16="http://schemas.microsoft.com/office/drawing/2014/main" id="{5FF58F5F-F44B-1BF9-6E3B-816FA254ED2C}"/>
              </a:ext>
            </a:extLst>
          </p:cNvPr>
          <p:cNvSpPr>
            <a:spLocks noGrp="1"/>
          </p:cNvSpPr>
          <p:nvPr>
            <p:ph type="body" sz="quarter" idx="15" hasCustomPrompt="1"/>
          </p:nvPr>
        </p:nvSpPr>
        <p:spPr>
          <a:xfrm>
            <a:off x="5618656"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2" name="Text Placeholder 21">
            <a:extLst>
              <a:ext uri="{FF2B5EF4-FFF2-40B4-BE49-F238E27FC236}">
                <a16:creationId xmlns:a16="http://schemas.microsoft.com/office/drawing/2014/main" id="{90A3EAAD-15F2-A4AB-D476-603499DC3253}"/>
              </a:ext>
            </a:extLst>
          </p:cNvPr>
          <p:cNvSpPr>
            <a:spLocks noGrp="1"/>
          </p:cNvSpPr>
          <p:nvPr>
            <p:ph type="body" sz="quarter" idx="16" hasCustomPrompt="1"/>
          </p:nvPr>
        </p:nvSpPr>
        <p:spPr>
          <a:xfrm>
            <a:off x="5618656"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3" name="Text Placeholder 18">
            <a:extLst>
              <a:ext uri="{FF2B5EF4-FFF2-40B4-BE49-F238E27FC236}">
                <a16:creationId xmlns:a16="http://schemas.microsoft.com/office/drawing/2014/main" id="{7DC812B6-E739-158F-4066-50696D276A6B}"/>
              </a:ext>
            </a:extLst>
          </p:cNvPr>
          <p:cNvSpPr>
            <a:spLocks noGrp="1"/>
          </p:cNvSpPr>
          <p:nvPr>
            <p:ph type="body" sz="quarter" idx="17" hasCustomPrompt="1"/>
          </p:nvPr>
        </p:nvSpPr>
        <p:spPr>
          <a:xfrm>
            <a:off x="3251183"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4" name="Text Placeholder 21">
            <a:extLst>
              <a:ext uri="{FF2B5EF4-FFF2-40B4-BE49-F238E27FC236}">
                <a16:creationId xmlns:a16="http://schemas.microsoft.com/office/drawing/2014/main" id="{E780D308-B6E1-F1F2-C867-91A938358C7C}"/>
              </a:ext>
            </a:extLst>
          </p:cNvPr>
          <p:cNvSpPr>
            <a:spLocks noGrp="1"/>
          </p:cNvSpPr>
          <p:nvPr>
            <p:ph type="body" sz="quarter" idx="18" hasCustomPrompt="1"/>
          </p:nvPr>
        </p:nvSpPr>
        <p:spPr>
          <a:xfrm>
            <a:off x="3251183"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5" name="Text Placeholder 18">
            <a:extLst>
              <a:ext uri="{FF2B5EF4-FFF2-40B4-BE49-F238E27FC236}">
                <a16:creationId xmlns:a16="http://schemas.microsoft.com/office/drawing/2014/main" id="{1DA32A0C-0AF8-135E-1B4F-39B1AC2A3962}"/>
              </a:ext>
            </a:extLst>
          </p:cNvPr>
          <p:cNvSpPr>
            <a:spLocks noGrp="1"/>
          </p:cNvSpPr>
          <p:nvPr>
            <p:ph type="body" sz="quarter" idx="19" hasCustomPrompt="1"/>
          </p:nvPr>
        </p:nvSpPr>
        <p:spPr>
          <a:xfrm>
            <a:off x="894622"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6" name="Text Placeholder 21">
            <a:extLst>
              <a:ext uri="{FF2B5EF4-FFF2-40B4-BE49-F238E27FC236}">
                <a16:creationId xmlns:a16="http://schemas.microsoft.com/office/drawing/2014/main" id="{74F76D5E-3165-02EC-5DAE-83599D3E920A}"/>
              </a:ext>
            </a:extLst>
          </p:cNvPr>
          <p:cNvSpPr>
            <a:spLocks noGrp="1"/>
          </p:cNvSpPr>
          <p:nvPr>
            <p:ph type="body" sz="quarter" idx="20" hasCustomPrompt="1"/>
          </p:nvPr>
        </p:nvSpPr>
        <p:spPr>
          <a:xfrm>
            <a:off x="894622"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27" name="Text Placeholder 18">
            <a:extLst>
              <a:ext uri="{FF2B5EF4-FFF2-40B4-BE49-F238E27FC236}">
                <a16:creationId xmlns:a16="http://schemas.microsoft.com/office/drawing/2014/main" id="{D2DCE4EA-F6E0-596D-321E-1C1AD6991036}"/>
              </a:ext>
            </a:extLst>
          </p:cNvPr>
          <p:cNvSpPr>
            <a:spLocks noGrp="1"/>
          </p:cNvSpPr>
          <p:nvPr>
            <p:ph type="body" sz="quarter" idx="21" hasCustomPrompt="1"/>
          </p:nvPr>
        </p:nvSpPr>
        <p:spPr>
          <a:xfrm>
            <a:off x="7986128" y="5620577"/>
            <a:ext cx="2004715" cy="660966"/>
          </a:xfrm>
        </p:spPr>
        <p:txBody>
          <a:bodyPr/>
          <a:lstStyle>
            <a:lvl1pPr marL="0" indent="0">
              <a:buNone/>
              <a:defRPr sz="1052"/>
            </a:lvl1pPr>
          </a:lstStyle>
          <a:p>
            <a:r>
              <a:rPr lang="en-GB" sz="1169">
                <a:solidFill>
                  <a:schemeClr val="tx2"/>
                </a:solidFill>
                <a:effectLst/>
                <a:latin typeface="Nunito" pitchFamily="2" charset="77"/>
              </a:rPr>
              <a:t>Enter text</a:t>
            </a:r>
          </a:p>
        </p:txBody>
      </p:sp>
      <p:sp>
        <p:nvSpPr>
          <p:cNvPr id="28" name="Text Placeholder 21">
            <a:extLst>
              <a:ext uri="{FF2B5EF4-FFF2-40B4-BE49-F238E27FC236}">
                <a16:creationId xmlns:a16="http://schemas.microsoft.com/office/drawing/2014/main" id="{7AC37364-9E5F-0AE7-E945-79579A81FF1E}"/>
              </a:ext>
            </a:extLst>
          </p:cNvPr>
          <p:cNvSpPr>
            <a:spLocks noGrp="1"/>
          </p:cNvSpPr>
          <p:nvPr>
            <p:ph type="body" sz="quarter" idx="22" hasCustomPrompt="1"/>
          </p:nvPr>
        </p:nvSpPr>
        <p:spPr>
          <a:xfrm>
            <a:off x="7986128" y="5142445"/>
            <a:ext cx="1997405" cy="372430"/>
          </a:xfrm>
        </p:spPr>
        <p:txBody>
          <a:bodyPr/>
          <a:lstStyle>
            <a:lvl1pPr marL="0" indent="0">
              <a:buNone/>
              <a:defRPr sz="1228" b="1" i="0">
                <a:solidFill>
                  <a:srgbClr val="FF8300"/>
                </a:solidFill>
                <a:latin typeface="Nunito" pitchFamily="2" charset="77"/>
              </a:defRPr>
            </a:lvl1pPr>
          </a:lstStyle>
          <a:p>
            <a:pPr lvl="0"/>
            <a:r>
              <a:rPr lang="en-GB"/>
              <a:t>Enter text</a:t>
            </a:r>
          </a:p>
        </p:txBody>
      </p:sp>
      <p:sp>
        <p:nvSpPr>
          <p:cNvPr id="7" name="Text Placeholder 4">
            <a:extLst>
              <a:ext uri="{FF2B5EF4-FFF2-40B4-BE49-F238E27FC236}">
                <a16:creationId xmlns:a16="http://schemas.microsoft.com/office/drawing/2014/main" id="{FEA4ACDE-C775-D6B1-8096-BB27A0B53DD2}"/>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84158126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
        <p:nvSpPr>
          <p:cNvPr id="4" name="Text Placeholder 4">
            <a:extLst>
              <a:ext uri="{FF2B5EF4-FFF2-40B4-BE49-F238E27FC236}">
                <a16:creationId xmlns:a16="http://schemas.microsoft.com/office/drawing/2014/main" id="{65A96556-A5D3-7789-EFBE-FF07F9131256}"/>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283393489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EEA84D-5FF5-4C87-A8CD-2FE2E91BC22C}"/>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F9175149-A099-4F41-8BFB-1C37F0AAFC21}"/>
              </a:ext>
            </a:extLst>
          </p:cNvPr>
          <p:cNvSpPr>
            <a:spLocks noGrp="1"/>
          </p:cNvSpPr>
          <p:nvPr>
            <p:ph sz="quarter" idx="16" hasCustomPrompt="1"/>
          </p:nvPr>
        </p:nvSpPr>
        <p:spPr>
          <a:xfrm>
            <a:off x="5882566"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D757474-7227-4BDD-870D-FF87BDF76B07}"/>
              </a:ext>
            </a:extLst>
          </p:cNvPr>
          <p:cNvSpPr>
            <a:spLocks noGrp="1"/>
          </p:cNvSpPr>
          <p:nvPr>
            <p:ph sz="quarter" idx="15" hasCustomPrompt="1"/>
          </p:nvPr>
        </p:nvSpPr>
        <p:spPr>
          <a:xfrm>
            <a:off x="665167" y="2802443"/>
            <a:ext cx="4180601"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612FC3BC-31D0-3E8B-B6CC-43063BD0B67D}"/>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947991966"/>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678241-41CF-4C36-8136-3B5EFF59525B}"/>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8F171A6D-C546-417D-A82D-7DBA9617B505}"/>
              </a:ext>
            </a:extLst>
          </p:cNvPr>
          <p:cNvSpPr>
            <a:spLocks noGrp="1"/>
          </p:cNvSpPr>
          <p:nvPr>
            <p:ph sz="quarter" idx="16" hasCustomPrompt="1"/>
          </p:nvPr>
        </p:nvSpPr>
        <p:spPr>
          <a:xfrm>
            <a:off x="3986909" y="2802443"/>
            <a:ext cx="6081019"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AF9062DF-55B9-4B16-B9B3-10FA793D4390}"/>
              </a:ext>
            </a:extLst>
          </p:cNvPr>
          <p:cNvSpPr>
            <a:spLocks noGrp="1"/>
          </p:cNvSpPr>
          <p:nvPr>
            <p:ph sz="quarter" idx="15" hasCustomPrompt="1"/>
          </p:nvPr>
        </p:nvSpPr>
        <p:spPr>
          <a:xfrm>
            <a:off x="665165"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84BB08B8-AC6F-1448-D859-175B2E33604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19914982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s (2/3, 1/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D86C2-03CA-42D7-B168-CA51FF1A6CCF}"/>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5" name="Content Placeholder 2">
            <a:extLst>
              <a:ext uri="{FF2B5EF4-FFF2-40B4-BE49-F238E27FC236}">
                <a16:creationId xmlns:a16="http://schemas.microsoft.com/office/drawing/2014/main" id="{4EFDDDA8-C558-4002-A15E-2C7179B00530}"/>
              </a:ext>
            </a:extLst>
          </p:cNvPr>
          <p:cNvSpPr>
            <a:spLocks noGrp="1"/>
          </p:cNvSpPr>
          <p:nvPr>
            <p:ph sz="quarter" idx="16" hasCustomPrompt="1"/>
          </p:nvPr>
        </p:nvSpPr>
        <p:spPr>
          <a:xfrm>
            <a:off x="7348764" y="2802443"/>
            <a:ext cx="2714400"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 name="Content Placeholder 1">
            <a:extLst>
              <a:ext uri="{FF2B5EF4-FFF2-40B4-BE49-F238E27FC236}">
                <a16:creationId xmlns:a16="http://schemas.microsoft.com/office/drawing/2014/main" id="{9E177CAB-09E9-45D9-B5E5-87ED47ADE028}"/>
              </a:ext>
            </a:extLst>
          </p:cNvPr>
          <p:cNvSpPr>
            <a:spLocks noGrp="1"/>
          </p:cNvSpPr>
          <p:nvPr>
            <p:ph sz="quarter" idx="15" hasCustomPrompt="1"/>
          </p:nvPr>
        </p:nvSpPr>
        <p:spPr>
          <a:xfrm>
            <a:off x="665165" y="2802443"/>
            <a:ext cx="6039742" cy="3269738"/>
          </a:xfrm>
        </p:spPr>
        <p:txBody>
          <a:bodyPr/>
          <a:lstStyle/>
          <a:p>
            <a:pPr lvl="0"/>
            <a:r>
              <a:rPr lang="en-GB" noProof="0"/>
              <a:t>Use Alt+Shift+Right/Left arrows to change text levels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 name="Text Placeholder 4">
            <a:extLst>
              <a:ext uri="{FF2B5EF4-FFF2-40B4-BE49-F238E27FC236}">
                <a16:creationId xmlns:a16="http://schemas.microsoft.com/office/drawing/2014/main" id="{17C0C67D-3F2A-CADA-7A37-B333CA6F061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086523994"/>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7" name="Text Placeholder 4">
            <a:extLst>
              <a:ext uri="{FF2B5EF4-FFF2-40B4-BE49-F238E27FC236}">
                <a16:creationId xmlns:a16="http://schemas.microsoft.com/office/drawing/2014/main" id="{2439EC37-2F2C-944E-AB9F-8CE8F1F89F15}"/>
              </a:ext>
            </a:extLst>
          </p:cNvPr>
          <p:cNvSpPr>
            <a:spLocks noGrp="1"/>
          </p:cNvSpPr>
          <p:nvPr>
            <p:ph type="body" sz="quarter" idx="15"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39280120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2"/>
            <a:ext cx="9398001" cy="709201"/>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3"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3105430"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545698"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7985964" y="2802443"/>
            <a:ext cx="2077200" cy="3269738"/>
          </a:xfrm>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D184E80-718A-ED9A-F0EB-A5B0774AD5F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597464348"/>
      </p:ext>
    </p:extLst>
  </p:cSld>
  <p:clrMapOvr>
    <a:masterClrMapping/>
  </p:clrMapOvr>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665167"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6" name="Content Placeholder 5">
            <a:extLst>
              <a:ext uri="{FF2B5EF4-FFF2-40B4-BE49-F238E27FC236}">
                <a16:creationId xmlns:a16="http://schemas.microsoft.com/office/drawing/2014/main" id="{8A22A1E6-A642-4AD6-AB79-8DE8930FCDBB}"/>
              </a:ext>
            </a:extLst>
          </p:cNvPr>
          <p:cNvSpPr>
            <a:spLocks noGrp="1"/>
          </p:cNvSpPr>
          <p:nvPr>
            <p:ph sz="quarter" idx="11" hasCustomPrompt="1"/>
          </p:nvPr>
        </p:nvSpPr>
        <p:spPr>
          <a:xfrm>
            <a:off x="665167"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8" name="Content Placeholder 7">
            <a:extLst>
              <a:ext uri="{FF2B5EF4-FFF2-40B4-BE49-F238E27FC236}">
                <a16:creationId xmlns:a16="http://schemas.microsoft.com/office/drawing/2014/main" id="{8A8A34B5-6600-406B-94E8-A6D4627A2D2C}"/>
              </a:ext>
            </a:extLst>
          </p:cNvPr>
          <p:cNvSpPr>
            <a:spLocks noGrp="1"/>
          </p:cNvSpPr>
          <p:nvPr>
            <p:ph sz="quarter" idx="12" hasCustomPrompt="1"/>
          </p:nvPr>
        </p:nvSpPr>
        <p:spPr>
          <a:xfrm>
            <a:off x="5882566" y="2802448"/>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01DBA077-4057-42CF-9538-F883259C51B3}"/>
              </a:ext>
            </a:extLst>
          </p:cNvPr>
          <p:cNvSpPr>
            <a:spLocks noGrp="1"/>
          </p:cNvSpPr>
          <p:nvPr>
            <p:ph sz="quarter" idx="13" hasCustomPrompt="1"/>
          </p:nvPr>
        </p:nvSpPr>
        <p:spPr>
          <a:xfrm>
            <a:off x="5882566" y="4565653"/>
            <a:ext cx="4180601" cy="1506531"/>
          </a:xfrm>
          <a:noFill/>
        </p:spPr>
        <p:txBody>
          <a:bodyPr/>
          <a:lstStyle/>
          <a:p>
            <a:pPr lvl="0"/>
            <a:r>
              <a:rPr lang="en-GB" noProof="0"/>
              <a:t>Use Alt+Shift+Right/Left arrows to change text levels</a:t>
            </a:r>
            <a:endParaRPr lang="en-GB"/>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E9C4B98C-E4D2-8123-9D51-7C700009E705}"/>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3691419914"/>
      </p:ext>
    </p:extLst>
  </p:cSld>
  <p:clrMapOvr>
    <a:masterClrMapping/>
  </p:clrMapOvr>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ur Contents">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3B12E61E-BC50-9930-6C67-27A18A6BD925}"/>
              </a:ext>
            </a:extLst>
          </p:cNvPr>
          <p:cNvSpPr/>
          <p:nvPr userDrawn="1"/>
        </p:nvSpPr>
        <p:spPr>
          <a:xfrm>
            <a:off x="628649"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2" name="Title 1">
            <a:extLst>
              <a:ext uri="{FF2B5EF4-FFF2-40B4-BE49-F238E27FC236}">
                <a16:creationId xmlns:a16="http://schemas.microsoft.com/office/drawing/2014/main" id="{62EB1F81-44D6-4EF7-9CE3-5735B6DD1D71}"/>
              </a:ext>
            </a:extLst>
          </p:cNvPr>
          <p:cNvSpPr>
            <a:spLocks noGrp="1"/>
          </p:cNvSpPr>
          <p:nvPr>
            <p:ph type="title" hasCustomPrompt="1"/>
          </p:nvPr>
        </p:nvSpPr>
        <p:spPr>
          <a:xfrm>
            <a:off x="665163" y="1032440"/>
            <a:ext cx="9398001" cy="619206"/>
          </a:xfrm>
        </p:spPr>
        <p:txBody>
          <a:bodyPr/>
          <a:lstStyle>
            <a:lvl1pPr>
              <a:defRPr sz="2400"/>
            </a:lvl1pPr>
          </a:lstStyle>
          <a:p>
            <a:r>
              <a:rPr lang="en-GB" noProof="0"/>
              <a:t>Slide title</a:t>
            </a:r>
            <a:endParaRPr lang="en-GB"/>
          </a:p>
        </p:txBody>
      </p:sp>
      <p:sp>
        <p:nvSpPr>
          <p:cNvPr id="4" name="Content Placeholder 3">
            <a:extLst>
              <a:ext uri="{FF2B5EF4-FFF2-40B4-BE49-F238E27FC236}">
                <a16:creationId xmlns:a16="http://schemas.microsoft.com/office/drawing/2014/main" id="{8BD131B6-C879-4B02-8749-11A05AB944E7}"/>
              </a:ext>
            </a:extLst>
          </p:cNvPr>
          <p:cNvSpPr>
            <a:spLocks noGrp="1"/>
          </p:cNvSpPr>
          <p:nvPr>
            <p:ph sz="quarter" idx="10" hasCustomPrompt="1"/>
          </p:nvPr>
        </p:nvSpPr>
        <p:spPr>
          <a:xfrm>
            <a:off x="931222"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7" name="Rounded Rectangle 6">
            <a:extLst>
              <a:ext uri="{FF2B5EF4-FFF2-40B4-BE49-F238E27FC236}">
                <a16:creationId xmlns:a16="http://schemas.microsoft.com/office/drawing/2014/main" id="{FA4FF28C-529D-43D3-DD1F-274E293FD77A}"/>
              </a:ext>
            </a:extLst>
          </p:cNvPr>
          <p:cNvSpPr/>
          <p:nvPr userDrawn="1"/>
        </p:nvSpPr>
        <p:spPr>
          <a:xfrm>
            <a:off x="628649"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Content Placeholder 3">
            <a:extLst>
              <a:ext uri="{FF2B5EF4-FFF2-40B4-BE49-F238E27FC236}">
                <a16:creationId xmlns:a16="http://schemas.microsoft.com/office/drawing/2014/main" id="{B8A47E6B-7ACA-222C-4724-6643FCB1E6C0}"/>
              </a:ext>
            </a:extLst>
          </p:cNvPr>
          <p:cNvSpPr>
            <a:spLocks noGrp="1"/>
          </p:cNvSpPr>
          <p:nvPr>
            <p:ph sz="quarter" idx="15" hasCustomPrompt="1"/>
          </p:nvPr>
        </p:nvSpPr>
        <p:spPr>
          <a:xfrm>
            <a:off x="931222"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1" name="Rounded Rectangle 10">
            <a:extLst>
              <a:ext uri="{FF2B5EF4-FFF2-40B4-BE49-F238E27FC236}">
                <a16:creationId xmlns:a16="http://schemas.microsoft.com/office/drawing/2014/main" id="{7446EAA6-E3C1-0D56-503D-A5E3DEA06A8C}"/>
              </a:ext>
            </a:extLst>
          </p:cNvPr>
          <p:cNvSpPr/>
          <p:nvPr userDrawn="1"/>
        </p:nvSpPr>
        <p:spPr>
          <a:xfrm>
            <a:off x="5330748" y="2666995"/>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2" name="Content Placeholder 3">
            <a:extLst>
              <a:ext uri="{FF2B5EF4-FFF2-40B4-BE49-F238E27FC236}">
                <a16:creationId xmlns:a16="http://schemas.microsoft.com/office/drawing/2014/main" id="{4C64CEFE-4FCB-0F8C-EC42-2FF598EACD6A}"/>
              </a:ext>
            </a:extLst>
          </p:cNvPr>
          <p:cNvSpPr>
            <a:spLocks noGrp="1"/>
          </p:cNvSpPr>
          <p:nvPr>
            <p:ph sz="quarter" idx="16" hasCustomPrompt="1"/>
          </p:nvPr>
        </p:nvSpPr>
        <p:spPr>
          <a:xfrm>
            <a:off x="5633321" y="3086414"/>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13" name="Rounded Rectangle 12">
            <a:extLst>
              <a:ext uri="{FF2B5EF4-FFF2-40B4-BE49-F238E27FC236}">
                <a16:creationId xmlns:a16="http://schemas.microsoft.com/office/drawing/2014/main" id="{053B9138-CA84-C35F-46AD-F826241A210F}"/>
              </a:ext>
            </a:extLst>
          </p:cNvPr>
          <p:cNvSpPr/>
          <p:nvPr userDrawn="1"/>
        </p:nvSpPr>
        <p:spPr>
          <a:xfrm>
            <a:off x="5330748" y="4675683"/>
            <a:ext cx="4533679" cy="1770318"/>
          </a:xfrm>
          <a:prstGeom prst="roundRect">
            <a:avLst>
              <a:gd name="adj" fmla="val 9296"/>
            </a:avLst>
          </a:prstGeom>
          <a:solidFill>
            <a:schemeClr val="bg1"/>
          </a:solidFill>
          <a:ln>
            <a:noFill/>
          </a:ln>
          <a:effectLst>
            <a:outerShdw blurRad="615666" dist="38100" dir="5400000" sx="103538" sy="103538" algn="t" rotWithShape="0">
              <a:srgbClr val="FF8300">
                <a:alpha val="1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14" name="Content Placeholder 3">
            <a:extLst>
              <a:ext uri="{FF2B5EF4-FFF2-40B4-BE49-F238E27FC236}">
                <a16:creationId xmlns:a16="http://schemas.microsoft.com/office/drawing/2014/main" id="{EBC7D18E-B3EC-2274-2E13-B49BBEB9456F}"/>
              </a:ext>
            </a:extLst>
          </p:cNvPr>
          <p:cNvSpPr>
            <a:spLocks noGrp="1"/>
          </p:cNvSpPr>
          <p:nvPr>
            <p:ph sz="quarter" idx="17" hasCustomPrompt="1"/>
          </p:nvPr>
        </p:nvSpPr>
        <p:spPr>
          <a:xfrm>
            <a:off x="5633321" y="5095102"/>
            <a:ext cx="4150264" cy="1133794"/>
          </a:xfrm>
          <a:noFill/>
        </p:spPr>
        <p:txBody>
          <a:bodyPr/>
          <a:lstStyle/>
          <a:p>
            <a:pPr lvl="0"/>
            <a:r>
              <a:rPr lang="en-GB" noProof="0"/>
              <a:t>Use Alt+Shift+Right/Left arrows to change text levels</a:t>
            </a:r>
            <a:endParaRPr lang="en-GB"/>
          </a:p>
          <a:p>
            <a:pPr lvl="1"/>
            <a:r>
              <a:rPr lang="en-GB"/>
              <a:t>Second level</a:t>
            </a:r>
          </a:p>
          <a:p>
            <a:pPr lvl="2"/>
            <a:r>
              <a:rPr lang="en-GB"/>
              <a:t>Third level</a:t>
            </a:r>
          </a:p>
        </p:txBody>
      </p:sp>
      <p:sp>
        <p:nvSpPr>
          <p:cNvPr id="6" name="Text Placeholder 4">
            <a:extLst>
              <a:ext uri="{FF2B5EF4-FFF2-40B4-BE49-F238E27FC236}">
                <a16:creationId xmlns:a16="http://schemas.microsoft.com/office/drawing/2014/main" id="{AA669579-F586-2DFE-1A52-BF74F3752E2E}"/>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252110713"/>
      </p:ext>
    </p:extLst>
  </p:cSld>
  <p:clrMapOvr>
    <a:masterClrMapping/>
  </p:clrMapOvr>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5846052" y="1032442"/>
            <a:ext cx="4217115" cy="864587"/>
          </a:xfrm>
        </p:spPr>
        <p:txBody>
          <a:bodyPr/>
          <a:lstStyle>
            <a:lvl1pPr>
              <a:defRPr sz="2400"/>
            </a:lvl1pPr>
          </a:lstStyle>
          <a:p>
            <a:r>
              <a:rPr lang="en-GB" noProof="0"/>
              <a:t>Slide title</a:t>
            </a:r>
          </a:p>
        </p:txBody>
      </p:sp>
      <p:sp>
        <p:nvSpPr>
          <p:cNvPr id="7" name="Content Placeholder 2">
            <a:extLst>
              <a:ext uri="{FF2B5EF4-FFF2-40B4-BE49-F238E27FC236}">
                <a16:creationId xmlns:a16="http://schemas.microsoft.com/office/drawing/2014/main" id="{3B099D75-4B83-4AE8-9C88-5935E02B0536}"/>
              </a:ext>
            </a:extLst>
          </p:cNvPr>
          <p:cNvSpPr>
            <a:spLocks noGrp="1"/>
          </p:cNvSpPr>
          <p:nvPr>
            <p:ph idx="1" hasCustomPrompt="1"/>
          </p:nvPr>
        </p:nvSpPr>
        <p:spPr>
          <a:xfrm>
            <a:off x="5846052" y="2802443"/>
            <a:ext cx="4217115"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BF1BB149-136D-4116-8379-5710241A176C}"/>
              </a:ext>
            </a:extLst>
          </p:cNvPr>
          <p:cNvSpPr>
            <a:spLocks noGrp="1"/>
          </p:cNvSpPr>
          <p:nvPr>
            <p:ph type="pic" sz="quarter" idx="11"/>
          </p:nvPr>
        </p:nvSpPr>
        <p:spPr>
          <a:xfrm>
            <a:off x="3"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4" name="Text Placeholder 4">
            <a:extLst>
              <a:ext uri="{FF2B5EF4-FFF2-40B4-BE49-F238E27FC236}">
                <a16:creationId xmlns:a16="http://schemas.microsoft.com/office/drawing/2014/main" id="{F5A99006-B2CC-1034-3FD2-98BB2FB2EB1B}"/>
              </a:ext>
            </a:extLst>
          </p:cNvPr>
          <p:cNvSpPr>
            <a:spLocks noGrp="1"/>
          </p:cNvSpPr>
          <p:nvPr>
            <p:ph type="body" sz="quarter" idx="10" hasCustomPrompt="1"/>
          </p:nvPr>
        </p:nvSpPr>
        <p:spPr>
          <a:xfrm>
            <a:off x="5846049"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dirty="0"/>
              <a:t>Subtitle</a:t>
            </a:r>
          </a:p>
        </p:txBody>
      </p:sp>
    </p:spTree>
    <p:extLst>
      <p:ext uri="{BB962C8B-B14F-4D97-AF65-F5344CB8AC3E}">
        <p14:creationId xmlns:p14="http://schemas.microsoft.com/office/powerpoint/2010/main" val="426774496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a:xfrm>
            <a:off x="665166" y="1032442"/>
            <a:ext cx="4180601" cy="864587"/>
          </a:xfrm>
        </p:spPr>
        <p:txBody>
          <a:bodyPr/>
          <a:lstStyle>
            <a:lvl1pPr>
              <a:defRPr sz="2400"/>
            </a:lvl1pPr>
          </a:lstStyle>
          <a:p>
            <a:r>
              <a:rPr lang="en-GB" noProof="0"/>
              <a:t>Slide title</a:t>
            </a:r>
          </a:p>
        </p:txBody>
      </p:sp>
      <p:sp>
        <p:nvSpPr>
          <p:cNvPr id="8" name="Content Placeholder 2">
            <a:extLst>
              <a:ext uri="{FF2B5EF4-FFF2-40B4-BE49-F238E27FC236}">
                <a16:creationId xmlns:a16="http://schemas.microsoft.com/office/drawing/2014/main" id="{8FF50214-EE6D-4D2F-8B42-7ABE577137B4}"/>
              </a:ext>
            </a:extLst>
          </p:cNvPr>
          <p:cNvSpPr>
            <a:spLocks noGrp="1"/>
          </p:cNvSpPr>
          <p:nvPr>
            <p:ph idx="1" hasCustomPrompt="1"/>
          </p:nvPr>
        </p:nvSpPr>
        <p:spPr>
          <a:xfrm>
            <a:off x="665166" y="2802443"/>
            <a:ext cx="4180601" cy="3269738"/>
          </a:xfrm>
        </p:spPr>
        <p:txBody>
          <a:bodyPr/>
          <a:lstStyle>
            <a:lvl1pPr>
              <a:defRPr/>
            </a:lvl1p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9" name="Picture Placeholder 8">
            <a:extLst>
              <a:ext uri="{FF2B5EF4-FFF2-40B4-BE49-F238E27FC236}">
                <a16:creationId xmlns:a16="http://schemas.microsoft.com/office/drawing/2014/main" id="{1C52AC07-BDDB-4B92-BEB0-F59687FB208A}"/>
              </a:ext>
            </a:extLst>
          </p:cNvPr>
          <p:cNvSpPr>
            <a:spLocks noGrp="1"/>
          </p:cNvSpPr>
          <p:nvPr>
            <p:ph type="pic" sz="quarter" idx="11"/>
          </p:nvPr>
        </p:nvSpPr>
        <p:spPr>
          <a:xfrm>
            <a:off x="5294315" y="0"/>
            <a:ext cx="5397501" cy="7559675"/>
          </a:xfrm>
          <a:solidFill>
            <a:schemeClr val="bg1">
              <a:lumMod val="95000"/>
            </a:schemeClr>
          </a:solidFill>
        </p:spPr>
        <p:txBody>
          <a:bodyPr anchor="ctr"/>
          <a:lstStyle>
            <a:lvl1pPr marL="0" indent="0" algn="ctr">
              <a:buNone/>
              <a:defRPr>
                <a:noFill/>
              </a:defRPr>
            </a:lvl1pPr>
          </a:lstStyle>
          <a:p>
            <a:r>
              <a:rPr lang="en-US"/>
              <a:t>Click icon to add picture</a:t>
            </a:r>
          </a:p>
        </p:txBody>
      </p:sp>
      <p:sp>
        <p:nvSpPr>
          <p:cNvPr id="5" name="Text Placeholder 4">
            <a:extLst>
              <a:ext uri="{FF2B5EF4-FFF2-40B4-BE49-F238E27FC236}">
                <a16:creationId xmlns:a16="http://schemas.microsoft.com/office/drawing/2014/main" id="{5FAF3B1F-99E4-78A4-2C2C-1B6C61258436}"/>
              </a:ext>
            </a:extLst>
          </p:cNvPr>
          <p:cNvSpPr>
            <a:spLocks noGrp="1"/>
          </p:cNvSpPr>
          <p:nvPr>
            <p:ph type="body" sz="quarter" idx="10" hasCustomPrompt="1"/>
          </p:nvPr>
        </p:nvSpPr>
        <p:spPr>
          <a:xfrm>
            <a:off x="665163" y="2347159"/>
            <a:ext cx="4217113" cy="455285"/>
          </a:xfrm>
          <a:noFill/>
        </p:spPr>
        <p:txBody>
          <a:bodyPr bIns="0" anchor="t"/>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198463699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Text Placeholder 4">
            <a:extLst>
              <a:ext uri="{FF2B5EF4-FFF2-40B4-BE49-F238E27FC236}">
                <a16:creationId xmlns:a16="http://schemas.microsoft.com/office/drawing/2014/main" id="{66A54C84-3901-C94E-E787-087A7B3B12D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0811880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3" name="Rounded Rectangle 2">
            <a:extLst>
              <a:ext uri="{FF2B5EF4-FFF2-40B4-BE49-F238E27FC236}">
                <a16:creationId xmlns:a16="http://schemas.microsoft.com/office/drawing/2014/main" id="{31AD921E-299C-D3C4-7820-5E024D410839}"/>
              </a:ext>
            </a:extLst>
          </p:cNvPr>
          <p:cNvSpPr/>
          <p:nvPr userDrawn="1"/>
        </p:nvSpPr>
        <p:spPr>
          <a:xfrm rot="5400000">
            <a:off x="1254279"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5" name="Rounded Rectangle 4">
            <a:extLst>
              <a:ext uri="{FF2B5EF4-FFF2-40B4-BE49-F238E27FC236}">
                <a16:creationId xmlns:a16="http://schemas.microsoft.com/office/drawing/2014/main" id="{A9972123-411B-D1A3-AA3D-1DC9A130C63F}"/>
              </a:ext>
            </a:extLst>
          </p:cNvPr>
          <p:cNvSpPr/>
          <p:nvPr userDrawn="1"/>
        </p:nvSpPr>
        <p:spPr>
          <a:xfrm rot="5400000">
            <a:off x="4478830" y="2061543"/>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6" name="Rounded Rectangle 5">
            <a:extLst>
              <a:ext uri="{FF2B5EF4-FFF2-40B4-BE49-F238E27FC236}">
                <a16:creationId xmlns:a16="http://schemas.microsoft.com/office/drawing/2014/main" id="{527D9BCA-86C8-2330-D1A4-1BFB0816F27B}"/>
              </a:ext>
            </a:extLst>
          </p:cNvPr>
          <p:cNvSpPr/>
          <p:nvPr userDrawn="1"/>
        </p:nvSpPr>
        <p:spPr>
          <a:xfrm rot="5400000">
            <a:off x="7703382" y="2061543"/>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7" name="Rounded Rectangle 6">
            <a:extLst>
              <a:ext uri="{FF2B5EF4-FFF2-40B4-BE49-F238E27FC236}">
                <a16:creationId xmlns:a16="http://schemas.microsoft.com/office/drawing/2014/main" id="{471A1710-EEEB-21D3-8499-754CAE5D2E4A}"/>
              </a:ext>
            </a:extLst>
          </p:cNvPr>
          <p:cNvSpPr/>
          <p:nvPr userDrawn="1"/>
        </p:nvSpPr>
        <p:spPr>
          <a:xfrm rot="5400000">
            <a:off x="1254279"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8" name="Rounded Rectangle 7">
            <a:extLst>
              <a:ext uri="{FF2B5EF4-FFF2-40B4-BE49-F238E27FC236}">
                <a16:creationId xmlns:a16="http://schemas.microsoft.com/office/drawing/2014/main" id="{B3C32386-9995-05A5-4D53-B77FBDB4EEC3}"/>
              </a:ext>
            </a:extLst>
          </p:cNvPr>
          <p:cNvSpPr/>
          <p:nvPr userDrawn="1"/>
        </p:nvSpPr>
        <p:spPr>
          <a:xfrm rot="5400000">
            <a:off x="4478830" y="4167455"/>
            <a:ext cx="1770667" cy="2948898"/>
          </a:xfrm>
          <a:prstGeom prst="roundRect">
            <a:avLst>
              <a:gd name="adj" fmla="val 9296"/>
            </a:avLst>
          </a:prstGeom>
          <a:solidFill>
            <a:schemeClr val="bg1"/>
          </a:solidFill>
          <a:ln>
            <a:solidFill>
              <a:schemeClr val="accent3"/>
            </a:solidFill>
          </a:ln>
          <a:effectLst>
            <a:outerShdw blurRad="753720" dist="38100" dir="5400000" sx="96000" sy="96000" algn="t" rotWithShape="0">
              <a:srgbClr val="FFA400">
                <a:alpha val="30049"/>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9" name="Rounded Rectangle 8">
            <a:extLst>
              <a:ext uri="{FF2B5EF4-FFF2-40B4-BE49-F238E27FC236}">
                <a16:creationId xmlns:a16="http://schemas.microsoft.com/office/drawing/2014/main" id="{A8B13388-E13E-BCFA-7018-CE070B415784}"/>
              </a:ext>
            </a:extLst>
          </p:cNvPr>
          <p:cNvSpPr/>
          <p:nvPr userDrawn="1"/>
        </p:nvSpPr>
        <p:spPr>
          <a:xfrm rot="5400000">
            <a:off x="7703382" y="4167455"/>
            <a:ext cx="1770667" cy="2948898"/>
          </a:xfrm>
          <a:prstGeom prst="roundRect">
            <a:avLst>
              <a:gd name="adj" fmla="val 9296"/>
            </a:avLst>
          </a:prstGeom>
          <a:solidFill>
            <a:schemeClr val="bg1"/>
          </a:solidFill>
          <a:ln>
            <a:solidFill>
              <a:schemeClr val="accent6"/>
            </a:solidFill>
          </a:ln>
          <a:effectLst>
            <a:outerShdw blurRad="753720" dist="38100" dir="5400000" sx="96000" sy="96000" algn="t" rotWithShape="0">
              <a:srgbClr val="4B5F80">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6918" tIns="53459" rIns="106918" bIns="53459" numCol="1" spcCol="0" rtlCol="0" fromWordArt="0" anchor="ctr" anchorCtr="0" forceAA="0" compatLnSpc="1">
            <a:prstTxWarp prst="textNoShape">
              <a:avLst/>
            </a:prstTxWarp>
            <a:noAutofit/>
          </a:bodyPr>
          <a:lstStyle/>
          <a:p>
            <a:pPr algn="ctr"/>
            <a:endParaRPr lang="en-GB" sz="1637"/>
          </a:p>
        </p:txBody>
      </p:sp>
      <p:sp>
        <p:nvSpPr>
          <p:cNvPr id="34" name="Text Placeholder 33">
            <a:extLst>
              <a:ext uri="{FF2B5EF4-FFF2-40B4-BE49-F238E27FC236}">
                <a16:creationId xmlns:a16="http://schemas.microsoft.com/office/drawing/2014/main" id="{800B566C-0372-29E4-5D59-62BA07E5DF43}"/>
              </a:ext>
            </a:extLst>
          </p:cNvPr>
          <p:cNvSpPr>
            <a:spLocks noGrp="1"/>
          </p:cNvSpPr>
          <p:nvPr>
            <p:ph type="body" sz="quarter" idx="15" hasCustomPrompt="1"/>
          </p:nvPr>
        </p:nvSpPr>
        <p:spPr>
          <a:xfrm>
            <a:off x="66452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1</a:t>
            </a:r>
          </a:p>
        </p:txBody>
      </p:sp>
      <p:sp>
        <p:nvSpPr>
          <p:cNvPr id="36" name="Text Placeholder 33">
            <a:extLst>
              <a:ext uri="{FF2B5EF4-FFF2-40B4-BE49-F238E27FC236}">
                <a16:creationId xmlns:a16="http://schemas.microsoft.com/office/drawing/2014/main" id="{0596C4AD-57BB-30A2-5E1D-91C8CD7B4F6A}"/>
              </a:ext>
            </a:extLst>
          </p:cNvPr>
          <p:cNvSpPr>
            <a:spLocks noGrp="1"/>
          </p:cNvSpPr>
          <p:nvPr>
            <p:ph type="body" sz="quarter" idx="16" hasCustomPrompt="1"/>
          </p:nvPr>
        </p:nvSpPr>
        <p:spPr>
          <a:xfrm>
            <a:off x="66452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4</a:t>
            </a:r>
          </a:p>
        </p:txBody>
      </p:sp>
      <p:sp>
        <p:nvSpPr>
          <p:cNvPr id="37" name="Text Placeholder 33">
            <a:extLst>
              <a:ext uri="{FF2B5EF4-FFF2-40B4-BE49-F238E27FC236}">
                <a16:creationId xmlns:a16="http://schemas.microsoft.com/office/drawing/2014/main" id="{CA17D34A-8B27-5680-2189-8A6419816563}"/>
              </a:ext>
            </a:extLst>
          </p:cNvPr>
          <p:cNvSpPr>
            <a:spLocks noGrp="1"/>
          </p:cNvSpPr>
          <p:nvPr>
            <p:ph type="body" sz="quarter" idx="17" hasCustomPrompt="1"/>
          </p:nvPr>
        </p:nvSpPr>
        <p:spPr>
          <a:xfrm>
            <a:off x="3883569"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2</a:t>
            </a:r>
          </a:p>
        </p:txBody>
      </p:sp>
      <p:sp>
        <p:nvSpPr>
          <p:cNvPr id="38" name="Text Placeholder 33">
            <a:extLst>
              <a:ext uri="{FF2B5EF4-FFF2-40B4-BE49-F238E27FC236}">
                <a16:creationId xmlns:a16="http://schemas.microsoft.com/office/drawing/2014/main" id="{0052A383-7A3E-CA0B-8E85-8534C94474AF}"/>
              </a:ext>
            </a:extLst>
          </p:cNvPr>
          <p:cNvSpPr>
            <a:spLocks noGrp="1"/>
          </p:cNvSpPr>
          <p:nvPr>
            <p:ph type="body" sz="quarter" idx="18" hasCustomPrompt="1"/>
          </p:nvPr>
        </p:nvSpPr>
        <p:spPr>
          <a:xfrm>
            <a:off x="3883569"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5</a:t>
            </a:r>
          </a:p>
        </p:txBody>
      </p:sp>
      <p:sp>
        <p:nvSpPr>
          <p:cNvPr id="39" name="Text Placeholder 33">
            <a:extLst>
              <a:ext uri="{FF2B5EF4-FFF2-40B4-BE49-F238E27FC236}">
                <a16:creationId xmlns:a16="http://schemas.microsoft.com/office/drawing/2014/main" id="{64D469C4-5E50-90DA-2D72-6F3E8E78A1CF}"/>
              </a:ext>
            </a:extLst>
          </p:cNvPr>
          <p:cNvSpPr>
            <a:spLocks noGrp="1"/>
          </p:cNvSpPr>
          <p:nvPr>
            <p:ph type="body" sz="quarter" idx="19" hasCustomPrompt="1"/>
          </p:nvPr>
        </p:nvSpPr>
        <p:spPr>
          <a:xfrm>
            <a:off x="7102611" y="2650556"/>
            <a:ext cx="1070639" cy="1770925"/>
          </a:xfrm>
        </p:spPr>
        <p:txBody>
          <a:bodyPr anchor="ctr"/>
          <a:lstStyle>
            <a:lvl1pPr marL="0" indent="0" algn="l" defTabSz="801899" rtl="0" eaLnBrk="1" latinLnBrk="0" hangingPunct="1">
              <a:lnSpc>
                <a:spcPct val="90000"/>
              </a:lnSpc>
              <a:spcBef>
                <a:spcPct val="0"/>
              </a:spcBef>
              <a:buNone/>
              <a:defRPr lang="en-GB" sz="3274" b="1" kern="1200" smtClean="0">
                <a:gradFill flip="none" rotWithShape="1">
                  <a:gsLst>
                    <a:gs pos="0">
                      <a:schemeClr val="accent4"/>
                    </a:gs>
                    <a:gs pos="100000">
                      <a:srgbClr val="FFA400"/>
                    </a:gs>
                  </a:gsLst>
                  <a:lin ang="0" scaled="1"/>
                </a:gra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3</a:t>
            </a:r>
          </a:p>
        </p:txBody>
      </p:sp>
      <p:sp>
        <p:nvSpPr>
          <p:cNvPr id="40" name="Text Placeholder 33">
            <a:extLst>
              <a:ext uri="{FF2B5EF4-FFF2-40B4-BE49-F238E27FC236}">
                <a16:creationId xmlns:a16="http://schemas.microsoft.com/office/drawing/2014/main" id="{FBCA0B58-9531-6E66-B270-5BC42D3F5152}"/>
              </a:ext>
            </a:extLst>
          </p:cNvPr>
          <p:cNvSpPr>
            <a:spLocks noGrp="1"/>
          </p:cNvSpPr>
          <p:nvPr>
            <p:ph type="body" sz="quarter" idx="20" hasCustomPrompt="1"/>
          </p:nvPr>
        </p:nvSpPr>
        <p:spPr>
          <a:xfrm>
            <a:off x="7102611" y="4745951"/>
            <a:ext cx="1070639" cy="1770925"/>
          </a:xfrm>
        </p:spPr>
        <p:txBody>
          <a:bodyPr anchor="ctr"/>
          <a:lstStyle>
            <a:lvl1pPr marL="0" indent="0" algn="l" defTabSz="801899" rtl="0" eaLnBrk="1" latinLnBrk="0" hangingPunct="1">
              <a:lnSpc>
                <a:spcPct val="90000"/>
              </a:lnSpc>
              <a:spcBef>
                <a:spcPct val="0"/>
              </a:spcBef>
              <a:buNone/>
              <a:defRPr lang="en-GB" sz="3274" b="1" kern="1200" smtClean="0">
                <a:solidFill>
                  <a:srgbClr val="4B5F80"/>
                </a:solidFill>
                <a:latin typeface="+mj-lt"/>
                <a:ea typeface="+mj-ea"/>
                <a:cs typeface="+mj-cs"/>
              </a:defRPr>
            </a:lvl1pPr>
          </a:lstStyle>
          <a:p>
            <a:pPr marL="0" marR="0" lvl="0" indent="0" algn="ctr" defTabSz="801899" rtl="0" eaLnBrk="1" fontAlgn="auto" latinLnBrk="0" hangingPunct="1">
              <a:lnSpc>
                <a:spcPct val="100000"/>
              </a:lnSpc>
              <a:spcBef>
                <a:spcPts val="954"/>
              </a:spcBef>
              <a:spcAft>
                <a:spcPct val="0"/>
              </a:spcAft>
              <a:buClr>
                <a:srgbClr val="FFA400"/>
              </a:buClr>
              <a:buSzPct val="90000"/>
              <a:buFont typeface="Wingdings 3" panose="05040102010807070707" pitchFamily="18" charset="2"/>
              <a:buNone/>
              <a:defRPr/>
            </a:pPr>
            <a:r>
              <a:rPr lang="en-GB" sz="3742"/>
              <a:t>6</a:t>
            </a:r>
          </a:p>
        </p:txBody>
      </p:sp>
      <p:sp>
        <p:nvSpPr>
          <p:cNvPr id="10" name="Text Placeholder 4">
            <a:extLst>
              <a:ext uri="{FF2B5EF4-FFF2-40B4-BE49-F238E27FC236}">
                <a16:creationId xmlns:a16="http://schemas.microsoft.com/office/drawing/2014/main" id="{9E46882F-DB78-AC85-0A41-E7D5E3057488}"/>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858570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
        <p:nvSpPr>
          <p:cNvPr id="4" name="Text Placeholder 4">
            <a:extLst>
              <a:ext uri="{FF2B5EF4-FFF2-40B4-BE49-F238E27FC236}">
                <a16:creationId xmlns:a16="http://schemas.microsoft.com/office/drawing/2014/main" id="{A61987B9-8783-6974-C610-4CB20A32EECC}"/>
              </a:ext>
            </a:extLst>
          </p:cNvPr>
          <p:cNvSpPr>
            <a:spLocks noGrp="1"/>
          </p:cNvSpPr>
          <p:nvPr>
            <p:ph type="body" sz="quarter" idx="14" hasCustomPrompt="1"/>
          </p:nvPr>
        </p:nvSpPr>
        <p:spPr>
          <a:xfrm>
            <a:off x="665163" y="1908323"/>
            <a:ext cx="9398001" cy="251511"/>
          </a:xfrm>
          <a:noFill/>
        </p:spPr>
        <p:txBody>
          <a:bodyPr bIns="0" anchor="b"/>
          <a:lstStyle>
            <a:lvl1pPr marL="0" indent="0">
              <a:buNone/>
              <a:defRPr lang="en-GB" sz="1200" b="0" i="0" kern="1200" cap="none" baseline="0">
                <a:solidFill>
                  <a:schemeClr val="tx2"/>
                </a:solidFill>
                <a:latin typeface="+mn-lt"/>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41854904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Disclaimer (general)">
    <p:spTree>
      <p:nvGrpSpPr>
        <p:cNvPr id="1" name=""/>
        <p:cNvGrpSpPr/>
        <p:nvPr/>
      </p:nvGrpSpPr>
      <p:grpSpPr>
        <a:xfrm>
          <a:off x="0" y="0"/>
          <a:ext cx="0" cy="0"/>
          <a:chOff x="0" y="0"/>
          <a:chExt cx="0" cy="0"/>
        </a:xfrm>
      </p:grpSpPr>
      <p:grpSp>
        <p:nvGrpSpPr>
          <p:cNvPr id="2" name="EN Disclaimer">
            <a:extLst>
              <a:ext uri="{FF2B5EF4-FFF2-40B4-BE49-F238E27FC236}">
                <a16:creationId xmlns:a16="http://schemas.microsoft.com/office/drawing/2014/main" id="{66D3F688-554B-4C38-87B6-3BAB54314DF8}"/>
              </a:ext>
            </a:extLst>
          </p:cNvPr>
          <p:cNvGrpSpPr/>
          <p:nvPr userDrawn="1"/>
        </p:nvGrpSpPr>
        <p:grpSpPr>
          <a:xfrm>
            <a:off x="1575235" y="1906248"/>
            <a:ext cx="7541343" cy="3747180"/>
            <a:chOff x="1618505" y="2687008"/>
            <a:chExt cx="7541343" cy="3747180"/>
          </a:xfrm>
        </p:grpSpPr>
        <p:sp>
          <p:nvSpPr>
            <p:cNvPr id="3" name="TextBox 7">
              <a:extLst>
                <a:ext uri="{FF2B5EF4-FFF2-40B4-BE49-F238E27FC236}">
                  <a16:creationId xmlns:a16="http://schemas.microsoft.com/office/drawing/2014/main" id="{11631E77-A784-40C0-BF97-5FEDB1C9CADF}"/>
                </a:ext>
              </a:extLst>
            </p:cNvPr>
            <p:cNvSpPr txBox="1"/>
            <p:nvPr userDrawn="1"/>
          </p:nvSpPr>
          <p:spPr>
            <a:xfrm>
              <a:off x="1618505" y="2964007"/>
              <a:ext cx="7541343" cy="3470181"/>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spcAft>
                  <a:spcPts val="300"/>
                </a:spcAft>
              </a:pPr>
              <a:r>
                <a:rPr lang="en-US" sz="900">
                  <a:latin typeface="Nunito Sans" pitchFamily="2" charset="77"/>
                </a:rPr>
                <a:t>This communication has been sent to recipients for information purposes only and cannot be considered to constitute an advertisement, an offer or a personalised recommendation to buy or sell a financial instrument or any other investment or currency.</a:t>
              </a:r>
            </a:p>
            <a:p>
              <a:pPr algn="just">
                <a:spcAft>
                  <a:spcPts val="300"/>
                </a:spcAft>
              </a:pPr>
              <a:r>
                <a:rPr lang="en-US" sz="900">
                  <a:latin typeface="Nunito Sans" pitchFamily="2" charset="77"/>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 </a:t>
              </a:r>
            </a:p>
            <a:p>
              <a:pPr algn="just">
                <a:spcAft>
                  <a:spcPts val="300"/>
                </a:spcAft>
              </a:pPr>
              <a:r>
                <a:rPr lang="en-US" sz="900">
                  <a:latin typeface="Nunito Sans" pitchFamily="2" charset="77"/>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 </a:t>
              </a:r>
            </a:p>
            <a:p>
              <a:pPr algn="just">
                <a:spcAft>
                  <a:spcPts val="300"/>
                </a:spcAft>
              </a:pPr>
              <a:r>
                <a:rPr lang="en-US" sz="900">
                  <a:latin typeface="Nunito Sans" pitchFamily="2" charset="77"/>
                </a:rPr>
                <a:t>Past performance is not a reliable indicator of current or future results. Any reference to the past performance of an investment does not guarantee its future performance. Fluctuations in exchange rates may adversely affect the value, price or income of any investment. </a:t>
              </a:r>
            </a:p>
            <a:p>
              <a:pPr algn="just">
                <a:spcAft>
                  <a:spcPts val="300"/>
                </a:spcAft>
              </a:pPr>
              <a:r>
                <a:rPr lang="en-US" sz="900">
                  <a:latin typeface="Nunito Sans" pitchFamily="2" charset="77"/>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 </a:t>
              </a:r>
            </a:p>
            <a:p>
              <a:pPr algn="just">
                <a:spcAft>
                  <a:spcPts val="300"/>
                </a:spcAft>
              </a:pPr>
              <a:r>
                <a:rPr lang="en-US" sz="900">
                  <a:latin typeface="Nunito Sans" pitchFamily="2" charset="77"/>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p>
          </p:txBody>
        </p:sp>
        <p:sp>
          <p:nvSpPr>
            <p:cNvPr id="4" name="Rectangle 3">
              <a:extLst>
                <a:ext uri="{FF2B5EF4-FFF2-40B4-BE49-F238E27FC236}">
                  <a16:creationId xmlns:a16="http://schemas.microsoft.com/office/drawing/2014/main" id="{955156A8-2899-4B3E-ADB9-34A6DD4992CF}"/>
                </a:ext>
              </a:extLst>
            </p:cNvPr>
            <p:cNvSpPr/>
            <p:nvPr userDrawn="1"/>
          </p:nvSpPr>
          <p:spPr>
            <a:xfrm>
              <a:off x="1618505" y="2687008"/>
              <a:ext cx="1647887" cy="261610"/>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spcBef>
                  <a:spcPct val="0"/>
                </a:spcBef>
              </a:pPr>
              <a:r>
                <a:rPr lang="en-US" altLang="en-CH" sz="1100" kern="600" spc="-20">
                  <a:gradFill flip="none" rotWithShape="1">
                    <a:gsLst>
                      <a:gs pos="0">
                        <a:schemeClr val="accent4"/>
                      </a:gs>
                      <a:gs pos="100000">
                        <a:srgbClr val="FFA400"/>
                      </a:gs>
                    </a:gsLst>
                    <a:lin ang="0" scaled="1"/>
                  </a:gradFill>
                  <a:latin typeface="Nunito Sans ExtraBold" pitchFamily="2" charset="77"/>
                  <a:ea typeface="+mj-ea"/>
                  <a:cs typeface="+mj-cs"/>
                </a:rPr>
                <a:t>Important Information </a:t>
              </a:r>
              <a:endParaRPr lang="en-US" sz="1100" kern="600" spc="-20">
                <a:gradFill flip="none" rotWithShape="1">
                  <a:gsLst>
                    <a:gs pos="0">
                      <a:schemeClr val="accent4"/>
                    </a:gs>
                    <a:gs pos="100000">
                      <a:srgbClr val="FFA400"/>
                    </a:gs>
                  </a:gsLst>
                  <a:lin ang="0" scaled="1"/>
                </a:gradFill>
                <a:latin typeface="Nunito Sans ExtraBold" pitchFamily="2" charset="77"/>
                <a:ea typeface="+mj-ea"/>
                <a:cs typeface="+mj-cs"/>
              </a:endParaRPr>
            </a:p>
          </p:txBody>
        </p:sp>
      </p:grpSp>
    </p:spTree>
    <p:extLst>
      <p:ext uri="{BB962C8B-B14F-4D97-AF65-F5344CB8AC3E}">
        <p14:creationId xmlns:p14="http://schemas.microsoft.com/office/powerpoint/2010/main" val="134849963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Final page - blank">
    <p:bg>
      <p:bgRef idx="1001">
        <a:schemeClr val="bg1"/>
      </p:bgRef>
    </p:bg>
    <p:spTree>
      <p:nvGrpSpPr>
        <p:cNvPr id="1" name=""/>
        <p:cNvGrpSpPr/>
        <p:nvPr/>
      </p:nvGrpSpPr>
      <p:grpSpPr>
        <a:xfrm>
          <a:off x="0" y="0"/>
          <a:ext cx="0" cy="0"/>
          <a:chOff x="0" y="0"/>
          <a:chExt cx="0" cy="0"/>
        </a:xfrm>
      </p:grpSpPr>
      <p:sp>
        <p:nvSpPr>
          <p:cNvPr id="8" name="Rectangle 11">
            <a:extLst>
              <a:ext uri="{FF2B5EF4-FFF2-40B4-BE49-F238E27FC236}">
                <a16:creationId xmlns:a16="http://schemas.microsoft.com/office/drawing/2014/main" id="{B4147DA3-E36C-A06A-B178-3E626E257DCA}"/>
              </a:ext>
            </a:extLst>
          </p:cNvPr>
          <p:cNvSpPr txBox="1">
            <a:spLocks noChangeArrowheads="1"/>
          </p:cNvSpPr>
          <p:nvPr userDrawn="1"/>
        </p:nvSpPr>
        <p:spPr bwMode="auto">
          <a:xfrm rot="16200000">
            <a:off x="-412268" y="6603344"/>
            <a:ext cx="1234078" cy="171760"/>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96" kern="600">
                <a:solidFill>
                  <a:schemeClr val="bg1">
                    <a:lumMod val="85000"/>
                  </a:schemeClr>
                </a:solidFill>
                <a:latin typeface="Nunito Sans" pitchFamily="2" charset="77"/>
              </a:rPr>
              <a:t>PRIVATE </a:t>
            </a:r>
            <a:r>
              <a:rPr lang="en-US" altLang="en-CH" sz="596" kern="600">
                <a:solidFill>
                  <a:schemeClr val="bg1">
                    <a:lumMod val="85000"/>
                  </a:schemeClr>
                </a:solidFill>
                <a:latin typeface="Nunito Sans" pitchFamily="2" charset="77"/>
              </a:rPr>
              <a:t>&amp; CONFIDENTIAL</a:t>
            </a:r>
            <a:endParaRPr lang="en-GB" altLang="en-CH" sz="596" kern="600">
              <a:solidFill>
                <a:schemeClr val="bg1">
                  <a:lumMod val="85000"/>
                </a:schemeClr>
              </a:solidFill>
              <a:latin typeface="Nunito Sans" pitchFamily="2" charset="77"/>
            </a:endParaRPr>
          </a:p>
        </p:txBody>
      </p:sp>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a:extLst>
              <a:ext uri="{FF2B5EF4-FFF2-40B4-BE49-F238E27FC236}">
                <a16:creationId xmlns:a16="http://schemas.microsoft.com/office/drawing/2014/main" id="{B54EA86E-FE57-087C-065B-87B8FA6F09C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872826"/>
            <a:ext cx="6767793" cy="1312166"/>
          </a:xfrm>
          <a:prstGeom prst="rect">
            <a:avLst/>
          </a:prstGeom>
        </p:spPr>
      </p:pic>
    </p:spTree>
    <p:extLst>
      <p:ext uri="{BB962C8B-B14F-4D97-AF65-F5344CB8AC3E}">
        <p14:creationId xmlns:p14="http://schemas.microsoft.com/office/powerpoint/2010/main" val="3655377727"/>
      </p:ext>
    </p:extLst>
  </p:cSld>
  <p:clrMapOvr>
    <a:overrideClrMapping bg1="lt1" tx1="dk1" bg2="lt2" tx2="dk2" accent1="accent1" accent2="accent2" accent3="accent3" accent4="accent4" accent5="accent5" accent6="accent6" hlink="hlink" folHlink="folHlink"/>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Final page - Orange">
    <p:bg>
      <p:bgPr>
        <a:solidFill>
          <a:schemeClr val="accent1"/>
        </a:solidFill>
        <a:effectLst/>
      </p:bgPr>
    </p:bg>
    <p:spTree>
      <p:nvGrpSpPr>
        <p:cNvPr id="1" name=""/>
        <p:cNvGrpSpPr/>
        <p:nvPr/>
      </p:nvGrpSpPr>
      <p:grpSpPr>
        <a:xfrm>
          <a:off x="0" y="0"/>
          <a:ext cx="0" cy="0"/>
          <a:chOff x="0" y="0"/>
          <a:chExt cx="0" cy="0"/>
        </a:xfrm>
      </p:grpSpPr>
      <p:pic>
        <p:nvPicPr>
          <p:cNvPr id="6" name="Picture 5" descr="A yellow and white gradient&#10;&#10;Description automatically generated">
            <a:extLst>
              <a:ext uri="{FF2B5EF4-FFF2-40B4-BE49-F238E27FC236}">
                <a16:creationId xmlns:a16="http://schemas.microsoft.com/office/drawing/2014/main" id="{8756AB47-2F75-0A84-09B7-2EFBCD1BFDA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0691813" cy="7559675"/>
          </a:xfrm>
          <a:prstGeom prst="rect">
            <a:avLst/>
          </a:prstGeom>
        </p:spPr>
      </p:pic>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2" name="Picture 1" descr="A black background with white text&#10;&#10;Description automatically generated">
            <a:extLst>
              <a:ext uri="{FF2B5EF4-FFF2-40B4-BE49-F238E27FC236}">
                <a16:creationId xmlns:a16="http://schemas.microsoft.com/office/drawing/2014/main" id="{B54EA86E-FE57-087C-065B-87B8FA6F09C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62009" y="3872826"/>
            <a:ext cx="6767793" cy="1312167"/>
          </a:xfrm>
          <a:prstGeom prst="rect">
            <a:avLst/>
          </a:prstGeom>
        </p:spPr>
      </p:pic>
    </p:spTree>
    <p:extLst>
      <p:ext uri="{BB962C8B-B14F-4D97-AF65-F5344CB8AC3E}">
        <p14:creationId xmlns:p14="http://schemas.microsoft.com/office/powerpoint/2010/main" val="11696728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Final page - with Offices">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B2A9497-291D-3880-E61F-12534C23DA4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843637" y="1007505"/>
            <a:ext cx="1004538" cy="907010"/>
          </a:xfrm>
          <a:prstGeom prst="rect">
            <a:avLst/>
          </a:prstGeom>
        </p:spPr>
      </p:pic>
      <p:pic>
        <p:nvPicPr>
          <p:cNvPr id="4" name="Picture 3">
            <a:extLst>
              <a:ext uri="{FF2B5EF4-FFF2-40B4-BE49-F238E27FC236}">
                <a16:creationId xmlns:a16="http://schemas.microsoft.com/office/drawing/2014/main" id="{0AE2D8AE-65EC-9284-4241-E97BE84E917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962009" y="3123754"/>
            <a:ext cx="6767793" cy="1312166"/>
          </a:xfrm>
          <a:prstGeom prst="rect">
            <a:avLst/>
          </a:prstGeom>
        </p:spPr>
      </p:pic>
      <p:graphicFrame>
        <p:nvGraphicFramePr>
          <p:cNvPr id="19" name="Table 18">
            <a:extLst>
              <a:ext uri="{FF2B5EF4-FFF2-40B4-BE49-F238E27FC236}">
                <a16:creationId xmlns:a16="http://schemas.microsoft.com/office/drawing/2014/main" id="{70C0091A-8638-FF38-D877-94E0EFA31BBA}"/>
              </a:ext>
            </a:extLst>
          </p:cNvPr>
          <p:cNvGraphicFramePr>
            <a:graphicFrameLocks noGrp="1"/>
          </p:cNvGraphicFramePr>
          <p:nvPr userDrawn="1">
            <p:extLst>
              <p:ext uri="{D42A27DB-BD31-4B8C-83A1-F6EECF244321}">
                <p14:modId xmlns:p14="http://schemas.microsoft.com/office/powerpoint/2010/main" val="1200304216"/>
              </p:ext>
            </p:extLst>
          </p:nvPr>
        </p:nvGraphicFramePr>
        <p:xfrm>
          <a:off x="1612568" y="5499881"/>
          <a:ext cx="7466673" cy="1700100"/>
        </p:xfrm>
        <a:graphic>
          <a:graphicData uri="http://schemas.openxmlformats.org/drawingml/2006/table">
            <a:tbl>
              <a:tblPr firstRow="1" bandRow="1">
                <a:tableStyleId>{5C22544A-7EE6-4342-B048-85BDC9FD1C3A}</a:tableStyleId>
              </a:tblPr>
              <a:tblGrid>
                <a:gridCol w="2488891">
                  <a:extLst>
                    <a:ext uri="{9D8B030D-6E8A-4147-A177-3AD203B41FA5}">
                      <a16:colId xmlns:a16="http://schemas.microsoft.com/office/drawing/2014/main" val="2749746622"/>
                    </a:ext>
                  </a:extLst>
                </a:gridCol>
                <a:gridCol w="2488891">
                  <a:extLst>
                    <a:ext uri="{9D8B030D-6E8A-4147-A177-3AD203B41FA5}">
                      <a16:colId xmlns:a16="http://schemas.microsoft.com/office/drawing/2014/main" val="466498394"/>
                    </a:ext>
                  </a:extLst>
                </a:gridCol>
                <a:gridCol w="2488891">
                  <a:extLst>
                    <a:ext uri="{9D8B030D-6E8A-4147-A177-3AD203B41FA5}">
                      <a16:colId xmlns:a16="http://schemas.microsoft.com/office/drawing/2014/main" val="1630515560"/>
                    </a:ext>
                  </a:extLst>
                </a:gridCol>
              </a:tblGrid>
              <a:tr h="792000">
                <a:tc>
                  <a:txBody>
                    <a:bodyPr/>
                    <a:lstStyle/>
                    <a:p>
                      <a:pPr marL="12700" marR="0" lvl="0" indent="0" algn="l" defTabSz="457129" rtl="0" eaLnBrk="1" fontAlgn="auto" latinLnBrk="0" hangingPunct="1">
                        <a:lnSpc>
                          <a:spcPct val="100000"/>
                        </a:lnSpc>
                        <a:spcBef>
                          <a:spcPts val="100"/>
                        </a:spcBef>
                        <a:spcAft>
                          <a:spcPts val="0"/>
                        </a:spcAft>
                        <a:buClrTx/>
                        <a:buSzTx/>
                        <a:buFontTx/>
                        <a:buNone/>
                        <a:tabLst/>
                        <a:defRPr/>
                      </a:pPr>
                      <a:r>
                        <a:rPr kumimoji="0" lang="fr-FR" sz="900" b="1" i="0" u="none" strike="noStrike" kern="1200" cap="none" spc="0" normalizeH="0" baseline="0" noProof="0" dirty="0">
                          <a:ln>
                            <a:noFill/>
                          </a:ln>
                          <a:solidFill>
                            <a:schemeClr val="accent4"/>
                          </a:solidFill>
                          <a:effectLst/>
                          <a:uLnTx/>
                          <a:uFillTx/>
                          <a:latin typeface="Nunito Sans ExtraBold"/>
                          <a:ea typeface="+mn-ea"/>
                          <a:cs typeface="+mn-cs"/>
                        </a:rPr>
                        <a:t>Geneva</a:t>
                      </a:r>
                      <a:endParaRPr kumimoji="0" lang="fr-FR" sz="1150" b="1" i="0" u="none" strike="noStrike" kern="1200" cap="none" spc="0" normalizeH="0" baseline="0" noProof="0" dirty="0">
                        <a:ln>
                          <a:noFill/>
                        </a:ln>
                        <a:solidFill>
                          <a:schemeClr val="accent4"/>
                        </a:solidFill>
                        <a:effectLst/>
                        <a:uLnTx/>
                        <a:uFillTx/>
                        <a:latin typeface="Nunito Sans ExtraBold"/>
                        <a:ea typeface="+mn-ea"/>
                        <a:cs typeface="+mn-cs"/>
                      </a:endParaRP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fr-FR"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Quai</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des</a:t>
                      </a:r>
                      <a:r>
                        <a:rPr kumimoji="0" lang="fr-FR"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Bergues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a:t>
                      </a:r>
                    </a:p>
                    <a:p>
                      <a:pPr marL="0" marR="231775"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1201</a:t>
                      </a:r>
                      <a:r>
                        <a:rPr kumimoji="0" lang="fr-FR"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Geneva</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fr-FR"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10</a:t>
                      </a:r>
                      <a:r>
                        <a:rPr kumimoji="0" lang="fr-FR"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fr-FR"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00</a:t>
                      </a:r>
                      <a:endParaRPr kumimoji="0" lang="fr-FR"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0" normalizeH="0" baseline="0" noProof="0" dirty="0">
                          <a:ln>
                            <a:noFill/>
                          </a:ln>
                          <a:solidFill>
                            <a:schemeClr val="accent4"/>
                          </a:solidFill>
                          <a:effectLst/>
                          <a:uLnTx/>
                          <a:uFillTx/>
                          <a:latin typeface="Nunito Sans ExtraBold"/>
                          <a:ea typeface="+mn-ea"/>
                          <a:cs typeface="+mn-cs"/>
                        </a:rPr>
                        <a:t>Zurich</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 Syz </a:t>
                      </a:r>
                      <a:r>
                        <a:rPr kumimoji="0" lang="de-DE"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AG</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Freigutstrasse 14</a:t>
                      </a:r>
                    </a:p>
                    <a:p>
                      <a:pPr marL="0" marR="20955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de-DE"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8002</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Zurich</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de-DE"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de-DE"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de-DE"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de-DE" sz="750" b="0" i="0" u="none" strike="noStrike" kern="1200" cap="none" spc="60" normalizeH="0" baseline="0" noProof="0" dirty="0">
                          <a:ln>
                            <a:noFill/>
                          </a:ln>
                          <a:solidFill>
                            <a:schemeClr val="tx1"/>
                          </a:solidFill>
                          <a:effectLst/>
                          <a:uLnTx/>
                          <a:uFillTx/>
                          <a:latin typeface="Nunito Sans" panose="00000500000000000000" pitchFamily="2" charset="0"/>
                          <a:ea typeface="+mn-ea"/>
                          <a:cs typeface="MaisonNeue-Book"/>
                        </a:rPr>
                        <a:t>37</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Istanbul</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Zorlu</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Center,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Levazim</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Koru</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Book"/>
                        </a:rPr>
                        <a:t>Sokaği</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No:2, Teras </a:t>
                      </a:r>
                      <a:r>
                        <a:rPr kumimoji="0" lang="en-US" sz="750" b="0" i="0" u="none" strike="noStrike" kern="1200" cap="none" spc="5" normalizeH="0" baseline="0" noProof="0" dirty="0" err="1">
                          <a:ln>
                            <a:noFill/>
                          </a:ln>
                          <a:solidFill>
                            <a:schemeClr val="tx1"/>
                          </a:solidFill>
                          <a:effectLst/>
                          <a:uLnTx/>
                          <a:uFillTx/>
                          <a:latin typeface="Nunito Sans" panose="00000500000000000000" pitchFamily="2" charset="0"/>
                          <a:ea typeface="+mn-ea"/>
                          <a:cs typeface="MaisonNeue-Book"/>
                        </a:rPr>
                        <a:t>Evler</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T3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NO 347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34340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Beşiktaş</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İstanbul - Turkey</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+90</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75" normalizeH="0" baseline="0" noProof="0" dirty="0">
                          <a:ln>
                            <a:noFill/>
                          </a:ln>
                          <a:solidFill>
                            <a:schemeClr val="tx1"/>
                          </a:solidFill>
                          <a:effectLst/>
                          <a:uLnTx/>
                          <a:uFillTx/>
                          <a:latin typeface="Nunito Sans" panose="00000500000000000000" pitchFamily="2" charset="0"/>
                          <a:ea typeface="+mn-ea"/>
                          <a:cs typeface="MaisonNeue-Book"/>
                        </a:rPr>
                        <a:t>212</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703</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95" normalizeH="0" baseline="0" noProof="0" dirty="0">
                          <a:ln>
                            <a:noFill/>
                          </a:ln>
                          <a:solidFill>
                            <a:schemeClr val="tx1"/>
                          </a:solidFill>
                          <a:effectLst/>
                          <a:uLnTx/>
                          <a:uFillTx/>
                          <a:latin typeface="Nunito Sans" panose="00000500000000000000" pitchFamily="2" charset="0"/>
                          <a:ea typeface="+mn-ea"/>
                          <a:cs typeface="MaisonNeue-Book"/>
                        </a:rPr>
                        <a:t>77</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Book"/>
                        </a:rPr>
                        <a:t>99</a:t>
                      </a:r>
                    </a:p>
                  </a:txBody>
                  <a:tcPr marL="114942" marR="114942" anchor="ctr">
                    <a:lnL w="6350" cap="flat" cmpd="sng" algn="ctr">
                      <a:solidFill>
                        <a:schemeClr val="accent4"/>
                      </a:solidFill>
                      <a:prstDash val="solid"/>
                      <a:round/>
                      <a:headEnd type="none" w="med" len="med"/>
                      <a:tailEnd type="none" w="med" len="med"/>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41451115"/>
                  </a:ext>
                </a:extLst>
              </a:tr>
              <a:tr h="108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fr-FR"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de-DE"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endParaRPr kumimoji="0" lang="it-IT" sz="3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9925484"/>
                  </a:ext>
                </a:extLst>
              </a:tr>
              <a:tr h="792000">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Lugano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Banca</a:t>
                      </a:r>
                      <a:r>
                        <a:rPr kumimoji="0" lang="it-IT" sz="800" b="1" i="0" u="none" strike="noStrike" kern="1200" cap="none" spc="-40"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800" b="1" i="0" u="none" strike="noStrike" kern="1200" cap="none" spc="-3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80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Via Nassa 42</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6900</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Lugano</a:t>
                      </a:r>
                      <a:endPar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80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80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80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67</a:t>
                      </a:r>
                      <a:r>
                        <a:rPr kumimoji="0" lang="it-IT" sz="80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80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20</a:t>
                      </a:r>
                      <a:endParaRPr kumimoji="0" lang="de-DE"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900" b="1" i="0" u="none" strike="noStrike" kern="1200" cap="none" spc="0" normalizeH="0" baseline="0" noProof="0" dirty="0">
                          <a:ln>
                            <a:noFill/>
                          </a:ln>
                          <a:solidFill>
                            <a:schemeClr val="accent4"/>
                          </a:solidFill>
                          <a:effectLst/>
                          <a:uLnTx/>
                          <a:uFillTx/>
                          <a:latin typeface="Nunito Sans ExtraBold"/>
                          <a:ea typeface="+mn-ea"/>
                          <a:cs typeface="+mn-cs"/>
                        </a:rPr>
                        <a:t>Locarno</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1" i="0" u="none" strike="noStrike" kern="1200" cap="none" spc="10" normalizeH="0" baseline="0" noProof="0" dirty="0" err="1">
                          <a:ln>
                            <a:noFill/>
                          </a:ln>
                          <a:solidFill>
                            <a:schemeClr val="tx1"/>
                          </a:solidFill>
                          <a:effectLst/>
                          <a:uLnTx/>
                          <a:uFillTx/>
                          <a:latin typeface="Nunito Sans" panose="00000500000000000000" pitchFamily="2" charset="0"/>
                          <a:ea typeface="+mn-ea"/>
                          <a:cs typeface="MaisonNeue-Demi"/>
                        </a:rPr>
                        <a:t>Banque</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it-IT"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it-IT"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Via</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Cattori</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4</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CH</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it-IT"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6601</a:t>
                      </a:r>
                      <a:r>
                        <a:rPr kumimoji="0" lang="it-IT"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Locarno</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it-IT"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80" normalizeH="0" baseline="0" noProof="0" dirty="0">
                          <a:ln>
                            <a:noFill/>
                          </a:ln>
                          <a:solidFill>
                            <a:schemeClr val="tx1"/>
                          </a:solidFill>
                          <a:effectLst/>
                          <a:uLnTx/>
                          <a:uFillTx/>
                          <a:latin typeface="Nunito Sans" panose="00000500000000000000" pitchFamily="2" charset="0"/>
                          <a:ea typeface="+mn-ea"/>
                          <a:cs typeface="MaisonNeue-Book"/>
                        </a:rPr>
                        <a:t>+41</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58</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55" normalizeH="0" baseline="0" noProof="0" dirty="0">
                          <a:ln>
                            <a:noFill/>
                          </a:ln>
                          <a:solidFill>
                            <a:schemeClr val="tx1"/>
                          </a:solidFill>
                          <a:effectLst/>
                          <a:uLnTx/>
                          <a:uFillTx/>
                          <a:latin typeface="Nunito Sans" panose="00000500000000000000" pitchFamily="2" charset="0"/>
                          <a:ea typeface="+mn-ea"/>
                          <a:cs typeface="MaisonNeue-Book"/>
                        </a:rPr>
                        <a:t>799</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r>
                        <a:rPr kumimoji="0" lang="it-IT"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it-IT"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66</a:t>
                      </a:r>
                      <a:endParaRPr kumimoji="0" lang="it-IT"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solidFill>
                        <a:schemeClr val="accent4"/>
                      </a:solid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chemeClr val="accent4"/>
                          </a:solidFill>
                          <a:effectLst/>
                          <a:uLnTx/>
                          <a:uFillTx/>
                          <a:latin typeface="Nunito Sans ExtraBold"/>
                          <a:ea typeface="+mn-ea"/>
                          <a:cs typeface="+mn-cs"/>
                        </a:rPr>
                        <a:t>Johannesburg</a:t>
                      </a: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Banque</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Demi"/>
                        </a:rPr>
                        <a:t>Syz</a:t>
                      </a:r>
                      <a:r>
                        <a:rPr kumimoji="0" lang="en-US" sz="750" b="1"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Demi"/>
                        </a:rPr>
                        <a:t> </a:t>
                      </a:r>
                      <a:r>
                        <a:rPr kumimoji="0" lang="en-US" sz="750" b="1"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Demi"/>
                        </a:rPr>
                        <a:t>SA</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Demi"/>
                      </a:endParaRP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First</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Floor,</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Future</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Space </a:t>
                      </a:r>
                    </a:p>
                    <a:p>
                      <a:pPr marL="0" marR="508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61</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Katherine</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Street</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RSA</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Sandton</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5" normalizeH="0" baseline="0" noProof="0" dirty="0">
                          <a:ln>
                            <a:noFill/>
                          </a:ln>
                          <a:solidFill>
                            <a:schemeClr val="tx1"/>
                          </a:solidFill>
                          <a:effectLst/>
                          <a:uLnTx/>
                          <a:uFillTx/>
                          <a:latin typeface="Nunito Sans" panose="00000500000000000000" pitchFamily="2" charset="0"/>
                          <a:ea typeface="+mn-ea"/>
                          <a:cs typeface="MaisonNeue-Book"/>
                        </a:rPr>
                        <a:t>2146</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p>
                      <a:pPr marL="0" marR="0" lvl="0" indent="0" algn="l" defTabSz="457129"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rPr>
                        <a:t>T</a:t>
                      </a:r>
                      <a:r>
                        <a:rPr kumimoji="0" lang="en-US" sz="750" b="0" i="0" u="none" strike="noStrike" kern="1200" cap="none" spc="13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45" normalizeH="0" baseline="0" noProof="0" dirty="0">
                          <a:ln>
                            <a:noFill/>
                          </a:ln>
                          <a:solidFill>
                            <a:schemeClr val="tx1"/>
                          </a:solidFill>
                          <a:effectLst/>
                          <a:uLnTx/>
                          <a:uFillTx/>
                          <a:latin typeface="Nunito Sans" panose="00000500000000000000" pitchFamily="2" charset="0"/>
                          <a:ea typeface="+mn-ea"/>
                          <a:cs typeface="MaisonNeue-Book"/>
                        </a:rPr>
                        <a:t>+27</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(0)10</a:t>
                      </a:r>
                      <a:r>
                        <a:rPr kumimoji="0" lang="en-US" sz="750" b="0" i="0" u="none" strike="noStrike" kern="1200" cap="none" spc="-10"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0" normalizeH="0" baseline="0" noProof="0" dirty="0">
                          <a:ln>
                            <a:noFill/>
                          </a:ln>
                          <a:solidFill>
                            <a:schemeClr val="tx1"/>
                          </a:solidFill>
                          <a:effectLst/>
                          <a:uLnTx/>
                          <a:uFillTx/>
                          <a:latin typeface="Nunito Sans" panose="00000500000000000000" pitchFamily="2" charset="0"/>
                          <a:ea typeface="+mn-ea"/>
                          <a:cs typeface="MaisonNeue-Book"/>
                        </a:rPr>
                        <a:t>300</a:t>
                      </a:r>
                      <a:r>
                        <a:rPr kumimoji="0" lang="en-US" sz="750" b="0" i="0" u="none" strike="noStrike" kern="1200" cap="none" spc="-15" normalizeH="0" baseline="0" noProof="0" dirty="0">
                          <a:ln>
                            <a:noFill/>
                          </a:ln>
                          <a:solidFill>
                            <a:schemeClr val="tx1"/>
                          </a:solidFill>
                          <a:effectLst/>
                          <a:uLnTx/>
                          <a:uFillTx/>
                          <a:latin typeface="Nunito Sans" panose="00000500000000000000" pitchFamily="2" charset="0"/>
                          <a:ea typeface="+mn-ea"/>
                          <a:cs typeface="MaisonNeue-Book"/>
                        </a:rPr>
                        <a:t> </a:t>
                      </a:r>
                      <a:r>
                        <a:rPr kumimoji="0" lang="en-US" sz="750" b="0" i="0" u="none" strike="noStrike" kern="1200" cap="none" spc="25" normalizeH="0" baseline="0" noProof="0" dirty="0">
                          <a:ln>
                            <a:noFill/>
                          </a:ln>
                          <a:solidFill>
                            <a:schemeClr val="tx1"/>
                          </a:solidFill>
                          <a:effectLst/>
                          <a:uLnTx/>
                          <a:uFillTx/>
                          <a:latin typeface="Nunito Sans" panose="00000500000000000000" pitchFamily="2" charset="0"/>
                          <a:ea typeface="+mn-ea"/>
                          <a:cs typeface="MaisonNeue-Book"/>
                        </a:rPr>
                        <a:t>6040</a:t>
                      </a:r>
                      <a:endParaRPr kumimoji="0" lang="en-US" sz="750" b="0" i="0" u="none" strike="noStrike" kern="1200" cap="none" spc="0" normalizeH="0" baseline="0" noProof="0" dirty="0">
                        <a:ln>
                          <a:noFill/>
                        </a:ln>
                        <a:solidFill>
                          <a:schemeClr val="tx1"/>
                        </a:solidFill>
                        <a:effectLst/>
                        <a:uLnTx/>
                        <a:uFillTx/>
                        <a:latin typeface="Nunito Sans" panose="00000500000000000000" pitchFamily="2" charset="0"/>
                        <a:ea typeface="+mn-ea"/>
                        <a:cs typeface="MaisonNeue-Book"/>
                      </a:endParaRPr>
                    </a:p>
                  </a:txBody>
                  <a:tcPr marL="114942" marR="114942" anchor="ctr">
                    <a:lnL w="6350" cap="flat" cmpd="sng" algn="ctr">
                      <a:solidFill>
                        <a:schemeClr val="accent4"/>
                      </a:solidFill>
                      <a:prstDash val="solid"/>
                      <a:round/>
                      <a:headEnd type="none" w="med" len="med"/>
                      <a:tailEnd type="none" w="med" len="med"/>
                    </a:lnL>
                    <a:lnR w="6350" cap="flat" cmpd="sng" algn="ctr">
                      <a:noFill/>
                      <a:prstDash val="solid"/>
                      <a:round/>
                      <a:headEnd type="none" w="med" len="med"/>
                      <a:tailEnd type="none" w="med" len="med"/>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70400001"/>
                  </a:ext>
                </a:extLst>
              </a:tr>
            </a:tbl>
          </a:graphicData>
        </a:graphic>
      </p:graphicFrame>
    </p:spTree>
    <p:extLst>
      <p:ext uri="{BB962C8B-B14F-4D97-AF65-F5344CB8AC3E}">
        <p14:creationId xmlns:p14="http://schemas.microsoft.com/office/powerpoint/2010/main" val="1318701589"/>
      </p:ext>
    </p:extLst>
  </p:cSld>
  <p:clrMapOvr>
    <a:overrideClrMapping bg1="lt1" tx1="dk1" bg2="lt2" tx2="dk2" accent1="accent1" accent2="accent2" accent3="accent3" accent4="accent4" accent5="accent5" accent6="accent6" hlink="hlink" folHlink="folHlink"/>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6473696"/>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Tree>
    <p:extLst>
      <p:ext uri="{BB962C8B-B14F-4D97-AF65-F5344CB8AC3E}">
        <p14:creationId xmlns:p14="http://schemas.microsoft.com/office/powerpoint/2010/main" val="43037432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lstStyle>
            <a:lvl1pPr>
              <a:defRPr/>
            </a:lvl1pPr>
          </a:lstStyle>
          <a:p>
            <a:pPr lvl="0"/>
            <a:r>
              <a:rPr lang="en-GB" noProof="0"/>
              <a:t>Use </a:t>
            </a:r>
            <a:r>
              <a:rPr lang="en-GB" noProof="0" err="1"/>
              <a:t>Alt+Shift+Right</a:t>
            </a:r>
            <a:r>
              <a:rPr lang="en-GB" noProof="0"/>
              <a:t>/Left arrows to change text levels</a:t>
            </a:r>
          </a:p>
          <a:p>
            <a:pPr lvl="1"/>
            <a:r>
              <a:rPr lang="en-GB" noProof="0" err="1"/>
              <a:t>Deuxième</a:t>
            </a:r>
            <a:r>
              <a:rPr lang="en-GB" noProof="0"/>
              <a:t> </a:t>
            </a:r>
            <a:r>
              <a:rPr lang="en-GB" noProof="0" err="1"/>
              <a:t>niveau</a:t>
            </a:r>
            <a:endParaRPr lang="en-GB" noProof="0"/>
          </a:p>
          <a:p>
            <a:pPr lvl="2"/>
            <a:r>
              <a:rPr lang="en-GB" noProof="0" err="1"/>
              <a:t>Troisième</a:t>
            </a:r>
            <a:r>
              <a:rPr lang="en-GB" noProof="0"/>
              <a:t> </a:t>
            </a:r>
            <a:r>
              <a:rPr lang="en-GB" noProof="0" err="1"/>
              <a:t>niveau</a:t>
            </a:r>
            <a:endParaRPr lang="en-GB" noProof="0"/>
          </a:p>
          <a:p>
            <a:pPr lvl="3"/>
            <a:r>
              <a:rPr lang="en-GB" noProof="0" err="1"/>
              <a:t>Quatrième</a:t>
            </a:r>
            <a:r>
              <a:rPr lang="en-GB" noProof="0"/>
              <a:t> </a:t>
            </a:r>
            <a:r>
              <a:rPr lang="en-GB" noProof="0" err="1"/>
              <a:t>niveau</a:t>
            </a:r>
            <a:endParaRPr lang="en-GB" noProof="0"/>
          </a:p>
          <a:p>
            <a:pPr lvl="4"/>
            <a:r>
              <a:rPr lang="en-GB" noProof="0" err="1"/>
              <a:t>Cinquième</a:t>
            </a:r>
            <a:r>
              <a:rPr lang="en-GB" noProof="0"/>
              <a:t> </a:t>
            </a:r>
            <a:r>
              <a:rPr lang="en-GB" noProof="0" err="1"/>
              <a:t>niveau</a:t>
            </a:r>
            <a:endParaRPr lang="en-GB" noProof="0"/>
          </a:p>
        </p:txBody>
      </p:sp>
      <p:sp>
        <p:nvSpPr>
          <p:cNvPr id="5" name="Text Placeholder 4">
            <a:extLst>
              <a:ext uri="{FF2B5EF4-FFF2-40B4-BE49-F238E27FC236}">
                <a16:creationId xmlns:a16="http://schemas.microsoft.com/office/drawing/2014/main" id="{40AFE413-7A7E-456B-97B3-39F37977D126}"/>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dirty="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ts val="0"/>
              </a:spcBef>
              <a:spcAft>
                <a:spcPts val="0"/>
              </a:spcAft>
              <a:buClr>
                <a:srgbClr val="FFA400"/>
              </a:buClr>
              <a:buSzPct val="90000"/>
              <a:buFont typeface="Wingdings 3" panose="05040102010807070707" pitchFamily="18" charset="2"/>
              <a:buNone/>
            </a:pPr>
            <a:r>
              <a:rPr lang="en-GB"/>
              <a:t>Subtitle</a:t>
            </a:r>
          </a:p>
        </p:txBody>
      </p:sp>
      <p:sp>
        <p:nvSpPr>
          <p:cNvPr id="2" name="Title 1">
            <a:extLst>
              <a:ext uri="{FF2B5EF4-FFF2-40B4-BE49-F238E27FC236}">
                <a16:creationId xmlns:a16="http://schemas.microsoft.com/office/drawing/2014/main" id="{DCCA61BB-1E9E-456D-B58D-064A7F1C76A3}"/>
              </a:ext>
            </a:extLst>
          </p:cNvPr>
          <p:cNvSpPr>
            <a:spLocks noGrp="1"/>
          </p:cNvSpPr>
          <p:nvPr>
            <p:ph type="title" hasCustomPrompt="1"/>
          </p:nvPr>
        </p:nvSpPr>
        <p:spPr>
          <a:xfrm>
            <a:off x="665163" y="1032442"/>
            <a:ext cx="9398001" cy="705133"/>
          </a:xfrm>
        </p:spPr>
        <p:txBody>
          <a:bodyPr/>
          <a:lstStyle>
            <a:lvl1pPr>
              <a:defRPr sz="2400"/>
            </a:lvl1pPr>
          </a:lstStyle>
          <a:p>
            <a:r>
              <a:rPr lang="en-GB"/>
              <a:t>Slide title</a:t>
            </a:r>
          </a:p>
        </p:txBody>
      </p:sp>
    </p:spTree>
    <p:extLst>
      <p:ext uri="{BB962C8B-B14F-4D97-AF65-F5344CB8AC3E}">
        <p14:creationId xmlns:p14="http://schemas.microsoft.com/office/powerpoint/2010/main" val="22770240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hree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24ABFD-BFB7-4A6D-8F2C-66FB56A69346}"/>
              </a:ext>
            </a:extLst>
          </p:cNvPr>
          <p:cNvSpPr>
            <a:spLocks noGrp="1"/>
          </p:cNvSpPr>
          <p:nvPr>
            <p:ph type="title" hasCustomPrompt="1"/>
          </p:nvPr>
        </p:nvSpPr>
        <p:spPr>
          <a:xfrm>
            <a:off x="665163" y="1032440"/>
            <a:ext cx="9398001" cy="695487"/>
          </a:xfrm>
        </p:spPr>
        <p:txBody>
          <a:bodyPr/>
          <a:lstStyle>
            <a:lvl1pPr>
              <a:defRPr sz="2400"/>
            </a:lvl1pPr>
          </a:lstStyle>
          <a:p>
            <a:r>
              <a:rPr lang="en-GB" noProof="0"/>
              <a:t>Slide title</a:t>
            </a:r>
          </a:p>
        </p:txBody>
      </p:sp>
      <p:sp>
        <p:nvSpPr>
          <p:cNvPr id="4" name="Espace réservé du contenu 5">
            <a:extLst>
              <a:ext uri="{FF2B5EF4-FFF2-40B4-BE49-F238E27FC236}">
                <a16:creationId xmlns:a16="http://schemas.microsoft.com/office/drawing/2014/main" id="{8C04D29B-6145-4A33-B103-D04CB5BAA105}"/>
              </a:ext>
            </a:extLst>
          </p:cNvPr>
          <p:cNvSpPr>
            <a:spLocks noGrp="1"/>
          </p:cNvSpPr>
          <p:nvPr>
            <p:ph sz="quarter" idx="12" hasCustomPrompt="1"/>
          </p:nvPr>
        </p:nvSpPr>
        <p:spPr>
          <a:xfrm>
            <a:off x="665165"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5" name="Espace réservé du contenu 7">
            <a:extLst>
              <a:ext uri="{FF2B5EF4-FFF2-40B4-BE49-F238E27FC236}">
                <a16:creationId xmlns:a16="http://schemas.microsoft.com/office/drawing/2014/main" id="{8FE3C4F1-7627-4C97-988A-2B51600A0E6F}"/>
              </a:ext>
            </a:extLst>
          </p:cNvPr>
          <p:cNvSpPr>
            <a:spLocks noGrp="1"/>
          </p:cNvSpPr>
          <p:nvPr>
            <p:ph sz="quarter" idx="13" hasCustomPrompt="1"/>
          </p:nvPr>
        </p:nvSpPr>
        <p:spPr>
          <a:xfrm>
            <a:off x="3986906" y="2802443"/>
            <a:ext cx="2718001"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6" name="Espace réservé du contenu 9">
            <a:extLst>
              <a:ext uri="{FF2B5EF4-FFF2-40B4-BE49-F238E27FC236}">
                <a16:creationId xmlns:a16="http://schemas.microsoft.com/office/drawing/2014/main" id="{B2032ED6-526D-4E24-B6E9-F55FD69E83D4}"/>
              </a:ext>
            </a:extLst>
          </p:cNvPr>
          <p:cNvSpPr>
            <a:spLocks noGrp="1"/>
          </p:cNvSpPr>
          <p:nvPr>
            <p:ph sz="quarter" idx="14" hasCustomPrompt="1"/>
          </p:nvPr>
        </p:nvSpPr>
        <p:spPr>
          <a:xfrm>
            <a:off x="7348764" y="2802443"/>
            <a:ext cx="2714400" cy="3269738"/>
          </a:xfrm>
        </p:spPr>
        <p:txBody>
          <a:bodyPr/>
          <a:lstStyle/>
          <a:p>
            <a:pPr lvl="0"/>
            <a:r>
              <a:rPr lang="en-GB" noProof="0"/>
              <a:t>Use Alt+Shift+Right/Left arrows to change text levels</a:t>
            </a:r>
          </a:p>
          <a:p>
            <a:pPr lvl="1"/>
            <a:r>
              <a:rPr lang="en-GB" noProof="0" err="1"/>
              <a:t>Deuxième niveau</a:t>
            </a:r>
            <a:endParaRPr lang="en-GB" noProof="0"/>
          </a:p>
          <a:p>
            <a:pPr lvl="2"/>
            <a:r>
              <a:rPr lang="en-GB" noProof="0" err="1"/>
              <a:t>Troisième niveau</a:t>
            </a:r>
            <a:endParaRPr lang="en-GB" noProof="0"/>
          </a:p>
          <a:p>
            <a:pPr lvl="3"/>
            <a:r>
              <a:rPr lang="en-GB" noProof="0" err="1"/>
              <a:t>Quatrième niveau</a:t>
            </a:r>
            <a:endParaRPr lang="en-GB" noProof="0"/>
          </a:p>
          <a:p>
            <a:pPr lvl="4"/>
            <a:r>
              <a:rPr lang="en-GB" noProof="0" err="1"/>
              <a:t>Cinquième niveau</a:t>
            </a:r>
            <a:endParaRPr lang="en-GB" noProof="0"/>
          </a:p>
        </p:txBody>
      </p:sp>
      <p:sp>
        <p:nvSpPr>
          <p:cNvPr id="3" name="Text Placeholder 4">
            <a:extLst>
              <a:ext uri="{FF2B5EF4-FFF2-40B4-BE49-F238E27FC236}">
                <a16:creationId xmlns:a16="http://schemas.microsoft.com/office/drawing/2014/main" id="{4E3FC404-0C96-6470-9CBB-E4D624E35A0E}"/>
              </a:ext>
            </a:extLst>
          </p:cNvPr>
          <p:cNvSpPr>
            <a:spLocks noGrp="1"/>
          </p:cNvSpPr>
          <p:nvPr>
            <p:ph type="body" sz="quarter" idx="10" hasCustomPrompt="1"/>
          </p:nvPr>
        </p:nvSpPr>
        <p:spPr>
          <a:xfrm>
            <a:off x="665163" y="1908323"/>
            <a:ext cx="9398001" cy="251511"/>
          </a:xfrm>
          <a:noFill/>
        </p:spPr>
        <p:txBody>
          <a:bodyPr bIns="0" anchor="b"/>
          <a:lstStyle>
            <a:lvl1pPr marL="0" indent="0">
              <a:buNone/>
              <a:defRPr lang="en-GB" sz="1286" b="0" i="0" kern="1200" cap="none" baseline="0">
                <a:solidFill>
                  <a:schemeClr val="tx2"/>
                </a:solidFill>
                <a:latin typeface="Maison Neue Light Italic" panose="020B0304040000000000" pitchFamily="34" charset="77"/>
                <a:ea typeface="+mn-ea"/>
                <a:cs typeface="+mn-cs"/>
              </a:defRPr>
            </a:lvl1pPr>
          </a:lstStyle>
          <a:p>
            <a:pPr marL="0" lvl="0" indent="0" algn="l" defTabSz="801899" rtl="0" eaLnBrk="1" latinLnBrk="0" hangingPunct="1">
              <a:lnSpc>
                <a:spcPct val="100000"/>
              </a:lnSpc>
              <a:spcBef>
                <a:spcPct val="0"/>
              </a:spcBef>
              <a:spcAft>
                <a:spcPct val="0"/>
              </a:spcAft>
              <a:buClr>
                <a:srgbClr val="FFA400"/>
              </a:buClr>
              <a:buSzPct val="90000"/>
              <a:buFont typeface="Wingdings 3" panose="05040102010807070707" pitchFamily="18" charset="2"/>
              <a:buNone/>
            </a:pPr>
            <a:r>
              <a:rPr lang="en-GB"/>
              <a:t>Subtitle</a:t>
            </a:r>
          </a:p>
        </p:txBody>
      </p:sp>
    </p:spTree>
    <p:extLst>
      <p:ext uri="{BB962C8B-B14F-4D97-AF65-F5344CB8AC3E}">
        <p14:creationId xmlns:p14="http://schemas.microsoft.com/office/powerpoint/2010/main" val="218431596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sz="2400"/>
            </a:lvl1pPr>
          </a:lstStyle>
          <a:p>
            <a:r>
              <a:rPr lang="en-GB" noProof="0"/>
              <a:t>Slide title</a:t>
            </a:r>
          </a:p>
        </p:txBody>
      </p:sp>
    </p:spTree>
    <p:extLst>
      <p:ext uri="{BB962C8B-B14F-4D97-AF65-F5344CB8AC3E}">
        <p14:creationId xmlns:p14="http://schemas.microsoft.com/office/powerpoint/2010/main" val="34733747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and sub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231FE6-9659-4334-B0C1-B30242849E27}"/>
              </a:ext>
            </a:extLst>
          </p:cNvPr>
          <p:cNvSpPr>
            <a:spLocks noGrp="1"/>
          </p:cNvSpPr>
          <p:nvPr>
            <p:ph type="title" hasCustomPrompt="1"/>
          </p:nvPr>
        </p:nvSpPr>
        <p:spPr/>
        <p:txBody>
          <a:bodyPr/>
          <a:lstStyle>
            <a:lvl1pPr>
              <a:defRPr/>
            </a:lvl1pPr>
          </a:lstStyle>
          <a:p>
            <a:r>
              <a:rPr lang="en-GB" noProof="0"/>
              <a:t>Slide title</a:t>
            </a:r>
          </a:p>
        </p:txBody>
      </p:sp>
      <p:sp>
        <p:nvSpPr>
          <p:cNvPr id="3" name="Text Placeholder 4">
            <a:extLst>
              <a:ext uri="{FF2B5EF4-FFF2-40B4-BE49-F238E27FC236}">
                <a16:creationId xmlns:a16="http://schemas.microsoft.com/office/drawing/2014/main" id="{07348D2B-5FF0-420D-852B-8025EEA0E549}"/>
              </a:ext>
            </a:extLst>
          </p:cNvPr>
          <p:cNvSpPr>
            <a:spLocks noGrp="1"/>
          </p:cNvSpPr>
          <p:nvPr>
            <p:ph type="body" sz="quarter" idx="10" hasCustomPrompt="1"/>
          </p:nvPr>
        </p:nvSpPr>
        <p:spPr>
          <a:xfrm>
            <a:off x="665163" y="2321540"/>
            <a:ext cx="9398001" cy="251512"/>
          </a:xfrm>
          <a:noFill/>
        </p:spPr>
        <p:txBody>
          <a:bodyPr bIns="0" anchor="b"/>
          <a:lstStyle>
            <a:lvl1pPr marL="0" indent="0">
              <a:buNone/>
              <a:defRPr sz="1300" b="0" cap="none" baseline="0">
                <a:solidFill>
                  <a:schemeClr val="tx1"/>
                </a:solidFill>
                <a:latin typeface="Nunito Sans ExtraBold" panose="00000900000000000000" pitchFamily="2" charset="0"/>
              </a:defRPr>
            </a:lvl1pPr>
          </a:lstStyle>
          <a:p>
            <a:pPr lvl="0"/>
            <a:r>
              <a:rPr lang="en-GB"/>
              <a:t>Subtitle</a:t>
            </a:r>
          </a:p>
        </p:txBody>
      </p:sp>
    </p:spTree>
    <p:extLst>
      <p:ext uri="{BB962C8B-B14F-4D97-AF65-F5344CB8AC3E}">
        <p14:creationId xmlns:p14="http://schemas.microsoft.com/office/powerpoint/2010/main" val="12022917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theme" Target="../theme/theme1.xml"/><Relationship Id="rId34" Type="http://schemas.openxmlformats.org/officeDocument/2006/relationships/tags" Target="../tags/tag2.xml"/><Relationship Id="rId35" Type="http://schemas.openxmlformats.org/officeDocument/2006/relationships/oleObject" Target="../embeddings/oleObject1.bin"/><Relationship Id="rId36" Type="http://schemas.openxmlformats.org/officeDocument/2006/relationships/image" Target="../media/image1.emf"/><Relationship Id="rId3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BDDEA15-CDFB-C0D1-1BAE-21EC1602C811}"/>
              </a:ext>
            </a:extLst>
          </p:cNvPr>
          <p:cNvGraphicFramePr>
            <a:graphicFrameLocks noChangeAspect="1"/>
          </p:cNvGraphicFramePr>
          <p:nvPr userDrawn="1">
            <p:custDataLst>
              <p:tags r:id="rId34"/>
            </p:custDataLst>
            <p:extLst>
              <p:ext uri="{D42A27DB-BD31-4B8C-83A1-F6EECF244321}">
                <p14:modId xmlns:p14="http://schemas.microsoft.com/office/powerpoint/2010/main" val="2457869099"/>
              </p:ext>
            </p:extLst>
          </p:nvPr>
        </p:nvGraphicFramePr>
        <p:xfrm>
          <a:off x="1588" y="1589"/>
          <a:ext cx="1588" cy="1587"/>
        </p:xfrm>
        <a:graphic>
          <a:graphicData uri="http://schemas.openxmlformats.org/presentationml/2006/ole">
            <mc:AlternateContent xmlns:mc="http://schemas.openxmlformats.org/markup-compatibility/2006">
              <mc:Choice xmlns:v="urn:schemas-microsoft-com:vml" Requires="v">
                <p:oleObj name="think-cell Slide" r:id="rId35" imgW="286" imgH="286" progId="TCLayout.ActiveDocument.1">
                  <p:embed/>
                </p:oleObj>
              </mc:Choice>
              <mc:Fallback>
                <p:oleObj name="think-cell Slide" r:id="rId35" imgW="286" imgH="286" progId="TCLayout.ActiveDocument.1">
                  <p:embed/>
                  <p:pic>
                    <p:nvPicPr>
                      <p:cNvPr id="5" name="Object 4" hidden="1">
                        <a:extLst>
                          <a:ext uri="{FF2B5EF4-FFF2-40B4-BE49-F238E27FC236}">
                            <a16:creationId xmlns:a16="http://schemas.microsoft.com/office/drawing/2014/main" id="{4BDDEA15-CDFB-C0D1-1BAE-21EC1602C811}"/>
                          </a:ext>
                        </a:extLst>
                      </p:cNvPr>
                      <p:cNvPicPr/>
                      <p:nvPr/>
                    </p:nvPicPr>
                    <p:blipFill>
                      <a:blip r:embed="rId36"/>
                      <a:stretch>
                        <a:fillRect/>
                      </a:stretch>
                    </p:blipFill>
                    <p:spPr>
                      <a:xfrm>
                        <a:off x="1588" y="1589"/>
                        <a:ext cx="1588" cy="1587"/>
                      </a:xfrm>
                      <a:prstGeom prst="rect">
                        <a:avLst/>
                      </a:prstGeom>
                    </p:spPr>
                  </p:pic>
                </p:oleObj>
              </mc:Fallback>
            </mc:AlternateContent>
          </a:graphicData>
        </a:graphic>
      </p:graphicFrame>
      <p:sp>
        <p:nvSpPr>
          <p:cNvPr id="2" name="Title Placeholder 1"/>
          <p:cNvSpPr>
            <a:spLocks noGrp="1"/>
          </p:cNvSpPr>
          <p:nvPr>
            <p:ph type="title"/>
          </p:nvPr>
        </p:nvSpPr>
        <p:spPr>
          <a:xfrm>
            <a:off x="665163" y="1032442"/>
            <a:ext cx="9398001" cy="864587"/>
          </a:xfrm>
          <a:prstGeom prst="rect">
            <a:avLst/>
          </a:prstGeom>
        </p:spPr>
        <p:txBody>
          <a:bodyPr vert="horz" lIns="0" tIns="0" rIns="0" bIns="0" rtlCol="0" anchor="t" anchorCtr="0">
            <a:noAutofit/>
          </a:bodyPr>
          <a:lstStyle/>
          <a:p>
            <a:r>
              <a:rPr lang="en-GB" noProof="0"/>
              <a:t>Slide title</a:t>
            </a:r>
          </a:p>
        </p:txBody>
      </p:sp>
      <p:sp>
        <p:nvSpPr>
          <p:cNvPr id="3" name="Text Placeholder 2"/>
          <p:cNvSpPr>
            <a:spLocks noGrp="1"/>
          </p:cNvSpPr>
          <p:nvPr>
            <p:ph type="body" idx="1"/>
          </p:nvPr>
        </p:nvSpPr>
        <p:spPr>
          <a:xfrm>
            <a:off x="665163" y="2552366"/>
            <a:ext cx="9398001" cy="3269738"/>
          </a:xfrm>
          <a:prstGeom prst="rect">
            <a:avLst/>
          </a:prstGeom>
          <a:noFill/>
        </p:spPr>
        <p:txBody>
          <a:bodyPr vert="horz" lIns="0" tIns="0" rIns="0" bIns="0" rtlCol="0">
            <a:noAutofit/>
          </a:bodyPr>
          <a:lstStyle/>
          <a:p>
            <a:pPr lvl="0"/>
            <a:r>
              <a:rPr lang="en-GB" noProof="0" dirty="0"/>
              <a:t>Use </a:t>
            </a:r>
            <a:r>
              <a:rPr lang="en-GB" noProof="0" dirty="0" err="1"/>
              <a:t>Alt+Shift+Right</a:t>
            </a:r>
            <a:r>
              <a:rPr lang="en-GB" noProof="0" dirty="0"/>
              <a:t>/Left arrows to change text levels</a:t>
            </a:r>
          </a:p>
          <a:p>
            <a:pPr lvl="1"/>
            <a:r>
              <a:rPr lang="en-GB" noProof="0" dirty="0"/>
              <a:t>Deuxième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a:p>
            <a:pPr lvl="5"/>
            <a:r>
              <a:rPr lang="en-GB" noProof="0" dirty="0" err="1"/>
              <a:t>Sixième</a:t>
            </a:r>
            <a:r>
              <a:rPr lang="en-GB" noProof="0" dirty="0"/>
              <a:t> </a:t>
            </a:r>
            <a:r>
              <a:rPr lang="en-GB" noProof="0" dirty="0" err="1"/>
              <a:t>niveau</a:t>
            </a:r>
            <a:endParaRPr lang="en-GB" noProof="0" dirty="0"/>
          </a:p>
          <a:p>
            <a:pPr lvl="6"/>
            <a:r>
              <a:rPr lang="en-GB" noProof="0" dirty="0" err="1"/>
              <a:t>Septième</a:t>
            </a:r>
            <a:r>
              <a:rPr lang="en-GB" noProof="0" dirty="0"/>
              <a:t> </a:t>
            </a:r>
            <a:r>
              <a:rPr lang="en-GB" noProof="0" dirty="0" err="1"/>
              <a:t>niveau</a:t>
            </a:r>
            <a:endParaRPr lang="en-GB" noProof="0" dirty="0"/>
          </a:p>
          <a:p>
            <a:pPr lvl="7"/>
            <a:r>
              <a:rPr lang="en-GB" noProof="0" dirty="0" err="1"/>
              <a:t>Huitième</a:t>
            </a:r>
            <a:r>
              <a:rPr lang="en-GB" noProof="0" dirty="0"/>
              <a:t> </a:t>
            </a:r>
            <a:r>
              <a:rPr lang="en-GB" noProof="0" dirty="0" err="1"/>
              <a:t>niveau</a:t>
            </a:r>
            <a:endParaRPr lang="en-GB" noProof="0" dirty="0"/>
          </a:p>
          <a:p>
            <a:pPr lvl="8"/>
            <a:r>
              <a:rPr lang="en-GB" noProof="0" dirty="0" err="1"/>
              <a:t>Neuvième</a:t>
            </a:r>
            <a:r>
              <a:rPr lang="en-GB" noProof="0" dirty="0"/>
              <a:t> </a:t>
            </a:r>
            <a:r>
              <a:rPr lang="en-GB" noProof="0" dirty="0" err="1"/>
              <a:t>niveau</a:t>
            </a:r>
            <a:endParaRPr lang="en-GB" noProof="0" dirty="0"/>
          </a:p>
        </p:txBody>
      </p:sp>
      <p:sp>
        <p:nvSpPr>
          <p:cNvPr id="16" name="ZoneTexte 3">
            <a:extLst>
              <a:ext uri="{FF2B5EF4-FFF2-40B4-BE49-F238E27FC236}">
                <a16:creationId xmlns:a16="http://schemas.microsoft.com/office/drawing/2014/main" id="{907A1612-3E73-9848-9340-FBD9D78E3901}"/>
              </a:ext>
            </a:extLst>
          </p:cNvPr>
          <p:cNvSpPr txBox="1"/>
          <p:nvPr userDrawn="1"/>
        </p:nvSpPr>
        <p:spPr>
          <a:xfrm>
            <a:off x="10155096" y="7097826"/>
            <a:ext cx="252000" cy="225415"/>
          </a:xfrm>
          <a:prstGeom prst="rect">
            <a:avLst/>
          </a:prstGeom>
          <a:noFill/>
        </p:spPr>
        <p:txBody>
          <a:bodyPr wrap="square" lIns="0" tIns="0" rIns="0" bIns="0" rtlCol="0" anchor="ctr" anchorCtr="0">
            <a:noAutofit/>
          </a:bodyPr>
          <a:lstStyle>
            <a:defPPr>
              <a:defRPr lang="en-US"/>
            </a:defPPr>
            <a:lvl1pPr algn="r">
              <a:defRPr sz="750" b="0"/>
            </a:lvl1pPr>
          </a:lstStyle>
          <a:p>
            <a:pPr lvl="0"/>
            <a:r>
              <a:rPr lang="en-GB" sz="596">
                <a:solidFill>
                  <a:schemeClr val="tx1"/>
                </a:solidFill>
              </a:rPr>
              <a:t> </a:t>
            </a:r>
            <a:fld id="{4DDA3DAE-CEE7-4C82-B729-78E2CF34A6DC}" type="slidenum">
              <a:rPr lang="en-GB" sz="596" smtClean="0">
                <a:solidFill>
                  <a:schemeClr val="tx1"/>
                </a:solidFill>
              </a:rPr>
              <a:pPr lvl="0"/>
              <a:t>‹#›</a:t>
            </a:fld>
            <a:endParaRPr lang="en-GB" sz="596">
              <a:solidFill>
                <a:schemeClr val="tx1"/>
              </a:solidFill>
            </a:endParaRPr>
          </a:p>
        </p:txBody>
      </p:sp>
      <p:sp>
        <p:nvSpPr>
          <p:cNvPr id="17" name="Rectangle 11">
            <a:extLst>
              <a:ext uri="{FF2B5EF4-FFF2-40B4-BE49-F238E27FC236}">
                <a16:creationId xmlns:a16="http://schemas.microsoft.com/office/drawing/2014/main" id="{03CB904D-62A2-D249-9D86-6AF9109F4D6C}"/>
              </a:ext>
            </a:extLst>
          </p:cNvPr>
          <p:cNvSpPr txBox="1">
            <a:spLocks noChangeArrowheads="1"/>
          </p:cNvSpPr>
          <p:nvPr userDrawn="1"/>
        </p:nvSpPr>
        <p:spPr bwMode="auto">
          <a:xfrm rot="5400000">
            <a:off x="8756462" y="5065221"/>
            <a:ext cx="3269735" cy="251503"/>
          </a:xfrm>
          <a:prstGeom prst="rect">
            <a:avLst/>
          </a:prstGeom>
          <a:noFill/>
          <a:ln>
            <a:noFill/>
          </a:ln>
          <a:effectLst/>
        </p:spPr>
        <p:txBody>
          <a:bodyPr vert="horz" wrap="square" lIns="0" tIns="0" rIns="0" bIns="0" numCol="1" anchor="ctr" anchorCtr="0" compatLnSpc="1">
            <a:prstTxWarp prst="textNoShape">
              <a:avLst/>
            </a:prstTxWarp>
          </a:bodyPr>
          <a:lstStyle>
            <a:defPPr>
              <a:defRPr lang="en-US"/>
            </a:defPPr>
            <a:lvl1pPr marL="0" algn="l" defTabSz="457200" rtl="0" eaLnBrk="1" latinLnBrk="0" hangingPunct="1">
              <a:defRPr sz="700" kern="1200">
                <a:solidFill>
                  <a:schemeClr val="tx2"/>
                </a:solidFill>
                <a:latin typeface="+mn-lt"/>
                <a:ea typeface="+mn-ea"/>
                <a:cs typeface="Arial" panose="020B060402020202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a:pPr>
            <a:r>
              <a:rPr lang="en-GB" altLang="en-CH" sz="585" kern="600">
                <a:solidFill>
                  <a:schemeClr val="bg1">
                    <a:lumMod val="85000"/>
                  </a:schemeClr>
                </a:solidFill>
                <a:latin typeface="Nunito Sans" pitchFamily="2" charset="77"/>
              </a:rPr>
              <a:t>Please see important information at the end of the document</a:t>
            </a:r>
          </a:p>
        </p:txBody>
      </p:sp>
      <p:pic>
        <p:nvPicPr>
          <p:cNvPr id="6" name="Picture 5">
            <a:extLst>
              <a:ext uri="{FF2B5EF4-FFF2-40B4-BE49-F238E27FC236}">
                <a16:creationId xmlns:a16="http://schemas.microsoft.com/office/drawing/2014/main" id="{4F1D6016-274D-6FC8-0249-F3874C23DA47}"/>
              </a:ext>
            </a:extLst>
          </p:cNvPr>
          <p:cNvPicPr>
            <a:picLocks noChangeAspect="1"/>
          </p:cNvPicPr>
          <p:nvPr userDrawn="1"/>
        </p:nvPicPr>
        <p:blipFill>
          <a:blip r:embed="rId37">
            <a:extLst>
              <a:ext uri="{28A0092B-C50C-407E-A947-70E740481C1C}">
                <a14:useLocalDpi xmlns:a14="http://schemas.microsoft.com/office/drawing/2010/main"/>
              </a:ext>
            </a:extLst>
          </a:blip>
          <a:stretch>
            <a:fillRect/>
          </a:stretch>
        </p:blipFill>
        <p:spPr>
          <a:xfrm>
            <a:off x="10064601" y="396054"/>
            <a:ext cx="426928" cy="385479"/>
          </a:xfrm>
          <a:prstGeom prst="rect">
            <a:avLst/>
          </a:prstGeom>
        </p:spPr>
      </p:pic>
    </p:spTree>
    <p:extLst>
      <p:ext uri="{BB962C8B-B14F-4D97-AF65-F5344CB8AC3E}">
        <p14:creationId xmlns:p14="http://schemas.microsoft.com/office/powerpoint/2010/main" val="1689319010"/>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4" r:id="rId3"/>
    <p:sldLayoutId id="2147483698" r:id="rId4"/>
    <p:sldLayoutId id="2147483701" r:id="rId5"/>
    <p:sldLayoutId id="2147483697" r:id="rId6"/>
    <p:sldLayoutId id="2147483702" r:id="rId7"/>
    <p:sldLayoutId id="2147483691" r:id="rId8"/>
    <p:sldLayoutId id="2147483690" r:id="rId9"/>
    <p:sldLayoutId id="2147483662" r:id="rId10"/>
    <p:sldLayoutId id="2147483663" r:id="rId11"/>
    <p:sldLayoutId id="2147483664" r:id="rId12"/>
    <p:sldLayoutId id="2147483665" r:id="rId13"/>
    <p:sldLayoutId id="2147483674" r:id="rId14"/>
    <p:sldLayoutId id="2147483679" r:id="rId15"/>
    <p:sldLayoutId id="2147483680" r:id="rId16"/>
    <p:sldLayoutId id="2147483699" r:id="rId17"/>
    <p:sldLayoutId id="2147483685" r:id="rId18"/>
    <p:sldLayoutId id="2147483686" r:id="rId19"/>
    <p:sldLayoutId id="2147483666" r:id="rId20"/>
    <p:sldLayoutId id="2147483700" r:id="rId21"/>
    <p:sldLayoutId id="2147483687" r:id="rId22"/>
    <p:sldLayoutId id="2147483678" r:id="rId23"/>
    <p:sldLayoutId id="2147483705" r:id="rId24"/>
    <p:sldLayoutId id="2147483707" r:id="rId25"/>
    <p:sldLayoutId id="2147483706" r:id="rId26"/>
    <p:sldLayoutId id="2147483703" r:id="rId27"/>
    <p:sldLayoutId id="2147483708" r:id="rId28"/>
    <p:sldLayoutId id="2147483710" r:id="rId29"/>
    <p:sldLayoutId id="2147483711" r:id="rId30"/>
    <p:sldLayoutId id="2147483712" r:id="rId31"/>
    <p:sldLayoutId id="2147483713" r:id="rId32"/>
  </p:sldLayoutIdLst>
  <p:transition/>
  <p:hf hdr="0" ftr="0"/>
  <p:txStyles>
    <p:titleStyle>
      <a:lvl1pPr algn="l" defTabSz="801899" rtl="0" eaLnBrk="1" latinLnBrk="0" hangingPunct="1">
        <a:lnSpc>
          <a:spcPct val="90000"/>
        </a:lnSpc>
        <a:spcBef>
          <a:spcPct val="0"/>
        </a:spcBef>
        <a:buNone/>
        <a:defRPr sz="2400" b="1" kern="1200">
          <a:gradFill flip="none" rotWithShape="1">
            <a:gsLst>
              <a:gs pos="0">
                <a:schemeClr val="accent4"/>
              </a:gs>
              <a:gs pos="100000">
                <a:srgbClr val="FFA400"/>
              </a:gs>
            </a:gsLst>
            <a:lin ang="0" scaled="1"/>
          </a:gradFill>
          <a:latin typeface="+mj-lt"/>
          <a:ea typeface="+mj-ea"/>
          <a:cs typeface="+mj-cs"/>
        </a:defRPr>
      </a:lvl1pPr>
    </p:titleStyle>
    <p:bodyStyle>
      <a:lvl1pPr marL="217670" indent="-217670" algn="l" defTabSz="801899" rtl="0" eaLnBrk="1" latinLnBrk="0" hangingPunct="1">
        <a:lnSpc>
          <a:spcPct val="100000"/>
        </a:lnSpc>
        <a:spcBef>
          <a:spcPts val="954"/>
        </a:spcBef>
        <a:spcAft>
          <a:spcPct val="0"/>
        </a:spcAft>
        <a:buClr>
          <a:srgbClr val="FFA400"/>
        </a:buClr>
        <a:buSzPct val="90000"/>
        <a:buFont typeface="Wingdings 3" panose="05040102010807070707" pitchFamily="18" charset="2"/>
        <a:buChar char=""/>
        <a:defRPr sz="1114" b="0" kern="1200" cap="none" baseline="0">
          <a:solidFill>
            <a:schemeClr val="tx1"/>
          </a:solidFill>
          <a:latin typeface="+mn-lt"/>
          <a:ea typeface="+mn-ea"/>
          <a:cs typeface="+mn-cs"/>
        </a:defRPr>
      </a:lvl1pPr>
      <a:lvl2pPr marL="392381" indent="-174710" algn="l" defTabSz="801899" rtl="0" eaLnBrk="1" latinLnBrk="0" hangingPunct="1">
        <a:lnSpc>
          <a:spcPct val="100000"/>
        </a:lnSpc>
        <a:spcBef>
          <a:spcPts val="477"/>
        </a:spcBef>
        <a:spcAft>
          <a:spcPct val="0"/>
        </a:spcAft>
        <a:buClr>
          <a:srgbClr val="4B5F80"/>
        </a:buClr>
        <a:buSzTx/>
        <a:buFont typeface="Arial" panose="020B0604020202020204" pitchFamily="34" charset="0"/>
        <a:buChar char="•"/>
        <a:defRPr sz="1114" b="0" kern="1200">
          <a:solidFill>
            <a:schemeClr val="tx1"/>
          </a:solidFill>
          <a:latin typeface="+mn-lt"/>
          <a:ea typeface="+mn-ea"/>
          <a:cs typeface="+mn-cs"/>
        </a:defRPr>
      </a:lvl2pPr>
      <a:lvl3pPr marL="601459" indent="-174710" algn="l" defTabSz="801899" rtl="0" eaLnBrk="1" latinLnBrk="0" hangingPunct="1">
        <a:lnSpc>
          <a:spcPct val="100000"/>
        </a:lnSpc>
        <a:spcBef>
          <a:spcPts val="477"/>
        </a:spcBef>
        <a:spcAft>
          <a:spcPct val="0"/>
        </a:spcAft>
        <a:buClr>
          <a:srgbClr val="4B5F80"/>
        </a:buClr>
        <a:buFont typeface="Cambria" panose="02040503050406030204" pitchFamily="18" charset="0"/>
        <a:buChar char="⎼"/>
        <a:defRPr sz="1035" kern="1200">
          <a:solidFill>
            <a:schemeClr val="tx1"/>
          </a:solidFill>
          <a:latin typeface="+mn-lt"/>
          <a:ea typeface="+mn-ea"/>
          <a:cs typeface="+mn-cs"/>
        </a:defRPr>
      </a:lvl3pPr>
      <a:lvl4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4pPr>
      <a:lvl5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5pPr>
      <a:lvl6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6pPr>
      <a:lvl7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7pPr>
      <a:lvl8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8pPr>
      <a:lvl9pPr marL="847769" indent="-183302" algn="l" defTabSz="801899" rtl="0" eaLnBrk="1" latinLnBrk="0" hangingPunct="1">
        <a:lnSpc>
          <a:spcPct val="100000"/>
        </a:lnSpc>
        <a:spcBef>
          <a:spcPts val="477"/>
        </a:spcBef>
        <a:spcAft>
          <a:spcPct val="0"/>
        </a:spcAft>
        <a:buClr>
          <a:srgbClr val="4B5F80"/>
        </a:buClr>
        <a:buFont typeface="Wingdings 3" panose="05040102010807070707" pitchFamily="18" charset="2"/>
        <a:buChar char="Ò"/>
        <a:defRPr sz="954" kern="1200">
          <a:solidFill>
            <a:schemeClr val="tx1"/>
          </a:solidFill>
          <a:latin typeface="+mn-lt"/>
          <a:ea typeface="+mn-ea"/>
          <a:cs typeface="+mn-cs"/>
        </a:defRPr>
      </a:lvl9pPr>
    </p:bodyStyle>
    <p:otherStyle>
      <a:defPPr>
        <a:defRPr lang="en-US"/>
      </a:defPPr>
      <a:lvl1pPr marL="0" algn="l" defTabSz="801899" rtl="0" eaLnBrk="1" latinLnBrk="0" hangingPunct="1">
        <a:defRPr sz="1579" kern="1200">
          <a:solidFill>
            <a:schemeClr val="tx1"/>
          </a:solidFill>
          <a:latin typeface="+mn-lt"/>
          <a:ea typeface="+mn-ea"/>
          <a:cs typeface="+mn-cs"/>
        </a:defRPr>
      </a:lvl1pPr>
      <a:lvl2pPr marL="400951" algn="l" defTabSz="801899" rtl="0" eaLnBrk="1" latinLnBrk="0" hangingPunct="1">
        <a:defRPr sz="1579" kern="1200">
          <a:solidFill>
            <a:schemeClr val="tx1"/>
          </a:solidFill>
          <a:latin typeface="+mn-lt"/>
          <a:ea typeface="+mn-ea"/>
          <a:cs typeface="+mn-cs"/>
        </a:defRPr>
      </a:lvl2pPr>
      <a:lvl3pPr marL="801899" algn="l" defTabSz="801899" rtl="0" eaLnBrk="1" latinLnBrk="0" hangingPunct="1">
        <a:defRPr sz="1579" kern="1200">
          <a:solidFill>
            <a:schemeClr val="tx1"/>
          </a:solidFill>
          <a:latin typeface="+mn-lt"/>
          <a:ea typeface="+mn-ea"/>
          <a:cs typeface="+mn-cs"/>
        </a:defRPr>
      </a:lvl3pPr>
      <a:lvl4pPr marL="1202850" algn="l" defTabSz="801899" rtl="0" eaLnBrk="1" latinLnBrk="0" hangingPunct="1">
        <a:defRPr sz="1579" kern="1200">
          <a:solidFill>
            <a:schemeClr val="tx1"/>
          </a:solidFill>
          <a:latin typeface="+mn-lt"/>
          <a:ea typeface="+mn-ea"/>
          <a:cs typeface="+mn-cs"/>
        </a:defRPr>
      </a:lvl4pPr>
      <a:lvl5pPr marL="1603799" algn="l" defTabSz="801899" rtl="0" eaLnBrk="1" latinLnBrk="0" hangingPunct="1">
        <a:defRPr sz="1579" kern="1200">
          <a:solidFill>
            <a:schemeClr val="tx1"/>
          </a:solidFill>
          <a:latin typeface="+mn-lt"/>
          <a:ea typeface="+mn-ea"/>
          <a:cs typeface="+mn-cs"/>
        </a:defRPr>
      </a:lvl5pPr>
      <a:lvl6pPr marL="2004748" algn="l" defTabSz="801899" rtl="0" eaLnBrk="1" latinLnBrk="0" hangingPunct="1">
        <a:defRPr sz="1579" kern="1200">
          <a:solidFill>
            <a:schemeClr val="tx1"/>
          </a:solidFill>
          <a:latin typeface="+mn-lt"/>
          <a:ea typeface="+mn-ea"/>
          <a:cs typeface="+mn-cs"/>
        </a:defRPr>
      </a:lvl6pPr>
      <a:lvl7pPr marL="2405698" algn="l" defTabSz="801899" rtl="0" eaLnBrk="1" latinLnBrk="0" hangingPunct="1">
        <a:defRPr sz="1579" kern="1200">
          <a:solidFill>
            <a:schemeClr val="tx1"/>
          </a:solidFill>
          <a:latin typeface="+mn-lt"/>
          <a:ea typeface="+mn-ea"/>
          <a:cs typeface="+mn-cs"/>
        </a:defRPr>
      </a:lvl7pPr>
      <a:lvl8pPr marL="2806647" algn="l" defTabSz="801899" rtl="0" eaLnBrk="1" latinLnBrk="0" hangingPunct="1">
        <a:defRPr sz="1579" kern="1200">
          <a:solidFill>
            <a:schemeClr val="tx1"/>
          </a:solidFill>
          <a:latin typeface="+mn-lt"/>
          <a:ea typeface="+mn-ea"/>
          <a:cs typeface="+mn-cs"/>
        </a:defRPr>
      </a:lvl8pPr>
      <a:lvl9pPr marL="3207598" algn="l" defTabSz="801899" rtl="0" eaLnBrk="1" latinLnBrk="0" hangingPunct="1">
        <a:defRPr sz="157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9" userDrawn="1">
          <p15:clr>
            <a:srgbClr val="F26B43"/>
          </p15:clr>
        </p15:guide>
        <p15:guide id="2" pos="6342" userDrawn="1">
          <p15:clr>
            <a:srgbClr val="F26B43"/>
          </p15:clr>
        </p15:guide>
        <p15:guide id="3" orient="horz" pos="1764" userDrawn="1">
          <p15:clr>
            <a:srgbClr val="F26B43"/>
          </p15:clr>
        </p15:guide>
        <p15:guide id="4" orient="horz" pos="3824" userDrawn="1">
          <p15:clr>
            <a:srgbClr val="F26B43"/>
          </p15:clr>
        </p15:guide>
        <p15:guide id="5" orient="horz" pos="1202" userDrawn="1">
          <p15:clr>
            <a:srgbClr val="F26B43"/>
          </p15:clr>
        </p15:guide>
        <p15:guide id="6" orient="horz" pos="589" userDrawn="1">
          <p15:clr>
            <a:srgbClr val="F26B43"/>
          </p15:clr>
        </p15:guide>
        <p15:guide id="7" orient="horz" pos="433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2.xml"/><Relationship Id="rId3" Type="http://schemas.openxmlformats.org/officeDocument/2006/relationships/image" Target="../media/image15.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xml"/><Relationship Id="rId3"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3.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2.xml"/><Relationship Id="rId3" Type="http://schemas.openxmlformats.org/officeDocument/2006/relationships/chart" Target="../charts/chart5.xml"/><Relationship Id="rId4" Type="http://schemas.openxmlformats.org/officeDocument/2006/relationships/image" Target="../media/image16.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image" Target="../media/image1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0.xml"/><Relationship Id="rId5"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 Id="rId3" Type="http://schemas.openxmlformats.org/officeDocument/2006/relationships/chart" Target="../charts/chart12.xml"/><Relationship Id="rId4" Type="http://schemas.openxmlformats.org/officeDocument/2006/relationships/chart" Target="../charts/chart13.xml"/><Relationship Id="rId5" Type="http://schemas.openxmlformats.org/officeDocument/2006/relationships/chart" Target="../charts/chart14.xml"/><Relationship Id="rId6"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3" Type="http://schemas.openxmlformats.org/officeDocument/2006/relationships/chart" Target="../charts/chart15.xml"/><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6.xml"/><Relationship Id="rId3" Type="http://schemas.openxmlformats.org/officeDocument/2006/relationships/image" Target="../media/image19.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17.xml"/></Relationships>
</file>

<file path=ppt/slides/_rels/slide21.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2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tags" Target="../tags/tag8.xml"/><Relationship Id="rId3" Type="http://schemas.openxmlformats.org/officeDocument/2006/relationships/slideLayout" Target="../slideLayouts/slideLayout28.xml"/><Relationship Id="rId4" Type="http://schemas.openxmlformats.org/officeDocument/2006/relationships/notesSlide" Target="../notesSlides/notesSlide5.xml"/><Relationship Id="rId5" Type="http://schemas.openxmlformats.org/officeDocument/2006/relationships/image" Target="../media/image25.png"/><Relationship Id="rId6" Type="http://schemas.openxmlformats.org/officeDocument/2006/relationships/image" Target="../media/image26.svg"/><Relationship Id="rId7" Type="http://schemas.openxmlformats.org/officeDocument/2006/relationships/image" Target="../media/image27.svg"/><Relationship Id="rId8" Type="http://schemas.openxmlformats.org/officeDocument/2006/relationships/image" Target="../media/image28.svg"/><Relationship Id="rId9" Type="http://schemas.openxmlformats.org/officeDocument/2006/relationships/image" Target="../media/image29.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7.xml"/><Relationship Id="rId3" Type="http://schemas.openxmlformats.org/officeDocument/2006/relationships/image" Target="../media/image30.svg"/></Relationships>
</file>

<file path=ppt/slides/_rels/slide2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Layout" Target="../slideLayouts/slideLayout30.xml"/><Relationship Id="rId4" Type="http://schemas.openxmlformats.org/officeDocument/2006/relationships/notesSlide" Target="../notesSlides/notesSlide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6.svg"/><Relationship Id="rId5" Type="http://schemas.openxmlformats.org/officeDocument/2006/relationships/image" Target="../media/image31.svg"/><Relationship Id="rId6" Type="http://schemas.openxmlformats.org/officeDocument/2006/relationships/image" Target="../media/image32.svg"/><Relationship Id="rId7" Type="http://schemas.openxmlformats.org/officeDocument/2006/relationships/image" Target="../media/image33.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5166" y="3432261"/>
            <a:ext cx="3505819" cy="1028391"/>
          </a:xfrm>
        </p:spPr>
        <p:txBody>
          <a:bodyPr/>
          <a:lstStyle/>
          <a:p>
            <a:r>
              <a:rPr lang="en-US" noProof="0" dirty="0"/>
              <a:t>Investment Proposal</a:t>
            </a:r>
            <a:br>
              <a:rPr lang="en-US" noProof="0" dirty="0"/>
            </a:br>
            <a:endParaRPr lang="en-US" noProof="0" dirty="0"/>
          </a:p>
        </p:txBody>
      </p:sp>
      <p:sp>
        <p:nvSpPr>
          <p:cNvPr id="5" name="TextBox 4">
            <a:extLst>
              <a:ext uri="{FF2B5EF4-FFF2-40B4-BE49-F238E27FC236}">
                <a16:creationId xmlns:a16="http://schemas.microsoft.com/office/drawing/2014/main" id="{DB5E26F1-C2FA-05E8-250D-21FE76B78DDB}"/>
              </a:ext>
            </a:extLst>
          </p:cNvPr>
          <p:cNvSpPr txBox="1"/>
          <p:nvPr/>
        </p:nvSpPr>
        <p:spPr>
          <a:xfrm>
            <a:off x="1047135" y="1283110"/>
            <a:ext cx="0" cy="0"/>
          </a:xfrm>
          <a:prstGeom prst="rect">
            <a:avLst/>
          </a:prstGeom>
          <a:noFill/>
        </p:spPr>
        <p:txBody>
          <a:bodyPr vert="horz" wrap="none" lIns="0" tIns="0" rIns="0" bIns="0" rtlCol="0">
            <a:noAutofit/>
          </a:bodyPr>
          <a:lstStyle/>
          <a:p>
            <a:pPr algn="l"/>
            <a:endParaRPr lang="en-US" sz="1400" noProof="0" dirty="0"/>
          </a:p>
        </p:txBody>
      </p:sp>
      <p:pic>
        <p:nvPicPr>
          <p:cNvPr id="7" name="Picture 6">
            <a:extLst>
              <a:ext uri="{FF2B5EF4-FFF2-40B4-BE49-F238E27FC236}">
                <a16:creationId xmlns:a16="http://schemas.microsoft.com/office/drawing/2014/main" id="{6F76270C-7241-4516-0B18-4CDED442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a:off x="5570142" y="2436288"/>
            <a:ext cx="7561173" cy="2685600"/>
          </a:xfrm>
          <a:prstGeom prst="rect">
            <a:avLst/>
          </a:prstGeom>
        </p:spPr>
      </p:pic>
      <p:pic>
        <p:nvPicPr>
          <p:cNvPr id="14" name="Picture Placeholder 13">
            <a:extLst>
              <a:ext uri="{FF2B5EF4-FFF2-40B4-BE49-F238E27FC236}">
                <a16:creationId xmlns:a16="http://schemas.microsoft.com/office/drawing/2014/main" id="{4C3FC1B2-015E-C93E-4C3A-D485BBAB60D6}"/>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t="59" b="59"/>
          <a:stretch>
            <a:fillRect/>
          </a:stretch>
        </p:blipFill>
        <p:spPr>
          <a:prstGeom prst="rect">
            <a:avLst/>
          </a:prstGeom>
          <a:noFill/>
        </p:spPr>
      </p:pic>
      <p:sp>
        <p:nvSpPr>
          <p:cNvPr id="8" name="Text Placeholder 5">
            <a:extLst>
              <a:ext uri="{FF2B5EF4-FFF2-40B4-BE49-F238E27FC236}">
                <a16:creationId xmlns:a16="http://schemas.microsoft.com/office/drawing/2014/main" id="{5F934597-247F-905C-6285-0E599E19095F}"/>
              </a:ext>
            </a:extLst>
          </p:cNvPr>
          <p:cNvSpPr>
            <a:spLocks noGrp="1"/>
          </p:cNvSpPr>
          <p:nvPr>
            <p:ph type="body" sz="quarter" idx="13"/>
          </p:nvPr>
        </p:nvSpPr>
        <p:spPr>
          <a:xfrm>
            <a:off x="665163" y="4232565"/>
            <a:ext cx="4391746" cy="1572490"/>
          </a:xfrm>
        </p:spPr>
        <p:txBody>
          <a:bodyPr/>
          <a:lstStyle/>
          <a:p>
            <a:r>
              <a:rPr lang="en-US" sz="1600" b="1" dirty="0"/>
              <a:t>Balanced EUR 21.3m</a:t>
            </a:r>
            <a:endParaRPr lang="en-GB" sz="1600" b="1" dirty="0"/>
          </a:p>
          <a:p>
            <a:r>
              <a:t/>
            </a:r>
            <a:endParaRPr lang="en-GB" sz="1400" b="1" dirty="0"/>
          </a:p>
          <a:p>
            <a:r>
              <a:rPr lang="en-CH" sz="1100" dirty="0"/>
              <a:t>Prepared for Valued Client</a:t>
            </a:r>
            <a:endParaRPr lang="en-US" sz="1100" dirty="0"/>
          </a:p>
          <a:p>
            <a:r>
              <a:t/>
            </a:r>
            <a:endParaRPr lang="en-US" sz="1100" dirty="0"/>
          </a:p>
          <a:p>
            <a:r>
              <a:rPr lang="en-CH" sz="1100" dirty="0"/>
              <a:t>Your Relationship Manager: [Name]</a:t>
            </a:r>
            <a:endParaRPr lang="en-US" sz="1100" dirty="0"/>
          </a:p>
          <a:p>
            <a:r>
              <a:t/>
            </a:r>
            <a:endParaRPr lang="en-US" sz="1100" b="1" dirty="0"/>
          </a:p>
          <a:p>
            <a:r>
              <a:rPr lang="en-US" sz="1100" dirty="0"/>
              <a:t>Your Advisor: </a:t>
            </a:r>
            <a:endParaRPr lang="en-GB" sz="1100"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p:cNvSpPr>
            <a:spLocks noGrp="1"/>
          </p:cNvSpPr>
          <p:nvPr>
            <p:ph type="body" sz="quarter" idx="20"/>
          </p:nvPr>
        </p:nvSpPr>
        <p:spPr>
          <a:solidFill>
            <a:srgbClr val="FFA400"/>
          </a:solidFill>
        </p:spPr>
        <p:txBody>
          <a:bodyPr/>
          <a:lstStyle/>
          <a:p>
            <a:r>
              <a:rPr lang="en-US" noProof="0" dirty="0">
                <a:solidFill>
                  <a:srgbClr val="FFFFFF"/>
                </a:solidFill>
                <a:latin typeface="Nunito Sans ExtraBold"/>
              </a:rPr>
              <a:t>Market Update</a:t>
            </a:r>
            <a:endParaRPr lang="en-US" b="1" noProof="0" dirty="0">
              <a:solidFill>
                <a:srgbClr val="FFFFFF"/>
              </a:solidFill>
              <a:latin typeface="Nunito Sans ExtraBold"/>
            </a:endParaRPr>
          </a:p>
        </p:txBody>
      </p:sp>
      <p:sp>
        <p:nvSpPr>
          <p:cNvPr id="4" name="Text Placeholder 3"/>
          <p:cNvSpPr>
            <a:spLocks noGrp="1"/>
          </p:cNvSpPr>
          <p:nvPr>
            <p:ph type="body" sz="quarter" idx="21"/>
          </p:nvPr>
        </p:nvSpPr>
        <p:spPr>
          <a:solidFill>
            <a:srgbClr val="FFDA99"/>
          </a:solidFill>
        </p:spPr>
        <p:txBody>
          <a:bodyPr/>
          <a:lstStyle/>
          <a:p>
            <a:r>
              <a:rPr lang="en-US" sz="1100" b="1" noProof="0" dirty="0">
                <a:solidFill>
                  <a:srgbClr val="FFFFFF"/>
                </a:solidFill>
                <a:latin typeface="Nunito Sans ExtraBold"/>
              </a:rPr>
              <a:t>Investment Proposal</a:t>
            </a:r>
          </a:p>
        </p:txBody>
      </p:sp>
      <p:sp>
        <p:nvSpPr>
          <p:cNvPr id="8" name="Text Placeholder 7"/>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p:cNvSpPr>
            <a:spLocks noGrp="1"/>
          </p:cNvSpPr>
          <p:nvPr>
            <p:ph type="body" sz="quarter" idx="26"/>
          </p:nvPr>
        </p:nvSpPr>
        <p:spPr/>
        <p:txBody>
          <a:bodyPr/>
          <a:lstStyle/>
          <a:p>
            <a:r>
              <a:rPr lang="en-US" b="1" noProof="0" dirty="0">
                <a:solidFill>
                  <a:srgbClr val="FFA400"/>
                </a:solidFill>
                <a:latin typeface="Nunito Sans ExtraBold"/>
              </a:rPr>
              <a:t>02</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How markets moved last week</a:t>
            </a:r>
          </a:p>
        </p:txBody>
      </p:sp>
      <p:sp>
        <p:nvSpPr>
          <p:cNvPr id="4" name="Rectangle"/>
          <p:cNvSpPr/>
          <p:nvPr/>
        </p:nvSpPr>
        <p:spPr>
          <a:xfrm>
            <a:off x="6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+0.33%</a:t>
            </a:r>
          </a:p>
          <a:p>
            <a:pPr algn="ctr"/>
            <a:r>
              <a:rPr lang="en-US" sz="1200" noProof="0" dirty="0">
                <a:solidFill>
                  <a:srgbClr val="202945"/>
                </a:solidFill>
                <a:latin typeface="Nunito Sans"/>
              </a:rPr>
              <a:t>S&amp;P 500, week</a:t>
            </a:r>
          </a:p>
        </p:txBody>
      </p:sp>
      <p:sp>
        <p:nvSpPr>
          <p:cNvPr id="5" name="Rectangle"/>
          <p:cNvSpPr/>
          <p:nvPr/>
        </p:nvSpPr>
        <p:spPr>
          <a:xfrm>
            <a:off x="30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-0.01%</a:t>
            </a:r>
          </a:p>
          <a:p>
            <a:pPr algn="ctr"/>
            <a:r>
              <a:rPr lang="en-US" sz="1200" noProof="0" dirty="0">
                <a:solidFill>
                  <a:srgbClr val="202945"/>
                </a:solidFill>
                <a:latin typeface="Nunito Sans"/>
              </a:rPr>
              <a:t>Nasdaq, week</a:t>
            </a:r>
          </a:p>
        </p:txBody>
      </p:sp>
      <p:sp>
        <p:nvSpPr>
          <p:cNvPr id="6" name="Rectangle"/>
          <p:cNvSpPr/>
          <p:nvPr/>
        </p:nvSpPr>
        <p:spPr>
          <a:xfrm>
            <a:off x="54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+5.36%</a:t>
            </a:r>
          </a:p>
          <a:p>
            <a:pPr algn="ctr"/>
            <a:r>
              <a:rPr lang="en-US" sz="1200" noProof="0" dirty="0">
                <a:solidFill>
                  <a:srgbClr val="202945"/>
                </a:solidFill>
                <a:latin typeface="Nunito Sans"/>
              </a:rPr>
              <a:t>Oil, week</a:t>
            </a:r>
          </a:p>
        </p:txBody>
      </p:sp>
      <p:sp>
        <p:nvSpPr>
          <p:cNvPr id="7" name="Rectangle"/>
          <p:cNvSpPr/>
          <p:nvPr/>
        </p:nvSpPr>
        <p:spPr>
          <a:xfrm>
            <a:off x="7866000" y="2412000"/>
            <a:ext cx="2160000" cy="1008000"/>
          </a:xfrm>
          <a:prstGeom prst="rect">
            <a:avLst/>
          </a:prstGeom>
          <a:solidFill>
            <a:srgbClr val="FFFFFF"/>
          </a:solidFill>
          <a:ln w="12700">
            <a:solidFill>
              <a:srgbClr val="FFC545"/>
            </a:solidFill>
          </a:ln>
          <a:effectLst/>
        </p:spPr>
        <p:txBody>
          <a:bodyPr lIns="45720" tIns="45720" rIns="45720" bIns="45720" rtlCol="0" anchor="ctr"/>
          <a:lstStyle/>
          <a:p>
            <a:pPr algn="ctr"/>
            <a:r>
              <a:rPr lang="en-US" sz="2400" b="1" noProof="0" dirty="0">
                <a:solidFill>
                  <a:srgbClr val="FF6C0E"/>
                </a:solidFill>
                <a:latin typeface="Nunito Sans ExtraBold"/>
              </a:rPr>
              <a:t>+7.33%</a:t>
            </a:r>
            <a:endParaRPr lang="en-US" sz="2400" noProof="0" dirty="0"/>
          </a:p>
          <a:p>
            <a:pPr algn="ctr"/>
            <a:r>
              <a:rPr lang="en-US" sz="1200" noProof="0" dirty="0">
                <a:solidFill>
                  <a:srgbClr val="202945"/>
                </a:solidFill>
                <a:latin typeface="Nunito Sans"/>
              </a:rPr>
              <a:t>Energy sector, week</a:t>
            </a:r>
            <a:endParaRPr lang="en-US" sz="1300" noProof="0" dirty="0">
              <a:solidFill>
                <a:srgbClr val="202945"/>
              </a:solidFill>
              <a:latin typeface="Nunito Sans"/>
            </a:endParaRPr>
          </a:p>
        </p:txBody>
      </p:sp>
      <p:sp>
        <p:nvSpPr>
          <p:cNvPr id="8" name="TextBox"/>
          <p:cNvSpPr txBox="1"/>
          <p:nvPr/>
        </p:nvSpPr>
        <p:spPr>
          <a:xfrm>
            <a:off x="666000" y="3720000"/>
            <a:ext cx="4400000" cy="300000"/>
          </a:xfrm>
          <a:prstGeom prst="rect">
            <a:avLst/>
          </a:prstGeom>
          <a:noFill/>
        </p:spPr>
        <p:txBody>
          <a:bodyPr wrap="square" lIns="0" tIns="0" rIns="0" bIns="0" anchor="t"/>
          <a:lstStyle/>
          <a:p>
            <a:pPr algn="l"/>
            <a:r>
              <a:rPr lang="en-US" sz="1400" b="1" noProof="0" dirty="0">
                <a:solidFill>
                  <a:srgbClr val="FF6C0E"/>
                </a:solidFill>
                <a:latin typeface="Nunito Sans ExtraBold"/>
              </a:rPr>
              <a:t>Cross-asset scoreboard</a:t>
            </a:r>
          </a:p>
        </p:txBody>
      </p:sp>
      <p:sp>
        <p:nvSpPr>
          <p:cNvPr id="9" name="TextBox"/>
          <p:cNvSpPr txBox="1"/>
          <p:nvPr/>
        </p:nvSpPr>
        <p:spPr>
          <a:xfrm>
            <a:off x="666000" y="4100000"/>
            <a:ext cx="2700000" cy="2900000"/>
          </a:xfrm>
          <a:prstGeom prst="rect">
            <a:avLst/>
          </a:prstGeom>
          <a:noFill/>
        </p:spPr>
        <p:txBody>
          <a:bodyPr wrap="square" lIns="0" tIns="0" rIns="0" bIns="0" anchor="t"/>
          <a:lstStyle/>
          <a:p>
            <a:pPr algn="l">
              <a:spcAft>
                <a:spcPts val="600"/>
              </a:spcAft>
            </a:pPr>
            <a:r>
              <a:rPr lang="en-US" sz="1100" b="1" noProof="0" dirty="0">
                <a:solidFill>
                  <a:srgbClr val="202945"/>
                </a:solidFill>
                <a:latin typeface="Nunito Sans"/>
              </a:rPr>
              <a:t>Index</a:t>
            </a:r>
          </a:p>
          <a:p>
            <a:pPr algn="l">
              <a:spcAft>
                <a:spcPts val="600"/>
              </a:spcAft>
            </a:pPr>
            <a:r>
              <a:rPr lang="en-US" sz="1100" b="0" noProof="0" dirty="0">
                <a:solidFill>
                  <a:srgbClr val="202945"/>
                </a:solidFill>
                <a:latin typeface="Nunito Sans"/>
              </a:rPr>
              <a:t>S&amp;P 500</a:t>
            </a:r>
          </a:p>
          <a:p>
            <a:pPr algn="l">
              <a:spcAft>
                <a:spcPts val="600"/>
              </a:spcAft>
            </a:pPr>
            <a:r>
              <a:rPr lang="en-US" sz="1100" b="0" noProof="0" dirty="0">
                <a:solidFill>
                  <a:srgbClr val="202945"/>
                </a:solidFill>
                <a:latin typeface="Nunito Sans"/>
              </a:rPr>
              <a:t>Nasdaq Composite</a:t>
            </a:r>
          </a:p>
          <a:p>
            <a:pPr algn="l">
              <a:spcAft>
                <a:spcPts val="600"/>
              </a:spcAft>
            </a:pPr>
            <a:r>
              <a:rPr lang="en-US" sz="1100" b="0" noProof="0" dirty="0">
                <a:solidFill>
                  <a:srgbClr val="202945"/>
                </a:solidFill>
                <a:latin typeface="Nunito Sans"/>
              </a:rPr>
              <a:t>Russell 2000</a:t>
            </a:r>
          </a:p>
          <a:p>
            <a:pPr algn="l">
              <a:spcAft>
                <a:spcPts val="600"/>
              </a:spcAft>
            </a:pPr>
            <a:r>
              <a:rPr lang="en-US" sz="1100" b="0" noProof="0" dirty="0">
                <a:solidFill>
                  <a:srgbClr val="202945"/>
                </a:solidFill>
                <a:latin typeface="Nunito Sans"/>
              </a:rPr>
              <a:t>MSCI EM</a:t>
            </a:r>
          </a:p>
          <a:p>
            <a:pPr algn="l">
              <a:spcAft>
                <a:spcPts val="600"/>
              </a:spcAft>
            </a:pPr>
            <a:r>
              <a:rPr lang="en-US" sz="1100" b="0" noProof="0" dirty="0">
                <a:solidFill>
                  <a:srgbClr val="202945"/>
                </a:solidFill>
                <a:latin typeface="Nunito Sans"/>
              </a:rPr>
              <a:t>Bloomberg U.S. Aggregate</a:t>
            </a:r>
          </a:p>
          <a:p>
            <a:pPr algn="l">
              <a:spcAft>
                <a:spcPts val="600"/>
              </a:spcAft>
            </a:pPr>
            <a:r>
              <a:rPr lang="en-US" sz="1100" b="0" noProof="0" dirty="0">
                <a:solidFill>
                  <a:srgbClr val="202945"/>
                </a:solidFill>
                <a:latin typeface="Nunito Sans"/>
              </a:rPr>
              <a:t>Bloomberg High Yield</a:t>
            </a:r>
          </a:p>
          <a:p>
            <a:pPr algn="l">
              <a:spcAft>
                <a:spcPts val="600"/>
              </a:spcAft>
            </a:pPr>
            <a:r>
              <a:rPr lang="en-US" sz="1100" b="0" noProof="0" dirty="0">
                <a:solidFill>
                  <a:srgbClr val="202945"/>
                </a:solidFill>
                <a:latin typeface="Nunito Sans"/>
              </a:rPr>
              <a:t>Oil (WTI)</a:t>
            </a:r>
          </a:p>
          <a:p>
            <a:pPr algn="l">
              <a:spcAft>
                <a:spcPts val="600"/>
              </a:spcAft>
            </a:pPr>
            <a:r>
              <a:rPr lang="en-US" sz="1100" b="0" noProof="0" dirty="0">
                <a:solidFill>
                  <a:srgbClr val="202945"/>
                </a:solidFill>
                <a:latin typeface="Nunito Sans"/>
              </a:rPr>
              <a:t>Gold</a:t>
            </a:r>
          </a:p>
          <a:p>
            <a:pPr algn="l">
              <a:spcAft>
                <a:spcPts val="600"/>
              </a:spcAft>
            </a:pPr>
            <a:r>
              <a:rPr lang="en-US" sz="1100" b="0" noProof="0" dirty="0">
                <a:solidFill>
                  <a:srgbClr val="202945"/>
                </a:solidFill>
                <a:latin typeface="Nunito Sans"/>
              </a:rPr>
              <a:t>S&amp;P 500 Energy</a:t>
            </a:r>
          </a:p>
        </p:txBody>
      </p:sp>
      <p:sp>
        <p:nvSpPr>
          <p:cNvPr id="10" name="TextBox"/>
          <p:cNvSpPr txBox="1"/>
          <p:nvPr/>
        </p:nvSpPr>
        <p:spPr>
          <a:xfrm>
            <a:off x="340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Week</a:t>
            </a:r>
            <a:endParaRPr lang="en-US" sz="1100" noProof="0" dirty="0"/>
          </a:p>
          <a:p>
            <a:pPr algn="r">
              <a:spcAft>
                <a:spcPts val="600"/>
              </a:spcAft>
            </a:pPr>
            <a:r>
              <a:rPr lang="en-US" sz="1100" b="0" noProof="0" dirty="0">
                <a:solidFill>
                  <a:srgbClr val="3BAF90"/>
                </a:solidFill>
                <a:latin typeface="Nunito Sans"/>
              </a:rPr>
              <a:t>+0.33%</a:t>
            </a:r>
          </a:p>
          <a:p>
            <a:pPr algn="r">
              <a:spcAft>
                <a:spcPts val="600"/>
              </a:spcAft>
            </a:pPr>
            <a:r>
              <a:rPr lang="en-US" sz="1100" b="0" noProof="0" dirty="0">
                <a:solidFill>
                  <a:srgbClr val="FF6C0E"/>
                </a:solidFill>
                <a:latin typeface="Nunito Sans"/>
              </a:rPr>
              <a:t>-0.01%</a:t>
            </a:r>
          </a:p>
          <a:p>
            <a:pPr algn="r">
              <a:spcAft>
                <a:spcPts val="600"/>
              </a:spcAft>
            </a:pPr>
            <a:r>
              <a:rPr lang="en-US" sz="1100" b="0" noProof="0" dirty="0">
                <a:solidFill>
                  <a:srgbClr val="3BAF90"/>
                </a:solidFill>
                <a:latin typeface="Nunito Sans"/>
              </a:rPr>
              <a:t>+0.97%</a:t>
            </a:r>
          </a:p>
          <a:p>
            <a:pPr algn="r">
              <a:spcAft>
                <a:spcPts val="600"/>
              </a:spcAft>
            </a:pPr>
            <a:r>
              <a:rPr lang="en-US" sz="1100" b="0" noProof="0" dirty="0">
                <a:solidFill>
                  <a:srgbClr val="3BAF90"/>
                </a:solidFill>
                <a:latin typeface="Nunito Sans"/>
              </a:rPr>
              <a:t>+1.38%</a:t>
            </a:r>
          </a:p>
          <a:p>
            <a:pPr algn="r">
              <a:spcAft>
                <a:spcPts val="600"/>
              </a:spcAft>
            </a:pPr>
            <a:r>
              <a:rPr lang="en-US" sz="1100" b="0" noProof="0" dirty="0">
                <a:solidFill>
                  <a:srgbClr val="3BAF90"/>
                </a:solidFill>
                <a:latin typeface="Nunito Sans"/>
              </a:rPr>
              <a:t>+0.13%</a:t>
            </a:r>
          </a:p>
          <a:p>
            <a:pPr algn="r">
              <a:spcAft>
                <a:spcPts val="600"/>
              </a:spcAft>
            </a:pPr>
            <a:r>
              <a:rPr lang="en-US" sz="1100" b="0" noProof="0" dirty="0">
                <a:solidFill>
                  <a:srgbClr val="3BAF90"/>
                </a:solidFill>
                <a:latin typeface="Nunito Sans"/>
              </a:rPr>
              <a:t>+0.19%</a:t>
            </a:r>
          </a:p>
          <a:p>
            <a:pPr algn="r">
              <a:spcAft>
                <a:spcPts val="600"/>
              </a:spcAft>
            </a:pPr>
            <a:r>
              <a:rPr lang="en-US" sz="1100" b="0" noProof="0" dirty="0">
                <a:solidFill>
                  <a:srgbClr val="3BAF90"/>
                </a:solidFill>
                <a:latin typeface="Nunito Sans"/>
              </a:rPr>
              <a:t>+5.36%</a:t>
            </a:r>
          </a:p>
          <a:p>
            <a:pPr algn="r">
              <a:spcAft>
                <a:spcPts val="600"/>
              </a:spcAft>
            </a:pPr>
            <a:r>
              <a:rPr lang="en-US" sz="1100" b="0" noProof="0" dirty="0">
                <a:solidFill>
                  <a:srgbClr val="3BAF90"/>
                </a:solidFill>
                <a:latin typeface="Nunito Sans"/>
              </a:rPr>
              <a:t>+0.8%</a:t>
            </a:r>
          </a:p>
          <a:p>
            <a:pPr algn="r">
              <a:spcAft>
                <a:spcPts val="600"/>
              </a:spcAft>
            </a:pPr>
            <a:r>
              <a:rPr lang="en-US" sz="1100" b="0" noProof="0" dirty="0">
                <a:solidFill>
                  <a:srgbClr val="3BAF90"/>
                </a:solidFill>
                <a:latin typeface="Nunito Sans"/>
              </a:rPr>
              <a:t>+7.33%</a:t>
            </a:r>
          </a:p>
        </p:txBody>
      </p:sp>
      <p:sp>
        <p:nvSpPr>
          <p:cNvPr id="11" name="TextBox"/>
          <p:cNvSpPr txBox="1"/>
          <p:nvPr/>
        </p:nvSpPr>
        <p:spPr>
          <a:xfrm>
            <a:off x="4260000" y="4100000"/>
            <a:ext cx="800000" cy="2900000"/>
          </a:xfrm>
          <a:prstGeom prst="rect">
            <a:avLst/>
          </a:prstGeom>
          <a:noFill/>
        </p:spPr>
        <p:txBody>
          <a:bodyPr wrap="square" lIns="0" tIns="0" rIns="0" bIns="0" anchor="t"/>
          <a:lstStyle/>
          <a:p>
            <a:pPr algn="r">
              <a:spcAft>
                <a:spcPts val="600"/>
              </a:spcAft>
            </a:pPr>
            <a:r>
              <a:rPr lang="en-US" sz="1100" b="1" noProof="0" dirty="0">
                <a:solidFill>
                  <a:srgbClr val="202945"/>
                </a:solidFill>
                <a:latin typeface="Nunito Sans"/>
              </a:rPr>
              <a:t>YTD</a:t>
            </a:r>
            <a:endParaRPr lang="en-US" sz="1100" noProof="0" dirty="0"/>
          </a:p>
          <a:p>
            <a:pPr algn="r">
              <a:spcAft>
                <a:spcPts val="600"/>
              </a:spcAft>
            </a:pPr>
            <a:r>
              <a:rPr lang="en-US" sz="1100" b="0" noProof="0" dirty="0">
                <a:solidFill>
                  <a:srgbClr val="3BAF90"/>
                </a:solidFill>
                <a:latin typeface="Nunito Sans"/>
              </a:rPr>
              <a:t>+13.70%</a:t>
            </a:r>
          </a:p>
          <a:p>
            <a:pPr algn="r">
              <a:spcAft>
                <a:spcPts val="600"/>
              </a:spcAft>
            </a:pPr>
            <a:r>
              <a:rPr lang="en-US" sz="1100" b="0" noProof="0" dirty="0">
                <a:solidFill>
                  <a:srgbClr val="3BAF90"/>
                </a:solidFill>
                <a:latin typeface="Nunito Sans"/>
              </a:rPr>
              <a:t>+14.83%</a:t>
            </a:r>
          </a:p>
          <a:p>
            <a:pPr algn="r">
              <a:spcAft>
                <a:spcPts val="600"/>
              </a:spcAft>
            </a:pPr>
            <a:r>
              <a:rPr lang="en-US" sz="1100" b="0" noProof="0" dirty="0">
                <a:solidFill>
                  <a:srgbClr val="3BAF90"/>
                </a:solidFill>
                <a:latin typeface="Nunito Sans"/>
              </a:rPr>
              <a:t>+23.46%</a:t>
            </a:r>
          </a:p>
          <a:p>
            <a:pPr algn="r">
              <a:spcAft>
                <a:spcPts val="600"/>
              </a:spcAft>
            </a:pPr>
            <a:r>
              <a:rPr lang="en-US" sz="1100" b="0" noProof="0" dirty="0">
                <a:solidFill>
                  <a:srgbClr val="3BAF90"/>
                </a:solidFill>
                <a:latin typeface="Nunito Sans"/>
              </a:rPr>
              <a:t>+21.63%</a:t>
            </a:r>
          </a:p>
          <a:p>
            <a:pPr algn="r">
              <a:spcAft>
                <a:spcPts val="600"/>
              </a:spcAft>
            </a:pPr>
            <a:r>
              <a:rPr lang="en-US" sz="1100" b="0" noProof="0" dirty="0">
                <a:solidFill>
                  <a:srgbClr val="3BAF90"/>
                </a:solidFill>
                <a:latin typeface="Nunito Sans"/>
              </a:rPr>
              <a:t>+0.04%</a:t>
            </a:r>
          </a:p>
          <a:p>
            <a:pPr algn="r">
              <a:spcAft>
                <a:spcPts val="600"/>
              </a:spcAft>
            </a:pPr>
            <a:r>
              <a:rPr lang="en-US" sz="1100" b="0" noProof="0" dirty="0">
                <a:solidFill>
                  <a:srgbClr val="3BAF90"/>
                </a:solidFill>
                <a:latin typeface="Nunito Sans"/>
              </a:rPr>
              <a:t>+2.64%</a:t>
            </a:r>
          </a:p>
          <a:p>
            <a:pPr algn="r">
              <a:spcAft>
                <a:spcPts val="600"/>
              </a:spcAft>
            </a:pPr>
            <a:r>
              <a:rPr lang="en-US" sz="1100" b="0" noProof="0" dirty="0">
                <a:solidFill>
                  <a:srgbClr val="3BAF90"/>
                </a:solidFill>
                <a:latin typeface="Nunito Sans"/>
              </a:rPr>
              <a:t>+43.5%</a:t>
            </a:r>
          </a:p>
          <a:p>
            <a:pPr algn="r">
              <a:spcAft>
                <a:spcPts val="600"/>
              </a:spcAft>
            </a:pPr>
            <a:r>
              <a:rPr lang="en-US" sz="1100" b="0" noProof="0" dirty="0">
                <a:solidFill>
                  <a:srgbClr val="3BAF90"/>
                </a:solidFill>
                <a:latin typeface="Nunito Sans"/>
              </a:rPr>
              <a:t>+1.3%</a:t>
            </a:r>
          </a:p>
          <a:p>
            <a:pPr algn="r">
              <a:spcAft>
                <a:spcPts val="600"/>
              </a:spcAft>
            </a:pPr>
            <a:r>
              <a:rPr lang="en-US" sz="1100" b="0" noProof="0" dirty="0">
                <a:solidFill>
                  <a:srgbClr val="3BAF90"/>
                </a:solidFill>
                <a:latin typeface="Nunito Sans"/>
              </a:rPr>
              <a:t>+37.80%</a:t>
            </a:r>
          </a:p>
        </p:txBody>
      </p:sp>
      <p:sp>
        <p:nvSpPr>
          <p:cNvPr id="12" name="TextBox"/>
          <p:cNvSpPr txBox="1"/>
          <p:nvPr/>
        </p:nvSpPr>
        <p:spPr>
          <a:xfrm>
            <a:off x="5560000" y="3720000"/>
            <a:ext cx="4465813" cy="300000"/>
          </a:xfrm>
          <a:prstGeom prst="rect">
            <a:avLst/>
          </a:prstGeom>
          <a:noFill/>
        </p:spPr>
        <p:txBody>
          <a:bodyPr wrap="square" lIns="0" tIns="0" rIns="0" bIns="0" anchor="t"/>
          <a:lstStyle/>
          <a:p>
            <a:pPr algn="l"/>
            <a:r>
              <a:rPr lang="en-US" sz="1400" b="1" noProof="0" dirty="0">
                <a:solidFill>
                  <a:srgbClr val="FF6C0E"/>
                </a:solidFill>
                <a:latin typeface="Nunito Sans ExtraBold"/>
              </a:rPr>
              <a:t>Three observations</a:t>
            </a:r>
          </a:p>
        </p:txBody>
      </p:sp>
      <p:sp>
        <p:nvSpPr>
          <p:cNvPr id="13" name="Rectangle"/>
          <p:cNvSpPr/>
          <p:nvPr/>
        </p:nvSpPr>
        <p:spPr>
          <a:xfrm>
            <a:off x="5560000" y="410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Energy is carrying the year</a:t>
            </a:r>
            <a:endParaRPr lang="en-US" sz="1200" noProof="0" dirty="0"/>
          </a:p>
          <a:p>
            <a:pPr algn="l"/>
            <a:r>
              <a:rPr lang="en-US" sz="1100" b="0" noProof="0" dirty="0">
                <a:solidFill>
                  <a:srgbClr val="202945"/>
                </a:solidFill>
                <a:latin typeface="Nunito Sans"/>
              </a:rPr>
              <a:t>It was the only sector up more than 2% on the week and, at +37.80% year to date, is more than fourteen points ahead of the next-best sector.</a:t>
            </a:r>
          </a:p>
        </p:txBody>
      </p:sp>
      <p:sp>
        <p:nvSpPr>
          <p:cNvPr id="14" name="Rectangle"/>
          <p:cNvSpPr/>
          <p:nvPr/>
        </p:nvSpPr>
        <p:spPr>
          <a:xfrm>
            <a:off x="5560000" y="507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The scoreboard flatters the tape</a:t>
            </a:r>
            <a:endParaRPr lang="en-US" sz="1200" noProof="0" dirty="0"/>
          </a:p>
          <a:p>
            <a:pPr algn="l"/>
            <a:r>
              <a:rPr lang="en-US" sz="1100" b="0" noProof="0" dirty="0">
                <a:solidFill>
                  <a:srgbClr val="202945"/>
                </a:solidFill>
                <a:latin typeface="Nunito Sans"/>
              </a:rPr>
              <a:t>Core bonds ended barely positive at +0.13% after a full round trip, and the Aggregate is up just 0.04% on the year.</a:t>
            </a:r>
          </a:p>
        </p:txBody>
      </p:sp>
      <p:sp>
        <p:nvSpPr>
          <p:cNvPr id="15" name="Rectangle"/>
          <p:cNvSpPr/>
          <p:nvPr/>
        </p:nvSpPr>
        <p:spPr>
          <a:xfrm>
            <a:off x="5560000" y="6040000"/>
            <a:ext cx="4465813" cy="880000"/>
          </a:xfrm>
          <a:prstGeom prst="rect">
            <a:avLst/>
          </a:prstGeom>
          <a:solidFill>
            <a:srgbClr val="FFFFFF"/>
          </a:solidFill>
          <a:ln>
            <a:noFill/>
          </a:ln>
          <a:effectLst>
            <a:outerShdw blurRad="635000" dir="5400000" algn="t" rotWithShape="0">
              <a:schemeClr val="bg1">
                <a:lumMod val="85000"/>
                <a:alpha val="30000"/>
              </a:schemeClr>
            </a:outerShdw>
          </a:effectLst>
        </p:spPr>
        <p:txBody>
          <a:bodyPr lIns="150000" tIns="150000" rIns="150000" bIns="150000" rtlCol="0" anchor="ctr"/>
          <a:lstStyle/>
          <a:p>
            <a:pPr algn="l">
              <a:spcAft>
                <a:spcPts val="400"/>
              </a:spcAft>
            </a:pPr>
            <a:r>
              <a:rPr lang="en-US" sz="1200" b="1" noProof="0" dirty="0">
                <a:solidFill>
                  <a:srgbClr val="202945"/>
                </a:solidFill>
                <a:latin typeface="Nunito Sans ExtraBold"/>
              </a:rPr>
              <a:t>Breadth is still where the returns are</a:t>
            </a:r>
            <a:endParaRPr lang="en-US" sz="1200" noProof="0" dirty="0"/>
          </a:p>
          <a:p>
            <a:pPr algn="l"/>
            <a:r>
              <a:rPr lang="en-US" sz="1100" b="0" noProof="0" dirty="0">
                <a:solidFill>
                  <a:srgbClr val="202945"/>
                </a:solidFill>
                <a:latin typeface="Nunito Sans"/>
              </a:rPr>
              <a:t>The Russell 2000 leads at +23.46% year to date and MSCI EM, at +1.38%, led the week.</a:t>
            </a:r>
          </a:p>
        </p:txBody>
      </p:sp>
      <p:sp>
        <p:nvSpPr>
          <p:cNvPr id="16"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The S&amp;P 500 added 0.33% and no major benchmark moved more than 1.4% in either direction. Cooler July inflation took the front end lower, but the 30-year auction cleared at its highest yield since 2001 and crude rose 5.36% on the Hormuz deadlock; our tactical allocation stays neutral equities, underweight fixed income, overweight cash, gold and commodities.</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98E74-BC25-E5F5-BE84-27A48B894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7C31F3-BF6F-1B0C-36DF-7DC4FF3A011C}"/>
              </a:ext>
            </a:extLst>
          </p:cNvPr>
          <p:cNvSpPr>
            <a:spLocks noGrp="1"/>
          </p:cNvSpPr>
          <p:nvPr>
            <p:ph type="title"/>
          </p:nvPr>
        </p:nvSpPr>
        <p:spPr>
          <a:xfrm>
            <a:off x="669924" y="1051017"/>
            <a:ext cx="9398001" cy="864587"/>
          </a:xfrm>
        </p:spPr>
        <p:txBody>
          <a:bodyPr/>
          <a:lstStyle/>
          <a:p>
            <a:r>
              <a:rPr lang="en-US" noProof="0" dirty="0"/>
              <a:t>What drove the move: four forces</a:t>
            </a:r>
          </a:p>
        </p:txBody>
      </p:sp>
      <p:sp>
        <p:nvSpPr>
          <p:cNvPr id="4" name="Rectangle">
            <a:extLst>
              <a:ext uri="{FF2B5EF4-FFF2-40B4-BE49-F238E27FC236}">
                <a16:creationId xmlns:a16="http://schemas.microsoft.com/office/drawing/2014/main" id="{4A442DDD-B97F-DF7C-E439-F0A18B214C9E}"/>
              </a:ext>
            </a:extLst>
          </p:cNvPr>
          <p:cNvSpPr/>
          <p:nvPr/>
        </p:nvSpPr>
        <p:spPr>
          <a:xfrm>
            <a:off x="6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1 - Cooler inflation, at last</a:t>
            </a:r>
            <a:endParaRPr lang="en-US" sz="1200" noProof="0" dirty="0">
              <a:solidFill>
                <a:schemeClr val="tx2"/>
              </a:solidFill>
            </a:endParaRPr>
          </a:p>
          <a:p>
            <a:pPr algn="l">
              <a:spcAft>
                <a:spcPts val="800"/>
              </a:spcAft>
            </a:pPr>
            <a:r>
              <a:rPr lang="en-US" sz="1100" b="0" noProof="0" dirty="0">
                <a:solidFill>
                  <a:srgbClr val="202945"/>
                </a:solidFill>
                <a:latin typeface="Nunito Sans"/>
              </a:rPr>
              <a:t>July CPI confirmed US consumer inflation is cooling, headline easing to 3.4% and core to 2.5%, though annual producer inflation is still 4.7% headline and 4.2% core.</a:t>
            </a:r>
          </a:p>
          <a:p>
            <a:pPr>
              <a:spcAft>
                <a:spcPts val="800"/>
              </a:spcAft>
            </a:pPr>
            <a:r>
              <a:rPr lang="en-US" sz="1200" b="0" noProof="0" dirty="0">
                <a:solidFill>
                  <a:schemeClr val="tx2"/>
                </a:solidFill>
                <a:latin typeface="Nunito Sans ExtraBold"/>
              </a:rPr>
              <a:t>CPI 3.4% headline</a:t>
            </a:r>
          </a:p>
        </p:txBody>
      </p:sp>
      <p:sp>
        <p:nvSpPr>
          <p:cNvPr id="5" name="Rectangle">
            <a:extLst>
              <a:ext uri="{FF2B5EF4-FFF2-40B4-BE49-F238E27FC236}">
                <a16:creationId xmlns:a16="http://schemas.microsoft.com/office/drawing/2014/main" id="{749238CC-59D3-5013-88EF-20D717F51A0B}"/>
              </a:ext>
            </a:extLst>
          </p:cNvPr>
          <p:cNvSpPr/>
          <p:nvPr/>
        </p:nvSpPr>
        <p:spPr>
          <a:xfrm>
            <a:off x="5466000" y="24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2 - The long end would not cooperate</a:t>
            </a:r>
          </a:p>
          <a:p>
            <a:pPr algn="l">
              <a:spcAft>
                <a:spcPts val="800"/>
              </a:spcAft>
            </a:pPr>
            <a:r>
              <a:rPr lang="en-US" sz="1100" b="0" noProof="0" dirty="0">
                <a:solidFill>
                  <a:srgbClr val="202945"/>
                </a:solidFill>
                <a:latin typeface="Nunito Sans"/>
              </a:rPr>
              <a:t>Cooler prints rallied Treasuries mid-week; Thursday's auctions took it back. The 30-year cleared at its highest yield since 2001.</a:t>
            </a:r>
          </a:p>
          <a:p>
            <a:pPr>
              <a:spcAft>
                <a:spcPts val="800"/>
              </a:spcAft>
            </a:pPr>
            <a:r>
              <a:rPr lang="en-US" sz="1200" b="0" noProof="0" dirty="0">
                <a:solidFill>
                  <a:schemeClr val="tx2"/>
                </a:solidFill>
                <a:latin typeface="Nunito Sans ExtraBold"/>
              </a:rPr>
              <a:t>30y at 25-year high</a:t>
            </a:r>
          </a:p>
        </p:txBody>
      </p:sp>
      <p:sp>
        <p:nvSpPr>
          <p:cNvPr id="6" name="Rectangle">
            <a:extLst>
              <a:ext uri="{FF2B5EF4-FFF2-40B4-BE49-F238E27FC236}">
                <a16:creationId xmlns:a16="http://schemas.microsoft.com/office/drawing/2014/main" id="{A2C086E3-257D-A53C-CCD1-B3F95AF36B55}"/>
              </a:ext>
            </a:extLst>
          </p:cNvPr>
          <p:cNvSpPr/>
          <p:nvPr/>
        </p:nvSpPr>
        <p:spPr>
          <a:xfrm>
            <a:off x="6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3 - Hormuz kept a bid under energy</a:t>
            </a:r>
          </a:p>
          <a:p>
            <a:pPr algn="l">
              <a:spcAft>
                <a:spcPts val="800"/>
              </a:spcAft>
            </a:pPr>
            <a:r>
              <a:rPr lang="en-US" sz="1100" b="0" noProof="0" dirty="0">
                <a:solidFill>
                  <a:srgbClr val="202945"/>
                </a:solidFill>
                <a:latin typeface="Nunito Sans"/>
              </a:rPr>
              <a:t>Oil traded 85-89 USD/bbl and rose 5.36% as the deadlock held and the IEA projected the widest global supply deficit in five years.</a:t>
            </a:r>
          </a:p>
          <a:p>
            <a:pPr>
              <a:spcAft>
                <a:spcPts val="800"/>
              </a:spcAft>
            </a:pPr>
            <a:r>
              <a:rPr lang="en-US" sz="1200" b="0" noProof="0" dirty="0">
                <a:solidFill>
                  <a:schemeClr val="tx2"/>
                </a:solidFill>
                <a:latin typeface="Nunito Sans ExtraBold"/>
              </a:rPr>
              <a:t>Energy +37.80% YTD</a:t>
            </a:r>
          </a:p>
        </p:txBody>
      </p:sp>
      <p:sp>
        <p:nvSpPr>
          <p:cNvPr id="7" name="Rectangle">
            <a:extLst>
              <a:ext uri="{FF2B5EF4-FFF2-40B4-BE49-F238E27FC236}">
                <a16:creationId xmlns:a16="http://schemas.microsoft.com/office/drawing/2014/main" id="{9E4D0E42-696C-1786-596E-D9D78E9E6D5D}"/>
              </a:ext>
            </a:extLst>
          </p:cNvPr>
          <p:cNvSpPr/>
          <p:nvPr/>
        </p:nvSpPr>
        <p:spPr>
          <a:xfrm>
            <a:off x="5466000" y="4512000"/>
            <a:ext cx="4560000" cy="1900000"/>
          </a:xfrm>
          <a:prstGeom prst="rect">
            <a:avLst/>
          </a:prstGeom>
          <a:ln/>
        </p:spPr>
        <p:style>
          <a:lnRef idx="2">
            <a:schemeClr val="accent3"/>
          </a:lnRef>
          <a:fillRef idx="1">
            <a:schemeClr val="lt1"/>
          </a:fillRef>
          <a:effectRef idx="0">
            <a:schemeClr val="accent3"/>
          </a:effectRef>
          <a:fontRef idx="minor">
            <a:schemeClr val="dk1"/>
          </a:fontRef>
        </p:style>
        <p:txBody>
          <a:bodyPr lIns="180000" tIns="180000" rIns="180000" bIns="180000" rtlCol="0" anchor="t"/>
          <a:lstStyle/>
          <a:p>
            <a:pPr algn="l">
              <a:spcAft>
                <a:spcPts val="800"/>
              </a:spcAft>
            </a:pPr>
            <a:r>
              <a:rPr lang="en-US" sz="1200" b="1" noProof="0" dirty="0">
                <a:solidFill>
                  <a:schemeClr val="tx2"/>
                </a:solidFill>
                <a:latin typeface="Nunito Sans ExtraBold"/>
              </a:rPr>
              <a:t>4 - A consumer that is cooling</a:t>
            </a:r>
          </a:p>
          <a:p>
            <a:pPr algn="l">
              <a:spcAft>
                <a:spcPts val="800"/>
              </a:spcAft>
            </a:pPr>
            <a:r>
              <a:rPr lang="en-US" sz="1100" b="0" noProof="0" dirty="0">
                <a:solidFill>
                  <a:srgbClr val="202945"/>
                </a:solidFill>
                <a:latin typeface="Nunito Sans"/>
              </a:rPr>
              <a:t>Retail sales fell 0.6% month on month against a 0.1% rise expected, with no growth in real worker compensation in Q2.</a:t>
            </a:r>
          </a:p>
          <a:p>
            <a:pPr>
              <a:spcAft>
                <a:spcPts val="800"/>
              </a:spcAft>
            </a:pPr>
            <a:r>
              <a:rPr lang="en-US" sz="1200" b="0" noProof="0" dirty="0">
                <a:solidFill>
                  <a:schemeClr val="tx2"/>
                </a:solidFill>
                <a:latin typeface="Nunito Sans ExtraBold"/>
              </a:rPr>
              <a:t>Retail sales -0.6%</a:t>
            </a:r>
          </a:p>
        </p:txBody>
      </p:sp>
      <p:sp>
        <p:nvSpPr>
          <p:cNvPr id="8" name="Rectangle">
            <a:extLst>
              <a:ext uri="{FF2B5EF4-FFF2-40B4-BE49-F238E27FC236}">
                <a16:creationId xmlns:a16="http://schemas.microsoft.com/office/drawing/2014/main" id="{3EAC691C-29BB-1B3E-DEF6-0C6751F61EE8}"/>
              </a:ext>
            </a:extLst>
          </p:cNvPr>
          <p:cNvSpPr/>
          <p:nvPr/>
        </p:nvSpPr>
        <p:spPr>
          <a:xfrm>
            <a:off x="666000" y="6612000"/>
            <a:ext cx="9359813" cy="470000"/>
          </a:xfrm>
          <a:prstGeom prst="rect">
            <a:avLst/>
          </a:prstGeom>
          <a:ln/>
        </p:spPr>
        <p:style>
          <a:lnRef idx="2">
            <a:schemeClr val="accent3"/>
          </a:lnRef>
          <a:fillRef idx="1">
            <a:schemeClr val="lt1"/>
          </a:fillRef>
          <a:effectRef idx="0">
            <a:schemeClr val="accent3"/>
          </a:effectRef>
          <a:fontRef idx="minor">
            <a:schemeClr val="dk1"/>
          </a:fontRef>
        </p:style>
        <p:txBody>
          <a:bodyPr lIns="140000" tIns="140000" rIns="140000" bIns="140000" rtlCol="0" anchor="ctr"/>
          <a:lstStyle/>
          <a:p>
            <a:pPr algn="l"/>
            <a:r>
              <a:rPr lang="en-US" sz="1100" b="0" noProof="0" dirty="0">
                <a:solidFill>
                  <a:srgbClr val="202945"/>
                </a:solidFill>
                <a:latin typeface="Nunito Sans"/>
              </a:rPr>
              <a:t>On the policy side: June CPI fell 0.4% m/m (annual rate down from 4.2% to 3.5%) and July hike odds collapsed from 42% to 17%, but Chair Warsh stayed firm on inflation.</a:t>
            </a:r>
          </a:p>
        </p:txBody>
      </p:sp>
      <p:sp>
        <p:nvSpPr>
          <p:cNvPr id="9"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Cooler inflation took the front end lower, the long end would not follow, energy stayed bid on the Hormuz deadlock, and the consumer is visibly cooling.</a:t>
            </a:r>
          </a:p>
        </p:txBody>
      </p:sp>
    </p:spTree>
    <p:extLst>
      <p:ext uri="{BB962C8B-B14F-4D97-AF65-F5344CB8AC3E}">
        <p14:creationId xmlns:p14="http://schemas.microsoft.com/office/powerpoint/2010/main" val="2757242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economic scenario</a:t>
            </a:r>
          </a:p>
        </p:txBody>
      </p:sp>
      <p:sp>
        <p:nvSpPr>
          <p:cNvPr id="3" name="Text Placeholder 2"/>
          <p:cNvSpPr>
            <a:spLocks noGrp="1"/>
          </p:cNvSpPr>
          <p:nvPr>
            <p:ph type="body" sz="quarter" idx="14"/>
          </p:nvPr>
        </p:nvSpPr>
        <p:spPr/>
        <p:txBody>
          <a:bodyPr/>
          <a:lstStyle/>
          <a:p>
            <a:r>
              <a:rPr lang="en-US" sz="1200" noProof="0" dirty="0"/>
              <a:t>The house baseline is a resilient global recovery, 'Indian Summer for 2026' at 50% probability, balanced against a 30% inflation-heatwave and a 20% growth-freeze risk scenario.</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6000"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Growth</a:t>
            </a:r>
          </a:p>
        </p:txBody>
      </p:sp>
      <p:sp>
        <p:nvSpPr>
          <p:cNvPr id="7" name="TextBox 6"/>
          <p:cNvSpPr txBox="1"/>
          <p:nvPr/>
        </p:nvSpPr>
        <p:spPr>
          <a:xfrm>
            <a:off x="846000"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Global growth is expected to recover from low levels as trade uncertainty eases and investment returns, with the US sustained by balanced fiscal stimulus, re-leveraging and AI productivity gains, the Eurozone grinding toward potential, and China and EM benefiting from less trade uncertainty.</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Central Banks</a:t>
            </a:r>
          </a:p>
        </p:txBody>
      </p:sp>
      <p:pic>
        <p:nvPicPr>
          <p:cNvPr id="10" name="Picture 9" descr="ic_centralbanks.png"/>
          <p:cNvPicPr>
            <a:picLocks noChangeAspect="1"/>
          </p:cNvPicPr>
          <p:nvPr/>
        </p:nvPicPr>
        <p:blipFill>
          <a:blip r:embed="rId2"/>
          <a:stretch>
            <a:fillRect/>
          </a:stretch>
        </p:blipFill>
        <p:spPr>
          <a:xfrm>
            <a:off x="4067999" y="2718000"/>
            <a:ext cx="288000" cy="288000"/>
          </a:xfrm>
          <a:prstGeom prst="rect">
            <a:avLst/>
          </a:prstGeom>
        </p:spPr>
      </p:pic>
      <p:sp>
        <p:nvSpPr>
          <p:cNvPr id="11" name="TextBox 10"/>
          <p:cNvSpPr txBox="1"/>
          <p:nvPr/>
        </p:nvSpPr>
        <p:spPr>
          <a:xfrm>
            <a:off x="4121999" y="3276000"/>
            <a:ext cx="2556000" cy="1938992"/>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Inflation should stay broadly calm as regions offset each other, though the US and UK face above-target inflation ahead of Japan, while the Eurozone sees only mild pressure and Switzerland almost none; a key risk is the Fed turning too dovish, falling behind the curve and needing to catch up.</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Politics</a:t>
            </a:r>
          </a:p>
        </p:txBody>
      </p:sp>
      <p:pic>
        <p:nvPicPr>
          <p:cNvPr id="14" name="Picture 13" descr="ic_politics.png"/>
          <p:cNvPicPr>
            <a:picLocks noChangeAspect="1"/>
          </p:cNvPicPr>
          <p:nvPr/>
        </p:nvPicPr>
        <p:blipFill>
          <a:blip r:embed="rId3"/>
          <a:stretch>
            <a:fillRect/>
          </a:stretch>
        </p:blipFill>
        <p:spPr>
          <a:xfrm>
            <a:off x="7344000" y="2718000"/>
            <a:ext cx="288000" cy="288000"/>
          </a:xfrm>
          <a:prstGeom prst="rect">
            <a:avLst/>
          </a:prstGeom>
        </p:spPr>
      </p:pic>
      <p:sp>
        <p:nvSpPr>
          <p:cNvPr id="15" name="TextBox 14"/>
          <p:cNvSpPr txBox="1"/>
          <p:nvPr/>
        </p:nvSpPr>
        <p:spPr>
          <a:xfrm>
            <a:off x="7398000" y="3276000"/>
            <a:ext cx="2556000" cy="2123658"/>
          </a:xfrm>
          <a:prstGeom prst="rect">
            <a:avLst/>
          </a:prstGeom>
          <a:noFill/>
        </p:spPr>
        <p:txBody>
          <a:bodyPr wrap="square" anchor="t">
            <a:spAutoFit/>
          </a:bodyPr>
          <a:lstStyle/>
          <a:p>
            <a:pPr algn="l">
              <a:spcAft>
                <a:spcPts val="600"/>
              </a:spcAft>
            </a:pPr>
            <a:r>
              <a:rPr lang="en-US" sz="1200" b="0" noProof="0" dirty="0">
                <a:solidFill>
                  <a:srgbClr val="202945"/>
                </a:solidFill>
                <a:latin typeface="Nunito Sans"/>
              </a:rPr>
              <a:t>The baseline 'Indian Summer' scenario carries a 50% probability, against a 30% 'Inflation Heatwave' risk from fiscal stimulus, re-leveraging, trade-dispute escalation or a geopolitical energy shock, and a 20% 'Growth Freeze' risk from a US AI-capex bust, credit woes, or fiscal austerity returning to the US or France.</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0" name="Graphic 19" descr="Tree With Roots outline">
            <a:extLst>
              <a:ext uri="{FF2B5EF4-FFF2-40B4-BE49-F238E27FC236}">
                <a16:creationId xmlns:a16="http://schemas.microsoft.com/office/drawing/2014/main" id="{8A587CED-7213-5A40-3281-94690FFA0F2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0663" y="2718000"/>
            <a:ext cx="288000" cy="288000"/>
          </a:xfrm>
          <a:prstGeom prst="rect">
            <a:avLst/>
          </a:prstGeom>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Our current investment views</a:t>
            </a:r>
          </a:p>
        </p:txBody>
      </p:sp>
      <p:sp>
        <p:nvSpPr>
          <p:cNvPr id="3" name="Text Placeholder 2"/>
          <p:cNvSpPr>
            <a:spLocks noGrp="1"/>
          </p:cNvSpPr>
          <p:nvPr>
            <p:ph type="body" sz="quarter" idx="14"/>
          </p:nvPr>
        </p:nvSpPr>
        <p:spPr/>
        <p:txBody>
          <a:bodyPr/>
          <a:lstStyle/>
          <a:p>
            <a:r>
              <a:rPr lang="en-US" sz="1200" noProof="0" dirty="0"/>
              <a:t>We stay neutral equities and underweight fixed income, while leaning overweight commodities, gold and the dollar as diversifiers amid rate and geopolitical uncertainty.</a:t>
            </a:r>
          </a:p>
        </p:txBody>
      </p:sp>
      <p:sp>
        <p:nvSpPr>
          <p:cNvPr id="4" name="Rectangle 3"/>
          <p:cNvSpPr/>
          <p:nvPr/>
        </p:nvSpPr>
        <p:spPr>
          <a:xfrm>
            <a:off x="666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5" name="Rectangle 4"/>
          <p:cNvSpPr/>
          <p:nvPr/>
        </p:nvSpPr>
        <p:spPr>
          <a:xfrm>
            <a:off x="665163" y="2592000"/>
            <a:ext cx="2916000" cy="540000"/>
          </a:xfrm>
          <a:prstGeom prst="rect">
            <a:avLst/>
          </a:prstGeom>
          <a:solidFill>
            <a:srgbClr val="79D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Equities</a:t>
            </a:r>
          </a:p>
        </p:txBody>
      </p:sp>
      <p:sp>
        <p:nvSpPr>
          <p:cNvPr id="7" name="TextBox 6"/>
          <p:cNvSpPr txBox="1"/>
          <p:nvPr/>
        </p:nvSpPr>
        <p:spPr>
          <a:xfrm>
            <a:off x="846000" y="3276000"/>
            <a:ext cx="2556000" cy="1569660"/>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Neutral: </a:t>
            </a:r>
            <a:r>
              <a:rPr lang="en-US" sz="1200" b="0" noProof="0" dirty="0">
                <a:solidFill>
                  <a:srgbClr val="202945"/>
                </a:solidFill>
                <a:latin typeface="Nunito Sans"/>
              </a:rPr>
              <a:t>We remain neutral on equities: mixed Magnificent 7 earnings shifted investor focus from AI spending to sustainable monetization, but resilient growth, a healthy labor market and S&amp;P 500 EPS growth above 27% keep the backdrop supportive.</a:t>
            </a:r>
          </a:p>
        </p:txBody>
      </p:sp>
      <p:sp>
        <p:nvSpPr>
          <p:cNvPr id="8" name="Rectangle 7"/>
          <p:cNvSpPr/>
          <p:nvPr/>
        </p:nvSpPr>
        <p:spPr>
          <a:xfrm>
            <a:off x="3941999"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9" name="Rectangle 8"/>
          <p:cNvSpPr/>
          <p:nvPr/>
        </p:nvSpPr>
        <p:spPr>
          <a:xfrm>
            <a:off x="3941999" y="2592000"/>
            <a:ext cx="2916000" cy="540000"/>
          </a:xfrm>
          <a:prstGeom prst="rect">
            <a:avLst/>
          </a:prstGeom>
          <a:solidFill>
            <a:srgbClr val="4B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Fixed Income</a:t>
            </a:r>
          </a:p>
        </p:txBody>
      </p:sp>
      <p:sp>
        <p:nvSpPr>
          <p:cNvPr id="11" name="TextBox 10"/>
          <p:cNvSpPr txBox="1"/>
          <p:nvPr/>
        </p:nvSpPr>
        <p:spPr>
          <a:xfrm>
            <a:off x="4121999" y="3276000"/>
            <a:ext cx="2556000" cy="1384995"/>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Underweight: </a:t>
            </a:r>
            <a:r>
              <a:rPr lang="en-US" sz="1200" b="0" noProof="0" dirty="0">
                <a:solidFill>
                  <a:srgbClr val="202945"/>
                </a:solidFill>
                <a:latin typeface="Nunito Sans"/>
              </a:rPr>
              <a:t>We keep an underweight exposure to fixed income as the Fed held rates at 3.50-3.75% with three hawkish dissents, pushing Treasury yields higher, particularly at the long end.</a:t>
            </a:r>
          </a:p>
        </p:txBody>
      </p:sp>
      <p:sp>
        <p:nvSpPr>
          <p:cNvPr id="12" name="Rectangle 11"/>
          <p:cNvSpPr/>
          <p:nvPr/>
        </p:nvSpPr>
        <p:spPr>
          <a:xfrm>
            <a:off x="7218000" y="2592000"/>
            <a:ext cx="2916000" cy="370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sp>
        <p:nvSpPr>
          <p:cNvPr id="13" name="Rectangle 12"/>
          <p:cNvSpPr/>
          <p:nvPr/>
        </p:nvSpPr>
        <p:spPr>
          <a:xfrm>
            <a:off x="7218000" y="2592000"/>
            <a:ext cx="2916000" cy="540000"/>
          </a:xfrm>
          <a:prstGeom prst="rect">
            <a:avLst/>
          </a:prstGeom>
          <a:solidFill>
            <a:srgbClr val="FFA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b="1" noProof="0" dirty="0">
                <a:solidFill>
                  <a:srgbClr val="FFFFFF"/>
                </a:solidFill>
                <a:latin typeface="Nunito Sans ExtraBold"/>
              </a:rPr>
              <a:t>Commodities &amp; Forex</a:t>
            </a:r>
          </a:p>
        </p:txBody>
      </p:sp>
      <p:pic>
        <p:nvPicPr>
          <p:cNvPr id="14" name="Picture 13" descr="ic_forex.png"/>
          <p:cNvPicPr>
            <a:picLocks noChangeAspect="1"/>
          </p:cNvPicPr>
          <p:nvPr/>
        </p:nvPicPr>
        <p:blipFill>
          <a:blip r:embed="rId2"/>
          <a:stretch>
            <a:fillRect/>
          </a:stretch>
        </p:blipFill>
        <p:spPr>
          <a:xfrm>
            <a:off x="7344000" y="2718000"/>
            <a:ext cx="288000" cy="288000"/>
          </a:xfrm>
          <a:prstGeom prst="rect">
            <a:avLst/>
          </a:prstGeom>
        </p:spPr>
      </p:pic>
      <p:sp>
        <p:nvSpPr>
          <p:cNvPr id="15" name="TextBox 14"/>
          <p:cNvSpPr txBox="1"/>
          <p:nvPr/>
        </p:nvSpPr>
        <p:spPr>
          <a:xfrm>
            <a:off x="7398000" y="3276000"/>
            <a:ext cx="2556000" cy="1015663"/>
          </a:xfrm>
          <a:prstGeom prst="rect">
            <a:avLst/>
          </a:prstGeom>
          <a:noFill/>
        </p:spPr>
        <p:txBody>
          <a:bodyPr wrap="square" anchor="t">
            <a:spAutoFit/>
          </a:bodyPr>
          <a:lstStyle/>
          <a:p>
            <a:pPr algn="l">
              <a:spcAft>
                <a:spcPts val="600"/>
              </a:spcAft>
            </a:pPr>
            <a:r>
              <a:rPr lang="en-US" sz="1200" b="1" noProof="0" dirty="0">
                <a:solidFill>
                  <a:srgbClr val="202945"/>
                </a:solidFill>
                <a:latin typeface="Nunito Sans"/>
              </a:rPr>
              <a:t>Overweight: </a:t>
            </a:r>
            <a:r>
              <a:rPr lang="en-US" sz="1200" b="0" noProof="0" dirty="0">
                <a:solidFill>
                  <a:srgbClr val="202945"/>
                </a:solidFill>
                <a:latin typeface="Nunito Sans"/>
              </a:rPr>
              <a:t>We are overweight commodities and gold as diversifiers, and overweight the dollar against all currencies except the yen, which we hold neutral.</a:t>
            </a:r>
          </a:p>
        </p:txBody>
      </p:sp>
      <p:sp>
        <p:nvSpPr>
          <p:cNvPr id="16" name="TextBox 15"/>
          <p:cNvSpPr txBox="1"/>
          <p:nvPr/>
        </p:nvSpPr>
        <p:spPr>
          <a:xfrm>
            <a:off x="666000" y="7128000"/>
            <a:ext cx="8640000" cy="180000"/>
          </a:xfrm>
          <a:prstGeom prst="rect">
            <a:avLst/>
          </a:prstGeom>
          <a:noFill/>
        </p:spPr>
        <p:txBody>
          <a:bodyPr wrap="square" anchor="t">
            <a:spAutoFit/>
          </a:bodyPr>
          <a:lstStyle/>
          <a:p>
            <a:pPr algn="l"/>
            <a:r>
              <a:rPr lang="en-US" sz="900" b="0" noProof="0" dirty="0">
                <a:solidFill>
                  <a:srgbClr val="4B5F80"/>
                </a:solidFill>
                <a:latin typeface="Nunito Sans"/>
              </a:rPr>
              <a:t>SOURCE: SYZ GROUP, DATA AS OF 2026-08-03</a:t>
            </a:r>
          </a:p>
        </p:txBody>
      </p:sp>
      <p:pic>
        <p:nvPicPr>
          <p:cNvPr id="24" name="Graphic 23" descr="Greek Pillar with solid fill">
            <a:extLst>
              <a:ext uri="{FF2B5EF4-FFF2-40B4-BE49-F238E27FC236}">
                <a16:creationId xmlns:a16="http://schemas.microsoft.com/office/drawing/2014/main" id="{561FF4CC-AE27-478D-9BD1-3F9794D8FF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044540" y="2718000"/>
            <a:ext cx="288000" cy="288000"/>
          </a:xfrm>
          <a:prstGeom prst="rect">
            <a:avLst/>
          </a:prstGeom>
        </p:spPr>
      </p:pic>
      <p:pic>
        <p:nvPicPr>
          <p:cNvPr id="30" name="Picture 29" descr="ic_growth.png">
            <a:extLst>
              <a:ext uri="{FF2B5EF4-FFF2-40B4-BE49-F238E27FC236}">
                <a16:creationId xmlns:a16="http://schemas.microsoft.com/office/drawing/2014/main" id="{48D50A56-40A2-B2A7-B950-3849EF03ACA3}"/>
              </a:ext>
            </a:extLst>
          </p:cNvPr>
          <p:cNvPicPr>
            <a:picLocks noChangeAspect="1"/>
          </p:cNvPicPr>
          <p:nvPr/>
        </p:nvPicPr>
        <p:blipFill>
          <a:blip r:embed="rId4"/>
          <a:stretch>
            <a:fillRect/>
          </a:stretch>
        </p:blipFill>
        <p:spPr>
          <a:xfrm>
            <a:off x="792000" y="2718000"/>
            <a:ext cx="288000" cy="2880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FD6BD-4166-40EA-7DD5-C66FF6B266A2}"/>
            </a:ext>
          </a:extLst>
        </p:cNvPr>
        <p:cNvGrpSpPr/>
        <p:nvPr/>
      </p:nvGrpSpPr>
      <p:grpSpPr>
        <a:xfrm>
          <a:off x="0" y="0"/>
          <a:ext cx="0" cy="0"/>
          <a:chOff x="0" y="0"/>
          <a:chExt cx="0" cy="0"/>
        </a:xfrm>
      </p:grpSpPr>
      <p:pic>
        <p:nvPicPr>
          <p:cNvPr id="2" name="Picture Placeholder 1">
            <a:extLst>
              <a:ext uri="{FF2B5EF4-FFF2-40B4-BE49-F238E27FC236}">
                <a16:creationId xmlns:a16="http://schemas.microsoft.com/office/drawing/2014/main" id="{468DEDCF-AA30-BEB8-0B9C-124EEB1C086A}"/>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7" r="7"/>
          <a:stretch/>
        </p:blipFill>
        <p:spPr/>
      </p:pic>
      <p:sp>
        <p:nvSpPr>
          <p:cNvPr id="3" name="Text Placeholder 2">
            <a:extLst>
              <a:ext uri="{FF2B5EF4-FFF2-40B4-BE49-F238E27FC236}">
                <a16:creationId xmlns:a16="http://schemas.microsoft.com/office/drawing/2014/main" id="{55A31BB9-02A7-BAD5-63FF-AB21526670CD}"/>
              </a:ext>
            </a:extLst>
          </p:cNvPr>
          <p:cNvSpPr>
            <a:spLocks noGrp="1"/>
          </p:cNvSpPr>
          <p:nvPr>
            <p:ph type="body" sz="quarter" idx="20"/>
          </p:nvPr>
        </p:nvSpPr>
        <p:spPr>
          <a:solidFill>
            <a:srgbClr val="FFDA99"/>
          </a:solidFill>
        </p:spPr>
        <p:txBody>
          <a:bodyPr vert="horz" lIns="72000" tIns="0" rIns="72000" bIns="0" rtlCol="0" anchor="ctr" anchorCtr="0">
            <a:noAutofit/>
          </a:bodyPr>
          <a:lstStyle/>
          <a:p>
            <a:r>
              <a:rPr lang="en-US" sz="1100" noProof="0" dirty="0">
                <a:solidFill>
                  <a:srgbClr val="FFFFFF"/>
                </a:solidFill>
                <a:latin typeface="Nunito Sans ExtraBold"/>
              </a:rPr>
              <a:t>Markets</a:t>
            </a:r>
            <a:r>
              <a:rPr lang="en-US" noProof="0" dirty="0">
                <a:solidFill>
                  <a:srgbClr val="FFFFFF"/>
                </a:solidFill>
                <a:latin typeface="Nunito Sans ExtraBold"/>
              </a:rPr>
              <a:t> this week</a:t>
            </a:r>
          </a:p>
        </p:txBody>
      </p:sp>
      <p:sp>
        <p:nvSpPr>
          <p:cNvPr id="4" name="Text Placeholder 3">
            <a:extLst>
              <a:ext uri="{FF2B5EF4-FFF2-40B4-BE49-F238E27FC236}">
                <a16:creationId xmlns:a16="http://schemas.microsoft.com/office/drawing/2014/main" id="{24B4E312-D773-94BB-A385-11E67C030D96}"/>
              </a:ext>
            </a:extLst>
          </p:cNvPr>
          <p:cNvSpPr>
            <a:spLocks noGrp="1"/>
          </p:cNvSpPr>
          <p:nvPr>
            <p:ph type="body" sz="quarter" idx="21"/>
          </p:nvPr>
        </p:nvSpPr>
        <p:spPr>
          <a:solidFill>
            <a:srgbClr val="FFA400"/>
          </a:solidFill>
        </p:spPr>
        <p:txBody>
          <a:bodyPr vert="horz" lIns="72000" tIns="0" rIns="72000" bIns="0" rtlCol="0" anchor="ctr" anchorCtr="0">
            <a:noAutofit/>
          </a:bodyPr>
          <a:lstStyle/>
          <a:p>
            <a:r>
              <a:rPr lang="en-US" noProof="0" dirty="0">
                <a:solidFill>
                  <a:srgbClr val="FFFFFF"/>
                </a:solidFill>
                <a:latin typeface="Nunito Sans ExtraBold"/>
              </a:rPr>
              <a:t>Investment proposal</a:t>
            </a:r>
          </a:p>
        </p:txBody>
      </p:sp>
      <p:sp>
        <p:nvSpPr>
          <p:cNvPr id="8" name="Text Placeholder 7">
            <a:extLst>
              <a:ext uri="{FF2B5EF4-FFF2-40B4-BE49-F238E27FC236}">
                <a16:creationId xmlns:a16="http://schemas.microsoft.com/office/drawing/2014/main" id="{01E0E275-FA6A-860C-8836-EEEEF39381DA}"/>
              </a:ext>
            </a:extLst>
          </p:cNvPr>
          <p:cNvSpPr>
            <a:spLocks noGrp="1"/>
          </p:cNvSpPr>
          <p:nvPr>
            <p:ph type="body" sz="quarter" idx="25"/>
          </p:nvPr>
        </p:nvSpPr>
        <p:spPr/>
        <p:txBody>
          <a:bodyPr/>
          <a:lstStyle/>
          <a:p>
            <a:r>
              <a:rPr lang="en-US" b="1" noProof="0" dirty="0">
                <a:solidFill>
                  <a:srgbClr val="FF8300"/>
                </a:solidFill>
                <a:latin typeface="Nunito Sans ExtraBold"/>
              </a:rPr>
              <a:t>01</a:t>
            </a:r>
          </a:p>
        </p:txBody>
      </p:sp>
      <p:sp>
        <p:nvSpPr>
          <p:cNvPr id="9" name="Text Placeholder 8">
            <a:extLst>
              <a:ext uri="{FF2B5EF4-FFF2-40B4-BE49-F238E27FC236}">
                <a16:creationId xmlns:a16="http://schemas.microsoft.com/office/drawing/2014/main" id="{BD73B4D2-7895-FFA4-BA54-3CAC28863593}"/>
              </a:ext>
            </a:extLst>
          </p:cNvPr>
          <p:cNvSpPr>
            <a:spLocks noGrp="1"/>
          </p:cNvSpPr>
          <p:nvPr>
            <p:ph type="body" sz="quarter" idx="26"/>
          </p:nvPr>
        </p:nvSpPr>
        <p:spPr/>
        <p:txBody>
          <a:bodyPr/>
          <a:lstStyle/>
          <a:p>
            <a:r>
              <a:rPr lang="en-US" b="1" noProof="0" dirty="0">
                <a:solidFill>
                  <a:srgbClr val="FFA400"/>
                </a:solidFill>
                <a:latin typeface="Nunito Sans ExtraBold"/>
              </a:rPr>
              <a:t>02</a:t>
            </a:r>
          </a:p>
        </p:txBody>
      </p:sp>
      <p:sp>
        <p:nvSpPr>
          <p:cNvPr id="19" name="TextBox 18">
            <a:extLst>
              <a:ext uri="{FF2B5EF4-FFF2-40B4-BE49-F238E27FC236}">
                <a16:creationId xmlns:a16="http://schemas.microsoft.com/office/drawing/2014/main" id="{006B0C6F-A80E-A893-6F0B-97C6D628D981}"/>
              </a:ext>
            </a:extLst>
          </p:cNvPr>
          <p:cNvSpPr txBox="1"/>
          <p:nvPr/>
        </p:nvSpPr>
        <p:spPr>
          <a:xfrm>
            <a:off x="869950" y="1619250"/>
            <a:ext cx="0" cy="0"/>
          </a:xfrm>
          <a:prstGeom prst="rect">
            <a:avLst/>
          </a:prstGeom>
          <a:noFill/>
        </p:spPr>
        <p:txBody>
          <a:bodyPr vert="horz" wrap="none" lIns="0" tIns="0" rIns="0" bIns="0" rtlCol="0">
            <a:noAutofit/>
          </a:bodyPr>
          <a:lstStyle/>
          <a:p>
            <a:pPr algn="l"/>
            <a:endParaRPr lang="en-US" sz="1400" noProof="0" dirty="0"/>
          </a:p>
        </p:txBody>
      </p:sp>
      <p:sp>
        <p:nvSpPr>
          <p:cNvPr id="20" name="TextBox 19">
            <a:extLst>
              <a:ext uri="{FF2B5EF4-FFF2-40B4-BE49-F238E27FC236}">
                <a16:creationId xmlns:a16="http://schemas.microsoft.com/office/drawing/2014/main" id="{C27B70A2-B2CB-3873-3285-4C99162A6D25}"/>
              </a:ext>
            </a:extLst>
          </p:cNvPr>
          <p:cNvSpPr txBox="1"/>
          <p:nvPr/>
        </p:nvSpPr>
        <p:spPr>
          <a:xfrm>
            <a:off x="1289050" y="1574800"/>
            <a:ext cx="0" cy="0"/>
          </a:xfrm>
          <a:prstGeom prst="rect">
            <a:avLst/>
          </a:prstGeom>
          <a:noFill/>
        </p:spPr>
        <p:txBody>
          <a:bodyPr vert="horz" wrap="none" lIns="0" tIns="0" rIns="0" bIns="0" rtlCol="0">
            <a:noAutofit/>
          </a:bodyPr>
          <a:lstStyle/>
          <a:p>
            <a:pPr algn="l"/>
            <a:endParaRPr lang="en-US" sz="1400" noProof="0" dirty="0"/>
          </a:p>
        </p:txBody>
      </p:sp>
    </p:spTree>
    <p:extLst>
      <p:ext uri="{BB962C8B-B14F-4D97-AF65-F5344CB8AC3E}">
        <p14:creationId xmlns:p14="http://schemas.microsoft.com/office/powerpoint/2010/main" val="32200827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E26B7-F78B-77A1-92E8-3EBF9FAB8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16A33-1372-8816-CDD2-BED29A8D38FF}"/>
              </a:ext>
            </a:extLst>
          </p:cNvPr>
          <p:cNvSpPr>
            <a:spLocks noGrp="1"/>
          </p:cNvSpPr>
          <p:nvPr>
            <p:ph type="title"/>
          </p:nvPr>
        </p:nvSpPr>
        <p:spPr/>
        <p:txBody>
          <a:bodyPr/>
          <a:lstStyle/>
          <a:p>
            <a:r>
              <a:rPr lang="en-US" noProof="0" dirty="0"/>
              <a:t>Portfolio strategies across the (risk - return) trade-off</a:t>
            </a:r>
          </a:p>
        </p:txBody>
      </p:sp>
      <p:sp>
        <p:nvSpPr>
          <p:cNvPr id="3" name="Text Placeholder 2">
            <a:extLst>
              <a:ext uri="{FF2B5EF4-FFF2-40B4-BE49-F238E27FC236}">
                <a16:creationId xmlns:a16="http://schemas.microsoft.com/office/drawing/2014/main" id="{DB548BFB-6075-9740-A83E-86FBABA9382C}"/>
              </a:ext>
            </a:extLst>
          </p:cNvPr>
          <p:cNvSpPr>
            <a:spLocks noGrp="1"/>
          </p:cNvSpPr>
          <p:nvPr>
            <p:ph type="body" sz="quarter" idx="14"/>
          </p:nvPr>
        </p:nvSpPr>
        <p:spPr>
          <a:xfrm>
            <a:off x="665163" y="1658949"/>
            <a:ext cx="9398001" cy="251511"/>
          </a:xfrm>
        </p:spPr>
        <p:txBody>
          <a:bodyPr/>
          <a:lstStyle/>
          <a:p>
            <a:r>
              <a:rPr lang="en-US" sz="1400" noProof="0" dirty="0"/>
              <a:t>Different risk profiles map to distinct portfolio allocations along the risk/return curve.</a:t>
            </a:r>
          </a:p>
        </p:txBody>
      </p:sp>
      <p:sp>
        <p:nvSpPr>
          <p:cNvPr id="24" name="TextBox 23">
            <a:extLst>
              <a:ext uri="{FF2B5EF4-FFF2-40B4-BE49-F238E27FC236}">
                <a16:creationId xmlns:a16="http://schemas.microsoft.com/office/drawing/2014/main" id="{4C6DF09E-DD1C-3F3A-A1E1-D53E344FFC03}"/>
              </a:ext>
            </a:extLst>
          </p:cNvPr>
          <p:cNvSpPr txBox="1"/>
          <p:nvPr/>
        </p:nvSpPr>
        <p:spPr>
          <a:xfrm>
            <a:off x="1872000" y="6660000"/>
            <a:ext cx="6660000" cy="307777"/>
          </a:xfrm>
          <a:prstGeom prst="rect">
            <a:avLst/>
          </a:prstGeom>
          <a:noFill/>
        </p:spPr>
        <p:txBody>
          <a:bodyPr wrap="square" anchor="t">
            <a:spAutoFit/>
          </a:bodyPr>
          <a:lstStyle/>
          <a:p>
            <a:pPr algn="ctr"/>
            <a:r>
              <a:rPr lang="en-US" sz="1400" b="1" noProof="0" dirty="0">
                <a:solidFill>
                  <a:srgbClr val="202945"/>
                </a:solidFill>
                <a:latin typeface="Nunito Sans ExtraBold"/>
              </a:rPr>
              <a:t>Proposed profile for this portfolio: Balanced - 81% in growth assets</a:t>
            </a:r>
          </a:p>
        </p:txBody>
      </p:sp>
      <p:graphicFrame>
        <p:nvGraphicFramePr>
          <p:cNvPr id="45" name="Table 44">
            <a:extLst>
              <a:ext uri="{FF2B5EF4-FFF2-40B4-BE49-F238E27FC236}">
                <a16:creationId xmlns:a16="http://schemas.microsoft.com/office/drawing/2014/main" id="{A791B544-12B1-C5EE-15F0-3FFE100386AC}"/>
              </a:ext>
            </a:extLst>
          </p:cNvPr>
          <p:cNvGraphicFramePr>
            <a:graphicFrameLocks noGrp="1"/>
          </p:cNvGraphicFramePr>
          <p:nvPr>
            <p:custDataLst>
              <p:tags r:id="rId1"/>
            </p:custDataLst>
            <p:extLst>
              <p:ext uri="{D42A27DB-BD31-4B8C-83A1-F6EECF244321}">
                <p14:modId xmlns:p14="http://schemas.microsoft.com/office/powerpoint/2010/main" val="1679185425"/>
              </p:ext>
            </p:extLst>
          </p:nvPr>
        </p:nvGraphicFramePr>
        <p:xfrm>
          <a:off x="665163" y="2957816"/>
          <a:ext cx="4624169" cy="3094920"/>
        </p:xfrm>
        <a:graphic>
          <a:graphicData uri="http://schemas.openxmlformats.org/drawingml/2006/table">
            <a:tbl>
              <a:tblPr firstRow="1" firstCol="1" bandRow="1"/>
              <a:tblGrid>
                <a:gridCol w="1891789">
                  <a:extLst>
                    <a:ext uri="{9D8B030D-6E8A-4147-A177-3AD203B41FA5}">
                      <a16:colId xmlns:a16="http://schemas.microsoft.com/office/drawing/2014/main" val="626646253"/>
                    </a:ext>
                  </a:extLst>
                </a:gridCol>
                <a:gridCol w="2732380">
                  <a:extLst>
                    <a:ext uri="{9D8B030D-6E8A-4147-A177-3AD203B41FA5}">
                      <a16:colId xmlns:a16="http://schemas.microsoft.com/office/drawing/2014/main" val="1205080223"/>
                    </a:ext>
                  </a:extLst>
                </a:gridCol>
              </a:tblGrid>
              <a:tr h="166910">
                <a:tc gridSpan="2">
                  <a:txBody>
                    <a:bodyPr/>
                    <a:lstStyle/>
                    <a:p>
                      <a:pPr algn="ctr"/>
                      <a:endParaRPr lang="en-US" sz="1100" b="1" noProof="0" dirty="0">
                        <a:solidFill>
                          <a:srgbClr val="FFFFFF"/>
                        </a:solidFill>
                        <a:latin typeface="+mn-lt"/>
                      </a:endParaRPr>
                    </a:p>
                    <a:p>
                      <a:pPr algn="ctr"/>
                      <a:r>
                        <a:rPr lang="en-US" sz="1100" b="1" noProof="0" dirty="0">
                          <a:solidFill>
                            <a:srgbClr val="FFFFFF"/>
                          </a:solidFill>
                          <a:latin typeface="+mn-lt"/>
                        </a:rPr>
                        <a:t>Investment characteristics</a:t>
                      </a:r>
                    </a:p>
                    <a:p>
                      <a:pPr algn="ctr"/>
                      <a:endParaRPr lang="en-US" sz="1100" b="1" noProof="0" dirty="0">
                        <a:solidFill>
                          <a:srgbClr val="FFFFFF"/>
                        </a:solidFill>
                        <a:latin typeface="+mn-lt"/>
                      </a:endParaRPr>
                    </a:p>
                  </a:txBody>
                  <a:tcPr marL="0" marR="0" marT="0" marB="0">
                    <a:lnL>
                      <a:noFill/>
                    </a:lnL>
                    <a:lnR>
                      <a:noFill/>
                    </a:lnR>
                    <a:lnT>
                      <a:noFill/>
                    </a:lnT>
                    <a:lnB>
                      <a:noFill/>
                    </a:lnB>
                    <a:solidFill>
                      <a:schemeClr val="tx2"/>
                    </a:solidFill>
                  </a:tcPr>
                </a:tc>
                <a:tc hMerge="1">
                  <a:txBody>
                    <a:bodyPr/>
                    <a:lstStyle/>
                    <a:p>
                      <a:endParaRPr/>
                    </a:p>
                  </a:txBody>
                  <a:tcPr marL="0" marR="0" marT="0" marB="0" anchor="ctr">
                    <a:lnL>
                      <a:noFill/>
                    </a:lnL>
                    <a:lnR>
                      <a:noFill/>
                    </a:lnR>
                    <a:lnT>
                      <a:noFill/>
                    </a:lnT>
                    <a:lnB>
                      <a:noFill/>
                    </a:lnB>
                    <a:solidFill>
                      <a:schemeClr val="tx2"/>
                    </a:solidFill>
                  </a:tcPr>
                </a:tc>
                <a:extLst>
                  <a:ext uri="{0D108BD9-81ED-4DB2-BD59-A6C34878D82A}">
                    <a16:rowId xmlns:a16="http://schemas.microsoft.com/office/drawing/2014/main" val="2096398645"/>
                  </a:ext>
                </a:extLst>
              </a:tr>
              <a:tr h="432000">
                <a:tc>
                  <a:txBody>
                    <a:bodyPr/>
                    <a:lstStyle/>
                    <a:p>
                      <a:r>
                        <a:rPr lang="en-US" sz="1100" b="1" noProof="0" dirty="0">
                          <a:solidFill>
                            <a:schemeClr val="tx2"/>
                          </a:solidFill>
                          <a:latin typeface="+mn-lt"/>
                        </a:rPr>
                        <a:t>Financial profile</a:t>
                      </a:r>
                    </a:p>
                  </a:txBody>
                  <a:tcPr marL="0" marR="0"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Professional</a:t>
                      </a:r>
                    </a:p>
                  </a:txBody>
                  <a:tcPr marL="62591" marR="62591" marT="33034" marB="33034" anchor="ctr">
                    <a:lnL>
                      <a:noFill/>
                    </a:lnL>
                    <a:lnR>
                      <a:noFill/>
                    </a:lnR>
                    <a:lnT>
                      <a:noFill/>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34858508"/>
                  </a:ext>
                </a:extLst>
              </a:tr>
              <a:tr h="432000">
                <a:tc>
                  <a:txBody>
                    <a:bodyPr/>
                    <a:lstStyle/>
                    <a:p>
                      <a:r>
                        <a:rPr lang="en-US" sz="1100" b="1" noProof="0" dirty="0">
                          <a:solidFill>
                            <a:schemeClr val="tx2"/>
                          </a:solidFill>
                          <a:latin typeface="+mn-lt"/>
                        </a:rPr>
                        <a:t>Investment horizon</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Medium to long term (5 to 10 years)</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97003612"/>
                  </a:ext>
                </a:extLst>
              </a:tr>
              <a:tr h="432000">
                <a:tc>
                  <a:txBody>
                    <a:bodyPr/>
                    <a:lstStyle/>
                    <a:p>
                      <a:r>
                        <a:rPr lang="en-US" sz="1100" b="1" noProof="0" dirty="0">
                          <a:solidFill>
                            <a:schemeClr val="tx2"/>
                          </a:solidFill>
                          <a:latin typeface="+mn-lt"/>
                        </a:rPr>
                        <a:t>Reference of currency</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EUR</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3583574982"/>
                  </a:ext>
                </a:extLst>
              </a:tr>
              <a:tr h="432000">
                <a:tc>
                  <a:txBody>
                    <a:bodyPr/>
                    <a:lstStyle/>
                    <a:p>
                      <a:r>
                        <a:rPr lang="en-US" sz="1100" b="1" noProof="0" dirty="0">
                          <a:solidFill>
                            <a:schemeClr val="tx2"/>
                          </a:solidFill>
                          <a:latin typeface="+mn-lt"/>
                        </a:rPr>
                        <a:t>Risk level</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Balanced</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257386133"/>
                  </a:ext>
                </a:extLst>
              </a:tr>
              <a:tr h="432000">
                <a:tc>
                  <a:txBody>
                    <a:bodyPr/>
                    <a:lstStyle/>
                    <a:p>
                      <a:r>
                        <a:rPr lang="en-US" sz="1100" b="1" noProof="0" dirty="0">
                          <a:solidFill>
                            <a:schemeClr val="tx2"/>
                          </a:solidFill>
                          <a:latin typeface="+mn-lt"/>
                        </a:rPr>
                        <a:t>Geographic exposure</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a:lstStyle/>
                    <a:p>
                      <a:r>
                        <a:rPr lang="en-US" sz="1100" noProof="0" dirty="0">
                          <a:solidFill>
                            <a:schemeClr val="tx2"/>
                          </a:solidFill>
                          <a:latin typeface="+mn-lt"/>
                        </a:rPr>
                        <a:t>Global </a:t>
                      </a:r>
                    </a:p>
                  </a:txBody>
                  <a:tcPr marL="62591" marR="62591"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extLst>
                  <a:ext uri="{0D108BD9-81ED-4DB2-BD59-A6C34878D82A}">
                    <a16:rowId xmlns:a16="http://schemas.microsoft.com/office/drawing/2014/main" val="1713467916"/>
                  </a:ext>
                </a:extLst>
              </a:tr>
              <a:tr h="432000">
                <a:tc>
                  <a:txBody>
                    <a:bodyPr/>
                    <a:lstStyle/>
                    <a:p>
                      <a:r>
                        <a:rPr lang="en-US" sz="1100" b="1" noProof="0" dirty="0">
                          <a:solidFill>
                            <a:schemeClr val="tx2"/>
                          </a:solidFill>
                          <a:latin typeface="+mn-lt"/>
                        </a:rPr>
                        <a:t>Liquidity needs</a:t>
                      </a:r>
                    </a:p>
                  </a:txBody>
                  <a:tcPr marL="0" marR="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solidFill>
                      <a:srgbClr val="FFFFFF"/>
                    </a:solidFill>
                  </a:tcPr>
                </a:tc>
                <a:tc>
                  <a:txBody>
                    <a:bodyPr wrap="square"/>
                    <a:lstStyle/>
                    <a:p>
                      <a:pPr algn="l"/>
                      <a:r>
                        <a:rPr lang="en-US" sz="1000" noProof="0" dirty="0" b="0">
                          <a:solidFill>
                            <a:srgbClr val="202945"/>
                          </a:solidFill>
                          <a:latin typeface="+mn-lt"/>
                        </a:rPr>
                        <a:t>Balanced between growth and distribution</a:t>
                      </a:r>
                    </a:p>
                  </a:txBody>
                  <a:tcPr marL="45720" marR="45720" marT="33034" marB="33034" anchor="ctr">
                    <a:lnL>
                      <a:noFill/>
                    </a:lnL>
                    <a:lnR>
                      <a:noFill/>
                    </a:lnR>
                    <a:lnT w="12700" cap="flat" cmpd="sng" algn="ctr">
                      <a:solidFill>
                        <a:srgbClr val="51555E"/>
                      </a:solidFill>
                      <a:prstDash val="solid"/>
                      <a:round/>
                      <a:headEnd type="none" w="med" len="med"/>
                      <a:tailEnd type="none" w="med" len="med"/>
                    </a:lnT>
                    <a:lnB w="12700" cap="flat" cmpd="sng" algn="ctr">
                      <a:solidFill>
                        <a:srgbClr val="51555E"/>
                      </a:solidFill>
                      <a:prstDash val="solid"/>
                      <a:round/>
                      <a:headEnd type="none" w="med" len="med"/>
                      <a:tailEnd type="none" w="med" len="med"/>
                    </a:lnB>
                    <a:noFill/>
                  </a:tcPr>
                </a:tc>
                <a:extLst>
                  <a:ext uri="{0D108BD9-81ED-4DB2-BD59-A6C34878D82A}">
                    <a16:rowId xmlns:a16="http://schemas.microsoft.com/office/drawing/2014/main" val="1707953171"/>
                  </a:ext>
                </a:extLst>
              </a:tr>
            </a:tbl>
          </a:graphicData>
        </a:graphic>
      </p:graphicFrame>
      <p:sp>
        <p:nvSpPr>
          <p:cNvPr id="44" name="Rectangle 43">
            <a:extLst>
              <a:ext uri="{FF2B5EF4-FFF2-40B4-BE49-F238E27FC236}">
                <a16:creationId xmlns:a16="http://schemas.microsoft.com/office/drawing/2014/main" id="{25147299-2014-29BB-7022-417044840F63}"/>
              </a:ext>
            </a:extLst>
          </p:cNvPr>
          <p:cNvSpPr/>
          <p:nvPr/>
        </p:nvSpPr>
        <p:spPr>
          <a:xfrm rot="1632602">
            <a:off x="3146732" y="2260509"/>
            <a:ext cx="221195" cy="699268"/>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 name="Group 3">
            <a:extLst>
              <a:ext uri="{FF2B5EF4-FFF2-40B4-BE49-F238E27FC236}">
                <a16:creationId xmlns:a16="http://schemas.microsoft.com/office/drawing/2014/main" id="{6CFD0A9B-B72E-E8C9-4088-426391D2FAA2}"/>
              </a:ext>
            </a:extLst>
          </p:cNvPr>
          <p:cNvGrpSpPr/>
          <p:nvPr/>
        </p:nvGrpSpPr>
        <p:grpSpPr>
          <a:xfrm>
            <a:off x="5444003" y="2796693"/>
            <a:ext cx="4616783" cy="3531775"/>
            <a:chOff x="4480140" y="2497249"/>
            <a:chExt cx="5561697" cy="4174403"/>
          </a:xfrm>
        </p:grpSpPr>
        <p:sp>
          <p:nvSpPr>
            <p:cNvPr id="5" name="Freeform 8">
              <a:extLst>
                <a:ext uri="{FF2B5EF4-FFF2-40B4-BE49-F238E27FC236}">
                  <a16:creationId xmlns:a16="http://schemas.microsoft.com/office/drawing/2014/main" id="{E5B3CD17-6A9C-92DA-2837-733BD9F49D1D}"/>
                </a:ext>
              </a:extLst>
            </p:cNvPr>
            <p:cNvSpPr/>
            <p:nvPr/>
          </p:nvSpPr>
          <p:spPr>
            <a:xfrm rot="237914">
              <a:off x="5117674" y="2638881"/>
              <a:ext cx="4500355" cy="3681616"/>
            </a:xfrm>
            <a:custGeom>
              <a:avLst/>
              <a:gdLst>
                <a:gd name="connsiteX0" fmla="*/ 0 w 3687292"/>
                <a:gd name="connsiteY0" fmla="*/ 2599361 h 2599361"/>
                <a:gd name="connsiteX1" fmla="*/ 1098836 w 3687292"/>
                <a:gd name="connsiteY1" fmla="*/ 731520 h 2599361"/>
                <a:gd name="connsiteX2" fmla="*/ 3687292 w 3687292"/>
                <a:gd name="connsiteY2" fmla="*/ 0 h 2599361"/>
              </a:gdLst>
              <a:ahLst/>
              <a:cxnLst>
                <a:cxn ang="0">
                  <a:pos x="connsiteX0" y="connsiteY0"/>
                </a:cxn>
                <a:cxn ang="0">
                  <a:pos x="connsiteX1" y="connsiteY1"/>
                </a:cxn>
                <a:cxn ang="0">
                  <a:pos x="connsiteX2" y="connsiteY2"/>
                </a:cxn>
              </a:cxnLst>
              <a:rect l="l" t="t" r="r" b="b"/>
              <a:pathLst>
                <a:path w="3687292" h="2599361">
                  <a:moveTo>
                    <a:pt x="0" y="2599361"/>
                  </a:moveTo>
                  <a:cubicBezTo>
                    <a:pt x="294249" y="1763505"/>
                    <a:pt x="484287" y="1164747"/>
                    <a:pt x="1098836" y="731520"/>
                  </a:cubicBezTo>
                  <a:cubicBezTo>
                    <a:pt x="1713385" y="298293"/>
                    <a:pt x="2710759" y="125437"/>
                    <a:pt x="3687292" y="0"/>
                  </a:cubicBezTo>
                </a:path>
              </a:pathLst>
            </a:custGeom>
            <a:ln w="38100">
              <a:solidFill>
                <a:srgbClr val="4B5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32" noProof="0" dirty="0"/>
            </a:p>
          </p:txBody>
        </p:sp>
        <p:cxnSp>
          <p:nvCxnSpPr>
            <p:cNvPr id="6" name="Straight Arrow Connector 5">
              <a:extLst>
                <a:ext uri="{FF2B5EF4-FFF2-40B4-BE49-F238E27FC236}">
                  <a16:creationId xmlns:a16="http://schemas.microsoft.com/office/drawing/2014/main" id="{618DD1DB-926F-C580-39BB-124C2DE2316C}"/>
                </a:ext>
              </a:extLst>
            </p:cNvPr>
            <p:cNvCxnSpPr/>
            <p:nvPr/>
          </p:nvCxnSpPr>
          <p:spPr>
            <a:xfrm>
              <a:off x="4785395" y="6345375"/>
              <a:ext cx="5215319" cy="826"/>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14181C86-9A76-BB0C-4650-DCB01AE1526D}"/>
                </a:ext>
              </a:extLst>
            </p:cNvPr>
            <p:cNvCxnSpPr/>
            <p:nvPr/>
          </p:nvCxnSpPr>
          <p:spPr>
            <a:xfrm rot="5400000" flipH="1" flipV="1">
              <a:off x="2861086" y="4425468"/>
              <a:ext cx="3848617" cy="821"/>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2514A0D-D3DF-2EB7-5004-9406B693DFB0}"/>
                </a:ext>
              </a:extLst>
            </p:cNvPr>
            <p:cNvSpPr txBox="1"/>
            <p:nvPr/>
          </p:nvSpPr>
          <p:spPr>
            <a:xfrm>
              <a:off x="5426023" y="5317198"/>
              <a:ext cx="1431323"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FIXED INCOME</a:t>
              </a:r>
            </a:p>
          </p:txBody>
        </p:sp>
        <p:sp>
          <p:nvSpPr>
            <p:cNvPr id="9" name="Oval 8">
              <a:extLst>
                <a:ext uri="{FF2B5EF4-FFF2-40B4-BE49-F238E27FC236}">
                  <a16:creationId xmlns:a16="http://schemas.microsoft.com/office/drawing/2014/main" id="{36EAD43D-CC1E-AC08-BE7F-F179862BC750}"/>
                </a:ext>
              </a:extLst>
            </p:cNvPr>
            <p:cNvSpPr>
              <a:spLocks noChangeAspect="1"/>
            </p:cNvSpPr>
            <p:nvPr/>
          </p:nvSpPr>
          <p:spPr>
            <a:xfrm>
              <a:off x="5175959" y="524807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0" name="Oval 9">
              <a:extLst>
                <a:ext uri="{FF2B5EF4-FFF2-40B4-BE49-F238E27FC236}">
                  <a16:creationId xmlns:a16="http://schemas.microsoft.com/office/drawing/2014/main" id="{ADB02C24-75FC-FA33-3B10-0D7DD79DCC31}"/>
                </a:ext>
              </a:extLst>
            </p:cNvPr>
            <p:cNvSpPr>
              <a:spLocks noChangeAspect="1"/>
            </p:cNvSpPr>
            <p:nvPr/>
          </p:nvSpPr>
          <p:spPr>
            <a:xfrm>
              <a:off x="5373995" y="4721043"/>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1" name="TextBox 10">
              <a:extLst>
                <a:ext uri="{FF2B5EF4-FFF2-40B4-BE49-F238E27FC236}">
                  <a16:creationId xmlns:a16="http://schemas.microsoft.com/office/drawing/2014/main" id="{E2126030-A0FA-8F48-87FB-FCBF27640D5C}"/>
                </a:ext>
              </a:extLst>
            </p:cNvPr>
            <p:cNvSpPr txBox="1"/>
            <p:nvPr/>
          </p:nvSpPr>
          <p:spPr>
            <a:xfrm>
              <a:off x="5624061" y="4770120"/>
              <a:ext cx="1551050"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CONSERVATIVE</a:t>
              </a:r>
            </a:p>
          </p:txBody>
        </p:sp>
        <p:sp>
          <p:nvSpPr>
            <p:cNvPr id="12" name="Oval 11">
              <a:extLst>
                <a:ext uri="{FF2B5EF4-FFF2-40B4-BE49-F238E27FC236}">
                  <a16:creationId xmlns:a16="http://schemas.microsoft.com/office/drawing/2014/main" id="{2E04DCB5-3A89-D93B-749D-99192A526990}"/>
                </a:ext>
              </a:extLst>
            </p:cNvPr>
            <p:cNvSpPr>
              <a:spLocks noChangeAspect="1"/>
            </p:cNvSpPr>
            <p:nvPr/>
          </p:nvSpPr>
          <p:spPr>
            <a:xfrm>
              <a:off x="6023467" y="3761984"/>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3" name="TextBox 12">
              <a:extLst>
                <a:ext uri="{FF2B5EF4-FFF2-40B4-BE49-F238E27FC236}">
                  <a16:creationId xmlns:a16="http://schemas.microsoft.com/office/drawing/2014/main" id="{60E24EAE-6792-70B8-E4DB-1DB0379EC696}"/>
                </a:ext>
              </a:extLst>
            </p:cNvPr>
            <p:cNvSpPr txBox="1"/>
            <p:nvPr/>
          </p:nvSpPr>
          <p:spPr>
            <a:xfrm>
              <a:off x="6271665" y="3862427"/>
              <a:ext cx="1284561" cy="294660"/>
            </a:xfrm>
            <a:prstGeom prst="rect">
              <a:avLst/>
            </a:prstGeom>
            <a:noFill/>
          </p:spPr>
          <p:txBody>
            <a:bodyPr wrap="none" rtlCol="0">
              <a:spAutoFit/>
            </a:bodyPr>
            <a:p>
              <a:r>
                <a:rPr lang="en-US" sz="1100" noProof="0" dirty="0" b="0">
                  <a:solidFill>
                    <a:srgbClr val="3AB7C8"/>
                  </a:solidFill>
                </a:rPr>
                <a:t>MODERATE</a:t>
              </a:r>
            </a:p>
          </p:txBody>
        </p:sp>
        <p:sp>
          <p:nvSpPr>
            <p:cNvPr id="14" name="Oval 13">
              <a:extLst>
                <a:ext uri="{FF2B5EF4-FFF2-40B4-BE49-F238E27FC236}">
                  <a16:creationId xmlns:a16="http://schemas.microsoft.com/office/drawing/2014/main" id="{16B9A5A3-905E-08D8-E7A7-4FCD79C96669}"/>
                </a:ext>
              </a:extLst>
            </p:cNvPr>
            <p:cNvSpPr>
              <a:spLocks noChangeAspect="1"/>
            </p:cNvSpPr>
            <p:nvPr/>
          </p:nvSpPr>
          <p:spPr>
            <a:xfrm>
              <a:off x="7768545" y="2916562"/>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5" name="TextBox 14">
              <a:extLst>
                <a:ext uri="{FF2B5EF4-FFF2-40B4-BE49-F238E27FC236}">
                  <a16:creationId xmlns:a16="http://schemas.microsoft.com/office/drawing/2014/main" id="{EBB12ADF-B4E8-15A7-72C8-9DA61CF02AEA}"/>
                </a:ext>
              </a:extLst>
            </p:cNvPr>
            <p:cNvSpPr txBox="1"/>
            <p:nvPr/>
          </p:nvSpPr>
          <p:spPr>
            <a:xfrm>
              <a:off x="7989012" y="3068680"/>
              <a:ext cx="1023864"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GROWTH</a:t>
              </a:r>
            </a:p>
          </p:txBody>
        </p:sp>
        <p:sp>
          <p:nvSpPr>
            <p:cNvPr id="16" name="Oval 15">
              <a:extLst>
                <a:ext uri="{FF2B5EF4-FFF2-40B4-BE49-F238E27FC236}">
                  <a16:creationId xmlns:a16="http://schemas.microsoft.com/office/drawing/2014/main" id="{E18D1864-FFE9-147D-0F57-70D6A5EEA523}"/>
                </a:ext>
              </a:extLst>
            </p:cNvPr>
            <p:cNvSpPr>
              <a:spLocks noChangeAspect="1"/>
            </p:cNvSpPr>
            <p:nvPr/>
          </p:nvSpPr>
          <p:spPr>
            <a:xfrm>
              <a:off x="8912633" y="2735238"/>
              <a:ext cx="250065" cy="250065"/>
            </a:xfrm>
            <a:prstGeom prst="ellipse">
              <a:avLst/>
            </a:prstGeom>
            <a:solidFill>
              <a:srgbClr val="3AB7C8"/>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7" name="TextBox 16">
              <a:extLst>
                <a:ext uri="{FF2B5EF4-FFF2-40B4-BE49-F238E27FC236}">
                  <a16:creationId xmlns:a16="http://schemas.microsoft.com/office/drawing/2014/main" id="{80CD1FA2-7A97-AB01-D37A-48E0AA53D1A0}"/>
                </a:ext>
              </a:extLst>
            </p:cNvPr>
            <p:cNvSpPr txBox="1"/>
            <p:nvPr/>
          </p:nvSpPr>
          <p:spPr>
            <a:xfrm>
              <a:off x="9122739" y="2918083"/>
              <a:ext cx="842341" cy="279200"/>
            </a:xfrm>
            <a:prstGeom prst="rect">
              <a:avLst/>
            </a:prstGeom>
            <a:noFill/>
          </p:spPr>
          <p:txBody>
            <a:bodyPr wrap="none" rtlCol="0">
              <a:spAutoFit/>
            </a:bodyPr>
            <a:lstStyle/>
            <a:p>
              <a:pPr>
                <a:lnSpc>
                  <a:spcPct val="80000"/>
                </a:lnSpc>
              </a:pPr>
              <a:r>
                <a:rPr lang="en-US" sz="1100" b="0" noProof="0" dirty="0">
                  <a:solidFill>
                    <a:srgbClr val="3AB7C8"/>
                  </a:solidFill>
                  <a:latin typeface="Nunito Sans" pitchFamily="2" charset="77"/>
                  <a:cs typeface="Arial" panose="020B0604020202020204" pitchFamily="34" charset="0"/>
                </a:rPr>
                <a:t>EQUITY</a:t>
              </a:r>
            </a:p>
          </p:txBody>
        </p:sp>
        <p:sp>
          <p:nvSpPr>
            <p:cNvPr id="18" name="Oval 17">
              <a:extLst>
                <a:ext uri="{FF2B5EF4-FFF2-40B4-BE49-F238E27FC236}">
                  <a16:creationId xmlns:a16="http://schemas.microsoft.com/office/drawing/2014/main" id="{F633C10A-7421-E27C-79FC-AA1DB2E8ADF9}"/>
                </a:ext>
              </a:extLst>
            </p:cNvPr>
            <p:cNvSpPr>
              <a:spLocks noChangeAspect="1"/>
            </p:cNvSpPr>
            <p:nvPr/>
          </p:nvSpPr>
          <p:spPr>
            <a:xfrm>
              <a:off x="6867319" y="3142883"/>
              <a:ext cx="340000" cy="340000"/>
            </a:xfrm>
            <a:prstGeom prst="ellipse">
              <a:avLst/>
            </a:prstGeom>
            <a:solidFill>
              <a:srgbClr val="FFA400"/>
            </a:solidFill>
            <a:ln w="38100">
              <a:solidFill>
                <a:schemeClr val="bg1"/>
              </a:solidFill>
            </a:ln>
            <a:effectLst>
              <a:outerShdw blurRad="127000" sx="102000" sy="102000" algn="c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14" noProof="0" dirty="0">
                <a:latin typeface="Lucida Sans" panose="020B0602030504020204" pitchFamily="34" charset="77"/>
              </a:endParaRPr>
            </a:p>
          </p:txBody>
        </p:sp>
        <p:sp>
          <p:nvSpPr>
            <p:cNvPr id="19" name="TextBox 18">
              <a:extLst>
                <a:ext uri="{FF2B5EF4-FFF2-40B4-BE49-F238E27FC236}">
                  <a16:creationId xmlns:a16="http://schemas.microsoft.com/office/drawing/2014/main" id="{650FD01B-830E-054C-4111-4E9EF544765C}"/>
                </a:ext>
              </a:extLst>
            </p:cNvPr>
            <p:cNvSpPr txBox="1"/>
            <p:nvPr/>
          </p:nvSpPr>
          <p:spPr>
            <a:xfrm>
              <a:off x="7068085" y="3491334"/>
              <a:ext cx="1160970" cy="279200"/>
            </a:xfrm>
            <a:prstGeom prst="rect">
              <a:avLst/>
            </a:prstGeom>
            <a:noFill/>
          </p:spPr>
          <p:txBody>
            <a:bodyPr wrap="none" rtlCol="0">
              <a:spAutoFit/>
            </a:bodyPr>
            <a:p>
              <a:r>
                <a:rPr lang="en-US" sz="1200" noProof="0" dirty="0" b="1">
                  <a:solidFill>
                    <a:srgbClr val="FFA400"/>
                  </a:solidFill>
                </a:rPr>
                <a:t>BALANCED</a:t>
              </a:r>
            </a:p>
          </p:txBody>
        </p:sp>
        <p:sp>
          <p:nvSpPr>
            <p:cNvPr id="20" name="Rectangle 19">
              <a:extLst>
                <a:ext uri="{FF2B5EF4-FFF2-40B4-BE49-F238E27FC236}">
                  <a16:creationId xmlns:a16="http://schemas.microsoft.com/office/drawing/2014/main" id="{599FC8E0-0A76-616D-7F2E-7F53A1CA777D}"/>
                </a:ext>
              </a:extLst>
            </p:cNvPr>
            <p:cNvSpPr/>
            <p:nvPr/>
          </p:nvSpPr>
          <p:spPr>
            <a:xfrm rot="16200000">
              <a:off x="4274695" y="2702694"/>
              <a:ext cx="726043" cy="315154"/>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Return</a:t>
              </a:r>
            </a:p>
          </p:txBody>
        </p:sp>
        <p:sp>
          <p:nvSpPr>
            <p:cNvPr id="21" name="Rectangle 20">
              <a:extLst>
                <a:ext uri="{FF2B5EF4-FFF2-40B4-BE49-F238E27FC236}">
                  <a16:creationId xmlns:a16="http://schemas.microsoft.com/office/drawing/2014/main" id="{F4C1B45D-8DE0-CCCF-6416-324D0D828911}"/>
                </a:ext>
              </a:extLst>
            </p:cNvPr>
            <p:cNvSpPr/>
            <p:nvPr/>
          </p:nvSpPr>
          <p:spPr>
            <a:xfrm>
              <a:off x="9131908" y="6362440"/>
              <a:ext cx="909929" cy="309212"/>
            </a:xfrm>
            <a:prstGeom prst="rect">
              <a:avLst/>
            </a:prstGeom>
          </p:spPr>
          <p:txBody>
            <a:bodyPr wrap="none">
              <a:spAutoFit/>
            </a:bodyPr>
            <a:lstStyle/>
            <a:p>
              <a:pPr algn="ctr"/>
              <a:r>
                <a:rPr lang="en-US" sz="1100" noProof="0" dirty="0">
                  <a:solidFill>
                    <a:schemeClr val="tx2"/>
                  </a:solidFill>
                  <a:latin typeface="Nunito Sans" pitchFamily="2" charset="77"/>
                  <a:cs typeface="Arial" panose="020B0604020202020204" pitchFamily="34" charset="0"/>
                </a:rPr>
                <a:t>Volatility</a:t>
              </a:r>
            </a:p>
          </p:txBody>
        </p:sp>
      </p:grpSp>
      <p:sp>
        <p:nvSpPr>
          <p:cNvPr id="49" name="Rectangle: Rounded Corners 48">
            <a:extLst>
              <a:ext uri="{FF2B5EF4-FFF2-40B4-BE49-F238E27FC236}">
                <a16:creationId xmlns:a16="http://schemas.microsoft.com/office/drawing/2014/main" id="{9136CC6D-6251-8098-4B2D-EC31FBFF2C40}"/>
              </a:ext>
            </a:extLst>
          </p:cNvPr>
          <p:cNvSpPr/>
          <p:nvPr/>
        </p:nvSpPr>
        <p:spPr>
          <a:xfrm>
            <a:off x="2643627" y="2770311"/>
            <a:ext cx="784860" cy="282814"/>
          </a:xfrm>
          <a:prstGeom prst="roundRect">
            <a:avLst/>
          </a:prstGeom>
          <a:noFill/>
          <a:ln w="762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52" name="Rectangle 29">
            <a:extLst>
              <a:ext uri="{FF2B5EF4-FFF2-40B4-BE49-F238E27FC236}">
                <a16:creationId xmlns:a16="http://schemas.microsoft.com/office/drawing/2014/main" id="{461A1599-74CC-00D0-2C70-9D37C2F38668}"/>
              </a:ext>
            </a:extLst>
          </p:cNvPr>
          <p:cNvSpPr/>
          <p:nvPr/>
        </p:nvSpPr>
        <p:spPr>
          <a:xfrm rot="20031575">
            <a:off x="2744786" y="2216727"/>
            <a:ext cx="261097" cy="852224"/>
          </a:xfrm>
          <a:custGeom>
            <a:avLst/>
            <a:gdLst>
              <a:gd name="connsiteX0" fmla="*/ 0 w 205740"/>
              <a:gd name="connsiteY0" fmla="*/ 0 h 930514"/>
              <a:gd name="connsiteX1" fmla="*/ 205740 w 205740"/>
              <a:gd name="connsiteY1" fmla="*/ 0 h 930514"/>
              <a:gd name="connsiteX2" fmla="*/ 205740 w 205740"/>
              <a:gd name="connsiteY2" fmla="*/ 930514 h 930514"/>
              <a:gd name="connsiteX3" fmla="*/ 0 w 205740"/>
              <a:gd name="connsiteY3" fmla="*/ 930514 h 930514"/>
              <a:gd name="connsiteX4" fmla="*/ 0 w 205740"/>
              <a:gd name="connsiteY4" fmla="*/ 0 h 930514"/>
              <a:gd name="connsiteX0" fmla="*/ 0 w 233608"/>
              <a:gd name="connsiteY0" fmla="*/ 0 h 1012096"/>
              <a:gd name="connsiteX1" fmla="*/ 205740 w 233608"/>
              <a:gd name="connsiteY1" fmla="*/ 0 h 1012096"/>
              <a:gd name="connsiteX2" fmla="*/ 233608 w 233608"/>
              <a:gd name="connsiteY2" fmla="*/ 1012096 h 1012096"/>
              <a:gd name="connsiteX3" fmla="*/ 0 w 233608"/>
              <a:gd name="connsiteY3" fmla="*/ 930514 h 1012096"/>
              <a:gd name="connsiteX4" fmla="*/ 0 w 233608"/>
              <a:gd name="connsiteY4" fmla="*/ 0 h 1012096"/>
              <a:gd name="connsiteX0" fmla="*/ 0 w 261097"/>
              <a:gd name="connsiteY0" fmla="*/ 0 h 1042563"/>
              <a:gd name="connsiteX1" fmla="*/ 205740 w 261097"/>
              <a:gd name="connsiteY1" fmla="*/ 0 h 1042563"/>
              <a:gd name="connsiteX2" fmla="*/ 261097 w 261097"/>
              <a:gd name="connsiteY2" fmla="*/ 1042563 h 1042563"/>
              <a:gd name="connsiteX3" fmla="*/ 0 w 261097"/>
              <a:gd name="connsiteY3" fmla="*/ 930514 h 1042563"/>
              <a:gd name="connsiteX4" fmla="*/ 0 w 261097"/>
              <a:gd name="connsiteY4" fmla="*/ 0 h 1042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097" h="1042563">
                <a:moveTo>
                  <a:pt x="0" y="0"/>
                </a:moveTo>
                <a:lnTo>
                  <a:pt x="205740" y="0"/>
                </a:lnTo>
                <a:lnTo>
                  <a:pt x="261097" y="1042563"/>
                </a:lnTo>
                <a:lnTo>
                  <a:pt x="0" y="930514"/>
                </a:lnTo>
                <a:lnTo>
                  <a:pt x="0" y="0"/>
                </a:lnTo>
                <a:close/>
              </a:path>
            </a:pathLst>
          </a:custGeom>
          <a:solidFill>
            <a:schemeClr val="bg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Tree>
    <p:extLst>
      <p:ext uri="{BB962C8B-B14F-4D97-AF65-F5344CB8AC3E}">
        <p14:creationId xmlns:p14="http://schemas.microsoft.com/office/powerpoint/2010/main" val="2575606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1 of 4. Weights as at 17 August 2026.</a:t>
            </a:r>
          </a:p>
        </p:txBody>
      </p:sp>
      <p:graphicFrame>
        <p:nvGraphicFramePr>
          <p:cNvPr id="4" name="Table 3"/>
          <p:cNvGraphicFramePr>
            <a:graphicFrameLocks noGrp="1"/>
          </p:cNvGraphicFramePr>
          <p:nvPr/>
        </p:nvGraphicFramePr>
        <p:xfrm>
          <a:off x="665163" y="2140000"/>
          <a:ext cx="9398001" cy="451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Cash</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l"/>
                      <a:r>
                        <a:rPr sz="1050" b="1">
                          <a:solidFill>
                            <a:srgbClr val="FFFFFF"/>
                          </a:solidFill>
                          <a:latin typeface="Nunito Sans ExtraBold"/>
                        </a:rPr>
                        <a:t/>
                      </a:r>
                    </a:p>
                  </a:txBody>
                  <a:tcPr marL="45720" marR="45720" marT="9144" marB="9144" anchor="ctr">
                    <a:solidFill>
                      <a:srgbClr val="FFC545"/>
                    </a:solidFill>
                  </a:tcPr>
                </a:tc>
                <a:tc>
                  <a:txBody>
                    <a:bodyPr wrap="square"/>
                    <a:lstStyle/>
                    <a:p>
                      <a:pPr algn="r"/>
                      <a:r>
                        <a:rPr sz="1050" b="1">
                          <a:solidFill>
                            <a:srgbClr val="FFFFFF"/>
                          </a:solidFill>
                          <a:latin typeface="Nunito Sans ExtraBold"/>
                        </a:rPr>
                        <a:t>3.8%</a:t>
                      </a:r>
                    </a:p>
                  </a:txBody>
                  <a:tcPr marL="45720" marR="45720" marT="9144" marB="9144" anchor="ctr">
                    <a:solidFill>
                      <a:srgbClr val="FFC545"/>
                    </a:solidFill>
                  </a:tcPr>
                </a:tc>
              </a:tr>
              <a:tr h="205000">
                <a:tc rowSpan="9">
                  <a:txBody>
                    <a:bodyPr wrap="square"/>
                    <a:lstStyle/>
                    <a:p>
                      <a:pPr algn="l"/>
                      <a:r>
                        <a:rPr sz="950" b="1">
                          <a:solidFill>
                            <a:srgbClr val="202945"/>
                          </a:solidFill>
                          <a:latin typeface="Calibri"/>
                        </a:rPr>
                        <a:t>Cash</a:t>
                      </a:r>
                    </a:p>
                  </a:txBody>
                  <a:tcPr marL="45720" marR="45720" marT="9144" marB="9144" anchor="ctr">
                    <a:noFill/>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XAG</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XPT</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EUR</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USD</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CHF</a:t>
                      </a:r>
                    </a:p>
                  </a:txBody>
                  <a:tcPr marL="45720" marR="45720" marT="9144" marB="9144" anchor="ctr">
                    <a:noFill/>
                  </a:tcPr>
                </a:tc>
                <a:tc>
                  <a:txBody>
                    <a:bodyPr wrap="square"/>
                    <a:lstStyle/>
                    <a:p>
                      <a:pPr algn="r"/>
                      <a:r>
                        <a:rPr sz="950" b="0">
                          <a:solidFill>
                            <a:srgbClr val="202945"/>
                          </a:solidFill>
                          <a:latin typeface="Calibri"/>
                        </a:rPr>
                        <a: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GBP</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INCOME TO BE RECEIVED IN GBP</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SEK</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CURRENT ACCOUNT IN CAD</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a:txBody>
                    <a:bodyPr wrap="square"/>
                    <a:lstStyle/>
                    <a:p>
                      <a:pPr algn="l"/>
                      <a:r>
                        <a:rPr sz="1050" b="1">
                          <a:solidFill>
                            <a:srgbClr val="FFFFFF"/>
                          </a:solidFill>
                          <a:latin typeface="Nunito Sans ExtraBold"/>
                        </a:rPr>
                        <a:t>Fixed Income</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r"/>
                      <a:r>
                        <a:rPr sz="1050" b="1">
                          <a:solidFill>
                            <a:srgbClr val="FFFFFF"/>
                          </a:solidFill>
                          <a:latin typeface="Nunito Sans ExtraBold"/>
                        </a:rPr>
                        <a:t>15.1%</a:t>
                      </a:r>
                    </a:p>
                  </a:txBody>
                  <a:tcPr marL="45720" marR="45720" marT="9144" marB="9144" anchor="ctr">
                    <a:solidFill>
                      <a:srgbClr val="4B5F80"/>
                    </a:solidFill>
                  </a:tcPr>
                </a:tc>
              </a:tr>
              <a:tr h="205000">
                <a:tc rowSpan="2">
                  <a:txBody>
                    <a:bodyPr wrap="square"/>
                    <a:lstStyle/>
                    <a:p>
                      <a:pPr algn="l"/>
                      <a:r>
                        <a:rPr sz="950" b="1">
                          <a:solidFill>
                            <a:srgbClr val="202945"/>
                          </a:solidFill>
                          <a:latin typeface="Calibri"/>
                        </a:rPr>
                        <a:t>Govies 1-10 (local)</a:t>
                      </a:r>
                    </a:p>
                  </a:txBody>
                  <a:tcPr marL="45720" marR="45720" marT="9144" marB="9144" anchor="ctr">
                    <a:noFill/>
                  </a:tcPr>
                </a:tc>
                <a:tc>
                  <a:txBody>
                    <a:bodyPr wrap="square"/>
                    <a:lstStyle/>
                    <a:p>
                      <a:pPr algn="l"/>
                      <a:r>
                        <a:rPr sz="950" b="0">
                          <a:solidFill>
                            <a:srgbClr val="202945"/>
                          </a:solidFill>
                          <a:latin typeface="Calibri"/>
                        </a:rPr>
                        <a:t>US30303MAC64</a:t>
                      </a:r>
                    </a:p>
                  </a:txBody>
                  <a:tcPr marL="45720" marR="45720" marT="9144" marB="9144" anchor="ctr">
                    <a:noFill/>
                  </a:tcPr>
                </a:tc>
                <a:tc>
                  <a:txBody>
                    <a:bodyPr wrap="square"/>
                    <a:lstStyle/>
                    <a:p>
                      <a:pPr algn="l"/>
                      <a:r>
                        <a:rPr sz="950" b="0">
                          <a:solidFill>
                            <a:srgbClr val="202945"/>
                          </a:solidFill>
                          <a:latin typeface="Calibri"/>
                        </a:rPr>
                        <a:t>4.6% META PLATFORMS NOV32  15.11.2032</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US023135CR56</a:t>
                      </a:r>
                    </a:p>
                  </a:txBody>
                  <a:tcPr marL="45720" marR="45720" marT="9144" marB="9144" anchor="ctr">
                    <a:noFill/>
                  </a:tcPr>
                </a:tc>
                <a:tc>
                  <a:txBody>
                    <a:bodyPr wrap="square"/>
                    <a:lstStyle/>
                    <a:p>
                      <a:pPr algn="l"/>
                      <a:r>
                        <a:rPr sz="950" b="0">
                          <a:solidFill>
                            <a:srgbClr val="202945"/>
                          </a:solidFill>
                          <a:latin typeface="Calibri"/>
                        </a:rPr>
                        <a:t>4.7% AMAZON DEC32  01.12.2032</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rowSpan="8">
                  <a:txBody>
                    <a:bodyPr wrap="square"/>
                    <a:lstStyle/>
                    <a:p>
                      <a:pPr algn="l"/>
                      <a:r>
                        <a:rPr sz="950" b="1">
                          <a:solidFill>
                            <a:srgbClr val="202945"/>
                          </a:solidFill>
                          <a:latin typeface="Calibri"/>
                        </a:rPr>
                        <a:t>High Yield (local or global hdg)</a:t>
                      </a:r>
                    </a:p>
                  </a:txBody>
                  <a:tcPr marL="45720" marR="45720" marT="9144" marB="9144" anchor="ctr">
                    <a:noFill/>
                  </a:tcPr>
                </a:tc>
                <a:tc>
                  <a:txBody>
                    <a:bodyPr wrap="square"/>
                    <a:lstStyle/>
                    <a:p>
                      <a:pPr algn="l"/>
                      <a:r>
                        <a:rPr sz="950" b="0">
                          <a:solidFill>
                            <a:srgbClr val="202945"/>
                          </a:solidFill>
                          <a:latin typeface="Calibri"/>
                        </a:rPr>
                        <a:t>CH0414256021</a:t>
                      </a:r>
                    </a:p>
                  </a:txBody>
                  <a:tcPr marL="45720" marR="45720" marT="9144" marB="9144" anchor="ctr">
                    <a:noFill/>
                  </a:tcPr>
                </a:tc>
                <a:tc>
                  <a:txBody>
                    <a:bodyPr wrap="square"/>
                    <a:lstStyle/>
                    <a:p>
                      <a:pPr algn="l"/>
                      <a:r>
                        <a:rPr sz="950" b="0">
                          <a:solidFill>
                            <a:srgbClr val="202945"/>
                          </a:solidFill>
                          <a:latin typeface="Calibri"/>
                        </a:rPr>
                        <a:t>SYZ EM BONDS CERTIFICATE</a:t>
                      </a:r>
                    </a:p>
                  </a:txBody>
                  <a:tcPr marL="45720" marR="45720" marT="9144" marB="9144" anchor="ctr">
                    <a:noFill/>
                  </a:tcPr>
                </a:tc>
                <a:tc>
                  <a:txBody>
                    <a:bodyPr wrap="square"/>
                    <a:lstStyle/>
                    <a:p>
                      <a:pPr algn="r"/>
                      <a:r>
                        <a:rPr sz="950" b="0">
                          <a:solidFill>
                            <a:srgbClr val="202945"/>
                          </a:solidFill>
                          <a:latin typeface="Calibri"/>
                        </a:rPr>
                        <a:t>2.9%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LU0840158819</a:t>
                      </a:r>
                    </a:p>
                  </a:txBody>
                  <a:tcPr marL="45720" marR="45720" marT="9144" marB="9144" anchor="ctr">
                    <a:noFill/>
                  </a:tcPr>
                </a:tc>
                <a:tc>
                  <a:txBody>
                    <a:bodyPr wrap="square"/>
                    <a:lstStyle/>
                    <a:p>
                      <a:pPr algn="l"/>
                      <a:r>
                        <a:rPr sz="950" b="0">
                          <a:solidFill>
                            <a:srgbClr val="202945"/>
                          </a:solidFill>
                          <a:latin typeface="Calibri"/>
                        </a:rPr>
                        <a:t>STORM II BOND RC EUR</a:t>
                      </a:r>
                    </a:p>
                  </a:txBody>
                  <a:tcPr marL="45720" marR="45720" marT="9144" marB="9144" anchor="ctr">
                    <a:noFill/>
                  </a:tcPr>
                </a:tc>
                <a:tc>
                  <a:txBody>
                    <a:bodyPr wrap="square"/>
                    <a:lstStyle/>
                    <a:p>
                      <a:pPr algn="r"/>
                      <a:r>
                        <a:rPr sz="950" b="0">
                          <a:solidFill>
                            <a:srgbClr val="202945"/>
                          </a:solidFill>
                          <a:latin typeface="Calibri"/>
                        </a:rPr>
                        <a:t>2.2%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2.53% Fid. 17.08.2026 - 19.10.2026 QATAR NATIONAL BANK - DOHA No. 263303</a:t>
                      </a:r>
                    </a:p>
                  </a:txBody>
                  <a:tcPr marL="45720" marR="45720" marT="9144" marB="9144" anchor="ctr">
                    <a:noFill/>
                  </a:tcPr>
                </a:tc>
                <a:tc>
                  <a:txBody>
                    <a:bodyPr wrap="square"/>
                    <a:lstStyle/>
                    <a:p>
                      <a:pPr algn="r"/>
                      <a:r>
                        <a:rPr sz="950" b="0">
                          <a:solidFill>
                            <a:srgbClr val="202945"/>
                          </a:solidFill>
                          <a:latin typeface="Calibri"/>
                        </a:rPr>
                        <a:t>1.5%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CH0103254758</a:t>
                      </a:r>
                    </a:p>
                  </a:txBody>
                  <a:tcPr marL="45720" marR="45720" marT="9144" marB="9144" anchor="ctr">
                    <a:noFill/>
                  </a:tcPr>
                </a:tc>
                <a:tc>
                  <a:txBody>
                    <a:bodyPr wrap="square"/>
                    <a:lstStyle/>
                    <a:p>
                      <a:pPr algn="l"/>
                      <a:r>
                        <a:rPr sz="950" b="0">
                          <a:solidFill>
                            <a:srgbClr val="202945"/>
                          </a:solidFill>
                          <a:latin typeface="Calibri"/>
                        </a:rPr>
                        <a:t>SYZ AM(CH) 1 LIQUID MGT D</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US88167AAP66</a:t>
                      </a:r>
                    </a:p>
                  </a:txBody>
                  <a:tcPr marL="45720" marR="45720" marT="9144" marB="9144" anchor="ctr">
                    <a:noFill/>
                  </a:tcPr>
                </a:tc>
                <a:tc>
                  <a:txBody>
                    <a:bodyPr wrap="square"/>
                    <a:lstStyle/>
                    <a:p>
                      <a:pPr algn="l"/>
                      <a:r>
                        <a:rPr sz="950" b="0">
                          <a:solidFill>
                            <a:srgbClr val="202945"/>
                          </a:solidFill>
                          <a:latin typeface="Calibri"/>
                        </a:rPr>
                        <a:t>4 3/4 TEVA PHARMA MAY27  09.05.2027</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3.35% Fid. On Call 48 Hrs Natixis, Paris On Call No. 96289</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1.75% Fid. On Call 48 Hrs Société Générale, Paris On Call No. 20843</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IE00BD5CTX77</a:t>
                      </a:r>
                    </a:p>
                  </a:txBody>
                  <a:tcPr marL="45720" marR="45720" marT="9144" marB="9144" anchor="ctr">
                    <a:noFill/>
                  </a:tcPr>
                </a:tc>
                <a:tc>
                  <a:txBody>
                    <a:bodyPr wrap="square"/>
                    <a:lstStyle/>
                    <a:p>
                      <a:pPr algn="l"/>
                      <a:r>
                        <a:rPr sz="950" b="0">
                          <a:solidFill>
                            <a:srgbClr val="202945"/>
                          </a:solidFill>
                          <a:latin typeface="Calibri"/>
                        </a:rPr>
                        <a:t>BNY MELLON S/D H/Y H HDG</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bl>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2 of 4. Weights as at 17 August 2026.</a:t>
            </a:r>
          </a:p>
        </p:txBody>
      </p:sp>
      <p:graphicFrame>
        <p:nvGraphicFramePr>
          <p:cNvPr id="4" name="Table 3"/>
          <p:cNvGraphicFramePr>
            <a:graphicFrameLocks noGrp="1"/>
          </p:cNvGraphicFramePr>
          <p:nvPr/>
        </p:nvGraphicFramePr>
        <p:xfrm>
          <a:off x="665163" y="2140000"/>
          <a:ext cx="9398001" cy="410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Fixed Income</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l"/>
                      <a:r>
                        <a:rPr sz="1050" b="1">
                          <a:solidFill>
                            <a:srgbClr val="FFFFFF"/>
                          </a:solidFill>
                          <a:latin typeface="Nunito Sans ExtraBold"/>
                        </a:rPr>
                        <a:t/>
                      </a:r>
                    </a:p>
                  </a:txBody>
                  <a:tcPr marL="45720" marR="45720" marT="9144" marB="9144" anchor="ctr">
                    <a:solidFill>
                      <a:srgbClr val="4B5F80"/>
                    </a:solidFill>
                  </a:tcPr>
                </a:tc>
                <a:tc>
                  <a:txBody>
                    <a:bodyPr wrap="square"/>
                    <a:lstStyle/>
                    <a:p>
                      <a:pPr algn="r"/>
                      <a:r>
                        <a:rPr sz="1050" b="1">
                          <a:solidFill>
                            <a:srgbClr val="FFFFFF"/>
                          </a:solidFill>
                          <a:latin typeface="Nunito Sans ExtraBold"/>
                        </a:rPr>
                        <a:t>15.1%</a:t>
                      </a:r>
                    </a:p>
                  </a:txBody>
                  <a:tcPr marL="45720" marR="45720" marT="9144" marB="9144" anchor="ctr">
                    <a:solidFill>
                      <a:srgbClr val="4B5F80"/>
                    </a:solidFill>
                  </a:tcPr>
                </a:tc>
              </a:tr>
              <a:tr h="205000">
                <a:tc rowSpan="4">
                  <a:txBody>
                    <a:bodyPr wrap="square"/>
                    <a:lstStyle/>
                    <a:p>
                      <a:pPr algn="l"/>
                      <a:r>
                        <a:rPr sz="950" b="1">
                          <a:solidFill>
                            <a:srgbClr val="202945"/>
                          </a:solidFill>
                          <a:latin typeface="Calibri"/>
                        </a:rPr>
                        <a:t>Corporate IG (local)</a:t>
                      </a:r>
                    </a:p>
                  </a:txBody>
                  <a:tcPr marL="45720" marR="45720" marT="9144" marB="9144" anchor="ctr">
                    <a:noFill/>
                  </a:tcPr>
                </a:tc>
                <a:tc>
                  <a:txBody>
                    <a:bodyPr wrap="square"/>
                    <a:lstStyle/>
                    <a:p>
                      <a:pPr algn="l"/>
                      <a:r>
                        <a:rPr sz="950" b="0">
                          <a:solidFill>
                            <a:srgbClr val="202945"/>
                          </a:solidFill>
                          <a:latin typeface="Calibri"/>
                        </a:rPr>
                        <a:t>XS2983840518</a:t>
                      </a:r>
                    </a:p>
                  </a:txBody>
                  <a:tcPr marL="45720" marR="45720" marT="9144" marB="9144" anchor="ctr">
                    <a:noFill/>
                  </a:tcPr>
                </a:tc>
                <a:tc>
                  <a:txBody>
                    <a:bodyPr wrap="square"/>
                    <a:lstStyle/>
                    <a:p>
                      <a:pPr algn="l"/>
                      <a:r>
                        <a:rPr sz="950" b="0">
                          <a:solidFill>
                            <a:srgbClr val="202945"/>
                          </a:solidFill>
                          <a:latin typeface="Calibri"/>
                        </a:rPr>
                        <a:t>3.5% GOLDMAN SACHS JAN33  23.01.2033</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XS3222746375</a:t>
                      </a:r>
                    </a:p>
                  </a:txBody>
                  <a:tcPr marL="45720" marR="45720" marT="9144" marB="9144" anchor="ctr">
                    <a:noFill/>
                  </a:tcPr>
                </a:tc>
                <a:tc>
                  <a:txBody>
                    <a:bodyPr wrap="square"/>
                    <a:lstStyle/>
                    <a:p>
                      <a:pPr algn="l"/>
                      <a:r>
                        <a:rPr sz="950" b="0">
                          <a:solidFill>
                            <a:srgbClr val="202945"/>
                          </a:solidFill>
                          <a:latin typeface="Calibri"/>
                        </a:rPr>
                        <a:t>3.5% VONOVIA NOV32  12.11.2032</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US718172DY22</a:t>
                      </a:r>
                    </a:p>
                  </a:txBody>
                  <a:tcPr marL="45720" marR="45720" marT="9144" marB="9144" anchor="ctr">
                    <a:noFill/>
                  </a:tcPr>
                </a:tc>
                <a:tc>
                  <a:txBody>
                    <a:bodyPr wrap="square"/>
                    <a:lstStyle/>
                    <a:p>
                      <a:pPr algn="l"/>
                      <a:r>
                        <a:rPr sz="950" b="0">
                          <a:solidFill>
                            <a:srgbClr val="202945"/>
                          </a:solidFill>
                          <a:latin typeface="Calibri"/>
                        </a:rPr>
                        <a:t>4% PHILIP MORRIS OCT30  29.10.2030</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US38141GZM94</a:t>
                      </a:r>
                    </a:p>
                  </a:txBody>
                  <a:tcPr marL="45720" marR="45720" marT="9144" marB="9144" anchor="ctr">
                    <a:noFill/>
                  </a:tcPr>
                </a:tc>
                <a:tc>
                  <a:txBody>
                    <a:bodyPr wrap="square"/>
                    <a:lstStyle/>
                    <a:p>
                      <a:pPr algn="l"/>
                      <a:r>
                        <a:rPr sz="950" b="0">
                          <a:solidFill>
                            <a:srgbClr val="202945"/>
                          </a:solidFill>
                          <a:latin typeface="Calibri"/>
                        </a:rPr>
                        <a:t>3.102% GOLDMAN FLR FEB33  24.02.2033</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a:txBody>
                    <a:bodyPr wrap="square"/>
                    <a:lstStyle/>
                    <a:p>
                      <a:pPr algn="l"/>
                      <a:r>
                        <a:rPr sz="950" b="1">
                          <a:solidFill>
                            <a:srgbClr val="202945"/>
                          </a:solidFill>
                          <a:latin typeface="Calibri"/>
                        </a:rPr>
                        <a:t>EM Debt</a:t>
                      </a:r>
                    </a:p>
                  </a:txBody>
                  <a:tcPr marL="45720" marR="45720" marT="9144" marB="9144" anchor="ctr">
                    <a:noFill/>
                  </a:tcPr>
                </a:tc>
                <a:tc>
                  <a:txBody>
                    <a:bodyPr wrap="square"/>
                    <a:lstStyle/>
                    <a:p>
                      <a:pPr algn="l"/>
                      <a:r>
                        <a:rPr sz="950" b="0">
                          <a:solidFill>
                            <a:srgbClr val="202945"/>
                          </a:solidFill>
                          <a:latin typeface="Calibri"/>
                        </a:rPr>
                        <a:t>XS2647371843</a:t>
                      </a:r>
                    </a:p>
                  </a:txBody>
                  <a:tcPr marL="45720" marR="45720" marT="9144" marB="9144" anchor="ctr">
                    <a:noFill/>
                  </a:tcPr>
                </a:tc>
                <a:tc>
                  <a:txBody>
                    <a:bodyPr wrap="square"/>
                    <a:lstStyle/>
                    <a:p>
                      <a:pPr algn="l"/>
                      <a:r>
                        <a:rPr sz="950" b="0">
                          <a:solidFill>
                            <a:srgbClr val="202945"/>
                          </a:solidFill>
                          <a:latin typeface="Calibri"/>
                        </a:rPr>
                        <a:t>4.75% PKN ORLEN JUL30  13.07.2030</a:t>
                      </a:r>
                    </a:p>
                  </a:txBody>
                  <a:tcPr marL="45720" marR="45720" marT="9144" marB="9144" anchor="ctr">
                    <a:noFill/>
                  </a:tcPr>
                </a:tc>
                <a:tc>
                  <a:txBody>
                    <a:bodyPr wrap="square"/>
                    <a:lstStyle/>
                    <a:p>
                      <a:pPr algn="r"/>
                      <a:r>
                        <a:rPr sz="950" b="0">
                          <a:solidFill>
                            <a:srgbClr val="202945"/>
                          </a:solidFill>
                          <a:latin typeface="Calibri"/>
                        </a:rPr>
                        <a:t>0.7%</a:t>
                      </a:r>
                    </a:p>
                  </a:txBody>
                  <a:tcPr marL="45720" marR="45720" marT="9144" marB="9144" anchor="ctr">
                    <a:no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33.7%</a:t>
                      </a:r>
                    </a:p>
                  </a:txBody>
                  <a:tcPr marL="45720" marR="45720" marT="9144" marB="9144" anchor="ctr">
                    <a:solidFill>
                      <a:srgbClr val="79D6FF"/>
                    </a:solidFill>
                  </a:tcPr>
                </a:tc>
              </a:tr>
              <a:tr h="205000">
                <a:tc>
                  <a:txBody>
                    <a:bodyPr wrap="square"/>
                    <a:lstStyle/>
                    <a:p>
                      <a:pPr algn="l"/>
                      <a:r>
                        <a:rPr sz="950" b="1">
                          <a:solidFill>
                            <a:srgbClr val="202945"/>
                          </a:solidFill>
                          <a:latin typeface="Calibri"/>
                        </a:rPr>
                        <a:t>US</a:t>
                      </a:r>
                    </a:p>
                  </a:txBody>
                  <a:tcPr marL="45720" marR="45720" marT="9144" marB="9144" anchor="ctr">
                    <a:noFill/>
                  </a:tcPr>
                </a:tc>
                <a:tc>
                  <a:txBody>
                    <a:bodyPr wrap="square"/>
                    <a:lstStyle/>
                    <a:p>
                      <a:pPr algn="l"/>
                      <a:r>
                        <a:rPr sz="950" b="0">
                          <a:solidFill>
                            <a:srgbClr val="202945"/>
                          </a:solidFill>
                          <a:latin typeface="Calibri"/>
                        </a:rPr>
                        <a:t>US0846707026</a:t>
                      </a:r>
                    </a:p>
                  </a:txBody>
                  <a:tcPr marL="45720" marR="45720" marT="9144" marB="9144" anchor="ctr">
                    <a:noFill/>
                  </a:tcPr>
                </a:tc>
                <a:tc>
                  <a:txBody>
                    <a:bodyPr wrap="square"/>
                    <a:lstStyle/>
                    <a:p>
                      <a:pPr algn="l"/>
                      <a:r>
                        <a:rPr sz="950" b="0">
                          <a:solidFill>
                            <a:srgbClr val="202945"/>
                          </a:solidFill>
                          <a:latin typeface="Calibri"/>
                        </a:rPr>
                        <a:t>BERKSHIRE HATHAWAY B</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r h="205000">
                <a:tc rowSpan="6">
                  <a:txBody>
                    <a:bodyPr wrap="square"/>
                    <a:lstStyle/>
                    <a:p>
                      <a:pPr algn="l"/>
                      <a:r>
                        <a:rPr sz="950" b="1">
                          <a:solidFill>
                            <a:srgbClr val="202945"/>
                          </a:solidFill>
                          <a:latin typeface="Calibri"/>
                        </a:rPr>
                        <a:t>Eurozone</a:t>
                      </a:r>
                    </a:p>
                  </a:txBody>
                  <a:tcPr marL="45720" marR="45720" marT="9144" marB="9144" anchor="ctr">
                    <a:noFill/>
                  </a:tcPr>
                </a:tc>
                <a:tc>
                  <a:txBody>
                    <a:bodyPr wrap="square"/>
                    <a:lstStyle/>
                    <a:p>
                      <a:pPr algn="l"/>
                      <a:r>
                        <a:rPr sz="950" b="0">
                          <a:solidFill>
                            <a:srgbClr val="202945"/>
                          </a:solidFill>
                          <a:latin typeface="Calibri"/>
                        </a:rPr>
                        <a:t>DE0008404005</a:t>
                      </a:r>
                    </a:p>
                  </a:txBody>
                  <a:tcPr marL="45720" marR="45720" marT="9144" marB="9144" anchor="ctr">
                    <a:noFill/>
                  </a:tcPr>
                </a:tc>
                <a:tc>
                  <a:txBody>
                    <a:bodyPr wrap="square"/>
                    <a:lstStyle/>
                    <a:p>
                      <a:pPr algn="l"/>
                      <a:r>
                        <a:rPr sz="950" b="0">
                          <a:solidFill>
                            <a:srgbClr val="202945"/>
                          </a:solidFill>
                          <a:latin typeface="Calibri"/>
                        </a:rPr>
                        <a:t>ALLIANZ (NOM)</a:t>
                      </a:r>
                    </a:p>
                  </a:txBody>
                  <a:tcPr marL="45720" marR="45720" marT="9144" marB="9144" anchor="ctr">
                    <a:noFill/>
                  </a:tcPr>
                </a:tc>
                <a:tc>
                  <a:txBody>
                    <a:bodyPr wrap="square"/>
                    <a:lstStyle/>
                    <a:p>
                      <a:pPr algn="r"/>
                      <a:r>
                        <a:rPr sz="950" b="0">
                          <a:solidFill>
                            <a:srgbClr val="202945"/>
                          </a:solidFill>
                          <a:latin typeface="Calibri"/>
                        </a:rPr>
                        <a:t>2.9%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XS3315944077</a:t>
                      </a:r>
                    </a:p>
                  </a:txBody>
                  <a:tcPr marL="45720" marR="45720" marT="9144" marB="9144" anchor="ctr">
                    <a:noFill/>
                  </a:tcPr>
                </a:tc>
                <a:tc>
                  <a:txBody>
                    <a:bodyPr wrap="square"/>
                    <a:lstStyle/>
                    <a:p>
                      <a:pPr algn="l"/>
                      <a:r>
                        <a:rPr sz="950" b="0">
                          <a:solidFill>
                            <a:srgbClr val="202945"/>
                          </a:solidFill>
                          <a:latin typeface="Calibri"/>
                        </a:rPr>
                        <a:t>SG CHINA NEXT WINNERS  01.06.2099</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NL0000235190</a:t>
                      </a:r>
                    </a:p>
                  </a:txBody>
                  <a:tcPr marL="45720" marR="45720" marT="9144" marB="9144" anchor="ctr">
                    <a:noFill/>
                  </a:tcPr>
                </a:tc>
                <a:tc>
                  <a:txBody>
                    <a:bodyPr wrap="square"/>
                    <a:lstStyle/>
                    <a:p>
                      <a:pPr algn="l"/>
                      <a:r>
                        <a:rPr sz="950" b="0">
                          <a:solidFill>
                            <a:srgbClr val="202945"/>
                          </a:solidFill>
                          <a:latin typeface="Calibri"/>
                        </a:rPr>
                        <a:t>AIRBUS</a:t>
                      </a:r>
                    </a:p>
                  </a:txBody>
                  <a:tcPr marL="45720" marR="45720" marT="9144" marB="9144" anchor="ctr">
                    <a:noFill/>
                  </a:tcPr>
                </a:tc>
                <a:tc>
                  <a:txBody>
                    <a:bodyPr wrap="square"/>
                    <a:lstStyle/>
                    <a:p>
                      <a:pPr algn="r"/>
                      <a:r>
                        <a:rPr sz="950" b="0">
                          <a:solidFill>
                            <a:srgbClr val="202945"/>
                          </a:solidFill>
                          <a:latin typeface="Calibri"/>
                        </a:rPr>
                        <a:t>1.5%</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IT0003856405</a:t>
                      </a:r>
                    </a:p>
                  </a:txBody>
                  <a:tcPr marL="45720" marR="45720" marT="9144" marB="9144" anchor="ctr">
                    <a:noFill/>
                  </a:tcPr>
                </a:tc>
                <a:tc>
                  <a:txBody>
                    <a:bodyPr wrap="square"/>
                    <a:lstStyle/>
                    <a:p>
                      <a:pPr algn="l"/>
                      <a:r>
                        <a:rPr sz="950" b="0">
                          <a:solidFill>
                            <a:srgbClr val="202945"/>
                          </a:solidFill>
                          <a:latin typeface="Calibri"/>
                        </a:rPr>
                        <a:t>LEONARDO (RAGGR)</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FR0014004L86</a:t>
                      </a:r>
                    </a:p>
                  </a:txBody>
                  <a:tcPr marL="45720" marR="45720" marT="9144" marB="9144" anchor="ctr">
                    <a:noFill/>
                  </a:tcPr>
                </a:tc>
                <a:tc>
                  <a:txBody>
                    <a:bodyPr wrap="square"/>
                    <a:lstStyle/>
                    <a:p>
                      <a:pPr algn="l"/>
                      <a:r>
                        <a:rPr sz="950" b="0">
                          <a:solidFill>
                            <a:srgbClr val="202945"/>
                          </a:solidFill>
                          <a:latin typeface="Calibri"/>
                        </a:rPr>
                        <a:t>DASSAULT AVIATION SA</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DE0008402215</a:t>
                      </a:r>
                    </a:p>
                  </a:txBody>
                  <a:tcPr marL="45720" marR="45720" marT="9144" marB="9144" anchor="ctr">
                    <a:noFill/>
                  </a:tcPr>
                </a:tc>
                <a:tc>
                  <a:txBody>
                    <a:bodyPr wrap="square"/>
                    <a:lstStyle/>
                    <a:p>
                      <a:pPr algn="l"/>
                      <a:r>
                        <a:rPr sz="950" b="0">
                          <a:solidFill>
                            <a:srgbClr val="202945"/>
                          </a:solidFill>
                          <a:latin typeface="Calibri"/>
                        </a:rPr>
                        <a:t>HANNOVER RUECK (NOM)</a:t>
                      </a:r>
                    </a:p>
                  </a:txBody>
                  <a:tcPr marL="45720" marR="45720" marT="9144" marB="9144" anchor="ctr">
                    <a:noFill/>
                  </a:tcPr>
                </a:tc>
                <a:tc>
                  <a:txBody>
                    <a:bodyPr wrap="square"/>
                    <a:lstStyle/>
                    <a:p>
                      <a:pPr algn="r"/>
                      <a:r>
                        <a:rPr sz="950" b="0">
                          <a:solidFill>
                            <a:srgbClr val="202945"/>
                          </a:solidFill>
                          <a:latin typeface="Calibri"/>
                        </a:rPr>
                        <a:t>0.5%</a:t>
                      </a:r>
                    </a:p>
                  </a:txBody>
                  <a:tcPr marL="45720" marR="45720" marT="9144" marB="9144" anchor="ctr">
                    <a:noFill/>
                  </a:tcPr>
                </a:tc>
              </a:tr>
              <a:tr h="205000">
                <a:tc rowSpan="2">
                  <a:txBody>
                    <a:bodyPr wrap="square"/>
                    <a:lstStyle/>
                    <a:p>
                      <a:pPr algn="l"/>
                      <a:r>
                        <a:rPr sz="950" b="1">
                          <a:solidFill>
                            <a:srgbClr val="202945"/>
                          </a:solidFill>
                          <a:latin typeface="Calibri"/>
                        </a:rPr>
                        <a:t>UK</a:t>
                      </a:r>
                    </a:p>
                  </a:txBody>
                  <a:tcPr marL="45720" marR="45720" marT="9144" marB="9144" anchor="ctr">
                    <a:noFill/>
                  </a:tcPr>
                </a:tc>
                <a:tc>
                  <a:txBody>
                    <a:bodyPr wrap="square"/>
                    <a:lstStyle/>
                    <a:p>
                      <a:pPr algn="l"/>
                      <a:r>
                        <a:rPr sz="950" b="0">
                          <a:solidFill>
                            <a:srgbClr val="202945"/>
                          </a:solidFill>
                          <a:latin typeface="Calibri"/>
                        </a:rPr>
                        <a:t>GB0002634946</a:t>
                      </a:r>
                    </a:p>
                  </a:txBody>
                  <a:tcPr marL="45720" marR="45720" marT="9144" marB="9144" anchor="ctr">
                    <a:noFill/>
                  </a:tcPr>
                </a:tc>
                <a:tc>
                  <a:txBody>
                    <a:bodyPr wrap="square"/>
                    <a:lstStyle/>
                    <a:p>
                      <a:pPr algn="l"/>
                      <a:r>
                        <a:rPr sz="950" b="0">
                          <a:solidFill>
                            <a:srgbClr val="202945"/>
                          </a:solidFill>
                          <a:latin typeface="Calibri"/>
                        </a:rPr>
                        <a:t>BAE SYSTEMS</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GB0008706128</a:t>
                      </a:r>
                    </a:p>
                  </a:txBody>
                  <a:tcPr marL="45720" marR="45720" marT="9144" marB="9144" anchor="ctr">
                    <a:noFill/>
                  </a:tcPr>
                </a:tc>
                <a:tc>
                  <a:txBody>
                    <a:bodyPr wrap="square"/>
                    <a:lstStyle/>
                    <a:p>
                      <a:pPr algn="l"/>
                      <a:r>
                        <a:rPr sz="950" b="0">
                          <a:solidFill>
                            <a:srgbClr val="202945"/>
                          </a:solidFill>
                          <a:latin typeface="Calibri"/>
                        </a:rPr>
                        <a:t>LLOYDS BANKING GROUP</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rowSpan="3">
                  <a:txBody>
                    <a:bodyPr wrap="square"/>
                    <a:lstStyle/>
                    <a:p>
                      <a:pPr algn="l"/>
                      <a:r>
                        <a:rPr sz="950" b="1">
                          <a:solidFill>
                            <a:srgbClr val="202945"/>
                          </a:solidFill>
                          <a:latin typeface="Calibri"/>
                        </a:rPr>
                        <a:t>Switzerland</a:t>
                      </a:r>
                    </a:p>
                  </a:txBody>
                  <a:tcPr marL="45720" marR="45720" marT="9144" marB="9144" anchor="ctr">
                    <a:noFill/>
                  </a:tcPr>
                </a:tc>
                <a:tc>
                  <a:txBody>
                    <a:bodyPr wrap="square"/>
                    <a:lstStyle/>
                    <a:p>
                      <a:pPr algn="l"/>
                      <a:r>
                        <a:rPr sz="950" b="0">
                          <a:solidFill>
                            <a:srgbClr val="202945"/>
                          </a:solidFill>
                          <a:latin typeface="Calibri"/>
                        </a:rPr>
                        <a:t>CH0017043958</a:t>
                      </a:r>
                    </a:p>
                  </a:txBody>
                  <a:tcPr marL="45720" marR="45720" marT="9144" marB="9144" anchor="ctr">
                    <a:noFill/>
                  </a:tcPr>
                </a:tc>
                <a:tc>
                  <a:txBody>
                    <a:bodyPr wrap="square"/>
                    <a:lstStyle/>
                    <a:p>
                      <a:pPr algn="l"/>
                      <a:r>
                        <a:rPr sz="950" b="0">
                          <a:solidFill>
                            <a:srgbClr val="202945"/>
                          </a:solidFill>
                          <a:latin typeface="Calibri"/>
                        </a:rPr>
                        <a:t>UBS(CH) EQ-SWISS INC CHFP</a:t>
                      </a:r>
                    </a:p>
                  </a:txBody>
                  <a:tcPr marL="45720" marR="45720" marT="9144" marB="9144" anchor="ctr">
                    <a:noFill/>
                  </a:tcPr>
                </a:tc>
                <a:tc>
                  <a:txBody>
                    <a:bodyPr wrap="square"/>
                    <a:lstStyle/>
                    <a:p>
                      <a:pPr algn="r"/>
                      <a:r>
                        <a:rPr sz="950" b="0">
                          <a:solidFill>
                            <a:srgbClr val="202945"/>
                          </a:solidFill>
                          <a:latin typeface="Calibri"/>
                        </a:rPr>
                        <a:t>2.8%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CH0011075394</a:t>
                      </a:r>
                    </a:p>
                  </a:txBody>
                  <a:tcPr marL="45720" marR="45720" marT="9144" marB="9144" anchor="ctr">
                    <a:noFill/>
                  </a:tcPr>
                </a:tc>
                <a:tc>
                  <a:txBody>
                    <a:bodyPr wrap="square"/>
                    <a:lstStyle/>
                    <a:p>
                      <a:pPr algn="l"/>
                      <a:r>
                        <a:rPr sz="950" b="0">
                          <a:solidFill>
                            <a:srgbClr val="202945"/>
                          </a:solidFill>
                          <a:latin typeface="Calibri"/>
                        </a:rPr>
                        <a:t>ZURICH INSURANCE GRP(NOM)</a:t>
                      </a:r>
                    </a:p>
                  </a:txBody>
                  <a:tcPr marL="45720" marR="45720" marT="9144" marB="9144" anchor="ctr">
                    <a:noFill/>
                  </a:tcPr>
                </a:tc>
                <a:tc>
                  <a:txBody>
                    <a:bodyPr wrap="square"/>
                    <a:lstStyle/>
                    <a:p>
                      <a:pPr algn="r"/>
                      <a:r>
                        <a:rPr sz="950" b="0">
                          <a:solidFill>
                            <a:srgbClr val="202945"/>
                          </a:solidFill>
                          <a:latin typeface="Calibri"/>
                        </a:rPr>
                        <a:t>2.0%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CH0008742519</a:t>
                      </a:r>
                    </a:p>
                  </a:txBody>
                  <a:tcPr marL="45720" marR="45720" marT="9144" marB="9144" anchor="ctr">
                    <a:noFill/>
                  </a:tcPr>
                </a:tc>
                <a:tc>
                  <a:txBody>
                    <a:bodyPr wrap="square"/>
                    <a:lstStyle/>
                    <a:p>
                      <a:pPr algn="l"/>
                      <a:r>
                        <a:rPr sz="950" b="0">
                          <a:solidFill>
                            <a:srgbClr val="202945"/>
                          </a:solidFill>
                          <a:latin typeface="Calibri"/>
                        </a:rPr>
                        <a:t>SWISSCOM (NOM)</a:t>
                      </a:r>
                    </a:p>
                  </a:txBody>
                  <a:tcPr marL="45720" marR="45720" marT="9144" marB="9144" anchor="ctr">
                    <a:noFill/>
                  </a:tcPr>
                </a:tc>
                <a:tc>
                  <a:txBody>
                    <a:bodyPr wrap="square"/>
                    <a:lstStyle/>
                    <a:p>
                      <a:pPr algn="r"/>
                      <a:r>
                        <a:rPr sz="950" b="0">
                          <a:solidFill>
                            <a:srgbClr val="202945"/>
                          </a:solidFill>
                          <a:latin typeface="Calibri"/>
                        </a:rPr>
                        <a:t>1.6%</a:t>
                      </a:r>
                    </a:p>
                  </a:txBody>
                  <a:tcPr marL="45720" marR="45720" marT="9144" marB="9144" anchor="ctr">
                    <a:noFill/>
                  </a:tcPr>
                </a:tc>
              </a:tr>
            </a:tbl>
          </a:graphicData>
        </a:graphic>
      </p:graphicFrame>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Portfolio overview</a:t>
            </a:r>
          </a:p>
        </p:txBody>
      </p:sp>
      <p:sp>
        <p:nvSpPr>
          <p:cNvPr id="3" name="Text Placeholder 2"/>
          <p:cNvSpPr>
            <a:spLocks noGrp="1"/>
          </p:cNvSpPr>
          <p:nvPr>
            <p:ph type="body" sz="quarter" idx="14"/>
          </p:nvPr>
        </p:nvSpPr>
        <p:spPr>
          <a:xfrm>
            <a:off x="665163" y="1645085"/>
            <a:ext cx="9398001" cy="251511"/>
          </a:xfrm>
        </p:spPr>
        <p:txBody>
          <a:bodyPr/>
          <a:lstStyle/>
          <a:p>
            <a:r>
              <a:rPr lang="en-US" sz="1400" noProof="0" dirty="0"/>
              <a:t>A consolidated view of the portfolio as at the statement date.</a:t>
            </a:r>
          </a:p>
        </p:txBody>
      </p:sp>
      <p:sp>
        <p:nvSpPr>
          <p:cNvPr id="4" name="Rectangle 3"/>
          <p:cNvSpPr/>
          <p:nvPr/>
        </p:nvSpPr>
        <p:spPr>
          <a:xfrm>
            <a:off x="6660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EUR 21.3M</a:t>
            </a:r>
          </a:p>
          <a:p>
            <a:pPr algn="ctr"/>
            <a:r>
              <a:rPr lang="en-US" sz="1400" b="0" noProof="0" dirty="0">
                <a:solidFill>
                  <a:srgbClr val="202945"/>
                </a:solidFill>
                <a:latin typeface="Nunito Sans"/>
              </a:rPr>
              <a:t>Total value</a:t>
            </a:r>
          </a:p>
        </p:txBody>
      </p:sp>
      <p:sp>
        <p:nvSpPr>
          <p:cNvPr id="5" name="Rectangle 4"/>
          <p:cNvSpPr/>
          <p:nvPr/>
        </p:nvSpPr>
        <p:spPr>
          <a:xfrm>
            <a:off x="25668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68</a:t>
            </a:r>
          </a:p>
          <a:p>
            <a:pPr algn="ctr"/>
            <a:r>
              <a:rPr lang="en-US" sz="1400" b="0" noProof="0" dirty="0">
                <a:solidFill>
                  <a:srgbClr val="202945"/>
                </a:solidFill>
                <a:latin typeface="Nunito Sans"/>
              </a:rPr>
              <a:t>Positions</a:t>
            </a:r>
          </a:p>
        </p:txBody>
      </p:sp>
      <p:sp>
        <p:nvSpPr>
          <p:cNvPr id="6" name="Rectangle 5"/>
          <p:cNvSpPr/>
          <p:nvPr/>
        </p:nvSpPr>
        <p:spPr>
          <a:xfrm>
            <a:off x="44676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20.1%</a:t>
            </a:r>
          </a:p>
          <a:p>
            <a:pPr algn="ctr"/>
            <a:r>
              <a:rPr lang="en-US" sz="1400" b="0" noProof="0" dirty="0">
                <a:solidFill>
                  <a:srgbClr val="202945"/>
                </a:solidFill>
                <a:latin typeface="Nunito Sans"/>
              </a:rPr>
              <a:t>Largest position</a:t>
            </a:r>
          </a:p>
        </p:txBody>
      </p:sp>
      <p:sp>
        <p:nvSpPr>
          <p:cNvPr id="7" name="Rectangle 6"/>
          <p:cNvSpPr/>
          <p:nvPr/>
        </p:nvSpPr>
        <p:spPr>
          <a:xfrm>
            <a:off x="63684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83.7%</a:t>
            </a:r>
          </a:p>
          <a:p>
            <a:pPr algn="ctr"/>
            <a:r>
              <a:rPr lang="en-US" sz="1400" b="0" noProof="0" dirty="0">
                <a:solidFill>
                  <a:srgbClr val="202945"/>
                </a:solidFill>
                <a:latin typeface="Nunito Sans"/>
              </a:rPr>
              <a:t>Liquid share</a:t>
            </a:r>
          </a:p>
        </p:txBody>
      </p:sp>
      <p:sp>
        <p:nvSpPr>
          <p:cNvPr id="8" name="Rectangle 7"/>
          <p:cNvSpPr/>
          <p:nvPr/>
        </p:nvSpPr>
        <p:spPr>
          <a:xfrm>
            <a:off x="8269200" y="2412000"/>
            <a:ext cx="1792800" cy="1007999"/>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0.4%</a:t>
            </a:r>
          </a:p>
          <a:p>
            <a:pPr algn="ctr"/>
            <a:r>
              <a:rPr lang="en-US" sz="1400" b="0" noProof="0" dirty="0">
                <a:solidFill>
                  <a:srgbClr val="202945"/>
                </a:solidFill>
                <a:latin typeface="Nunito Sans"/>
              </a:rPr>
              <a:t>Running yield</a:t>
            </a:r>
          </a:p>
        </p:txBody>
      </p:sp>
      <p:sp>
        <p:nvSpPr>
          <p:cNvPr id="10" name="Rectangle 9"/>
          <p:cNvSpPr/>
          <p:nvPr/>
        </p:nvSpPr>
        <p:spPr>
          <a:xfrm>
            <a:off x="665163" y="4031999"/>
            <a:ext cx="9402762" cy="2591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1" name="Chart 10"/>
          <p:cNvGraphicFramePr>
            <a:graphicFrameLocks noGrp="1"/>
          </p:cNvGraphicFramePr>
          <p:nvPr>
            <p:extLst>
              <p:ext uri="{D42A27DB-BD31-4B8C-83A1-F6EECF244321}">
                <p14:modId xmlns:p14="http://schemas.microsoft.com/office/powerpoint/2010/main" val="2148443508"/>
              </p:ext>
            </p:extLst>
          </p:nvPr>
        </p:nvGraphicFramePr>
        <p:xfrm>
          <a:off x="665163" y="4139676"/>
          <a:ext cx="5040000" cy="2231999"/>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2 of 23 fixed-income line(s) report no modified duration; portfolio duration reflects the 85% of the sleeve that does.</a:t>
            </a:r>
          </a:p>
        </p:txBody>
      </p:sp>
      <p:graphicFrame>
        <p:nvGraphicFramePr>
          <p:cNvPr id="15" name="Chart 14">
            <a:extLst>
              <a:ext uri="{FF2B5EF4-FFF2-40B4-BE49-F238E27FC236}">
                <a16:creationId xmlns:a16="http://schemas.microsoft.com/office/drawing/2014/main" id="{B9435713-E2C8-DCEF-CAD2-AB94539F1466}"/>
              </a:ext>
            </a:extLst>
          </p:cNvPr>
          <p:cNvGraphicFramePr>
            <a:graphicFrameLocks noGrp="1"/>
          </p:cNvGraphicFramePr>
          <p:nvPr>
            <p:extLst>
              <p:ext uri="{D42A27DB-BD31-4B8C-83A1-F6EECF244321}">
                <p14:modId xmlns:p14="http://schemas.microsoft.com/office/powerpoint/2010/main" val="2044145011"/>
              </p:ext>
            </p:extLst>
          </p:nvPr>
        </p:nvGraphicFramePr>
        <p:xfrm>
          <a:off x="5881036" y="4176349"/>
          <a:ext cx="4165388" cy="2232000"/>
        </p:xfrm>
        <a:graphic>
          <a:graphicData uri="http://schemas.openxmlformats.org/drawingml/2006/chart">
            <c:chart xmlns:c="http://schemas.openxmlformats.org/drawingml/2006/chart" xmlns:r="http://schemas.openxmlformats.org/officeDocument/2006/relationships" r:id="rId3"/>
          </a:graphicData>
        </a:graphic>
      </p:graphicFrame>
      <p:sp>
        <p:nvSpPr>
          <p:cNvPr id="16" name="TextBox 8"/>
          <p:cNvSpPr txBox="1"/>
          <p:nvPr/>
        </p:nvSpPr>
        <p:spPr>
          <a:xfrm>
            <a:off x="9900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Allocation by
asset class</a:t>
            </a:r>
          </a:p>
        </p:txBody>
      </p:sp>
      <p:sp>
        <p:nvSpPr>
          <p:cNvPr id="17" name="TextBox 16"/>
          <p:cNvSpPr txBox="1"/>
          <p:nvPr/>
        </p:nvSpPr>
        <p:spPr>
          <a:xfrm>
            <a:off x="5943600" y="5007600"/>
            <a:ext cx="2378880" cy="500000"/>
          </a:xfrm>
          <a:prstGeom prst="rect">
            <a:avLst/>
          </a:prstGeom>
          <a:noFill/>
        </p:spPr>
        <p:txBody>
          <a:bodyPr wrap="square" anchor="ctr" lIns="0" rIns="0" tIns="0" bIns="0">
            <a:spAutoFit/>
          </a:bodyPr>
          <a:lstStyle/>
          <a:p>
            <a:pPr algn="ctr"/>
            <a:r>
              <a:rPr sz="1400" b="1">
                <a:solidFill>
                  <a:srgbClr val="202945"/>
                </a:solidFill>
                <a:latin typeface="Nunito Sans"/>
              </a:rPr>
              <a:t>Currency
exposure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5163" y="1032442"/>
            <a:ext cx="9398001" cy="477703"/>
          </a:xfrm>
        </p:spPr>
        <p:txBody>
          <a:bodyPr/>
          <a:lstStyle/>
          <a:p>
            <a:r>
              <a:rPr lang="en-US" noProof="0" dirty="0"/>
              <a:t>Geographic &amp; sector exposure</a:t>
            </a:r>
          </a:p>
        </p:txBody>
      </p:sp>
      <p:sp>
        <p:nvSpPr>
          <p:cNvPr id="3" name="Text Placeholder 2"/>
          <p:cNvSpPr>
            <a:spLocks noGrp="1"/>
          </p:cNvSpPr>
          <p:nvPr>
            <p:ph type="body" sz="quarter" idx="14"/>
          </p:nvPr>
        </p:nvSpPr>
        <p:spPr>
          <a:xfrm>
            <a:off x="665163" y="1652014"/>
            <a:ext cx="9398001" cy="251511"/>
          </a:xfrm>
        </p:spPr>
        <p:txBody>
          <a:bodyPr/>
          <a:lstStyle/>
          <a:p>
            <a:r>
              <a:rPr lang="en-US" sz="1400" noProof="0" dirty="0"/>
              <a:t>Regional and sector breakdown (look-through where available).</a:t>
            </a:r>
          </a:p>
        </p:txBody>
      </p:sp>
      <p:sp>
        <p:nvSpPr>
          <p:cNvPr id="4" name="TextBox 3"/>
          <p:cNvSpPr txBox="1"/>
          <p:nvPr/>
        </p:nvSpPr>
        <p:spPr>
          <a:xfrm>
            <a:off x="666000" y="2340000"/>
            <a:ext cx="4608000" cy="307777"/>
          </a:xfrm>
          <a:prstGeom prst="rect">
            <a:avLst/>
          </a:prstGeom>
          <a:noFill/>
        </p:spPr>
        <p:txBody>
          <a:bodyPr wrap="square" anchor="t">
            <a:spAutoFit/>
          </a:bodyPr>
          <a:lstStyle/>
          <a:p>
            <a:pPr algn="l"/>
            <a:r>
              <a:rPr lang="en-US" sz="1400" b="1" noProof="0" dirty="0">
                <a:solidFill>
                  <a:srgbClr val="202945"/>
                </a:solidFill>
                <a:latin typeface="Nunito Sans ExtraBold"/>
              </a:rPr>
              <a:t>Geographic exposure</a:t>
            </a:r>
          </a:p>
        </p:txBody>
      </p:sp>
      <p:sp>
        <p:nvSpPr>
          <p:cNvPr id="5" name="Rectangle 4"/>
          <p:cNvSpPr/>
          <p:nvPr/>
        </p:nvSpPr>
        <p:spPr>
          <a:xfrm>
            <a:off x="666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1791008276"/>
              </p:ext>
            </p:extLst>
          </p:nvPr>
        </p:nvGraphicFramePr>
        <p:xfrm>
          <a:off x="846000" y="2880000"/>
          <a:ext cx="4248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5418000" y="234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Sector exposure</a:t>
            </a:r>
          </a:p>
        </p:txBody>
      </p:sp>
      <p:sp>
        <p:nvSpPr>
          <p:cNvPr id="8" name="Rectangle 7"/>
          <p:cNvSpPr/>
          <p:nvPr/>
        </p:nvSpPr>
        <p:spPr>
          <a:xfrm>
            <a:off x="5418000" y="2700000"/>
            <a:ext cx="4608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9" name="Chart 8"/>
          <p:cNvGraphicFramePr>
            <a:graphicFrameLocks noGrp="1"/>
          </p:cNvGraphicFramePr>
          <p:nvPr>
            <p:extLst>
              <p:ext uri="{D42A27DB-BD31-4B8C-83A1-F6EECF244321}">
                <p14:modId xmlns:p14="http://schemas.microsoft.com/office/powerpoint/2010/main" val="477681824"/>
              </p:ext>
            </p:extLst>
          </p:nvPr>
        </p:nvGraphicFramePr>
        <p:xfrm>
          <a:off x="5598000" y="2880000"/>
          <a:ext cx="4248000" cy="338399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income-type specifics</a:t>
            </a:r>
          </a:p>
        </p:txBody>
      </p:sp>
      <p:sp>
        <p:nvSpPr>
          <p:cNvPr id="4" name="TextBox 3"/>
          <p:cNvSpPr txBox="1"/>
          <p:nvPr/>
        </p:nvSpPr>
        <p:spPr>
          <a:xfrm>
            <a:off x="666000" y="2160000"/>
            <a:ext cx="4536000" cy="324000"/>
          </a:xfrm>
          <a:prstGeom prst="rect">
            <a:avLst/>
          </a:prstGeom>
          <a:noFill/>
        </p:spPr>
        <p:txBody>
          <a:bodyPr wrap="square" lIns="0" anchor="t">
            <a:spAutoFit/>
          </a:bodyPr>
          <a:lstStyle/>
          <a:p>
            <a:pPr algn="l"/>
            <a:r>
              <a:rPr lang="en-US" sz="1500" b="1" noProof="0" dirty="0">
                <a:solidFill>
                  <a:srgbClr val="202945"/>
                </a:solidFill>
                <a:latin typeface="Nunito Sans ExtraBold"/>
              </a:rPr>
              <a:t>How this sleeve is built</a:t>
            </a:r>
          </a:p>
        </p:txBody>
      </p:sp>
      <p:sp>
        <p:nvSpPr>
          <p:cNvPr id="5" name="TextBox 4"/>
          <p:cNvSpPr txBox="1"/>
          <p:nvPr/>
        </p:nvSpPr>
        <p:spPr>
          <a:xfrm>
            <a:off x="666000" y="2520000"/>
            <a:ext cx="4536000" cy="1200329"/>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Fixed Income diversification: a mix of government bonds, high-quality corporate bonds and higher-yielding instruments (emerging-market debt, subordinated financial debt). Higher-yielding exposure is accessed through collective vehicles for diversification. The sleeve is designed for stability, regular income and capital preservation.</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24000"/>
          </a:xfrm>
          <a:prstGeom prst="rect">
            <a:avLst/>
          </a:prstGeom>
          <a:noFill/>
        </p:spPr>
        <p:txBody>
          <a:bodyPr wrap="square" anchor="t">
            <a:spAutoFit/>
          </a:bodyPr>
          <a:lstStyle/>
          <a:p>
            <a:pPr algn="l"/>
            <a:r>
              <a:rPr lang="en-US" sz="1500" b="1" noProof="0" dirty="0">
                <a:solidFill>
                  <a:srgbClr val="202945"/>
                </a:solidFill>
                <a:latin typeface="Nunito Sans ExtraBold"/>
              </a:rPr>
              <a:t>Fixed Income across investment vehicles</a:t>
            </a:r>
          </a:p>
        </p:txBody>
      </p:sp>
      <p:sp>
        <p:nvSpPr>
          <p:cNvPr id="9" name="Rectangle 8"/>
          <p:cNvSpPr/>
          <p:nvPr/>
        </p:nvSpPr>
        <p:spPr>
          <a:xfrm>
            <a:off x="5418000" y="2481500"/>
            <a:ext cx="4608000" cy="198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22184399"/>
              </p:ext>
            </p:extLst>
          </p:nvPr>
        </p:nvGraphicFramePr>
        <p:xfrm>
          <a:off x="5598000" y="2700001"/>
          <a:ext cx="4219768" cy="1717028"/>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Duration coverage: 11 of 15 fixed-income line(s) report a modified duration; portfolio duration reflects only those.</a:t>
            </a:r>
          </a:p>
        </p:txBody>
      </p:sp>
      <p:grpSp>
        <p:nvGrpSpPr>
          <p:cNvPr id="14" name="Group 13">
            <a:extLst>
              <a:ext uri="{FF2B5EF4-FFF2-40B4-BE49-F238E27FC236}">
                <a16:creationId xmlns:a16="http://schemas.microsoft.com/office/drawing/2014/main" id="{56DA9580-A6B6-4071-E04D-2AAD7BD991A8}"/>
              </a:ext>
            </a:extLst>
          </p:cNvPr>
          <p:cNvGrpSpPr/>
          <p:nvPr/>
        </p:nvGrpSpPr>
        <p:grpSpPr>
          <a:xfrm>
            <a:off x="9966508" y="935038"/>
            <a:ext cx="540000" cy="540000"/>
            <a:chOff x="9862599" y="872588"/>
            <a:chExt cx="540000" cy="540000"/>
          </a:xfrm>
        </p:grpSpPr>
        <p:pic>
          <p:nvPicPr>
            <p:cNvPr id="13" name="Graphic 12" descr="Greek Pillar with solid fill">
              <a:extLst>
                <a:ext uri="{FF2B5EF4-FFF2-40B4-BE49-F238E27FC236}">
                  <a16:creationId xmlns:a16="http://schemas.microsoft.com/office/drawing/2014/main" id="{681C4647-5113-C638-FCCD-A70F7003E50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11195" y="935038"/>
              <a:ext cx="442808" cy="442808"/>
            </a:xfrm>
            <a:prstGeom prst="rect">
              <a:avLst/>
            </a:prstGeom>
          </p:spPr>
        </p:pic>
        <p:sp>
          <p:nvSpPr>
            <p:cNvPr id="3" name="Oval 2">
              <a:extLst>
                <a:ext uri="{FF2B5EF4-FFF2-40B4-BE49-F238E27FC236}">
                  <a16:creationId xmlns:a16="http://schemas.microsoft.com/office/drawing/2014/main" id="{92FC80C9-F3B5-588D-5159-77C7ABDCF4F4}"/>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graphicFrame>
        <p:nvGraphicFramePr>
          <p:cNvPr id="15" name="Table 14"/>
          <p:cNvGraphicFramePr>
            <a:graphicFrameLocks noGrp="1"/>
          </p:cNvGraphicFramePr>
          <p:nvPr/>
        </p:nvGraphicFramePr>
        <p:xfrm>
          <a:off x="666000" y="4860000"/>
          <a:ext cx="9396000" cy="1879200"/>
        </p:xfrm>
        <a:graphic>
          <a:graphicData uri="http://schemas.openxmlformats.org/drawingml/2006/table">
            <a:tbl>
              <a:tblPr firstRow="1" bandRow="1">
                <a:tableStyleId>{5C22544A-7EE6-4342-B048-85BDC9FD1C3A}</a:tableStyleId>
              </a:tblPr>
              <a:tblGrid>
                <a:gridCol w="4322160"/>
                <a:gridCol w="1691280"/>
                <a:gridCol w="1315440"/>
                <a:gridCol w="2067120"/>
              </a:tblGrid>
              <a:tr h="313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313200">
                <a:tc>
                  <a:txBody>
                    <a:bodyPr wrap="square"/>
                    <a:lstStyle/>
                    <a:p>
                      <a:pPr algn="l"/>
                      <a:r>
                        <a:rPr sz="900" b="0">
                          <a:solidFill>
                            <a:srgbClr val="202945"/>
                          </a:solidFill>
                        </a:rPr>
                        <a:t>SYZ EM BONDS CERTIFICATE</a:t>
                      </a:r>
                    </a:p>
                  </a:txBody>
                  <a:tcPr marL="45720" marR="45720" anchor="ctr">
                    <a:noFill/>
                  </a:tcPr>
                </a:tc>
                <a:tc>
                  <a:txBody>
                    <a:bodyPr wrap="square"/>
                    <a:lstStyle/>
                    <a:p>
                      <a:pPr algn="l"/>
                      <a:r>
                        <a:rPr sz="900" b="0">
                          <a:solidFill>
                            <a:srgbClr val="202945"/>
                          </a:solidFill>
                        </a:rPr>
                        <a:t>USD 719k</a:t>
                      </a:r>
                    </a:p>
                  </a:txBody>
                  <a:tcPr marL="45720" marR="45720" anchor="ctr">
                    <a:noFill/>
                  </a:tcPr>
                </a:tc>
                <a:tc>
                  <a:txBody>
                    <a:bodyPr wrap="square"/>
                    <a:lstStyle/>
                    <a:p>
                      <a:pPr algn="r"/>
                      <a:r>
                        <a:rPr sz="900" b="0">
                          <a:solidFill>
                            <a:srgbClr val="202945"/>
                          </a:solidFill>
                        </a:rPr>
                        <a:t>2.9%</a:t>
                      </a:r>
                    </a:p>
                  </a:txBody>
                  <a:tcPr marL="45720" marR="45720" anchor="ctr">
                    <a:noFill/>
                  </a:tcPr>
                </a:tc>
                <a:tc>
                  <a:txBody>
                    <a:bodyPr wrap="square"/>
                    <a:lstStyle/>
                    <a:p>
                      <a:pPr algn="r"/>
                      <a:r>
                        <a:rPr sz="900" b="0">
                          <a:solidFill>
                            <a:srgbClr val="202945"/>
                          </a:solidFill>
                        </a:rPr>
                        <a:t>—</a:t>
                      </a:r>
                    </a:p>
                  </a:txBody>
                  <a:tcPr marL="45720" marR="45720" anchor="ctr">
                    <a:noFill/>
                  </a:tcPr>
                </a:tc>
              </a:tr>
              <a:tr h="313200">
                <a:tc>
                  <a:txBody>
                    <a:bodyPr wrap="square"/>
                    <a:lstStyle/>
                    <a:p>
                      <a:pPr algn="l"/>
                      <a:r>
                        <a:rPr sz="900" b="0">
                          <a:solidFill>
                            <a:srgbClr val="202945"/>
                          </a:solidFill>
                        </a:rPr>
                        <a:t>STORM II BOND RC EUR</a:t>
                      </a:r>
                    </a:p>
                  </a:txBody>
                  <a:tcPr marL="45720" marR="45720" anchor="ctr">
                    <a:noFill/>
                  </a:tcPr>
                </a:tc>
                <a:tc>
                  <a:txBody>
                    <a:bodyPr wrap="square"/>
                    <a:lstStyle/>
                    <a:p>
                      <a:pPr algn="l"/>
                      <a:r>
                        <a:rPr sz="900" b="0">
                          <a:solidFill>
                            <a:srgbClr val="202945"/>
                          </a:solidFill>
                        </a:rPr>
                        <a:t>EUR 465k</a:t>
                      </a:r>
                    </a:p>
                  </a:txBody>
                  <a:tcPr marL="45720" marR="45720" anchor="ctr">
                    <a:noFill/>
                  </a:tcPr>
                </a:tc>
                <a:tc>
                  <a:txBody>
                    <a:bodyPr wrap="square"/>
                    <a:lstStyle/>
                    <a:p>
                      <a:pPr algn="r"/>
                      <a:r>
                        <a:rPr sz="900" b="0">
                          <a:solidFill>
                            <a:srgbClr val="202945"/>
                          </a:solidFill>
                        </a:rPr>
                        <a:t>2.2%</a:t>
                      </a:r>
                    </a:p>
                  </a:txBody>
                  <a:tcPr marL="45720" marR="45720" anchor="ctr">
                    <a:noFill/>
                  </a:tcPr>
                </a:tc>
                <a:tc>
                  <a:txBody>
                    <a:bodyPr wrap="square"/>
                    <a:lstStyle/>
                    <a:p>
                      <a:pPr algn="r"/>
                      <a:r>
                        <a:rPr sz="900" b="0">
                          <a:solidFill>
                            <a:srgbClr val="202945"/>
                          </a:solidFill>
                        </a:rPr>
                        <a:t>—</a:t>
                      </a:r>
                    </a:p>
                  </a:txBody>
                  <a:tcPr marL="45720" marR="45720" anchor="ctr">
                    <a:noFill/>
                  </a:tcPr>
                </a:tc>
              </a:tr>
              <a:tr h="313200">
                <a:tc>
                  <a:txBody>
                    <a:bodyPr wrap="square"/>
                    <a:lstStyle/>
                    <a:p>
                      <a:pPr algn="l"/>
                      <a:r>
                        <a:rPr sz="900" b="0">
                          <a:solidFill>
                            <a:srgbClr val="202945"/>
                          </a:solidFill>
                        </a:rPr>
                        <a:t>2.53% Fid. 17.08.2026 - 19.10.2026 QATAR NATIONAL BANK - DOHA No. 263303</a:t>
                      </a:r>
                    </a:p>
                  </a:txBody>
                  <a:tcPr marL="45720" marR="45720" anchor="ctr">
                    <a:noFill/>
                  </a:tcPr>
                </a:tc>
                <a:tc>
                  <a:txBody>
                    <a:bodyPr wrap="square"/>
                    <a:lstStyle/>
                    <a:p>
                      <a:pPr algn="l"/>
                      <a:r>
                        <a:rPr sz="900" b="0">
                          <a:solidFill>
                            <a:srgbClr val="202945"/>
                          </a:solidFill>
                        </a:rPr>
                        <a:t>EUR 320k</a:t>
                      </a:r>
                    </a:p>
                  </a:txBody>
                  <a:tcPr marL="45720" marR="45720" anchor="ctr">
                    <a:noFill/>
                  </a:tcPr>
                </a:tc>
                <a:tc>
                  <a:txBody>
                    <a:bodyPr wrap="square"/>
                    <a:lstStyle/>
                    <a:p>
                      <a:pPr algn="r"/>
                      <a:r>
                        <a:rPr sz="900" b="0">
                          <a:solidFill>
                            <a:srgbClr val="202945"/>
                          </a:solidFill>
                        </a:rPr>
                        <a:t>1.5%</a:t>
                      </a:r>
                    </a:p>
                  </a:txBody>
                  <a:tcPr marL="45720" marR="45720" anchor="ctr">
                    <a:noFill/>
                  </a:tcPr>
                </a:tc>
                <a:tc>
                  <a:txBody>
                    <a:bodyPr wrap="square"/>
                    <a:lstStyle/>
                    <a:p>
                      <a:pPr algn="r"/>
                      <a:r>
                        <a:rPr sz="900" b="0">
                          <a:solidFill>
                            <a:srgbClr val="202945"/>
                          </a:solidFill>
                        </a:rPr>
                        <a:t>2.53%</a:t>
                      </a:r>
                    </a:p>
                  </a:txBody>
                  <a:tcPr marL="45720" marR="45720" anchor="ctr">
                    <a:noFill/>
                  </a:tcPr>
                </a:tc>
              </a:tr>
              <a:tr h="313200">
                <a:tc>
                  <a:txBody>
                    <a:bodyPr wrap="square"/>
                    <a:lstStyle/>
                    <a:p>
                      <a:pPr algn="l"/>
                      <a:r>
                        <a:rPr sz="900" b="0">
                          <a:solidFill>
                            <a:srgbClr val="202945"/>
                          </a:solidFill>
                        </a:rPr>
                        <a:t>3.5% GOLDMAN SACHS JAN33  23.01.2033</a:t>
                      </a:r>
                    </a:p>
                  </a:txBody>
                  <a:tcPr marL="45720" marR="45720" anchor="ctr">
                    <a:noFill/>
                  </a:tcPr>
                </a:tc>
                <a:tc>
                  <a:txBody>
                    <a:bodyPr wrap="square"/>
                    <a:lstStyle/>
                    <a:p>
                      <a:pPr algn="l"/>
                      <a:r>
                        <a:rPr sz="900" b="0">
                          <a:solidFill>
                            <a:srgbClr val="202945"/>
                          </a:solidFill>
                        </a:rPr>
                        <a:t>EUR 201k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3.82%</a:t>
                      </a:r>
                    </a:p>
                  </a:txBody>
                  <a:tcPr marL="45720" marR="45720" anchor="ctr">
                    <a:noFill/>
                  </a:tcPr>
                </a:tc>
              </a:tr>
              <a:tr h="313200">
                <a:tc>
                  <a:txBody>
                    <a:bodyPr wrap="square"/>
                    <a:lstStyle/>
                    <a:p>
                      <a:pPr algn="l"/>
                      <a:r>
                        <a:rPr sz="900" b="0">
                          <a:solidFill>
                            <a:srgbClr val="202945"/>
                          </a:solidFill>
                        </a:rPr>
                        <a:t>3.5% VONOVIA NOV32  12.11.2032</a:t>
                      </a:r>
                    </a:p>
                  </a:txBody>
                  <a:tcPr marL="45720" marR="45720" anchor="ctr">
                    <a:noFill/>
                  </a:tcPr>
                </a:tc>
                <a:tc>
                  <a:txBody>
                    <a:bodyPr wrap="square"/>
                    <a:lstStyle/>
                    <a:p>
                      <a:pPr algn="l"/>
                      <a:r>
                        <a:rPr sz="900" b="0">
                          <a:solidFill>
                            <a:srgbClr val="202945"/>
                          </a:solidFill>
                        </a:rPr>
                        <a:t>EUR 200k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4.00%</a:t>
                      </a:r>
                    </a:p>
                  </a:txBody>
                  <a:tcPr marL="45720" marR="45720" anchor="ctr">
                    <a:noFill/>
                  </a:tcPr>
                </a:tc>
              </a:tr>
            </a:tbl>
          </a:graphicData>
        </a:graphic>
      </p:graphicFrame>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Fixed Income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400">
                <a:solidFill>
                  <a:srgbClr val="3C445D"/>
                </a:solidFill>
                <a:latin typeface="Nunito" pitchFamily="34" charset="0"/>
                <a:ea typeface="Nunito" pitchFamily="34" charset="-122"/>
                <a:cs typeface="Nunito" pitchFamily="34" charset="-120"/>
              </a:rPr>
              <a:t>Proposed bond selection: 7 issues, EUR 700,000, equally weighted at EUR 100,000 each.</a:t>
            </a:r>
            <a:endParaRPr lang="en-US" sz="1400"/>
          </a:p>
        </p:txBody>
      </p:sp>
      <p:sp>
        <p:nvSpPr>
          <p:cNvPr id="4" name="Shape 2"/>
          <p:cNvSpPr/>
          <p:nvPr/>
        </p:nvSpPr>
        <p:spPr>
          <a:xfrm>
            <a:off x="671062" y="2161791"/>
            <a:ext cx="9350385" cy="4707183"/>
          </a:xfrm>
          <a:prstGeom prst="roundRect">
            <a:avLst>
              <a:gd name="adj" fmla="val 777"/>
            </a:avLst>
          </a:prstGeom>
          <a:noFill/>
          <a:ln w="12700">
            <a:solidFill>
              <a:srgbClr val="FAFAFB"/>
            </a:solidFill>
            <a:prstDash val="solid"/>
          </a:ln>
          <a:effectLst/>
        </p:spPr>
        <p:txBody>
          <a:bodyPr/>
          <a:lstStyle/>
          <a:p>
            <a:endParaRPr lang="en-CH"/>
          </a:p>
        </p:txBody>
      </p:sp>
      <p:sp>
        <p:nvSpPr>
          <p:cNvPr id="5" name="Text 3"/>
          <p:cNvSpPr/>
          <p:nvPr/>
        </p:nvSpPr>
        <p:spPr>
          <a:xfrm>
            <a:off x="872146"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700527141"/>
              </p:ext>
            </p:extLst>
          </p:nvPr>
        </p:nvGraphicFramePr>
        <p:xfrm>
          <a:off x="826445" y="2604945"/>
          <a:ext cx="1690930" cy="169093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2727599" y="2678067"/>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2901262" y="260037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States   14.3%</a:t>
            </a:r>
            <a:endParaRPr lang="en-US" sz="1200"/>
          </a:p>
        </p:txBody>
      </p:sp>
      <p:sp>
        <p:nvSpPr>
          <p:cNvPr id="9" name="Shape 6"/>
          <p:cNvSpPr/>
          <p:nvPr/>
        </p:nvSpPr>
        <p:spPr>
          <a:xfrm>
            <a:off x="2727599" y="2961412"/>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2901262" y="288372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France   14.3%</a:t>
            </a:r>
            <a:endParaRPr lang="en-US" sz="1200"/>
          </a:p>
        </p:txBody>
      </p:sp>
      <p:sp>
        <p:nvSpPr>
          <p:cNvPr id="11" name="Shape 8"/>
          <p:cNvSpPr/>
          <p:nvPr/>
        </p:nvSpPr>
        <p:spPr>
          <a:xfrm>
            <a:off x="2727599" y="3244757"/>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2901262" y="3167065"/>
            <a:ext cx="2513544" cy="28334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Luxembourg   14.3%</a:t>
            </a:r>
            <a:endParaRPr lang="en-US" sz="1200" dirty="0"/>
          </a:p>
        </p:txBody>
      </p:sp>
      <p:sp>
        <p:nvSpPr>
          <p:cNvPr id="13" name="Shape 10"/>
          <p:cNvSpPr/>
          <p:nvPr/>
        </p:nvSpPr>
        <p:spPr>
          <a:xfrm>
            <a:off x="2727599" y="3528102"/>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2901262" y="345041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Ireland   14.3%</a:t>
            </a:r>
            <a:endParaRPr lang="en-US" sz="1200"/>
          </a:p>
        </p:txBody>
      </p:sp>
      <p:sp>
        <p:nvSpPr>
          <p:cNvPr id="15" name="Shape 12"/>
          <p:cNvSpPr/>
          <p:nvPr/>
        </p:nvSpPr>
        <p:spPr>
          <a:xfrm>
            <a:off x="2727599" y="3811447"/>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2901262" y="3733755"/>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Japan   14.3%</a:t>
            </a:r>
            <a:endParaRPr lang="en-US" sz="1200"/>
          </a:p>
        </p:txBody>
      </p:sp>
      <p:sp>
        <p:nvSpPr>
          <p:cNvPr id="17" name="Shape 14"/>
          <p:cNvSpPr/>
          <p:nvPr/>
        </p:nvSpPr>
        <p:spPr>
          <a:xfrm>
            <a:off x="2727599" y="4094792"/>
            <a:ext cx="95972" cy="95972"/>
          </a:xfrm>
          <a:prstGeom prst="rect">
            <a:avLst/>
          </a:prstGeom>
          <a:solidFill>
            <a:srgbClr val="9BA3B4"/>
          </a:solidFill>
          <a:ln w="12700">
            <a:solidFill>
              <a:srgbClr val="9BA3B4"/>
            </a:solidFill>
            <a:prstDash val="solid"/>
          </a:ln>
        </p:spPr>
        <p:txBody>
          <a:bodyPr/>
          <a:lstStyle/>
          <a:p>
            <a:endParaRPr lang="en-CH"/>
          </a:p>
        </p:txBody>
      </p:sp>
      <p:sp>
        <p:nvSpPr>
          <p:cNvPr id="18" name="Text 15"/>
          <p:cNvSpPr/>
          <p:nvPr/>
        </p:nvSpPr>
        <p:spPr>
          <a:xfrm>
            <a:off x="2901262" y="4017100"/>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United Kingdom   14.3%</a:t>
            </a:r>
            <a:endParaRPr lang="en-US" sz="1200"/>
          </a:p>
        </p:txBody>
      </p:sp>
      <p:sp>
        <p:nvSpPr>
          <p:cNvPr id="19" name="Text 16"/>
          <p:cNvSpPr/>
          <p:nvPr/>
        </p:nvSpPr>
        <p:spPr>
          <a:xfrm>
            <a:off x="5533628" y="228504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currency</a:t>
            </a:r>
          </a:p>
        </p:txBody>
      </p:sp>
      <p:graphicFrame>
        <p:nvGraphicFramePr>
          <p:cNvPr id="20" name="Chart 1"/>
          <p:cNvGraphicFramePr/>
          <p:nvPr>
            <p:extLst>
              <p:ext uri="{D42A27DB-BD31-4B8C-83A1-F6EECF244321}">
                <p14:modId xmlns:p14="http://schemas.microsoft.com/office/powerpoint/2010/main" val="3341096340"/>
              </p:ext>
            </p:extLst>
          </p:nvPr>
        </p:nvGraphicFramePr>
        <p:xfrm>
          <a:off x="5487927" y="2604945"/>
          <a:ext cx="1690930" cy="1690930"/>
        </p:xfrm>
        <a:graphic>
          <a:graphicData uri="http://schemas.openxmlformats.org/drawingml/2006/chart">
            <c:chart xmlns:c="http://schemas.openxmlformats.org/drawingml/2006/chart" xmlns:r="http://schemas.openxmlformats.org/officeDocument/2006/relationships" r:id="rId4"/>
          </a:graphicData>
        </a:graphic>
      </p:graphicFrame>
      <p:sp>
        <p:nvSpPr>
          <p:cNvPr id="21" name="Shape 17"/>
          <p:cNvSpPr/>
          <p:nvPr/>
        </p:nvSpPr>
        <p:spPr>
          <a:xfrm>
            <a:off x="7389081" y="3103084"/>
            <a:ext cx="95972" cy="95972"/>
          </a:xfrm>
          <a:prstGeom prst="rect">
            <a:avLst/>
          </a:prstGeom>
          <a:solidFill>
            <a:srgbClr val="FF6C0E"/>
          </a:solidFill>
          <a:ln w="12700">
            <a:solidFill>
              <a:srgbClr val="FF6C0E"/>
            </a:solidFill>
            <a:prstDash val="solid"/>
          </a:ln>
        </p:spPr>
        <p:txBody>
          <a:bodyPr/>
          <a:lstStyle/>
          <a:p>
            <a:endParaRPr lang="en-CH"/>
          </a:p>
        </p:txBody>
      </p:sp>
      <p:sp>
        <p:nvSpPr>
          <p:cNvPr id="22" name="Text 18"/>
          <p:cNvSpPr/>
          <p:nvPr/>
        </p:nvSpPr>
        <p:spPr>
          <a:xfrm>
            <a:off x="7562744" y="302539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EUR   85.7%</a:t>
            </a:r>
            <a:endParaRPr lang="en-US" sz="1200"/>
          </a:p>
        </p:txBody>
      </p:sp>
      <p:sp>
        <p:nvSpPr>
          <p:cNvPr id="23" name="Shape 19"/>
          <p:cNvSpPr/>
          <p:nvPr/>
        </p:nvSpPr>
        <p:spPr>
          <a:xfrm>
            <a:off x="7389081" y="3386429"/>
            <a:ext cx="95972" cy="95972"/>
          </a:xfrm>
          <a:prstGeom prst="rect">
            <a:avLst/>
          </a:prstGeom>
          <a:solidFill>
            <a:srgbClr val="FFC545"/>
          </a:solidFill>
          <a:ln w="12700">
            <a:solidFill>
              <a:srgbClr val="FFC545"/>
            </a:solidFill>
            <a:prstDash val="solid"/>
          </a:ln>
        </p:spPr>
        <p:txBody>
          <a:bodyPr/>
          <a:lstStyle/>
          <a:p>
            <a:endParaRPr lang="en-CH"/>
          </a:p>
        </p:txBody>
      </p:sp>
      <p:sp>
        <p:nvSpPr>
          <p:cNvPr id="24" name="Text 20"/>
          <p:cNvSpPr/>
          <p:nvPr/>
        </p:nvSpPr>
        <p:spPr>
          <a:xfrm>
            <a:off x="7562744" y="330873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Unknown   14.3%</a:t>
            </a:r>
            <a:endParaRPr lang="en-US" sz="1200"/>
          </a:p>
        </p:txBody>
      </p:sp>
      <p:sp>
        <p:nvSpPr>
          <p:cNvPr id="25" name="Shape 21"/>
          <p:cNvSpPr/>
          <p:nvPr/>
        </p:nvSpPr>
        <p:spPr>
          <a:xfrm>
            <a:off x="7389081" y="3669774"/>
            <a:ext cx="95972" cy="95972"/>
          </a:xfrm>
          <a:prstGeom prst="rect">
            <a:avLst/>
          </a:prstGeom>
          <a:solidFill>
            <a:srgbClr val="79D6FF"/>
          </a:solidFill>
          <a:ln w="12700">
            <a:solidFill>
              <a:srgbClr val="79D6FF"/>
            </a:solidFill>
            <a:prstDash val="solid"/>
          </a:ln>
        </p:spPr>
        <p:txBody>
          <a:bodyPr/>
          <a:lstStyle/>
          <a:p>
            <a:endParaRPr lang="en-CH"/>
          </a:p>
        </p:txBody>
      </p:sp>
      <p:sp>
        <p:nvSpPr>
          <p:cNvPr id="26" name="Text 22"/>
          <p:cNvSpPr/>
          <p:nvPr/>
        </p:nvSpPr>
        <p:spPr>
          <a:xfrm>
            <a:off x="7562744" y="359208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
            </a:r>
            <a:endParaRPr lang="en-US" sz="1200"/>
          </a:p>
        </p:txBody>
      </p:sp>
      <p:sp>
        <p:nvSpPr>
          <p:cNvPr id="27" name="Text 23"/>
          <p:cNvSpPr/>
          <p:nvPr/>
        </p:nvSpPr>
        <p:spPr>
          <a:xfrm>
            <a:off x="872146"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maturity</a:t>
            </a:r>
          </a:p>
        </p:txBody>
      </p:sp>
      <p:graphicFrame>
        <p:nvGraphicFramePr>
          <p:cNvPr id="28" name="Chart 2"/>
          <p:cNvGraphicFramePr/>
          <p:nvPr>
            <p:extLst>
              <p:ext uri="{D42A27DB-BD31-4B8C-83A1-F6EECF244321}">
                <p14:modId xmlns:p14="http://schemas.microsoft.com/office/powerpoint/2010/main" val="2538154021"/>
              </p:ext>
            </p:extLst>
          </p:nvPr>
        </p:nvGraphicFramePr>
        <p:xfrm>
          <a:off x="826445" y="4889986"/>
          <a:ext cx="1690930" cy="1690930"/>
        </p:xfrm>
        <a:graphic>
          <a:graphicData uri="http://schemas.openxmlformats.org/drawingml/2006/chart">
            <c:chart xmlns:c="http://schemas.openxmlformats.org/drawingml/2006/chart" xmlns:r="http://schemas.openxmlformats.org/officeDocument/2006/relationships" r:id="rId5"/>
          </a:graphicData>
        </a:graphic>
      </p:graphicFrame>
      <p:sp>
        <p:nvSpPr>
          <p:cNvPr id="29" name="Shape 24"/>
          <p:cNvSpPr/>
          <p:nvPr/>
        </p:nvSpPr>
        <p:spPr>
          <a:xfrm>
            <a:off x="2727599" y="5388124"/>
            <a:ext cx="95972" cy="95972"/>
          </a:xfrm>
          <a:prstGeom prst="rect">
            <a:avLst/>
          </a:prstGeom>
          <a:solidFill>
            <a:srgbClr val="FF6C0E"/>
          </a:solidFill>
          <a:ln w="12700">
            <a:solidFill>
              <a:srgbClr val="FF6C0E"/>
            </a:solidFill>
            <a:prstDash val="solid"/>
          </a:ln>
        </p:spPr>
        <p:txBody>
          <a:bodyPr/>
          <a:lstStyle/>
          <a:p>
            <a:endParaRPr lang="en-CH"/>
          </a:p>
        </p:txBody>
      </p:sp>
      <p:sp>
        <p:nvSpPr>
          <p:cNvPr id="30" name="Text 25"/>
          <p:cNvSpPr/>
          <p:nvPr/>
        </p:nvSpPr>
        <p:spPr>
          <a:xfrm>
            <a:off x="2901262"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3 - 5 years   57.1%</a:t>
            </a:r>
            <a:endParaRPr lang="en-US" sz="1200"/>
          </a:p>
        </p:txBody>
      </p:sp>
      <p:sp>
        <p:nvSpPr>
          <p:cNvPr id="31" name="Shape 26"/>
          <p:cNvSpPr/>
          <p:nvPr/>
        </p:nvSpPr>
        <p:spPr>
          <a:xfrm>
            <a:off x="2727599" y="5671469"/>
            <a:ext cx="95972" cy="95972"/>
          </a:xfrm>
          <a:prstGeom prst="rect">
            <a:avLst/>
          </a:prstGeom>
          <a:solidFill>
            <a:srgbClr val="FFC545"/>
          </a:solidFill>
          <a:ln w="12700">
            <a:solidFill>
              <a:srgbClr val="FFC545"/>
            </a:solidFill>
            <a:prstDash val="solid"/>
          </a:ln>
        </p:spPr>
        <p:txBody>
          <a:bodyPr/>
          <a:lstStyle/>
          <a:p>
            <a:endParaRPr lang="en-CH"/>
          </a:p>
        </p:txBody>
      </p:sp>
      <p:sp>
        <p:nvSpPr>
          <p:cNvPr id="32" name="Text 27"/>
          <p:cNvSpPr/>
          <p:nvPr/>
        </p:nvSpPr>
        <p:spPr>
          <a:xfrm>
            <a:off x="2901262"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5 - 7 years   14.3%</a:t>
            </a:r>
            <a:endParaRPr lang="en-US" sz="1200"/>
          </a:p>
        </p:txBody>
      </p:sp>
      <p:sp>
        <p:nvSpPr>
          <p:cNvPr id="33" name="Shape 28"/>
          <p:cNvSpPr/>
          <p:nvPr/>
        </p:nvSpPr>
        <p:spPr>
          <a:xfrm>
            <a:off x="2727599" y="5954814"/>
            <a:ext cx="95972" cy="95972"/>
          </a:xfrm>
          <a:prstGeom prst="rect">
            <a:avLst/>
          </a:prstGeom>
          <a:solidFill>
            <a:srgbClr val="79D6FF"/>
          </a:solidFill>
          <a:ln w="12700">
            <a:solidFill>
              <a:srgbClr val="79D6FF"/>
            </a:solidFill>
            <a:prstDash val="solid"/>
          </a:ln>
        </p:spPr>
        <p:txBody>
          <a:bodyPr/>
          <a:lstStyle/>
          <a:p>
            <a:endParaRPr lang="en-CH"/>
          </a:p>
        </p:txBody>
      </p:sp>
      <p:sp>
        <p:nvSpPr>
          <p:cNvPr id="34" name="Text 29"/>
          <p:cNvSpPr/>
          <p:nvPr/>
        </p:nvSpPr>
        <p:spPr>
          <a:xfrm>
            <a:off x="2901262"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0 - 3 years   14.3%</a:t>
            </a:r>
            <a:endParaRPr lang="en-US" sz="1200"/>
          </a:p>
        </p:txBody>
      </p:sp>
      <p:sp>
        <p:nvSpPr>
          <p:cNvPr id="35" name="Text 30"/>
          <p:cNvSpPr/>
          <p:nvPr/>
        </p:nvSpPr>
        <p:spPr>
          <a:xfrm>
            <a:off x="5533628" y="4570080"/>
            <a:ext cx="4021671" cy="274205"/>
          </a:xfrm>
          <a:prstGeom prst="rect">
            <a:avLst/>
          </a:prstGeom>
          <a:noFill/>
          <a:ln/>
        </p:spPr>
        <p:txBody>
          <a:bodyPr wrap="square" lIns="0" tIns="0" rIns="0" bIns="0" rtlCol="0" anchor="ctr"/>
          <a:lstStyle/>
          <a:p>
            <a:r>
              <a:rPr lang="en-US" sz="1400" b="1">
                <a:solidFill>
                  <a:srgbClr val="202945"/>
                </a:solidFill>
                <a:latin typeface="Nunito Sans ExtraBold"/>
              </a:rPr>
              <a:t>By credit quality</a:t>
            </a:r>
          </a:p>
        </p:txBody>
      </p:sp>
      <p:graphicFrame>
        <p:nvGraphicFramePr>
          <p:cNvPr id="36" name="Chart 3"/>
          <p:cNvGraphicFramePr/>
          <p:nvPr>
            <p:extLst>
              <p:ext uri="{D42A27DB-BD31-4B8C-83A1-F6EECF244321}">
                <p14:modId xmlns:p14="http://schemas.microsoft.com/office/powerpoint/2010/main" val="384069647"/>
              </p:ext>
            </p:extLst>
          </p:nvPr>
        </p:nvGraphicFramePr>
        <p:xfrm>
          <a:off x="5487927" y="4889986"/>
          <a:ext cx="1690930" cy="1690930"/>
        </p:xfrm>
        <a:graphic>
          <a:graphicData uri="http://schemas.openxmlformats.org/drawingml/2006/chart">
            <c:chart xmlns:c="http://schemas.openxmlformats.org/drawingml/2006/chart" xmlns:r="http://schemas.openxmlformats.org/officeDocument/2006/relationships" r:id="rId6"/>
          </a:graphicData>
        </a:graphic>
      </p:graphicFrame>
      <p:sp>
        <p:nvSpPr>
          <p:cNvPr id="37" name="Shape 31"/>
          <p:cNvSpPr/>
          <p:nvPr/>
        </p:nvSpPr>
        <p:spPr>
          <a:xfrm>
            <a:off x="7389081" y="5104779"/>
            <a:ext cx="95972" cy="95972"/>
          </a:xfrm>
          <a:prstGeom prst="rect">
            <a:avLst/>
          </a:prstGeom>
          <a:solidFill>
            <a:srgbClr val="FF6C0E"/>
          </a:solidFill>
          <a:ln w="12700">
            <a:solidFill>
              <a:srgbClr val="FF6C0E"/>
            </a:solidFill>
            <a:prstDash val="solid"/>
          </a:ln>
        </p:spPr>
        <p:txBody>
          <a:bodyPr/>
          <a:lstStyle/>
          <a:p>
            <a:endParaRPr lang="en-CH"/>
          </a:p>
        </p:txBody>
      </p:sp>
      <p:sp>
        <p:nvSpPr>
          <p:cNvPr id="38" name="Text 32"/>
          <p:cNvSpPr/>
          <p:nvPr/>
        </p:nvSpPr>
        <p:spPr>
          <a:xfrm>
            <a:off x="7562744" y="502708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28.6%</a:t>
            </a:r>
            <a:endParaRPr lang="en-US" sz="1200"/>
          </a:p>
        </p:txBody>
      </p:sp>
      <p:sp>
        <p:nvSpPr>
          <p:cNvPr id="39" name="Shape 33"/>
          <p:cNvSpPr/>
          <p:nvPr/>
        </p:nvSpPr>
        <p:spPr>
          <a:xfrm>
            <a:off x="7389081" y="5388124"/>
            <a:ext cx="95972" cy="95972"/>
          </a:xfrm>
          <a:prstGeom prst="rect">
            <a:avLst/>
          </a:prstGeom>
          <a:solidFill>
            <a:srgbClr val="FFC545"/>
          </a:solidFill>
          <a:ln w="12700">
            <a:solidFill>
              <a:srgbClr val="FFC545"/>
            </a:solidFill>
            <a:prstDash val="solid"/>
          </a:ln>
        </p:spPr>
        <p:txBody>
          <a:bodyPr/>
          <a:lstStyle/>
          <a:p>
            <a:endParaRPr lang="en-CH"/>
          </a:p>
        </p:txBody>
      </p:sp>
      <p:sp>
        <p:nvSpPr>
          <p:cNvPr id="40" name="Text 34"/>
          <p:cNvSpPr/>
          <p:nvPr/>
        </p:nvSpPr>
        <p:spPr>
          <a:xfrm>
            <a:off x="7562744" y="531043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14.3%</a:t>
            </a:r>
            <a:endParaRPr lang="en-US" sz="1200"/>
          </a:p>
        </p:txBody>
      </p:sp>
      <p:sp>
        <p:nvSpPr>
          <p:cNvPr id="41" name="Shape 35"/>
          <p:cNvSpPr/>
          <p:nvPr/>
        </p:nvSpPr>
        <p:spPr>
          <a:xfrm>
            <a:off x="7389081" y="5671469"/>
            <a:ext cx="95972" cy="95972"/>
          </a:xfrm>
          <a:prstGeom prst="rect">
            <a:avLst/>
          </a:prstGeom>
          <a:solidFill>
            <a:srgbClr val="79D6FF"/>
          </a:solidFill>
          <a:ln w="12700">
            <a:solidFill>
              <a:srgbClr val="79D6FF"/>
            </a:solidFill>
            <a:prstDash val="solid"/>
          </a:ln>
        </p:spPr>
        <p:txBody>
          <a:bodyPr/>
          <a:lstStyle/>
          <a:p>
            <a:endParaRPr lang="en-CH"/>
          </a:p>
        </p:txBody>
      </p:sp>
      <p:sp>
        <p:nvSpPr>
          <p:cNvPr id="42" name="Text 36"/>
          <p:cNvSpPr/>
          <p:nvPr/>
        </p:nvSpPr>
        <p:spPr>
          <a:xfrm>
            <a:off x="7562744" y="559377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A+   14.3%</a:t>
            </a:r>
            <a:endParaRPr lang="en-US" sz="1200"/>
          </a:p>
        </p:txBody>
      </p:sp>
      <p:sp>
        <p:nvSpPr>
          <p:cNvPr id="43" name="Shape 37"/>
          <p:cNvSpPr/>
          <p:nvPr/>
        </p:nvSpPr>
        <p:spPr>
          <a:xfrm>
            <a:off x="7389081" y="5954814"/>
            <a:ext cx="95972" cy="95972"/>
          </a:xfrm>
          <a:prstGeom prst="rect">
            <a:avLst/>
          </a:prstGeom>
          <a:solidFill>
            <a:srgbClr val="202945"/>
          </a:solidFill>
          <a:ln w="12700">
            <a:solidFill>
              <a:srgbClr val="202945"/>
            </a:solidFill>
            <a:prstDash val="solid"/>
          </a:ln>
        </p:spPr>
        <p:txBody>
          <a:bodyPr/>
          <a:lstStyle/>
          <a:p>
            <a:endParaRPr lang="en-CH"/>
          </a:p>
        </p:txBody>
      </p:sp>
      <p:sp>
        <p:nvSpPr>
          <p:cNvPr id="44" name="Text 38"/>
          <p:cNvSpPr/>
          <p:nvPr/>
        </p:nvSpPr>
        <p:spPr>
          <a:xfrm>
            <a:off x="7562744" y="5877123"/>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BBB   14.3%</a:t>
            </a:r>
            <a:endParaRPr lang="en-US" sz="1200"/>
          </a:p>
        </p:txBody>
      </p:sp>
      <p:sp>
        <p:nvSpPr>
          <p:cNvPr id="45" name="Shape 39"/>
          <p:cNvSpPr/>
          <p:nvPr/>
        </p:nvSpPr>
        <p:spPr>
          <a:xfrm>
            <a:off x="7389081" y="6238159"/>
            <a:ext cx="95972" cy="95972"/>
          </a:xfrm>
          <a:prstGeom prst="rect">
            <a:avLst/>
          </a:prstGeom>
          <a:solidFill>
            <a:srgbClr val="3BAF90"/>
          </a:solidFill>
          <a:ln w="12700">
            <a:solidFill>
              <a:srgbClr val="3BAF90"/>
            </a:solidFill>
            <a:prstDash val="solid"/>
          </a:ln>
        </p:spPr>
        <p:txBody>
          <a:bodyPr/>
          <a:lstStyle/>
          <a:p>
            <a:endParaRPr lang="en-CH"/>
          </a:p>
        </p:txBody>
      </p:sp>
      <p:sp>
        <p:nvSpPr>
          <p:cNvPr id="46" name="Text 40"/>
          <p:cNvSpPr/>
          <p:nvPr/>
        </p:nvSpPr>
        <p:spPr>
          <a:xfrm>
            <a:off x="7562744" y="6160468"/>
            <a:ext cx="2513544" cy="283345"/>
          </a:xfrm>
          <a:prstGeom prst="rect">
            <a:avLst/>
          </a:prstGeom>
          <a:noFill/>
          <a:ln/>
        </p:spPr>
        <p:txBody>
          <a:bodyPr wrap="square" lIns="0" tIns="0" rIns="0" bIns="0" rtlCol="0" anchor="ctr"/>
          <a:lstStyle/>
          <a:p>
            <a:r>
              <a:rPr lang="en-US" sz="1200">
                <a:solidFill>
                  <a:srgbClr val="3C445D"/>
                </a:solidFill>
                <a:latin typeface="Nunito" pitchFamily="34" charset="0"/>
                <a:ea typeface="Nunito" pitchFamily="34" charset="-122"/>
                <a:cs typeface="Nunito" pitchFamily="34" charset="-120"/>
              </a:rPr>
              <a:t>BB+   14.3%</a:t>
            </a:r>
            <a:endParaRPr lang="en-US" sz="1200"/>
          </a:p>
        </p:txBody>
      </p:sp>
      <p:sp>
        <p:nvSpPr>
          <p:cNvPr id="47" name="Text 41"/>
          <p:cNvSpPr/>
          <p:nvPr/>
        </p:nvSpPr>
        <p:spPr>
          <a:xfrm>
            <a:off x="671062" y="6964802"/>
            <a:ext cx="8774555" cy="228504"/>
          </a:xfrm>
          <a:prstGeom prst="rect">
            <a:avLst/>
          </a:prstGeom>
          <a:noFill/>
          <a:ln/>
        </p:spPr>
        <p:txBody>
          <a:bodyPr wrap="square" lIns="0" tIns="0" rIns="0" bIns="0" rtlCol="0" anchor="ctr"/>
          <a:lstStyle/>
          <a:p>
            <a:r>
              <a:rPr lang="en-US" sz="900">
                <a:solidFill>
                  <a:srgbClr val="A8B0BF"/>
                </a:solidFill>
                <a:latin typeface="Nunito" pitchFamily="34" charset="0"/>
                <a:ea typeface="Nunito" pitchFamily="34" charset="-122"/>
                <a:cs typeface="Nunito" pitchFamily="34" charset="-120"/>
              </a:rPr>
              <a:t/>
            </a:r>
            <a:endParaRPr lang="en-US" sz="900"/>
          </a:p>
        </p:txBody>
      </p:sp>
      <p:sp>
        <p:nvSpPr>
          <p:cNvPr id="48" name="Text 42"/>
          <p:cNvSpPr/>
          <p:nvPr/>
        </p:nvSpPr>
        <p:spPr>
          <a:xfrm>
            <a:off x="9601000" y="7129325"/>
            <a:ext cx="420447" cy="201084"/>
          </a:xfrm>
          <a:prstGeom prst="rect">
            <a:avLst/>
          </a:prstGeom>
          <a:noFill/>
          <a:ln/>
        </p:spPr>
        <p:txBody>
          <a:bodyPr wrap="square" lIns="0" tIns="0" rIns="0" bIns="0" rtlCol="0" anchor="ctr"/>
          <a:lstStyle/>
          <a:p>
            <a:pPr algn="r"/>
            <a:r>
              <a:rPr lang="en-US" sz="900">
                <a:solidFill>
                  <a:srgbClr val="A8B0BF"/>
                </a:solidFill>
                <a:latin typeface="Nunito" pitchFamily="34" charset="0"/>
                <a:ea typeface="Nunito" pitchFamily="34" charset="-122"/>
                <a:cs typeface="Nunito" pitchFamily="34" charset="-120"/>
              </a:rPr>
              <a:t>12</a:t>
            </a:r>
            <a:endParaRPr lang="en-US" sz="900"/>
          </a:p>
        </p:txBody>
      </p:sp>
      <p:sp>
        <p:nvSpPr>
          <p:cNvPr id="49" name="Text 43"/>
          <p:cNvSpPr/>
          <p:nvPr/>
        </p:nvSpPr>
        <p:spPr>
          <a:xfrm rot="5400000">
            <a:off x="8549881" y="3884568"/>
            <a:ext cx="3838868" cy="201084"/>
          </a:xfrm>
          <a:prstGeom prst="rect">
            <a:avLst/>
          </a:prstGeom>
          <a:noFill/>
          <a:ln/>
        </p:spPr>
        <p:txBody>
          <a:bodyPr wrap="square" lIns="0" tIns="0" rIns="0" bIns="0" rtlCol="0" anchor="ctr"/>
          <a:lstStyle/>
          <a:p>
            <a:pPr algn="ctr"/>
            <a:r>
              <a:rPr lang="en-US" sz="600">
                <a:solidFill>
                  <a:srgbClr val="D5D9E0"/>
                </a:solidFill>
                <a:latin typeface="Nunito" pitchFamily="34" charset="0"/>
                <a:ea typeface="Nunito" pitchFamily="34" charset="-122"/>
                <a:cs typeface="Nunito" pitchFamily="34" charset="-120"/>
              </a:rPr>
              <a:t>Please see important information at the end of the document</a:t>
            </a:r>
            <a:endParaRPr lang="en-US" sz="600"/>
          </a:p>
        </p:txBody>
      </p:sp>
      <p:sp>
        <p:nvSpPr>
          <p:cNvPr id="50" name="TextBox 49">
            <a:extLst>
              <a:ext uri="{FF2B5EF4-FFF2-40B4-BE49-F238E27FC236}">
                <a16:creationId xmlns:a16="http://schemas.microsoft.com/office/drawing/2014/main" id="{39325C91-09F5-798A-5623-60B86B5EEE9C}"/>
              </a:ext>
            </a:extLst>
          </p:cNvPr>
          <p:cNvSpPr txBox="1"/>
          <p:nvPr/>
        </p:nvSpPr>
        <p:spPr>
          <a:xfrm>
            <a:off x="5334000" y="457200"/>
            <a:ext cx="0" cy="0"/>
          </a:xfrm>
          <a:prstGeom prst="rect">
            <a:avLst/>
          </a:prstGeom>
          <a:noFill/>
        </p:spPr>
        <p:txBody>
          <a:bodyPr vert="horz" wrap="none" lIns="0" tIns="0" rIns="0" bIns="0" rtlCol="0">
            <a:noAutofit/>
          </a:bodyPr>
          <a:lstStyle/>
          <a:p>
            <a:pPr algn="l"/>
            <a:endParaRPr lang="en-CH" sz="1400" err="1"/>
          </a:p>
        </p:txBody>
      </p:sp>
      <p:sp>
        <p:nvSpPr>
          <p:cNvPr id="51" name="TextBox 50">
            <a:extLst>
              <a:ext uri="{FF2B5EF4-FFF2-40B4-BE49-F238E27FC236}">
                <a16:creationId xmlns:a16="http://schemas.microsoft.com/office/drawing/2014/main" id="{C5022B25-907A-1DE1-6103-7AC8388F0D0A}"/>
              </a:ext>
            </a:extLst>
          </p:cNvPr>
          <p:cNvSpPr txBox="1"/>
          <p:nvPr/>
        </p:nvSpPr>
        <p:spPr>
          <a:xfrm>
            <a:off x="10180320" y="525780"/>
            <a:ext cx="0" cy="0"/>
          </a:xfrm>
          <a:prstGeom prst="rect">
            <a:avLst/>
          </a:prstGeom>
          <a:noFill/>
        </p:spPr>
        <p:txBody>
          <a:bodyPr vert="horz" wrap="none" lIns="0" tIns="0" rIns="0" bIns="0" rtlCol="0">
            <a:noAutofit/>
          </a:bodyPr>
          <a:lstStyle/>
          <a:p>
            <a:pPr algn="l"/>
            <a:endParaRPr lang="en-CH" sz="1400" err="1"/>
          </a:p>
        </p:txBody>
      </p:sp>
      <p:sp>
        <p:nvSpPr>
          <p:cNvPr id="54" name="TextBox 53">
            <a:extLst>
              <a:ext uri="{FF2B5EF4-FFF2-40B4-BE49-F238E27FC236}">
                <a16:creationId xmlns:a16="http://schemas.microsoft.com/office/drawing/2014/main" id="{BCA8683E-CD77-48E5-4C08-80E574A96309}"/>
              </a:ext>
            </a:extLst>
          </p:cNvPr>
          <p:cNvSpPr txBox="1"/>
          <p:nvPr/>
        </p:nvSpPr>
        <p:spPr>
          <a:xfrm>
            <a:off x="-1295400" y="906780"/>
            <a:ext cx="0" cy="0"/>
          </a:xfrm>
          <a:prstGeom prst="rect">
            <a:avLst/>
          </a:prstGeom>
          <a:noFill/>
        </p:spPr>
        <p:txBody>
          <a:bodyPr vert="horz" wrap="none" lIns="0" tIns="0" rIns="0" bIns="0" rtlCol="0">
            <a:noAutofit/>
          </a:bodyPr>
          <a:lstStyle/>
          <a:p>
            <a:pPr algn="l"/>
            <a:endParaRPr lang="en-CH" sz="1400" dirty="0" err="1"/>
          </a:p>
        </p:txBody>
      </p:sp>
      <p:grpSp>
        <p:nvGrpSpPr>
          <p:cNvPr id="52" name="Group 51">
            <a:extLst>
              <a:ext uri="{FF2B5EF4-FFF2-40B4-BE49-F238E27FC236}">
                <a16:creationId xmlns:a16="http://schemas.microsoft.com/office/drawing/2014/main" id="{5EDFD447-8373-9482-A127-A4B91709C685}"/>
              </a:ext>
            </a:extLst>
          </p:cNvPr>
          <p:cNvGrpSpPr/>
          <p:nvPr/>
        </p:nvGrpSpPr>
        <p:grpSpPr>
          <a:xfrm>
            <a:off x="9966508" y="935038"/>
            <a:ext cx="540000" cy="540000"/>
            <a:chOff x="9862599" y="872588"/>
            <a:chExt cx="540000" cy="540000"/>
          </a:xfrm>
        </p:grpSpPr>
        <p:pic>
          <p:nvPicPr>
            <p:cNvPr id="55" name="Graphic 54" descr="Greek Pillar with solid fill">
              <a:extLst>
                <a:ext uri="{FF2B5EF4-FFF2-40B4-BE49-F238E27FC236}">
                  <a16:creationId xmlns:a16="http://schemas.microsoft.com/office/drawing/2014/main" id="{713BEBC4-B3D7-F7E4-6653-9CC7207D57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911195" y="935038"/>
              <a:ext cx="442808" cy="442808"/>
            </a:xfrm>
            <a:prstGeom prst="rect">
              <a:avLst/>
            </a:prstGeom>
          </p:spPr>
        </p:pic>
        <p:sp>
          <p:nvSpPr>
            <p:cNvPr id="56" name="Oval 55">
              <a:extLst>
                <a:ext uri="{FF2B5EF4-FFF2-40B4-BE49-F238E27FC236}">
                  <a16:creationId xmlns:a16="http://schemas.microsoft.com/office/drawing/2014/main" id="{4033B535-EA06-986B-9097-662991DBE177}"/>
                </a:ext>
              </a:extLst>
            </p:cNvPr>
            <p:cNvSpPr/>
            <p:nvPr/>
          </p:nvSpPr>
          <p:spPr>
            <a:xfrm>
              <a:off x="9862599" y="87258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Equities: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a:solidFill>
                  <a:srgbClr val="202945"/>
                </a:solidFill>
                <a:latin typeface="Nunito Sans ExtraBold"/>
              </a:rPr>
              <a:t>How this sleeve is built</a:t>
            </a:r>
          </a:p>
        </p:txBody>
      </p:sp>
      <p:sp>
        <p:nvSpPr>
          <p:cNvPr id="5" name="TextBox 4"/>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Equities style diversification: a combination of traditional equities (focused on capital gain), high-dividend-yield stocks (capital gain plus distribution) and 'income' funds. Exposure is spread across funds, ETFs, structured products and AMCs to balance growth and income.</a:t>
            </a:r>
          </a:p>
        </p:txBody>
      </p:sp>
      <p:sp>
        <p:nvSpPr>
          <p:cNvPr id="6" name="TextBox 5"/>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Equities across investment vehicles</a:t>
            </a:r>
          </a:p>
        </p:txBody>
      </p:sp>
      <p:sp>
        <p:nvSpPr>
          <p:cNvPr id="9" name="Rectangle 8"/>
          <p:cNvSpPr/>
          <p:nvPr/>
        </p:nvSpPr>
        <p:spPr>
          <a:xfrm>
            <a:off x="5418000" y="2520000"/>
            <a:ext cx="4607813" cy="2088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p:cNvGraphicFramePr>
            <a:graphicFrameLocks noGrp="1"/>
          </p:cNvGraphicFramePr>
          <p:nvPr>
            <p:extLst>
              <p:ext uri="{D42A27DB-BD31-4B8C-83A1-F6EECF244321}">
                <p14:modId xmlns:p14="http://schemas.microsoft.com/office/powerpoint/2010/main" val="4122133409"/>
              </p:ext>
            </p:extLst>
          </p:nvPr>
        </p:nvGraphicFramePr>
        <p:xfrm>
          <a:off x="5598000" y="2700000"/>
          <a:ext cx="4219768" cy="1753029"/>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29" name="Oval 28">
            <a:extLst>
              <a:ext uri="{FF2B5EF4-FFF2-40B4-BE49-F238E27FC236}">
                <a16:creationId xmlns:a16="http://schemas.microsoft.com/office/drawing/2014/main" id="{B544D1BC-ACD4-908C-5881-787D5AF6AD04}"/>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31" name="Graphic 30" descr="Open hand with plant outline">
            <a:extLst>
              <a:ext uri="{FF2B5EF4-FFF2-40B4-BE49-F238E27FC236}">
                <a16:creationId xmlns:a16="http://schemas.microsoft.com/office/drawing/2014/main" id="{FA7BB328-DA17-295C-83D8-5617889218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04919" y="974519"/>
            <a:ext cx="463178" cy="463178"/>
          </a:xfrm>
          <a:prstGeom prst="rect">
            <a:avLst/>
          </a:prstGeom>
        </p:spPr>
      </p:pic>
      <p:graphicFrame>
        <p:nvGraphicFramePr>
          <p:cNvPr id="32" name="Table 31"/>
          <p:cNvGraphicFramePr>
            <a:graphicFrameLocks noGrp="1"/>
          </p:cNvGraphicFramePr>
          <p:nvPr/>
        </p:nvGraphicFramePr>
        <p:xfrm>
          <a:off x="666000" y="4860000"/>
          <a:ext cx="9359810" cy="1667280"/>
        </p:xfrm>
        <a:graphic>
          <a:graphicData uri="http://schemas.openxmlformats.org/drawingml/2006/table">
            <a:tbl>
              <a:tblPr firstRow="1" bandRow="1">
                <a:tableStyleId>{5C22544A-7EE6-4342-B048-85BDC9FD1C3A}</a:tableStyleId>
              </a:tblPr>
              <a:tblGrid>
                <a:gridCol w="4867102"/>
                <a:gridCol w="2246354"/>
                <a:gridCol w="2246354"/>
              </a:tblGrid>
              <a:tr h="27788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277880">
                <a:tc>
                  <a:txBody>
                    <a:bodyPr wrap="square"/>
                    <a:lstStyle/>
                    <a:p>
                      <a:pPr algn="l"/>
                      <a:r>
                        <a:rPr sz="900" b="0">
                          <a:solidFill>
                            <a:srgbClr val="202945"/>
                          </a:solidFill>
                        </a:rPr>
                        <a:t>ALLIANZ (NOM)</a:t>
                      </a:r>
                    </a:p>
                  </a:txBody>
                  <a:tcPr marL="45720" marR="45720" anchor="ctr">
                    <a:noFill/>
                  </a:tcPr>
                </a:tc>
                <a:tc>
                  <a:txBody>
                    <a:bodyPr wrap="square"/>
                    <a:lstStyle/>
                    <a:p>
                      <a:pPr algn="l"/>
                      <a:r>
                        <a:rPr sz="900" b="0">
                          <a:solidFill>
                            <a:srgbClr val="202945"/>
                          </a:solidFill>
                        </a:rPr>
                        <a:t>EUR 615k</a:t>
                      </a:r>
                    </a:p>
                  </a:txBody>
                  <a:tcPr marL="45720" marR="45720" anchor="ctr">
                    <a:noFill/>
                  </a:tcPr>
                </a:tc>
                <a:tc>
                  <a:txBody>
                    <a:bodyPr wrap="square"/>
                    <a:lstStyle/>
                    <a:p>
                      <a:pPr algn="r"/>
                      <a:r>
                        <a:rPr sz="900" b="0">
                          <a:solidFill>
                            <a:srgbClr val="202945"/>
                          </a:solidFill>
                        </a:rPr>
                        <a:t>2.9%</a:t>
                      </a:r>
                    </a:p>
                  </a:txBody>
                  <a:tcPr marL="45720" marR="45720" anchor="ctr">
                    <a:noFill/>
                  </a:tcPr>
                </a:tc>
              </a:tr>
              <a:tr h="277880">
                <a:tc>
                  <a:txBody>
                    <a:bodyPr wrap="square"/>
                    <a:lstStyle/>
                    <a:p>
                      <a:pPr algn="l"/>
                      <a:r>
                        <a:rPr sz="900" b="0">
                          <a:solidFill>
                            <a:srgbClr val="202945"/>
                          </a:solidFill>
                        </a:rPr>
                        <a:t>UBS(CH) EQ-SWISS INC CHFP</a:t>
                      </a:r>
                    </a:p>
                  </a:txBody>
                  <a:tcPr marL="45720" marR="45720" anchor="ctr">
                    <a:noFill/>
                  </a:tcPr>
                </a:tc>
                <a:tc>
                  <a:txBody>
                    <a:bodyPr wrap="square"/>
                    <a:lstStyle/>
                    <a:p>
                      <a:pPr algn="l"/>
                      <a:r>
                        <a:rPr sz="900" b="0">
                          <a:solidFill>
                            <a:srgbClr val="202945"/>
                          </a:solidFill>
                        </a:rPr>
                        <a:t>CHF 554k</a:t>
                      </a:r>
                    </a:p>
                  </a:txBody>
                  <a:tcPr marL="45720" marR="45720" anchor="ctr">
                    <a:noFill/>
                  </a:tcPr>
                </a:tc>
                <a:tc>
                  <a:txBody>
                    <a:bodyPr wrap="square"/>
                    <a:lstStyle/>
                    <a:p>
                      <a:pPr algn="r"/>
                      <a:r>
                        <a:rPr sz="900" b="0">
                          <a:solidFill>
                            <a:srgbClr val="202945"/>
                          </a:solidFill>
                        </a:rPr>
                        <a:t>2.8%</a:t>
                      </a:r>
                    </a:p>
                  </a:txBody>
                  <a:tcPr marL="45720" marR="45720" anchor="ctr">
                    <a:noFill/>
                  </a:tcPr>
                </a:tc>
              </a:tr>
              <a:tr h="277880">
                <a:tc>
                  <a:txBody>
                    <a:bodyPr wrap="square"/>
                    <a:lstStyle/>
                    <a:p>
                      <a:pPr algn="l"/>
                      <a:r>
                        <a:rPr sz="900" b="0">
                          <a:solidFill>
                            <a:srgbClr val="202945"/>
                          </a:solidFill>
                        </a:rPr>
                        <a:t>VANECK VECTORS DEF A ETF</a:t>
                      </a:r>
                    </a:p>
                  </a:txBody>
                  <a:tcPr marL="45720" marR="45720" anchor="ctr">
                    <a:noFill/>
                  </a:tcPr>
                </a:tc>
                <a:tc>
                  <a:txBody>
                    <a:bodyPr wrap="square"/>
                    <a:lstStyle/>
                    <a:p>
                      <a:pPr algn="l"/>
                      <a:r>
                        <a:rPr sz="900" b="0">
                          <a:solidFill>
                            <a:srgbClr val="202945"/>
                          </a:solidFill>
                        </a:rPr>
                        <a:t>EUR 552k</a:t>
                      </a:r>
                    </a:p>
                  </a:txBody>
                  <a:tcPr marL="45720" marR="45720" anchor="ctr">
                    <a:noFill/>
                  </a:tcPr>
                </a:tc>
                <a:tc>
                  <a:txBody>
                    <a:bodyPr wrap="square"/>
                    <a:lstStyle/>
                    <a:p>
                      <a:pPr algn="r"/>
                      <a:r>
                        <a:rPr sz="900" b="0">
                          <a:solidFill>
                            <a:srgbClr val="202945"/>
                          </a:solidFill>
                        </a:rPr>
                        <a:t>2.6%</a:t>
                      </a:r>
                    </a:p>
                  </a:txBody>
                  <a:tcPr marL="45720" marR="45720" anchor="ctr">
                    <a:noFill/>
                  </a:tcPr>
                </a:tc>
              </a:tr>
              <a:tr h="277880">
                <a:tc>
                  <a:txBody>
                    <a:bodyPr wrap="square"/>
                    <a:lstStyle/>
                    <a:p>
                      <a:pPr algn="l"/>
                      <a:r>
                        <a:rPr sz="900" b="0">
                          <a:solidFill>
                            <a:srgbClr val="202945"/>
                          </a:solidFill>
                        </a:rPr>
                        <a:t>BRGF WORLD MINING(REG)A2</a:t>
                      </a:r>
                    </a:p>
                  </a:txBody>
                  <a:tcPr marL="45720" marR="45720" anchor="ctr">
                    <a:noFill/>
                  </a:tcPr>
                </a:tc>
                <a:tc>
                  <a:txBody>
                    <a:bodyPr wrap="square"/>
                    <a:lstStyle/>
                    <a:p>
                      <a:pPr algn="l"/>
                      <a:r>
                        <a:rPr sz="900" b="0">
                          <a:solidFill>
                            <a:srgbClr val="202945"/>
                          </a:solidFill>
                        </a:rPr>
                        <a:t>USD 533k</a:t>
                      </a:r>
                    </a:p>
                  </a:txBody>
                  <a:tcPr marL="45720" marR="45720" anchor="ctr">
                    <a:noFill/>
                  </a:tcPr>
                </a:tc>
                <a:tc>
                  <a:txBody>
                    <a:bodyPr wrap="square"/>
                    <a:lstStyle/>
                    <a:p>
                      <a:pPr algn="r"/>
                      <a:r>
                        <a:rPr sz="900" b="0">
                          <a:solidFill>
                            <a:srgbClr val="202945"/>
                          </a:solidFill>
                        </a:rPr>
                        <a:t>2.2%</a:t>
                      </a:r>
                    </a:p>
                  </a:txBody>
                  <a:tcPr marL="45720" marR="45720" anchor="ctr">
                    <a:noFill/>
                  </a:tcPr>
                </a:tc>
              </a:tr>
              <a:tr h="277880">
                <a:tc>
                  <a:txBody>
                    <a:bodyPr wrap="square"/>
                    <a:lstStyle/>
                    <a:p>
                      <a:pPr algn="l"/>
                      <a:r>
                        <a:rPr sz="900" b="0">
                          <a:solidFill>
                            <a:srgbClr val="202945"/>
                          </a:solidFill>
                        </a:rPr>
                        <a:t>GOLDMAN EU HIGH DIV P CAP</a:t>
                      </a:r>
                    </a:p>
                  </a:txBody>
                  <a:tcPr marL="45720" marR="45720" anchor="ctr">
                    <a:noFill/>
                  </a:tcPr>
                </a:tc>
                <a:tc>
                  <a:txBody>
                    <a:bodyPr wrap="square"/>
                    <a:lstStyle/>
                    <a:p>
                      <a:pPr algn="l"/>
                      <a:r>
                        <a:rPr sz="900" b="0">
                          <a:solidFill>
                            <a:srgbClr val="202945"/>
                          </a:solidFill>
                        </a:rPr>
                        <a:t>EUR 444k</a:t>
                      </a:r>
                    </a:p>
                  </a:txBody>
                  <a:tcPr marL="45720" marR="45720" anchor="ctr">
                    <a:noFill/>
                  </a:tcPr>
                </a:tc>
                <a:tc>
                  <a:txBody>
                    <a:bodyPr wrap="square"/>
                    <a:lstStyle/>
                    <a:p>
                      <a:pPr algn="r"/>
                      <a:r>
                        <a:rPr sz="900" b="0">
                          <a:solidFill>
                            <a:srgbClr val="202945"/>
                          </a:solidFill>
                        </a:rPr>
                        <a:t>2.1%</a:t>
                      </a:r>
                    </a:p>
                  </a:txBody>
                  <a:tcPr marL="45720" marR="45720" anchor="ctr">
                    <a:noFill/>
                  </a:tcPr>
                </a:tc>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Equity breakdown</a:t>
            </a:r>
          </a:p>
        </p:txBody>
      </p:sp>
      <p:sp>
        <p:nvSpPr>
          <p:cNvPr id="3" name="Text 1"/>
          <p:cNvSpPr/>
          <p:nvPr/>
        </p:nvSpPr>
        <p:spPr>
          <a:xfrm>
            <a:off x="671062" y="1626948"/>
            <a:ext cx="8774555" cy="319906"/>
          </a:xfrm>
          <a:prstGeom prst="rect">
            <a:avLst/>
          </a:prstGeom>
          <a:noFill/>
          <a:ln/>
        </p:spPr>
        <p:txBody>
          <a:bodyPr wrap="square" lIns="0" tIns="0" rIns="0" bIns="0" rtlCol="0" anchor="ctr"/>
          <a:lstStyle/>
          <a:p>
            <a:r>
              <a:rPr lang="en-US" sz="1399" dirty="0">
                <a:solidFill>
                  <a:srgbClr val="3C445D"/>
                </a:solidFill>
                <a:latin typeface="Nunito" pitchFamily="34" charset="0"/>
                <a:ea typeface="Nunito" pitchFamily="34" charset="-122"/>
                <a:cs typeface="Nunito" pitchFamily="34" charset="-120"/>
              </a:rPr>
              <a:t>Equity sleeve: 23 lines, EUR 7.2m, 33.7% of the portfolio.</a:t>
            </a:r>
            <a:endParaRPr lang="en-US" sz="1399" dirty="0"/>
          </a:p>
        </p:txBody>
      </p:sp>
      <p:sp>
        <p:nvSpPr>
          <p:cNvPr id="4" name="Shape 2"/>
          <p:cNvSpPr/>
          <p:nvPr/>
        </p:nvSpPr>
        <p:spPr>
          <a:xfrm>
            <a:off x="671062" y="2147937"/>
            <a:ext cx="9350385" cy="4707183"/>
          </a:xfrm>
          <a:prstGeom prst="roundRect">
            <a:avLst>
              <a:gd name="adj" fmla="val 777"/>
            </a:avLst>
          </a:prstGeom>
          <a:noFill/>
          <a:ln w="12700">
            <a:solidFill>
              <a:srgbClr val="FAFAFB"/>
            </a:solidFill>
            <a:prstDash val="solid"/>
          </a:ln>
          <a:effectLst>
            <a:outerShdw blurRad="50800" dist="50800" dir="5400000" algn="ctr" rotWithShape="0">
              <a:schemeClr val="bg1">
                <a:alpha val="0"/>
              </a:schemeClr>
            </a:outerShdw>
          </a:effectLst>
        </p:spPr>
        <p:txBody>
          <a:bodyPr/>
          <a:lstStyle/>
          <a:p>
            <a:endParaRPr lang="en-CH"/>
          </a:p>
        </p:txBody>
      </p:sp>
      <p:sp>
        <p:nvSpPr>
          <p:cNvPr id="5" name="Text 3"/>
          <p:cNvSpPr/>
          <p:nvPr/>
        </p:nvSpPr>
        <p:spPr>
          <a:xfrm>
            <a:off x="77388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geography</a:t>
            </a:r>
          </a:p>
        </p:txBody>
      </p:sp>
      <p:graphicFrame>
        <p:nvGraphicFramePr>
          <p:cNvPr id="6" name="Chart 0"/>
          <p:cNvGraphicFramePr/>
          <p:nvPr>
            <p:extLst>
              <p:ext uri="{D42A27DB-BD31-4B8C-83A1-F6EECF244321}">
                <p14:modId xmlns:p14="http://schemas.microsoft.com/office/powerpoint/2010/main" val="1898557430"/>
              </p:ext>
            </p:extLst>
          </p:nvPr>
        </p:nvGraphicFramePr>
        <p:xfrm>
          <a:off x="1276598" y="2787749"/>
          <a:ext cx="1919434" cy="1919434"/>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100239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8" name="Text 5"/>
          <p:cNvSpPr/>
          <p:nvPr/>
        </p:nvSpPr>
        <p:spPr>
          <a:xfrm>
            <a:off x="117605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Global / thematic   43.6%</a:t>
            </a:r>
            <a:endParaRPr lang="en-US" sz="1200" dirty="0"/>
          </a:p>
        </p:txBody>
      </p:sp>
      <p:sp>
        <p:nvSpPr>
          <p:cNvPr id="9" name="Shape 6"/>
          <p:cNvSpPr/>
          <p:nvPr/>
        </p:nvSpPr>
        <p:spPr>
          <a:xfrm>
            <a:off x="100239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10" name="Text 7"/>
          <p:cNvSpPr/>
          <p:nvPr/>
        </p:nvSpPr>
        <p:spPr>
          <a:xfrm>
            <a:off x="117605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Eurozone   26.5%</a:t>
            </a:r>
            <a:endParaRPr lang="en-US" sz="1200" dirty="0"/>
          </a:p>
        </p:txBody>
      </p:sp>
      <p:sp>
        <p:nvSpPr>
          <p:cNvPr id="11" name="Shape 8"/>
          <p:cNvSpPr/>
          <p:nvPr/>
        </p:nvSpPr>
        <p:spPr>
          <a:xfrm>
            <a:off x="100239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12" name="Text 9"/>
          <p:cNvSpPr/>
          <p:nvPr/>
        </p:nvSpPr>
        <p:spPr>
          <a:xfrm>
            <a:off x="117605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Switzerland   19.0%</a:t>
            </a:r>
            <a:endParaRPr lang="en-US" sz="1200" dirty="0"/>
          </a:p>
        </p:txBody>
      </p:sp>
      <p:sp>
        <p:nvSpPr>
          <p:cNvPr id="13" name="Shape 10"/>
          <p:cNvSpPr/>
          <p:nvPr/>
        </p:nvSpPr>
        <p:spPr>
          <a:xfrm>
            <a:off x="100239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14" name="Text 11"/>
          <p:cNvSpPr/>
          <p:nvPr/>
        </p:nvSpPr>
        <p:spPr>
          <a:xfrm>
            <a:off x="117605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UK   6.0%</a:t>
            </a:r>
            <a:endParaRPr lang="en-US" sz="1200" dirty="0"/>
          </a:p>
        </p:txBody>
      </p:sp>
      <p:sp>
        <p:nvSpPr>
          <p:cNvPr id="15" name="Shape 12"/>
          <p:cNvSpPr/>
          <p:nvPr/>
        </p:nvSpPr>
        <p:spPr>
          <a:xfrm>
            <a:off x="1002393" y="6242729"/>
            <a:ext cx="95972" cy="95972"/>
          </a:xfrm>
          <a:prstGeom prst="rect">
            <a:avLst/>
          </a:prstGeom>
          <a:solidFill>
            <a:srgbClr val="3BAF90"/>
          </a:solidFill>
          <a:ln w="12700">
            <a:solidFill>
              <a:srgbClr val="3BAF90"/>
            </a:solidFill>
            <a:prstDash val="solid"/>
          </a:ln>
        </p:spPr>
        <p:txBody>
          <a:bodyPr/>
          <a:lstStyle/>
          <a:p>
            <a:endParaRPr lang="en-CH"/>
          </a:p>
        </p:txBody>
      </p:sp>
      <p:sp>
        <p:nvSpPr>
          <p:cNvPr id="16" name="Text 13"/>
          <p:cNvSpPr/>
          <p:nvPr/>
        </p:nvSpPr>
        <p:spPr>
          <a:xfrm>
            <a:off x="117605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US   4.9%</a:t>
            </a:r>
            <a:endParaRPr lang="en-US" sz="1200" dirty="0"/>
          </a:p>
        </p:txBody>
      </p:sp>
      <p:sp>
        <p:nvSpPr>
          <p:cNvPr id="17" name="Text 14"/>
          <p:cNvSpPr/>
          <p:nvPr/>
        </p:nvSpPr>
        <p:spPr>
          <a:xfrm>
            <a:off x="388382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sector</a:t>
            </a:r>
          </a:p>
        </p:txBody>
      </p:sp>
      <p:graphicFrame>
        <p:nvGraphicFramePr>
          <p:cNvPr id="18" name="Chart 1"/>
          <p:cNvGraphicFramePr/>
          <p:nvPr>
            <p:extLst>
              <p:ext uri="{D42A27DB-BD31-4B8C-83A1-F6EECF244321}">
                <p14:modId xmlns:p14="http://schemas.microsoft.com/office/powerpoint/2010/main" val="375775482"/>
              </p:ext>
            </p:extLst>
          </p:nvPr>
        </p:nvGraphicFramePr>
        <p:xfrm>
          <a:off x="4386538" y="2787749"/>
          <a:ext cx="1919434" cy="1919434"/>
        </p:xfrm>
        <a:graphic>
          <a:graphicData uri="http://schemas.openxmlformats.org/drawingml/2006/chart">
            <c:chart xmlns:c="http://schemas.openxmlformats.org/drawingml/2006/chart" xmlns:r="http://schemas.openxmlformats.org/officeDocument/2006/relationships" r:id="rId4"/>
          </a:graphicData>
        </a:graphic>
      </p:graphicFrame>
      <p:sp>
        <p:nvSpPr>
          <p:cNvPr id="19" name="Shape 15"/>
          <p:cNvSpPr/>
          <p:nvPr/>
        </p:nvSpPr>
        <p:spPr>
          <a:xfrm>
            <a:off x="411233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20" name="Text 16"/>
          <p:cNvSpPr/>
          <p:nvPr/>
        </p:nvSpPr>
        <p:spPr>
          <a:xfrm>
            <a:off x="428599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1" name="Shape 17"/>
          <p:cNvSpPr/>
          <p:nvPr/>
        </p:nvSpPr>
        <p:spPr>
          <a:xfrm>
            <a:off x="411233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22" name="Text 18"/>
          <p:cNvSpPr/>
          <p:nvPr/>
        </p:nvSpPr>
        <p:spPr>
          <a:xfrm>
            <a:off x="428599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3" name="Shape 19"/>
          <p:cNvSpPr/>
          <p:nvPr/>
        </p:nvSpPr>
        <p:spPr>
          <a:xfrm>
            <a:off x="411233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24" name="Text 20"/>
          <p:cNvSpPr/>
          <p:nvPr/>
        </p:nvSpPr>
        <p:spPr>
          <a:xfrm>
            <a:off x="428599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5" name="Shape 21"/>
          <p:cNvSpPr/>
          <p:nvPr/>
        </p:nvSpPr>
        <p:spPr>
          <a:xfrm>
            <a:off x="4112333" y="5968525"/>
            <a:ext cx="95972" cy="95972"/>
          </a:xfrm>
          <a:prstGeom prst="rect">
            <a:avLst/>
          </a:prstGeom>
          <a:solidFill>
            <a:srgbClr val="202945"/>
          </a:solidFill>
          <a:ln w="12700">
            <a:solidFill>
              <a:srgbClr val="202945"/>
            </a:solidFill>
            <a:prstDash val="solid"/>
          </a:ln>
        </p:spPr>
        <p:txBody>
          <a:bodyPr/>
          <a:lstStyle/>
          <a:p>
            <a:endParaRPr lang="en-CH"/>
          </a:p>
        </p:txBody>
      </p:sp>
      <p:sp>
        <p:nvSpPr>
          <p:cNvPr id="26" name="Text 22"/>
          <p:cNvSpPr/>
          <p:nvPr/>
        </p:nvSpPr>
        <p:spPr>
          <a:xfrm>
            <a:off x="4285996" y="5895403"/>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7" name="Shape 23"/>
          <p:cNvSpPr/>
          <p:nvPr/>
        </p:nvSpPr>
        <p:spPr>
          <a:xfrm>
            <a:off x="4112333" y="6242729"/>
            <a:ext cx="95972" cy="95972"/>
          </a:xfrm>
          <a:prstGeom prst="rect">
            <a:avLst/>
          </a:prstGeom>
          <a:solidFill>
            <a:srgbClr val="9BA3B4"/>
          </a:solidFill>
          <a:ln w="12700">
            <a:solidFill>
              <a:srgbClr val="9BA3B4"/>
            </a:solidFill>
            <a:prstDash val="solid"/>
          </a:ln>
        </p:spPr>
        <p:txBody>
          <a:bodyPr/>
          <a:lstStyle/>
          <a:p>
            <a:endParaRPr lang="en-CH"/>
          </a:p>
        </p:txBody>
      </p:sp>
      <p:sp>
        <p:nvSpPr>
          <p:cNvPr id="28" name="Text 24"/>
          <p:cNvSpPr/>
          <p:nvPr/>
        </p:nvSpPr>
        <p:spPr>
          <a:xfrm>
            <a:off x="4285996" y="6169608"/>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29" name="Text 25"/>
          <p:cNvSpPr/>
          <p:nvPr/>
        </p:nvSpPr>
        <p:spPr>
          <a:xfrm>
            <a:off x="6993769" y="2376441"/>
            <a:ext cx="2924852" cy="274205"/>
          </a:xfrm>
          <a:prstGeom prst="rect">
            <a:avLst/>
          </a:prstGeom>
          <a:noFill/>
          <a:ln/>
        </p:spPr>
        <p:txBody>
          <a:bodyPr wrap="square" lIns="0" tIns="0" rIns="0" bIns="0" rtlCol="0" anchor="ctr"/>
          <a:lstStyle/>
          <a:p>
            <a:pPr algn="ctr"/>
            <a:r>
              <a:rPr lang="en-US" sz="1400" b="1">
                <a:solidFill>
                  <a:srgbClr val="202945"/>
                </a:solidFill>
                <a:latin typeface="Nunito Sans ExtraBold"/>
              </a:rPr>
              <a:t>By market cap</a:t>
            </a:r>
          </a:p>
        </p:txBody>
      </p:sp>
      <p:graphicFrame>
        <p:nvGraphicFramePr>
          <p:cNvPr id="30" name="Chart 2"/>
          <p:cNvGraphicFramePr/>
          <p:nvPr>
            <p:extLst>
              <p:ext uri="{D42A27DB-BD31-4B8C-83A1-F6EECF244321}">
                <p14:modId xmlns:p14="http://schemas.microsoft.com/office/powerpoint/2010/main" val="2822922399"/>
              </p:ext>
            </p:extLst>
          </p:nvPr>
        </p:nvGraphicFramePr>
        <p:xfrm>
          <a:off x="7496478" y="2787749"/>
          <a:ext cx="1919434" cy="1919434"/>
        </p:xfrm>
        <a:graphic>
          <a:graphicData uri="http://schemas.openxmlformats.org/drawingml/2006/chart">
            <c:chart xmlns:c="http://schemas.openxmlformats.org/drawingml/2006/chart" xmlns:r="http://schemas.openxmlformats.org/officeDocument/2006/relationships" r:id="rId5"/>
          </a:graphicData>
        </a:graphic>
      </p:graphicFrame>
      <p:sp>
        <p:nvSpPr>
          <p:cNvPr id="31" name="Shape 26"/>
          <p:cNvSpPr/>
          <p:nvPr/>
        </p:nvSpPr>
        <p:spPr>
          <a:xfrm>
            <a:off x="7222273" y="5145910"/>
            <a:ext cx="95972" cy="95972"/>
          </a:xfrm>
          <a:prstGeom prst="rect">
            <a:avLst/>
          </a:prstGeom>
          <a:solidFill>
            <a:srgbClr val="FF6C0E"/>
          </a:solidFill>
          <a:ln w="12700">
            <a:solidFill>
              <a:srgbClr val="FF6C0E"/>
            </a:solidFill>
            <a:prstDash val="solid"/>
          </a:ln>
        </p:spPr>
        <p:txBody>
          <a:bodyPr/>
          <a:lstStyle/>
          <a:p>
            <a:endParaRPr lang="en-CH"/>
          </a:p>
        </p:txBody>
      </p:sp>
      <p:sp>
        <p:nvSpPr>
          <p:cNvPr id="32" name="Text 27"/>
          <p:cNvSpPr/>
          <p:nvPr/>
        </p:nvSpPr>
        <p:spPr>
          <a:xfrm>
            <a:off x="7395936" y="507278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3" name="Shape 28"/>
          <p:cNvSpPr/>
          <p:nvPr/>
        </p:nvSpPr>
        <p:spPr>
          <a:xfrm>
            <a:off x="7222273" y="5420115"/>
            <a:ext cx="95972" cy="95972"/>
          </a:xfrm>
          <a:prstGeom prst="rect">
            <a:avLst/>
          </a:prstGeom>
          <a:solidFill>
            <a:srgbClr val="FFC545"/>
          </a:solidFill>
          <a:ln w="12700">
            <a:solidFill>
              <a:srgbClr val="FFC545"/>
            </a:solidFill>
            <a:prstDash val="solid"/>
          </a:ln>
        </p:spPr>
        <p:txBody>
          <a:bodyPr/>
          <a:lstStyle/>
          <a:p>
            <a:endParaRPr lang="en-CH"/>
          </a:p>
        </p:txBody>
      </p:sp>
      <p:sp>
        <p:nvSpPr>
          <p:cNvPr id="34" name="Text 29"/>
          <p:cNvSpPr/>
          <p:nvPr/>
        </p:nvSpPr>
        <p:spPr>
          <a:xfrm>
            <a:off x="7395936" y="5346994"/>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5" name="Shape 30"/>
          <p:cNvSpPr/>
          <p:nvPr/>
        </p:nvSpPr>
        <p:spPr>
          <a:xfrm>
            <a:off x="7222273" y="5694320"/>
            <a:ext cx="95972" cy="95972"/>
          </a:xfrm>
          <a:prstGeom prst="rect">
            <a:avLst/>
          </a:prstGeom>
          <a:solidFill>
            <a:srgbClr val="79D6FF"/>
          </a:solidFill>
          <a:ln w="12700">
            <a:solidFill>
              <a:srgbClr val="79D6FF"/>
            </a:solidFill>
            <a:prstDash val="solid"/>
          </a:ln>
        </p:spPr>
        <p:txBody>
          <a:bodyPr/>
          <a:lstStyle/>
          <a:p>
            <a:endParaRPr lang="en-CH"/>
          </a:p>
        </p:txBody>
      </p:sp>
      <p:sp>
        <p:nvSpPr>
          <p:cNvPr id="36" name="Text 31"/>
          <p:cNvSpPr/>
          <p:nvPr/>
        </p:nvSpPr>
        <p:spPr>
          <a:xfrm>
            <a:off x="7395936" y="5621199"/>
            <a:ext cx="2568385" cy="274205"/>
          </a:xfrm>
          <a:prstGeom prst="rect">
            <a:avLst/>
          </a:prstGeom>
          <a:noFill/>
          <a:ln/>
        </p:spPr>
        <p:txBody>
          <a:bodyPr wrap="square" lIns="0" tIns="0" rIns="0" bIns="0" rtlCol="0" anchor="ctr"/>
          <a:lstStyle/>
          <a:p>
            <a:r>
              <a:rPr lang="en-US" sz="1200" dirty="0">
                <a:solidFill>
                  <a:srgbClr val="3C445D"/>
                </a:solidFill>
                <a:latin typeface="Nunito" pitchFamily="34" charset="0"/>
                <a:ea typeface="Nunito" pitchFamily="34" charset="-122"/>
                <a:cs typeface="Nunito" pitchFamily="34" charset="-120"/>
              </a:rPr>
              <a:t/>
            </a:r>
            <a:endParaRPr lang="en-US" sz="1200" dirty="0"/>
          </a:p>
        </p:txBody>
      </p:sp>
      <p:sp>
        <p:nvSpPr>
          <p:cNvPr id="37" name="Text 32"/>
          <p:cNvSpPr/>
          <p:nvPr/>
        </p:nvSpPr>
        <p:spPr>
          <a:xfrm>
            <a:off x="671062" y="6964802"/>
            <a:ext cx="8774555" cy="228504"/>
          </a:xfrm>
          <a:prstGeom prst="rect">
            <a:avLst/>
          </a:prstGeom>
          <a:noFill/>
          <a:ln/>
        </p:spPr>
        <p:txBody>
          <a:bodyPr wrap="square" lIns="0" tIns="0" rIns="0" bIns="0" rtlCol="0" anchor="ctr"/>
          <a:lstStyle/>
          <a:p>
            <a:r>
              <a:rPr lang="en-US" sz="800" dirty="0">
                <a:solidFill>
                  <a:srgbClr val="A8B0BF"/>
                </a:solidFill>
                <a:latin typeface="Nunito" pitchFamily="34" charset="0"/>
                <a:ea typeface="Nunito" pitchFamily="34" charset="-122"/>
                <a:cs typeface="Nunito" pitchFamily="34" charset="-120"/>
              </a:rPr>
              <a:t/>
            </a:r>
            <a:endParaRPr lang="en-US" sz="800" dirty="0"/>
          </a:p>
        </p:txBody>
      </p:sp>
      <p:sp>
        <p:nvSpPr>
          <p:cNvPr id="38" name="Text 33"/>
          <p:cNvSpPr/>
          <p:nvPr/>
        </p:nvSpPr>
        <p:spPr>
          <a:xfrm>
            <a:off x="9601000" y="7129325"/>
            <a:ext cx="420447" cy="201084"/>
          </a:xfrm>
          <a:prstGeom prst="rect">
            <a:avLst/>
          </a:prstGeom>
          <a:noFill/>
          <a:ln/>
        </p:spPr>
        <p:txBody>
          <a:bodyPr wrap="square" lIns="0" tIns="0" rIns="0" bIns="0" rtlCol="0" anchor="ctr"/>
          <a:lstStyle/>
          <a:p>
            <a:pPr algn="r"/>
            <a:r>
              <a:rPr lang="en-US" sz="900" dirty="0">
                <a:solidFill>
                  <a:srgbClr val="A8B0BF"/>
                </a:solidFill>
                <a:latin typeface="Nunito" pitchFamily="34" charset="0"/>
                <a:ea typeface="Nunito" pitchFamily="34" charset="-122"/>
                <a:cs typeface="Nunito" pitchFamily="34" charset="-120"/>
              </a:rPr>
              <a:t>13</a:t>
            </a:r>
            <a:endParaRPr lang="en-US" sz="900" dirty="0"/>
          </a:p>
        </p:txBody>
      </p:sp>
      <p:sp>
        <p:nvSpPr>
          <p:cNvPr id="39" name="Text 34"/>
          <p:cNvSpPr/>
          <p:nvPr/>
        </p:nvSpPr>
        <p:spPr>
          <a:xfrm rot="5400000">
            <a:off x="8549881" y="3884568"/>
            <a:ext cx="3838868" cy="201084"/>
          </a:xfrm>
          <a:prstGeom prst="rect">
            <a:avLst/>
          </a:prstGeom>
          <a:noFill/>
          <a:ln/>
        </p:spPr>
        <p:txBody>
          <a:bodyPr wrap="square" lIns="0" tIns="0" rIns="0" bIns="0" rtlCol="0" anchor="ctr"/>
          <a:lstStyle/>
          <a:p>
            <a:pPr algn="ctr"/>
            <a:r>
              <a:rPr lang="en-US" sz="600" dirty="0">
                <a:solidFill>
                  <a:srgbClr val="D5D9E0"/>
                </a:solidFill>
                <a:latin typeface="Nunito" pitchFamily="34" charset="0"/>
                <a:ea typeface="Nunito" pitchFamily="34" charset="-122"/>
                <a:cs typeface="Nunito" pitchFamily="34" charset="-120"/>
              </a:rPr>
              <a:t>Please see important information at the end of the document</a:t>
            </a:r>
            <a:endParaRPr lang="en-US" sz="600" dirty="0"/>
          </a:p>
        </p:txBody>
      </p:sp>
      <p:sp>
        <p:nvSpPr>
          <p:cNvPr id="43" name="Oval 42">
            <a:extLst>
              <a:ext uri="{FF2B5EF4-FFF2-40B4-BE49-F238E27FC236}">
                <a16:creationId xmlns:a16="http://schemas.microsoft.com/office/drawing/2014/main" id="{BBB68E68-FD7A-7CDF-9099-7C3E5966482F}"/>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45" name="Graphic 44" descr="Open hand with plant outline">
            <a:extLst>
              <a:ext uri="{FF2B5EF4-FFF2-40B4-BE49-F238E27FC236}">
                <a16:creationId xmlns:a16="http://schemas.microsoft.com/office/drawing/2014/main" id="{591D9520-9B26-CF2D-AECB-A006BB5C65B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04919" y="974519"/>
            <a:ext cx="463178" cy="46317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Alternatives: income-type specifics</a:t>
            </a:r>
          </a:p>
        </p:txBody>
      </p:sp>
      <p:sp>
        <p:nvSpPr>
          <p:cNvPr id="4" name="TextBox 3"/>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p:cNvSpPr txBox="1"/>
          <p:nvPr/>
        </p:nvSpPr>
        <p:spPr>
          <a:xfrm>
            <a:off x="666000" y="2520000"/>
            <a:ext cx="4536000" cy="830997"/>
          </a:xfrm>
          <a:prstGeom prst="rect">
            <a:avLst/>
          </a:prstGeom>
          <a:noFill/>
        </p:spPr>
        <p:txBody>
          <a:bodyPr wrap="square" lIns="0" anchor="t">
            <a:spAutoFit/>
          </a:bodyPr>
          <a:lstStyle/>
          <a:p>
            <a:pPr algn="l">
              <a:spcAft>
                <a:spcPts val="800"/>
              </a:spcAft>
            </a:pPr>
            <a:r>
              <a:rPr lang="en-US" sz="1200" b="0" noProof="0" dirty="0">
                <a:solidFill>
                  <a:srgbClr val="202945"/>
                </a:solidFill>
                <a:latin typeface="Nunito Sans"/>
              </a:rPr>
              <a:t>Alternatives diversification: private markets (private equity, private credit, real assets), hedge funds and gold. These provide return streams less correlated with public markets, plus a hedge against inflation and drawdowns, at the cost of reduced liquidity.</a:t>
            </a:r>
          </a:p>
        </p:txBody>
      </p:sp>
      <p:sp>
        <p:nvSpPr>
          <p:cNvPr id="6" name="TextBox 5"/>
          <p:cNvSpPr txBox="1"/>
          <p:nvPr/>
        </p:nvSpPr>
        <p:spPr>
          <a:xfrm>
            <a:off x="666000" y="4500000"/>
            <a:ext cx="4536000" cy="307777"/>
          </a:xfrm>
          <a:prstGeom prst="rect">
            <a:avLst/>
          </a:prstGeom>
          <a:noFill/>
        </p:spPr>
        <p:txBody>
          <a:bodyPr wrap="square" anchor="t">
            <a:spAutoFit/>
          </a:bodyPr>
          <a:lstStyle/>
          <a:p>
            <a:pPr algn="l"/>
            <a:r>
              <a:rPr lang="en-US" sz="1400" b="1" noProof="0">
                <a:solidFill>
                  <a:srgbClr val="202945"/>
                </a:solidFill>
                <a:latin typeface="Nunito Sans ExtraBold"/>
              </a:rPr>
              <a:t>Largest holdings in this sleeve</a:t>
            </a:r>
          </a:p>
        </p:txBody>
      </p:sp>
      <p:sp>
        <p:nvSpPr>
          <p:cNvPr id="8" name="TextBox 7"/>
          <p:cNvSpPr txBox="1"/>
          <p:nvPr/>
        </p:nvSpPr>
        <p:spPr>
          <a:xfrm>
            <a:off x="5418000" y="2160000"/>
            <a:ext cx="4608000" cy="307777"/>
          </a:xfrm>
          <a:prstGeom prst="rect">
            <a:avLst/>
          </a:prstGeom>
          <a:noFill/>
        </p:spPr>
        <p:txBody>
          <a:bodyPr wrap="square" anchor="t">
            <a:spAutoFit/>
          </a:bodyPr>
          <a:lstStyle/>
          <a:p>
            <a:pPr algn="l"/>
            <a:r>
              <a:rPr lang="en-US" sz="1400" b="1" noProof="0">
                <a:solidFill>
                  <a:srgbClr val="202945"/>
                </a:solidFill>
                <a:latin typeface="Nunito Sans ExtraBold"/>
              </a:rPr>
              <a:t>Alternatives across investment vehicles</a:t>
            </a:r>
          </a:p>
        </p:txBody>
      </p:sp>
      <p:sp>
        <p:nvSpPr>
          <p:cNvPr id="9" name="Rectangle 8"/>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a:p>
        </p:txBody>
      </p:sp>
      <p:graphicFrame>
        <p:nvGraphicFramePr>
          <p:cNvPr id="10" name="Chart 9"/>
          <p:cNvGraphicFramePr>
            <a:graphicFrameLocks noGrp="1"/>
          </p:cNvGraphicFramePr>
          <p:nvPr>
            <p:extLst>
              <p:ext uri="{D42A27DB-BD31-4B8C-83A1-F6EECF244321}">
                <p14:modId xmlns:p14="http://schemas.microsoft.com/office/powerpoint/2010/main" val="3380827213"/>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666000" y="6983999"/>
            <a:ext cx="9396000" cy="432000"/>
          </a:xfrm>
          <a:prstGeom prst="rect">
            <a:avLst/>
          </a:prstGeom>
          <a:noFill/>
        </p:spPr>
        <p:txBody>
          <a:bodyPr wrap="square" anchor="t">
            <a:spAutoFit/>
          </a:bodyPr>
          <a:lstStyle/>
          <a:p>
            <a:pPr algn="l"/>
            <a:r>
              <a:rPr lang="en-US" sz="900" b="0" noProof="0">
                <a:solidFill>
                  <a:srgbClr val="4B5F80"/>
                </a:solidFill>
                <a:latin typeface="Nunito Sans"/>
              </a:rPr>
              <a:t/>
            </a:r>
          </a:p>
        </p:txBody>
      </p:sp>
      <p:pic>
        <p:nvPicPr>
          <p:cNvPr id="21" name="Graphic 20" descr="Presentation with org chart with solid fill">
            <a:extLst>
              <a:ext uri="{FF2B5EF4-FFF2-40B4-BE49-F238E27FC236}">
                <a16:creationId xmlns:a16="http://schemas.microsoft.com/office/drawing/2014/main" id="{FE7851E1-3AB3-2B0A-D447-C942B0C6D10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92820" y="987662"/>
            <a:ext cx="487376" cy="487376"/>
          </a:xfrm>
          <a:prstGeom prst="rect">
            <a:avLst/>
          </a:prstGeom>
        </p:spPr>
      </p:pic>
      <p:sp>
        <p:nvSpPr>
          <p:cNvPr id="13" name="Oval 12">
            <a:extLst>
              <a:ext uri="{FF2B5EF4-FFF2-40B4-BE49-F238E27FC236}">
                <a16:creationId xmlns:a16="http://schemas.microsoft.com/office/drawing/2014/main" id="{210A7196-A286-66F6-DADB-4B8030D461C7}"/>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graphicFrame>
        <p:nvGraphicFramePr>
          <p:cNvPr id="22" name="Table 21"/>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97200">
                <a:tc>
                  <a:txBody>
                    <a:bodyPr wrap="square"/>
                    <a:lstStyle/>
                    <a:p>
                      <a:pPr algn="l"/>
                      <a:r>
                        <a:rPr sz="900" b="0">
                          <a:solidFill>
                            <a:srgbClr val="202945"/>
                          </a:solidFill>
                        </a:rPr>
                        <a:t>COA KONA III REF3 LP</a:t>
                      </a:r>
                    </a:p>
                  </a:txBody>
                  <a:tcPr marL="45720" marR="45720" anchor="ctr">
                    <a:noFill/>
                  </a:tcPr>
                </a:tc>
                <a:tc>
                  <a:txBody>
                    <a:bodyPr wrap="square"/>
                    <a:lstStyle/>
                    <a:p>
                      <a:pPr algn="l"/>
                      <a:r>
                        <a:rPr sz="900" b="0">
                          <a:solidFill>
                            <a:srgbClr val="202945"/>
                          </a:solidFill>
                        </a:rPr>
                        <a:t>USD 1649k</a:t>
                      </a:r>
                    </a:p>
                  </a:txBody>
                  <a:tcPr marL="45720" marR="45720" anchor="ctr">
                    <a:noFill/>
                  </a:tcPr>
                </a:tc>
                <a:tc>
                  <a:txBody>
                    <a:bodyPr wrap="square"/>
                    <a:lstStyle/>
                    <a:p>
                      <a:pPr algn="r"/>
                      <a:r>
                        <a:rPr sz="900" b="0">
                          <a:solidFill>
                            <a:srgbClr val="202945"/>
                          </a:solidFill>
                        </a:rPr>
                        <a:t>6.7%</a:t>
                      </a:r>
                    </a:p>
                  </a:txBody>
                  <a:tcPr marL="45720" marR="45720" anchor="ctr">
                    <a:noFill/>
                  </a:tcPr>
                </a:tc>
              </a:tr>
              <a:tr h="97200">
                <a:tc>
                  <a:txBody>
                    <a:bodyPr wrap="square"/>
                    <a:lstStyle/>
                    <a:p>
                      <a:pPr algn="l"/>
                      <a:r>
                        <a:rPr sz="900" b="0">
                          <a:solidFill>
                            <a:srgbClr val="202945"/>
                          </a:solidFill>
                        </a:rPr>
                        <a:t>LEFT LANE CP II CLT2</a:t>
                      </a:r>
                    </a:p>
                  </a:txBody>
                  <a:tcPr marL="45720" marR="45720" anchor="ctr">
                    <a:noFill/>
                  </a:tcPr>
                </a:tc>
                <a:tc>
                  <a:txBody>
                    <a:bodyPr wrap="square"/>
                    <a:lstStyle/>
                    <a:p>
                      <a:pPr algn="l"/>
                      <a:r>
                        <a:rPr sz="900" b="0">
                          <a:solidFill>
                            <a:srgbClr val="202945"/>
                          </a:solidFill>
                        </a:rPr>
                        <a:t>USD 1464k</a:t>
                      </a:r>
                    </a:p>
                  </a:txBody>
                  <a:tcPr marL="45720" marR="45720" anchor="ctr">
                    <a:noFill/>
                  </a:tcPr>
                </a:tc>
                <a:tc>
                  <a:txBody>
                    <a:bodyPr wrap="square"/>
                    <a:lstStyle/>
                    <a:p>
                      <a:pPr algn="r"/>
                      <a:r>
                        <a:rPr sz="900" b="0">
                          <a:solidFill>
                            <a:srgbClr val="202945"/>
                          </a:solidFill>
                        </a:rPr>
                        <a:t>6.0%</a:t>
                      </a:r>
                    </a:p>
                  </a:txBody>
                  <a:tcPr marL="45720" marR="45720" anchor="ctr">
                    <a:noFill/>
                  </a:tcPr>
                </a:tc>
              </a:tr>
              <a:tr h="97200">
                <a:tc>
                  <a:txBody>
                    <a:bodyPr wrap="square"/>
                    <a:lstStyle/>
                    <a:p>
                      <a:pPr algn="l"/>
                      <a:r>
                        <a:rPr sz="900" b="0">
                          <a:solidFill>
                            <a:srgbClr val="202945"/>
                          </a:solidFill>
                        </a:rPr>
                        <a:t>ACE BUYOUT III SPC A</a:t>
                      </a:r>
                    </a:p>
                  </a:txBody>
                  <a:tcPr marL="45720" marR="45720" anchor="ctr">
                    <a:noFill/>
                  </a:tcPr>
                </a:tc>
                <a:tc>
                  <a:txBody>
                    <a:bodyPr wrap="square"/>
                    <a:lstStyle/>
                    <a:p>
                      <a:pPr algn="l"/>
                      <a:r>
                        <a:rPr sz="900" b="0">
                          <a:solidFill>
                            <a:srgbClr val="202945"/>
                          </a:solidFill>
                        </a:rPr>
                        <a:t>USD 436k</a:t>
                      </a:r>
                    </a:p>
                  </a:txBody>
                  <a:tcPr marL="45720" marR="45720" anchor="ctr">
                    <a:noFill/>
                  </a:tcPr>
                </a:tc>
                <a:tc>
                  <a:txBody>
                    <a:bodyPr wrap="square"/>
                    <a:lstStyle/>
                    <a:p>
                      <a:pPr algn="r"/>
                      <a:r>
                        <a:rPr sz="900" b="0">
                          <a:solidFill>
                            <a:srgbClr val="202945"/>
                          </a:solidFill>
                        </a:rPr>
                        <a:t>1.8%</a:t>
                      </a:r>
                    </a:p>
                  </a:txBody>
                  <a:tcPr marL="45720" marR="45720" anchor="ctr">
                    <a:noFill/>
                  </a:tcPr>
                </a:tc>
              </a:tr>
              <a:tr h="97200">
                <a:tc>
                  <a:txBody>
                    <a:bodyPr wrap="square"/>
                    <a:lstStyle/>
                    <a:p>
                      <a:pPr algn="l"/>
                      <a:r>
                        <a:rPr sz="900" b="0">
                          <a:solidFill>
                            <a:srgbClr val="202945"/>
                          </a:solidFill>
                        </a:rPr>
                        <a:t>ECHO FUND SCSP</a:t>
                      </a:r>
                    </a:p>
                  </a:txBody>
                  <a:tcPr marL="45720" marR="45720" anchor="ctr">
                    <a:noFill/>
                  </a:tcPr>
                </a:tc>
                <a:tc>
                  <a:txBody>
                    <a:bodyPr wrap="square"/>
                    <a:lstStyle/>
                    <a:p>
                      <a:pPr algn="l"/>
                      <a:r>
                        <a:rPr sz="900" b="0">
                          <a:solidFill>
                            <a:srgbClr val="202945"/>
                          </a:solidFill>
                        </a:rPr>
                        <a:t>EUR 271k</a:t>
                      </a:r>
                    </a:p>
                  </a:txBody>
                  <a:tcPr marL="45720" marR="45720" anchor="ctr">
                    <a:noFill/>
                  </a:tcPr>
                </a:tc>
                <a:tc>
                  <a:txBody>
                    <a:bodyPr wrap="square"/>
                    <a:lstStyle/>
                    <a:p>
                      <a:pPr algn="r"/>
                      <a:r>
                        <a:rPr sz="900" b="0">
                          <a:solidFill>
                            <a:srgbClr val="202945"/>
                          </a:solidFill>
                        </a:rPr>
                        <a:t>1.3%</a:t>
                      </a:r>
                    </a:p>
                  </a:txBody>
                  <a:tcPr marL="45720" marR="45720" anchor="ctr">
                    <a:noFill/>
                  </a:tcPr>
                </a:tc>
              </a:tr>
              <a:tr h="97200">
                <a:tc>
                  <a:txBody>
                    <a:bodyPr wrap="square"/>
                    <a:lstStyle/>
                    <a:p>
                      <a:pPr algn="l"/>
                      <a:r>
                        <a:rPr sz="900" b="0">
                          <a:solidFill>
                            <a:srgbClr val="202945"/>
                          </a:solidFill>
                        </a:rPr>
                        <a:t>THEMIS FUND REF2 SCSP</a:t>
                      </a:r>
                    </a:p>
                  </a:txBody>
                  <a:tcPr marL="45720" marR="45720" anchor="ctr">
                    <a:noFill/>
                  </a:tcPr>
                </a:tc>
                <a:tc>
                  <a:txBody>
                    <a:bodyPr wrap="square"/>
                    <a:lstStyle/>
                    <a:p>
                      <a:pPr algn="l"/>
                      <a:r>
                        <a:rPr sz="900" b="0">
                          <a:solidFill>
                            <a:srgbClr val="202945"/>
                          </a:solidFill>
                        </a:rPr>
                        <a:t>USD 90k</a:t>
                      </a:r>
                    </a:p>
                  </a:txBody>
                  <a:tcPr marL="45720" marR="45720" anchor="ctr">
                    <a:noFill/>
                  </a:tcPr>
                </a:tc>
                <a:tc>
                  <a:txBody>
                    <a:bodyPr wrap="square"/>
                    <a:lstStyle/>
                    <a:p>
                      <a:pPr algn="r"/>
                      <a:r>
                        <a:rPr sz="900" b="0">
                          <a:solidFill>
                            <a:srgbClr val="202945"/>
                          </a:solidFill>
                        </a:rPr>
                        <a:t>0.4%</a:t>
                      </a:r>
                    </a:p>
                  </a:txBody>
                  <a:tcPr marL="45720" marR="45720" anchor="ctr">
                    <a:noFill/>
                  </a:tcPr>
                </a:tc>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C42A2-3AB7-A6EC-64D3-C20D1C4F61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5D212D-6515-E3CF-946C-40B57C2DBFCF}"/>
              </a:ext>
            </a:extLst>
          </p:cNvPr>
          <p:cNvSpPr>
            <a:spLocks noGrp="1"/>
          </p:cNvSpPr>
          <p:nvPr>
            <p:ph type="title"/>
          </p:nvPr>
        </p:nvSpPr>
        <p:spPr/>
        <p:txBody>
          <a:bodyPr/>
          <a:lstStyle/>
          <a:p>
            <a:r>
              <a:rPr lang="en-US" dirty="0"/>
              <a:t>Commodities</a:t>
            </a:r>
            <a:endParaRPr lang="en-US" noProof="0" dirty="0"/>
          </a:p>
        </p:txBody>
      </p:sp>
      <p:sp>
        <p:nvSpPr>
          <p:cNvPr id="4" name="TextBox 3">
            <a:extLst>
              <a:ext uri="{FF2B5EF4-FFF2-40B4-BE49-F238E27FC236}">
                <a16:creationId xmlns:a16="http://schemas.microsoft.com/office/drawing/2014/main" id="{8A84E177-3ABC-03B6-CF76-D443215AF26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370BC6EB-1FF6-F80D-32FD-FA3E2A7E43B1}"/>
              </a:ext>
            </a:extLst>
          </p:cNvPr>
          <p:cNvSpPr txBox="1"/>
          <p:nvPr/>
        </p:nvSpPr>
        <p:spPr>
          <a:xfrm>
            <a:off x="666000" y="2520000"/>
            <a:ext cx="4536000" cy="1015663"/>
          </a:xfrm>
          <a:prstGeom prst="rect">
            <a:avLst/>
          </a:prstGeom>
          <a:noFill/>
        </p:spPr>
        <p:txBody>
          <a:bodyPr wrap="square" lIns="0" anchor="t">
            <a:spAutoFit/>
          </a:bodyPr>
          <a:lstStyle/>
          <a:p>
            <a:pPr algn="l">
              <a:spcAft>
                <a:spcPts val="800"/>
              </a:spcAft>
            </a:pPr>
            <a:r>
              <a:rPr lang="en-US" sz="1200" b="0" noProof="0">
                <a:solidFill>
                  <a:srgbClr val="202945"/>
                </a:solidFill>
                <a:latin typeface="Nunito Sans"/>
              </a:rPr>
              <a:t>Commodities diversification: exposure across precious metals, energy, industrial metals and agriculture. The sleeve provides diversification against traditional asset classes and can offer protection against inflation and geopolitical shocks. Exposure is implemented through funds, ETFs/ETCs and structured products.</a:t>
            </a:r>
          </a:p>
        </p:txBody>
      </p:sp>
      <p:sp>
        <p:nvSpPr>
          <p:cNvPr id="6" name="TextBox 5">
            <a:extLst>
              <a:ext uri="{FF2B5EF4-FFF2-40B4-BE49-F238E27FC236}">
                <a16:creationId xmlns:a16="http://schemas.microsoft.com/office/drawing/2014/main" id="{970EA3A4-BF71-098C-4BFD-FAB1AEF1E9E3}"/>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8" name="TextBox 7">
            <a:extLst>
              <a:ext uri="{FF2B5EF4-FFF2-40B4-BE49-F238E27FC236}">
                <a16:creationId xmlns:a16="http://schemas.microsoft.com/office/drawing/2014/main" id="{3B530A2B-C246-EF91-E62E-2EFD14EBE1F3}"/>
              </a:ext>
            </a:extLst>
          </p:cNvPr>
          <p:cNvSpPr txBox="1"/>
          <p:nvPr/>
        </p:nvSpPr>
        <p:spPr>
          <a:xfrm>
            <a:off x="5418000" y="2160000"/>
            <a:ext cx="4608000" cy="307777"/>
          </a:xfrm>
          <a:prstGeom prst="rect">
            <a:avLst/>
          </a:prstGeom>
          <a:noFill/>
        </p:spPr>
        <p:txBody>
          <a:bodyPr wrap="square" anchor="t">
            <a:spAutoFit/>
          </a:bodyPr>
          <a:lstStyle/>
          <a:p>
            <a:pPr algn="l"/>
            <a:r>
              <a:rPr lang="en-US" sz="1400" b="1" dirty="0">
                <a:solidFill>
                  <a:srgbClr val="202945"/>
                </a:solidFill>
                <a:latin typeface="Nunito Sans ExtraBold"/>
              </a:rPr>
              <a:t>Commodities</a:t>
            </a:r>
            <a:r>
              <a:rPr lang="en-US" sz="1400" b="1" noProof="0" dirty="0">
                <a:solidFill>
                  <a:srgbClr val="202945"/>
                </a:solidFill>
                <a:latin typeface="Nunito Sans ExtraBold"/>
              </a:rPr>
              <a:t> across investment vehicles</a:t>
            </a:r>
          </a:p>
        </p:txBody>
      </p:sp>
      <p:sp>
        <p:nvSpPr>
          <p:cNvPr id="9" name="Rectangle 8">
            <a:extLst>
              <a:ext uri="{FF2B5EF4-FFF2-40B4-BE49-F238E27FC236}">
                <a16:creationId xmlns:a16="http://schemas.microsoft.com/office/drawing/2014/main" id="{AE5DDCCB-D619-8F86-8126-C18BF0F31E53}"/>
              </a:ext>
            </a:extLst>
          </p:cNvPr>
          <p:cNvSpPr/>
          <p:nvPr/>
        </p:nvSpPr>
        <p:spPr>
          <a:xfrm>
            <a:off x="5418000" y="2520000"/>
            <a:ext cx="4608000" cy="3816000"/>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10" name="Chart 9">
            <a:extLst>
              <a:ext uri="{FF2B5EF4-FFF2-40B4-BE49-F238E27FC236}">
                <a16:creationId xmlns:a16="http://schemas.microsoft.com/office/drawing/2014/main" id="{0B6EFED3-2474-7F8B-FB18-FA9C0CF749B7}"/>
              </a:ext>
            </a:extLst>
          </p:cNvPr>
          <p:cNvGraphicFramePr>
            <a:graphicFrameLocks noGrp="1"/>
          </p:cNvGraphicFramePr>
          <p:nvPr>
            <p:extLst>
              <p:ext uri="{D42A27DB-BD31-4B8C-83A1-F6EECF244321}">
                <p14:modId xmlns:p14="http://schemas.microsoft.com/office/powerpoint/2010/main" val="200598910"/>
              </p:ext>
            </p:extLst>
          </p:nvPr>
        </p:nvGraphicFramePr>
        <p:xfrm>
          <a:off x="5598000" y="2700000"/>
          <a:ext cx="4248000" cy="3456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a:extLst>
              <a:ext uri="{FF2B5EF4-FFF2-40B4-BE49-F238E27FC236}">
                <a16:creationId xmlns:a16="http://schemas.microsoft.com/office/drawing/2014/main" id="{5400323E-D157-9B67-3FD1-8F2AF89255DA}"/>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2C75044D-5608-0F82-F93D-A60BABFB91D1}"/>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9" name="Graphic 18" descr="Gold bars with solid fill">
            <a:extLst>
              <a:ext uri="{FF2B5EF4-FFF2-40B4-BE49-F238E27FC236}">
                <a16:creationId xmlns:a16="http://schemas.microsoft.com/office/drawing/2014/main" id="{36BE5BCB-655C-27C4-7FEC-BA6F6B491E8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00707" y="935038"/>
            <a:ext cx="471601" cy="471601"/>
          </a:xfrm>
          <a:prstGeom prst="rect">
            <a:avLst/>
          </a:prstGeom>
        </p:spPr>
      </p:pic>
      <p:graphicFrame>
        <p:nvGraphicFramePr>
          <p:cNvPr id="20" name="Table 19"/>
          <p:cNvGraphicFramePr>
            <a:graphicFrameLocks noGrp="1"/>
          </p:cNvGraphicFramePr>
          <p:nvPr/>
        </p:nvGraphicFramePr>
        <p:xfrm>
          <a:off x="666000" y="4860000"/>
          <a:ext cx="4535997" cy="583200"/>
        </p:xfrm>
        <a:graphic>
          <a:graphicData uri="http://schemas.openxmlformats.org/drawingml/2006/table">
            <a:tbl>
              <a:tblPr firstRow="1" bandRow="1">
                <a:tableStyleId>{5C22544A-7EE6-4342-B048-85BDC9FD1C3A}</a:tableStyleId>
              </a:tblPr>
              <a:tblGrid>
                <a:gridCol w="2358719"/>
                <a:gridCol w="1088639"/>
                <a:gridCol w="108863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r>
              <a:tr h="97200">
                <a:tc>
                  <a:txBody>
                    <a:bodyPr wrap="square"/>
                    <a:lstStyle/>
                    <a:p>
                      <a:pPr algn="l"/>
                      <a:r>
                        <a:rPr sz="900" b="0">
                          <a:solidFill>
                            <a:srgbClr val="202945"/>
                          </a:solidFill>
                        </a:rPr>
                        <a:t>GOLD KG 1 999.9 CHF</a:t>
                      </a:r>
                    </a:p>
                  </a:txBody>
                  <a:tcPr marL="45720" marR="45720" anchor="ctr">
                    <a:noFill/>
                  </a:tcPr>
                </a:tc>
                <a:tc>
                  <a:txBody>
                    <a:bodyPr wrap="square"/>
                    <a:lstStyle/>
                    <a:p>
                      <a:pPr algn="l"/>
                      <a:r>
                        <a:rPr sz="900" b="0">
                          <a:solidFill>
                            <a:srgbClr val="202945"/>
                          </a:solidFill>
                        </a:rPr>
                        <a:t>CHF 4004k</a:t>
                      </a:r>
                    </a:p>
                  </a:txBody>
                  <a:tcPr marL="45720" marR="45720" anchor="ctr">
                    <a:noFill/>
                  </a:tcPr>
                </a:tc>
                <a:tc>
                  <a:txBody>
                    <a:bodyPr wrap="square"/>
                    <a:lstStyle/>
                    <a:p>
                      <a:pPr algn="r"/>
                      <a:r>
                        <a:rPr sz="900" b="0">
                          <a:solidFill>
                            <a:srgbClr val="202945"/>
                          </a:solidFill>
                        </a:rPr>
                        <a:t>20.1%</a:t>
                      </a:r>
                    </a:p>
                  </a:txBody>
                  <a:tcPr marL="45720" marR="45720" anchor="ctr">
                    <a:noFill/>
                  </a:tcPr>
                </a:tc>
              </a:tr>
              <a:tr h="97200">
                <a:tc>
                  <a:txBody>
                    <a:bodyPr wrap="square"/>
                    <a:lstStyle/>
                    <a:p>
                      <a:pPr algn="l"/>
                      <a:r>
                        <a:rPr sz="900" b="0">
                          <a:solidFill>
                            <a:srgbClr val="202945"/>
                          </a:solidFill>
                        </a:rPr>
                        <a:t>OR KRUGERRAND(PCE)1OZ USD</a:t>
                      </a:r>
                    </a:p>
                  </a:txBody>
                  <a:tcPr marL="45720" marR="45720" anchor="ctr">
                    <a:noFill/>
                  </a:tcPr>
                </a:tc>
                <a:tc>
                  <a:txBody>
                    <a:bodyPr wrap="square"/>
                    <a:lstStyle/>
                    <a:p>
                      <a:pPr algn="l"/>
                      <a:r>
                        <a:rPr sz="900" b="0">
                          <a:solidFill>
                            <a:srgbClr val="202945"/>
                          </a:solidFill>
                        </a:rPr>
                        <a:t>USD 309k</a:t>
                      </a:r>
                    </a:p>
                  </a:txBody>
                  <a:tcPr marL="45720" marR="45720" anchor="ctr">
                    <a:noFill/>
                  </a:tcPr>
                </a:tc>
                <a:tc>
                  <a:txBody>
                    <a:bodyPr wrap="square"/>
                    <a:lstStyle/>
                    <a:p>
                      <a:pPr algn="r"/>
                      <a:r>
                        <a:rPr sz="900" b="0">
                          <a:solidFill>
                            <a:srgbClr val="202945"/>
                          </a:solidFill>
                        </a:rPr>
                        <a:t>1.3%</a:t>
                      </a:r>
                    </a:p>
                  </a:txBody>
                  <a:tcPr marL="45720" marR="45720" anchor="ctr">
                    <a:noFill/>
                  </a:tcPr>
                </a:tc>
              </a:tr>
              <a:tr h="97200">
                <a:tc>
                  <a:txBody>
                    <a:bodyPr wrap="square"/>
                    <a:lstStyle/>
                    <a:p>
                      <a:pPr algn="l"/>
                      <a:r>
                        <a:rPr sz="900" b="0">
                          <a:solidFill>
                            <a:srgbClr val="202945"/>
                          </a:solidFill>
                        </a:rPr>
                        <a:t>SWC(CH)PLATINUM ETF EACHF</a:t>
                      </a:r>
                    </a:p>
                  </a:txBody>
                  <a:tcPr marL="45720" marR="45720" anchor="ctr">
                    <a:noFill/>
                  </a:tcPr>
                </a:tc>
                <a:tc>
                  <a:txBody>
                    <a:bodyPr wrap="square"/>
                    <a:lstStyle/>
                    <a:p>
                      <a:pPr algn="l"/>
                      <a:r>
                        <a:rPr sz="900" b="0">
                          <a:solidFill>
                            <a:srgbClr val="202945"/>
                          </a:solidFill>
                        </a:rPr>
                        <a:t>CHF 201k</a:t>
                      </a:r>
                    </a:p>
                  </a:txBody>
                  <a:tcPr marL="45720" marR="45720" anchor="ctr">
                    <a:noFill/>
                  </a:tcPr>
                </a:tc>
                <a:tc>
                  <a:txBody>
                    <a:bodyPr wrap="square"/>
                    <a:lstStyle/>
                    <a:p>
                      <a:pPr algn="r"/>
                      <a:r>
                        <a:rPr sz="900" b="0">
                          <a:solidFill>
                            <a:srgbClr val="202945"/>
                          </a:solidFill>
                        </a:rPr>
                        <a:t>1.0%</a:t>
                      </a:r>
                    </a:p>
                  </a:txBody>
                  <a:tcPr marL="45720" marR="45720" anchor="ctr">
                    <a:noFill/>
                  </a:tcPr>
                </a:tc>
              </a:tr>
              <a:tr h="97200">
                <a:tc>
                  <a:txBody>
                    <a:bodyPr wrap="square"/>
                    <a:lstStyle/>
                    <a:p>
                      <a:pPr algn="l"/>
                      <a:r>
                        <a:rPr sz="900" b="0">
                          <a:solidFill>
                            <a:srgbClr val="202945"/>
                          </a:solidFill>
                        </a:rPr>
                        <a:t>WISDOMT.ETC-COPPER COM ID</a:t>
                      </a:r>
                    </a:p>
                  </a:txBody>
                  <a:tcPr marL="45720" marR="45720" anchor="ctr">
                    <a:noFill/>
                  </a:tcPr>
                </a:tc>
                <a:tc>
                  <a:txBody>
                    <a:bodyPr wrap="square"/>
                    <a:lstStyle/>
                    <a:p>
                      <a:pPr algn="l"/>
                      <a:r>
                        <a:rPr sz="900" b="0">
                          <a:solidFill>
                            <a:srgbClr val="202945"/>
                          </a:solidFill>
                        </a:rPr>
                        <a:t>USD 241k</a:t>
                      </a:r>
                    </a:p>
                  </a:txBody>
                  <a:tcPr marL="45720" marR="45720" anchor="ctr">
                    <a:noFill/>
                  </a:tcPr>
                </a:tc>
                <a:tc>
                  <a:txBody>
                    <a:bodyPr wrap="square"/>
                    <a:lstStyle/>
                    <a:p>
                      <a:pPr algn="r"/>
                      <a:r>
                        <a:rPr sz="900" b="0">
                          <a:solidFill>
                            <a:srgbClr val="202945"/>
                          </a:solidFill>
                        </a:rPr>
                        <a:t>1.0%</a:t>
                      </a:r>
                    </a:p>
                  </a:txBody>
                  <a:tcPr marL="45720" marR="45720" anchor="ctr">
                    <a:noFill/>
                  </a:tcPr>
                </a:tc>
              </a:tr>
              <a:tr h="97200">
                <a:tc>
                  <a:txBody>
                    <a:bodyPr wrap="square"/>
                    <a:lstStyle/>
                    <a:p>
                      <a:pPr algn="l"/>
                      <a:r>
                        <a:rPr sz="900" b="0">
                          <a:solidFill>
                            <a:srgbClr val="202945"/>
                          </a:solidFill>
                        </a:rPr>
                        <a:t>WISDOMTREE-ETC-ALUMIN PER</a:t>
                      </a:r>
                    </a:p>
                  </a:txBody>
                  <a:tcPr marL="45720" marR="45720" anchor="ctr">
                    <a:noFill/>
                  </a:tcPr>
                </a:tc>
                <a:tc>
                  <a:txBody>
                    <a:bodyPr wrap="square"/>
                    <a:lstStyle/>
                    <a:p>
                      <a:pPr algn="l"/>
                      <a:r>
                        <a:rPr sz="900" b="0">
                          <a:solidFill>
                            <a:srgbClr val="202945"/>
                          </a:solidFill>
                        </a:rPr>
                        <a:t>USD 230k</a:t>
                      </a:r>
                    </a:p>
                  </a:txBody>
                  <a:tcPr marL="45720" marR="45720" anchor="ctr">
                    <a:noFill/>
                  </a:tcPr>
                </a:tc>
                <a:tc>
                  <a:txBody>
                    <a:bodyPr wrap="square"/>
                    <a:lstStyle/>
                    <a:p>
                      <a:pPr algn="r"/>
                      <a:r>
                        <a:rPr sz="900" b="0">
                          <a:solidFill>
                            <a:srgbClr val="202945"/>
                          </a:solidFill>
                        </a:rPr>
                        <a:t>0.9%</a:t>
                      </a:r>
                    </a:p>
                  </a:txBody>
                  <a:tcPr marL="45720" marR="45720" anchor="ctr">
                    <a:noFill/>
                  </a:tcPr>
                </a:tc>
              </a:tr>
            </a:tbl>
          </a:graphicData>
        </a:graphic>
      </p:graphicFrame>
    </p:spTree>
    <p:extLst>
      <p:ext uri="{BB962C8B-B14F-4D97-AF65-F5344CB8AC3E}">
        <p14:creationId xmlns:p14="http://schemas.microsoft.com/office/powerpoint/2010/main" val="317599344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328F8-53F6-CED6-31E0-2DCEDFB991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3C1EE4-2B5C-1D4C-4153-67DF338667A9}"/>
              </a:ext>
            </a:extLst>
          </p:cNvPr>
          <p:cNvSpPr>
            <a:spLocks noGrp="1"/>
          </p:cNvSpPr>
          <p:nvPr>
            <p:ph type="title"/>
          </p:nvPr>
        </p:nvSpPr>
        <p:spPr/>
        <p:txBody>
          <a:bodyPr/>
          <a:lstStyle/>
          <a:p>
            <a:r>
              <a:rPr lang="en-US" noProof="0" dirty="0"/>
              <a:t>Structured products</a:t>
            </a:r>
          </a:p>
        </p:txBody>
      </p:sp>
      <p:sp>
        <p:nvSpPr>
          <p:cNvPr id="4" name="TextBox 3">
            <a:extLst>
              <a:ext uri="{FF2B5EF4-FFF2-40B4-BE49-F238E27FC236}">
                <a16:creationId xmlns:a16="http://schemas.microsoft.com/office/drawing/2014/main" id="{9D19CC08-E71F-318C-3DD8-8F8F59AC2B32}"/>
              </a:ext>
            </a:extLst>
          </p:cNvPr>
          <p:cNvSpPr txBox="1"/>
          <p:nvPr/>
        </p:nvSpPr>
        <p:spPr>
          <a:xfrm>
            <a:off x="666000" y="2160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How this sleeve is built</a:t>
            </a:r>
          </a:p>
        </p:txBody>
      </p:sp>
      <p:sp>
        <p:nvSpPr>
          <p:cNvPr id="5" name="TextBox 4">
            <a:extLst>
              <a:ext uri="{FF2B5EF4-FFF2-40B4-BE49-F238E27FC236}">
                <a16:creationId xmlns:a16="http://schemas.microsoft.com/office/drawing/2014/main" id="{9A95A346-C89D-DDED-D961-239FF26C8C6C}"/>
              </a:ext>
            </a:extLst>
          </p:cNvPr>
          <p:cNvSpPr txBox="1"/>
          <p:nvPr/>
        </p:nvSpPr>
        <p:spPr>
          <a:xfrm>
            <a:off x="666000" y="2520000"/>
            <a:ext cx="4536000" cy="1384995"/>
          </a:xfrm>
          <a:prstGeom prst="rect">
            <a:avLst/>
          </a:prstGeom>
          <a:noFill/>
        </p:spPr>
        <p:txBody>
          <a:bodyPr wrap="square" lIns="0" anchor="t">
            <a:spAutoFit/>
          </a:bodyPr>
          <a:lstStyle/>
          <a:p>
            <a:pPr>
              <a:spcAft>
                <a:spcPts val="800"/>
              </a:spcAft>
            </a:pPr>
            <a:r>
              <a:rPr lang="en-CH" sz="1200" b="1" dirty="0">
                <a:solidFill>
                  <a:schemeClr val="tx2"/>
                </a:solidFill>
              </a:rPr>
              <a:t>Structured Products diversification:</a:t>
            </a:r>
            <a:r>
              <a:rPr lang="en-CH" sz="1200" dirty="0">
                <a:solidFill>
                  <a:schemeClr val="tx2"/>
                </a:solidFill>
              </a:rPr>
              <a:t> a combination of yield-enhancement, participation and capital-protection strategies across equities, rates, credit and other underlying assets. Products are selected according to their payoff profile, maturity and risk characteristics, with the objective of enhancing portfolio income, accessing targeted market exposures and improving downside protection.</a:t>
            </a:r>
            <a:endParaRPr lang="en-US" sz="1200" b="0" noProof="0" dirty="0">
              <a:solidFill>
                <a:schemeClr val="tx2"/>
              </a:solidFill>
              <a:latin typeface="Nunito Sans"/>
            </a:endParaRPr>
          </a:p>
        </p:txBody>
      </p:sp>
      <p:sp>
        <p:nvSpPr>
          <p:cNvPr id="6" name="TextBox 5">
            <a:extLst>
              <a:ext uri="{FF2B5EF4-FFF2-40B4-BE49-F238E27FC236}">
                <a16:creationId xmlns:a16="http://schemas.microsoft.com/office/drawing/2014/main" id="{70DEAEC7-0D51-F0ED-BA01-134A4389238F}"/>
              </a:ext>
            </a:extLst>
          </p:cNvPr>
          <p:cNvSpPr txBox="1"/>
          <p:nvPr/>
        </p:nvSpPr>
        <p:spPr>
          <a:xfrm>
            <a:off x="666000" y="4500000"/>
            <a:ext cx="4536000" cy="324000"/>
          </a:xfrm>
          <a:prstGeom prst="rect">
            <a:avLst/>
          </a:prstGeom>
          <a:noFill/>
        </p:spPr>
        <p:txBody>
          <a:bodyPr wrap="square" anchor="t">
            <a:spAutoFit/>
          </a:bodyPr>
          <a:lstStyle/>
          <a:p>
            <a:pPr algn="l"/>
            <a:r>
              <a:rPr lang="en-US" sz="1500" b="1" noProof="0" dirty="0">
                <a:solidFill>
                  <a:srgbClr val="202945"/>
                </a:solidFill>
                <a:latin typeface="Nunito Sans ExtraBold"/>
              </a:rPr>
              <a:t>Largest holdings in this sleeve</a:t>
            </a:r>
          </a:p>
        </p:txBody>
      </p:sp>
      <p:sp>
        <p:nvSpPr>
          <p:cNvPr id="12" name="TextBox 11">
            <a:extLst>
              <a:ext uri="{FF2B5EF4-FFF2-40B4-BE49-F238E27FC236}">
                <a16:creationId xmlns:a16="http://schemas.microsoft.com/office/drawing/2014/main" id="{07F7F316-F978-B8E5-4576-FF25BA97CCAE}"/>
              </a:ext>
            </a:extLst>
          </p:cNvPr>
          <p:cNvSpPr txBox="1"/>
          <p:nvPr/>
        </p:nvSpPr>
        <p:spPr>
          <a:xfrm>
            <a:off x="666000" y="6983999"/>
            <a:ext cx="9396000" cy="432000"/>
          </a:xfrm>
          <a:prstGeom prst="rect">
            <a:avLst/>
          </a:prstGeom>
          <a:noFill/>
        </p:spPr>
        <p:txBody>
          <a:bodyPr wrap="square" anchor="t">
            <a:spAutoFit/>
          </a:bodyPr>
          <a:lstStyle/>
          <a:p>
            <a:pPr algn="l"/>
            <a:r>
              <a:rPr lang="en-US" sz="900" b="0" noProof="0" dirty="0">
                <a:solidFill>
                  <a:srgbClr val="4B5F80"/>
                </a:solidFill>
                <a:latin typeface="Nunito Sans"/>
              </a:rPr>
              <a:t/>
            </a:r>
          </a:p>
        </p:txBody>
      </p:sp>
      <p:sp>
        <p:nvSpPr>
          <p:cNvPr id="15" name="Oval 14">
            <a:extLst>
              <a:ext uri="{FF2B5EF4-FFF2-40B4-BE49-F238E27FC236}">
                <a16:creationId xmlns:a16="http://schemas.microsoft.com/office/drawing/2014/main" id="{C36BE8EF-C3A9-41DA-70ED-B995D3E8659C}"/>
              </a:ext>
            </a:extLst>
          </p:cNvPr>
          <p:cNvSpPr/>
          <p:nvPr/>
        </p:nvSpPr>
        <p:spPr>
          <a:xfrm>
            <a:off x="9966508" y="935038"/>
            <a:ext cx="540000" cy="540000"/>
          </a:xfrm>
          <a:prstGeom prst="ellipse">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H" sz="1400"/>
          </a:p>
        </p:txBody>
      </p:sp>
      <p:pic>
        <p:nvPicPr>
          <p:cNvPr id="13" name="Graphic 12" descr="Puzzle pieces outline">
            <a:extLst>
              <a:ext uri="{FF2B5EF4-FFF2-40B4-BE49-F238E27FC236}">
                <a16:creationId xmlns:a16="http://schemas.microsoft.com/office/drawing/2014/main" id="{8727BBD6-F712-BA1C-53D0-52D8820FD0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007635" y="941965"/>
            <a:ext cx="471600" cy="471600"/>
          </a:xfrm>
          <a:prstGeom prst="rect">
            <a:avLst/>
          </a:prstGeom>
        </p:spPr>
      </p:pic>
      <p:graphicFrame>
        <p:nvGraphicFramePr>
          <p:cNvPr id="16" name="Table 15"/>
          <p:cNvGraphicFramePr>
            <a:graphicFrameLocks noGrp="1"/>
          </p:cNvGraphicFramePr>
          <p:nvPr/>
        </p:nvGraphicFramePr>
        <p:xfrm>
          <a:off x="666000" y="4860000"/>
          <a:ext cx="9341632" cy="583200"/>
        </p:xfrm>
        <a:graphic>
          <a:graphicData uri="http://schemas.openxmlformats.org/drawingml/2006/table">
            <a:tbl>
              <a:tblPr firstRow="1" bandRow="1">
                <a:tableStyleId>{5C22544A-7EE6-4342-B048-85BDC9FD1C3A}</a:tableStyleId>
              </a:tblPr>
              <a:tblGrid>
                <a:gridCol w="4297151"/>
                <a:gridCol w="1681494"/>
                <a:gridCol w="1307828"/>
                <a:gridCol w="2055159"/>
              </a:tblGrid>
              <a:tr h="97200">
                <a:tc>
                  <a:txBody>
                    <a:bodyPr wrap="square"/>
                    <a:lstStyle/>
                    <a:p>
                      <a:pPr algn="l"/>
                      <a:r>
                        <a:rPr sz="950" b="1">
                          <a:solidFill>
                            <a:srgbClr val="202945"/>
                          </a:solidFill>
                        </a:rPr>
                        <a:t>Holding</a:t>
                      </a:r>
                    </a:p>
                  </a:txBody>
                  <a:tcPr marL="45720" marR="45720" anchor="ctr">
                    <a:solidFill>
                      <a:srgbClr val="FFC545"/>
                    </a:solidFill>
                  </a:tcPr>
                </a:tc>
                <a:tc>
                  <a:txBody>
                    <a:bodyPr wrap="square"/>
                    <a:lstStyle/>
                    <a:p>
                      <a:pPr algn="l"/>
                      <a:r>
                        <a:rPr sz="950" b="1">
                          <a:solidFill>
                            <a:srgbClr val="202945"/>
                          </a:solidFill>
                        </a:rPr>
                        <a:t>Value</a:t>
                      </a:r>
                    </a:p>
                  </a:txBody>
                  <a:tcPr marL="45720" marR="45720" anchor="ctr">
                    <a:solidFill>
                      <a:srgbClr val="FFC545"/>
                    </a:solidFill>
                  </a:tcPr>
                </a:tc>
                <a:tc>
                  <a:txBody>
                    <a:bodyPr wrap="square"/>
                    <a:lstStyle/>
                    <a:p>
                      <a:pPr algn="l"/>
                      <a:r>
                        <a:rPr sz="950" b="1">
                          <a:solidFill>
                            <a:srgbClr val="202945"/>
                          </a:solidFill>
                        </a:rPr>
                        <a:t>Share</a:t>
                      </a:r>
                    </a:p>
                  </a:txBody>
                  <a:tcPr marL="45720" marR="45720" anchor="ctr">
                    <a:solidFill>
                      <a:srgbClr val="FFC545"/>
                    </a:solidFill>
                  </a:tcPr>
                </a:tc>
                <a:tc>
                  <a:txBody>
                    <a:bodyPr wrap="square"/>
                    <a:lstStyle/>
                    <a:p>
                      <a:pPr algn="l"/>
                      <a:r>
                        <a:rPr sz="950" b="1">
                          <a:solidFill>
                            <a:srgbClr val="202945"/>
                          </a:solidFill>
                        </a:rPr>
                        <a:t>Yield / Coupon</a:t>
                      </a:r>
                    </a:p>
                  </a:txBody>
                  <a:tcPr marL="45720" marR="45720" anchor="ctr">
                    <a:solidFill>
                      <a:srgbClr val="FFC545"/>
                    </a:solidFill>
                  </a:tcPr>
                </a:tc>
              </a:tr>
              <a:tr h="97200">
                <a:tc>
                  <a:txBody>
                    <a:bodyPr wrap="square"/>
                    <a:lstStyle/>
                    <a:p>
                      <a:pPr algn="l"/>
                      <a:r>
                        <a:rPr sz="900" b="0">
                          <a:solidFill>
                            <a:srgbClr val="202945"/>
                          </a:solidFill>
                        </a:rPr>
                        <a:t>CITIBTB11.3%ABBN-GALD-UBS  15.06.2027</a:t>
                      </a:r>
                    </a:p>
                  </a:txBody>
                  <a:tcPr marL="45720" marR="45720" anchor="ctr">
                    <a:noFill/>
                  </a:tcPr>
                </a:tc>
                <a:tc>
                  <a:txBody>
                    <a:bodyPr wrap="square"/>
                    <a:lstStyle/>
                    <a:p>
                      <a:pPr algn="l"/>
                      <a:r>
                        <a:rPr sz="900" b="0">
                          <a:solidFill>
                            <a:srgbClr val="202945"/>
                          </a:solidFill>
                        </a:rPr>
                        <a:t>CHF 233k</a:t>
                      </a:r>
                    </a:p>
                  </a:txBody>
                  <a:tcPr marL="45720" marR="45720" anchor="ctr">
                    <a:noFill/>
                  </a:tcPr>
                </a:tc>
                <a:tc>
                  <a:txBody>
                    <a:bodyPr wrap="square"/>
                    <a:lstStyle/>
                    <a:p>
                      <a:pPr algn="r"/>
                      <a:r>
                        <a:rPr sz="900" b="0">
                          <a:solidFill>
                            <a:srgbClr val="202945"/>
                          </a:solidFill>
                        </a:rPr>
                        <a:t>1.2%</a:t>
                      </a:r>
                    </a:p>
                  </a:txBody>
                  <a:tcPr marL="45720" marR="45720" anchor="ctr">
                    <a:noFill/>
                  </a:tcPr>
                </a:tc>
                <a:tc>
                  <a:txBody>
                    <a:bodyPr wrap="square"/>
                    <a:lstStyle/>
                    <a:p>
                      <a:pPr algn="r"/>
                      <a:r>
                        <a:rPr sz="900" b="0">
                          <a:solidFill>
                            <a:srgbClr val="202945"/>
                          </a:solidFill>
                        </a:rPr>
                        <a:t>4.10%</a:t>
                      </a:r>
                    </a:p>
                  </a:txBody>
                  <a:tcPr marL="45720" marR="45720" anchor="ctr">
                    <a:noFill/>
                  </a:tcPr>
                </a:tc>
              </a:tr>
              <a:tr h="97200">
                <a:tc>
                  <a:txBody>
                    <a:bodyPr wrap="square"/>
                    <a:lstStyle/>
                    <a:p>
                      <a:pPr algn="l"/>
                      <a:r>
                        <a:rPr sz="900" b="0">
                          <a:solidFill>
                            <a:srgbClr val="202945"/>
                          </a:solidFill>
                        </a:rPr>
                        <a:t>TCM 100% CPN 125% LEONAI1  25.08.2028</a:t>
                      </a:r>
                    </a:p>
                  </a:txBody>
                  <a:tcPr marL="45720" marR="45720" anchor="ctr">
                    <a:noFill/>
                  </a:tcPr>
                </a:tc>
                <a:tc>
                  <a:txBody>
                    <a:bodyPr wrap="square"/>
                    <a:lstStyle/>
                    <a:p>
                      <a:pPr algn="l"/>
                      <a:r>
                        <a:rPr sz="900" b="0">
                          <a:solidFill>
                            <a:srgbClr val="202945"/>
                          </a:solidFill>
                        </a:rPr>
                        <a:t>USD 245k</a:t>
                      </a:r>
                    </a:p>
                  </a:txBody>
                  <a:tcPr marL="45720" marR="45720" anchor="ctr">
                    <a:noFill/>
                  </a:tcPr>
                </a:tc>
                <a:tc>
                  <a:txBody>
                    <a:bodyPr wrap="square"/>
                    <a:lstStyle/>
                    <a:p>
                      <a:pPr algn="r"/>
                      <a:r>
                        <a:rPr sz="900" b="0">
                          <a:solidFill>
                            <a:srgbClr val="202945"/>
                          </a:solidFill>
                        </a:rPr>
                        <a:t>1.0%</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BNP CPN 8% ENI-TTE-CVX  10.11.2027</a:t>
                      </a:r>
                    </a:p>
                  </a:txBody>
                  <a:tcPr marL="45720" marR="45720" anchor="ctr">
                    <a:noFill/>
                  </a:tcPr>
                </a:tc>
                <a:tc>
                  <a:txBody>
                    <a:bodyPr wrap="square"/>
                    <a:lstStyle/>
                    <a:p>
                      <a:pPr algn="l"/>
                      <a:r>
                        <a:rPr sz="900" b="0">
                          <a:solidFill>
                            <a:srgbClr val="202945"/>
                          </a:solidFill>
                        </a:rPr>
                        <a:t>USD 211k</a:t>
                      </a:r>
                    </a:p>
                  </a:txBody>
                  <a:tcPr marL="45720" marR="45720" anchor="ctr">
                    <a:noFill/>
                  </a:tcPr>
                </a:tc>
                <a:tc>
                  <a:txBody>
                    <a:bodyPr wrap="square"/>
                    <a:lstStyle/>
                    <a:p>
                      <a:pPr algn="r"/>
                      <a:r>
                        <a:rPr sz="900" b="0">
                          <a:solidFill>
                            <a:srgbClr val="202945"/>
                          </a:solidFill>
                        </a:rPr>
                        <a:t>0.9%</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BIL OC 211.5% NESN  13.12.2027</a:t>
                      </a:r>
                    </a:p>
                  </a:txBody>
                  <a:tcPr marL="45720" marR="45720" anchor="ctr">
                    <a:noFill/>
                  </a:tcPr>
                </a:tc>
                <a:tc>
                  <a:txBody>
                    <a:bodyPr wrap="square"/>
                    <a:lstStyle/>
                    <a:p>
                      <a:pPr algn="l"/>
                      <a:r>
                        <a:rPr sz="900" b="0">
                          <a:solidFill>
                            <a:srgbClr val="202945"/>
                          </a:solidFill>
                        </a:rPr>
                        <a:t>CHF 168k</a:t>
                      </a:r>
                    </a:p>
                  </a:txBody>
                  <a:tcPr marL="45720" marR="45720" anchor="ctr">
                    <a:noFill/>
                  </a:tcPr>
                </a:tc>
                <a:tc>
                  <a:txBody>
                    <a:bodyPr wrap="square"/>
                    <a:lstStyle/>
                    <a:p>
                      <a:pPr algn="r"/>
                      <a:r>
                        <a:rPr sz="900" b="0">
                          <a:solidFill>
                            <a:srgbClr val="202945"/>
                          </a:solidFill>
                        </a:rPr>
                        <a:t>0.8%</a:t>
                      </a:r>
                    </a:p>
                  </a:txBody>
                  <a:tcPr marL="45720" marR="45720" anchor="ctr">
                    <a:noFill/>
                  </a:tcPr>
                </a:tc>
                <a:tc>
                  <a:txBody>
                    <a:bodyPr wrap="square"/>
                    <a:lstStyle/>
                    <a:p>
                      <a:pPr algn="r"/>
                      <a:r>
                        <a:rPr sz="900" b="0">
                          <a:solidFill>
                            <a:srgbClr val="202945"/>
                          </a:solidFill>
                        </a:rPr>
                        <a:t>—</a:t>
                      </a:r>
                    </a:p>
                  </a:txBody>
                  <a:tcPr marL="45720" marR="45720" anchor="ctr">
                    <a:noFill/>
                  </a:tcPr>
                </a:tc>
              </a:tr>
              <a:tr h="97200">
                <a:tc>
                  <a:txBody>
                    <a:bodyPr wrap="square"/>
                    <a:lstStyle/>
                    <a:p>
                      <a:pPr algn="l"/>
                      <a:r>
                        <a:rPr sz="900" b="0">
                          <a:solidFill>
                            <a:srgbClr val="202945"/>
                          </a:solidFill>
                        </a:rPr>
                        <a:t>8% DCI-XAGUSD-48.206 UBS  24.08.2026</a:t>
                      </a:r>
                    </a:p>
                  </a:txBody>
                  <a:tcPr marL="45720" marR="45720" anchor="ctr">
                    <a:noFill/>
                  </a:tcPr>
                </a:tc>
                <a:tc>
                  <a:txBody>
                    <a:bodyPr wrap="square"/>
                    <a:lstStyle/>
                    <a:p>
                      <a:pPr algn="l"/>
                      <a:r>
                        <a:rPr sz="900" b="0">
                          <a:solidFill>
                            <a:srgbClr val="202945"/>
                          </a:solidFill>
                        </a:rPr>
                        <a:t>USD 201k</a:t>
                      </a:r>
                    </a:p>
                  </a:txBody>
                  <a:tcPr marL="45720" marR="45720" anchor="ctr">
                    <a:noFill/>
                  </a:tcPr>
                </a:tc>
                <a:tc>
                  <a:txBody>
                    <a:bodyPr wrap="square"/>
                    <a:lstStyle/>
                    <a:p>
                      <a:pPr algn="r"/>
                      <a:r>
                        <a:rPr sz="900" b="0">
                          <a:solidFill>
                            <a:srgbClr val="202945"/>
                          </a:solidFill>
                        </a:rPr>
                        <a:t>0.8%</a:t>
                      </a:r>
                    </a:p>
                  </a:txBody>
                  <a:tcPr marL="45720" marR="45720" anchor="ctr">
                    <a:noFill/>
                  </a:tcPr>
                </a:tc>
                <a:tc>
                  <a:txBody>
                    <a:bodyPr wrap="square"/>
                    <a:lstStyle/>
                    <a:p>
                      <a:pPr algn="r"/>
                      <a:r>
                        <a:rPr sz="900" b="0">
                          <a:solidFill>
                            <a:srgbClr val="202945"/>
                          </a:solidFill>
                        </a:rPr>
                        <a:t>—</a:t>
                      </a:r>
                    </a:p>
                  </a:txBody>
                  <a:tcPr marL="45720" marR="45720" anchor="ctr">
                    <a:noFill/>
                  </a:tcPr>
                </a:tc>
              </a:tr>
            </a:tbl>
          </a:graphicData>
        </a:graphic>
      </p:graphicFrame>
    </p:spTree>
    <p:extLst>
      <p:ext uri="{BB962C8B-B14F-4D97-AF65-F5344CB8AC3E}">
        <p14:creationId xmlns:p14="http://schemas.microsoft.com/office/powerpoint/2010/main" val="179268092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Liquidity profile</a:t>
            </a:r>
          </a:p>
        </p:txBody>
      </p:sp>
      <p:sp>
        <p:nvSpPr>
          <p:cNvPr id="3" name="Text Placeholder 2"/>
          <p:cNvSpPr>
            <a:spLocks noGrp="1"/>
          </p:cNvSpPr>
          <p:nvPr>
            <p:ph type="body" sz="quarter" idx="14"/>
          </p:nvPr>
        </p:nvSpPr>
        <p:spPr>
          <a:xfrm>
            <a:off x="665163" y="1652013"/>
            <a:ext cx="9398001" cy="251511"/>
          </a:xfrm>
        </p:spPr>
        <p:txBody>
          <a:bodyPr/>
          <a:lstStyle/>
          <a:p>
            <a:r>
              <a:rPr lang="en-US" sz="1500" noProof="0" dirty="0"/>
              <a:t>Share of the book </a:t>
            </a:r>
            <a:r>
              <a:rPr lang="en-US" sz="1500" dirty="0"/>
              <a:t>across </a:t>
            </a:r>
            <a:r>
              <a:rPr lang="en-US" sz="1500" noProof="0" dirty="0"/>
              <a:t>daily, fund and locked-up horizons.</a:t>
            </a:r>
          </a:p>
        </p:txBody>
      </p:sp>
      <p:sp>
        <p:nvSpPr>
          <p:cNvPr id="4" name="TextBox 3"/>
          <p:cNvSpPr txBox="1"/>
          <p:nvPr/>
        </p:nvSpPr>
        <p:spPr>
          <a:xfrm>
            <a:off x="666000" y="2340000"/>
            <a:ext cx="489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By liquidity horizon</a:t>
            </a:r>
          </a:p>
        </p:txBody>
      </p:sp>
      <p:sp>
        <p:nvSpPr>
          <p:cNvPr id="5" name="Rectangle 4"/>
          <p:cNvSpPr/>
          <p:nvPr/>
        </p:nvSpPr>
        <p:spPr>
          <a:xfrm>
            <a:off x="666000" y="2700000"/>
            <a:ext cx="4896000" cy="3743999"/>
          </a:xfrm>
          <a:prstGeom prst="rect">
            <a:avLst/>
          </a:prstGeom>
          <a:solidFill>
            <a:srgbClr val="FFFFFF"/>
          </a:solidFill>
          <a:ln>
            <a:noFill/>
          </a:ln>
          <a:effectLst>
            <a:outerShdw blurRad="635000" dir="5400000" algn="t" rotWithShape="0">
              <a:schemeClr val="bg1">
                <a:lumMod val="85000"/>
                <a:alpha val="30000"/>
              </a:scheme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noProof="0" dirty="0"/>
          </a:p>
        </p:txBody>
      </p:sp>
      <p:graphicFrame>
        <p:nvGraphicFramePr>
          <p:cNvPr id="6" name="Chart 5"/>
          <p:cNvGraphicFramePr>
            <a:graphicFrameLocks noGrp="1"/>
          </p:cNvGraphicFramePr>
          <p:nvPr>
            <p:extLst>
              <p:ext uri="{D42A27DB-BD31-4B8C-83A1-F6EECF244321}">
                <p14:modId xmlns:p14="http://schemas.microsoft.com/office/powerpoint/2010/main" val="3189709188"/>
              </p:ext>
            </p:extLst>
          </p:nvPr>
        </p:nvGraphicFramePr>
        <p:xfrm>
          <a:off x="846000" y="2880000"/>
          <a:ext cx="4536000" cy="3383999"/>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p:cNvSpPr txBox="1"/>
          <p:nvPr/>
        </p:nvSpPr>
        <p:spPr>
          <a:xfrm>
            <a:off x="1752989" y="4418112"/>
            <a:ext cx="907621" cy="307777"/>
          </a:xfrm>
          <a:prstGeom prst="rect">
            <a:avLst/>
          </a:prstGeom>
          <a:noFill/>
        </p:spPr>
        <p:txBody>
          <a:bodyPr wrap="none" anchor="ctr">
            <a:spAutoFit/>
          </a:bodyPr>
          <a:lstStyle/>
          <a:p>
            <a:pPr algn="ctr"/>
            <a:r>
              <a:rPr lang="en-US" sz="1400" b="1" noProof="0" dirty="0">
                <a:solidFill>
                  <a:srgbClr val="202945"/>
                </a:solidFill>
                <a:latin typeface="Nunito Sans"/>
              </a:rPr>
              <a:t>Liquidity</a:t>
            </a:r>
          </a:p>
        </p:txBody>
      </p:sp>
      <p:sp>
        <p:nvSpPr>
          <p:cNvPr id="8" name="TextBox 7"/>
          <p:cNvSpPr txBox="1"/>
          <p:nvPr/>
        </p:nvSpPr>
        <p:spPr>
          <a:xfrm>
            <a:off x="5832000" y="2340000"/>
            <a:ext cx="4176000" cy="307777"/>
          </a:xfrm>
          <a:prstGeom prst="rect">
            <a:avLst/>
          </a:prstGeom>
          <a:noFill/>
        </p:spPr>
        <p:txBody>
          <a:bodyPr wrap="square" anchor="t">
            <a:spAutoFit/>
          </a:bodyPr>
          <a:lstStyle/>
          <a:p>
            <a:pPr algn="l"/>
            <a:r>
              <a:rPr lang="en-US" sz="1400" b="1" noProof="0" dirty="0">
                <a:solidFill>
                  <a:srgbClr val="202945"/>
                </a:solidFill>
                <a:latin typeface="Nunito Sans ExtraBold"/>
              </a:rPr>
              <a:t>Key takeaway</a:t>
            </a:r>
          </a:p>
        </p:txBody>
      </p:sp>
      <p:sp>
        <p:nvSpPr>
          <p:cNvPr id="9" name="TextBox 8"/>
          <p:cNvSpPr txBox="1"/>
          <p:nvPr/>
        </p:nvSpPr>
        <p:spPr>
          <a:xfrm>
            <a:off x="5832000" y="2988000"/>
            <a:ext cx="4176000" cy="1590179"/>
          </a:xfrm>
          <a:prstGeom prst="rect">
            <a:avLst/>
          </a:prstGeom>
          <a:noFill/>
        </p:spPr>
        <p:txBody>
          <a:bodyPr wrap="square" anchor="t">
            <a:spAutoFit/>
          </a:bodyPr>
          <a:lstStyle/>
          <a:p>
            <a:pPr algn="l">
              <a:spcAft>
                <a:spcPts val="800"/>
              </a:spcAft>
            </a:pPr>
            <a:r>
              <a:rPr lang="en-US" sz="1200" b="0" noProof="0" dirty="0">
                <a:solidFill>
                  <a:srgbClr val="202945"/>
                </a:solidFill>
                <a:latin typeface="Nunito Sans"/>
              </a:rPr>
              <a:t>About 16.3% of the portfolio sits in private, hedge-fund and lock-up vehicles with redemption gates and notice periods.</a:t>
            </a:r>
          </a:p>
          <a:p>
            <a:pPr>
              <a:spcAft>
                <a:spcPts val="800"/>
              </a:spcAft>
            </a:pPr>
            <a:r>
              <a:t/>
            </a:r>
            <a:endParaRPr lang="en-US" sz="1200" b="0" noProof="0" dirty="0">
              <a:solidFill>
                <a:srgbClr val="202945"/>
              </a:solidFill>
              <a:latin typeface="Nunito Sans"/>
            </a:endParaRPr>
          </a:p>
          <a:p>
            <a:pPr>
              <a:spcAft>
                <a:spcPts val="800"/>
              </a:spcAft>
            </a:pPr>
            <a:r>
              <a:rPr lang="en-US" sz="1200" b="0" noProof="0" dirty="0">
                <a:solidFill>
                  <a:srgbClr val="202945"/>
                </a:solidFill>
                <a:latin typeface="Nunito Sans"/>
              </a:rPr>
              <a:t>Liquidity events should be planned around these constraints; the daily-liquid sleeve covers near-term needs.</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Concentration &amp; top holdings</a:t>
            </a:r>
          </a:p>
        </p:txBody>
      </p:sp>
      <p:sp>
        <p:nvSpPr>
          <p:cNvPr id="3" name="Text Placeholder 2"/>
          <p:cNvSpPr>
            <a:spLocks noGrp="1"/>
          </p:cNvSpPr>
          <p:nvPr>
            <p:ph type="body" sz="quarter" idx="14"/>
          </p:nvPr>
        </p:nvSpPr>
        <p:spPr>
          <a:xfrm>
            <a:off x="665163" y="1652018"/>
            <a:ext cx="9398001" cy="251511"/>
          </a:xfrm>
        </p:spPr>
        <p:txBody>
          <a:bodyPr/>
          <a:lstStyle/>
          <a:p>
            <a:r>
              <a:rPr lang="en-US" sz="1400" noProof="0" dirty="0"/>
              <a:t>Largest positions and cumulative concentration.</a:t>
            </a:r>
          </a:p>
        </p:txBody>
      </p:sp>
      <p:graphicFrame>
        <p:nvGraphicFramePr>
          <p:cNvPr id="4" name="Table 3"/>
          <p:cNvGraphicFramePr>
            <a:graphicFrameLocks noGrp="1"/>
          </p:cNvGraphicFramePr>
          <p:nvPr>
            <p:custDataLst>
              <p:tags r:id="rId1"/>
            </p:custDataLst>
            <p:extLst>
              <p:ext uri="{D42A27DB-BD31-4B8C-83A1-F6EECF244321}">
                <p14:modId xmlns:p14="http://schemas.microsoft.com/office/powerpoint/2010/main" val="3795562213"/>
              </p:ext>
            </p:extLst>
          </p:nvPr>
        </p:nvGraphicFramePr>
        <p:xfrm>
          <a:off x="666000" y="2520000"/>
          <a:ext cx="6119997" cy="3240000"/>
        </p:xfrm>
        <a:graphic>
          <a:graphicData uri="http://schemas.openxmlformats.org/drawingml/2006/table">
            <a:tbl>
              <a:tblPr firstRow="1" bandRow="1">
                <a:tableStyleId>{5C22544A-7EE6-4342-B048-85BDC9FD1C3A}</a:tableStyleId>
              </a:tblPr>
              <a:tblGrid>
                <a:gridCol w="470769">
                  <a:extLst>
                    <a:ext uri="{9D8B030D-6E8A-4147-A177-3AD203B41FA5}">
                      <a16:colId xmlns:a16="http://schemas.microsoft.com/office/drawing/2014/main" val="20000"/>
                    </a:ext>
                  </a:extLst>
                </a:gridCol>
                <a:gridCol w="3026373">
                  <a:extLst>
                    <a:ext uri="{9D8B030D-6E8A-4147-A177-3AD203B41FA5}">
                      <a16:colId xmlns:a16="http://schemas.microsoft.com/office/drawing/2014/main" val="20001"/>
                    </a:ext>
                  </a:extLst>
                </a:gridCol>
                <a:gridCol w="1008791">
                  <a:extLst>
                    <a:ext uri="{9D8B030D-6E8A-4147-A177-3AD203B41FA5}">
                      <a16:colId xmlns:a16="http://schemas.microsoft.com/office/drawing/2014/main" val="20002"/>
                    </a:ext>
                  </a:extLst>
                </a:gridCol>
                <a:gridCol w="807032">
                  <a:extLst>
                    <a:ext uri="{9D8B030D-6E8A-4147-A177-3AD203B41FA5}">
                      <a16:colId xmlns:a16="http://schemas.microsoft.com/office/drawing/2014/main" val="20003"/>
                    </a:ext>
                  </a:extLst>
                </a:gridCol>
                <a:gridCol w="807032">
                  <a:extLst>
                    <a:ext uri="{9D8B030D-6E8A-4147-A177-3AD203B41FA5}">
                      <a16:colId xmlns:a16="http://schemas.microsoft.com/office/drawing/2014/main" val="20004"/>
                    </a:ext>
                  </a:extLst>
                </a:gridCol>
              </a:tblGrid>
              <a:tr h="360000">
                <a:tc>
                  <a:txBody>
                    <a:bodyPr/>
                    <a:lstStyle/>
                    <a:p>
                      <a:pPr algn="ctr"/>
                      <a:r>
                        <a:rPr lang="en-US" sz="1200" b="1" noProof="0" dirty="0">
                          <a:solidFill>
                            <a:srgbClr val="202945"/>
                          </a:solidFill>
                          <a:latin typeface="Nunito Sans"/>
                        </a:rPr>
                        <a:t>#</a:t>
                      </a:r>
                    </a:p>
                  </a:txBody>
                  <a:tcPr marL="54000" marR="54000" marT="18000" marB="18000" anchor="ctr">
                    <a:solidFill>
                      <a:srgbClr val="FFC545"/>
                    </a:solidFill>
                  </a:tcPr>
                </a:tc>
                <a:tc>
                  <a:txBody>
                    <a:bodyPr/>
                    <a:lstStyle/>
                    <a:p>
                      <a:pPr algn="l"/>
                      <a:r>
                        <a:rPr lang="en-US" sz="1200" b="1" noProof="0" dirty="0">
                          <a:solidFill>
                            <a:srgbClr val="202945"/>
                          </a:solidFill>
                          <a:latin typeface="Nunito Sans"/>
                        </a:rPr>
                        <a:t>Holding</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Value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Weight</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Cum.</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1</a:t>
                      </a:r>
                    </a:p>
                  </a:txBody>
                  <a:tcPr marL="45720" marR="45720" marT="18000" marB="18000" anchor="ctr">
                    <a:noFill/>
                  </a:tcPr>
                </a:tc>
                <a:tc>
                  <a:txBody>
                    <a:bodyPr wrap="square"/>
                    <a:lstStyle/>
                    <a:p>
                      <a:pPr algn="l"/>
                      <a:r>
                        <a:rPr lang="en-US" sz="900" b="0" noProof="0" dirty="0">
                          <a:solidFill>
                            <a:srgbClr val="202945"/>
                          </a:solidFill>
                          <a:latin typeface="Nunito Sans"/>
                        </a:rPr>
                        <a:t>GOLD KG 1 999.9 CHF</a:t>
                      </a:r>
                    </a:p>
                  </a:txBody>
                  <a:tcPr marL="45720" marR="45720" marT="18000" marB="18000" anchor="ctr">
                    <a:noFill/>
                  </a:tcPr>
                </a:tc>
                <a:tc>
                  <a:txBody>
                    <a:bodyPr wrap="square"/>
                    <a:lstStyle/>
                    <a:p>
                      <a:pPr algn="r"/>
                      <a:r>
                        <a:rPr lang="en-US" sz="900" b="0" noProof="0" dirty="0">
                          <a:solidFill>
                            <a:srgbClr val="202945"/>
                          </a:solidFill>
                          <a:latin typeface="Nunito Sans"/>
                        </a:rPr>
                        <a:t>4,272,852</a:t>
                      </a:r>
                    </a:p>
                  </a:txBody>
                  <a:tcPr marL="45720" marR="45720" marT="18000" marB="18000" anchor="ctr">
                    <a:noFill/>
                  </a:tcPr>
                </a:tc>
                <a:tc>
                  <a:txBody>
                    <a:bodyPr wrap="square"/>
                    <a:lstStyle/>
                    <a:p>
                      <a:pPr algn="r"/>
                      <a:r>
                        <a:rPr lang="en-US" sz="900" b="0" noProof="0" dirty="0">
                          <a:solidFill>
                            <a:srgbClr val="202945"/>
                          </a:solidFill>
                          <a:latin typeface="Nunito Sans"/>
                        </a:rPr>
                        <a:t>20.1%</a:t>
                      </a:r>
                    </a:p>
                  </a:txBody>
                  <a:tcPr marL="45720" marR="45720" marT="18000" marB="18000" anchor="ctr">
                    <a:noFill/>
                  </a:tcPr>
                </a:tc>
                <a:tc>
                  <a:txBody>
                    <a:bodyPr wrap="square"/>
                    <a:lstStyle/>
                    <a:p>
                      <a:pPr algn="r"/>
                      <a:r>
                        <a:rPr lang="en-US" sz="900" b="0" noProof="0" dirty="0">
                          <a:solidFill>
                            <a:srgbClr val="202945"/>
                          </a:solidFill>
                          <a:latin typeface="Nunito Sans"/>
                        </a:rPr>
                        <a:t>20.1%</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2</a:t>
                      </a:r>
                    </a:p>
                  </a:txBody>
                  <a:tcPr marL="45720" marR="45720" marT="18000" marB="18000" anchor="ctr">
                    <a:noFill/>
                  </a:tcPr>
                </a:tc>
                <a:tc>
                  <a:txBody>
                    <a:bodyPr wrap="square"/>
                    <a:lstStyle/>
                    <a:p>
                      <a:pPr algn="l"/>
                      <a:r>
                        <a:rPr lang="en-US" sz="900" b="0" noProof="0" dirty="0" err="1">
                          <a:solidFill>
                            <a:srgbClr val="202945"/>
                          </a:solidFill>
                          <a:latin typeface="+mn-lt"/>
                        </a:rPr>
                        <a:t>COA KONA III REF3 LP</a:t>
                      </a:r>
                    </a:p>
                  </a:txBody>
                  <a:tcPr marL="45720" marR="45720" marT="18000" marB="18000" anchor="ctr">
                    <a:noFill/>
                  </a:tcPr>
                </a:tc>
                <a:tc>
                  <a:txBody>
                    <a:bodyPr wrap="square"/>
                    <a:lstStyle/>
                    <a:p>
                      <a:pPr algn="r"/>
                      <a:r>
                        <a:rPr lang="en-US" sz="900" b="0" noProof="0" dirty="0">
                          <a:solidFill>
                            <a:srgbClr val="202945"/>
                          </a:solidFill>
                          <a:latin typeface="Nunito Sans"/>
                        </a:rPr>
                        <a:t>1,428,239</a:t>
                      </a:r>
                    </a:p>
                  </a:txBody>
                  <a:tcPr marL="45720" marR="45720" marT="18000" marB="18000" anchor="ctr">
                    <a:noFill/>
                  </a:tcPr>
                </a:tc>
                <a:tc>
                  <a:txBody>
                    <a:bodyPr wrap="square"/>
                    <a:lstStyle/>
                    <a:p>
                      <a:pPr algn="r"/>
                      <a:r>
                        <a:rPr lang="en-US" sz="900" b="0" noProof="0" dirty="0">
                          <a:solidFill>
                            <a:srgbClr val="202945"/>
                          </a:solidFill>
                          <a:latin typeface="Nunito Sans"/>
                        </a:rPr>
                        <a:t>6.7%</a:t>
                      </a:r>
                    </a:p>
                  </a:txBody>
                  <a:tcPr marL="45720" marR="45720" marT="18000" marB="18000" anchor="ctr">
                    <a:noFill/>
                  </a:tcPr>
                </a:tc>
                <a:tc>
                  <a:txBody>
                    <a:bodyPr wrap="square"/>
                    <a:lstStyle/>
                    <a:p>
                      <a:pPr algn="r"/>
                      <a:r>
                        <a:rPr lang="en-US" sz="900" b="0" noProof="0" dirty="0">
                          <a:solidFill>
                            <a:srgbClr val="202945"/>
                          </a:solidFill>
                          <a:latin typeface="Nunito Sans"/>
                        </a:rPr>
                        <a:t>26.8%</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3</a:t>
                      </a:r>
                    </a:p>
                  </a:txBody>
                  <a:tcPr marL="45720" marR="45720" marT="18000" marB="18000" anchor="ctr">
                    <a:noFill/>
                  </a:tcPr>
                </a:tc>
                <a:tc>
                  <a:txBody>
                    <a:bodyPr wrap="square"/>
                    <a:lstStyle/>
                    <a:p>
                      <a:pPr algn="l"/>
                      <a:r>
                        <a:rPr lang="en-US" sz="900" b="0" noProof="0" dirty="0">
                          <a:solidFill>
                            <a:srgbClr val="202945"/>
                          </a:solidFill>
                          <a:latin typeface="Nunito Sans"/>
                        </a:rPr>
                        <a:t>LEFT LANE CP II CLT2</a:t>
                      </a:r>
                    </a:p>
                  </a:txBody>
                  <a:tcPr marL="45720" marR="45720" marT="18000" marB="18000" anchor="ctr">
                    <a:noFill/>
                  </a:tcPr>
                </a:tc>
                <a:tc>
                  <a:txBody>
                    <a:bodyPr wrap="square"/>
                    <a:lstStyle/>
                    <a:p>
                      <a:pPr algn="r"/>
                      <a:r>
                        <a:rPr lang="en-US" sz="900" b="0" noProof="0" dirty="0">
                          <a:solidFill>
                            <a:srgbClr val="202945"/>
                          </a:solidFill>
                          <a:latin typeface="Nunito Sans"/>
                        </a:rPr>
                        <a:t>1,268,546</a:t>
                      </a:r>
                    </a:p>
                  </a:txBody>
                  <a:tcPr marL="45720" marR="45720" marT="18000" marB="18000" anchor="ctr">
                    <a:noFill/>
                  </a:tcPr>
                </a:tc>
                <a:tc>
                  <a:txBody>
                    <a:bodyPr wrap="square"/>
                    <a:lstStyle/>
                    <a:p>
                      <a:pPr algn="r"/>
                      <a:r>
                        <a:rPr lang="en-US" sz="900" b="0" noProof="0" dirty="0">
                          <a:solidFill>
                            <a:srgbClr val="202945"/>
                          </a:solidFill>
                          <a:latin typeface="Nunito Sans"/>
                        </a:rPr>
                        <a:t>6.0%</a:t>
                      </a:r>
                    </a:p>
                  </a:txBody>
                  <a:tcPr marL="45720" marR="45720" marT="18000" marB="18000" anchor="ctr">
                    <a:noFill/>
                  </a:tcPr>
                </a:tc>
                <a:tc>
                  <a:txBody>
                    <a:bodyPr wrap="square"/>
                    <a:lstStyle/>
                    <a:p>
                      <a:pPr algn="r"/>
                      <a:r>
                        <a:rPr lang="en-US" sz="900" b="0" noProof="0" dirty="0">
                          <a:solidFill>
                            <a:srgbClr val="202945"/>
                          </a:solidFill>
                          <a:latin typeface="Nunito Sans"/>
                        </a:rPr>
                        <a:t>32.7%</a:t>
                      </a:r>
                    </a:p>
                  </a:txBody>
                  <a:tcPr marL="45720" marR="45720" marT="18000" marB="18000" anchor="ctr">
                    <a:noFill/>
                  </a:tcPr>
                </a:tc>
                <a:extLst>
                  <a:ext uri="{0D108BD9-81ED-4DB2-BD59-A6C34878D82A}">
                    <a16:rowId xmlns:a16="http://schemas.microsoft.com/office/drawing/2014/main" val="10003"/>
                  </a:ext>
                </a:extLst>
              </a:tr>
              <a:tr h="288000">
                <a:tc>
                  <a:txBody>
                    <a:bodyPr wrap="square"/>
                    <a:lstStyle/>
                    <a:p>
                      <a:pPr algn="l"/>
                      <a:r>
                        <a:rPr lang="en-US" sz="900" b="0" noProof="0" dirty="0">
                          <a:solidFill>
                            <a:srgbClr val="202945"/>
                          </a:solidFill>
                          <a:latin typeface="Nunito Sans"/>
                        </a:rPr>
                        <a:t>4</a:t>
                      </a:r>
                    </a:p>
                  </a:txBody>
                  <a:tcPr marL="45720" marR="45720" marT="18000" marB="18000" anchor="ctr">
                    <a:noFill/>
                  </a:tcPr>
                </a:tc>
                <a:tc>
                  <a:txBody>
                    <a:bodyPr wrap="square"/>
                    <a:lstStyle/>
                    <a:p>
                      <a:pPr algn="l"/>
                      <a:r>
                        <a:rPr lang="en-US" sz="900" b="0" noProof="0" dirty="0">
                          <a:solidFill>
                            <a:srgbClr val="202945"/>
                          </a:solidFill>
                          <a:latin typeface="Nunito Sans"/>
                        </a:rPr>
                        <a:t>SYZ EM BONDS CERTIFICATE</a:t>
                      </a:r>
                    </a:p>
                  </a:txBody>
                  <a:tcPr marL="45720" marR="45720" marT="18000" marB="18000" anchor="ctr">
                    <a:noFill/>
                  </a:tcPr>
                </a:tc>
                <a:tc>
                  <a:txBody>
                    <a:bodyPr wrap="square"/>
                    <a:lstStyle/>
                    <a:p>
                      <a:pPr algn="r"/>
                      <a:r>
                        <a:rPr lang="en-US" sz="900" b="0" noProof="0" dirty="0">
                          <a:solidFill>
                            <a:srgbClr val="202945"/>
                          </a:solidFill>
                          <a:latin typeface="Nunito Sans"/>
                        </a:rPr>
                        <a:t>622,739</a:t>
                      </a:r>
                    </a:p>
                  </a:txBody>
                  <a:tcPr marL="45720" marR="45720" marT="18000" marB="18000" anchor="ctr">
                    <a:noFill/>
                  </a:tcPr>
                </a:tc>
                <a:tc>
                  <a:txBody>
                    <a:bodyPr wrap="square"/>
                    <a:lstStyle/>
                    <a:p>
                      <a:pPr algn="r"/>
                      <a:r>
                        <a:rPr lang="en-US" sz="900" b="0" noProof="0" dirty="0">
                          <a:solidFill>
                            <a:srgbClr val="202945"/>
                          </a:solidFill>
                          <a:latin typeface="Nunito Sans"/>
                        </a:rPr>
                        <a:t>2.9%</a:t>
                      </a:r>
                    </a:p>
                  </a:txBody>
                  <a:tcPr marL="45720" marR="45720" marT="18000" marB="18000" anchor="ctr">
                    <a:noFill/>
                  </a:tcPr>
                </a:tc>
                <a:tc>
                  <a:txBody>
                    <a:bodyPr wrap="square"/>
                    <a:lstStyle/>
                    <a:p>
                      <a:pPr algn="r"/>
                      <a:r>
                        <a:rPr lang="en-US" sz="900" b="0" noProof="0" dirty="0">
                          <a:solidFill>
                            <a:srgbClr val="202945"/>
                          </a:solidFill>
                          <a:latin typeface="Nunito Sans"/>
                        </a:rPr>
                        <a:t>35.6%</a:t>
                      </a:r>
                    </a:p>
                  </a:txBody>
                  <a:tcPr marL="45720" marR="45720" marT="18000" marB="18000" anchor="ctr">
                    <a:noFill/>
                  </a:tcPr>
                </a:tc>
                <a:extLst>
                  <a:ext uri="{0D108BD9-81ED-4DB2-BD59-A6C34878D82A}">
                    <a16:rowId xmlns:a16="http://schemas.microsoft.com/office/drawing/2014/main" val="10004"/>
                  </a:ext>
                </a:extLst>
              </a:tr>
              <a:tr h="288000">
                <a:tc>
                  <a:txBody>
                    <a:bodyPr wrap="square"/>
                    <a:lstStyle/>
                    <a:p>
                      <a:pPr algn="l"/>
                      <a:r>
                        <a:rPr lang="en-US" sz="900" b="0" noProof="0" dirty="0">
                          <a:solidFill>
                            <a:srgbClr val="202945"/>
                          </a:solidFill>
                          <a:latin typeface="Nunito Sans"/>
                        </a:rPr>
                        <a:t>5</a:t>
                      </a:r>
                    </a:p>
                  </a:txBody>
                  <a:tcPr marL="45720" marR="45720" marT="18000" marB="18000" anchor="ctr">
                    <a:noFill/>
                  </a:tcPr>
                </a:tc>
                <a:tc>
                  <a:txBody>
                    <a:bodyPr wrap="square"/>
                    <a:lstStyle/>
                    <a:p>
                      <a:pPr algn="l"/>
                      <a:r>
                        <a:rPr lang="en-US" sz="900" b="0" noProof="0" dirty="0">
                          <a:solidFill>
                            <a:srgbClr val="202945"/>
                          </a:solidFill>
                          <a:latin typeface="Nunito Sans"/>
                        </a:rPr>
                        <a:t>ALLIANZ (NOM)</a:t>
                      </a:r>
                    </a:p>
                  </a:txBody>
                  <a:tcPr marL="45720" marR="45720" marT="18000" marB="18000" anchor="ctr">
                    <a:noFill/>
                  </a:tcPr>
                </a:tc>
                <a:tc>
                  <a:txBody>
                    <a:bodyPr wrap="square"/>
                    <a:lstStyle/>
                    <a:p>
                      <a:pPr algn="r"/>
                      <a:r>
                        <a:rPr lang="en-US" sz="900" b="0" noProof="0" dirty="0">
                          <a:solidFill>
                            <a:srgbClr val="202945"/>
                          </a:solidFill>
                          <a:latin typeface="Nunito Sans"/>
                        </a:rPr>
                        <a:t>615,109</a:t>
                      </a:r>
                    </a:p>
                  </a:txBody>
                  <a:tcPr marL="45720" marR="45720" marT="18000" marB="18000" anchor="ctr">
                    <a:noFill/>
                  </a:tcPr>
                </a:tc>
                <a:tc>
                  <a:txBody>
                    <a:bodyPr wrap="square"/>
                    <a:lstStyle/>
                    <a:p>
                      <a:pPr algn="r"/>
                      <a:r>
                        <a:rPr lang="en-US" sz="900" b="0" noProof="0" dirty="0">
                          <a:solidFill>
                            <a:srgbClr val="202945"/>
                          </a:solidFill>
                          <a:latin typeface="Nunito Sans"/>
                        </a:rPr>
                        <a:t>2.9%</a:t>
                      </a:r>
                    </a:p>
                  </a:txBody>
                  <a:tcPr marL="45720" marR="45720" marT="18000" marB="18000" anchor="ctr">
                    <a:noFill/>
                  </a:tcPr>
                </a:tc>
                <a:tc>
                  <a:txBody>
                    <a:bodyPr wrap="square"/>
                    <a:lstStyle/>
                    <a:p>
                      <a:pPr algn="r"/>
                      <a:r>
                        <a:rPr lang="en-US" sz="900" b="0" noProof="0" dirty="0">
                          <a:solidFill>
                            <a:srgbClr val="202945"/>
                          </a:solidFill>
                          <a:latin typeface="Nunito Sans"/>
                        </a:rPr>
                        <a:t>38.5%</a:t>
                      </a:r>
                    </a:p>
                  </a:txBody>
                  <a:tcPr marL="45720" marR="45720" marT="18000" marB="18000" anchor="ctr">
                    <a:noFill/>
                  </a:tcPr>
                </a:tc>
                <a:extLst>
                  <a:ext uri="{0D108BD9-81ED-4DB2-BD59-A6C34878D82A}">
                    <a16:rowId xmlns:a16="http://schemas.microsoft.com/office/drawing/2014/main" val="10005"/>
                  </a:ext>
                </a:extLst>
              </a:tr>
              <a:tr h="288000">
                <a:tc>
                  <a:txBody>
                    <a:bodyPr wrap="square"/>
                    <a:lstStyle/>
                    <a:p>
                      <a:pPr algn="l"/>
                      <a:r>
                        <a:rPr lang="en-US" sz="900" b="0" noProof="0" dirty="0">
                          <a:solidFill>
                            <a:srgbClr val="202945"/>
                          </a:solidFill>
                          <a:latin typeface="Nunito Sans"/>
                        </a:rPr>
                        <a:t>6</a:t>
                      </a:r>
                    </a:p>
                  </a:txBody>
                  <a:tcPr marL="45720" marR="45720" marT="18000" marB="18000" anchor="ctr">
                    <a:noFill/>
                  </a:tcPr>
                </a:tc>
                <a:tc>
                  <a:txBody>
                    <a:bodyPr wrap="square"/>
                    <a:lstStyle/>
                    <a:p>
                      <a:pPr algn="l"/>
                      <a:r>
                        <a:rPr lang="en-US" sz="900" b="0" noProof="0" dirty="0">
                          <a:solidFill>
                            <a:srgbClr val="202945"/>
                          </a:solidFill>
                          <a:latin typeface="Nunito Sans"/>
                        </a:rPr>
                        <a:t>UBS(CH) EQ-SWISS INC CHFP</a:t>
                      </a:r>
                    </a:p>
                  </a:txBody>
                  <a:tcPr marL="45720" marR="45720" marT="18000" marB="18000" anchor="ctr">
                    <a:noFill/>
                  </a:tcPr>
                </a:tc>
                <a:tc>
                  <a:txBody>
                    <a:bodyPr wrap="square"/>
                    <a:lstStyle/>
                    <a:p>
                      <a:pPr algn="r"/>
                      <a:r>
                        <a:rPr lang="en-US" sz="900" b="0" noProof="0" dirty="0">
                          <a:solidFill>
                            <a:srgbClr val="202945"/>
                          </a:solidFill>
                          <a:latin typeface="Nunito Sans"/>
                        </a:rPr>
                        <a:t>590,957</a:t>
                      </a:r>
                    </a:p>
                  </a:txBody>
                  <a:tcPr marL="45720" marR="45720" marT="18000" marB="18000" anchor="ctr">
                    <a:noFill/>
                  </a:tcPr>
                </a:tc>
                <a:tc>
                  <a:txBody>
                    <a:bodyPr wrap="square"/>
                    <a:lstStyle/>
                    <a:p>
                      <a:pPr algn="r"/>
                      <a:r>
                        <a:rPr lang="en-US" sz="900" b="0" noProof="0" dirty="0">
                          <a:solidFill>
                            <a:srgbClr val="202945"/>
                          </a:solidFill>
                          <a:latin typeface="Nunito Sans"/>
                        </a:rPr>
                        <a:t>2.8%</a:t>
                      </a:r>
                    </a:p>
                  </a:txBody>
                  <a:tcPr marL="45720" marR="45720" marT="18000" marB="18000" anchor="ctr">
                    <a:noFill/>
                  </a:tcPr>
                </a:tc>
                <a:tc>
                  <a:txBody>
                    <a:bodyPr wrap="square"/>
                    <a:lstStyle/>
                    <a:p>
                      <a:pPr algn="r"/>
                      <a:r>
                        <a:rPr lang="en-US" sz="900" b="0" noProof="0" dirty="0">
                          <a:solidFill>
                            <a:srgbClr val="202945"/>
                          </a:solidFill>
                          <a:latin typeface="Nunito Sans"/>
                        </a:rPr>
                        <a:t>41.3%</a:t>
                      </a:r>
                    </a:p>
                  </a:txBody>
                  <a:tcPr marL="45720" marR="45720" marT="18000" marB="18000" anchor="ctr">
                    <a:noFill/>
                  </a:tcPr>
                </a:tc>
                <a:extLst>
                  <a:ext uri="{0D108BD9-81ED-4DB2-BD59-A6C34878D82A}">
                    <a16:rowId xmlns:a16="http://schemas.microsoft.com/office/drawing/2014/main" val="10006"/>
                  </a:ext>
                </a:extLst>
              </a:tr>
              <a:tr h="288000">
                <a:tc>
                  <a:txBody>
                    <a:bodyPr wrap="square"/>
                    <a:lstStyle/>
                    <a:p>
                      <a:pPr algn="l"/>
                      <a:r>
                        <a:rPr lang="en-US" sz="900" b="0" noProof="0" dirty="0">
                          <a:solidFill>
                            <a:srgbClr val="202945"/>
                          </a:solidFill>
                          <a:latin typeface="Nunito Sans"/>
                        </a:rPr>
                        <a:t>7</a:t>
                      </a:r>
                    </a:p>
                  </a:txBody>
                  <a:tcPr marL="45720" marR="45720" marT="18000" marB="18000" anchor="ctr">
                    <a:noFill/>
                  </a:tcPr>
                </a:tc>
                <a:tc>
                  <a:txBody>
                    <a:bodyPr wrap="square"/>
                    <a:lstStyle/>
                    <a:p>
                      <a:pPr algn="l"/>
                      <a:r>
                        <a:rPr lang="en-US" sz="900" b="0" noProof="0" dirty="0">
                          <a:solidFill>
                            <a:srgbClr val="202945"/>
                          </a:solidFill>
                          <a:latin typeface="Nunito Sans"/>
                        </a:rPr>
                        <a:t>VANECK VECTORS DEF A ETF</a:t>
                      </a:r>
                    </a:p>
                  </a:txBody>
                  <a:tcPr marL="45720" marR="45720" marT="18000" marB="18000" anchor="ctr">
                    <a:noFill/>
                  </a:tcPr>
                </a:tc>
                <a:tc>
                  <a:txBody>
                    <a:bodyPr wrap="square"/>
                    <a:lstStyle/>
                    <a:p>
                      <a:pPr algn="r"/>
                      <a:r>
                        <a:rPr lang="en-US" sz="900" b="0" noProof="0" dirty="0">
                          <a:solidFill>
                            <a:srgbClr val="202945"/>
                          </a:solidFill>
                          <a:latin typeface="Nunito Sans"/>
                        </a:rPr>
                        <a:t>551,912</a:t>
                      </a:r>
                    </a:p>
                  </a:txBody>
                  <a:tcPr marL="45720" marR="45720" marT="18000" marB="18000" anchor="ctr">
                    <a:noFill/>
                  </a:tcPr>
                </a:tc>
                <a:tc>
                  <a:txBody>
                    <a:bodyPr wrap="square"/>
                    <a:lstStyle/>
                    <a:p>
                      <a:pPr algn="r"/>
                      <a:r>
                        <a:rPr lang="en-US" sz="900" b="0" noProof="0" dirty="0">
                          <a:solidFill>
                            <a:srgbClr val="202945"/>
                          </a:solidFill>
                          <a:latin typeface="Nunito Sans"/>
                        </a:rPr>
                        <a:t>2.6%</a:t>
                      </a:r>
                    </a:p>
                  </a:txBody>
                  <a:tcPr marL="45720" marR="45720" marT="18000" marB="18000" anchor="ctr">
                    <a:noFill/>
                  </a:tcPr>
                </a:tc>
                <a:tc>
                  <a:txBody>
                    <a:bodyPr wrap="square"/>
                    <a:lstStyle/>
                    <a:p>
                      <a:pPr algn="r"/>
                      <a:r>
                        <a:rPr lang="en-US" sz="900" b="0" noProof="0" dirty="0">
                          <a:solidFill>
                            <a:srgbClr val="202945"/>
                          </a:solidFill>
                          <a:latin typeface="Nunito Sans"/>
                        </a:rPr>
                        <a:t>43.9%</a:t>
                      </a:r>
                    </a:p>
                  </a:txBody>
                  <a:tcPr marL="45720" marR="45720" marT="18000" marB="18000" anchor="ctr">
                    <a:noFill/>
                  </a:tcPr>
                </a:tc>
                <a:extLst>
                  <a:ext uri="{0D108BD9-81ED-4DB2-BD59-A6C34878D82A}">
                    <a16:rowId xmlns:a16="http://schemas.microsoft.com/office/drawing/2014/main" val="10007"/>
                  </a:ext>
                </a:extLst>
              </a:tr>
              <a:tr h="288000">
                <a:tc>
                  <a:txBody>
                    <a:bodyPr wrap="square"/>
                    <a:lstStyle/>
                    <a:p>
                      <a:pPr algn="l"/>
                      <a:r>
                        <a:rPr lang="en-US" sz="900" b="0" noProof="0" dirty="0">
                          <a:solidFill>
                            <a:srgbClr val="202945"/>
                          </a:solidFill>
                          <a:latin typeface="Nunito Sans"/>
                        </a:rPr>
                        <a:t>8</a:t>
                      </a:r>
                    </a:p>
                  </a:txBody>
                  <a:tcPr marL="45720" marR="45720" marT="18000" marB="18000" anchor="ctr">
                    <a:noFill/>
                  </a:tcPr>
                </a:tc>
                <a:tc>
                  <a:txBody>
                    <a:bodyPr wrap="square"/>
                    <a:lstStyle/>
                    <a:p>
                      <a:pPr algn="l"/>
                      <a:r>
                        <a:rPr lang="en-US" sz="900" b="0" noProof="0" dirty="0">
                          <a:solidFill>
                            <a:srgbClr val="202945"/>
                          </a:solidFill>
                          <a:latin typeface="Nunito Sans"/>
                        </a:rPr>
                        <a:t>STORM II BOND RC EUR</a:t>
                      </a:r>
                    </a:p>
                  </a:txBody>
                  <a:tcPr marL="45720" marR="45720" marT="18000" marB="18000" anchor="ctr">
                    <a:noFill/>
                  </a:tcPr>
                </a:tc>
                <a:tc>
                  <a:txBody>
                    <a:bodyPr wrap="square"/>
                    <a:lstStyle/>
                    <a:p>
                      <a:pPr algn="r"/>
                      <a:r>
                        <a:rPr lang="en-US" sz="900" b="0" noProof="0" dirty="0">
                          <a:solidFill>
                            <a:srgbClr val="202945"/>
                          </a:solidFill>
                          <a:latin typeface="Nunito Sans"/>
                        </a:rPr>
                        <a:t>465,463</a:t>
                      </a:r>
                    </a:p>
                  </a:txBody>
                  <a:tcPr marL="45720" marR="45720" marT="18000" marB="18000" anchor="ctr">
                    <a:noFill/>
                  </a:tcPr>
                </a:tc>
                <a:tc>
                  <a:txBody>
                    <a:bodyPr wrap="square"/>
                    <a:lstStyle/>
                    <a:p>
                      <a:pPr algn="r"/>
                      <a:r>
                        <a:rPr lang="en-US" sz="900" b="0" noProof="0" dirty="0">
                          <a:solidFill>
                            <a:srgbClr val="202945"/>
                          </a:solidFill>
                          <a:latin typeface="Nunito Sans"/>
                        </a:rPr>
                        <a:t>2.2%</a:t>
                      </a:r>
                    </a:p>
                  </a:txBody>
                  <a:tcPr marL="45720" marR="45720" marT="18000" marB="18000" anchor="ctr">
                    <a:noFill/>
                  </a:tcPr>
                </a:tc>
                <a:tc>
                  <a:txBody>
                    <a:bodyPr wrap="square"/>
                    <a:lstStyle/>
                    <a:p>
                      <a:pPr algn="r"/>
                      <a:r>
                        <a:rPr lang="en-US" sz="900" b="0" noProof="0" dirty="0">
                          <a:solidFill>
                            <a:srgbClr val="202945"/>
                          </a:solidFill>
                          <a:latin typeface="Nunito Sans"/>
                        </a:rPr>
                        <a:t>46.1%</a:t>
                      </a:r>
                    </a:p>
                  </a:txBody>
                  <a:tcPr marL="45720" marR="45720" marT="18000" marB="18000" anchor="ctr">
                    <a:noFill/>
                  </a:tcPr>
                </a:tc>
                <a:extLst>
                  <a:ext uri="{0D108BD9-81ED-4DB2-BD59-A6C34878D82A}">
                    <a16:rowId xmlns:a16="http://schemas.microsoft.com/office/drawing/2014/main" val="10008"/>
                  </a:ext>
                </a:extLst>
              </a:tr>
              <a:tr h="288000">
                <a:tc>
                  <a:txBody>
                    <a:bodyPr wrap="square"/>
                    <a:lstStyle/>
                    <a:p>
                      <a:pPr algn="l"/>
                      <a:r>
                        <a:rPr lang="en-US" sz="900" b="0" noProof="0" dirty="0">
                          <a:solidFill>
                            <a:srgbClr val="202945"/>
                          </a:solidFill>
                          <a:latin typeface="Nunito Sans"/>
                        </a:rPr>
                        <a:t>9</a:t>
                      </a:r>
                    </a:p>
                  </a:txBody>
                  <a:tcPr marL="45720" marR="45720" marT="18000" marB="18000" anchor="ctr">
                    <a:noFill/>
                  </a:tcPr>
                </a:tc>
                <a:tc>
                  <a:txBody>
                    <a:bodyPr wrap="square"/>
                    <a:lstStyle/>
                    <a:p>
                      <a:pPr algn="l"/>
                      <a:r>
                        <a:rPr lang="en-US" sz="900" b="0" noProof="0" dirty="0">
                          <a:solidFill>
                            <a:srgbClr val="202945"/>
                          </a:solidFill>
                          <a:latin typeface="Nunito Sans"/>
                        </a:rPr>
                        <a:t>BRGF WORLD MINING(REG)A2</a:t>
                      </a:r>
                    </a:p>
                  </a:txBody>
                  <a:tcPr marL="45720" marR="45720" marT="18000" marB="18000" anchor="ctr">
                    <a:noFill/>
                  </a:tcPr>
                </a:tc>
                <a:tc>
                  <a:txBody>
                    <a:bodyPr wrap="square"/>
                    <a:lstStyle/>
                    <a:p>
                      <a:pPr algn="r"/>
                      <a:r>
                        <a:rPr lang="en-US" sz="900" b="0" noProof="0" dirty="0">
                          <a:solidFill>
                            <a:srgbClr val="202945"/>
                          </a:solidFill>
                          <a:latin typeface="Nunito Sans"/>
                        </a:rPr>
                        <a:t>461,847</a:t>
                      </a:r>
                    </a:p>
                  </a:txBody>
                  <a:tcPr marL="45720" marR="45720" marT="18000" marB="18000" anchor="ctr">
                    <a:noFill/>
                  </a:tcPr>
                </a:tc>
                <a:tc>
                  <a:txBody>
                    <a:bodyPr wrap="square"/>
                    <a:lstStyle/>
                    <a:p>
                      <a:pPr algn="r"/>
                      <a:r>
                        <a:rPr lang="en-US" sz="900" b="0" noProof="0" dirty="0">
                          <a:solidFill>
                            <a:srgbClr val="202945"/>
                          </a:solidFill>
                          <a:latin typeface="Nunito Sans"/>
                        </a:rPr>
                        <a:t>2.2%</a:t>
                      </a:r>
                    </a:p>
                  </a:txBody>
                  <a:tcPr marL="45720" marR="45720" marT="18000" marB="18000" anchor="ctr">
                    <a:noFill/>
                  </a:tcPr>
                </a:tc>
                <a:tc>
                  <a:txBody>
                    <a:bodyPr wrap="square"/>
                    <a:lstStyle/>
                    <a:p>
                      <a:pPr algn="r"/>
                      <a:r>
                        <a:rPr lang="en-US" sz="900" b="0" noProof="0" dirty="0">
                          <a:solidFill>
                            <a:srgbClr val="202945"/>
                          </a:solidFill>
                          <a:latin typeface="Nunito Sans"/>
                        </a:rPr>
                        <a:t>48.3%</a:t>
                      </a:r>
                    </a:p>
                  </a:txBody>
                  <a:tcPr marL="45720" marR="45720" marT="18000" marB="18000" anchor="ctr">
                    <a:noFill/>
                  </a:tcPr>
                </a:tc>
                <a:extLst>
                  <a:ext uri="{0D108BD9-81ED-4DB2-BD59-A6C34878D82A}">
                    <a16:rowId xmlns:a16="http://schemas.microsoft.com/office/drawing/2014/main" val="10009"/>
                  </a:ext>
                </a:extLst>
              </a:tr>
              <a:tr h="288000">
                <a:tc>
                  <a:txBody>
                    <a:bodyPr wrap="square"/>
                    <a:lstStyle/>
                    <a:p>
                      <a:pPr algn="l"/>
                      <a:r>
                        <a:rPr lang="en-US" sz="900" b="0" noProof="0" dirty="0">
                          <a:solidFill>
                            <a:srgbClr val="202945"/>
                          </a:solidFill>
                          <a:latin typeface="Nunito Sans"/>
                        </a:rPr>
                        <a:t>10</a:t>
                      </a:r>
                    </a:p>
                  </a:txBody>
                  <a:tcPr marL="45720" marR="45720" marT="18000" marB="18000" anchor="ctr">
                    <a:noFill/>
                  </a:tcPr>
                </a:tc>
                <a:tc>
                  <a:txBody>
                    <a:bodyPr wrap="square"/>
                    <a:lstStyle/>
                    <a:p>
                      <a:pPr algn="l"/>
                      <a:r>
                        <a:rPr lang="en-US" sz="900" b="0" noProof="0" dirty="0">
                          <a:solidFill>
                            <a:srgbClr val="202945"/>
                          </a:solidFill>
                          <a:latin typeface="Nunito Sans"/>
                        </a:rPr>
                        <a:t>GOLDMAN EU HIGH DIV P CAP</a:t>
                      </a:r>
                    </a:p>
                  </a:txBody>
                  <a:tcPr marL="45720" marR="45720" marT="18000" marB="18000" anchor="ctr">
                    <a:noFill/>
                  </a:tcPr>
                </a:tc>
                <a:tc>
                  <a:txBody>
                    <a:bodyPr wrap="square"/>
                    <a:lstStyle/>
                    <a:p>
                      <a:pPr algn="r"/>
                      <a:r>
                        <a:rPr lang="en-US" sz="900" b="0" noProof="0" dirty="0">
                          <a:solidFill>
                            <a:srgbClr val="202945"/>
                          </a:solidFill>
                          <a:latin typeface="Nunito Sans"/>
                        </a:rPr>
                        <a:t>444,453</a:t>
                      </a:r>
                    </a:p>
                  </a:txBody>
                  <a:tcPr marL="45720" marR="45720" marT="18000" marB="18000" anchor="ctr">
                    <a:noFill/>
                  </a:tcPr>
                </a:tc>
                <a:tc>
                  <a:txBody>
                    <a:bodyPr wrap="square"/>
                    <a:lstStyle/>
                    <a:p>
                      <a:pPr algn="r"/>
                      <a:r>
                        <a:rPr lang="en-US" sz="900" b="0" noProof="0" dirty="0">
                          <a:solidFill>
                            <a:srgbClr val="202945"/>
                          </a:solidFill>
                          <a:latin typeface="Nunito Sans"/>
                        </a:rPr>
                        <a:t>2.1%</a:t>
                      </a:r>
                    </a:p>
                  </a:txBody>
                  <a:tcPr marL="45720" marR="45720" marT="18000" marB="18000" anchor="ctr">
                    <a:noFill/>
                  </a:tcPr>
                </a:tc>
                <a:tc>
                  <a:txBody>
                    <a:bodyPr wrap="square"/>
                    <a:lstStyle/>
                    <a:p>
                      <a:pPr algn="r"/>
                      <a:r>
                        <a:rPr lang="en-US" sz="900" b="0" noProof="0" dirty="0">
                          <a:solidFill>
                            <a:srgbClr val="202945"/>
                          </a:solidFill>
                          <a:latin typeface="Nunito Sans"/>
                        </a:rPr>
                        <a:t>50.3%</a:t>
                      </a:r>
                    </a:p>
                  </a:txBody>
                  <a:tcPr marL="45720" marR="45720" marT="18000" marB="18000" anchor="ctr">
                    <a:noFill/>
                  </a:tcPr>
                </a:tc>
                <a:extLst>
                  <a:ext uri="{0D108BD9-81ED-4DB2-BD59-A6C34878D82A}">
                    <a16:rowId xmlns:a16="http://schemas.microsoft.com/office/drawing/2014/main" val="10010"/>
                  </a:ext>
                </a:extLst>
              </a:tr>
            </a:tbl>
          </a:graphicData>
        </a:graphic>
      </p:graphicFrame>
      <p:sp>
        <p:nvSpPr>
          <p:cNvPr id="5" name="Rectangle 4"/>
          <p:cNvSpPr/>
          <p:nvPr/>
        </p:nvSpPr>
        <p:spPr>
          <a:xfrm>
            <a:off x="6983999" y="25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38.5%</a:t>
            </a:r>
          </a:p>
          <a:p>
            <a:pPr algn="ctr"/>
            <a:r>
              <a:rPr lang="en-US" sz="1400" b="0" noProof="0" dirty="0">
                <a:solidFill>
                  <a:srgbClr val="202945"/>
                </a:solidFill>
                <a:latin typeface="Nunito Sans"/>
              </a:rPr>
              <a:t>Top 5</a:t>
            </a:r>
          </a:p>
        </p:txBody>
      </p:sp>
      <p:sp>
        <p:nvSpPr>
          <p:cNvPr id="6" name="Rectangle 5"/>
          <p:cNvSpPr/>
          <p:nvPr/>
        </p:nvSpPr>
        <p:spPr>
          <a:xfrm>
            <a:off x="6983999" y="34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50.3%</a:t>
            </a:r>
          </a:p>
          <a:p>
            <a:pPr algn="ctr"/>
            <a:r>
              <a:rPr lang="en-US" sz="1400" b="0" noProof="0">
                <a:solidFill>
                  <a:srgbClr val="202945"/>
                </a:solidFill>
                <a:latin typeface="Nunito Sans"/>
              </a:rPr>
              <a:t>Top 10</a:t>
            </a:r>
          </a:p>
        </p:txBody>
      </p:sp>
      <p:sp>
        <p:nvSpPr>
          <p:cNvPr id="7" name="Rectangle 6"/>
          <p:cNvSpPr/>
          <p:nvPr/>
        </p:nvSpPr>
        <p:spPr>
          <a:xfrm>
            <a:off x="6983999" y="43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66.5%</a:t>
            </a:r>
          </a:p>
          <a:p>
            <a:pPr algn="ctr"/>
            <a:r>
              <a:rPr lang="en-US" sz="1400" b="0" noProof="0">
                <a:solidFill>
                  <a:srgbClr val="202945"/>
                </a:solidFill>
                <a:latin typeface="Nunito Sans"/>
              </a:rPr>
              <a:t>Top 20</a:t>
            </a:r>
          </a:p>
        </p:txBody>
      </p:sp>
      <p:sp>
        <p:nvSpPr>
          <p:cNvPr id="8" name="Rectangle 7"/>
          <p:cNvSpPr/>
          <p:nvPr/>
        </p:nvSpPr>
        <p:spPr>
          <a:xfrm>
            <a:off x="6983999" y="5220000"/>
            <a:ext cx="3060000" cy="75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a:t>
            </a:r>
          </a:p>
          <a:p>
            <a:pPr algn="ctr"/>
            <a:r>
              <a:rPr lang="en-US" sz="1400" b="0" noProof="0">
                <a:solidFill>
                  <a:srgbClr val="202945"/>
                </a:solidFill>
                <a:latin typeface="Nunito Sans"/>
              </a:rPr>
              <a:t>Positions &gt; 5%</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Income &amp; interest-rate sensitivity</a:t>
            </a:r>
          </a:p>
        </p:txBody>
      </p:sp>
      <p:sp>
        <p:nvSpPr>
          <p:cNvPr id="3" name="Text Placeholder 2"/>
          <p:cNvSpPr>
            <a:spLocks noGrp="1"/>
          </p:cNvSpPr>
          <p:nvPr>
            <p:ph type="body" sz="quarter" idx="14"/>
          </p:nvPr>
        </p:nvSpPr>
        <p:spPr>
          <a:xfrm>
            <a:off x="665163" y="1658942"/>
            <a:ext cx="9398001" cy="251511"/>
          </a:xfrm>
        </p:spPr>
        <p:txBody>
          <a:bodyPr/>
          <a:lstStyle/>
          <a:p>
            <a:r>
              <a:rPr lang="en-US" sz="1400" noProof="0"/>
              <a:t>Yield by sleeve and duration of the fixed-income book.</a:t>
            </a:r>
          </a:p>
        </p:txBody>
      </p:sp>
      <p:sp>
        <p:nvSpPr>
          <p:cNvPr id="4" name="TextBox 3"/>
          <p:cNvSpPr txBox="1"/>
          <p:nvPr/>
        </p:nvSpPr>
        <p:spPr>
          <a:xfrm>
            <a:off x="666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Income by sleeve</a:t>
            </a:r>
          </a:p>
        </p:txBody>
      </p:sp>
      <p:graphicFrame>
        <p:nvGraphicFramePr>
          <p:cNvPr id="5" name="Table 4"/>
          <p:cNvGraphicFramePr>
            <a:graphicFrameLocks noGrp="1"/>
          </p:cNvGraphicFramePr>
          <p:nvPr>
            <p:extLst>
              <p:ext uri="{D42A27DB-BD31-4B8C-83A1-F6EECF244321}">
                <p14:modId xmlns:p14="http://schemas.microsoft.com/office/powerpoint/2010/main" val="1610617594"/>
              </p:ext>
            </p:extLst>
          </p:nvPr>
        </p:nvGraphicFramePr>
        <p:xfrm>
          <a:off x="666000" y="2736000"/>
          <a:ext cx="4535999" cy="1224000"/>
        </p:xfrm>
        <a:graphic>
          <a:graphicData uri="http://schemas.openxmlformats.org/drawingml/2006/table">
            <a:tbl>
              <a:tblPr firstRow="1" bandRow="1">
                <a:tableStyleId>{5C22544A-7EE6-4342-B048-85BDC9FD1C3A}</a:tableStyleId>
              </a:tblPr>
              <a:tblGrid>
                <a:gridCol w="2015999">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tblGrid>
              <a:tr h="360000">
                <a:tc>
                  <a:txBody>
                    <a:bodyPr/>
                    <a:lstStyle/>
                    <a:p>
                      <a:pPr algn="l"/>
                      <a:r>
                        <a:rPr lang="en-US" sz="1200" b="1" noProof="0" dirty="0">
                          <a:solidFill>
                            <a:srgbClr val="202945"/>
                          </a:solidFill>
                          <a:latin typeface="Nunito Sans"/>
                        </a:rPr>
                        <a:t>Sleeve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Income</a:t>
                      </a:r>
                    </a:p>
                  </a:txBody>
                  <a:tcPr marL="54000" marR="54000" marT="18000" marB="18000" anchor="ctr">
                    <a:solidFill>
                      <a:srgbClr val="FFC545"/>
                    </a:solidFill>
                  </a:tcPr>
                </a:tc>
                <a:tc>
                  <a:txBody>
                    <a:bodyPr/>
                    <a:lstStyle/>
                    <a:p>
                      <a:pPr algn="r"/>
                      <a:r>
                        <a:rPr lang="en-US" sz="1200" b="1" noProof="0" dirty="0">
                          <a:solidFill>
                            <a:srgbClr val="202945"/>
                          </a:solidFill>
                          <a:latin typeface="Nunito Sans"/>
                        </a:rPr>
                        <a:t>% of income</a:t>
                      </a:r>
                    </a:p>
                  </a:txBody>
                  <a:tcPr marL="54000" marR="54000" marT="18000" marB="18000" anchor="ctr">
                    <a:solidFill>
                      <a:srgbClr val="FFC545"/>
                    </a:solidFill>
                  </a:tcPr>
                </a:tc>
                <a:extLst>
                  <a:ext uri="{0D108BD9-81ED-4DB2-BD59-A6C34878D82A}">
                    <a16:rowId xmlns:a16="http://schemas.microsoft.com/office/drawing/2014/main" val="10000"/>
                  </a:ext>
                </a:extLst>
              </a:tr>
              <a:tr h="288000">
                <a:tc>
                  <a:txBody>
                    <a:bodyPr wrap="square"/>
                    <a:lstStyle/>
                    <a:p>
                      <a:pPr algn="l"/>
                      <a:r>
                        <a:rPr lang="en-US" sz="900" b="0" noProof="0" dirty="0">
                          <a:solidFill>
                            <a:srgbClr val="202945"/>
                          </a:solidFill>
                          <a:latin typeface="Nunito Sans"/>
                        </a:rPr>
                        <a:t>Fixed Income</a:t>
                      </a:r>
                    </a:p>
                  </a:txBody>
                  <a:tcPr marL="45720" marR="45720" marT="18000" marB="18000" anchor="ctr">
                    <a:noFill/>
                  </a:tcPr>
                </a:tc>
                <a:tc>
                  <a:txBody>
                    <a:bodyPr wrap="square"/>
                    <a:lstStyle/>
                    <a:p>
                      <a:pPr algn="r"/>
                      <a:r>
                        <a:rPr lang="en-US" sz="900" b="0" noProof="0" dirty="0">
                          <a:solidFill>
                            <a:srgbClr val="202945"/>
                          </a:solidFill>
                          <a:latin typeface="Nunito Sans"/>
                        </a:rPr>
                        <a:t>73,710</a:t>
                      </a:r>
                    </a:p>
                  </a:txBody>
                  <a:tcPr marL="45720" marR="45720" marT="18000" marB="18000" anchor="ctr">
                    <a:noFill/>
                  </a:tcPr>
                </a:tc>
                <a:tc>
                  <a:txBody>
                    <a:bodyPr wrap="square"/>
                    <a:lstStyle/>
                    <a:p>
                      <a:pPr algn="r"/>
                      <a:r>
                        <a:rPr lang="en-US" sz="900" b="0" noProof="0" dirty="0">
                          <a:solidFill>
                            <a:srgbClr val="202945"/>
                          </a:solidFill>
                          <a:latin typeface="Nunito Sans"/>
                        </a:rPr>
                        <a:t>64.5%</a:t>
                      </a:r>
                    </a:p>
                  </a:txBody>
                  <a:tcPr marL="45720" marR="45720" marT="18000" marB="18000" anchor="ctr">
                    <a:noFill/>
                  </a:tcPr>
                </a:tc>
                <a:extLst>
                  <a:ext uri="{0D108BD9-81ED-4DB2-BD59-A6C34878D82A}">
                    <a16:rowId xmlns:a16="http://schemas.microsoft.com/office/drawing/2014/main" val="10001"/>
                  </a:ext>
                </a:extLst>
              </a:tr>
              <a:tr h="288000">
                <a:tc>
                  <a:txBody>
                    <a:bodyPr wrap="square"/>
                    <a:lstStyle/>
                    <a:p>
                      <a:pPr algn="l"/>
                      <a:r>
                        <a:rPr lang="en-US" sz="900" b="0" noProof="0" dirty="0">
                          <a:solidFill>
                            <a:srgbClr val="202945"/>
                          </a:solidFill>
                          <a:latin typeface="Nunito Sans"/>
                        </a:rPr>
                        <a:t>Structured Products</a:t>
                      </a:r>
                    </a:p>
                  </a:txBody>
                  <a:tcPr marL="45720" marR="45720" marT="18000" marB="18000" anchor="ctr">
                    <a:noFill/>
                  </a:tcPr>
                </a:tc>
                <a:tc>
                  <a:txBody>
                    <a:bodyPr wrap="square"/>
                    <a:lstStyle/>
                    <a:p>
                      <a:pPr algn="r"/>
                      <a:r>
                        <a:rPr lang="en-US" sz="900" b="0" noProof="0" dirty="0">
                          <a:solidFill>
                            <a:srgbClr val="202945"/>
                          </a:solidFill>
                          <a:latin typeface="Nunito Sans"/>
                        </a:rPr>
                        <a:t>40,593</a:t>
                      </a:r>
                    </a:p>
                  </a:txBody>
                  <a:tcPr marL="45720" marR="45720" marT="18000" marB="18000" anchor="ctr">
                    <a:noFill/>
                  </a:tcPr>
                </a:tc>
                <a:tc>
                  <a:txBody>
                    <a:bodyPr wrap="square"/>
                    <a:lstStyle/>
                    <a:p>
                      <a:pPr algn="r"/>
                      <a:r>
                        <a:rPr lang="en-US" sz="900" b="0" noProof="0" dirty="0">
                          <a:solidFill>
                            <a:srgbClr val="202945"/>
                          </a:solidFill>
                          <a:latin typeface="Nunito Sans"/>
                        </a:rPr>
                        <a:t>35.5%</a:t>
                      </a:r>
                    </a:p>
                  </a:txBody>
                  <a:tcPr marL="45720" marR="45720" marT="18000" marB="18000" anchor="ctr">
                    <a:noFill/>
                  </a:tcPr>
                </a:tc>
                <a:extLst>
                  <a:ext uri="{0D108BD9-81ED-4DB2-BD59-A6C34878D82A}">
                    <a16:rowId xmlns:a16="http://schemas.microsoft.com/office/drawing/2014/main" val="10002"/>
                  </a:ext>
                </a:extLst>
              </a:tr>
              <a:tr h="288000">
                <a:tc>
                  <a:txBody>
                    <a:bodyPr wrap="square"/>
                    <a:lstStyle/>
                    <a:p>
                      <a:pPr algn="l"/>
                      <a:r>
                        <a:rPr lang="en-US" sz="900" b="0" noProof="0" dirty="0">
                          <a:solidFill>
                            <a:srgbClr val="202945"/>
                          </a:solidFill>
                          <a:latin typeface="Nunito Sans"/>
                        </a:rPr>
                        <a:t>Cash</a:t>
                      </a:r>
                    </a:p>
                  </a:txBody>
                  <a:tcPr marL="45720" marR="45720" marT="18000" marB="18000" anchor="ctr">
                    <a:noFill/>
                  </a:tcPr>
                </a:tc>
                <a:tc>
                  <a:txBody>
                    <a:bodyPr wrap="square"/>
                    <a:lstStyle/>
                    <a:p>
                      <a:pPr algn="r"/>
                      <a:r>
                        <a:rPr lang="en-US" sz="900" b="0" noProof="0" dirty="0">
                          <a:solidFill>
                            <a:srgbClr val="202945"/>
                          </a:solidFill>
                          <a:latin typeface="Nunito Sans"/>
                        </a:rPr>
                        <a:t>0</a:t>
                      </a:r>
                    </a:p>
                  </a:txBody>
                  <a:tcPr marL="45720" marR="45720" marT="18000" marB="18000" anchor="ctr">
                    <a:noFill/>
                  </a:tcPr>
                </a:tc>
                <a:tc>
                  <a:txBody>
                    <a:bodyPr wrap="square"/>
                    <a:lstStyle/>
                    <a:p>
                      <a:pPr algn="r"/>
                      <a:r>
                        <a:rPr lang="en-US" sz="900" b="0" noProof="0" dirty="0">
                          <a:solidFill>
                            <a:srgbClr val="202945"/>
                          </a:solidFill>
                          <a:latin typeface="Nunito Sans"/>
                        </a:rPr>
                        <a:t>0.0%</a:t>
                      </a:r>
                    </a:p>
                  </a:txBody>
                  <a:tcPr marL="45720" marR="45720" marT="18000" marB="18000" anchor="ctr">
                    <a:noFill/>
                  </a:tcPr>
                </a:tc>
                <a:extLst>
                  <a:ext uri="{0D108BD9-81ED-4DB2-BD59-A6C34878D82A}">
                    <a16:rowId xmlns:a16="http://schemas.microsoft.com/office/drawing/2014/main" val="10003"/>
                  </a:ext>
                </a:extLst>
              </a:tr>
            </a:tbl>
          </a:graphicData>
        </a:graphic>
      </p:graphicFrame>
      <p:sp>
        <p:nvSpPr>
          <p:cNvPr id="6" name="Rectangle 5"/>
          <p:cNvSpPr/>
          <p:nvPr/>
        </p:nvSpPr>
        <p:spPr>
          <a:xfrm>
            <a:off x="666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0.4%</a:t>
            </a:r>
          </a:p>
          <a:p>
            <a:pPr algn="ctr"/>
            <a:r>
              <a:rPr lang="en-US" sz="1200" b="0" noProof="0">
                <a:solidFill>
                  <a:srgbClr val="202945"/>
                </a:solidFill>
                <a:latin typeface="Nunito Sans"/>
              </a:rPr>
              <a:t>Running yield</a:t>
            </a:r>
          </a:p>
        </p:txBody>
      </p:sp>
      <p:sp>
        <p:nvSpPr>
          <p:cNvPr id="7" name="Rectangle 6"/>
          <p:cNvSpPr/>
          <p:nvPr/>
        </p:nvSpPr>
        <p:spPr>
          <a:xfrm>
            <a:off x="2214000"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3.1y</a:t>
            </a:r>
          </a:p>
          <a:p>
            <a:pPr algn="ctr"/>
            <a:r>
              <a:rPr lang="en-US" sz="1200" b="0" noProof="0">
                <a:solidFill>
                  <a:srgbClr val="202945"/>
                </a:solidFill>
                <a:latin typeface="Nunito Sans"/>
              </a:rPr>
              <a:t>FI duration</a:t>
            </a:r>
          </a:p>
        </p:txBody>
      </p:sp>
      <p:sp>
        <p:nvSpPr>
          <p:cNvPr id="8" name="Rectangle 7"/>
          <p:cNvSpPr/>
          <p:nvPr/>
        </p:nvSpPr>
        <p:spPr>
          <a:xfrm>
            <a:off x="3761999" y="4536000"/>
            <a:ext cx="1440000" cy="936000"/>
          </a:xfrm>
          <a:prstGeom prst="rect">
            <a:avLst/>
          </a:prstGeom>
          <a:solidFill>
            <a:srgbClr val="FFFFFF"/>
          </a:solidFill>
          <a:ln w="12700">
            <a:solidFill>
              <a:srgbClr val="FFC545"/>
            </a:solidFill>
          </a:ln>
          <a:effectLst/>
        </p:spPr>
        <p:style>
          <a:lnRef idx="1">
            <a:schemeClr val="accent1"/>
          </a:lnRef>
          <a:fillRef idx="3">
            <a:schemeClr val="accent1"/>
          </a:fillRef>
          <a:effectRef idx="2">
            <a:schemeClr val="accent1"/>
          </a:effectRef>
          <a:fontRef idx="minor">
            <a:schemeClr val="lt1"/>
          </a:fontRef>
        </p:style>
        <p:txBody>
          <a:bodyPr wrap="square" lIns="91440" tIns="45720" rIns="91440" bIns="45720" rtlCol="0" anchor="ctr"/>
          <a:lstStyle/>
          <a:p>
            <a:pPr algn="ctr"/>
            <a:r>
              <a:rPr lang="en-US" sz="2400" b="1" noProof="0" dirty="0">
                <a:solidFill>
                  <a:srgbClr val="FF6C0E"/>
                </a:solidFill>
                <a:latin typeface="Nunito Sans ExtraBold"/>
              </a:rPr>
              <a:t>EUR -100,892</a:t>
            </a:r>
          </a:p>
          <a:p>
            <a:pPr algn="ctr"/>
            <a:r>
              <a:rPr lang="en-US" sz="1200" b="0" noProof="0" dirty="0">
                <a:solidFill>
                  <a:srgbClr val="202945"/>
                </a:solidFill>
                <a:latin typeface="Nunito Sans"/>
              </a:rPr>
              <a:t>Impact +100bp</a:t>
            </a:r>
          </a:p>
        </p:txBody>
      </p:sp>
      <p:sp>
        <p:nvSpPr>
          <p:cNvPr id="9" name="TextBox 8"/>
          <p:cNvSpPr txBox="1"/>
          <p:nvPr/>
        </p:nvSpPr>
        <p:spPr>
          <a:xfrm>
            <a:off x="5544000" y="2376000"/>
            <a:ext cx="4536000" cy="307777"/>
          </a:xfrm>
          <a:prstGeom prst="rect">
            <a:avLst/>
          </a:prstGeom>
          <a:noFill/>
        </p:spPr>
        <p:txBody>
          <a:bodyPr wrap="square" lIns="0" anchor="t">
            <a:spAutoFit/>
          </a:bodyPr>
          <a:lstStyle/>
          <a:p>
            <a:pPr algn="l"/>
            <a:r>
              <a:rPr lang="en-US" sz="1400" b="1" noProof="0" dirty="0">
                <a:solidFill>
                  <a:srgbClr val="202945"/>
                </a:solidFill>
                <a:latin typeface="Nunito Sans ExtraBold"/>
              </a:rPr>
              <a:t>Fixed-income duration sleeves</a:t>
            </a:r>
          </a:p>
        </p:txBody>
      </p:sp>
      <p:graphicFrame>
        <p:nvGraphicFramePr>
          <p:cNvPr id="10" name="Table 9"/>
          <p:cNvGraphicFramePr>
            <a:graphicFrameLocks noGrp="1"/>
          </p:cNvGraphicFramePr>
          <p:nvPr/>
        </p:nvGraphicFramePr>
        <p:xfrm>
          <a:off x="5544000" y="2736000"/>
          <a:ext cx="4535999" cy="1440000"/>
        </p:xfrm>
        <a:graphic>
          <a:graphicData uri="http://schemas.openxmlformats.org/drawingml/2006/table">
            <a:tbl>
              <a:tblPr firstRow="1" bandRow="1">
                <a:tableStyleId>{5C22544A-7EE6-4342-B048-85BDC9FD1C3A}</a:tableStyleId>
              </a:tblPr>
              <a:tblGrid>
                <a:gridCol w="1133999"/>
                <a:gridCol w="1133999"/>
                <a:gridCol w="1133999"/>
                <a:gridCol w="1134002"/>
              </a:tblGrid>
              <a:tr h="360000">
                <a:tc>
                  <a:txBody>
                    <a:bodyPr wrap="square"/>
                    <a:lstStyle/>
                    <a:p>
                      <a:pPr algn="l"/>
                      <a:r>
                        <a:rPr sz="900" b="1">
                          <a:solidFill>
                            <a:srgbClr val="202945"/>
                          </a:solidFill>
                        </a:rPr>
                        <a:t>Sub-sleeve</a:t>
                      </a:r>
                    </a:p>
                  </a:txBody>
                  <a:tcPr marL="45720" marR="45720" anchor="ctr">
                    <a:solidFill>
                      <a:srgbClr val="FFC545"/>
                    </a:solidFill>
                  </a:tcPr>
                </a:tc>
                <a:tc>
                  <a:txBody>
                    <a:bodyPr wrap="square"/>
                    <a:lstStyle/>
                    <a:p>
                      <a:pPr algn="l"/>
                      <a:r>
                        <a:rPr sz="900" b="1">
                          <a:solidFill>
                            <a:srgbClr val="202945"/>
                          </a:solidFill>
                        </a:rPr>
                        <a:t>Value</a:t>
                      </a:r>
                    </a:p>
                  </a:txBody>
                  <a:tcPr marL="45720" marR="45720" anchor="ctr">
                    <a:solidFill>
                      <a:srgbClr val="FFC545"/>
                    </a:solidFill>
                  </a:tcPr>
                </a:tc>
                <a:tc>
                  <a:txBody>
                    <a:bodyPr wrap="square"/>
                    <a:lstStyle/>
                    <a:p>
                      <a:pPr algn="l"/>
                      <a:r>
                        <a:rPr sz="900" b="1">
                          <a:solidFill>
                            <a:srgbClr val="202945"/>
                          </a:solidFill>
                        </a:rPr>
                        <a:t>Avg duration</a:t>
                      </a:r>
                    </a:p>
                  </a:txBody>
                  <a:tcPr marL="45720" marR="45720" anchor="ctr">
                    <a:solidFill>
                      <a:srgbClr val="FFC545"/>
                    </a:solidFill>
                  </a:tcPr>
                </a:tc>
                <a:tc>
                  <a:txBody>
                    <a:bodyPr wrap="square"/>
                    <a:lstStyle/>
                    <a:p>
                      <a:pPr algn="l"/>
                      <a:r>
                        <a:rPr sz="900" b="1">
                          <a:solidFill>
                            <a:srgbClr val="202945"/>
                          </a:solidFill>
                        </a:rPr>
                        <a:t>Contribution</a:t>
                      </a:r>
                    </a:p>
                  </a:txBody>
                  <a:tcPr marL="45720" marR="45720" anchor="ctr">
                    <a:solidFill>
                      <a:srgbClr val="FFC545"/>
                    </a:solidFill>
                  </a:tcPr>
                </a:tc>
              </a:tr>
              <a:tr h="360000">
                <a:tc>
                  <a:txBody>
                    <a:bodyPr wrap="square"/>
                    <a:lstStyle/>
                    <a:p>
                      <a:pPr algn="l"/>
                      <a:r>
                        <a:rPr sz="850" b="0">
                          <a:solidFill>
                            <a:srgbClr val="202945"/>
                          </a:solidFill>
                        </a:rPr>
                        <a:t>Quasi-sovereign bond</a:t>
                      </a:r>
                    </a:p>
                  </a:txBody>
                  <a:tcPr marL="45720" marR="45720" anchor="ctr">
                    <a:noFill/>
                  </a:tcPr>
                </a:tc>
                <a:tc>
                  <a:txBody>
                    <a:bodyPr wrap="square"/>
                    <a:lstStyle/>
                    <a:p>
                      <a:pPr algn="r"/>
                      <a:r>
                        <a:rPr sz="850" b="0">
                          <a:solidFill>
                            <a:srgbClr val="202945"/>
                          </a:solidFill>
                        </a:rPr>
                        <a:t>2,270,377</a:t>
                      </a:r>
                    </a:p>
                  </a:txBody>
                  <a:tcPr marL="45720" marR="45720" anchor="ctr">
                    <a:noFill/>
                  </a:tcPr>
                </a:tc>
                <a:tc>
                  <a:txBody>
                    <a:bodyPr wrap="square"/>
                    <a:lstStyle/>
                    <a:p>
                      <a:pPr algn="r"/>
                      <a:r>
                        <a:rPr sz="850" b="0">
                          <a:solidFill>
                            <a:srgbClr val="202945"/>
                          </a:solidFill>
                        </a:rPr>
                        <a:t>2.5</a:t>
                      </a:r>
                    </a:p>
                  </a:txBody>
                  <a:tcPr marL="45720" marR="45720" anchor="ctr">
                    <a:noFill/>
                  </a:tcPr>
                </a:tc>
                <a:tc>
                  <a:txBody>
                    <a:bodyPr wrap="square"/>
                    <a:lstStyle/>
                    <a:p>
                      <a:pPr algn="r"/>
                      <a:r>
                        <a:rPr sz="850" b="0">
                          <a:solidFill>
                            <a:srgbClr val="202945"/>
                          </a:solidFill>
                        </a:rPr>
                        <a:t>1.80</a:t>
                      </a:r>
                    </a:p>
                  </a:txBody>
                  <a:tcPr marL="45720" marR="45720" anchor="ctr">
                    <a:noFill/>
                  </a:tcPr>
                </a:tc>
              </a:tr>
              <a:tr h="360000">
                <a:tc>
                  <a:txBody>
                    <a:bodyPr wrap="square"/>
                    <a:lstStyle/>
                    <a:p>
                      <a:pPr algn="l"/>
                      <a:r>
                        <a:rPr sz="850" b="0">
                          <a:solidFill>
                            <a:srgbClr val="202945"/>
                          </a:solidFill>
                        </a:rPr>
                        <a:t>Structured note / certificate</a:t>
                      </a:r>
                    </a:p>
                  </a:txBody>
                  <a:tcPr marL="45720" marR="45720" anchor="ctr">
                    <a:noFill/>
                  </a:tcPr>
                </a:tc>
                <a:tc>
                  <a:txBody>
                    <a:bodyPr wrap="square"/>
                    <a:lstStyle/>
                    <a:p>
                      <a:pPr algn="r"/>
                      <a:r>
                        <a:rPr sz="850" b="0">
                          <a:solidFill>
                            <a:srgbClr val="202945"/>
                          </a:solidFill>
                        </a:rPr>
                        <a:t>622,739</a:t>
                      </a:r>
                    </a:p>
                  </a:txBody>
                  <a:tcPr marL="45720" marR="45720" anchor="ctr">
                    <a:noFill/>
                  </a:tcPr>
                </a:tc>
                <a:tc>
                  <a:txBody>
                    <a:bodyPr wrap="square"/>
                    <a:lstStyle/>
                    <a:p>
                      <a:pPr algn="r"/>
                      <a:r>
                        <a:rPr sz="850" b="0">
                          <a:solidFill>
                            <a:srgbClr val="202945"/>
                          </a:solidFill>
                        </a:rPr>
                        <a:t>0.0</a:t>
                      </a:r>
                    </a:p>
                  </a:txBody>
                  <a:tcPr marL="45720" marR="45720" anchor="ctr">
                    <a:noFill/>
                  </a:tcPr>
                </a:tc>
                <a:tc>
                  <a:txBody>
                    <a:bodyPr wrap="square"/>
                    <a:lstStyle/>
                    <a:p>
                      <a:pPr algn="r"/>
                      <a:r>
                        <a:rPr sz="850" b="0">
                          <a:solidFill>
                            <a:srgbClr val="202945"/>
                          </a:solidFill>
                        </a:rPr>
                        <a:t>0.00</a:t>
                      </a:r>
                    </a:p>
                  </a:txBody>
                  <a:tcPr marL="45720" marR="45720" anchor="ctr">
                    <a:noFill/>
                  </a:tcPr>
                </a:tc>
              </a:tr>
              <a:tr h="360000">
                <a:tc>
                  <a:txBody>
                    <a:bodyPr wrap="square"/>
                    <a:lstStyle/>
                    <a:p>
                      <a:pPr algn="l"/>
                      <a:r>
                        <a:rPr sz="850" b="0">
                          <a:solidFill>
                            <a:srgbClr val="202945"/>
                          </a:solidFill>
                        </a:rPr>
                        <a:t>Bank bond</a:t>
                      </a:r>
                    </a:p>
                  </a:txBody>
                  <a:tcPr marL="45720" marR="45720" anchor="ctr">
                    <a:noFill/>
                  </a:tcPr>
                </a:tc>
                <a:tc>
                  <a:txBody>
                    <a:bodyPr wrap="square"/>
                    <a:lstStyle/>
                    <a:p>
                      <a:pPr algn="r"/>
                      <a:r>
                        <a:rPr sz="850" b="0">
                          <a:solidFill>
                            <a:srgbClr val="202945"/>
                          </a:solidFill>
                        </a:rPr>
                        <a:t>320,000</a:t>
                      </a:r>
                    </a:p>
                  </a:txBody>
                  <a:tcPr marL="45720" marR="45720" anchor="ctr">
                    <a:noFill/>
                  </a:tcPr>
                </a:tc>
                <a:tc>
                  <a:txBody>
                    <a:bodyPr wrap="square"/>
                    <a:lstStyle/>
                    <a:p>
                      <a:pPr algn="r"/>
                      <a:r>
                        <a:rPr sz="850" b="0">
                          <a:solidFill>
                            <a:srgbClr val="202945"/>
                          </a:solidFill>
                        </a:rPr>
                        <a:t>0.2</a:t>
                      </a:r>
                    </a:p>
                  </a:txBody>
                  <a:tcPr marL="45720" marR="45720" anchor="ctr">
                    <a:noFill/>
                  </a:tcPr>
                </a:tc>
                <a:tc>
                  <a:txBody>
                    <a:bodyPr wrap="square"/>
                    <a:lstStyle/>
                    <a:p>
                      <a:pPr algn="r"/>
                      <a:r>
                        <a:rPr sz="850" b="0">
                          <a:solidFill>
                            <a:srgbClr val="202945"/>
                          </a:solidFill>
                        </a:rPr>
                        <a:t>0.02</a:t>
                      </a:r>
                    </a:p>
                  </a:txBody>
                  <a:tcPr marL="45720" marR="45720" anchor="ctr">
                    <a:noFill/>
                  </a:tcPr>
                </a:tc>
              </a:tr>
            </a:tbl>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E258-2835-91C4-7FEF-EF33B72602C2}"/>
            </a:ext>
          </a:extLst>
        </p:cNvPr>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B13F2FF1-F8E9-A250-678D-61D39D59C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1" name="think-cell data - do not delete" hidden="1">
                        <a:extLst>
                          <a:ext uri="{FF2B5EF4-FFF2-40B4-BE49-F238E27FC236}">
                            <a16:creationId xmlns:a16="http://schemas.microsoft.com/office/drawing/2014/main" id="{B13F2FF1-F8E9-A250-678D-61D39D59C76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0F9B6A57-3DD4-74E8-0F03-72FB944F6E61}"/>
              </a:ext>
            </a:extLst>
          </p:cNvPr>
          <p:cNvSpPr>
            <a:spLocks noGrp="1"/>
          </p:cNvSpPr>
          <p:nvPr>
            <p:ph type="title"/>
          </p:nvPr>
        </p:nvSpPr>
        <p:spPr/>
        <p:txBody>
          <a:bodyPr/>
          <a:lstStyle/>
          <a:p>
            <a:r>
              <a:rPr lang="en-US" b="1" noProof="0" dirty="0">
                <a:solidFill>
                  <a:schemeClr val="bg1"/>
                </a:solidFill>
                <a:latin typeface="Nunito Sans" pitchFamily="2" charset="77"/>
              </a:rPr>
              <a:t>Appendix</a:t>
            </a:r>
            <a:endParaRPr lang="en-US" noProof="0" dirty="0"/>
          </a:p>
        </p:txBody>
      </p:sp>
    </p:spTree>
    <p:extLst>
      <p:ext uri="{BB962C8B-B14F-4D97-AF65-F5344CB8AC3E}">
        <p14:creationId xmlns:p14="http://schemas.microsoft.com/office/powerpoint/2010/main" val="19409991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9">
            <a:extLst>
              <a:ext uri="{FF2B5EF4-FFF2-40B4-BE49-F238E27FC236}">
                <a16:creationId xmlns:a16="http://schemas.microsoft.com/office/drawing/2014/main" id="{25A98F11-C97F-4B6D-DAB0-6041E4688C58}"/>
              </a:ext>
            </a:extLst>
          </p:cNvPr>
          <p:cNvSpPr txBox="1"/>
          <p:nvPr/>
        </p:nvSpPr>
        <p:spPr>
          <a:xfrm>
            <a:off x="741478" y="1618195"/>
            <a:ext cx="9297871" cy="311084"/>
          </a:xfrm>
          <a:prstGeom prst="rect">
            <a:avLst/>
          </a:prstGeom>
        </p:spPr>
        <p:txBody>
          <a:bodyPr vert="horz" wrap="square" lIns="0" tIns="48988" rIns="0" bIns="0" rtlCol="0">
            <a:noAutofit/>
          </a:bodyPr>
          <a:lstStyle/>
          <a:p>
            <a:pPr marR="265281" defTabSz="669684">
              <a:lnSpc>
                <a:spcPct val="90000"/>
              </a:lnSpc>
              <a:spcBef>
                <a:spcPct val="0"/>
              </a:spcBef>
            </a:pPr>
            <a:r>
              <a:rPr lang="en-US" sz="1200" noProof="0" dirty="0">
                <a:solidFill>
                  <a:schemeClr val="tx2">
                    <a:lumMod val="95000"/>
                    <a:lumOff val="5000"/>
                  </a:schemeClr>
                </a:solidFill>
              </a:rPr>
              <a:t>Headquartered in Geneva, with several offices in Switzerland, Bank </a:t>
            </a:r>
            <a:r>
              <a:rPr lang="en-US" sz="1200" noProof="0" dirty="0" err="1">
                <a:solidFill>
                  <a:schemeClr val="tx2">
                    <a:lumMod val="95000"/>
                    <a:lumOff val="5000"/>
                  </a:schemeClr>
                </a:solidFill>
              </a:rPr>
              <a:t>Syz</a:t>
            </a:r>
            <a:r>
              <a:rPr lang="en-US" sz="1200" noProof="0" dirty="0">
                <a:solidFill>
                  <a:schemeClr val="tx2">
                    <a:lumMod val="95000"/>
                    <a:lumOff val="5000"/>
                  </a:schemeClr>
                </a:solidFill>
              </a:rPr>
              <a:t> is also firmly anchored in Istanbul and Johannesburg, demonstrating our willingness to ensure close proximity to our clients while giving them global reach, intercontinental expertise, and a global cultural outlook on wealth management.</a:t>
            </a: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a:p>
            <a:pPr marR="265281" defTabSz="669684">
              <a:lnSpc>
                <a:spcPct val="90000"/>
              </a:lnSpc>
              <a:spcBef>
                <a:spcPct val="0"/>
              </a:spcBef>
            </a:pPr>
            <a:endParaRPr lang="en-US" sz="1100" noProof="0" dirty="0">
              <a:solidFill>
                <a:schemeClr val="tx2">
                  <a:lumMod val="95000"/>
                  <a:lumOff val="5000"/>
                </a:schemeClr>
              </a:solidFill>
              <a:latin typeface="Nunito Sans" pitchFamily="2" charset="77"/>
              <a:ea typeface="+mj-ea"/>
              <a:cs typeface="+mj-cs"/>
            </a:endParaRPr>
          </a:p>
        </p:txBody>
      </p:sp>
      <p:sp>
        <p:nvSpPr>
          <p:cNvPr id="3" name="Rounded Rectangle 2">
            <a:extLst>
              <a:ext uri="{FF2B5EF4-FFF2-40B4-BE49-F238E27FC236}">
                <a16:creationId xmlns:a16="http://schemas.microsoft.com/office/drawing/2014/main" id="{E7D4A707-7602-6299-5DE4-E94333926446}"/>
              </a:ext>
            </a:extLst>
          </p:cNvPr>
          <p:cNvSpPr/>
          <p:nvPr/>
        </p:nvSpPr>
        <p:spPr>
          <a:xfrm>
            <a:off x="741478" y="4406473"/>
            <a:ext cx="1787297" cy="1671384"/>
          </a:xfrm>
          <a:prstGeom prst="roundRect">
            <a:avLst>
              <a:gd name="adj" fmla="val 10207"/>
            </a:avLst>
          </a:prstGeom>
          <a:solidFill>
            <a:schemeClr val="bg1"/>
          </a:solidFill>
          <a:ln>
            <a:solidFill>
              <a:schemeClr val="accent4"/>
            </a:solidFill>
          </a:ln>
          <a:effectLst>
            <a:outerShdw blurRad="50800" dist="38100" dir="2700000" algn="tl" rotWithShape="0">
              <a:prstClr val="black">
                <a:alpha val="40000"/>
              </a:prstClr>
            </a:outerShdw>
          </a:effectLst>
        </p:spPr>
        <p:txBody>
          <a:bodyPr/>
          <a:lstStyle/>
          <a:p>
            <a:endParaRPr lang="en-US" noProof="0" dirty="0">
              <a:solidFill>
                <a:schemeClr val="tx2"/>
              </a:solidFill>
            </a:endParaRPr>
          </a:p>
        </p:txBody>
      </p:sp>
      <p:pic>
        <p:nvPicPr>
          <p:cNvPr id="4" name="Picture 3" descr="A map of the world  Description automatically generated">
            <a:extLst>
              <a:ext uri="{FF2B5EF4-FFF2-40B4-BE49-F238E27FC236}">
                <a16:creationId xmlns:a16="http://schemas.microsoft.com/office/drawing/2014/main" id="{F582D0B6-4277-EC69-BB51-5BA7EF847B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293" y="2638357"/>
            <a:ext cx="7515225" cy="3941636"/>
          </a:xfrm>
          <a:prstGeom prst="rect">
            <a:avLst/>
          </a:prstGeom>
          <a:noFill/>
        </p:spPr>
      </p:pic>
      <p:sp>
        <p:nvSpPr>
          <p:cNvPr id="6" name="Rounded Rectangle 5">
            <a:extLst>
              <a:ext uri="{FF2B5EF4-FFF2-40B4-BE49-F238E27FC236}">
                <a16:creationId xmlns:a16="http://schemas.microsoft.com/office/drawing/2014/main" id="{8258ABC7-80C6-5D8A-8ED3-27E86660581A}"/>
              </a:ext>
            </a:extLst>
          </p:cNvPr>
          <p:cNvSpPr/>
          <p:nvPr/>
        </p:nvSpPr>
        <p:spPr>
          <a:xfrm>
            <a:off x="741478" y="2580685"/>
            <a:ext cx="1787297" cy="1671384"/>
          </a:xfrm>
          <a:prstGeom prst="roundRect">
            <a:avLst>
              <a:gd name="adj" fmla="val 10207"/>
            </a:avLst>
          </a:prstGeom>
          <a:solidFill>
            <a:schemeClr val="bg1"/>
          </a:solidFill>
          <a:ln>
            <a:solidFill>
              <a:srgbClr val="FF83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7" name="Rounded Rectangle 6">
            <a:extLst>
              <a:ext uri="{FF2B5EF4-FFF2-40B4-BE49-F238E27FC236}">
                <a16:creationId xmlns:a16="http://schemas.microsoft.com/office/drawing/2014/main" id="{6E1532EC-E544-C4B6-7826-854C1B820136}"/>
              </a:ext>
            </a:extLst>
          </p:cNvPr>
          <p:cNvSpPr/>
          <p:nvPr/>
        </p:nvSpPr>
        <p:spPr>
          <a:xfrm>
            <a:off x="8221321" y="2580685"/>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8" name="Rounded Rectangle 7">
            <a:extLst>
              <a:ext uri="{FF2B5EF4-FFF2-40B4-BE49-F238E27FC236}">
                <a16:creationId xmlns:a16="http://schemas.microsoft.com/office/drawing/2014/main" id="{0D58FF3E-2EA1-DC03-868B-B1CC0FA1F31C}"/>
              </a:ext>
            </a:extLst>
          </p:cNvPr>
          <p:cNvSpPr/>
          <p:nvPr/>
        </p:nvSpPr>
        <p:spPr>
          <a:xfrm>
            <a:off x="8221321" y="4409918"/>
            <a:ext cx="1787297" cy="1671384"/>
          </a:xfrm>
          <a:prstGeom prst="roundRect">
            <a:avLst>
              <a:gd name="adj" fmla="val 10207"/>
            </a:avLst>
          </a:prstGeom>
          <a:gradFill>
            <a:gsLst>
              <a:gs pos="100000">
                <a:srgbClr val="FFA400"/>
              </a:gs>
              <a:gs pos="0">
                <a:srgbClr val="FF830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9" name="TextBox 8">
            <a:extLst>
              <a:ext uri="{FF2B5EF4-FFF2-40B4-BE49-F238E27FC236}">
                <a16:creationId xmlns:a16="http://schemas.microsoft.com/office/drawing/2014/main" id="{AC303204-08A7-BEAF-CFAF-9957688BC9D2}"/>
              </a:ext>
            </a:extLst>
          </p:cNvPr>
          <p:cNvSpPr txBox="1"/>
          <p:nvPr/>
        </p:nvSpPr>
        <p:spPr>
          <a:xfrm>
            <a:off x="804110"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Group assets under </a:t>
            </a:r>
            <a:br>
              <a:rPr lang="en-US" sz="1100" b="1" noProof="0" dirty="0">
                <a:solidFill>
                  <a:srgbClr val="FF8300"/>
                </a:solidFill>
                <a:latin typeface="Nunito Sans" pitchFamily="2" charset="77"/>
              </a:rPr>
            </a:br>
            <a:r>
              <a:rPr lang="en-US" sz="1100" b="1" noProof="0" dirty="0">
                <a:solidFill>
                  <a:srgbClr val="FF8300"/>
                </a:solidFill>
                <a:latin typeface="Nunito Sans" pitchFamily="2" charset="77"/>
              </a:rPr>
              <a:t>management </a:t>
            </a:r>
            <a:r>
              <a:rPr lang="en-US" sz="1100" noProof="0" dirty="0">
                <a:solidFill>
                  <a:srgbClr val="FF8300"/>
                </a:solidFill>
                <a:latin typeface="Nunito Sans" pitchFamily="2" charset="77"/>
              </a:rPr>
              <a:t>(CHF)</a:t>
            </a:r>
            <a:br>
              <a:rPr lang="en-US" sz="1100" noProof="0" dirty="0">
                <a:solidFill>
                  <a:srgbClr val="FFA400"/>
                </a:solidFill>
                <a:latin typeface="Nunito Sans" pitchFamily="2" charset="77"/>
              </a:rPr>
            </a:br>
            <a:endParaRPr lang="en-US" sz="1100" noProof="0" dirty="0">
              <a:solidFill>
                <a:srgbClr val="FFA400"/>
              </a:solidFill>
              <a:latin typeface="Nunito Sans" pitchFamily="2" charset="77"/>
            </a:endParaRPr>
          </a:p>
        </p:txBody>
      </p:sp>
      <p:sp>
        <p:nvSpPr>
          <p:cNvPr id="10" name="TextBox 9">
            <a:extLst>
              <a:ext uri="{FF2B5EF4-FFF2-40B4-BE49-F238E27FC236}">
                <a16:creationId xmlns:a16="http://schemas.microsoft.com/office/drawing/2014/main" id="{754DFC64-B136-6871-0CF8-7B1B5B54C9D1}"/>
              </a:ext>
            </a:extLst>
          </p:cNvPr>
          <p:cNvSpPr txBox="1"/>
          <p:nvPr/>
        </p:nvSpPr>
        <p:spPr>
          <a:xfrm>
            <a:off x="741477" y="3164957"/>
            <a:ext cx="1787298" cy="625943"/>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27.9</a:t>
            </a:r>
            <a:endParaRPr lang="en-US" sz="2400" noProof="0" dirty="0">
              <a:solidFill>
                <a:srgbClr val="FF8300"/>
              </a:solidFill>
              <a:latin typeface="Nunito Sans Black" panose="00000A00000000000000" pitchFamily="2" charset="0"/>
              <a:ea typeface="+mj-ea"/>
              <a:cs typeface="+mj-cs"/>
            </a:endParaRPr>
          </a:p>
        </p:txBody>
      </p:sp>
      <p:sp>
        <p:nvSpPr>
          <p:cNvPr id="11" name="TextBox 10">
            <a:extLst>
              <a:ext uri="{FF2B5EF4-FFF2-40B4-BE49-F238E27FC236}">
                <a16:creationId xmlns:a16="http://schemas.microsoft.com/office/drawing/2014/main" id="{77379A85-E64C-BDE0-D04B-8E8A010AFA2F}"/>
              </a:ext>
            </a:extLst>
          </p:cNvPr>
          <p:cNvSpPr txBox="1"/>
          <p:nvPr/>
        </p:nvSpPr>
        <p:spPr>
          <a:xfrm>
            <a:off x="804110" y="4570405"/>
            <a:ext cx="1662030" cy="212810"/>
          </a:xfrm>
          <a:prstGeom prst="rect">
            <a:avLst/>
          </a:prstGeom>
          <a:noFill/>
        </p:spPr>
        <p:txBody>
          <a:bodyPr vert="horz" wrap="square" lIns="48988" tIns="24494" rIns="48988" bIns="24494" rtlCol="0" anchor="t">
            <a:noAutofit/>
          </a:bodyPr>
          <a:lstStyle/>
          <a:p>
            <a:pPr algn="ctr"/>
            <a:r>
              <a:rPr lang="en-US" sz="1100" b="1" noProof="0" dirty="0">
                <a:solidFill>
                  <a:srgbClr val="FF8300"/>
                </a:solidFill>
                <a:latin typeface="Nunito Sans" pitchFamily="2" charset="77"/>
              </a:rPr>
              <a:t>CET1 solvency ratio</a:t>
            </a:r>
          </a:p>
        </p:txBody>
      </p:sp>
      <p:sp>
        <p:nvSpPr>
          <p:cNvPr id="12" name="TextBox 11">
            <a:extLst>
              <a:ext uri="{FF2B5EF4-FFF2-40B4-BE49-F238E27FC236}">
                <a16:creationId xmlns:a16="http://schemas.microsoft.com/office/drawing/2014/main" id="{89F9650B-1D66-439D-A065-B5CD199BE43E}"/>
              </a:ext>
            </a:extLst>
          </p:cNvPr>
          <p:cNvSpPr txBox="1"/>
          <p:nvPr/>
        </p:nvSpPr>
        <p:spPr>
          <a:xfrm>
            <a:off x="859009" y="5109297"/>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3200" noProof="0" dirty="0">
                <a:solidFill>
                  <a:srgbClr val="FF8300"/>
                </a:solidFill>
                <a:latin typeface="Nunito Sans Black" panose="00000A00000000000000" pitchFamily="2" charset="0"/>
                <a:ea typeface="+mj-ea"/>
                <a:cs typeface="+mj-cs"/>
              </a:rPr>
              <a:t>24.6</a:t>
            </a:r>
            <a:r>
              <a:rPr lang="en-US" sz="2400" noProof="0" dirty="0">
                <a:solidFill>
                  <a:schemeClr val="bg1"/>
                </a:solidFill>
                <a:latin typeface="Nunito Sans Black" panose="00000A00000000000000" pitchFamily="2" charset="0"/>
                <a:ea typeface="+mj-ea"/>
                <a:cs typeface="+mj-cs"/>
              </a:rPr>
              <a:t>%</a:t>
            </a:r>
          </a:p>
        </p:txBody>
      </p:sp>
      <p:sp>
        <p:nvSpPr>
          <p:cNvPr id="13" name="TextBox 12">
            <a:extLst>
              <a:ext uri="{FF2B5EF4-FFF2-40B4-BE49-F238E27FC236}">
                <a16:creationId xmlns:a16="http://schemas.microsoft.com/office/drawing/2014/main" id="{52161819-0D58-A255-15FC-F1691D931BB7}"/>
              </a:ext>
            </a:extLst>
          </p:cNvPr>
          <p:cNvSpPr txBox="1"/>
          <p:nvPr/>
        </p:nvSpPr>
        <p:spPr>
          <a:xfrm>
            <a:off x="8283952" y="2700823"/>
            <a:ext cx="1662030" cy="32723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Founded in 1996</a:t>
            </a:r>
            <a:endParaRPr lang="en-US" sz="1100" noProof="0" dirty="0">
              <a:solidFill>
                <a:srgbClr val="202945"/>
              </a:solidFill>
              <a:latin typeface="Nunito Sans" pitchFamily="2" charset="77"/>
            </a:endParaRPr>
          </a:p>
        </p:txBody>
      </p:sp>
      <p:sp>
        <p:nvSpPr>
          <p:cNvPr id="15" name="TextBox 14">
            <a:extLst>
              <a:ext uri="{FF2B5EF4-FFF2-40B4-BE49-F238E27FC236}">
                <a16:creationId xmlns:a16="http://schemas.microsoft.com/office/drawing/2014/main" id="{66147ED4-2E87-8A40-7309-9611E6F68696}"/>
              </a:ext>
            </a:extLst>
          </p:cNvPr>
          <p:cNvSpPr txBox="1"/>
          <p:nvPr/>
        </p:nvSpPr>
        <p:spPr>
          <a:xfrm>
            <a:off x="8535284" y="4549508"/>
            <a:ext cx="1159365" cy="20971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Nunito Sans" pitchFamily="2" charset="77"/>
              </a:rPr>
              <a:t>Locations</a:t>
            </a:r>
          </a:p>
        </p:txBody>
      </p:sp>
      <p:sp>
        <p:nvSpPr>
          <p:cNvPr id="16" name="TextBox 15">
            <a:extLst>
              <a:ext uri="{FF2B5EF4-FFF2-40B4-BE49-F238E27FC236}">
                <a16:creationId xmlns:a16="http://schemas.microsoft.com/office/drawing/2014/main" id="{D71C61BF-4BAE-7EBF-ED80-EC4122CA639A}"/>
              </a:ext>
            </a:extLst>
          </p:cNvPr>
          <p:cNvSpPr txBox="1"/>
          <p:nvPr/>
        </p:nvSpPr>
        <p:spPr>
          <a:xfrm>
            <a:off x="8221320" y="5161862"/>
            <a:ext cx="1787295" cy="327232"/>
          </a:xfrm>
          <a:prstGeom prst="rect">
            <a:avLst/>
          </a:prstGeom>
          <a:noFill/>
        </p:spPr>
        <p:txBody>
          <a:bodyPr vert="horz" wrap="square" lIns="0" tIns="0" rIns="0" bIns="0" rtlCol="0" anchor="ctr">
            <a:noAutofit/>
          </a:bodyPr>
          <a:lstStyle/>
          <a:p>
            <a:pPr algn="ctr" defTabSz="685804">
              <a:lnSpc>
                <a:spcPct val="90000"/>
              </a:lnSpc>
              <a:spcBef>
                <a:spcPct val="0"/>
              </a:spcBef>
            </a:pPr>
            <a:r>
              <a:rPr lang="en-US" sz="5400" noProof="0" dirty="0">
                <a:solidFill>
                  <a:schemeClr val="bg1"/>
                </a:solidFill>
                <a:latin typeface="Nunito Sans Black" panose="00000A00000000000000" pitchFamily="2" charset="0"/>
                <a:ea typeface="+mj-ea"/>
                <a:cs typeface="+mj-cs"/>
              </a:rPr>
              <a:t>7</a:t>
            </a:r>
            <a:endParaRPr lang="en-US" sz="2400" noProof="0" dirty="0">
              <a:solidFill>
                <a:schemeClr val="bg1"/>
              </a:solidFill>
              <a:latin typeface="Nunito Sans Black" panose="00000A00000000000000" pitchFamily="2" charset="0"/>
              <a:ea typeface="+mj-ea"/>
              <a:cs typeface="+mj-cs"/>
            </a:endParaRPr>
          </a:p>
        </p:txBody>
      </p:sp>
      <p:sp>
        <p:nvSpPr>
          <p:cNvPr id="17" name="TextBox 16">
            <a:extLst>
              <a:ext uri="{FF2B5EF4-FFF2-40B4-BE49-F238E27FC236}">
                <a16:creationId xmlns:a16="http://schemas.microsoft.com/office/drawing/2014/main" id="{0FDA1A36-FD12-0EDD-46CC-3DF0EF6BA772}"/>
              </a:ext>
            </a:extLst>
          </p:cNvPr>
          <p:cNvSpPr txBox="1"/>
          <p:nvPr/>
        </p:nvSpPr>
        <p:spPr>
          <a:xfrm>
            <a:off x="741477" y="3705631"/>
            <a:ext cx="1787298" cy="223484"/>
          </a:xfrm>
          <a:prstGeom prst="rect">
            <a:avLst/>
          </a:prstGeom>
          <a:noFill/>
        </p:spPr>
        <p:txBody>
          <a:bodyPr vert="horz" wrap="square" lIns="0" tIns="0" rIns="0" bIns="0" rtlCol="0" anchor="ctr">
            <a:noAutofit/>
          </a:bodyPr>
          <a:lstStyle/>
          <a:p>
            <a:pPr algn="ctr" defTabSz="685804">
              <a:lnSpc>
                <a:spcPct val="90000"/>
              </a:lnSpc>
              <a:spcBef>
                <a:spcPct val="0"/>
              </a:spcBef>
            </a:pPr>
            <a:r>
              <a:rPr lang="en-US" sz="1100" b="1" noProof="0" dirty="0">
                <a:solidFill>
                  <a:srgbClr val="FF8300"/>
                </a:solidFill>
                <a:latin typeface="Nunito Sans" pitchFamily="2" charset="77"/>
                <a:ea typeface="+mj-ea"/>
                <a:cs typeface="+mj-cs"/>
              </a:rPr>
              <a:t>billion</a:t>
            </a:r>
            <a:endParaRPr lang="en-US" sz="1000" noProof="0" dirty="0">
              <a:solidFill>
                <a:srgbClr val="FF8300"/>
              </a:solidFill>
              <a:latin typeface="Nunito Sans" pitchFamily="2" charset="77"/>
              <a:ea typeface="+mj-ea"/>
              <a:cs typeface="+mj-cs"/>
            </a:endParaRPr>
          </a:p>
        </p:txBody>
      </p:sp>
      <p:sp>
        <p:nvSpPr>
          <p:cNvPr id="20" name="Oval 19">
            <a:extLst>
              <a:ext uri="{FF2B5EF4-FFF2-40B4-BE49-F238E27FC236}">
                <a16:creationId xmlns:a16="http://schemas.microsoft.com/office/drawing/2014/main" id="{5783BF94-455D-D3BA-DF05-4F30C1153CD9}"/>
              </a:ext>
            </a:extLst>
          </p:cNvPr>
          <p:cNvSpPr/>
          <p:nvPr/>
        </p:nvSpPr>
        <p:spPr>
          <a:xfrm>
            <a:off x="4352176" y="2602977"/>
            <a:ext cx="1649092" cy="1649092"/>
          </a:xfrm>
          <a:prstGeom prst="ellipse">
            <a:avLst/>
          </a:prstGeom>
          <a:solidFill>
            <a:schemeClr val="accent4">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1" name="TextBox 20">
            <a:extLst>
              <a:ext uri="{FF2B5EF4-FFF2-40B4-BE49-F238E27FC236}">
                <a16:creationId xmlns:a16="http://schemas.microsoft.com/office/drawing/2014/main" id="{9FB99637-EB3F-A201-8857-7E89E25C4F20}"/>
              </a:ext>
            </a:extLst>
          </p:cNvPr>
          <p:cNvSpPr txBox="1"/>
          <p:nvPr/>
        </p:nvSpPr>
        <p:spPr>
          <a:xfrm>
            <a:off x="4401917" y="2814023"/>
            <a:ext cx="1549611" cy="1272843"/>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EUROPE</a:t>
            </a:r>
            <a:br>
              <a:rPr lang="en-US" sz="1100" b="1" noProof="0" dirty="0">
                <a:solidFill>
                  <a:srgbClr val="202945"/>
                </a:solidFill>
                <a:latin typeface="Urbane Bold" pitchFamily="2" charset="77"/>
              </a:rPr>
            </a:b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Geneva</a:t>
            </a:r>
          </a:p>
          <a:p>
            <a:pPr algn="ctr"/>
            <a:r>
              <a:rPr lang="en-US" sz="1100" noProof="0" dirty="0">
                <a:solidFill>
                  <a:schemeClr val="tx2">
                    <a:lumMod val="95000"/>
                    <a:lumOff val="5000"/>
                  </a:schemeClr>
                </a:solidFill>
                <a:effectLst/>
              </a:rPr>
              <a:t>Zurich</a:t>
            </a:r>
          </a:p>
          <a:p>
            <a:pPr algn="ctr"/>
            <a:r>
              <a:rPr lang="en-US" sz="1100" noProof="0" dirty="0" err="1">
                <a:solidFill>
                  <a:schemeClr val="tx2">
                    <a:lumMod val="95000"/>
                    <a:lumOff val="5000"/>
                  </a:schemeClr>
                </a:solidFill>
                <a:effectLst/>
              </a:rPr>
              <a:t>Pfäffikon</a:t>
            </a:r>
            <a:endParaRPr lang="en-US" sz="1100" noProof="0" dirty="0">
              <a:solidFill>
                <a:schemeClr val="tx2">
                  <a:lumMod val="95000"/>
                  <a:lumOff val="5000"/>
                </a:schemeClr>
              </a:solidFill>
              <a:effectLst/>
            </a:endParaRPr>
          </a:p>
          <a:p>
            <a:pPr algn="ctr"/>
            <a:r>
              <a:rPr lang="en-US" sz="1100" noProof="0" dirty="0">
                <a:solidFill>
                  <a:schemeClr val="tx2">
                    <a:lumMod val="95000"/>
                    <a:lumOff val="5000"/>
                  </a:schemeClr>
                </a:solidFill>
                <a:effectLst/>
              </a:rPr>
              <a:t>Lugano</a:t>
            </a:r>
          </a:p>
          <a:p>
            <a:pPr algn="ctr"/>
            <a:r>
              <a:rPr lang="en-US" sz="1100" noProof="0" dirty="0">
                <a:solidFill>
                  <a:schemeClr val="tx2">
                    <a:lumMod val="95000"/>
                    <a:lumOff val="5000"/>
                  </a:schemeClr>
                </a:solidFill>
                <a:effectLst/>
              </a:rPr>
              <a:t>Locarno</a:t>
            </a:r>
          </a:p>
        </p:txBody>
      </p:sp>
      <p:sp>
        <p:nvSpPr>
          <p:cNvPr id="23" name="Oval 22">
            <a:extLst>
              <a:ext uri="{FF2B5EF4-FFF2-40B4-BE49-F238E27FC236}">
                <a16:creationId xmlns:a16="http://schemas.microsoft.com/office/drawing/2014/main" id="{E13F1123-00F2-FFB0-7C03-E8A5F1860991}"/>
              </a:ext>
            </a:extLst>
          </p:cNvPr>
          <p:cNvSpPr/>
          <p:nvPr/>
        </p:nvSpPr>
        <p:spPr>
          <a:xfrm>
            <a:off x="5713654" y="3554244"/>
            <a:ext cx="1177926" cy="1177926"/>
          </a:xfrm>
          <a:prstGeom prst="ellipse">
            <a:avLst/>
          </a:prstGeom>
          <a:solidFill>
            <a:srgbClr val="FFA400">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5" name="TextBox 24">
            <a:extLst>
              <a:ext uri="{FF2B5EF4-FFF2-40B4-BE49-F238E27FC236}">
                <a16:creationId xmlns:a16="http://schemas.microsoft.com/office/drawing/2014/main" id="{B8A5A86B-36DB-4433-77DB-F1A38BE9273F}"/>
              </a:ext>
            </a:extLst>
          </p:cNvPr>
          <p:cNvSpPr txBox="1"/>
          <p:nvPr/>
        </p:nvSpPr>
        <p:spPr>
          <a:xfrm>
            <a:off x="5841591" y="3878243"/>
            <a:ext cx="922052" cy="54949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ASIA</a:t>
            </a:r>
            <a:endParaRPr lang="en-US" sz="1100" noProof="0" dirty="0">
              <a:solidFill>
                <a:schemeClr val="tx2">
                  <a:lumMod val="95000"/>
                  <a:lumOff val="5000"/>
                </a:schemeClr>
              </a:solidFill>
              <a:effectLst/>
            </a:endParaRP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Istanbul</a:t>
            </a:r>
          </a:p>
        </p:txBody>
      </p:sp>
      <p:sp>
        <p:nvSpPr>
          <p:cNvPr id="26" name="Oval 25">
            <a:extLst>
              <a:ext uri="{FF2B5EF4-FFF2-40B4-BE49-F238E27FC236}">
                <a16:creationId xmlns:a16="http://schemas.microsoft.com/office/drawing/2014/main" id="{76C05DEC-3A68-4991-0452-F5563B66674F}"/>
              </a:ext>
            </a:extLst>
          </p:cNvPr>
          <p:cNvSpPr/>
          <p:nvPr/>
        </p:nvSpPr>
        <p:spPr>
          <a:xfrm>
            <a:off x="5285948" y="5226013"/>
            <a:ext cx="1177926" cy="1177926"/>
          </a:xfrm>
          <a:prstGeom prst="ellipse">
            <a:avLst/>
          </a:prstGeom>
          <a:solidFill>
            <a:schemeClr val="accent1">
              <a:alpha val="2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7" name="TextBox 26">
            <a:extLst>
              <a:ext uri="{FF2B5EF4-FFF2-40B4-BE49-F238E27FC236}">
                <a16:creationId xmlns:a16="http://schemas.microsoft.com/office/drawing/2014/main" id="{39E51C17-E498-2D45-7E96-038BF1E6D2F8}"/>
              </a:ext>
            </a:extLst>
          </p:cNvPr>
          <p:cNvSpPr txBox="1"/>
          <p:nvPr/>
        </p:nvSpPr>
        <p:spPr>
          <a:xfrm>
            <a:off x="5100106" y="5551080"/>
            <a:ext cx="1549611" cy="508942"/>
          </a:xfrm>
          <a:prstGeom prst="rect">
            <a:avLst/>
          </a:prstGeom>
          <a:noFill/>
        </p:spPr>
        <p:txBody>
          <a:bodyPr vert="horz" wrap="square" lIns="48988" tIns="24494" rIns="48988" bIns="24494" rtlCol="0" anchor="t">
            <a:noAutofit/>
          </a:bodyPr>
          <a:lstStyle/>
          <a:p>
            <a:pPr algn="ctr"/>
            <a:r>
              <a:rPr lang="en-US" sz="1100" b="1" noProof="0" dirty="0">
                <a:solidFill>
                  <a:srgbClr val="202945"/>
                </a:solidFill>
                <a:latin typeface="Urbane Bold" pitchFamily="2" charset="77"/>
              </a:rPr>
              <a:t>AFRICA</a:t>
            </a:r>
          </a:p>
          <a:p>
            <a:pPr algn="ctr"/>
            <a:endParaRPr lang="en-US" sz="1100" noProof="0" dirty="0">
              <a:solidFill>
                <a:schemeClr val="tx2">
                  <a:lumMod val="95000"/>
                  <a:lumOff val="5000"/>
                </a:schemeClr>
              </a:solidFill>
            </a:endParaRPr>
          </a:p>
          <a:p>
            <a:pPr algn="ctr"/>
            <a:r>
              <a:rPr lang="en-US" sz="1100" noProof="0" dirty="0">
                <a:solidFill>
                  <a:schemeClr val="tx2">
                    <a:lumMod val="95000"/>
                    <a:lumOff val="5000"/>
                  </a:schemeClr>
                </a:solidFill>
                <a:effectLst/>
              </a:rPr>
              <a:t>Johannesburg</a:t>
            </a:r>
          </a:p>
        </p:txBody>
      </p:sp>
      <p:sp>
        <p:nvSpPr>
          <p:cNvPr id="32" name="Rectangle 31">
            <a:extLst>
              <a:ext uri="{FF2B5EF4-FFF2-40B4-BE49-F238E27FC236}">
                <a16:creationId xmlns:a16="http://schemas.microsoft.com/office/drawing/2014/main" id="{C48D896B-4B6F-AF62-00CE-A89AE5144B7F}"/>
              </a:ext>
            </a:extLst>
          </p:cNvPr>
          <p:cNvSpPr/>
          <p:nvPr/>
        </p:nvSpPr>
        <p:spPr>
          <a:xfrm>
            <a:off x="666000" y="1033200"/>
            <a:ext cx="3278698" cy="419730"/>
          </a:xfrm>
          <a:prstGeom prst="rect">
            <a:avLst/>
          </a:prstGeom>
        </p:spPr>
        <p:txBody>
          <a:bodyPr wrap="square" lIns="0">
            <a:spAutoFit/>
          </a:bodyPr>
          <a:lstStyle/>
          <a:p>
            <a:pPr defTabSz="685804">
              <a:lnSpc>
                <a:spcPct val="90000"/>
              </a:lnSpc>
              <a:spcBef>
                <a:spcPct val="0"/>
              </a:spcBef>
              <a:defRPr/>
            </a:pPr>
            <a:r>
              <a:rPr lang="en-US" sz="2300" b="1" noProof="0" dirty="0" err="1">
                <a:gradFill flip="none" rotWithShape="1">
                  <a:gsLst>
                    <a:gs pos="0">
                      <a:schemeClr val="accent4"/>
                    </a:gs>
                    <a:gs pos="100000">
                      <a:srgbClr val="FFA400"/>
                    </a:gs>
                  </a:gsLst>
                  <a:lin ang="0" scaled="1"/>
                </a:gradFill>
                <a:latin typeface="+mj-lt"/>
                <a:ea typeface="+mj-ea"/>
                <a:cs typeface="+mj-cs"/>
              </a:rPr>
              <a:t>Syz</a:t>
            </a:r>
            <a:r>
              <a:rPr lang="en-US" sz="2300" b="1" noProof="0" dirty="0">
                <a:gradFill flip="none" rotWithShape="1">
                  <a:gsLst>
                    <a:gs pos="0">
                      <a:schemeClr val="accent4"/>
                    </a:gs>
                    <a:gs pos="100000">
                      <a:srgbClr val="FFA400"/>
                    </a:gs>
                  </a:gsLst>
                  <a:lin ang="0" scaled="1"/>
                </a:gradFill>
                <a:latin typeface="+mj-lt"/>
                <a:ea typeface="+mj-ea"/>
                <a:cs typeface="+mj-cs"/>
              </a:rPr>
              <a:t> Group at a Glance</a:t>
            </a:r>
          </a:p>
        </p:txBody>
      </p:sp>
      <p:sp>
        <p:nvSpPr>
          <p:cNvPr id="2" name="TextBox 1">
            <a:extLst>
              <a:ext uri="{FF2B5EF4-FFF2-40B4-BE49-F238E27FC236}">
                <a16:creationId xmlns:a16="http://schemas.microsoft.com/office/drawing/2014/main" id="{3FE4AF1E-5503-CE4E-15C2-5CEEAF5230A2}"/>
              </a:ext>
            </a:extLst>
          </p:cNvPr>
          <p:cNvSpPr txBox="1"/>
          <p:nvPr/>
        </p:nvSpPr>
        <p:spPr>
          <a:xfrm>
            <a:off x="866742" y="6403939"/>
            <a:ext cx="2084801" cy="312704"/>
          </a:xfrm>
          <a:prstGeom prst="rect">
            <a:avLst/>
          </a:prstGeom>
          <a:noFill/>
        </p:spPr>
        <p:txBody>
          <a:bodyPr vert="horz" wrap="square" lIns="0" tIns="0" rIns="0" bIns="0" rtlCol="0">
            <a:noAutofit/>
          </a:bodyPr>
          <a:lstStyle/>
          <a:p>
            <a:pPr algn="l"/>
            <a:r>
              <a:rPr lang="en-US" sz="800" i="1" noProof="0" dirty="0">
                <a:solidFill>
                  <a:srgbClr val="4B5F80"/>
                </a:solidFill>
              </a:rPr>
              <a:t>Audited figures as at 31.12.2025</a:t>
            </a:r>
            <a:endParaRPr lang="en-US" sz="800" noProof="0" dirty="0"/>
          </a:p>
        </p:txBody>
      </p:sp>
      <p:pic>
        <p:nvPicPr>
          <p:cNvPr id="28" name="Picture 27" descr="A black and white logo  AI-generated content may be incorrect.">
            <a:extLst>
              <a:ext uri="{FF2B5EF4-FFF2-40B4-BE49-F238E27FC236}">
                <a16:creationId xmlns:a16="http://schemas.microsoft.com/office/drawing/2014/main" id="{0BBEEE22-32B3-92AB-5F02-8F47F9A65F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5284" y="3189928"/>
            <a:ext cx="1398857" cy="576000"/>
          </a:xfrm>
          <a:prstGeom prst="rect">
            <a:avLst/>
          </a:prstGeom>
        </p:spPr>
      </p:pic>
    </p:spTree>
    <p:extLst>
      <p:ext uri="{BB962C8B-B14F-4D97-AF65-F5344CB8AC3E}">
        <p14:creationId xmlns:p14="http://schemas.microsoft.com/office/powerpoint/2010/main" val="18177075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The house view: tactical asset allocation</a:t>
            </a:r>
          </a:p>
        </p:txBody>
      </p:sp>
      <p:pic>
        <p:nvPicPr>
          <p:cNvPr id="6" name="Picture 5">
            <a:extLst>
              <a:ext uri="{FF2B5EF4-FFF2-40B4-BE49-F238E27FC236}">
                <a16:creationId xmlns:a16="http://schemas.microsoft.com/office/drawing/2014/main" id="{B81F2021-9A45-4CF0-FD82-CA4F13F9EEFA}"/>
              </a:ext>
            </a:extLst>
          </p:cNvPr>
          <p:cNvPicPr>
            <a:picLocks noChangeAspect="1"/>
          </p:cNvPicPr>
          <p:nvPr/>
        </p:nvPicPr>
        <p:blipFill>
          <a:blip r:embed="rId2"/>
          <a:stretch>
            <a:fillRect/>
          </a:stretch>
        </p:blipFill>
        <p:spPr>
          <a:xfrm>
            <a:off x="1079500" y="2148574"/>
            <a:ext cx="8114717" cy="4836963"/>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Group 111">
            <a:extLst>
              <a:ext uri="{FF2B5EF4-FFF2-40B4-BE49-F238E27FC236}">
                <a16:creationId xmlns:a16="http://schemas.microsoft.com/office/drawing/2014/main" id="{B53B42FA-C9E0-E25F-6442-1B3A21D7785E}"/>
              </a:ext>
            </a:extLst>
          </p:cNvPr>
          <p:cNvGrpSpPr/>
          <p:nvPr/>
        </p:nvGrpSpPr>
        <p:grpSpPr>
          <a:xfrm>
            <a:off x="597957" y="2576888"/>
            <a:ext cx="3852000" cy="3895167"/>
            <a:chOff x="560934" y="2293200"/>
            <a:chExt cx="3852000" cy="3895167"/>
          </a:xfrm>
        </p:grpSpPr>
        <p:sp>
          <p:nvSpPr>
            <p:cNvPr id="104" name="Partial Circle 103">
              <a:extLst>
                <a:ext uri="{FF2B5EF4-FFF2-40B4-BE49-F238E27FC236}">
                  <a16:creationId xmlns:a16="http://schemas.microsoft.com/office/drawing/2014/main" id="{76110295-BA64-973D-5B84-26A0A0676C7B}"/>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110" name="Partial Circle 109">
              <a:extLst>
                <a:ext uri="{FF2B5EF4-FFF2-40B4-BE49-F238E27FC236}">
                  <a16:creationId xmlns:a16="http://schemas.microsoft.com/office/drawing/2014/main" id="{4357DFB7-D4F9-BE6E-F6FB-D721C6D18933}"/>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59" name="Partial Circle 58">
            <a:extLst>
              <a:ext uri="{FF2B5EF4-FFF2-40B4-BE49-F238E27FC236}">
                <a16:creationId xmlns:a16="http://schemas.microsoft.com/office/drawing/2014/main" id="{FA881C9D-669F-9545-B5CE-AFD90523989E}"/>
              </a:ext>
            </a:extLst>
          </p:cNvPr>
          <p:cNvSpPr/>
          <p:nvPr/>
        </p:nvSpPr>
        <p:spPr>
          <a:xfrm>
            <a:off x="909979" y="2949187"/>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 name="Arc 1">
            <a:extLst>
              <a:ext uri="{FF2B5EF4-FFF2-40B4-BE49-F238E27FC236}">
                <a16:creationId xmlns:a16="http://schemas.microsoft.com/office/drawing/2014/main" id="{7DD54C3D-AE8D-6AE0-6ADC-FF33887EA804}"/>
              </a:ext>
            </a:extLst>
          </p:cNvPr>
          <p:cNvSpPr/>
          <p:nvPr/>
        </p:nvSpPr>
        <p:spPr>
          <a:xfrm>
            <a:off x="1703608" y="3937366"/>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 name="UpSlide SubSection Marker" hidden="1"/>
          <p:cNvSpPr/>
          <p:nvPr>
            <p:custDataLst>
              <p:tags r:id="rId2"/>
            </p:custDataLst>
          </p:nvPr>
        </p:nvSpPr>
        <p:spPr>
          <a:xfrm>
            <a:off x="0" y="-254000"/>
            <a:ext cx="1270000" cy="12700"/>
          </a:xfrm>
          <a:prstGeom prst="rect">
            <a:avLst/>
          </a:prstGeom>
          <a:solidFill>
            <a:srgbClr val="3AB7C8"/>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rgbClr val="FFFFFF"/>
              </a:solidFill>
              <a:latin typeface="Nunito Sans" pitchFamily="2" charset="77"/>
            </a:endParaRPr>
          </a:p>
        </p:txBody>
      </p:sp>
      <p:sp>
        <p:nvSpPr>
          <p:cNvPr id="10" name="Title 5">
            <a:extLst>
              <a:ext uri="{FF2B5EF4-FFF2-40B4-BE49-F238E27FC236}">
                <a16:creationId xmlns:a16="http://schemas.microsoft.com/office/drawing/2014/main" id="{6B985805-CD77-203E-3375-2B7063C14B6C}"/>
              </a:ext>
            </a:extLst>
          </p:cNvPr>
          <p:cNvSpPr>
            <a:spLocks noGrp="1"/>
          </p:cNvSpPr>
          <p:nvPr>
            <p:ph type="title"/>
          </p:nvPr>
        </p:nvSpPr>
        <p:spPr/>
        <p:txBody>
          <a:bodyPr/>
          <a:lstStyle/>
          <a:p>
            <a:r>
              <a:rPr lang="en-US" noProof="0" dirty="0"/>
              <a:t>Your Virtual team of Experts </a:t>
            </a:r>
          </a:p>
        </p:txBody>
      </p:sp>
      <p:sp>
        <p:nvSpPr>
          <p:cNvPr id="11" name="Rectangle 10">
            <a:extLst>
              <a:ext uri="{FF2B5EF4-FFF2-40B4-BE49-F238E27FC236}">
                <a16:creationId xmlns:a16="http://schemas.microsoft.com/office/drawing/2014/main" id="{B08A5C7B-982E-1653-D606-2DD269AA227E}"/>
              </a:ext>
            </a:extLst>
          </p:cNvPr>
          <p:cNvSpPr/>
          <p:nvPr/>
        </p:nvSpPr>
        <p:spPr>
          <a:xfrm>
            <a:off x="669925" y="1485161"/>
            <a:ext cx="9398000" cy="455056"/>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91440" bIns="45720" numCol="1" spcCol="0" rtlCol="0" fromWordArt="0" anchor="t" anchorCtr="0" forceAA="0" compatLnSpc="1">
            <a:prstTxWarp prst="textNoShape">
              <a:avLst/>
            </a:prstTxWarp>
            <a:noAutofit/>
          </a:bodyPr>
          <a:lstStyle/>
          <a:p>
            <a:pPr algn="just" defTabSz="1007943">
              <a:spcBef>
                <a:spcPts val="300"/>
              </a:spcBef>
              <a:spcAft>
                <a:spcPts val="600"/>
              </a:spcAft>
              <a:buClr>
                <a:schemeClr val="accent3"/>
              </a:buClr>
              <a:buSzPct val="90000"/>
            </a:pPr>
            <a:r>
              <a:rPr lang="en-US" sz="1300" b="1" noProof="0" dirty="0">
                <a:solidFill>
                  <a:schemeClr val="tx2"/>
                </a:solidFill>
                <a:latin typeface="+mj-lt"/>
              </a:rPr>
              <a:t>We Advise, You Decide</a:t>
            </a:r>
          </a:p>
          <a:p>
            <a:pPr algn="just" defTabSz="1007943">
              <a:spcBef>
                <a:spcPts val="300"/>
              </a:spcBef>
              <a:buClr>
                <a:schemeClr val="accent3"/>
              </a:buClr>
              <a:buSzPct val="90000"/>
            </a:pPr>
            <a:r>
              <a:rPr lang="en-US" sz="1300" b="1" noProof="0" dirty="0">
                <a:solidFill>
                  <a:schemeClr val="tx2"/>
                </a:solidFill>
                <a:latin typeface="+mj-lt"/>
              </a:rPr>
              <a:t>With our Advisory service, you are at the heart of our virtual team of experts. While you have full power on investment decisions, we provide you the expertise and insights to manage your portfolio like an investment professional</a:t>
            </a:r>
          </a:p>
          <a:p>
            <a:pPr marL="730800" lvl="1" indent="-273600" algn="just" defTabSz="1007943">
              <a:spcBef>
                <a:spcPts val="300"/>
              </a:spcBef>
              <a:buClr>
                <a:schemeClr val="accent3"/>
              </a:buClr>
              <a:buSzPct val="90000"/>
              <a:buFont typeface="Wingdings 3" panose="05040102010807070707" pitchFamily="18" charset="2"/>
              <a:buChar char=""/>
            </a:pPr>
            <a:endParaRPr lang="en-US" sz="1300" noProof="0" dirty="0">
              <a:solidFill>
                <a:schemeClr val="tx2"/>
              </a:solidFill>
              <a:latin typeface="+mj-lt"/>
            </a:endParaRPr>
          </a:p>
        </p:txBody>
      </p:sp>
      <p:sp>
        <p:nvSpPr>
          <p:cNvPr id="74" name="Rectangle 73">
            <a:extLst>
              <a:ext uri="{FF2B5EF4-FFF2-40B4-BE49-F238E27FC236}">
                <a16:creationId xmlns:a16="http://schemas.microsoft.com/office/drawing/2014/main" id="{BF686385-08D0-B6F5-084F-51BA0B70E9A7}"/>
              </a:ext>
            </a:extLst>
          </p:cNvPr>
          <p:cNvSpPr/>
          <p:nvPr/>
        </p:nvSpPr>
        <p:spPr>
          <a:xfrm>
            <a:off x="4526778" y="3151535"/>
            <a:ext cx="2736000" cy="1620000"/>
          </a:xfrm>
          <a:prstGeom prst="rect">
            <a:avLst/>
          </a:prstGeom>
          <a:solidFill>
            <a:srgbClr val="7C83C7">
              <a:alpha val="8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Portfolio Management</a:t>
            </a:r>
          </a:p>
          <a:p>
            <a:r>
              <a:rPr lang="en-US" sz="1100" noProof="0" dirty="0"/>
              <a:t>Head: Gianluca </a:t>
            </a:r>
            <a:r>
              <a:rPr lang="en-US" sz="1100" noProof="0" dirty="0" err="1"/>
              <a:t>Oderda</a:t>
            </a:r>
            <a:endParaRPr lang="en-US" sz="1100" noProof="0" dirty="0"/>
          </a:p>
          <a:p>
            <a:endParaRPr lang="en-US" sz="1200" noProof="0" dirty="0"/>
          </a:p>
          <a:p>
            <a:endParaRPr lang="en-US" sz="1200" noProof="0" dirty="0"/>
          </a:p>
          <a:p>
            <a:r>
              <a:rPr lang="en-US" sz="1200" noProof="0" dirty="0"/>
              <a:t> </a:t>
            </a:r>
          </a:p>
        </p:txBody>
      </p:sp>
      <p:sp>
        <p:nvSpPr>
          <p:cNvPr id="75" name="Rectangle 74">
            <a:extLst>
              <a:ext uri="{FF2B5EF4-FFF2-40B4-BE49-F238E27FC236}">
                <a16:creationId xmlns:a16="http://schemas.microsoft.com/office/drawing/2014/main" id="{3EAAF61D-C4EF-45DE-3045-534BEE9B9D0C}"/>
              </a:ext>
            </a:extLst>
          </p:cNvPr>
          <p:cNvSpPr/>
          <p:nvPr/>
        </p:nvSpPr>
        <p:spPr>
          <a:xfrm>
            <a:off x="4526779" y="4844615"/>
            <a:ext cx="2736000" cy="162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7938">
              <a:lnSpc>
                <a:spcPct val="100000"/>
              </a:lnSpc>
              <a:spcBef>
                <a:spcPts val="75"/>
              </a:spcBef>
            </a:pPr>
            <a:r>
              <a:rPr lang="en-US" sz="1400" b="1" spc="-5" noProof="0" dirty="0">
                <a:solidFill>
                  <a:schemeClr val="bg1"/>
                </a:solidFill>
                <a:latin typeface="Nunito Sans" pitchFamily="2" charset="77"/>
                <a:cs typeface="StoneSansITCStd SemiBold"/>
              </a:rPr>
              <a:t>Investment Advisory</a:t>
            </a:r>
          </a:p>
          <a:p>
            <a:pPr marL="7938">
              <a:spcBef>
                <a:spcPts val="75"/>
              </a:spcBef>
            </a:pPr>
            <a:r>
              <a:rPr lang="en-US" sz="1100" noProof="0" dirty="0"/>
              <a:t>Head: Gregory </a:t>
            </a:r>
            <a:r>
              <a:rPr lang="en-US" sz="1100" noProof="0" dirty="0" err="1"/>
              <a:t>Diche</a:t>
            </a:r>
            <a:endParaRPr lang="en-US" sz="1100" noProof="0" dirty="0"/>
          </a:p>
        </p:txBody>
      </p:sp>
      <p:sp>
        <p:nvSpPr>
          <p:cNvPr id="79" name="Rectangle 78">
            <a:extLst>
              <a:ext uri="{FF2B5EF4-FFF2-40B4-BE49-F238E27FC236}">
                <a16:creationId xmlns:a16="http://schemas.microsoft.com/office/drawing/2014/main" id="{BA7377E6-9607-5A0D-4BEA-FA08E19E2BD1}"/>
              </a:ext>
            </a:extLst>
          </p:cNvPr>
          <p:cNvSpPr/>
          <p:nvPr/>
        </p:nvSpPr>
        <p:spPr>
          <a:xfrm>
            <a:off x="7347393" y="3151535"/>
            <a:ext cx="2736000" cy="1631282"/>
          </a:xfrm>
          <a:prstGeom prst="rect">
            <a:avLst/>
          </a:prstGeom>
          <a:solidFill>
            <a:srgbClr val="FF6C0E">
              <a:alpha val="8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Research</a:t>
            </a:r>
          </a:p>
          <a:p>
            <a:r>
              <a:rPr lang="en-US" sz="1100" noProof="0" dirty="0"/>
              <a:t>Asset-Class Head(s)</a:t>
            </a:r>
          </a:p>
          <a:p>
            <a:endParaRPr lang="en-US" sz="1400" b="1" noProof="0" dirty="0">
              <a:solidFill>
                <a:schemeClr val="bg1"/>
              </a:solidFill>
              <a:latin typeface="Nunito Sans" pitchFamily="2" charset="77"/>
            </a:endParaRPr>
          </a:p>
        </p:txBody>
      </p:sp>
      <p:sp>
        <p:nvSpPr>
          <p:cNvPr id="81" name="Rectangle 80">
            <a:extLst>
              <a:ext uri="{FF2B5EF4-FFF2-40B4-BE49-F238E27FC236}">
                <a16:creationId xmlns:a16="http://schemas.microsoft.com/office/drawing/2014/main" id="{4E98BC0F-35C8-96F0-30AC-EDB3F0E973B6}"/>
              </a:ext>
            </a:extLst>
          </p:cNvPr>
          <p:cNvSpPr/>
          <p:nvPr/>
        </p:nvSpPr>
        <p:spPr>
          <a:xfrm>
            <a:off x="7347393" y="4844615"/>
            <a:ext cx="2736000" cy="1620000"/>
          </a:xfrm>
          <a:prstGeom prst="rect">
            <a:avLst/>
          </a:prstGeom>
          <a:solidFill>
            <a:srgbClr val="B35DB5">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400" b="1" noProof="0" dirty="0">
                <a:solidFill>
                  <a:schemeClr val="bg1"/>
                </a:solidFill>
                <a:latin typeface="Nunito Sans" pitchFamily="2" charset="77"/>
              </a:rPr>
              <a:t>Trading Desk</a:t>
            </a:r>
          </a:p>
          <a:p>
            <a:r>
              <a:rPr lang="en-US" sz="1100" noProof="0" dirty="0"/>
              <a:t>Head: Christian </a:t>
            </a:r>
            <a:r>
              <a:rPr lang="en-US" sz="1100" noProof="0" dirty="0" err="1"/>
              <a:t>Aldenkortt</a:t>
            </a:r>
            <a:endParaRPr lang="en-US" sz="1100" noProof="0" dirty="0"/>
          </a:p>
          <a:p>
            <a:endParaRPr lang="en-US" sz="1400" b="1" noProof="0" dirty="0">
              <a:solidFill>
                <a:schemeClr val="bg1"/>
              </a:solidFill>
              <a:latin typeface="Nunito Sans" pitchFamily="2" charset="77"/>
            </a:endParaRPr>
          </a:p>
        </p:txBody>
      </p:sp>
      <p:sp>
        <p:nvSpPr>
          <p:cNvPr id="19" name="TextBox 18">
            <a:extLst>
              <a:ext uri="{FF2B5EF4-FFF2-40B4-BE49-F238E27FC236}">
                <a16:creationId xmlns:a16="http://schemas.microsoft.com/office/drawing/2014/main" id="{6C99E779-45AE-1C74-0D82-8D5BAD4F21F0}"/>
              </a:ext>
            </a:extLst>
          </p:cNvPr>
          <p:cNvSpPr txBox="1"/>
          <p:nvPr/>
        </p:nvSpPr>
        <p:spPr>
          <a:xfrm>
            <a:off x="4530894" y="3718755"/>
            <a:ext cx="273188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Portfolio construction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Asset allocation</a:t>
            </a:r>
          </a:p>
          <a:p>
            <a:pPr marL="171450" indent="-171450">
              <a:spcBef>
                <a:spcPct val="0"/>
              </a:spcBef>
              <a:spcAft>
                <a:spcPts val="300"/>
              </a:spcAft>
              <a:buFont typeface="Arial" panose="020B0604020202020204" pitchFamily="34" charset="0"/>
              <a:buChar char="•"/>
            </a:pPr>
            <a:r>
              <a:rPr lang="en-US" sz="1050" noProof="0" dirty="0">
                <a:solidFill>
                  <a:schemeClr val="bg1"/>
                </a:solidFill>
              </a:rPr>
              <a:t>Bespoke portfolio management</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Actively managed certificates and funds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Performance monitoring</a:t>
            </a:r>
          </a:p>
        </p:txBody>
      </p:sp>
      <p:sp>
        <p:nvSpPr>
          <p:cNvPr id="20" name="TextBox 19">
            <a:extLst>
              <a:ext uri="{FF2B5EF4-FFF2-40B4-BE49-F238E27FC236}">
                <a16:creationId xmlns:a16="http://schemas.microsoft.com/office/drawing/2014/main" id="{C014D47F-4C3F-CF73-3776-1F91A6412521}"/>
              </a:ext>
            </a:extLst>
          </p:cNvPr>
          <p:cNvSpPr txBox="1"/>
          <p:nvPr/>
        </p:nvSpPr>
        <p:spPr>
          <a:xfrm>
            <a:off x="4541314" y="5409601"/>
            <a:ext cx="2721464" cy="1052779"/>
          </a:xfrm>
          <a:prstGeom prst="rect">
            <a:avLst/>
          </a:prstGeom>
          <a:noFill/>
        </p:spPr>
        <p:txBody>
          <a:bodyPr vert="horz" wrap="square" lIns="72000" tIns="0" rIns="72000" bIns="0" numCol="2"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Multi-asset expertise</a:t>
            </a:r>
          </a:p>
          <a:p>
            <a:pPr marL="171450" indent="-171450">
              <a:spcAft>
                <a:spcPts val="300"/>
              </a:spcAft>
              <a:buFont typeface="Arial" panose="020B0604020202020204" pitchFamily="34" charset="0"/>
              <a:buChar char="•"/>
            </a:pPr>
            <a:r>
              <a:rPr lang="en-US" sz="1050" noProof="0" dirty="0">
                <a:solidFill>
                  <a:schemeClr val="bg1"/>
                </a:solidFill>
              </a:rPr>
              <a:t>Tailored investment strategies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Investment convictions </a:t>
            </a:r>
          </a:p>
          <a:p>
            <a:pPr marL="171450" indent="-171450">
              <a:spcBef>
                <a:spcPct val="0"/>
              </a:spcBef>
              <a:spcAft>
                <a:spcPts val="300"/>
              </a:spcAft>
              <a:buFont typeface="Arial" panose="020B0604020202020204" pitchFamily="34" charset="0"/>
              <a:buChar char="•"/>
            </a:pPr>
            <a:r>
              <a:rPr lang="en-US" sz="1050" noProof="0" dirty="0">
                <a:solidFill>
                  <a:schemeClr val="bg1"/>
                </a:solidFill>
              </a:rPr>
              <a:t>Proactive advice</a:t>
            </a:r>
          </a:p>
          <a:p>
            <a:pPr marL="171450" indent="-171450">
              <a:spcBef>
                <a:spcPct val="0"/>
              </a:spcBef>
              <a:spcAft>
                <a:spcPts val="300"/>
              </a:spcAft>
              <a:buFont typeface="Arial" panose="020B0604020202020204" pitchFamily="34" charset="0"/>
              <a:buChar char="•"/>
            </a:pPr>
            <a:r>
              <a:rPr lang="en-US" sz="1050" noProof="0" dirty="0">
                <a:solidFill>
                  <a:schemeClr val="bg1"/>
                </a:solidFill>
              </a:rPr>
              <a:t>Active monitoring</a:t>
            </a:r>
          </a:p>
        </p:txBody>
      </p:sp>
      <p:sp>
        <p:nvSpPr>
          <p:cNvPr id="21" name="TextBox 20">
            <a:extLst>
              <a:ext uri="{FF2B5EF4-FFF2-40B4-BE49-F238E27FC236}">
                <a16:creationId xmlns:a16="http://schemas.microsoft.com/office/drawing/2014/main" id="{65C0A57B-3319-761F-63C2-1D4F595EC14B}"/>
              </a:ext>
            </a:extLst>
          </p:cNvPr>
          <p:cNvSpPr txBox="1"/>
          <p:nvPr/>
        </p:nvSpPr>
        <p:spPr>
          <a:xfrm>
            <a:off x="7347392" y="3717861"/>
            <a:ext cx="2838599" cy="888087"/>
          </a:xfrm>
          <a:prstGeom prst="rect">
            <a:avLst/>
          </a:prstGeom>
          <a:noFill/>
        </p:spPr>
        <p:txBody>
          <a:bodyPr vert="horz" wrap="square" lIns="72000" tIns="0" rIns="72000" bIns="0" numCol="2" spcCol="36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Macro outlook &amp; thought leadership</a:t>
            </a:r>
          </a:p>
          <a:p>
            <a:pPr marL="171450" indent="-171450">
              <a:spcBef>
                <a:spcPct val="0"/>
              </a:spcBef>
              <a:spcAft>
                <a:spcPts val="300"/>
              </a:spcAft>
              <a:buFont typeface="Arial" panose="020B0604020202020204" pitchFamily="34" charset="0"/>
              <a:buChar char="•"/>
            </a:pPr>
            <a:r>
              <a:rPr lang="en-US" sz="1050" noProof="0" dirty="0">
                <a:solidFill>
                  <a:schemeClr val="bg1"/>
                </a:solidFill>
              </a:rPr>
              <a:t>Core Equites, Fixed Income, &amp; Funds</a:t>
            </a:r>
          </a:p>
          <a:p>
            <a:pPr marL="171450" indent="-171450">
              <a:spcAft>
                <a:spcPts val="300"/>
              </a:spcAft>
              <a:buFont typeface="Arial" panose="020B0604020202020204" pitchFamily="34" charset="0"/>
              <a:buChar char="•"/>
            </a:pPr>
            <a:r>
              <a:rPr lang="en-US" sz="1050" noProof="0" dirty="0">
                <a:solidFill>
                  <a:schemeClr val="bg1"/>
                </a:solidFill>
              </a:rPr>
              <a:t>Crypto-assets </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Alternatives - Private Market, Hedge Funds</a:t>
            </a:r>
          </a:p>
          <a:p>
            <a:pPr marL="171450" indent="-171450">
              <a:spcAft>
                <a:spcPts val="300"/>
              </a:spcAft>
              <a:buFont typeface="Arial" panose="020B0604020202020204" pitchFamily="34" charset="0"/>
              <a:buChar char="•"/>
            </a:pPr>
            <a:r>
              <a:rPr lang="en-US" sz="1050" noProof="0" dirty="0">
                <a:solidFill>
                  <a:schemeClr val="bg1"/>
                </a:solidFill>
              </a:rPr>
              <a:t>Thematic ideas</a:t>
            </a:r>
          </a:p>
          <a:p>
            <a:pPr>
              <a:spcBef>
                <a:spcPct val="0"/>
              </a:spcBef>
              <a:spcAft>
                <a:spcPts val="300"/>
              </a:spcAft>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2" name="TextBox 21">
            <a:extLst>
              <a:ext uri="{FF2B5EF4-FFF2-40B4-BE49-F238E27FC236}">
                <a16:creationId xmlns:a16="http://schemas.microsoft.com/office/drawing/2014/main" id="{7FF2A629-89A6-989C-4440-84B7895474AB}"/>
              </a:ext>
            </a:extLst>
          </p:cNvPr>
          <p:cNvSpPr txBox="1"/>
          <p:nvPr/>
        </p:nvSpPr>
        <p:spPr>
          <a:xfrm>
            <a:off x="7347392" y="5381111"/>
            <a:ext cx="2715772" cy="1026433"/>
          </a:xfrm>
          <a:prstGeom prst="rect">
            <a:avLst/>
          </a:prstGeom>
          <a:noFill/>
        </p:spPr>
        <p:txBody>
          <a:bodyPr vert="horz" wrap="square" lIns="72000" tIns="0" rIns="72000" bIns="0" numCol="2" spcCol="108000" rtlCol="0">
            <a:noAutofit/>
          </a:bodyPr>
          <a:lstStyle/>
          <a:p>
            <a:pPr marL="171450" indent="-171450">
              <a:spcBef>
                <a:spcPct val="0"/>
              </a:spcBef>
              <a:spcAft>
                <a:spcPts val="300"/>
              </a:spcAft>
              <a:buFont typeface="Arial" panose="020B0604020202020204" pitchFamily="34" charset="0"/>
              <a:buChar char="•"/>
            </a:pPr>
            <a:r>
              <a:rPr lang="en-US" sz="1050" noProof="0" dirty="0">
                <a:solidFill>
                  <a:schemeClr val="bg1"/>
                </a:solidFill>
              </a:rPr>
              <a:t>US &amp; UK/Europe Trading hours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Direct Access</a:t>
            </a:r>
          </a:p>
          <a:p>
            <a:pPr marL="171450" indent="-171450">
              <a:spcBef>
                <a:spcPct val="0"/>
              </a:spcBef>
              <a:spcAft>
                <a:spcPts val="300"/>
              </a:spcAft>
              <a:buFont typeface="Arial" panose="020B0604020202020204" pitchFamily="34" charset="0"/>
              <a:buChar char="•"/>
            </a:pPr>
            <a:r>
              <a:rPr lang="en-US" sz="1050" noProof="0" dirty="0">
                <a:solidFill>
                  <a:schemeClr val="bg1"/>
                </a:solidFill>
              </a:rPr>
              <a:t>FX expertise &amp; narrow spreads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a:p>
            <a:pPr marL="171450" indent="-171450">
              <a:spcBef>
                <a:spcPct val="0"/>
              </a:spcBef>
              <a:spcAft>
                <a:spcPts val="300"/>
              </a:spcAft>
              <a:buFont typeface="Arial" panose="020B0604020202020204" pitchFamily="34" charset="0"/>
              <a:buChar char="•"/>
            </a:pPr>
            <a:r>
              <a:rPr lang="en-US" sz="1050" noProof="0" dirty="0">
                <a:solidFill>
                  <a:schemeClr val="bg1"/>
                </a:solidFill>
              </a:rPr>
              <a:t>Wide connected  network with brokers</a:t>
            </a:r>
          </a:p>
          <a:p>
            <a:pPr marL="171450" indent="-171450">
              <a:spcBef>
                <a:spcPct val="0"/>
              </a:spcBef>
              <a:spcAft>
                <a:spcPts val="300"/>
              </a:spcAft>
              <a:buFont typeface="Arial" panose="020B0604020202020204" pitchFamily="34" charset="0"/>
              <a:buChar char="•"/>
            </a:pPr>
            <a:r>
              <a:rPr lang="en-US" sz="1050" noProof="0" dirty="0">
                <a:solidFill>
                  <a:schemeClr val="bg1"/>
                </a:solidFill>
              </a:rPr>
              <a:t>New bond issues, IPOs and SPACs</a:t>
            </a:r>
          </a:p>
          <a:p>
            <a:pPr marL="171450" indent="-171450">
              <a:spcBef>
                <a:spcPct val="0"/>
              </a:spcBef>
              <a:spcAft>
                <a:spcPts val="300"/>
              </a:spcAft>
              <a:buFont typeface="Arial" panose="020B0604020202020204" pitchFamily="34" charset="0"/>
              <a:buChar char="•"/>
            </a:pPr>
            <a:endParaRPr lang="en-US" sz="1050" noProof="0" dirty="0">
              <a:solidFill>
                <a:schemeClr val="bg1"/>
              </a:solidFill>
            </a:endParaRPr>
          </a:p>
        </p:txBody>
      </p:sp>
      <p:sp>
        <p:nvSpPr>
          <p:cNvPr id="24" name="Rectangle 23">
            <a:extLst>
              <a:ext uri="{FF2B5EF4-FFF2-40B4-BE49-F238E27FC236}">
                <a16:creationId xmlns:a16="http://schemas.microsoft.com/office/drawing/2014/main" id="{073BFAF9-E804-9F60-DD65-D6CC4B3C5730}"/>
              </a:ext>
            </a:extLst>
          </p:cNvPr>
          <p:cNvSpPr/>
          <p:nvPr/>
        </p:nvSpPr>
        <p:spPr>
          <a:xfrm>
            <a:off x="4526778" y="2603580"/>
            <a:ext cx="5556615" cy="490884"/>
          </a:xfrm>
          <a:prstGeom prst="rect">
            <a:avLst/>
          </a:prstGeom>
          <a:solidFill>
            <a:srgbClr val="FFC54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00000"/>
              </a:lnSpc>
              <a:spcBef>
                <a:spcPts val="100"/>
              </a:spcBef>
            </a:pPr>
            <a:r>
              <a:rPr lang="en-US" sz="1400" b="1" noProof="0" dirty="0">
                <a:solidFill>
                  <a:srgbClr val="FFFFFF"/>
                </a:solidFill>
                <a:latin typeface="Nunito Sans" pitchFamily="2" charset="77"/>
                <a:cs typeface="StoneSansITCStd SemiBold"/>
              </a:rPr>
              <a:t>Charles-Henry Monchau</a:t>
            </a:r>
          </a:p>
          <a:p>
            <a:pPr algn="ctr">
              <a:lnSpc>
                <a:spcPct val="100000"/>
              </a:lnSpc>
              <a:spcBef>
                <a:spcPts val="100"/>
              </a:spcBef>
            </a:pPr>
            <a:r>
              <a:rPr lang="en-US" sz="1100" noProof="0" dirty="0">
                <a:solidFill>
                  <a:srgbClr val="FFFFFF"/>
                </a:solidFill>
                <a:latin typeface="Nunito Sans" pitchFamily="2" charset="77"/>
                <a:cs typeface="StoneSansITCStd SemiBold"/>
              </a:rPr>
              <a:t>Chief Investment Officer</a:t>
            </a:r>
            <a:endParaRPr lang="en-US" sz="1400" noProof="0" dirty="0">
              <a:solidFill>
                <a:srgbClr val="FFFFFF"/>
              </a:solidFill>
              <a:latin typeface="Nunito Sans" pitchFamily="2" charset="77"/>
              <a:cs typeface="StoneSansITCStd SemiBold"/>
            </a:endParaRPr>
          </a:p>
        </p:txBody>
      </p:sp>
      <p:sp>
        <p:nvSpPr>
          <p:cNvPr id="3" name="Arc 2">
            <a:extLst>
              <a:ext uri="{FF2B5EF4-FFF2-40B4-BE49-F238E27FC236}">
                <a16:creationId xmlns:a16="http://schemas.microsoft.com/office/drawing/2014/main" id="{6F355D81-5DFB-BBE1-79DD-9C0544BC4374}"/>
              </a:ext>
            </a:extLst>
          </p:cNvPr>
          <p:cNvSpPr/>
          <p:nvPr/>
        </p:nvSpPr>
        <p:spPr>
          <a:xfrm>
            <a:off x="1690577" y="3937366"/>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9A1906D2-01B9-4C01-0FB4-96CF3CEF60F9}"/>
              </a:ext>
            </a:extLst>
          </p:cNvPr>
          <p:cNvSpPr/>
          <p:nvPr/>
        </p:nvSpPr>
        <p:spPr>
          <a:xfrm>
            <a:off x="1592167" y="2824241"/>
            <a:ext cx="1837223" cy="748905"/>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68" name="Group 67">
            <a:extLst>
              <a:ext uri="{FF2B5EF4-FFF2-40B4-BE49-F238E27FC236}">
                <a16:creationId xmlns:a16="http://schemas.microsoft.com/office/drawing/2014/main" id="{330EC435-20AD-57ED-788D-51B77829F2A3}"/>
              </a:ext>
            </a:extLst>
          </p:cNvPr>
          <p:cNvGrpSpPr/>
          <p:nvPr/>
        </p:nvGrpSpPr>
        <p:grpSpPr>
          <a:xfrm>
            <a:off x="2136277" y="4512305"/>
            <a:ext cx="759080" cy="783882"/>
            <a:chOff x="2099254" y="4178377"/>
            <a:chExt cx="759080" cy="783882"/>
          </a:xfrm>
        </p:grpSpPr>
        <p:grpSp>
          <p:nvGrpSpPr>
            <p:cNvPr id="67" name="Group 66">
              <a:extLst>
                <a:ext uri="{FF2B5EF4-FFF2-40B4-BE49-F238E27FC236}">
                  <a16:creationId xmlns:a16="http://schemas.microsoft.com/office/drawing/2014/main" id="{844EBF41-9CDE-780E-AF62-85CE229D4C82}"/>
                </a:ext>
              </a:extLst>
            </p:cNvPr>
            <p:cNvGrpSpPr/>
            <p:nvPr/>
          </p:nvGrpSpPr>
          <p:grpSpPr>
            <a:xfrm>
              <a:off x="2262794" y="4178377"/>
              <a:ext cx="432000" cy="462775"/>
              <a:chOff x="2262794" y="4178377"/>
              <a:chExt cx="432000" cy="462775"/>
            </a:xfrm>
          </p:grpSpPr>
          <p:sp>
            <p:nvSpPr>
              <p:cNvPr id="66" name="Oval 65">
                <a:extLst>
                  <a:ext uri="{FF2B5EF4-FFF2-40B4-BE49-F238E27FC236}">
                    <a16:creationId xmlns:a16="http://schemas.microsoft.com/office/drawing/2014/main" id="{4B661A49-9A98-520E-73F1-A3428076CA0C}"/>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 name="object 19">
                <a:extLst>
                  <a:ext uri="{FF2B5EF4-FFF2-40B4-BE49-F238E27FC236}">
                    <a16:creationId xmlns:a16="http://schemas.microsoft.com/office/drawing/2014/main" id="{9076CDBE-397B-E367-6EB2-B4A2E88B3847}"/>
                  </a:ext>
                </a:extLst>
              </p:cNvPr>
              <p:cNvPicPr/>
              <p:nvPr/>
            </p:nvPicPr>
            <p:blipFill>
              <a:blip r:embed="rId5"/>
              <a:stretch>
                <a:fillRect/>
              </a:stretch>
            </p:blipFill>
            <p:spPr>
              <a:xfrm>
                <a:off x="2262794" y="4209152"/>
                <a:ext cx="432000" cy="432000"/>
              </a:xfrm>
              <a:prstGeom prst="rect">
                <a:avLst/>
              </a:prstGeom>
              <a:noFill/>
            </p:spPr>
          </p:pic>
        </p:grpSp>
        <p:sp>
          <p:nvSpPr>
            <p:cNvPr id="18" name="TextBox 17">
              <a:extLst>
                <a:ext uri="{FF2B5EF4-FFF2-40B4-BE49-F238E27FC236}">
                  <a16:creationId xmlns:a16="http://schemas.microsoft.com/office/drawing/2014/main" id="{3964325D-73AD-1099-7B29-270D94DAEFD9}"/>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65" name="Group 64">
            <a:extLst>
              <a:ext uri="{FF2B5EF4-FFF2-40B4-BE49-F238E27FC236}">
                <a16:creationId xmlns:a16="http://schemas.microsoft.com/office/drawing/2014/main" id="{1EE1B88E-D547-12BD-F81A-CC99304E4D73}"/>
              </a:ext>
            </a:extLst>
          </p:cNvPr>
          <p:cNvGrpSpPr/>
          <p:nvPr/>
        </p:nvGrpSpPr>
        <p:grpSpPr>
          <a:xfrm>
            <a:off x="1374100" y="4440305"/>
            <a:ext cx="759080" cy="704947"/>
            <a:chOff x="1337077" y="4106377"/>
            <a:chExt cx="759080" cy="704947"/>
          </a:xfrm>
        </p:grpSpPr>
        <p:grpSp>
          <p:nvGrpSpPr>
            <p:cNvPr id="64" name="Group 63">
              <a:extLst>
                <a:ext uri="{FF2B5EF4-FFF2-40B4-BE49-F238E27FC236}">
                  <a16:creationId xmlns:a16="http://schemas.microsoft.com/office/drawing/2014/main" id="{69ED6D15-486E-49FF-BFF4-44ED78F64F29}"/>
                </a:ext>
              </a:extLst>
            </p:cNvPr>
            <p:cNvGrpSpPr/>
            <p:nvPr/>
          </p:nvGrpSpPr>
          <p:grpSpPr>
            <a:xfrm>
              <a:off x="1500617" y="4106377"/>
              <a:ext cx="432000" cy="432000"/>
              <a:chOff x="1500617" y="4106377"/>
              <a:chExt cx="432000" cy="432000"/>
            </a:xfrm>
          </p:grpSpPr>
          <p:sp>
            <p:nvSpPr>
              <p:cNvPr id="53" name="Oval 52">
                <a:extLst>
                  <a:ext uri="{FF2B5EF4-FFF2-40B4-BE49-F238E27FC236}">
                    <a16:creationId xmlns:a16="http://schemas.microsoft.com/office/drawing/2014/main" id="{1A96322A-9ABB-D9EF-EC8C-1065DA988AB9}"/>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4" name="Graphic 16" descr="User with solid fill">
                <a:extLst>
                  <a:ext uri="{FF2B5EF4-FFF2-40B4-BE49-F238E27FC236}">
                    <a16:creationId xmlns:a16="http://schemas.microsoft.com/office/drawing/2014/main" id="{2178F2A0-9F85-50D9-A83B-233A8595BD4E}"/>
                  </a:ext>
                </a:extLst>
              </p:cNvPr>
              <p:cNvGrpSpPr/>
              <p:nvPr/>
            </p:nvGrpSpPr>
            <p:grpSpPr>
              <a:xfrm>
                <a:off x="1572617" y="4178377"/>
                <a:ext cx="288000" cy="288000"/>
                <a:chOff x="3230775" y="4182439"/>
                <a:chExt cx="303371" cy="322332"/>
              </a:xfrm>
              <a:solidFill>
                <a:schemeClr val="accent2"/>
              </a:solidFill>
            </p:grpSpPr>
            <p:sp>
              <p:nvSpPr>
                <p:cNvPr id="55" name="Freeform: Shape 54">
                  <a:extLst>
                    <a:ext uri="{FF2B5EF4-FFF2-40B4-BE49-F238E27FC236}">
                      <a16:creationId xmlns:a16="http://schemas.microsoft.com/office/drawing/2014/main" id="{BD85997E-3645-AA02-3FE4-2759F5F81D7B}"/>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6" name="Freeform: Shape 55">
                  <a:extLst>
                    <a:ext uri="{FF2B5EF4-FFF2-40B4-BE49-F238E27FC236}">
                      <a16:creationId xmlns:a16="http://schemas.microsoft.com/office/drawing/2014/main" id="{3BB99D00-AE02-0E85-D58A-5700CE9AB002}"/>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14" name="TextBox 13">
              <a:extLst>
                <a:ext uri="{FF2B5EF4-FFF2-40B4-BE49-F238E27FC236}">
                  <a16:creationId xmlns:a16="http://schemas.microsoft.com/office/drawing/2014/main" id="{B61868B7-B084-8741-7A07-058E31954950}"/>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61" name="Group 60">
            <a:extLst>
              <a:ext uri="{FF2B5EF4-FFF2-40B4-BE49-F238E27FC236}">
                <a16:creationId xmlns:a16="http://schemas.microsoft.com/office/drawing/2014/main" id="{6AEB82F2-CC16-A22D-5CDD-C599CB83E9E4}"/>
              </a:ext>
            </a:extLst>
          </p:cNvPr>
          <p:cNvGrpSpPr/>
          <p:nvPr/>
        </p:nvGrpSpPr>
        <p:grpSpPr>
          <a:xfrm>
            <a:off x="2893305" y="4431986"/>
            <a:ext cx="759080" cy="704947"/>
            <a:chOff x="2856282" y="4098058"/>
            <a:chExt cx="759080" cy="704947"/>
          </a:xfrm>
        </p:grpSpPr>
        <p:grpSp>
          <p:nvGrpSpPr>
            <p:cNvPr id="51" name="Group 50">
              <a:extLst>
                <a:ext uri="{FF2B5EF4-FFF2-40B4-BE49-F238E27FC236}">
                  <a16:creationId xmlns:a16="http://schemas.microsoft.com/office/drawing/2014/main" id="{2A5261B3-F8DA-F0F1-D929-3369123B0808}"/>
                </a:ext>
              </a:extLst>
            </p:cNvPr>
            <p:cNvGrpSpPr/>
            <p:nvPr/>
          </p:nvGrpSpPr>
          <p:grpSpPr>
            <a:xfrm>
              <a:off x="3019822" y="4098058"/>
              <a:ext cx="432000" cy="432000"/>
              <a:chOff x="6577112" y="3042950"/>
              <a:chExt cx="432000" cy="432000"/>
            </a:xfrm>
          </p:grpSpPr>
          <p:sp>
            <p:nvSpPr>
              <p:cNvPr id="41" name="Oval 40">
                <a:extLst>
                  <a:ext uri="{FF2B5EF4-FFF2-40B4-BE49-F238E27FC236}">
                    <a16:creationId xmlns:a16="http://schemas.microsoft.com/office/drawing/2014/main" id="{9C85547E-DB92-2079-FEB3-4BCDD7310263}"/>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44" name="Graphic 16" descr="User with solid fill">
                <a:extLst>
                  <a:ext uri="{FF2B5EF4-FFF2-40B4-BE49-F238E27FC236}">
                    <a16:creationId xmlns:a16="http://schemas.microsoft.com/office/drawing/2014/main" id="{279B3456-4218-9D92-E5DA-F031F82D1DDC}"/>
                  </a:ext>
                </a:extLst>
              </p:cNvPr>
              <p:cNvGrpSpPr/>
              <p:nvPr/>
            </p:nvGrpSpPr>
            <p:grpSpPr>
              <a:xfrm>
                <a:off x="6649112" y="3114950"/>
                <a:ext cx="288000" cy="288000"/>
                <a:chOff x="3230775" y="4182439"/>
                <a:chExt cx="303371" cy="322332"/>
              </a:xfrm>
              <a:solidFill>
                <a:schemeClr val="accent2"/>
              </a:solidFill>
            </p:grpSpPr>
            <p:sp>
              <p:nvSpPr>
                <p:cNvPr id="47" name="Freeform: Shape 46">
                  <a:extLst>
                    <a:ext uri="{FF2B5EF4-FFF2-40B4-BE49-F238E27FC236}">
                      <a16:creationId xmlns:a16="http://schemas.microsoft.com/office/drawing/2014/main" id="{B3E694A9-17FD-BE59-997F-E3E641511073}"/>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48" name="Freeform: Shape 47">
                  <a:extLst>
                    <a:ext uri="{FF2B5EF4-FFF2-40B4-BE49-F238E27FC236}">
                      <a16:creationId xmlns:a16="http://schemas.microsoft.com/office/drawing/2014/main" id="{E27FF33B-CA92-14DB-EFA4-1703E0D74DA6}"/>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15" name="TextBox 14">
              <a:extLst>
                <a:ext uri="{FF2B5EF4-FFF2-40B4-BE49-F238E27FC236}">
                  <a16:creationId xmlns:a16="http://schemas.microsoft.com/office/drawing/2014/main" id="{67ABB538-D481-19C9-EF52-DD3DD069F0C7}"/>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57" name="Arc 56">
            <a:extLst>
              <a:ext uri="{FF2B5EF4-FFF2-40B4-BE49-F238E27FC236}">
                <a16:creationId xmlns:a16="http://schemas.microsoft.com/office/drawing/2014/main" id="{8B046BFF-3CD0-0CEB-4B59-301225BEDC8E}"/>
              </a:ext>
            </a:extLst>
          </p:cNvPr>
          <p:cNvSpPr/>
          <p:nvPr/>
        </p:nvSpPr>
        <p:spPr>
          <a:xfrm>
            <a:off x="1161979" y="3449673"/>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58" name="Arc 57">
            <a:extLst>
              <a:ext uri="{FF2B5EF4-FFF2-40B4-BE49-F238E27FC236}">
                <a16:creationId xmlns:a16="http://schemas.microsoft.com/office/drawing/2014/main" id="{1001E0D5-A629-E063-AB3E-0E232A94F9ED}"/>
              </a:ext>
            </a:extLst>
          </p:cNvPr>
          <p:cNvSpPr/>
          <p:nvPr/>
        </p:nvSpPr>
        <p:spPr>
          <a:xfrm>
            <a:off x="746779" y="2960220"/>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0" name="TextBox 59">
            <a:extLst>
              <a:ext uri="{FF2B5EF4-FFF2-40B4-BE49-F238E27FC236}">
                <a16:creationId xmlns:a16="http://schemas.microsoft.com/office/drawing/2014/main" id="{BA1D810D-8138-323D-1B7B-9057AB6A43CA}"/>
              </a:ext>
            </a:extLst>
          </p:cNvPr>
          <p:cNvSpPr txBox="1"/>
          <p:nvPr/>
        </p:nvSpPr>
        <p:spPr>
          <a:xfrm>
            <a:off x="2040266" y="3307264"/>
            <a:ext cx="920621" cy="255834"/>
          </a:xfrm>
          <a:prstGeom prst="rect">
            <a:avLst/>
          </a:prstGeom>
          <a:noFill/>
        </p:spPr>
        <p:txBody>
          <a:bodyPr vert="horz" wrap="square" lIns="0" tIns="0" rIns="0" bIns="0" rtlCol="0">
            <a:noAutofit/>
          </a:bodyPr>
          <a:lstStyle/>
          <a:p>
            <a:pPr algn="ctr"/>
            <a:r>
              <a:rPr lang="en-US" sz="1100" b="1" noProof="0" dirty="0">
                <a:solidFill>
                  <a:schemeClr val="accent4"/>
                </a:solidFill>
              </a:rPr>
              <a:t>Investment Ideas</a:t>
            </a:r>
          </a:p>
        </p:txBody>
      </p:sp>
      <p:grpSp>
        <p:nvGrpSpPr>
          <p:cNvPr id="86" name="Group 85">
            <a:extLst>
              <a:ext uri="{FF2B5EF4-FFF2-40B4-BE49-F238E27FC236}">
                <a16:creationId xmlns:a16="http://schemas.microsoft.com/office/drawing/2014/main" id="{823F185C-58DC-A9EF-2340-9A2F713E840C}"/>
              </a:ext>
            </a:extLst>
          </p:cNvPr>
          <p:cNvGrpSpPr/>
          <p:nvPr/>
        </p:nvGrpSpPr>
        <p:grpSpPr>
          <a:xfrm>
            <a:off x="3257800" y="3727611"/>
            <a:ext cx="612000" cy="620206"/>
            <a:chOff x="3220777" y="3393683"/>
            <a:chExt cx="612000" cy="620206"/>
          </a:xfrm>
        </p:grpSpPr>
        <p:grpSp>
          <p:nvGrpSpPr>
            <p:cNvPr id="85" name="Group 84">
              <a:extLst>
                <a:ext uri="{FF2B5EF4-FFF2-40B4-BE49-F238E27FC236}">
                  <a16:creationId xmlns:a16="http://schemas.microsoft.com/office/drawing/2014/main" id="{F5903E7D-8E31-23CC-5F5E-62E0664F2C1E}"/>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7D117E4-ACAE-3EC4-65EE-C72B2EE720BF}"/>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28" name="Graphic 27" descr="Users with solid fill">
                <a:extLst>
                  <a:ext uri="{FF2B5EF4-FFF2-40B4-BE49-F238E27FC236}">
                    <a16:creationId xmlns:a16="http://schemas.microsoft.com/office/drawing/2014/main" id="{965B6167-E9DC-AEE0-9281-845187B1EB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33" name="TextBox 32">
              <a:extLst>
                <a:ext uri="{FF2B5EF4-FFF2-40B4-BE49-F238E27FC236}">
                  <a16:creationId xmlns:a16="http://schemas.microsoft.com/office/drawing/2014/main" id="{E80E42F1-8865-889F-E8DE-23BE09BD7984}"/>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2" name="Arc 71">
            <a:extLst>
              <a:ext uri="{FF2B5EF4-FFF2-40B4-BE49-F238E27FC236}">
                <a16:creationId xmlns:a16="http://schemas.microsoft.com/office/drawing/2014/main" id="{5AA14E7B-E177-6FC5-92DE-7FAD624A0B41}"/>
              </a:ext>
            </a:extLst>
          </p:cNvPr>
          <p:cNvSpPr/>
          <p:nvPr/>
        </p:nvSpPr>
        <p:spPr>
          <a:xfrm>
            <a:off x="1164831" y="3441358"/>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7" name="Group 86">
            <a:extLst>
              <a:ext uri="{FF2B5EF4-FFF2-40B4-BE49-F238E27FC236}">
                <a16:creationId xmlns:a16="http://schemas.microsoft.com/office/drawing/2014/main" id="{844840B7-61B6-4AD0-5CCF-09D0DD9AD570}"/>
              </a:ext>
            </a:extLst>
          </p:cNvPr>
          <p:cNvGrpSpPr/>
          <p:nvPr/>
        </p:nvGrpSpPr>
        <p:grpSpPr>
          <a:xfrm>
            <a:off x="2217957" y="5803817"/>
            <a:ext cx="612000" cy="702666"/>
            <a:chOff x="3220777" y="3393683"/>
            <a:chExt cx="612000" cy="702666"/>
          </a:xfrm>
        </p:grpSpPr>
        <p:grpSp>
          <p:nvGrpSpPr>
            <p:cNvPr id="88" name="Group 87">
              <a:extLst>
                <a:ext uri="{FF2B5EF4-FFF2-40B4-BE49-F238E27FC236}">
                  <a16:creationId xmlns:a16="http://schemas.microsoft.com/office/drawing/2014/main" id="{5EE2E414-22F2-1F3D-A147-994285293BDA}"/>
                </a:ext>
              </a:extLst>
            </p:cNvPr>
            <p:cNvGrpSpPr/>
            <p:nvPr/>
          </p:nvGrpSpPr>
          <p:grpSpPr>
            <a:xfrm>
              <a:off x="3220777" y="3393683"/>
              <a:ext cx="612000" cy="620206"/>
              <a:chOff x="3220777" y="3393683"/>
              <a:chExt cx="612000" cy="620206"/>
            </a:xfrm>
          </p:grpSpPr>
          <p:sp>
            <p:nvSpPr>
              <p:cNvPr id="90" name="Oval 89">
                <a:extLst>
                  <a:ext uri="{FF2B5EF4-FFF2-40B4-BE49-F238E27FC236}">
                    <a16:creationId xmlns:a16="http://schemas.microsoft.com/office/drawing/2014/main" id="{4178E33B-5305-D9E3-481E-E6EC821697A6}"/>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1" name="Graphic 90" descr="Users with solid fill">
                <a:extLst>
                  <a:ext uri="{FF2B5EF4-FFF2-40B4-BE49-F238E27FC236}">
                    <a16:creationId xmlns:a16="http://schemas.microsoft.com/office/drawing/2014/main" id="{82B7CB3F-828B-9113-D281-57D461F2F3D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92777" y="3393683"/>
                <a:ext cx="468000" cy="468000"/>
              </a:xfrm>
              <a:prstGeom prst="rect">
                <a:avLst/>
              </a:prstGeom>
            </p:spPr>
          </p:pic>
        </p:grpSp>
        <p:sp>
          <p:nvSpPr>
            <p:cNvPr id="89" name="TextBox 88">
              <a:extLst>
                <a:ext uri="{FF2B5EF4-FFF2-40B4-BE49-F238E27FC236}">
                  <a16:creationId xmlns:a16="http://schemas.microsoft.com/office/drawing/2014/main" id="{166E183B-78BA-6BF0-8EF9-612A18388361}"/>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92" name="Arc 91">
            <a:extLst>
              <a:ext uri="{FF2B5EF4-FFF2-40B4-BE49-F238E27FC236}">
                <a16:creationId xmlns:a16="http://schemas.microsoft.com/office/drawing/2014/main" id="{8E8EB995-2EC0-D13C-AEF6-F2FB4D84BD29}"/>
              </a:ext>
            </a:extLst>
          </p:cNvPr>
          <p:cNvSpPr/>
          <p:nvPr/>
        </p:nvSpPr>
        <p:spPr>
          <a:xfrm>
            <a:off x="1164831" y="3443263"/>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3" name="Group 92">
            <a:extLst>
              <a:ext uri="{FF2B5EF4-FFF2-40B4-BE49-F238E27FC236}">
                <a16:creationId xmlns:a16="http://schemas.microsoft.com/office/drawing/2014/main" id="{F5AED825-9799-C128-E937-9BDDF03CADBC}"/>
              </a:ext>
            </a:extLst>
          </p:cNvPr>
          <p:cNvGrpSpPr/>
          <p:nvPr/>
        </p:nvGrpSpPr>
        <p:grpSpPr>
          <a:xfrm>
            <a:off x="1075377" y="3737774"/>
            <a:ext cx="612000" cy="690398"/>
            <a:chOff x="3220777" y="3393683"/>
            <a:chExt cx="612000" cy="690398"/>
          </a:xfrm>
        </p:grpSpPr>
        <p:grpSp>
          <p:nvGrpSpPr>
            <p:cNvPr id="94" name="Group 93">
              <a:extLst>
                <a:ext uri="{FF2B5EF4-FFF2-40B4-BE49-F238E27FC236}">
                  <a16:creationId xmlns:a16="http://schemas.microsoft.com/office/drawing/2014/main" id="{D650536D-E2AC-D97F-D306-6696052C5342}"/>
                </a:ext>
              </a:extLst>
            </p:cNvPr>
            <p:cNvGrpSpPr/>
            <p:nvPr/>
          </p:nvGrpSpPr>
          <p:grpSpPr>
            <a:xfrm>
              <a:off x="3220777" y="3393683"/>
              <a:ext cx="612000" cy="620206"/>
              <a:chOff x="3220777" y="3393683"/>
              <a:chExt cx="612000" cy="620206"/>
            </a:xfrm>
          </p:grpSpPr>
          <p:sp>
            <p:nvSpPr>
              <p:cNvPr id="96" name="Oval 95">
                <a:extLst>
                  <a:ext uri="{FF2B5EF4-FFF2-40B4-BE49-F238E27FC236}">
                    <a16:creationId xmlns:a16="http://schemas.microsoft.com/office/drawing/2014/main" id="{FE4F16F3-5F85-FF7B-53CB-C02181F9F41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97" name="Graphic 96" descr="Users with solid fill">
                <a:extLst>
                  <a:ext uri="{FF2B5EF4-FFF2-40B4-BE49-F238E27FC236}">
                    <a16:creationId xmlns:a16="http://schemas.microsoft.com/office/drawing/2014/main" id="{91B74DEB-9ECD-4DA4-EF43-AF2AA9EBF8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92777" y="3393683"/>
                <a:ext cx="468000" cy="468000"/>
              </a:xfrm>
              <a:prstGeom prst="rect">
                <a:avLst/>
              </a:prstGeom>
            </p:spPr>
          </p:pic>
        </p:grpSp>
        <p:sp>
          <p:nvSpPr>
            <p:cNvPr id="95" name="TextBox 94">
              <a:extLst>
                <a:ext uri="{FF2B5EF4-FFF2-40B4-BE49-F238E27FC236}">
                  <a16:creationId xmlns:a16="http://schemas.microsoft.com/office/drawing/2014/main" id="{BDB2EDE7-5DF1-4DDD-E7EB-B1C20602A4C3}"/>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98" name="Arc 97">
            <a:extLst>
              <a:ext uri="{FF2B5EF4-FFF2-40B4-BE49-F238E27FC236}">
                <a16:creationId xmlns:a16="http://schemas.microsoft.com/office/drawing/2014/main" id="{914F3F8B-F87E-EFFD-FC7C-93FE0155EF37}"/>
              </a:ext>
            </a:extLst>
          </p:cNvPr>
          <p:cNvSpPr/>
          <p:nvPr/>
        </p:nvSpPr>
        <p:spPr>
          <a:xfrm>
            <a:off x="746779" y="3065546"/>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99" name="Group 98">
            <a:extLst>
              <a:ext uri="{FF2B5EF4-FFF2-40B4-BE49-F238E27FC236}">
                <a16:creationId xmlns:a16="http://schemas.microsoft.com/office/drawing/2014/main" id="{57F58F42-7BC8-C607-69F0-8FE8063057D1}"/>
              </a:ext>
            </a:extLst>
          </p:cNvPr>
          <p:cNvGrpSpPr/>
          <p:nvPr/>
        </p:nvGrpSpPr>
        <p:grpSpPr>
          <a:xfrm>
            <a:off x="3437116" y="5815958"/>
            <a:ext cx="612000" cy="730651"/>
            <a:chOff x="3220777" y="3383574"/>
            <a:chExt cx="612000" cy="730651"/>
          </a:xfrm>
        </p:grpSpPr>
        <p:grpSp>
          <p:nvGrpSpPr>
            <p:cNvPr id="100" name="Group 99">
              <a:extLst>
                <a:ext uri="{FF2B5EF4-FFF2-40B4-BE49-F238E27FC236}">
                  <a16:creationId xmlns:a16="http://schemas.microsoft.com/office/drawing/2014/main" id="{43B03A79-06BD-7BC5-C909-AEFD82E180E2}"/>
                </a:ext>
              </a:extLst>
            </p:cNvPr>
            <p:cNvGrpSpPr/>
            <p:nvPr/>
          </p:nvGrpSpPr>
          <p:grpSpPr>
            <a:xfrm>
              <a:off x="3220777" y="3383574"/>
              <a:ext cx="612000" cy="630315"/>
              <a:chOff x="3220777" y="3383574"/>
              <a:chExt cx="612000" cy="630315"/>
            </a:xfrm>
          </p:grpSpPr>
          <p:sp>
            <p:nvSpPr>
              <p:cNvPr id="102" name="Oval 101">
                <a:extLst>
                  <a:ext uri="{FF2B5EF4-FFF2-40B4-BE49-F238E27FC236}">
                    <a16:creationId xmlns:a16="http://schemas.microsoft.com/office/drawing/2014/main" id="{4493E13F-22DB-CA7D-A212-FD939DF26A62}"/>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103" name="Graphic 102" descr="Users with solid fill">
                <a:extLst>
                  <a:ext uri="{FF2B5EF4-FFF2-40B4-BE49-F238E27FC236}">
                    <a16:creationId xmlns:a16="http://schemas.microsoft.com/office/drawing/2014/main" id="{DFF41298-17A2-4F92-20BC-AB37B3E594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2111" y="3383574"/>
                <a:ext cx="504000" cy="504000"/>
              </a:xfrm>
              <a:prstGeom prst="rect">
                <a:avLst/>
              </a:prstGeom>
            </p:spPr>
          </p:pic>
        </p:grpSp>
        <p:sp>
          <p:nvSpPr>
            <p:cNvPr id="101" name="TextBox 100">
              <a:extLst>
                <a:ext uri="{FF2B5EF4-FFF2-40B4-BE49-F238E27FC236}">
                  <a16:creationId xmlns:a16="http://schemas.microsoft.com/office/drawing/2014/main" id="{F07E3C7C-07C1-8E72-37F8-33F4032ABB2D}"/>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custDataLst>
      <p:tags r:id="rId1"/>
    </p:custDataLst>
    <p:extLst>
      <p:ext uri="{BB962C8B-B14F-4D97-AF65-F5344CB8AC3E}">
        <p14:creationId xmlns:p14="http://schemas.microsoft.com/office/powerpoint/2010/main" val="12979906"/>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Isosceles Triangle 24">
            <a:extLst>
              <a:ext uri="{FF2B5EF4-FFF2-40B4-BE49-F238E27FC236}">
                <a16:creationId xmlns:a16="http://schemas.microsoft.com/office/drawing/2014/main" id="{DB32B0BA-6698-C8F6-6CE8-B857B67396B3}"/>
              </a:ext>
            </a:extLst>
          </p:cNvPr>
          <p:cNvSpPr/>
          <p:nvPr/>
        </p:nvSpPr>
        <p:spPr>
          <a:xfrm rot="10800000">
            <a:off x="2906633" y="2645447"/>
            <a:ext cx="4878539" cy="469414"/>
          </a:xfrm>
          <a:prstGeom prst="triangle">
            <a:avLst/>
          </a:prstGeom>
          <a:solidFill>
            <a:schemeClr val="accent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2" name="Title 1">
            <a:extLst>
              <a:ext uri="{FF2B5EF4-FFF2-40B4-BE49-F238E27FC236}">
                <a16:creationId xmlns:a16="http://schemas.microsoft.com/office/drawing/2014/main" id="{907CBAF5-5D17-ADB7-79E0-A532376AEF4E}"/>
              </a:ext>
            </a:extLst>
          </p:cNvPr>
          <p:cNvSpPr>
            <a:spLocks noGrp="1"/>
          </p:cNvSpPr>
          <p:nvPr>
            <p:ph type="title"/>
          </p:nvPr>
        </p:nvSpPr>
        <p:spPr/>
        <p:txBody>
          <a:bodyPr/>
          <a:lstStyle/>
          <a:p>
            <a:r>
              <a:rPr lang="en-US" noProof="0" dirty="0"/>
              <a:t>Our Investment Universe</a:t>
            </a:r>
          </a:p>
        </p:txBody>
      </p:sp>
      <p:sp>
        <p:nvSpPr>
          <p:cNvPr id="4" name="Text Placeholder 3">
            <a:extLst>
              <a:ext uri="{FF2B5EF4-FFF2-40B4-BE49-F238E27FC236}">
                <a16:creationId xmlns:a16="http://schemas.microsoft.com/office/drawing/2014/main" id="{D4BA43B4-7A33-CFC3-C9CC-9947CBF483E8}"/>
              </a:ext>
            </a:extLst>
          </p:cNvPr>
          <p:cNvSpPr>
            <a:spLocks noGrp="1"/>
          </p:cNvSpPr>
          <p:nvPr>
            <p:ph type="body" sz="quarter" idx="10"/>
          </p:nvPr>
        </p:nvSpPr>
        <p:spPr>
          <a:xfrm>
            <a:off x="665163" y="1713419"/>
            <a:ext cx="9398001" cy="251512"/>
          </a:xfrm>
        </p:spPr>
        <p:txBody>
          <a:bodyPr anchor="t"/>
          <a:lstStyle/>
          <a:p>
            <a:r>
              <a:rPr lang="en-US" noProof="0" dirty="0"/>
              <a:t>We carefully select and curate Investment Universe for our clients, presenting diverse range of opportunities to </a:t>
            </a:r>
            <a:r>
              <a:rPr lang="en-US" noProof="0" dirty="0" err="1"/>
              <a:t>maximise</a:t>
            </a:r>
            <a:r>
              <a:rPr lang="en-US" noProof="0" dirty="0"/>
              <a:t> your growth and security</a:t>
            </a:r>
          </a:p>
        </p:txBody>
      </p:sp>
      <p:sp>
        <p:nvSpPr>
          <p:cNvPr id="5" name="Rectangle 4">
            <a:extLst>
              <a:ext uri="{FF2B5EF4-FFF2-40B4-BE49-F238E27FC236}">
                <a16:creationId xmlns:a16="http://schemas.microsoft.com/office/drawing/2014/main" id="{B9D0A9A5-BC6F-F14E-18A8-F0AAC2994354}"/>
              </a:ext>
            </a:extLst>
          </p:cNvPr>
          <p:cNvSpPr/>
          <p:nvPr/>
        </p:nvSpPr>
        <p:spPr>
          <a:xfrm>
            <a:off x="665162" y="2253891"/>
            <a:ext cx="9361487" cy="68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spcBef>
                <a:spcPts val="300"/>
              </a:spcBef>
            </a:pPr>
            <a:r>
              <a:rPr lang="en-US" sz="1200" b="1" noProof="0" dirty="0">
                <a:solidFill>
                  <a:schemeClr val="bg1"/>
                </a:solidFill>
                <a:latin typeface="Nunito Sans" pitchFamily="2" charset="77"/>
              </a:rPr>
              <a:t>Macro-economic</a:t>
            </a:r>
          </a:p>
          <a:p>
            <a:pPr>
              <a:spcBef>
                <a:spcPts val="300"/>
              </a:spcBef>
            </a:pPr>
            <a:r>
              <a:rPr lang="en-US" sz="1100" noProof="0" dirty="0">
                <a:solidFill>
                  <a:schemeClr val="bg1"/>
                </a:solidFill>
              </a:rPr>
              <a:t>We closely monitor and leverage macroeconomic trends in building our investment strategies</a:t>
            </a:r>
          </a:p>
          <a:p>
            <a:pPr>
              <a:spcBef>
                <a:spcPts val="300"/>
              </a:spcBef>
            </a:pPr>
            <a:r>
              <a:rPr lang="en-US" sz="1100" noProof="0" dirty="0">
                <a:solidFill>
                  <a:schemeClr val="bg1"/>
                </a:solidFill>
              </a:rPr>
              <a:t>Stay ahead and </a:t>
            </a:r>
            <a:r>
              <a:rPr lang="en-US" sz="1100" noProof="0" dirty="0" err="1">
                <a:solidFill>
                  <a:schemeClr val="bg1"/>
                </a:solidFill>
              </a:rPr>
              <a:t>capitalise</a:t>
            </a:r>
            <a:r>
              <a:rPr lang="en-US" sz="1100" noProof="0" dirty="0">
                <a:solidFill>
                  <a:schemeClr val="bg1"/>
                </a:solidFill>
              </a:rPr>
              <a:t> on emerging trends to safeguard and grow your wealth </a:t>
            </a:r>
            <a:endParaRPr lang="en-US" sz="1200" noProof="0" dirty="0"/>
          </a:p>
        </p:txBody>
      </p:sp>
      <p:sp>
        <p:nvSpPr>
          <p:cNvPr id="14" name="Rectangle 13">
            <a:extLst>
              <a:ext uri="{FF2B5EF4-FFF2-40B4-BE49-F238E27FC236}">
                <a16:creationId xmlns:a16="http://schemas.microsoft.com/office/drawing/2014/main" id="{97FAFAA0-94CC-D573-9301-BC4533EA4206}"/>
              </a:ext>
            </a:extLst>
          </p:cNvPr>
          <p:cNvSpPr/>
          <p:nvPr/>
        </p:nvSpPr>
        <p:spPr>
          <a:xfrm>
            <a:off x="665163" y="6074871"/>
            <a:ext cx="9361487" cy="628590"/>
          </a:xfrm>
          <a:prstGeom prst="rect">
            <a:avLst/>
          </a:prstGeom>
          <a:solidFill>
            <a:srgbClr val="EB3F8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Thematic Investments</a:t>
            </a:r>
          </a:p>
          <a:p>
            <a:pPr>
              <a:spcBef>
                <a:spcPts val="600"/>
              </a:spcBef>
            </a:pPr>
            <a:r>
              <a:rPr lang="en-US" sz="1100" noProof="0" dirty="0">
                <a:solidFill>
                  <a:schemeClr val="bg1"/>
                </a:solidFill>
                <a:latin typeface="Nunito Sans" pitchFamily="2" charset="77"/>
              </a:rPr>
              <a:t>Invest in themes shaping the future - ranging from technology to healthcare, ensuring your investments stay relevant</a:t>
            </a:r>
            <a:endParaRPr lang="en-US" sz="1100" noProof="0" dirty="0"/>
          </a:p>
        </p:txBody>
      </p:sp>
      <p:sp>
        <p:nvSpPr>
          <p:cNvPr id="20" name="Rectangle 19">
            <a:extLst>
              <a:ext uri="{FF2B5EF4-FFF2-40B4-BE49-F238E27FC236}">
                <a16:creationId xmlns:a16="http://schemas.microsoft.com/office/drawing/2014/main" id="{4E6B0A4A-BF66-A798-B777-A5E8DC5B6406}"/>
              </a:ext>
            </a:extLst>
          </p:cNvPr>
          <p:cNvSpPr/>
          <p:nvPr/>
        </p:nvSpPr>
        <p:spPr>
          <a:xfrm>
            <a:off x="2663905" y="3160584"/>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Equities – </a:t>
            </a:r>
            <a:r>
              <a:rPr lang="en-US" sz="1100" noProof="0" dirty="0">
                <a:solidFill>
                  <a:schemeClr val="bg1"/>
                </a:solidFill>
                <a:latin typeface="Nunito Sans" pitchFamily="2" charset="77"/>
              </a:rPr>
              <a:t>Explore and </a:t>
            </a:r>
            <a:r>
              <a:rPr lang="en-US" sz="1100" noProof="0" dirty="0" err="1">
                <a:solidFill>
                  <a:schemeClr val="bg1"/>
                </a:solidFill>
                <a:latin typeface="Nunito Sans" pitchFamily="2" charset="77"/>
              </a:rPr>
              <a:t>c</a:t>
            </a:r>
            <a:r>
              <a:rPr lang="en-US" sz="1100" noProof="0" dirty="0" err="1"/>
              <a:t>apitalise</a:t>
            </a:r>
            <a:r>
              <a:rPr lang="en-US" sz="1100" noProof="0" dirty="0"/>
              <a:t> growth in our core markets </a:t>
            </a:r>
          </a:p>
        </p:txBody>
      </p:sp>
      <p:sp>
        <p:nvSpPr>
          <p:cNvPr id="26" name="Rectangle 25">
            <a:extLst>
              <a:ext uri="{FF2B5EF4-FFF2-40B4-BE49-F238E27FC236}">
                <a16:creationId xmlns:a16="http://schemas.microsoft.com/office/drawing/2014/main" id="{9730E52F-5A8C-8522-F559-1EB10C7919B4}"/>
              </a:ext>
            </a:extLst>
          </p:cNvPr>
          <p:cNvSpPr/>
          <p:nvPr/>
        </p:nvSpPr>
        <p:spPr>
          <a:xfrm>
            <a:off x="2663905" y="3849153"/>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Fixed Income – </a:t>
            </a:r>
            <a:r>
              <a:rPr lang="en-US" sz="1100" noProof="0" dirty="0">
                <a:solidFill>
                  <a:schemeClr val="bg1"/>
                </a:solidFill>
                <a:latin typeface="Nunito Sans" pitchFamily="2" charset="77"/>
              </a:rPr>
              <a:t>Secure income stream with potential for growth</a:t>
            </a:r>
            <a:endParaRPr lang="en-US" sz="1100" noProof="0" dirty="0"/>
          </a:p>
          <a:p>
            <a:endParaRPr lang="en-US" sz="1100" noProof="0" dirty="0"/>
          </a:p>
          <a:p>
            <a:endParaRPr lang="en-US" sz="1100" noProof="0" dirty="0"/>
          </a:p>
          <a:p>
            <a:r>
              <a:rPr lang="en-US" sz="1100" noProof="0" dirty="0"/>
              <a:t> 12</a:t>
            </a:r>
          </a:p>
          <a:p>
            <a:r>
              <a:rPr lang="en-US" sz="1100" noProof="0" dirty="0"/>
              <a:t>12</a:t>
            </a:r>
          </a:p>
          <a:p>
            <a:endParaRPr lang="en-US" sz="1100" noProof="0" dirty="0"/>
          </a:p>
        </p:txBody>
      </p:sp>
      <p:sp>
        <p:nvSpPr>
          <p:cNvPr id="27" name="Rectangle 26">
            <a:extLst>
              <a:ext uri="{FF2B5EF4-FFF2-40B4-BE49-F238E27FC236}">
                <a16:creationId xmlns:a16="http://schemas.microsoft.com/office/drawing/2014/main" id="{3CAB43BF-BCF5-777A-F0FD-7336EC995ECE}"/>
              </a:ext>
            </a:extLst>
          </p:cNvPr>
          <p:cNvSpPr/>
          <p:nvPr/>
        </p:nvSpPr>
        <p:spPr>
          <a:xfrm>
            <a:off x="665163" y="3160583"/>
            <a:ext cx="1980000" cy="2713708"/>
          </a:xfrm>
          <a:prstGeom prst="rect">
            <a:avLst/>
          </a:prstGeom>
          <a:solidFill>
            <a:srgbClr val="4B5F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Liquid Assets</a:t>
            </a:r>
          </a:p>
          <a:p>
            <a:r>
              <a:rPr lang="en-US" sz="1200" b="1" noProof="0" dirty="0">
                <a:solidFill>
                  <a:schemeClr val="bg1"/>
                </a:solidFill>
                <a:latin typeface="Nunito Sans" pitchFamily="2" charset="77"/>
              </a:rPr>
              <a:t>– Core Universe</a:t>
            </a:r>
            <a:endParaRPr lang="en-US" sz="1200" noProof="0" dirty="0"/>
          </a:p>
          <a:p>
            <a:endParaRPr lang="en-US" sz="1200" noProof="0" dirty="0"/>
          </a:p>
          <a:p>
            <a:endParaRPr lang="en-US" sz="1200" noProof="0" dirty="0"/>
          </a:p>
          <a:p>
            <a:r>
              <a:rPr lang="en-US" sz="1200" noProof="0" dirty="0"/>
              <a:t> </a:t>
            </a:r>
          </a:p>
        </p:txBody>
      </p:sp>
      <p:sp>
        <p:nvSpPr>
          <p:cNvPr id="28" name="Rectangle 27">
            <a:extLst>
              <a:ext uri="{FF2B5EF4-FFF2-40B4-BE49-F238E27FC236}">
                <a16:creationId xmlns:a16="http://schemas.microsoft.com/office/drawing/2014/main" id="{E732559E-C59B-5191-300C-E5F680981297}"/>
              </a:ext>
            </a:extLst>
          </p:cNvPr>
          <p:cNvSpPr/>
          <p:nvPr/>
        </p:nvSpPr>
        <p:spPr>
          <a:xfrm>
            <a:off x="5501969" y="4080655"/>
            <a:ext cx="1980000" cy="864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Alternatives</a:t>
            </a:r>
            <a:endParaRPr lang="en-US" sz="1200" noProof="0" dirty="0"/>
          </a:p>
          <a:p>
            <a:endParaRPr lang="en-US" sz="1200" noProof="0" dirty="0"/>
          </a:p>
          <a:p>
            <a:endParaRPr lang="en-US" sz="1200" noProof="0" dirty="0"/>
          </a:p>
          <a:p>
            <a:r>
              <a:rPr lang="en-US" sz="1200" noProof="0" dirty="0"/>
              <a:t> </a:t>
            </a:r>
          </a:p>
        </p:txBody>
      </p:sp>
      <p:sp>
        <p:nvSpPr>
          <p:cNvPr id="29" name="Rectangle 28">
            <a:extLst>
              <a:ext uri="{FF2B5EF4-FFF2-40B4-BE49-F238E27FC236}">
                <a16:creationId xmlns:a16="http://schemas.microsoft.com/office/drawing/2014/main" id="{4640AD82-B043-F382-09CC-59B25044B075}"/>
              </a:ext>
            </a:extLst>
          </p:cNvPr>
          <p:cNvSpPr/>
          <p:nvPr/>
        </p:nvSpPr>
        <p:spPr>
          <a:xfrm>
            <a:off x="5501969" y="5010291"/>
            <a:ext cx="1980000" cy="864000"/>
          </a:xfrm>
          <a:prstGeom prst="rect">
            <a:avLst/>
          </a:prstGeom>
          <a:solidFill>
            <a:srgbClr val="00CE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Digital</a:t>
            </a:r>
            <a:endParaRPr lang="en-US" sz="1200" noProof="0" dirty="0"/>
          </a:p>
          <a:p>
            <a:endParaRPr lang="en-US" sz="1200" noProof="0" dirty="0"/>
          </a:p>
          <a:p>
            <a:endParaRPr lang="en-US" sz="1200" noProof="0" dirty="0"/>
          </a:p>
          <a:p>
            <a:r>
              <a:rPr lang="en-US" sz="1200" noProof="0" dirty="0"/>
              <a:t> </a:t>
            </a:r>
          </a:p>
        </p:txBody>
      </p:sp>
      <p:sp>
        <p:nvSpPr>
          <p:cNvPr id="30" name="Rectangle 29">
            <a:extLst>
              <a:ext uri="{FF2B5EF4-FFF2-40B4-BE49-F238E27FC236}">
                <a16:creationId xmlns:a16="http://schemas.microsoft.com/office/drawing/2014/main" id="{ED4C7966-A355-241D-FDC6-73A1041281F1}"/>
              </a:ext>
            </a:extLst>
          </p:cNvPr>
          <p:cNvSpPr/>
          <p:nvPr/>
        </p:nvSpPr>
        <p:spPr>
          <a:xfrm>
            <a:off x="5501969" y="3157663"/>
            <a:ext cx="1980000" cy="864000"/>
          </a:xfrm>
          <a:prstGeom prst="rect">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noProof="0" dirty="0">
                <a:solidFill>
                  <a:schemeClr val="bg1"/>
                </a:solidFill>
                <a:latin typeface="Nunito Sans" pitchFamily="2" charset="77"/>
              </a:rPr>
              <a:t>Structured Products &amp; Derivatives</a:t>
            </a:r>
            <a:endParaRPr lang="en-US" sz="1200" noProof="0" dirty="0"/>
          </a:p>
          <a:p>
            <a:endParaRPr lang="en-US" sz="1200" noProof="0" dirty="0"/>
          </a:p>
          <a:p>
            <a:r>
              <a:rPr lang="en-US" sz="1200" noProof="0" dirty="0"/>
              <a:t> </a:t>
            </a:r>
          </a:p>
        </p:txBody>
      </p:sp>
      <p:sp>
        <p:nvSpPr>
          <p:cNvPr id="31" name="Rectangle 30">
            <a:extLst>
              <a:ext uri="{FF2B5EF4-FFF2-40B4-BE49-F238E27FC236}">
                <a16:creationId xmlns:a16="http://schemas.microsoft.com/office/drawing/2014/main" id="{82D17B69-D730-2315-0ED4-5B1A4819AC8D}"/>
              </a:ext>
            </a:extLst>
          </p:cNvPr>
          <p:cNvSpPr/>
          <p:nvPr/>
        </p:nvSpPr>
        <p:spPr>
          <a:xfrm>
            <a:off x="2663905" y="4537722"/>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Funds – </a:t>
            </a:r>
            <a:r>
              <a:rPr lang="en-US" sz="1100" noProof="0" dirty="0">
                <a:solidFill>
                  <a:schemeClr val="bg1"/>
                </a:solidFill>
                <a:latin typeface="Nunito Sans" pitchFamily="2" charset="77"/>
              </a:rPr>
              <a:t>professionally managed funds to diversify and grow</a:t>
            </a:r>
            <a:endParaRPr lang="en-US" sz="1100" noProof="0" dirty="0"/>
          </a:p>
          <a:p>
            <a:endParaRPr lang="en-US" sz="1100" noProof="0" dirty="0"/>
          </a:p>
          <a:p>
            <a:endParaRPr lang="en-US" sz="1100" noProof="0" dirty="0"/>
          </a:p>
          <a:p>
            <a:r>
              <a:rPr lang="en-US" sz="1100" noProof="0" dirty="0"/>
              <a:t> </a:t>
            </a:r>
          </a:p>
        </p:txBody>
      </p:sp>
      <p:sp>
        <p:nvSpPr>
          <p:cNvPr id="32" name="Rectangle 31">
            <a:extLst>
              <a:ext uri="{FF2B5EF4-FFF2-40B4-BE49-F238E27FC236}">
                <a16:creationId xmlns:a16="http://schemas.microsoft.com/office/drawing/2014/main" id="{F54FC821-E25B-97FF-02F9-D8CF940F5BA3}"/>
              </a:ext>
            </a:extLst>
          </p:cNvPr>
          <p:cNvSpPr/>
          <p:nvPr/>
        </p:nvSpPr>
        <p:spPr>
          <a:xfrm>
            <a:off x="2663905" y="5226291"/>
            <a:ext cx="2520000" cy="648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b="1" noProof="0" dirty="0">
                <a:solidFill>
                  <a:schemeClr val="bg1"/>
                </a:solidFill>
                <a:latin typeface="Nunito Sans" pitchFamily="2" charset="77"/>
              </a:rPr>
              <a:t>FX &amp; Commodities – </a:t>
            </a:r>
            <a:r>
              <a:rPr lang="en-US" sz="1100" noProof="0" dirty="0">
                <a:solidFill>
                  <a:schemeClr val="bg1"/>
                </a:solidFill>
                <a:latin typeface="Nunito Sans" pitchFamily="2" charset="77"/>
              </a:rPr>
              <a:t>navigate through global markets to </a:t>
            </a:r>
            <a:r>
              <a:rPr lang="en-US" sz="1100" noProof="0" dirty="0" err="1">
                <a:solidFill>
                  <a:schemeClr val="bg1"/>
                </a:solidFill>
                <a:latin typeface="Nunito Sans" pitchFamily="2" charset="77"/>
              </a:rPr>
              <a:t>optimise</a:t>
            </a:r>
            <a:r>
              <a:rPr lang="en-US" sz="1100" noProof="0" dirty="0">
                <a:solidFill>
                  <a:schemeClr val="bg1"/>
                </a:solidFill>
                <a:latin typeface="Nunito Sans" pitchFamily="2" charset="77"/>
              </a:rPr>
              <a:t> your portfolios</a:t>
            </a:r>
            <a:endParaRPr lang="en-US" sz="1100" noProof="0" dirty="0"/>
          </a:p>
          <a:p>
            <a:endParaRPr lang="en-US" sz="1100" noProof="0" dirty="0"/>
          </a:p>
          <a:p>
            <a:endParaRPr lang="en-US" sz="1100" noProof="0" dirty="0"/>
          </a:p>
          <a:p>
            <a:r>
              <a:rPr lang="en-US" sz="1100" noProof="0" dirty="0"/>
              <a:t> </a:t>
            </a:r>
          </a:p>
        </p:txBody>
      </p:sp>
      <p:sp>
        <p:nvSpPr>
          <p:cNvPr id="33" name="Rectangle 32">
            <a:extLst>
              <a:ext uri="{FF2B5EF4-FFF2-40B4-BE49-F238E27FC236}">
                <a16:creationId xmlns:a16="http://schemas.microsoft.com/office/drawing/2014/main" id="{E038A816-ECA8-8DB2-4B4D-DF6BDEFF1832}"/>
              </a:ext>
            </a:extLst>
          </p:cNvPr>
          <p:cNvSpPr/>
          <p:nvPr/>
        </p:nvSpPr>
        <p:spPr>
          <a:xfrm>
            <a:off x="7506647" y="4080655"/>
            <a:ext cx="2520000" cy="864000"/>
          </a:xfrm>
          <a:prstGeom prst="rect">
            <a:avLst/>
          </a:prstGeom>
          <a:solidFill>
            <a:schemeClr val="accent4">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Venture beyond the conventional with alternative investments, access our exclusive private market opportunities</a:t>
            </a:r>
            <a:endParaRPr lang="en-US" sz="1100" noProof="0" dirty="0"/>
          </a:p>
          <a:p>
            <a:endParaRPr lang="en-US" sz="1100" noProof="0" dirty="0"/>
          </a:p>
          <a:p>
            <a:endParaRPr lang="en-US" sz="1100" noProof="0" dirty="0"/>
          </a:p>
          <a:p>
            <a:r>
              <a:rPr lang="en-US" sz="1100" noProof="0" dirty="0"/>
              <a:t> </a:t>
            </a:r>
          </a:p>
        </p:txBody>
      </p:sp>
      <p:sp>
        <p:nvSpPr>
          <p:cNvPr id="34" name="Rectangle 33">
            <a:extLst>
              <a:ext uri="{FF2B5EF4-FFF2-40B4-BE49-F238E27FC236}">
                <a16:creationId xmlns:a16="http://schemas.microsoft.com/office/drawing/2014/main" id="{A1B2DA92-BFAE-34F5-2C9C-2768CD31CEBF}"/>
              </a:ext>
            </a:extLst>
          </p:cNvPr>
          <p:cNvSpPr/>
          <p:nvPr/>
        </p:nvSpPr>
        <p:spPr>
          <a:xfrm>
            <a:off x="7506647" y="5010291"/>
            <a:ext cx="2520000" cy="864000"/>
          </a:xfrm>
          <a:prstGeom prst="rect">
            <a:avLst/>
          </a:prstGeom>
          <a:solidFill>
            <a:srgbClr val="00CEB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pPr>
              <a:spcBef>
                <a:spcPts val="300"/>
              </a:spcBef>
            </a:pPr>
            <a:r>
              <a:rPr lang="en-US" sz="1100" noProof="0" dirty="0">
                <a:solidFill>
                  <a:schemeClr val="bg1"/>
                </a:solidFill>
                <a:latin typeface="Nunito Sans" pitchFamily="2" charset="77"/>
              </a:rPr>
              <a:t>Position yourself for financial innovation</a:t>
            </a:r>
          </a:p>
          <a:p>
            <a:pPr>
              <a:spcBef>
                <a:spcPts val="300"/>
              </a:spcBef>
            </a:pPr>
            <a:r>
              <a:rPr lang="en-US" sz="1100" noProof="0" dirty="0">
                <a:solidFill>
                  <a:schemeClr val="bg1"/>
                </a:solidFill>
                <a:latin typeface="Nunito Sans" pitchFamily="2" charset="77"/>
              </a:rPr>
              <a:t>Embrace the future with digital assets like Bitcoin and Ethereum</a:t>
            </a:r>
            <a:endParaRPr lang="en-US" sz="1100" noProof="0" dirty="0"/>
          </a:p>
          <a:p>
            <a:pPr>
              <a:spcBef>
                <a:spcPts val="300"/>
              </a:spcBef>
            </a:pPr>
            <a:endParaRPr lang="en-US" sz="1100" noProof="0" dirty="0"/>
          </a:p>
          <a:p>
            <a:pPr>
              <a:spcBef>
                <a:spcPts val="300"/>
              </a:spcBef>
            </a:pPr>
            <a:endParaRPr lang="en-US" sz="1100" noProof="0" dirty="0"/>
          </a:p>
          <a:p>
            <a:pPr>
              <a:spcBef>
                <a:spcPts val="300"/>
              </a:spcBef>
            </a:pPr>
            <a:r>
              <a:rPr lang="en-US" sz="1100" noProof="0" dirty="0"/>
              <a:t> </a:t>
            </a:r>
          </a:p>
        </p:txBody>
      </p:sp>
      <p:sp>
        <p:nvSpPr>
          <p:cNvPr id="35" name="Rectangle 34">
            <a:extLst>
              <a:ext uri="{FF2B5EF4-FFF2-40B4-BE49-F238E27FC236}">
                <a16:creationId xmlns:a16="http://schemas.microsoft.com/office/drawing/2014/main" id="{588DE45E-D160-9628-C357-794C49C05103}"/>
              </a:ext>
            </a:extLst>
          </p:cNvPr>
          <p:cNvSpPr/>
          <p:nvPr/>
        </p:nvSpPr>
        <p:spPr>
          <a:xfrm>
            <a:off x="7506647" y="3157663"/>
            <a:ext cx="2520000" cy="864000"/>
          </a:xfrm>
          <a:prstGeom prst="rect">
            <a:avLst/>
          </a:prstGeom>
          <a:solidFill>
            <a:srgbClr val="FFA4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45720" rIns="72000" bIns="45720" numCol="1" spcCol="0" rtlCol="0" fromWordArt="0" anchor="t" anchorCtr="0" forceAA="0" compatLnSpc="1">
            <a:prstTxWarp prst="textNoShape">
              <a:avLst/>
            </a:prstTxWarp>
            <a:noAutofit/>
          </a:bodyPr>
          <a:lstStyle/>
          <a:p>
            <a:r>
              <a:rPr lang="en-US" sz="1100" noProof="0" dirty="0">
                <a:solidFill>
                  <a:schemeClr val="bg1"/>
                </a:solidFill>
                <a:latin typeface="Nunito Sans" pitchFamily="2" charset="77"/>
              </a:rPr>
              <a:t>Explore sophisticated financial instruments tailored for your needs – such as options, futures, structured products</a:t>
            </a:r>
            <a:endParaRPr lang="en-US" sz="1100" noProof="0" dirty="0"/>
          </a:p>
          <a:p>
            <a:endParaRPr lang="en-US" sz="1100" noProof="0" dirty="0"/>
          </a:p>
          <a:p>
            <a:r>
              <a:rPr lang="en-US" sz="1100" noProof="0" dirty="0"/>
              <a:t> </a:t>
            </a:r>
          </a:p>
        </p:txBody>
      </p:sp>
      <p:sp>
        <p:nvSpPr>
          <p:cNvPr id="36" name="Oval 35">
            <a:extLst>
              <a:ext uri="{FF2B5EF4-FFF2-40B4-BE49-F238E27FC236}">
                <a16:creationId xmlns:a16="http://schemas.microsoft.com/office/drawing/2014/main" id="{A2244394-A55C-4B54-BE29-FB8CE4A695B6}"/>
              </a:ext>
            </a:extLst>
          </p:cNvPr>
          <p:cNvSpPr/>
          <p:nvPr/>
        </p:nvSpPr>
        <p:spPr>
          <a:xfrm>
            <a:off x="5147905" y="5876871"/>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000" b="1" noProof="0" dirty="0">
                <a:solidFill>
                  <a:srgbClr val="EB3F8E"/>
                </a:solidFill>
              </a:rPr>
              <a:t>+</a:t>
            </a:r>
          </a:p>
        </p:txBody>
      </p:sp>
    </p:spTree>
    <p:extLst>
      <p:ext uri="{BB962C8B-B14F-4D97-AF65-F5344CB8AC3E}">
        <p14:creationId xmlns:p14="http://schemas.microsoft.com/office/powerpoint/2010/main" val="899681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18AE7-B966-9DA2-CC56-D1C07D377A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8428F-CC0C-803B-D8D1-E8BE6F51561C}"/>
              </a:ext>
            </a:extLst>
          </p:cNvPr>
          <p:cNvSpPr>
            <a:spLocks noGrp="1"/>
          </p:cNvSpPr>
          <p:nvPr>
            <p:ph type="title"/>
          </p:nvPr>
        </p:nvSpPr>
        <p:spPr/>
        <p:txBody>
          <a:bodyPr/>
          <a:lstStyle/>
          <a:p>
            <a:r>
              <a:rPr lang="en-US">
                <a:gradFill flip="none" rotWithShape="1">
                  <a:gsLst>
                    <a:gs pos="0">
                      <a:srgbClr val="FFA400"/>
                    </a:gs>
                    <a:gs pos="100000">
                      <a:srgbClr val="FF6C0E"/>
                    </a:gs>
                  </a:gsLst>
                  <a:path path="circle">
                    <a:fillToRect l="100000" t="100000"/>
                  </a:path>
                  <a:tileRect r="-100000" b="-100000"/>
                </a:gradFill>
                <a:latin typeface="Nunito Sans ExtraBold" pitchFamily="2" charset="77"/>
              </a:rPr>
              <a:t>Alternative Investments Opportunities </a:t>
            </a:r>
            <a:endParaRPr lang="en-CH" b="0">
              <a:solidFill>
                <a:srgbClr val="FFA400"/>
              </a:solidFill>
            </a:endParaRPr>
          </a:p>
        </p:txBody>
      </p:sp>
      <p:sp>
        <p:nvSpPr>
          <p:cNvPr id="31" name="Text Placeholder 47">
            <a:extLst>
              <a:ext uri="{FF2B5EF4-FFF2-40B4-BE49-F238E27FC236}">
                <a16:creationId xmlns:a16="http://schemas.microsoft.com/office/drawing/2014/main" id="{56129C8D-2D69-682A-75B1-319495380B6B}"/>
              </a:ext>
            </a:extLst>
          </p:cNvPr>
          <p:cNvSpPr>
            <a:spLocks noGrp="1"/>
          </p:cNvSpPr>
          <p:nvPr>
            <p:ph type="body" sz="quarter" idx="10"/>
          </p:nvPr>
        </p:nvSpPr>
        <p:spPr>
          <a:xfrm>
            <a:off x="665163" y="1764000"/>
            <a:ext cx="9398001" cy="251512"/>
          </a:xfrm>
        </p:spPr>
        <p:txBody>
          <a:bodyPr/>
          <a:lstStyle/>
          <a:p>
            <a:r>
              <a:rPr lang="en-US" sz="1400">
                <a:solidFill>
                  <a:schemeClr val="tx2"/>
                </a:solidFill>
                <a:latin typeface="+mn-lt"/>
              </a:rPr>
              <a:t>Alternative investments offer strategies with distinct time horizons, risk profiles, and return expectations</a:t>
            </a:r>
            <a:endParaRPr lang="en-GB" sz="1400">
              <a:solidFill>
                <a:schemeClr val="tx2"/>
              </a:solidFill>
              <a:latin typeface="+mn-lt"/>
            </a:endParaRPr>
          </a:p>
        </p:txBody>
      </p:sp>
      <p:sp>
        <p:nvSpPr>
          <p:cNvPr id="16" name="Title 1">
            <a:extLst>
              <a:ext uri="{FF2B5EF4-FFF2-40B4-BE49-F238E27FC236}">
                <a16:creationId xmlns:a16="http://schemas.microsoft.com/office/drawing/2014/main" id="{5C4EB385-3BAF-6748-4771-F63F9C73F7B3}"/>
              </a:ext>
            </a:extLst>
          </p:cNvPr>
          <p:cNvSpPr txBox="1">
            <a:spLocks/>
          </p:cNvSpPr>
          <p:nvPr/>
        </p:nvSpPr>
        <p:spPr>
          <a:xfrm>
            <a:off x="817563" y="1184838"/>
            <a:ext cx="9398001" cy="864586"/>
          </a:xfrm>
          <a:prstGeom prst="rect">
            <a:avLst/>
          </a:prstGeom>
        </p:spPr>
        <p:txBody>
          <a:bodyPr vert="horz" lIns="0" tIns="0" rIns="0" bIns="0" rtlCol="0" anchor="t" anchorCtr="0">
            <a:noAutofit/>
          </a:bodyPr>
          <a:lstStyle>
            <a:lvl1pPr algn="l" defTabSz="1007943" rtl="0" eaLnBrk="1" latinLnBrk="0" hangingPunct="1">
              <a:lnSpc>
                <a:spcPct val="90000"/>
              </a:lnSpc>
              <a:spcBef>
                <a:spcPct val="0"/>
              </a:spcBef>
              <a:buNone/>
              <a:defRPr sz="2300" b="1" kern="1200">
                <a:gradFill flip="none" rotWithShape="1">
                  <a:gsLst>
                    <a:gs pos="0">
                      <a:schemeClr val="accent4"/>
                    </a:gs>
                    <a:gs pos="100000">
                      <a:srgbClr val="FFA400"/>
                    </a:gs>
                  </a:gsLst>
                  <a:lin ang="0" scaled="1"/>
                  <a:tileRect/>
                </a:gradFill>
                <a:latin typeface="+mj-lt"/>
                <a:ea typeface="+mj-ea"/>
                <a:cs typeface="+mj-cs"/>
              </a:defRPr>
            </a:lvl1pPr>
          </a:lstStyle>
          <a:p>
            <a:endParaRPr lang="en-CH" b="0">
              <a:solidFill>
                <a:srgbClr val="FFA400"/>
              </a:solidFill>
            </a:endParaRPr>
          </a:p>
        </p:txBody>
      </p:sp>
      <p:sp>
        <p:nvSpPr>
          <p:cNvPr id="3" name="Rectangle 2">
            <a:extLst>
              <a:ext uri="{FF2B5EF4-FFF2-40B4-BE49-F238E27FC236}">
                <a16:creationId xmlns:a16="http://schemas.microsoft.com/office/drawing/2014/main" id="{DBEA7080-5156-E76F-06B9-AD42073BA840}"/>
              </a:ext>
            </a:extLst>
          </p:cNvPr>
          <p:cNvSpPr/>
          <p:nvPr/>
        </p:nvSpPr>
        <p:spPr>
          <a:xfrm>
            <a:off x="665163"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3BAF90"/>
                </a:solidFill>
              </a:rPr>
              <a:t>Hedge Funds </a:t>
            </a:r>
            <a:endParaRPr lang="en-CH" sz="1400" b="1">
              <a:solidFill>
                <a:srgbClr val="3BAF90"/>
              </a:solidFill>
            </a:endParaRPr>
          </a:p>
        </p:txBody>
      </p:sp>
      <p:sp>
        <p:nvSpPr>
          <p:cNvPr id="5" name="Rectangle 4">
            <a:extLst>
              <a:ext uri="{FF2B5EF4-FFF2-40B4-BE49-F238E27FC236}">
                <a16:creationId xmlns:a16="http://schemas.microsoft.com/office/drawing/2014/main" id="{FEA2857D-D79F-4BE3-6531-15BD0F763E9C}"/>
              </a:ext>
            </a:extLst>
          </p:cNvPr>
          <p:cNvSpPr/>
          <p:nvPr/>
        </p:nvSpPr>
        <p:spPr>
          <a:xfrm>
            <a:off x="3115781"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chemeClr val="tx2"/>
                </a:solidFill>
              </a:rPr>
              <a:t>Private Debt </a:t>
            </a:r>
            <a:endParaRPr lang="en-CH" sz="1400" b="1">
              <a:solidFill>
                <a:schemeClr val="tx2"/>
              </a:solidFill>
            </a:endParaRPr>
          </a:p>
        </p:txBody>
      </p:sp>
      <p:sp>
        <p:nvSpPr>
          <p:cNvPr id="7" name="Rectangle 6">
            <a:extLst>
              <a:ext uri="{FF2B5EF4-FFF2-40B4-BE49-F238E27FC236}">
                <a16:creationId xmlns:a16="http://schemas.microsoft.com/office/drawing/2014/main" id="{855E8DF0-62CD-2380-6765-B2E4C5A68223}"/>
              </a:ext>
            </a:extLst>
          </p:cNvPr>
          <p:cNvSpPr/>
          <p:nvPr/>
        </p:nvSpPr>
        <p:spPr>
          <a:xfrm>
            <a:off x="5566399"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79D6FF"/>
                </a:solidFill>
              </a:rPr>
              <a:t>Private Equity </a:t>
            </a:r>
            <a:endParaRPr lang="en-CH" sz="1400" b="1">
              <a:solidFill>
                <a:srgbClr val="79D6FF"/>
              </a:solidFill>
            </a:endParaRPr>
          </a:p>
        </p:txBody>
      </p:sp>
      <p:cxnSp>
        <p:nvCxnSpPr>
          <p:cNvPr id="14" name="Straight Arrow Connector 13">
            <a:extLst>
              <a:ext uri="{FF2B5EF4-FFF2-40B4-BE49-F238E27FC236}">
                <a16:creationId xmlns:a16="http://schemas.microsoft.com/office/drawing/2014/main" id="{A8B4A93B-C67A-D0B7-58CC-AD0769BD0DA5}"/>
              </a:ext>
            </a:extLst>
          </p:cNvPr>
          <p:cNvCxnSpPr>
            <a:cxnSpLocks/>
          </p:cNvCxnSpPr>
          <p:nvPr/>
        </p:nvCxnSpPr>
        <p:spPr>
          <a:xfrm flipV="1">
            <a:off x="665163" y="2439664"/>
            <a:ext cx="9472065" cy="43402"/>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9" name="Text Placeholder 2">
            <a:extLst>
              <a:ext uri="{FF2B5EF4-FFF2-40B4-BE49-F238E27FC236}">
                <a16:creationId xmlns:a16="http://schemas.microsoft.com/office/drawing/2014/main" id="{66B0D49E-EB11-E676-CF75-BDC23EF7FF77}"/>
              </a:ext>
            </a:extLst>
          </p:cNvPr>
          <p:cNvSpPr txBox="1">
            <a:spLocks/>
          </p:cNvSpPr>
          <p:nvPr/>
        </p:nvSpPr>
        <p:spPr>
          <a:xfrm>
            <a:off x="665163" y="3639841"/>
            <a:ext cx="2046506" cy="830997"/>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Funds-of-funds &amp; White label</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Advisory</a:t>
            </a:r>
            <a:r>
              <a:rPr lang="en-US" sz="1100">
                <a:solidFill>
                  <a:schemeClr val="tx2"/>
                </a:solidFill>
                <a:latin typeface="Nunito Sans" panose="00000500000000000000" pitchFamily="2" charset="0"/>
                <a:ea typeface="MS Mincho"/>
                <a:cs typeface="Times New Roman"/>
              </a:rPr>
              <a:t> (customized single HF portfolios) </a:t>
            </a:r>
            <a:endParaRPr lang="en-US" sz="1200">
              <a:solidFill>
                <a:schemeClr val="tx2"/>
              </a:solidFill>
              <a:latin typeface="Nunito Sans" panose="00000500000000000000" pitchFamily="2" charset="0"/>
              <a:ea typeface="MS Mincho"/>
              <a:cs typeface="Times New Roman"/>
            </a:endParaRPr>
          </a:p>
        </p:txBody>
      </p:sp>
      <p:sp>
        <p:nvSpPr>
          <p:cNvPr id="21" name="Text Placeholder 2">
            <a:extLst>
              <a:ext uri="{FF2B5EF4-FFF2-40B4-BE49-F238E27FC236}">
                <a16:creationId xmlns:a16="http://schemas.microsoft.com/office/drawing/2014/main" id="{01979194-C581-149F-6966-B4286FE42012}"/>
              </a:ext>
            </a:extLst>
          </p:cNvPr>
          <p:cNvSpPr txBox="1">
            <a:spLocks/>
          </p:cNvSpPr>
          <p:nvPr/>
        </p:nvSpPr>
        <p:spPr>
          <a:xfrm>
            <a:off x="3115781" y="3639841"/>
            <a:ext cx="2046506" cy="1646605"/>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Direct lending</a:t>
            </a:r>
            <a:r>
              <a:rPr lang="en-US" sz="1100">
                <a:solidFill>
                  <a:schemeClr val="tx2"/>
                </a:solidFill>
                <a:latin typeface="Nunito Sans" panose="00000500000000000000" pitchFamily="2" charset="0"/>
                <a:ea typeface="MS Mincho"/>
                <a:cs typeface="Times New Roman"/>
              </a:rPr>
              <a:t> to private companies, primarily through senior secured loans </a:t>
            </a:r>
          </a:p>
          <a:p>
            <a:endParaRPr lang="en-US" sz="1100">
              <a:solidFill>
                <a:schemeClr val="tx2"/>
              </a:solidFill>
              <a:latin typeface="Nunito Sans" panose="00000500000000000000" pitchFamily="2" charset="0"/>
              <a:ea typeface="MS Mincho"/>
              <a:cs typeface="Times New Roman"/>
            </a:endParaRPr>
          </a:p>
          <a:p>
            <a:pPr marL="285750" indent="-285750">
              <a:buFont typeface="Wingdings 3" panose="05040102010807070707" pitchFamily="18" charset="2"/>
              <a:buChar char=""/>
            </a:pPr>
            <a:endParaRPr lang="en-US" sz="1100" b="1">
              <a:solidFill>
                <a:schemeClr val="tx2"/>
              </a:solidFill>
              <a:latin typeface="Nunito Sans" panose="00000500000000000000" pitchFamily="2" charset="0"/>
              <a:ea typeface="MS Mincho"/>
              <a:cs typeface="Times New Roman"/>
            </a:endParaRPr>
          </a:p>
          <a:p>
            <a:r>
              <a:rPr lang="en-US" sz="1100" b="1">
                <a:solidFill>
                  <a:schemeClr val="tx2"/>
                </a:solidFill>
                <a:latin typeface="Nunito Sans" panose="00000500000000000000" pitchFamily="2" charset="0"/>
                <a:ea typeface="MS Mincho"/>
                <a:cs typeface="Times New Roman"/>
              </a:rPr>
              <a:t> </a:t>
            </a:r>
          </a:p>
        </p:txBody>
      </p:sp>
      <p:sp>
        <p:nvSpPr>
          <p:cNvPr id="22" name="Text Placeholder 2">
            <a:extLst>
              <a:ext uri="{FF2B5EF4-FFF2-40B4-BE49-F238E27FC236}">
                <a16:creationId xmlns:a16="http://schemas.microsoft.com/office/drawing/2014/main" id="{C3430266-C028-1C47-3F5C-302287ED2B2B}"/>
              </a:ext>
            </a:extLst>
          </p:cNvPr>
          <p:cNvSpPr txBox="1">
            <a:spLocks/>
          </p:cNvSpPr>
          <p:nvPr/>
        </p:nvSpPr>
        <p:spPr>
          <a:xfrm>
            <a:off x="5566399" y="3639841"/>
            <a:ext cx="2046506" cy="1000274"/>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Deal-by-deal access </a:t>
            </a:r>
            <a:r>
              <a:rPr lang="en-US" sz="1100">
                <a:solidFill>
                  <a:schemeClr val="tx2"/>
                </a:solidFill>
                <a:latin typeface="Nunito Sans" panose="00000500000000000000" pitchFamily="2" charset="0"/>
                <a:ea typeface="MS Mincho"/>
                <a:cs typeface="Times New Roman"/>
              </a:rPr>
              <a:t>(majority investment)</a:t>
            </a:r>
          </a:p>
          <a:p>
            <a:pPr marL="285750" indent="-285750">
              <a:buFont typeface="Wingdings 3" panose="05040102010807070707" pitchFamily="18" charset="2"/>
              <a:buChar char=""/>
            </a:pPr>
            <a:r>
              <a:rPr lang="en-US" sz="1100" b="1">
                <a:solidFill>
                  <a:schemeClr val="tx2"/>
                </a:solidFill>
                <a:latin typeface="Nunito Sans" panose="00000500000000000000" pitchFamily="2" charset="0"/>
                <a:ea typeface="MS Mincho"/>
                <a:cs typeface="Times New Roman"/>
              </a:rPr>
              <a:t>European Buyout program </a:t>
            </a:r>
            <a:r>
              <a:rPr lang="en-US" sz="1100">
                <a:solidFill>
                  <a:schemeClr val="tx2"/>
                </a:solidFill>
                <a:latin typeface="Nunito Sans" panose="00000500000000000000" pitchFamily="2" charset="0"/>
                <a:ea typeface="MS Mincho"/>
                <a:cs typeface="Times New Roman"/>
              </a:rPr>
              <a:t>(primaries &amp; co-investments)  </a:t>
            </a:r>
            <a:endParaRPr lang="en-US" sz="1200">
              <a:solidFill>
                <a:schemeClr val="tx2"/>
              </a:solidFill>
              <a:latin typeface="Nunito Sans" panose="00000500000000000000" pitchFamily="2" charset="0"/>
              <a:ea typeface="MS Mincho"/>
              <a:cs typeface="Times New Roman"/>
            </a:endParaRPr>
          </a:p>
        </p:txBody>
      </p:sp>
      <p:cxnSp>
        <p:nvCxnSpPr>
          <p:cNvPr id="28" name="Straight Connector 27">
            <a:extLst>
              <a:ext uri="{FF2B5EF4-FFF2-40B4-BE49-F238E27FC236}">
                <a16:creationId xmlns:a16="http://schemas.microsoft.com/office/drawing/2014/main" id="{D095A4A3-52C5-6D42-19AC-8AF652CFB2A6}"/>
              </a:ext>
            </a:extLst>
          </p:cNvPr>
          <p:cNvCxnSpPr>
            <a:cxnSpLocks/>
          </p:cNvCxnSpPr>
          <p:nvPr/>
        </p:nvCxnSpPr>
        <p:spPr>
          <a:xfrm>
            <a:off x="7980363"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2" name="Straight Connector 31">
            <a:extLst>
              <a:ext uri="{FF2B5EF4-FFF2-40B4-BE49-F238E27FC236}">
                <a16:creationId xmlns:a16="http://schemas.microsoft.com/office/drawing/2014/main" id="{F1BB6955-B9E9-3E7A-40F9-802744BA56C7}"/>
              </a:ext>
            </a:extLst>
          </p:cNvPr>
          <p:cNvCxnSpPr>
            <a:cxnSpLocks/>
          </p:cNvCxnSpPr>
          <p:nvPr/>
        </p:nvCxnSpPr>
        <p:spPr>
          <a:xfrm>
            <a:off x="3029990"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cxnSp>
        <p:nvCxnSpPr>
          <p:cNvPr id="33" name="Straight Connector 32">
            <a:extLst>
              <a:ext uri="{FF2B5EF4-FFF2-40B4-BE49-F238E27FC236}">
                <a16:creationId xmlns:a16="http://schemas.microsoft.com/office/drawing/2014/main" id="{2D06F13F-400D-F293-0052-06B1DBEB4C64}"/>
              </a:ext>
            </a:extLst>
          </p:cNvPr>
          <p:cNvCxnSpPr>
            <a:cxnSpLocks/>
          </p:cNvCxnSpPr>
          <p:nvPr/>
        </p:nvCxnSpPr>
        <p:spPr>
          <a:xfrm>
            <a:off x="554804"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 name="Text Placeholder 2">
            <a:extLst>
              <a:ext uri="{FF2B5EF4-FFF2-40B4-BE49-F238E27FC236}">
                <a16:creationId xmlns:a16="http://schemas.microsoft.com/office/drawing/2014/main" id="{8FF08A51-089F-4973-5D2D-A17A89ECCE62}"/>
              </a:ext>
            </a:extLst>
          </p:cNvPr>
          <p:cNvSpPr txBox="1">
            <a:spLocks/>
          </p:cNvSpPr>
          <p:nvPr/>
        </p:nvSpPr>
        <p:spPr>
          <a:xfrm>
            <a:off x="665163" y="4980322"/>
            <a:ext cx="2046506" cy="1000274"/>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Access to hard-to-reach managers and emerging talent</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Downside protection and performance resilience  </a:t>
            </a:r>
            <a:endParaRPr lang="en-US" sz="1200">
              <a:solidFill>
                <a:schemeClr val="tx2"/>
              </a:solidFill>
              <a:latin typeface="Nunito Sans" panose="00000500000000000000" pitchFamily="2" charset="0"/>
              <a:ea typeface="MS Mincho"/>
              <a:cs typeface="Times New Roman"/>
            </a:endParaRPr>
          </a:p>
        </p:txBody>
      </p:sp>
      <p:sp>
        <p:nvSpPr>
          <p:cNvPr id="6" name="Text Placeholder 2">
            <a:extLst>
              <a:ext uri="{FF2B5EF4-FFF2-40B4-BE49-F238E27FC236}">
                <a16:creationId xmlns:a16="http://schemas.microsoft.com/office/drawing/2014/main" id="{2998F7A4-45C3-8ECC-E111-3E4EB3E7798E}"/>
              </a:ext>
            </a:extLst>
          </p:cNvPr>
          <p:cNvSpPr txBox="1">
            <a:spLocks/>
          </p:cNvSpPr>
          <p:nvPr/>
        </p:nvSpPr>
        <p:spPr>
          <a:xfrm>
            <a:off x="3118616" y="4980322"/>
            <a:ext cx="2046506" cy="1169551"/>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High returns with lower volatility and downside protection</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Monthly or quarterly income distribution potential</a:t>
            </a:r>
          </a:p>
        </p:txBody>
      </p:sp>
      <p:sp>
        <p:nvSpPr>
          <p:cNvPr id="8" name="Text Placeholder 2">
            <a:extLst>
              <a:ext uri="{FF2B5EF4-FFF2-40B4-BE49-F238E27FC236}">
                <a16:creationId xmlns:a16="http://schemas.microsoft.com/office/drawing/2014/main" id="{EEF89DF0-6AFA-08F9-6357-59ADAD3554EB}"/>
              </a:ext>
            </a:extLst>
          </p:cNvPr>
          <p:cNvSpPr txBox="1">
            <a:spLocks/>
          </p:cNvSpPr>
          <p:nvPr/>
        </p:nvSpPr>
        <p:spPr>
          <a:xfrm>
            <a:off x="5572069"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Focus on lower mid-market B2B sectors </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Disciplined, low-leverage investment approach</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9" name="TextBox 8">
            <a:extLst>
              <a:ext uri="{FF2B5EF4-FFF2-40B4-BE49-F238E27FC236}">
                <a16:creationId xmlns:a16="http://schemas.microsoft.com/office/drawing/2014/main" id="{10A9D906-9E27-7394-A082-F0C227C6DBA3}"/>
              </a:ext>
            </a:extLst>
          </p:cNvPr>
          <p:cNvSpPr txBox="1"/>
          <p:nvPr/>
        </p:nvSpPr>
        <p:spPr>
          <a:xfrm>
            <a:off x="1292772" y="2126018"/>
            <a:ext cx="1773621" cy="268107"/>
          </a:xfrm>
          <a:prstGeom prst="rect">
            <a:avLst/>
          </a:prstGeom>
          <a:noFill/>
        </p:spPr>
        <p:txBody>
          <a:bodyPr vert="horz" wrap="square" lIns="0" tIns="0" rIns="0" bIns="0" rtlCol="0">
            <a:noAutofit/>
          </a:bodyPr>
          <a:lstStyle/>
          <a:p>
            <a:pPr algn="l"/>
            <a:r>
              <a:rPr lang="en-US" sz="1200" b="1">
                <a:solidFill>
                  <a:schemeClr val="accent4"/>
                </a:solidFill>
              </a:rPr>
              <a:t>&gt;3 years </a:t>
            </a:r>
            <a:endParaRPr lang="en-CH" sz="1200" b="1" err="1">
              <a:solidFill>
                <a:schemeClr val="accent4"/>
              </a:solidFill>
            </a:endParaRPr>
          </a:p>
        </p:txBody>
      </p:sp>
      <p:sp>
        <p:nvSpPr>
          <p:cNvPr id="10" name="TextBox 9">
            <a:extLst>
              <a:ext uri="{FF2B5EF4-FFF2-40B4-BE49-F238E27FC236}">
                <a16:creationId xmlns:a16="http://schemas.microsoft.com/office/drawing/2014/main" id="{451677CD-2F2B-58FA-B654-93D5B018BB1A}"/>
              </a:ext>
            </a:extLst>
          </p:cNvPr>
          <p:cNvSpPr txBox="1"/>
          <p:nvPr/>
        </p:nvSpPr>
        <p:spPr>
          <a:xfrm>
            <a:off x="3780226" y="2126018"/>
            <a:ext cx="1773621" cy="268107"/>
          </a:xfrm>
          <a:prstGeom prst="rect">
            <a:avLst/>
          </a:prstGeom>
          <a:noFill/>
        </p:spPr>
        <p:txBody>
          <a:bodyPr vert="horz" wrap="square" lIns="0" tIns="0" rIns="0" bIns="0" rtlCol="0">
            <a:noAutofit/>
          </a:bodyPr>
          <a:lstStyle/>
          <a:p>
            <a:pPr algn="l"/>
            <a:r>
              <a:rPr lang="en-US" sz="1200" b="1">
                <a:solidFill>
                  <a:schemeClr val="accent4"/>
                </a:solidFill>
              </a:rPr>
              <a:t>3 - 7 years </a:t>
            </a:r>
            <a:endParaRPr lang="en-CH" sz="1200" b="1">
              <a:solidFill>
                <a:schemeClr val="accent4"/>
              </a:solidFill>
            </a:endParaRPr>
          </a:p>
        </p:txBody>
      </p:sp>
      <p:sp>
        <p:nvSpPr>
          <p:cNvPr id="11" name="TextBox 10">
            <a:extLst>
              <a:ext uri="{FF2B5EF4-FFF2-40B4-BE49-F238E27FC236}">
                <a16:creationId xmlns:a16="http://schemas.microsoft.com/office/drawing/2014/main" id="{12DE2AAC-70A2-E7D6-C8E3-027DAB2F121C}"/>
              </a:ext>
            </a:extLst>
          </p:cNvPr>
          <p:cNvSpPr txBox="1"/>
          <p:nvPr/>
        </p:nvSpPr>
        <p:spPr>
          <a:xfrm>
            <a:off x="6267680" y="2126018"/>
            <a:ext cx="1773621" cy="268107"/>
          </a:xfrm>
          <a:prstGeom prst="rect">
            <a:avLst/>
          </a:prstGeom>
          <a:noFill/>
        </p:spPr>
        <p:txBody>
          <a:bodyPr vert="horz" wrap="square" lIns="0" tIns="0" rIns="0" bIns="0" rtlCol="0">
            <a:noAutofit/>
          </a:bodyPr>
          <a:lstStyle/>
          <a:p>
            <a:pPr algn="l"/>
            <a:r>
              <a:rPr lang="en-US" sz="1200" b="1">
                <a:solidFill>
                  <a:schemeClr val="accent4"/>
                </a:solidFill>
              </a:rPr>
              <a:t>5-10 years </a:t>
            </a:r>
            <a:endParaRPr lang="en-CH" sz="1200" b="1">
              <a:solidFill>
                <a:schemeClr val="accent4"/>
              </a:solidFill>
            </a:endParaRPr>
          </a:p>
        </p:txBody>
      </p:sp>
      <p:sp>
        <p:nvSpPr>
          <p:cNvPr id="13" name="TextBox 12">
            <a:extLst>
              <a:ext uri="{FF2B5EF4-FFF2-40B4-BE49-F238E27FC236}">
                <a16:creationId xmlns:a16="http://schemas.microsoft.com/office/drawing/2014/main" id="{5A7FFB48-ABA7-644C-BE70-CAE191A65DA5}"/>
              </a:ext>
            </a:extLst>
          </p:cNvPr>
          <p:cNvSpPr txBox="1"/>
          <p:nvPr/>
        </p:nvSpPr>
        <p:spPr>
          <a:xfrm>
            <a:off x="725214" y="6256798"/>
            <a:ext cx="2156865" cy="282285"/>
          </a:xfrm>
          <a:prstGeom prst="rect">
            <a:avLst/>
          </a:prstGeom>
          <a:noFill/>
        </p:spPr>
        <p:txBody>
          <a:bodyPr vert="horz" wrap="square" lIns="0" tIns="0" rIns="0" bIns="0" rtlCol="0">
            <a:noAutofit/>
          </a:bodyPr>
          <a:lstStyle/>
          <a:p>
            <a:pPr algn="ctr"/>
            <a:r>
              <a:rPr lang="en-US" sz="1400" b="1">
                <a:solidFill>
                  <a:srgbClr val="3BAF90"/>
                </a:solidFill>
              </a:rPr>
              <a:t>Cash +3% to +15%</a:t>
            </a:r>
            <a:endParaRPr lang="en-CH" sz="1400" b="1">
              <a:solidFill>
                <a:srgbClr val="3BAF90"/>
              </a:solidFill>
            </a:endParaRPr>
          </a:p>
        </p:txBody>
      </p:sp>
      <p:sp>
        <p:nvSpPr>
          <p:cNvPr id="15" name="TextBox 14">
            <a:extLst>
              <a:ext uri="{FF2B5EF4-FFF2-40B4-BE49-F238E27FC236}">
                <a16:creationId xmlns:a16="http://schemas.microsoft.com/office/drawing/2014/main" id="{D03FFDDB-4ADE-607A-4EBB-16ACA624BBF4}"/>
              </a:ext>
            </a:extLst>
          </p:cNvPr>
          <p:cNvSpPr txBox="1"/>
          <p:nvPr/>
        </p:nvSpPr>
        <p:spPr>
          <a:xfrm>
            <a:off x="3125131" y="6256798"/>
            <a:ext cx="2156865" cy="304282"/>
          </a:xfrm>
          <a:prstGeom prst="rect">
            <a:avLst/>
          </a:prstGeom>
          <a:noFill/>
        </p:spPr>
        <p:txBody>
          <a:bodyPr vert="horz" wrap="square" lIns="0" tIns="0" rIns="0" bIns="0" rtlCol="0">
            <a:noAutofit/>
          </a:bodyPr>
          <a:lstStyle/>
          <a:p>
            <a:pPr algn="ctr"/>
            <a:r>
              <a:rPr lang="fi-FI" sz="1400" b="1">
                <a:solidFill>
                  <a:schemeClr val="tx2"/>
                </a:solidFill>
              </a:rPr>
              <a:t>7-11 % </a:t>
            </a:r>
            <a:endParaRPr lang="en-CH" sz="1400" b="1">
              <a:solidFill>
                <a:schemeClr val="tx2"/>
              </a:solidFill>
            </a:endParaRPr>
          </a:p>
        </p:txBody>
      </p:sp>
      <p:sp>
        <p:nvSpPr>
          <p:cNvPr id="17" name="TextBox 16">
            <a:extLst>
              <a:ext uri="{FF2B5EF4-FFF2-40B4-BE49-F238E27FC236}">
                <a16:creationId xmlns:a16="http://schemas.microsoft.com/office/drawing/2014/main" id="{E1C752E6-54BB-115A-D078-C107BBB66FB0}"/>
              </a:ext>
            </a:extLst>
          </p:cNvPr>
          <p:cNvSpPr txBox="1"/>
          <p:nvPr/>
        </p:nvSpPr>
        <p:spPr>
          <a:xfrm>
            <a:off x="5465526" y="6256798"/>
            <a:ext cx="2156865" cy="246507"/>
          </a:xfrm>
          <a:prstGeom prst="rect">
            <a:avLst/>
          </a:prstGeom>
          <a:noFill/>
        </p:spPr>
        <p:txBody>
          <a:bodyPr vert="horz" wrap="square" lIns="0" tIns="0" rIns="0" bIns="0" rtlCol="0">
            <a:noAutofit/>
          </a:bodyPr>
          <a:lstStyle>
            <a:defPPr>
              <a:defRPr lang="en-US"/>
            </a:defPPr>
            <a:lvl1pPr>
              <a:defRPr sz="1400" b="1"/>
            </a:lvl1pPr>
          </a:lstStyle>
          <a:p>
            <a:pPr algn="ctr"/>
            <a:r>
              <a:rPr lang="fi-FI">
                <a:solidFill>
                  <a:srgbClr val="79D6FF"/>
                </a:solidFill>
              </a:rPr>
              <a:t>&gt; 3x MOIC</a:t>
            </a:r>
            <a:endParaRPr lang="en-CH">
              <a:solidFill>
                <a:srgbClr val="79D6FF"/>
              </a:solidFill>
            </a:endParaRPr>
          </a:p>
        </p:txBody>
      </p:sp>
      <p:cxnSp>
        <p:nvCxnSpPr>
          <p:cNvPr id="20" name="Straight Connector 19">
            <a:extLst>
              <a:ext uri="{FF2B5EF4-FFF2-40B4-BE49-F238E27FC236}">
                <a16:creationId xmlns:a16="http://schemas.microsoft.com/office/drawing/2014/main" id="{7A1093C9-31FF-7449-1F84-2E9A3864B669}"/>
              </a:ext>
            </a:extLst>
          </p:cNvPr>
          <p:cNvCxnSpPr>
            <a:cxnSpLocks/>
          </p:cNvCxnSpPr>
          <p:nvPr/>
        </p:nvCxnSpPr>
        <p:spPr>
          <a:xfrm flipV="1">
            <a:off x="665163" y="6690961"/>
            <a:ext cx="9361487" cy="17266"/>
          </a:xfrm>
          <a:prstGeom prst="line">
            <a:avLst/>
          </a:prstGeom>
        </p:spPr>
        <p:style>
          <a:lnRef idx="3">
            <a:schemeClr val="accent6"/>
          </a:lnRef>
          <a:fillRef idx="0">
            <a:schemeClr val="accent6"/>
          </a:fillRef>
          <a:effectRef idx="2">
            <a:schemeClr val="accent6"/>
          </a:effectRef>
          <a:fontRef idx="minor">
            <a:schemeClr val="tx1"/>
          </a:fontRef>
        </p:style>
      </p:cxnSp>
      <p:cxnSp>
        <p:nvCxnSpPr>
          <p:cNvPr id="25" name="Straight Connector 24">
            <a:extLst>
              <a:ext uri="{FF2B5EF4-FFF2-40B4-BE49-F238E27FC236}">
                <a16:creationId xmlns:a16="http://schemas.microsoft.com/office/drawing/2014/main" id="{2215DB96-D898-46B0-541B-6F14C4BBC3CF}"/>
              </a:ext>
            </a:extLst>
          </p:cNvPr>
          <p:cNvCxnSpPr/>
          <p:nvPr/>
        </p:nvCxnSpPr>
        <p:spPr>
          <a:xfrm flipV="1">
            <a:off x="665163" y="6437619"/>
            <a:ext cx="0" cy="270608"/>
          </a:xfrm>
          <a:prstGeom prst="line">
            <a:avLst/>
          </a:prstGeom>
        </p:spPr>
        <p:style>
          <a:lnRef idx="3">
            <a:schemeClr val="accent6"/>
          </a:lnRef>
          <a:fillRef idx="0">
            <a:schemeClr val="accent6"/>
          </a:fillRef>
          <a:effectRef idx="2">
            <a:schemeClr val="accent6"/>
          </a:effectRef>
          <a:fontRef idx="minor">
            <a:schemeClr val="tx1"/>
          </a:fontRef>
        </p:style>
      </p:cxnSp>
      <p:cxnSp>
        <p:nvCxnSpPr>
          <p:cNvPr id="27" name="Straight Connector 26">
            <a:extLst>
              <a:ext uri="{FF2B5EF4-FFF2-40B4-BE49-F238E27FC236}">
                <a16:creationId xmlns:a16="http://schemas.microsoft.com/office/drawing/2014/main" id="{B67B5E6C-A583-BC28-2230-6099CB4C9C96}"/>
              </a:ext>
            </a:extLst>
          </p:cNvPr>
          <p:cNvCxnSpPr/>
          <p:nvPr/>
        </p:nvCxnSpPr>
        <p:spPr>
          <a:xfrm>
            <a:off x="5139559" y="6699594"/>
            <a:ext cx="0" cy="220719"/>
          </a:xfrm>
          <a:prstGeom prst="line">
            <a:avLst/>
          </a:prstGeom>
        </p:spPr>
        <p:style>
          <a:lnRef idx="3">
            <a:schemeClr val="accent6"/>
          </a:lnRef>
          <a:fillRef idx="0">
            <a:schemeClr val="accent6"/>
          </a:fillRef>
          <a:effectRef idx="2">
            <a:schemeClr val="accent6"/>
          </a:effectRef>
          <a:fontRef idx="minor">
            <a:schemeClr val="tx1"/>
          </a:fontRef>
        </p:style>
      </p:cxnSp>
      <p:cxnSp>
        <p:nvCxnSpPr>
          <p:cNvPr id="30" name="Straight Connector 29">
            <a:extLst>
              <a:ext uri="{FF2B5EF4-FFF2-40B4-BE49-F238E27FC236}">
                <a16:creationId xmlns:a16="http://schemas.microsoft.com/office/drawing/2014/main" id="{6360A527-8483-4716-B67C-13E716D2E432}"/>
              </a:ext>
            </a:extLst>
          </p:cNvPr>
          <p:cNvCxnSpPr>
            <a:cxnSpLocks/>
          </p:cNvCxnSpPr>
          <p:nvPr/>
        </p:nvCxnSpPr>
        <p:spPr>
          <a:xfrm flipV="1">
            <a:off x="10026650" y="6416568"/>
            <a:ext cx="0" cy="270000"/>
          </a:xfrm>
          <a:prstGeom prst="line">
            <a:avLst/>
          </a:prstGeom>
        </p:spPr>
        <p:style>
          <a:lnRef idx="3">
            <a:schemeClr val="accent6"/>
          </a:lnRef>
          <a:fillRef idx="0">
            <a:schemeClr val="accent6"/>
          </a:fillRef>
          <a:effectRef idx="2">
            <a:schemeClr val="accent6"/>
          </a:effectRef>
          <a:fontRef idx="minor">
            <a:schemeClr val="tx1"/>
          </a:fontRef>
        </p:style>
      </p:cxnSp>
      <p:sp>
        <p:nvSpPr>
          <p:cNvPr id="37" name="Rectangle 36">
            <a:extLst>
              <a:ext uri="{FF2B5EF4-FFF2-40B4-BE49-F238E27FC236}">
                <a16:creationId xmlns:a16="http://schemas.microsoft.com/office/drawing/2014/main" id="{ECC7CC73-F81B-C80D-2770-1ADB1324A9E6}"/>
              </a:ext>
            </a:extLst>
          </p:cNvPr>
          <p:cNvSpPr/>
          <p:nvPr/>
        </p:nvSpPr>
        <p:spPr>
          <a:xfrm>
            <a:off x="1929768" y="6903793"/>
            <a:ext cx="6419581" cy="339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100" b="1">
                <a:solidFill>
                  <a:schemeClr val="tx1"/>
                </a:solidFill>
              </a:rPr>
              <a:t>Alternatives portfolios can be tailored to the preference of clients through the horizon mandate</a:t>
            </a:r>
            <a:endParaRPr lang="en-CH" sz="1100" b="1">
              <a:solidFill>
                <a:schemeClr val="tx1"/>
              </a:solidFill>
            </a:endParaRPr>
          </a:p>
        </p:txBody>
      </p:sp>
      <p:pic>
        <p:nvPicPr>
          <p:cNvPr id="39" name="Graphic 38" descr="Lights On outline">
            <a:extLst>
              <a:ext uri="{FF2B5EF4-FFF2-40B4-BE49-F238E27FC236}">
                <a16:creationId xmlns:a16="http://schemas.microsoft.com/office/drawing/2014/main" id="{4D9AD121-66AE-19DC-37EA-7DB986E8B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39794" y="6785661"/>
            <a:ext cx="457200" cy="457200"/>
          </a:xfrm>
          <a:prstGeom prst="rect">
            <a:avLst/>
          </a:prstGeom>
        </p:spPr>
      </p:pic>
      <p:cxnSp>
        <p:nvCxnSpPr>
          <p:cNvPr id="23" name="Straight Connector 22">
            <a:extLst>
              <a:ext uri="{FF2B5EF4-FFF2-40B4-BE49-F238E27FC236}">
                <a16:creationId xmlns:a16="http://schemas.microsoft.com/office/drawing/2014/main" id="{7C925832-8106-84DF-564F-92EB475D2C19}"/>
              </a:ext>
            </a:extLst>
          </p:cNvPr>
          <p:cNvCxnSpPr>
            <a:cxnSpLocks/>
          </p:cNvCxnSpPr>
          <p:nvPr/>
        </p:nvCxnSpPr>
        <p:spPr>
          <a:xfrm>
            <a:off x="5505176" y="4763806"/>
            <a:ext cx="2156865" cy="0"/>
          </a:xfrm>
          <a:prstGeom prst="line">
            <a:avLst/>
          </a:prstGeom>
          <a:ln w="19050">
            <a:solidFill>
              <a:schemeClr val="accent6">
                <a:lumMod val="60000"/>
                <a:lumOff val="40000"/>
              </a:schemeClr>
            </a:solidFill>
          </a:ln>
        </p:spPr>
        <p:style>
          <a:lnRef idx="3">
            <a:schemeClr val="accent6"/>
          </a:lnRef>
          <a:fillRef idx="0">
            <a:schemeClr val="accent6"/>
          </a:fillRef>
          <a:effectRef idx="2">
            <a:schemeClr val="accent6"/>
          </a:effectRef>
          <a:fontRef idx="minor">
            <a:schemeClr val="tx1"/>
          </a:fontRef>
        </p:style>
      </p:cxnSp>
      <p:sp>
        <p:nvSpPr>
          <p:cNvPr id="41" name="Rectangle 40">
            <a:extLst>
              <a:ext uri="{FF2B5EF4-FFF2-40B4-BE49-F238E27FC236}">
                <a16:creationId xmlns:a16="http://schemas.microsoft.com/office/drawing/2014/main" id="{9373C197-8664-C120-B4F0-0B07CFDC25DA}"/>
              </a:ext>
            </a:extLst>
          </p:cNvPr>
          <p:cNvSpPr/>
          <p:nvPr/>
        </p:nvSpPr>
        <p:spPr>
          <a:xfrm>
            <a:off x="8017018" y="2718000"/>
            <a:ext cx="2046506" cy="630620"/>
          </a:xfrm>
          <a:prstGeom prst="rect">
            <a:avLst/>
          </a:prstGeom>
          <a:solidFill>
            <a:schemeClr val="bg1"/>
          </a:solidFill>
          <a:ln>
            <a:noFill/>
          </a:ln>
          <a:effectLst>
            <a:outerShdw blurRad="63500" sx="102000" sy="102000" algn="ctr" rotWithShape="0">
              <a:schemeClr val="accent6">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b="1">
                <a:solidFill>
                  <a:srgbClr val="AC5D85"/>
                </a:solidFill>
              </a:rPr>
              <a:t>Litigation Finance </a:t>
            </a:r>
            <a:endParaRPr lang="en-CH" sz="1400" b="1">
              <a:solidFill>
                <a:srgbClr val="AC5D85"/>
              </a:solidFill>
            </a:endParaRPr>
          </a:p>
        </p:txBody>
      </p:sp>
      <p:sp>
        <p:nvSpPr>
          <p:cNvPr id="42" name="Text Placeholder 2">
            <a:extLst>
              <a:ext uri="{FF2B5EF4-FFF2-40B4-BE49-F238E27FC236}">
                <a16:creationId xmlns:a16="http://schemas.microsoft.com/office/drawing/2014/main" id="{4D241FE6-701F-7BC8-8CCB-928BBDCD806C}"/>
              </a:ext>
            </a:extLst>
          </p:cNvPr>
          <p:cNvSpPr txBox="1">
            <a:spLocks/>
          </p:cNvSpPr>
          <p:nvPr/>
        </p:nvSpPr>
        <p:spPr>
          <a:xfrm>
            <a:off x="7930238" y="3616167"/>
            <a:ext cx="2046506" cy="846386"/>
          </a:xfrm>
          <a:prstGeom prst="rect">
            <a:avLst/>
          </a:prstGeom>
          <a:no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Wingdings 3" panose="05040102010807070707" pitchFamily="18" charset="2"/>
              <a:buChar char=""/>
            </a:pPr>
            <a:r>
              <a:rPr lang="en-US" sz="1100" b="1">
                <a:solidFill>
                  <a:srgbClr val="202945"/>
                </a:solidFill>
                <a:latin typeface="Nunito Sans" panose="00000500000000000000" pitchFamily="2" charset="0"/>
                <a:ea typeface="MS Mincho"/>
                <a:cs typeface="Times New Roman"/>
              </a:rPr>
              <a:t>Lending</a:t>
            </a:r>
            <a:r>
              <a:rPr lang="en-US" sz="1100">
                <a:solidFill>
                  <a:srgbClr val="202945"/>
                </a:solidFill>
                <a:latin typeface="Nunito Sans" panose="00000500000000000000" pitchFamily="2" charset="0"/>
                <a:ea typeface="MS Mincho"/>
                <a:cs typeface="Times New Roman"/>
              </a:rPr>
              <a:t> to a party involved in a legal dispute in exchange for a portion of the potential financial recovery. </a:t>
            </a:r>
          </a:p>
        </p:txBody>
      </p:sp>
      <p:sp>
        <p:nvSpPr>
          <p:cNvPr id="43" name="Text Placeholder 2">
            <a:extLst>
              <a:ext uri="{FF2B5EF4-FFF2-40B4-BE49-F238E27FC236}">
                <a16:creationId xmlns:a16="http://schemas.microsoft.com/office/drawing/2014/main" id="{47241F86-24CD-62A5-9586-C1D5B259A985}"/>
              </a:ext>
            </a:extLst>
          </p:cNvPr>
          <p:cNvSpPr txBox="1">
            <a:spLocks/>
          </p:cNvSpPr>
          <p:nvPr/>
        </p:nvSpPr>
        <p:spPr>
          <a:xfrm>
            <a:off x="8025522" y="4980322"/>
            <a:ext cx="2046506" cy="1154162"/>
          </a:xfrm>
          <a:prstGeom prst="rect">
            <a:avLst/>
          </a:prstGeom>
          <a:solidFill>
            <a:schemeClr val="bg1">
              <a:lumMod val="95000"/>
            </a:schemeClr>
          </a:solidFill>
        </p:spPr>
        <p:txBody>
          <a:bodyPr vert="horz" wrap="square" lIns="0" tIns="0" rIns="0" bIns="0" rtlCol="0" anchor="t" anchorCtr="0">
            <a:spAutoFit/>
          </a:bodyPr>
          <a:lstStyle>
            <a:lvl1pPr marL="0" indent="0" algn="l" defTabSz="1007943" rtl="0" eaLnBrk="1" latinLnBrk="0" hangingPunct="1">
              <a:lnSpc>
                <a:spcPct val="100000"/>
              </a:lnSpc>
              <a:spcBef>
                <a:spcPts val="1200"/>
              </a:spcBef>
              <a:spcAft>
                <a:spcPts val="0"/>
              </a:spcAft>
              <a:buClr>
                <a:srgbClr val="FFA400"/>
              </a:buClr>
              <a:buSzPct val="90000"/>
              <a:buFont typeface="Wingdings 3" panose="05040102010807070707" pitchFamily="18" charset="2"/>
              <a:buNone/>
              <a:defRPr sz="1300" b="0" kern="1200" cap="none" baseline="0">
                <a:solidFill>
                  <a:schemeClr val="tx1"/>
                </a:solidFill>
                <a:latin typeface="Nunito Sans ExtraBold" panose="00000900000000000000" pitchFamily="2" charset="0"/>
                <a:ea typeface="+mn-ea"/>
                <a:cs typeface="+mn-cs"/>
              </a:defRPr>
            </a:lvl1pPr>
            <a:lvl2pPr marL="493200" indent="-219600" algn="l" defTabSz="1007943" rtl="0" eaLnBrk="1" latinLnBrk="0" hangingPunct="1">
              <a:lnSpc>
                <a:spcPct val="100000"/>
              </a:lnSpc>
              <a:spcBef>
                <a:spcPts val="600"/>
              </a:spcBef>
              <a:spcAft>
                <a:spcPts val="0"/>
              </a:spcAft>
              <a:buClr>
                <a:srgbClr val="4B5F80"/>
              </a:buClr>
              <a:buSzPct val="100000"/>
              <a:buFont typeface="Arial" panose="020B0604020202020204" pitchFamily="34" charset="0"/>
              <a:buChar char="•"/>
              <a:defRPr sz="1400" b="0" kern="1200">
                <a:solidFill>
                  <a:schemeClr val="tx1"/>
                </a:solidFill>
                <a:latin typeface="+mn-lt"/>
                <a:ea typeface="+mn-ea"/>
                <a:cs typeface="+mn-cs"/>
              </a:defRPr>
            </a:lvl2pPr>
            <a:lvl3pPr marL="756000" indent="-219600" algn="l" defTabSz="1007943" rtl="0" eaLnBrk="1" latinLnBrk="0" hangingPunct="1">
              <a:lnSpc>
                <a:spcPct val="100000"/>
              </a:lnSpc>
              <a:spcBef>
                <a:spcPts val="600"/>
              </a:spcBef>
              <a:spcAft>
                <a:spcPts val="0"/>
              </a:spcAft>
              <a:buClr>
                <a:srgbClr val="4B5F80"/>
              </a:buClr>
              <a:buFont typeface="Cambria" panose="02040503050406030204" pitchFamily="18" charset="0"/>
              <a:buChar char="⎼"/>
              <a:defRPr sz="1300" kern="1200">
                <a:solidFill>
                  <a:schemeClr val="tx1"/>
                </a:solidFill>
                <a:latin typeface="+mn-lt"/>
                <a:ea typeface="+mn-ea"/>
                <a:cs typeface="+mn-cs"/>
              </a:defRPr>
            </a:lvl3pPr>
            <a:lvl4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4pPr>
            <a:lvl5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5pPr>
            <a:lvl6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6pPr>
            <a:lvl7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7pPr>
            <a:lvl8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8pPr>
            <a:lvl9pPr marL="1065600" indent="-230400" algn="l" defTabSz="1007943" rtl="0" eaLnBrk="1" latinLnBrk="0" hangingPunct="1">
              <a:lnSpc>
                <a:spcPct val="100000"/>
              </a:lnSpc>
              <a:spcBef>
                <a:spcPts val="600"/>
              </a:spcBef>
              <a:spcAft>
                <a:spcPts val="0"/>
              </a:spcAft>
              <a:buClr>
                <a:srgbClr val="4B5F80"/>
              </a:buClr>
              <a:buFont typeface="Wingdings 3" panose="05040102010807070707" pitchFamily="18" charset="2"/>
              <a:buChar char="Ò"/>
              <a:defRPr sz="1200" kern="1200">
                <a:solidFill>
                  <a:schemeClr val="tx1"/>
                </a:solidFill>
                <a:latin typeface="+mn-lt"/>
                <a:ea typeface="+mn-ea"/>
                <a:cs typeface="+mn-cs"/>
              </a:defRPr>
            </a:lvl9pPr>
          </a:lstStyle>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Returns are independent of capital markets.</a:t>
            </a:r>
          </a:p>
          <a:p>
            <a:pPr marL="285750" indent="-285750">
              <a:buFont typeface="Arial" panose="020B0604020202020204" pitchFamily="34" charset="0"/>
              <a:buChar char="•"/>
            </a:pPr>
            <a:r>
              <a:rPr lang="en-US" sz="1100">
                <a:solidFill>
                  <a:schemeClr val="tx2"/>
                </a:solidFill>
                <a:latin typeface="Nunito Sans" panose="00000500000000000000" pitchFamily="2" charset="0"/>
                <a:ea typeface="MS Mincho"/>
                <a:cs typeface="Times New Roman"/>
              </a:rPr>
              <a:t>Exits achievable even during downturns.</a:t>
            </a:r>
          </a:p>
          <a:p>
            <a:pPr marL="285750" indent="-285750">
              <a:buFont typeface="Arial" panose="020B0604020202020204" pitchFamily="34" charset="0"/>
              <a:buChar char="•"/>
            </a:pPr>
            <a:endParaRPr lang="en-US" sz="1100">
              <a:solidFill>
                <a:schemeClr val="tx2"/>
              </a:solidFill>
              <a:latin typeface="Nunito Sans" panose="00000500000000000000" pitchFamily="2" charset="0"/>
              <a:ea typeface="MS Mincho"/>
              <a:cs typeface="Times New Roman"/>
            </a:endParaRPr>
          </a:p>
        </p:txBody>
      </p:sp>
      <p:sp>
        <p:nvSpPr>
          <p:cNvPr id="44" name="TextBox 43">
            <a:extLst>
              <a:ext uri="{FF2B5EF4-FFF2-40B4-BE49-F238E27FC236}">
                <a16:creationId xmlns:a16="http://schemas.microsoft.com/office/drawing/2014/main" id="{61646D25-3D1D-FCC7-6738-E8C2590205E7}"/>
              </a:ext>
            </a:extLst>
          </p:cNvPr>
          <p:cNvSpPr txBox="1"/>
          <p:nvPr/>
        </p:nvSpPr>
        <p:spPr>
          <a:xfrm>
            <a:off x="8755135" y="2126018"/>
            <a:ext cx="1773621" cy="268107"/>
          </a:xfrm>
          <a:prstGeom prst="rect">
            <a:avLst/>
          </a:prstGeom>
          <a:noFill/>
        </p:spPr>
        <p:txBody>
          <a:bodyPr vert="horz" wrap="square" lIns="0" tIns="0" rIns="0" bIns="0" rtlCol="0">
            <a:noAutofit/>
          </a:bodyPr>
          <a:lstStyle/>
          <a:p>
            <a:pPr algn="l"/>
            <a:r>
              <a:rPr lang="en-US" sz="1200" b="1">
                <a:solidFill>
                  <a:schemeClr val="accent4"/>
                </a:solidFill>
              </a:rPr>
              <a:t>8 - 10 years </a:t>
            </a:r>
            <a:endParaRPr lang="en-CH" sz="1200" b="1">
              <a:solidFill>
                <a:schemeClr val="accent4"/>
              </a:solidFill>
            </a:endParaRPr>
          </a:p>
        </p:txBody>
      </p:sp>
      <p:sp>
        <p:nvSpPr>
          <p:cNvPr id="45" name="TextBox 44">
            <a:extLst>
              <a:ext uri="{FF2B5EF4-FFF2-40B4-BE49-F238E27FC236}">
                <a16:creationId xmlns:a16="http://schemas.microsoft.com/office/drawing/2014/main" id="{BB6365A6-26AD-0943-1376-C2FD32B8AE94}"/>
              </a:ext>
            </a:extLst>
          </p:cNvPr>
          <p:cNvSpPr txBox="1"/>
          <p:nvPr/>
        </p:nvSpPr>
        <p:spPr>
          <a:xfrm>
            <a:off x="8000249" y="6256798"/>
            <a:ext cx="2156865" cy="304282"/>
          </a:xfrm>
          <a:prstGeom prst="rect">
            <a:avLst/>
          </a:prstGeom>
          <a:noFill/>
        </p:spPr>
        <p:txBody>
          <a:bodyPr vert="horz" wrap="square" lIns="0" tIns="0" rIns="0" bIns="0" rtlCol="0">
            <a:noAutofit/>
          </a:bodyPr>
          <a:lstStyle/>
          <a:p>
            <a:pPr algn="ctr"/>
            <a:r>
              <a:rPr lang="fi-FI" sz="1400" b="1">
                <a:solidFill>
                  <a:srgbClr val="AC5D85"/>
                </a:solidFill>
              </a:rPr>
              <a:t>15-20 % </a:t>
            </a:r>
            <a:endParaRPr lang="en-CH" sz="1400" b="1">
              <a:solidFill>
                <a:srgbClr val="AC5D85"/>
              </a:solidFill>
            </a:endParaRPr>
          </a:p>
        </p:txBody>
      </p:sp>
    </p:spTree>
    <p:extLst>
      <p:ext uri="{BB962C8B-B14F-4D97-AF65-F5344CB8AC3E}">
        <p14:creationId xmlns:p14="http://schemas.microsoft.com/office/powerpoint/2010/main" val="1287269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4C8C67-106A-41B6-BBD3-EE59A7DF301B}"/>
              </a:ext>
            </a:extLst>
          </p:cNvPr>
          <p:cNvSpPr/>
          <p:nvPr/>
        </p:nvSpPr>
        <p:spPr>
          <a:xfrm>
            <a:off x="1853183" y="2141986"/>
            <a:ext cx="4563367" cy="21600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Expert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Expert: </a:t>
            </a:r>
            <a:r>
              <a:rPr lang="en-US" sz="1100" noProof="0" dirty="0">
                <a:solidFill>
                  <a:schemeClr val="tx1"/>
                </a:solidFill>
              </a:rPr>
              <a:t>your dedicated Investment Advisor brings you personalized advice, and second opinion when you need it</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Proactive: </a:t>
            </a:r>
            <a:r>
              <a:rPr lang="en-US" sz="1100" noProof="0" dirty="0">
                <a:solidFill>
                  <a:schemeClr val="tx1"/>
                </a:solidFill>
              </a:rPr>
              <a:t>we stay on top of your portfolios thanks to active monitoring of risk, performance, and untapped opportunities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Customized: </a:t>
            </a:r>
            <a:r>
              <a:rPr lang="en-US" sz="1100" noProof="0" dirty="0">
                <a:solidFill>
                  <a:schemeClr val="tx1"/>
                </a:solidFill>
              </a:rPr>
              <a:t>share your convictions, ideas, areas of interest or opportunities you want us to look for, and we will formulate tailor-made investment strategies</a:t>
            </a:r>
          </a:p>
        </p:txBody>
      </p:sp>
      <p:sp>
        <p:nvSpPr>
          <p:cNvPr id="9" name="Rectangle 8">
            <a:extLst>
              <a:ext uri="{FF2B5EF4-FFF2-40B4-BE49-F238E27FC236}">
                <a16:creationId xmlns:a16="http://schemas.microsoft.com/office/drawing/2014/main" id="{856B146C-B49F-4E7B-A0FA-371C09821FC2}"/>
              </a:ext>
            </a:extLst>
          </p:cNvPr>
          <p:cNvSpPr/>
          <p:nvPr/>
        </p:nvSpPr>
        <p:spPr>
          <a:xfrm>
            <a:off x="871842" y="4606901"/>
            <a:ext cx="4556745" cy="2160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1007943">
              <a:spcBef>
                <a:spcPts val="600"/>
              </a:spcBef>
              <a:spcAft>
                <a:spcPts val="600"/>
              </a:spcAft>
              <a:buClr>
                <a:srgbClr val="FFA400"/>
              </a:buClr>
              <a:buSzPct val="90000"/>
            </a:pPr>
            <a:r>
              <a:rPr lang="en-US" sz="1200" b="1" noProof="0" dirty="0">
                <a:solidFill>
                  <a:schemeClr val="accent4"/>
                </a:solidFill>
              </a:rPr>
              <a:t>Advisory Select</a:t>
            </a:r>
            <a:endParaRPr lang="en-US" sz="12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Trusted Advisor: </a:t>
            </a:r>
            <a:r>
              <a:rPr lang="en-US" sz="1100" noProof="0" dirty="0">
                <a:solidFill>
                  <a:schemeClr val="tx1"/>
                </a:solidFill>
              </a:rPr>
              <a:t>your relationship manager guides you through every step on your investment journey </a:t>
            </a:r>
            <a:endParaRPr lang="en-US" sz="1100" b="1" noProof="0" dirty="0">
              <a:solidFill>
                <a:schemeClr val="tx1"/>
              </a:solidFill>
            </a:endParaRP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On-demand: </a:t>
            </a:r>
            <a:r>
              <a:rPr lang="en-US" sz="1100" noProof="0" dirty="0">
                <a:solidFill>
                  <a:schemeClr val="tx1"/>
                </a:solidFill>
              </a:rPr>
              <a:t>advice from your relationship manager to meet your investment needs</a:t>
            </a:r>
          </a:p>
          <a:p>
            <a:pPr marL="273600" indent="-273600" defTabSz="1007943">
              <a:spcBef>
                <a:spcPts val="600"/>
              </a:spcBef>
              <a:spcAft>
                <a:spcPts val="600"/>
              </a:spcAft>
              <a:buClr>
                <a:srgbClr val="FFA400"/>
              </a:buClr>
              <a:buSzPct val="90000"/>
              <a:buFont typeface="Wingdings 3" panose="05040102010807070707" pitchFamily="18" charset="2"/>
              <a:buChar char=""/>
            </a:pPr>
            <a:r>
              <a:rPr lang="en-US" sz="1100" b="1" noProof="0" dirty="0">
                <a:solidFill>
                  <a:schemeClr val="tx1"/>
                </a:solidFill>
              </a:rPr>
              <a:t>Access: </a:t>
            </a:r>
            <a:r>
              <a:rPr lang="en-US" sz="1100" noProof="0" dirty="0">
                <a:solidFill>
                  <a:schemeClr val="tx1"/>
                </a:solidFill>
              </a:rPr>
              <a:t>to all exclusive </a:t>
            </a:r>
            <a:r>
              <a:rPr lang="en-US" sz="1100" noProof="0" dirty="0" err="1">
                <a:solidFill>
                  <a:schemeClr val="tx1"/>
                </a:solidFill>
              </a:rPr>
              <a:t>Syz</a:t>
            </a:r>
            <a:r>
              <a:rPr lang="en-US" sz="1100" noProof="0" dirty="0">
                <a:solidFill>
                  <a:schemeClr val="tx1"/>
                </a:solidFill>
              </a:rPr>
              <a:t> investment insights and ideas, along with selection of </a:t>
            </a:r>
            <a:r>
              <a:rPr lang="en-US" sz="1100" noProof="0" dirty="0" err="1">
                <a:solidFill>
                  <a:schemeClr val="tx1"/>
                </a:solidFill>
              </a:rPr>
              <a:t>Syz</a:t>
            </a:r>
            <a:r>
              <a:rPr lang="en-US" sz="1100" noProof="0" dirty="0">
                <a:solidFill>
                  <a:schemeClr val="tx1"/>
                </a:solidFill>
              </a:rPr>
              <a:t> investment strategies matching your risk appetite and investment goals</a:t>
            </a:r>
          </a:p>
        </p:txBody>
      </p:sp>
      <p:sp>
        <p:nvSpPr>
          <p:cNvPr id="2" name="Title 1">
            <a:extLst>
              <a:ext uri="{FF2B5EF4-FFF2-40B4-BE49-F238E27FC236}">
                <a16:creationId xmlns:a16="http://schemas.microsoft.com/office/drawing/2014/main" id="{EF3F413F-07CB-44BB-B286-48D92AEB8587}"/>
              </a:ext>
            </a:extLst>
          </p:cNvPr>
          <p:cNvSpPr>
            <a:spLocks noGrp="1"/>
          </p:cNvSpPr>
          <p:nvPr>
            <p:ph type="title"/>
          </p:nvPr>
        </p:nvSpPr>
        <p:spPr>
          <a:xfrm>
            <a:off x="665163" y="1032438"/>
            <a:ext cx="9398001" cy="864586"/>
          </a:xfrm>
        </p:spPr>
        <p:txBody>
          <a:bodyPr/>
          <a:lstStyle/>
          <a:p>
            <a:r>
              <a:rPr lang="en-US" noProof="0" dirty="0" err="1"/>
              <a:t>Syz</a:t>
            </a:r>
            <a:r>
              <a:rPr lang="en-US" noProof="0" dirty="0"/>
              <a:t> Advisory Services : Our offering for your needs  </a:t>
            </a:r>
          </a:p>
        </p:txBody>
      </p:sp>
      <p:sp>
        <p:nvSpPr>
          <p:cNvPr id="10" name="Person">
            <a:extLst>
              <a:ext uri="{FF2B5EF4-FFF2-40B4-BE49-F238E27FC236}">
                <a16:creationId xmlns:a16="http://schemas.microsoft.com/office/drawing/2014/main" id="{B01D87B5-8619-4CC3-8EA6-BF145167153C}"/>
              </a:ext>
            </a:extLst>
          </p:cNvPr>
          <p:cNvSpPr>
            <a:spLocks noChangeAspect="1" noEditPoints="1"/>
          </p:cNvSpPr>
          <p:nvPr>
            <p:custDataLst>
              <p:tags r:id="rId1"/>
            </p:custDataLst>
          </p:nvPr>
        </p:nvSpPr>
        <p:spPr bwMode="auto">
          <a:xfrm>
            <a:off x="871843" y="4174181"/>
            <a:ext cx="406400" cy="406400"/>
          </a:xfrm>
          <a:custGeom>
            <a:avLst/>
            <a:gdLst>
              <a:gd name="T0" fmla="*/ 1196 w 2304"/>
              <a:gd name="T1" fmla="*/ 1441 h 2304"/>
              <a:gd name="T2" fmla="*/ 1292 w 2304"/>
              <a:gd name="T3" fmla="*/ 1447 h 2304"/>
              <a:gd name="T4" fmla="*/ 1398 w 2304"/>
              <a:gd name="T5" fmla="*/ 1460 h 2304"/>
              <a:gd name="T6" fmla="*/ 1508 w 2304"/>
              <a:gd name="T7" fmla="*/ 1479 h 2304"/>
              <a:gd name="T8" fmla="*/ 1621 w 2304"/>
              <a:gd name="T9" fmla="*/ 1504 h 2304"/>
              <a:gd name="T10" fmla="*/ 1735 w 2304"/>
              <a:gd name="T11" fmla="*/ 1536 h 2304"/>
              <a:gd name="T12" fmla="*/ 1845 w 2304"/>
              <a:gd name="T13" fmla="*/ 1574 h 2304"/>
              <a:gd name="T14" fmla="*/ 1950 w 2304"/>
              <a:gd name="T15" fmla="*/ 1618 h 2304"/>
              <a:gd name="T16" fmla="*/ 2046 w 2304"/>
              <a:gd name="T17" fmla="*/ 1668 h 2304"/>
              <a:gd name="T18" fmla="*/ 2132 w 2304"/>
              <a:gd name="T19" fmla="*/ 1726 h 2304"/>
              <a:gd name="T20" fmla="*/ 2202 w 2304"/>
              <a:gd name="T21" fmla="*/ 1789 h 2304"/>
              <a:gd name="T22" fmla="*/ 2257 w 2304"/>
              <a:gd name="T23" fmla="*/ 1858 h 2304"/>
              <a:gd name="T24" fmla="*/ 2291 w 2304"/>
              <a:gd name="T25" fmla="*/ 1934 h 2304"/>
              <a:gd name="T26" fmla="*/ 2304 w 2304"/>
              <a:gd name="T27" fmla="*/ 2016 h 2304"/>
              <a:gd name="T28" fmla="*/ 0 w 2304"/>
              <a:gd name="T29" fmla="*/ 2304 h 2304"/>
              <a:gd name="T30" fmla="*/ 3 w 2304"/>
              <a:gd name="T31" fmla="*/ 1974 h 2304"/>
              <a:gd name="T32" fmla="*/ 27 w 2304"/>
              <a:gd name="T33" fmla="*/ 1896 h 2304"/>
              <a:gd name="T34" fmla="*/ 71 w 2304"/>
              <a:gd name="T35" fmla="*/ 1822 h 2304"/>
              <a:gd name="T36" fmla="*/ 135 w 2304"/>
              <a:gd name="T37" fmla="*/ 1756 h 2304"/>
              <a:gd name="T38" fmla="*/ 214 w 2304"/>
              <a:gd name="T39" fmla="*/ 1697 h 2304"/>
              <a:gd name="T40" fmla="*/ 305 w 2304"/>
              <a:gd name="T41" fmla="*/ 1643 h 2304"/>
              <a:gd name="T42" fmla="*/ 405 w 2304"/>
              <a:gd name="T43" fmla="*/ 1595 h 2304"/>
              <a:gd name="T44" fmla="*/ 513 w 2304"/>
              <a:gd name="T45" fmla="*/ 1554 h 2304"/>
              <a:gd name="T46" fmla="*/ 625 w 2304"/>
              <a:gd name="T47" fmla="*/ 1520 h 2304"/>
              <a:gd name="T48" fmla="*/ 739 w 2304"/>
              <a:gd name="T49" fmla="*/ 1490 h 2304"/>
              <a:gd name="T50" fmla="*/ 851 w 2304"/>
              <a:gd name="T51" fmla="*/ 1468 h 2304"/>
              <a:gd name="T52" fmla="*/ 959 w 2304"/>
              <a:gd name="T53" fmla="*/ 1453 h 2304"/>
              <a:gd name="T54" fmla="*/ 1061 w 2304"/>
              <a:gd name="T55" fmla="*/ 1443 h 2304"/>
              <a:gd name="T56" fmla="*/ 1152 w 2304"/>
              <a:gd name="T57" fmla="*/ 1440 h 2304"/>
              <a:gd name="T58" fmla="*/ 1211 w 2304"/>
              <a:gd name="T59" fmla="*/ 3 h 2304"/>
              <a:gd name="T60" fmla="*/ 1324 w 2304"/>
              <a:gd name="T61" fmla="*/ 26 h 2304"/>
              <a:gd name="T62" fmla="*/ 1426 w 2304"/>
              <a:gd name="T63" fmla="*/ 69 h 2304"/>
              <a:gd name="T64" fmla="*/ 1519 w 2304"/>
              <a:gd name="T65" fmla="*/ 132 h 2304"/>
              <a:gd name="T66" fmla="*/ 1596 w 2304"/>
              <a:gd name="T67" fmla="*/ 209 h 2304"/>
              <a:gd name="T68" fmla="*/ 1659 w 2304"/>
              <a:gd name="T69" fmla="*/ 302 h 2304"/>
              <a:gd name="T70" fmla="*/ 1702 w 2304"/>
              <a:gd name="T71" fmla="*/ 404 h 2304"/>
              <a:gd name="T72" fmla="*/ 1725 w 2304"/>
              <a:gd name="T73" fmla="*/ 517 h 2304"/>
              <a:gd name="T74" fmla="*/ 1725 w 2304"/>
              <a:gd name="T75" fmla="*/ 635 h 2304"/>
              <a:gd name="T76" fmla="*/ 1702 w 2304"/>
              <a:gd name="T77" fmla="*/ 748 h 2304"/>
              <a:gd name="T78" fmla="*/ 1659 w 2304"/>
              <a:gd name="T79" fmla="*/ 850 h 2304"/>
              <a:gd name="T80" fmla="*/ 1596 w 2304"/>
              <a:gd name="T81" fmla="*/ 943 h 2304"/>
              <a:gd name="T82" fmla="*/ 1519 w 2304"/>
              <a:gd name="T83" fmla="*/ 1020 h 2304"/>
              <a:gd name="T84" fmla="*/ 1426 w 2304"/>
              <a:gd name="T85" fmla="*/ 1083 h 2304"/>
              <a:gd name="T86" fmla="*/ 1324 w 2304"/>
              <a:gd name="T87" fmla="*/ 1126 h 2304"/>
              <a:gd name="T88" fmla="*/ 1211 w 2304"/>
              <a:gd name="T89" fmla="*/ 1149 h 2304"/>
              <a:gd name="T90" fmla="*/ 1093 w 2304"/>
              <a:gd name="T91" fmla="*/ 1149 h 2304"/>
              <a:gd name="T92" fmla="*/ 980 w 2304"/>
              <a:gd name="T93" fmla="*/ 1126 h 2304"/>
              <a:gd name="T94" fmla="*/ 878 w 2304"/>
              <a:gd name="T95" fmla="*/ 1083 h 2304"/>
              <a:gd name="T96" fmla="*/ 785 w 2304"/>
              <a:gd name="T97" fmla="*/ 1020 h 2304"/>
              <a:gd name="T98" fmla="*/ 708 w 2304"/>
              <a:gd name="T99" fmla="*/ 943 h 2304"/>
              <a:gd name="T100" fmla="*/ 645 w 2304"/>
              <a:gd name="T101" fmla="*/ 850 h 2304"/>
              <a:gd name="T102" fmla="*/ 602 w 2304"/>
              <a:gd name="T103" fmla="*/ 748 h 2304"/>
              <a:gd name="T104" fmla="*/ 579 w 2304"/>
              <a:gd name="T105" fmla="*/ 635 h 2304"/>
              <a:gd name="T106" fmla="*/ 579 w 2304"/>
              <a:gd name="T107" fmla="*/ 517 h 2304"/>
              <a:gd name="T108" fmla="*/ 602 w 2304"/>
              <a:gd name="T109" fmla="*/ 404 h 2304"/>
              <a:gd name="T110" fmla="*/ 645 w 2304"/>
              <a:gd name="T111" fmla="*/ 302 h 2304"/>
              <a:gd name="T112" fmla="*/ 708 w 2304"/>
              <a:gd name="T113" fmla="*/ 209 h 2304"/>
              <a:gd name="T114" fmla="*/ 785 w 2304"/>
              <a:gd name="T115" fmla="*/ 132 h 2304"/>
              <a:gd name="T116" fmla="*/ 878 w 2304"/>
              <a:gd name="T117" fmla="*/ 69 h 2304"/>
              <a:gd name="T118" fmla="*/ 980 w 2304"/>
              <a:gd name="T119" fmla="*/ 26 h 2304"/>
              <a:gd name="T120" fmla="*/ 1093 w 2304"/>
              <a:gd name="T121" fmla="*/ 3 h 2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04" h="2304">
                <a:moveTo>
                  <a:pt x="1152" y="1440"/>
                </a:moveTo>
                <a:lnTo>
                  <a:pt x="1196" y="1441"/>
                </a:lnTo>
                <a:lnTo>
                  <a:pt x="1243" y="1443"/>
                </a:lnTo>
                <a:lnTo>
                  <a:pt x="1292" y="1447"/>
                </a:lnTo>
                <a:lnTo>
                  <a:pt x="1345" y="1453"/>
                </a:lnTo>
                <a:lnTo>
                  <a:pt x="1398" y="1460"/>
                </a:lnTo>
                <a:lnTo>
                  <a:pt x="1453" y="1468"/>
                </a:lnTo>
                <a:lnTo>
                  <a:pt x="1508" y="1479"/>
                </a:lnTo>
                <a:lnTo>
                  <a:pt x="1565" y="1490"/>
                </a:lnTo>
                <a:lnTo>
                  <a:pt x="1621" y="1504"/>
                </a:lnTo>
                <a:lnTo>
                  <a:pt x="1679" y="1520"/>
                </a:lnTo>
                <a:lnTo>
                  <a:pt x="1735" y="1536"/>
                </a:lnTo>
                <a:lnTo>
                  <a:pt x="1791" y="1554"/>
                </a:lnTo>
                <a:lnTo>
                  <a:pt x="1845" y="1574"/>
                </a:lnTo>
                <a:lnTo>
                  <a:pt x="1899" y="1595"/>
                </a:lnTo>
                <a:lnTo>
                  <a:pt x="1950" y="1618"/>
                </a:lnTo>
                <a:lnTo>
                  <a:pt x="1999" y="1643"/>
                </a:lnTo>
                <a:lnTo>
                  <a:pt x="2046" y="1668"/>
                </a:lnTo>
                <a:lnTo>
                  <a:pt x="2090" y="1697"/>
                </a:lnTo>
                <a:lnTo>
                  <a:pt x="2132" y="1726"/>
                </a:lnTo>
                <a:lnTo>
                  <a:pt x="2169" y="1756"/>
                </a:lnTo>
                <a:lnTo>
                  <a:pt x="2202" y="1789"/>
                </a:lnTo>
                <a:lnTo>
                  <a:pt x="2233" y="1822"/>
                </a:lnTo>
                <a:lnTo>
                  <a:pt x="2257" y="1858"/>
                </a:lnTo>
                <a:lnTo>
                  <a:pt x="2277" y="1896"/>
                </a:lnTo>
                <a:lnTo>
                  <a:pt x="2291" y="1934"/>
                </a:lnTo>
                <a:lnTo>
                  <a:pt x="2301" y="1974"/>
                </a:lnTo>
                <a:lnTo>
                  <a:pt x="2304" y="2016"/>
                </a:lnTo>
                <a:lnTo>
                  <a:pt x="2304" y="2304"/>
                </a:lnTo>
                <a:lnTo>
                  <a:pt x="0" y="2304"/>
                </a:lnTo>
                <a:lnTo>
                  <a:pt x="0" y="2016"/>
                </a:lnTo>
                <a:lnTo>
                  <a:pt x="3" y="1974"/>
                </a:lnTo>
                <a:lnTo>
                  <a:pt x="13" y="1934"/>
                </a:lnTo>
                <a:lnTo>
                  <a:pt x="27" y="1896"/>
                </a:lnTo>
                <a:lnTo>
                  <a:pt x="47" y="1858"/>
                </a:lnTo>
                <a:lnTo>
                  <a:pt x="71" y="1822"/>
                </a:lnTo>
                <a:lnTo>
                  <a:pt x="102" y="1789"/>
                </a:lnTo>
                <a:lnTo>
                  <a:pt x="135" y="1756"/>
                </a:lnTo>
                <a:lnTo>
                  <a:pt x="172" y="1726"/>
                </a:lnTo>
                <a:lnTo>
                  <a:pt x="214" y="1697"/>
                </a:lnTo>
                <a:lnTo>
                  <a:pt x="258" y="1668"/>
                </a:lnTo>
                <a:lnTo>
                  <a:pt x="305" y="1643"/>
                </a:lnTo>
                <a:lnTo>
                  <a:pt x="354" y="1618"/>
                </a:lnTo>
                <a:lnTo>
                  <a:pt x="405" y="1595"/>
                </a:lnTo>
                <a:lnTo>
                  <a:pt x="459" y="1574"/>
                </a:lnTo>
                <a:lnTo>
                  <a:pt x="513" y="1554"/>
                </a:lnTo>
                <a:lnTo>
                  <a:pt x="569" y="1536"/>
                </a:lnTo>
                <a:lnTo>
                  <a:pt x="625" y="1520"/>
                </a:lnTo>
                <a:lnTo>
                  <a:pt x="683" y="1504"/>
                </a:lnTo>
                <a:lnTo>
                  <a:pt x="739" y="1490"/>
                </a:lnTo>
                <a:lnTo>
                  <a:pt x="796" y="1479"/>
                </a:lnTo>
                <a:lnTo>
                  <a:pt x="851" y="1468"/>
                </a:lnTo>
                <a:lnTo>
                  <a:pt x="906" y="1460"/>
                </a:lnTo>
                <a:lnTo>
                  <a:pt x="959" y="1453"/>
                </a:lnTo>
                <a:lnTo>
                  <a:pt x="1012" y="1447"/>
                </a:lnTo>
                <a:lnTo>
                  <a:pt x="1061" y="1443"/>
                </a:lnTo>
                <a:lnTo>
                  <a:pt x="1108" y="1441"/>
                </a:lnTo>
                <a:lnTo>
                  <a:pt x="1152" y="1440"/>
                </a:lnTo>
                <a:close/>
                <a:moveTo>
                  <a:pt x="1152" y="0"/>
                </a:moveTo>
                <a:lnTo>
                  <a:pt x="1211" y="3"/>
                </a:lnTo>
                <a:lnTo>
                  <a:pt x="1268" y="12"/>
                </a:lnTo>
                <a:lnTo>
                  <a:pt x="1324" y="26"/>
                </a:lnTo>
                <a:lnTo>
                  <a:pt x="1376" y="45"/>
                </a:lnTo>
                <a:lnTo>
                  <a:pt x="1426" y="69"/>
                </a:lnTo>
                <a:lnTo>
                  <a:pt x="1475" y="98"/>
                </a:lnTo>
                <a:lnTo>
                  <a:pt x="1519" y="132"/>
                </a:lnTo>
                <a:lnTo>
                  <a:pt x="1559" y="169"/>
                </a:lnTo>
                <a:lnTo>
                  <a:pt x="1596" y="209"/>
                </a:lnTo>
                <a:lnTo>
                  <a:pt x="1630" y="253"/>
                </a:lnTo>
                <a:lnTo>
                  <a:pt x="1659" y="302"/>
                </a:lnTo>
                <a:lnTo>
                  <a:pt x="1683" y="352"/>
                </a:lnTo>
                <a:lnTo>
                  <a:pt x="1702" y="404"/>
                </a:lnTo>
                <a:lnTo>
                  <a:pt x="1716" y="460"/>
                </a:lnTo>
                <a:lnTo>
                  <a:pt x="1725" y="517"/>
                </a:lnTo>
                <a:lnTo>
                  <a:pt x="1728" y="576"/>
                </a:lnTo>
                <a:lnTo>
                  <a:pt x="1725" y="635"/>
                </a:lnTo>
                <a:lnTo>
                  <a:pt x="1716" y="692"/>
                </a:lnTo>
                <a:lnTo>
                  <a:pt x="1702" y="748"/>
                </a:lnTo>
                <a:lnTo>
                  <a:pt x="1683" y="800"/>
                </a:lnTo>
                <a:lnTo>
                  <a:pt x="1659" y="850"/>
                </a:lnTo>
                <a:lnTo>
                  <a:pt x="1630" y="899"/>
                </a:lnTo>
                <a:lnTo>
                  <a:pt x="1596" y="943"/>
                </a:lnTo>
                <a:lnTo>
                  <a:pt x="1559" y="983"/>
                </a:lnTo>
                <a:lnTo>
                  <a:pt x="1519" y="1020"/>
                </a:lnTo>
                <a:lnTo>
                  <a:pt x="1475" y="1054"/>
                </a:lnTo>
                <a:lnTo>
                  <a:pt x="1426" y="1083"/>
                </a:lnTo>
                <a:lnTo>
                  <a:pt x="1376" y="1107"/>
                </a:lnTo>
                <a:lnTo>
                  <a:pt x="1324" y="1126"/>
                </a:lnTo>
                <a:lnTo>
                  <a:pt x="1268" y="1140"/>
                </a:lnTo>
                <a:lnTo>
                  <a:pt x="1211" y="1149"/>
                </a:lnTo>
                <a:lnTo>
                  <a:pt x="1152" y="1152"/>
                </a:lnTo>
                <a:lnTo>
                  <a:pt x="1093" y="1149"/>
                </a:lnTo>
                <a:lnTo>
                  <a:pt x="1036" y="1140"/>
                </a:lnTo>
                <a:lnTo>
                  <a:pt x="980" y="1126"/>
                </a:lnTo>
                <a:lnTo>
                  <a:pt x="928" y="1107"/>
                </a:lnTo>
                <a:lnTo>
                  <a:pt x="878" y="1083"/>
                </a:lnTo>
                <a:lnTo>
                  <a:pt x="829" y="1054"/>
                </a:lnTo>
                <a:lnTo>
                  <a:pt x="785" y="1020"/>
                </a:lnTo>
                <a:lnTo>
                  <a:pt x="745" y="983"/>
                </a:lnTo>
                <a:lnTo>
                  <a:pt x="708" y="943"/>
                </a:lnTo>
                <a:lnTo>
                  <a:pt x="674" y="899"/>
                </a:lnTo>
                <a:lnTo>
                  <a:pt x="645" y="850"/>
                </a:lnTo>
                <a:lnTo>
                  <a:pt x="621" y="800"/>
                </a:lnTo>
                <a:lnTo>
                  <a:pt x="602" y="748"/>
                </a:lnTo>
                <a:lnTo>
                  <a:pt x="588" y="692"/>
                </a:lnTo>
                <a:lnTo>
                  <a:pt x="579" y="635"/>
                </a:lnTo>
                <a:lnTo>
                  <a:pt x="576" y="576"/>
                </a:lnTo>
                <a:lnTo>
                  <a:pt x="579" y="517"/>
                </a:lnTo>
                <a:lnTo>
                  <a:pt x="588" y="460"/>
                </a:lnTo>
                <a:lnTo>
                  <a:pt x="602" y="404"/>
                </a:lnTo>
                <a:lnTo>
                  <a:pt x="621" y="352"/>
                </a:lnTo>
                <a:lnTo>
                  <a:pt x="645" y="302"/>
                </a:lnTo>
                <a:lnTo>
                  <a:pt x="674" y="253"/>
                </a:lnTo>
                <a:lnTo>
                  <a:pt x="708" y="209"/>
                </a:lnTo>
                <a:lnTo>
                  <a:pt x="745" y="169"/>
                </a:lnTo>
                <a:lnTo>
                  <a:pt x="785" y="132"/>
                </a:lnTo>
                <a:lnTo>
                  <a:pt x="829" y="98"/>
                </a:lnTo>
                <a:lnTo>
                  <a:pt x="878" y="69"/>
                </a:lnTo>
                <a:lnTo>
                  <a:pt x="928" y="45"/>
                </a:lnTo>
                <a:lnTo>
                  <a:pt x="980" y="26"/>
                </a:lnTo>
                <a:lnTo>
                  <a:pt x="1036" y="12"/>
                </a:lnTo>
                <a:lnTo>
                  <a:pt x="1093" y="3"/>
                </a:lnTo>
                <a:lnTo>
                  <a:pt x="1152"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sp>
        <p:nvSpPr>
          <p:cNvPr id="12" name="Group add">
            <a:extLst>
              <a:ext uri="{FF2B5EF4-FFF2-40B4-BE49-F238E27FC236}">
                <a16:creationId xmlns:a16="http://schemas.microsoft.com/office/drawing/2014/main" id="{306B04B3-C706-4192-B86F-5908DE03045E}"/>
              </a:ext>
            </a:extLst>
          </p:cNvPr>
          <p:cNvSpPr>
            <a:spLocks noChangeAspect="1" noEditPoints="1"/>
          </p:cNvSpPr>
          <p:nvPr>
            <p:custDataLst>
              <p:tags r:id="rId2"/>
            </p:custDataLst>
          </p:nvPr>
        </p:nvSpPr>
        <p:spPr bwMode="auto">
          <a:xfrm>
            <a:off x="1846564" y="1707745"/>
            <a:ext cx="750277" cy="406400"/>
          </a:xfrm>
          <a:custGeom>
            <a:avLst/>
            <a:gdLst>
              <a:gd name="T0" fmla="*/ 2972 w 3456"/>
              <a:gd name="T1" fmla="*/ 1206 h 1871"/>
              <a:gd name="T2" fmla="*/ 3164 w 3456"/>
              <a:gd name="T3" fmla="*/ 1272 h 1871"/>
              <a:gd name="T4" fmla="*/ 3324 w 3456"/>
              <a:gd name="T5" fmla="*/ 1363 h 1871"/>
              <a:gd name="T6" fmla="*/ 3430 w 3456"/>
              <a:gd name="T7" fmla="*/ 1479 h 1871"/>
              <a:gd name="T8" fmla="*/ 3456 w 3456"/>
              <a:gd name="T9" fmla="*/ 1871 h 1871"/>
              <a:gd name="T10" fmla="*/ 3015 w 3456"/>
              <a:gd name="T11" fmla="*/ 1486 h 1871"/>
              <a:gd name="T12" fmla="*/ 2947 w 3456"/>
              <a:gd name="T13" fmla="*/ 1315 h 1871"/>
              <a:gd name="T14" fmla="*/ 2826 w 3456"/>
              <a:gd name="T15" fmla="*/ 1175 h 1871"/>
              <a:gd name="T16" fmla="*/ 1997 w 3456"/>
              <a:gd name="T17" fmla="*/ 1159 h 1871"/>
              <a:gd name="T18" fmla="*/ 2191 w 3456"/>
              <a:gd name="T19" fmla="*/ 1191 h 1871"/>
              <a:gd name="T20" fmla="*/ 2389 w 3456"/>
              <a:gd name="T21" fmla="*/ 1250 h 1871"/>
              <a:gd name="T22" fmla="*/ 2564 w 3456"/>
              <a:gd name="T23" fmla="*/ 1335 h 1871"/>
              <a:gd name="T24" fmla="*/ 2688 w 3456"/>
              <a:gd name="T25" fmla="*/ 1446 h 1871"/>
              <a:gd name="T26" fmla="*/ 2737 w 3456"/>
              <a:gd name="T27" fmla="*/ 1583 h 1871"/>
              <a:gd name="T28" fmla="*/ 1012 w 3456"/>
              <a:gd name="T29" fmla="*/ 1546 h 1871"/>
              <a:gd name="T30" fmla="*/ 1081 w 3456"/>
              <a:gd name="T31" fmla="*/ 1415 h 1871"/>
              <a:gd name="T32" fmla="*/ 1221 w 3456"/>
              <a:gd name="T33" fmla="*/ 1311 h 1871"/>
              <a:gd name="T34" fmla="*/ 1404 w 3456"/>
              <a:gd name="T35" fmla="*/ 1232 h 1871"/>
              <a:gd name="T36" fmla="*/ 1603 w 3456"/>
              <a:gd name="T37" fmla="*/ 1181 h 1871"/>
              <a:gd name="T38" fmla="*/ 1791 w 3456"/>
              <a:gd name="T39" fmla="*/ 1155 h 1871"/>
              <a:gd name="T40" fmla="*/ 721 w 3456"/>
              <a:gd name="T41" fmla="*/ 288 h 1871"/>
              <a:gd name="T42" fmla="*/ 721 w 3456"/>
              <a:gd name="T43" fmla="*/ 1007 h 1871"/>
              <a:gd name="T44" fmla="*/ 0 w 3456"/>
              <a:gd name="T45" fmla="*/ 1007 h 1871"/>
              <a:gd name="T46" fmla="*/ 2592 w 3456"/>
              <a:gd name="T47" fmla="*/ 0 h 1871"/>
              <a:gd name="T48" fmla="*/ 2782 w 3456"/>
              <a:gd name="T49" fmla="*/ 42 h 1871"/>
              <a:gd name="T50" fmla="*/ 2928 w 3456"/>
              <a:gd name="T51" fmla="*/ 161 h 1871"/>
              <a:gd name="T52" fmla="*/ 3011 w 3456"/>
              <a:gd name="T53" fmla="*/ 332 h 1871"/>
              <a:gd name="T54" fmla="*/ 3011 w 3456"/>
              <a:gd name="T55" fmla="*/ 530 h 1871"/>
              <a:gd name="T56" fmla="*/ 2928 w 3456"/>
              <a:gd name="T57" fmla="*/ 701 h 1871"/>
              <a:gd name="T58" fmla="*/ 2782 w 3456"/>
              <a:gd name="T59" fmla="*/ 820 h 1871"/>
              <a:gd name="T60" fmla="*/ 2592 w 3456"/>
              <a:gd name="T61" fmla="*/ 864 h 1871"/>
              <a:gd name="T62" fmla="*/ 2494 w 3456"/>
              <a:gd name="T63" fmla="*/ 791 h 1871"/>
              <a:gd name="T64" fmla="*/ 2579 w 3456"/>
              <a:gd name="T65" fmla="*/ 560 h 1871"/>
              <a:gd name="T66" fmla="*/ 2579 w 3456"/>
              <a:gd name="T67" fmla="*/ 302 h 1871"/>
              <a:gd name="T68" fmla="*/ 2494 w 3456"/>
              <a:gd name="T69" fmla="*/ 71 h 1871"/>
              <a:gd name="T70" fmla="*/ 2592 w 3456"/>
              <a:gd name="T71" fmla="*/ 0 h 1871"/>
              <a:gd name="T72" fmla="*/ 2018 w 3456"/>
              <a:gd name="T73" fmla="*/ 25 h 1871"/>
              <a:gd name="T74" fmla="*/ 2177 w 3456"/>
              <a:gd name="T75" fmla="*/ 125 h 1871"/>
              <a:gd name="T76" fmla="*/ 2278 w 3456"/>
              <a:gd name="T77" fmla="*/ 285 h 1871"/>
              <a:gd name="T78" fmla="*/ 2300 w 3456"/>
              <a:gd name="T79" fmla="*/ 481 h 1871"/>
              <a:gd name="T80" fmla="*/ 2236 w 3456"/>
              <a:gd name="T81" fmla="*/ 662 h 1871"/>
              <a:gd name="T82" fmla="*/ 2103 w 3456"/>
              <a:gd name="T83" fmla="*/ 795 h 1871"/>
              <a:gd name="T84" fmla="*/ 1923 w 3456"/>
              <a:gd name="T85" fmla="*/ 860 h 1871"/>
              <a:gd name="T86" fmla="*/ 1726 w 3456"/>
              <a:gd name="T87" fmla="*/ 837 h 1871"/>
              <a:gd name="T88" fmla="*/ 1567 w 3456"/>
              <a:gd name="T89" fmla="*/ 737 h 1871"/>
              <a:gd name="T90" fmla="*/ 1465 w 3456"/>
              <a:gd name="T91" fmla="*/ 577 h 1871"/>
              <a:gd name="T92" fmla="*/ 1443 w 3456"/>
              <a:gd name="T93" fmla="*/ 381 h 1871"/>
              <a:gd name="T94" fmla="*/ 1507 w 3456"/>
              <a:gd name="T95" fmla="*/ 200 h 1871"/>
              <a:gd name="T96" fmla="*/ 1640 w 3456"/>
              <a:gd name="T97" fmla="*/ 67 h 1871"/>
              <a:gd name="T98" fmla="*/ 1821 w 3456"/>
              <a:gd name="T99" fmla="*/ 2 h 1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456" h="1870">
                <a:moveTo>
                  <a:pt x="2826" y="1175"/>
                </a:moveTo>
                <a:lnTo>
                  <a:pt x="2874" y="1183"/>
                </a:lnTo>
                <a:lnTo>
                  <a:pt x="2923" y="1194"/>
                </a:lnTo>
                <a:lnTo>
                  <a:pt x="2972" y="1206"/>
                </a:lnTo>
                <a:lnTo>
                  <a:pt x="3021" y="1221"/>
                </a:lnTo>
                <a:lnTo>
                  <a:pt x="3070" y="1236"/>
                </a:lnTo>
                <a:lnTo>
                  <a:pt x="3118" y="1253"/>
                </a:lnTo>
                <a:lnTo>
                  <a:pt x="3164" y="1272"/>
                </a:lnTo>
                <a:lnTo>
                  <a:pt x="3208" y="1292"/>
                </a:lnTo>
                <a:lnTo>
                  <a:pt x="3250" y="1314"/>
                </a:lnTo>
                <a:lnTo>
                  <a:pt x="3288" y="1338"/>
                </a:lnTo>
                <a:lnTo>
                  <a:pt x="3324" y="1363"/>
                </a:lnTo>
                <a:lnTo>
                  <a:pt x="3357" y="1389"/>
                </a:lnTo>
                <a:lnTo>
                  <a:pt x="3386" y="1418"/>
                </a:lnTo>
                <a:lnTo>
                  <a:pt x="3410" y="1448"/>
                </a:lnTo>
                <a:lnTo>
                  <a:pt x="3430" y="1479"/>
                </a:lnTo>
                <a:lnTo>
                  <a:pt x="3443" y="1512"/>
                </a:lnTo>
                <a:lnTo>
                  <a:pt x="3453" y="1546"/>
                </a:lnTo>
                <a:lnTo>
                  <a:pt x="3456" y="1583"/>
                </a:lnTo>
                <a:lnTo>
                  <a:pt x="3456" y="1871"/>
                </a:lnTo>
                <a:lnTo>
                  <a:pt x="3025" y="1871"/>
                </a:lnTo>
                <a:lnTo>
                  <a:pt x="3025" y="1583"/>
                </a:lnTo>
                <a:lnTo>
                  <a:pt x="3021" y="1533"/>
                </a:lnTo>
                <a:lnTo>
                  <a:pt x="3015" y="1486"/>
                </a:lnTo>
                <a:lnTo>
                  <a:pt x="3004" y="1440"/>
                </a:lnTo>
                <a:lnTo>
                  <a:pt x="2989" y="1396"/>
                </a:lnTo>
                <a:lnTo>
                  <a:pt x="2969" y="1355"/>
                </a:lnTo>
                <a:lnTo>
                  <a:pt x="2947" y="1315"/>
                </a:lnTo>
                <a:lnTo>
                  <a:pt x="2921" y="1276"/>
                </a:lnTo>
                <a:lnTo>
                  <a:pt x="2892" y="1241"/>
                </a:lnTo>
                <a:lnTo>
                  <a:pt x="2860" y="1206"/>
                </a:lnTo>
                <a:lnTo>
                  <a:pt x="2826" y="1175"/>
                </a:lnTo>
                <a:close/>
                <a:moveTo>
                  <a:pt x="1873" y="1152"/>
                </a:moveTo>
                <a:lnTo>
                  <a:pt x="1911" y="1152"/>
                </a:lnTo>
                <a:lnTo>
                  <a:pt x="1953" y="1155"/>
                </a:lnTo>
                <a:lnTo>
                  <a:pt x="1997" y="1159"/>
                </a:lnTo>
                <a:lnTo>
                  <a:pt x="2044" y="1164"/>
                </a:lnTo>
                <a:lnTo>
                  <a:pt x="2091" y="1171"/>
                </a:lnTo>
                <a:lnTo>
                  <a:pt x="2141" y="1181"/>
                </a:lnTo>
                <a:lnTo>
                  <a:pt x="2191" y="1191"/>
                </a:lnTo>
                <a:lnTo>
                  <a:pt x="2241" y="1203"/>
                </a:lnTo>
                <a:lnTo>
                  <a:pt x="2290" y="1218"/>
                </a:lnTo>
                <a:lnTo>
                  <a:pt x="2340" y="1232"/>
                </a:lnTo>
                <a:lnTo>
                  <a:pt x="2389" y="1250"/>
                </a:lnTo>
                <a:lnTo>
                  <a:pt x="2435" y="1269"/>
                </a:lnTo>
                <a:lnTo>
                  <a:pt x="2480" y="1289"/>
                </a:lnTo>
                <a:lnTo>
                  <a:pt x="2523" y="1311"/>
                </a:lnTo>
                <a:lnTo>
                  <a:pt x="2564" y="1335"/>
                </a:lnTo>
                <a:lnTo>
                  <a:pt x="2600" y="1360"/>
                </a:lnTo>
                <a:lnTo>
                  <a:pt x="2634" y="1387"/>
                </a:lnTo>
                <a:lnTo>
                  <a:pt x="2663" y="1415"/>
                </a:lnTo>
                <a:lnTo>
                  <a:pt x="2688" y="1446"/>
                </a:lnTo>
                <a:lnTo>
                  <a:pt x="2708" y="1477"/>
                </a:lnTo>
                <a:lnTo>
                  <a:pt x="2724" y="1511"/>
                </a:lnTo>
                <a:lnTo>
                  <a:pt x="2732" y="1546"/>
                </a:lnTo>
                <a:lnTo>
                  <a:pt x="2737" y="1583"/>
                </a:lnTo>
                <a:lnTo>
                  <a:pt x="2737" y="1871"/>
                </a:lnTo>
                <a:lnTo>
                  <a:pt x="1009" y="1871"/>
                </a:lnTo>
                <a:lnTo>
                  <a:pt x="1009" y="1583"/>
                </a:lnTo>
                <a:lnTo>
                  <a:pt x="1012" y="1546"/>
                </a:lnTo>
                <a:lnTo>
                  <a:pt x="1020" y="1511"/>
                </a:lnTo>
                <a:lnTo>
                  <a:pt x="1036" y="1477"/>
                </a:lnTo>
                <a:lnTo>
                  <a:pt x="1056" y="1446"/>
                </a:lnTo>
                <a:lnTo>
                  <a:pt x="1081" y="1415"/>
                </a:lnTo>
                <a:lnTo>
                  <a:pt x="1110" y="1387"/>
                </a:lnTo>
                <a:lnTo>
                  <a:pt x="1144" y="1360"/>
                </a:lnTo>
                <a:lnTo>
                  <a:pt x="1180" y="1335"/>
                </a:lnTo>
                <a:lnTo>
                  <a:pt x="1221" y="1311"/>
                </a:lnTo>
                <a:lnTo>
                  <a:pt x="1264" y="1289"/>
                </a:lnTo>
                <a:lnTo>
                  <a:pt x="1309" y="1269"/>
                </a:lnTo>
                <a:lnTo>
                  <a:pt x="1355" y="1250"/>
                </a:lnTo>
                <a:lnTo>
                  <a:pt x="1404" y="1232"/>
                </a:lnTo>
                <a:lnTo>
                  <a:pt x="1454" y="1218"/>
                </a:lnTo>
                <a:lnTo>
                  <a:pt x="1503" y="1203"/>
                </a:lnTo>
                <a:lnTo>
                  <a:pt x="1553" y="1191"/>
                </a:lnTo>
                <a:lnTo>
                  <a:pt x="1603" y="1181"/>
                </a:lnTo>
                <a:lnTo>
                  <a:pt x="1653" y="1171"/>
                </a:lnTo>
                <a:lnTo>
                  <a:pt x="1700" y="1164"/>
                </a:lnTo>
                <a:lnTo>
                  <a:pt x="1747" y="1159"/>
                </a:lnTo>
                <a:lnTo>
                  <a:pt x="1791" y="1155"/>
                </a:lnTo>
                <a:lnTo>
                  <a:pt x="1833" y="1152"/>
                </a:lnTo>
                <a:lnTo>
                  <a:pt x="1873" y="1152"/>
                </a:lnTo>
                <a:close/>
                <a:moveTo>
                  <a:pt x="431" y="288"/>
                </a:moveTo>
                <a:lnTo>
                  <a:pt x="721" y="288"/>
                </a:lnTo>
                <a:lnTo>
                  <a:pt x="721" y="719"/>
                </a:lnTo>
                <a:lnTo>
                  <a:pt x="1152" y="719"/>
                </a:lnTo>
                <a:lnTo>
                  <a:pt x="1152" y="1007"/>
                </a:lnTo>
                <a:lnTo>
                  <a:pt x="721" y="1007"/>
                </a:lnTo>
                <a:lnTo>
                  <a:pt x="721" y="1440"/>
                </a:lnTo>
                <a:lnTo>
                  <a:pt x="431" y="1440"/>
                </a:lnTo>
                <a:lnTo>
                  <a:pt x="431" y="1007"/>
                </a:lnTo>
                <a:lnTo>
                  <a:pt x="0" y="1007"/>
                </a:lnTo>
                <a:lnTo>
                  <a:pt x="0" y="719"/>
                </a:lnTo>
                <a:lnTo>
                  <a:pt x="431" y="719"/>
                </a:lnTo>
                <a:lnTo>
                  <a:pt x="431" y="288"/>
                </a:lnTo>
                <a:close/>
                <a:moveTo>
                  <a:pt x="2592" y="0"/>
                </a:moveTo>
                <a:lnTo>
                  <a:pt x="2642" y="2"/>
                </a:lnTo>
                <a:lnTo>
                  <a:pt x="2691" y="10"/>
                </a:lnTo>
                <a:lnTo>
                  <a:pt x="2738" y="25"/>
                </a:lnTo>
                <a:lnTo>
                  <a:pt x="2782" y="42"/>
                </a:lnTo>
                <a:lnTo>
                  <a:pt x="2823" y="67"/>
                </a:lnTo>
                <a:lnTo>
                  <a:pt x="2862" y="94"/>
                </a:lnTo>
                <a:lnTo>
                  <a:pt x="2897" y="125"/>
                </a:lnTo>
                <a:lnTo>
                  <a:pt x="2928" y="161"/>
                </a:lnTo>
                <a:lnTo>
                  <a:pt x="2955" y="200"/>
                </a:lnTo>
                <a:lnTo>
                  <a:pt x="2979" y="240"/>
                </a:lnTo>
                <a:lnTo>
                  <a:pt x="2997" y="285"/>
                </a:lnTo>
                <a:lnTo>
                  <a:pt x="3011" y="332"/>
                </a:lnTo>
                <a:lnTo>
                  <a:pt x="3019" y="381"/>
                </a:lnTo>
                <a:lnTo>
                  <a:pt x="3022" y="431"/>
                </a:lnTo>
                <a:lnTo>
                  <a:pt x="3019" y="481"/>
                </a:lnTo>
                <a:lnTo>
                  <a:pt x="3011" y="530"/>
                </a:lnTo>
                <a:lnTo>
                  <a:pt x="2997" y="577"/>
                </a:lnTo>
                <a:lnTo>
                  <a:pt x="2979" y="622"/>
                </a:lnTo>
                <a:lnTo>
                  <a:pt x="2955" y="662"/>
                </a:lnTo>
                <a:lnTo>
                  <a:pt x="2928" y="701"/>
                </a:lnTo>
                <a:lnTo>
                  <a:pt x="2897" y="737"/>
                </a:lnTo>
                <a:lnTo>
                  <a:pt x="2862" y="768"/>
                </a:lnTo>
                <a:lnTo>
                  <a:pt x="2823" y="795"/>
                </a:lnTo>
                <a:lnTo>
                  <a:pt x="2782" y="820"/>
                </a:lnTo>
                <a:lnTo>
                  <a:pt x="2738" y="837"/>
                </a:lnTo>
                <a:lnTo>
                  <a:pt x="2691" y="852"/>
                </a:lnTo>
                <a:lnTo>
                  <a:pt x="2642" y="860"/>
                </a:lnTo>
                <a:lnTo>
                  <a:pt x="2592" y="864"/>
                </a:lnTo>
                <a:lnTo>
                  <a:pt x="2547" y="860"/>
                </a:lnTo>
                <a:lnTo>
                  <a:pt x="2503" y="854"/>
                </a:lnTo>
                <a:lnTo>
                  <a:pt x="2461" y="843"/>
                </a:lnTo>
                <a:lnTo>
                  <a:pt x="2494" y="791"/>
                </a:lnTo>
                <a:lnTo>
                  <a:pt x="2522" y="737"/>
                </a:lnTo>
                <a:lnTo>
                  <a:pt x="2546" y="679"/>
                </a:lnTo>
                <a:lnTo>
                  <a:pt x="2565" y="621"/>
                </a:lnTo>
                <a:lnTo>
                  <a:pt x="2579" y="560"/>
                </a:lnTo>
                <a:lnTo>
                  <a:pt x="2588" y="496"/>
                </a:lnTo>
                <a:lnTo>
                  <a:pt x="2591" y="431"/>
                </a:lnTo>
                <a:lnTo>
                  <a:pt x="2588" y="366"/>
                </a:lnTo>
                <a:lnTo>
                  <a:pt x="2579" y="302"/>
                </a:lnTo>
                <a:lnTo>
                  <a:pt x="2566" y="241"/>
                </a:lnTo>
                <a:lnTo>
                  <a:pt x="2546" y="182"/>
                </a:lnTo>
                <a:lnTo>
                  <a:pt x="2523" y="125"/>
                </a:lnTo>
                <a:lnTo>
                  <a:pt x="2494" y="71"/>
                </a:lnTo>
                <a:lnTo>
                  <a:pt x="2461" y="19"/>
                </a:lnTo>
                <a:lnTo>
                  <a:pt x="2503" y="8"/>
                </a:lnTo>
                <a:lnTo>
                  <a:pt x="2547" y="2"/>
                </a:lnTo>
                <a:lnTo>
                  <a:pt x="2592" y="0"/>
                </a:lnTo>
                <a:close/>
                <a:moveTo>
                  <a:pt x="1873" y="0"/>
                </a:moveTo>
                <a:lnTo>
                  <a:pt x="1923" y="2"/>
                </a:lnTo>
                <a:lnTo>
                  <a:pt x="1971" y="10"/>
                </a:lnTo>
                <a:lnTo>
                  <a:pt x="2018" y="25"/>
                </a:lnTo>
                <a:lnTo>
                  <a:pt x="2062" y="42"/>
                </a:lnTo>
                <a:lnTo>
                  <a:pt x="2103" y="67"/>
                </a:lnTo>
                <a:lnTo>
                  <a:pt x="2142" y="94"/>
                </a:lnTo>
                <a:lnTo>
                  <a:pt x="2177" y="125"/>
                </a:lnTo>
                <a:lnTo>
                  <a:pt x="2209" y="161"/>
                </a:lnTo>
                <a:lnTo>
                  <a:pt x="2236" y="200"/>
                </a:lnTo>
                <a:lnTo>
                  <a:pt x="2259" y="240"/>
                </a:lnTo>
                <a:lnTo>
                  <a:pt x="2278" y="285"/>
                </a:lnTo>
                <a:lnTo>
                  <a:pt x="2291" y="332"/>
                </a:lnTo>
                <a:lnTo>
                  <a:pt x="2300" y="381"/>
                </a:lnTo>
                <a:lnTo>
                  <a:pt x="2303" y="431"/>
                </a:lnTo>
                <a:lnTo>
                  <a:pt x="2300" y="481"/>
                </a:lnTo>
                <a:lnTo>
                  <a:pt x="2291" y="530"/>
                </a:lnTo>
                <a:lnTo>
                  <a:pt x="2278" y="577"/>
                </a:lnTo>
                <a:lnTo>
                  <a:pt x="2259" y="622"/>
                </a:lnTo>
                <a:lnTo>
                  <a:pt x="2236" y="662"/>
                </a:lnTo>
                <a:lnTo>
                  <a:pt x="2209" y="701"/>
                </a:lnTo>
                <a:lnTo>
                  <a:pt x="2177" y="737"/>
                </a:lnTo>
                <a:lnTo>
                  <a:pt x="2142" y="768"/>
                </a:lnTo>
                <a:lnTo>
                  <a:pt x="2103" y="795"/>
                </a:lnTo>
                <a:lnTo>
                  <a:pt x="2062" y="820"/>
                </a:lnTo>
                <a:lnTo>
                  <a:pt x="2018" y="837"/>
                </a:lnTo>
                <a:lnTo>
                  <a:pt x="1971" y="852"/>
                </a:lnTo>
                <a:lnTo>
                  <a:pt x="1923" y="860"/>
                </a:lnTo>
                <a:lnTo>
                  <a:pt x="1873" y="864"/>
                </a:lnTo>
                <a:lnTo>
                  <a:pt x="1821" y="860"/>
                </a:lnTo>
                <a:lnTo>
                  <a:pt x="1773" y="852"/>
                </a:lnTo>
                <a:lnTo>
                  <a:pt x="1726" y="837"/>
                </a:lnTo>
                <a:lnTo>
                  <a:pt x="1682" y="820"/>
                </a:lnTo>
                <a:lnTo>
                  <a:pt x="1640" y="795"/>
                </a:lnTo>
                <a:lnTo>
                  <a:pt x="1601" y="768"/>
                </a:lnTo>
                <a:lnTo>
                  <a:pt x="1567" y="737"/>
                </a:lnTo>
                <a:lnTo>
                  <a:pt x="1534" y="701"/>
                </a:lnTo>
                <a:lnTo>
                  <a:pt x="1507" y="662"/>
                </a:lnTo>
                <a:lnTo>
                  <a:pt x="1484" y="622"/>
                </a:lnTo>
                <a:lnTo>
                  <a:pt x="1465" y="577"/>
                </a:lnTo>
                <a:lnTo>
                  <a:pt x="1452" y="530"/>
                </a:lnTo>
                <a:lnTo>
                  <a:pt x="1443" y="481"/>
                </a:lnTo>
                <a:lnTo>
                  <a:pt x="1440" y="431"/>
                </a:lnTo>
                <a:lnTo>
                  <a:pt x="1443" y="381"/>
                </a:lnTo>
                <a:lnTo>
                  <a:pt x="1452" y="332"/>
                </a:lnTo>
                <a:lnTo>
                  <a:pt x="1465" y="285"/>
                </a:lnTo>
                <a:lnTo>
                  <a:pt x="1484" y="240"/>
                </a:lnTo>
                <a:lnTo>
                  <a:pt x="1507" y="200"/>
                </a:lnTo>
                <a:lnTo>
                  <a:pt x="1534" y="161"/>
                </a:lnTo>
                <a:lnTo>
                  <a:pt x="1567" y="125"/>
                </a:lnTo>
                <a:lnTo>
                  <a:pt x="1601" y="94"/>
                </a:lnTo>
                <a:lnTo>
                  <a:pt x="1640" y="67"/>
                </a:lnTo>
                <a:lnTo>
                  <a:pt x="1682" y="42"/>
                </a:lnTo>
                <a:lnTo>
                  <a:pt x="1726" y="25"/>
                </a:lnTo>
                <a:lnTo>
                  <a:pt x="1773" y="10"/>
                </a:lnTo>
                <a:lnTo>
                  <a:pt x="1821" y="2"/>
                </a:lnTo>
                <a:lnTo>
                  <a:pt x="1873" y="0"/>
                </a:lnTo>
                <a:close/>
              </a:path>
            </a:pathLst>
          </a:custGeom>
          <a:solidFill>
            <a:schemeClr val="accent4"/>
          </a:solidFill>
          <a:ln w="0">
            <a:noFill/>
            <a:prstDash val="solid"/>
            <a:round/>
          </a:ln>
        </p:spPr>
        <p:txBody>
          <a:bodyPr vert="horz" wrap="square" lIns="91440" tIns="45720" rIns="91440" bIns="45720" numCol="1" anchor="t" anchorCtr="0" compatLnSpc="1">
            <a:prstTxWarp prst="textNoShape">
              <a:avLst/>
            </a:prstTxWarp>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p>
        </p:txBody>
      </p:sp>
      <p:cxnSp>
        <p:nvCxnSpPr>
          <p:cNvPr id="6" name="Straight Arrow Connector 5">
            <a:extLst>
              <a:ext uri="{FF2B5EF4-FFF2-40B4-BE49-F238E27FC236}">
                <a16:creationId xmlns:a16="http://schemas.microsoft.com/office/drawing/2014/main" id="{EC7C74B2-200C-E272-A03F-72F805C3691D}"/>
              </a:ext>
            </a:extLst>
          </p:cNvPr>
          <p:cNvCxnSpPr>
            <a:endCxn id="9" idx="3"/>
          </p:cNvCxnSpPr>
          <p:nvPr/>
        </p:nvCxnSpPr>
        <p:spPr>
          <a:xfrm flipH="1">
            <a:off x="5428587" y="5686901"/>
            <a:ext cx="2072262"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B7B21388-238D-07C2-2623-D3A8B2BB8E50}"/>
              </a:ext>
            </a:extLst>
          </p:cNvPr>
          <p:cNvCxnSpPr>
            <a:endCxn id="8" idx="3"/>
          </p:cNvCxnSpPr>
          <p:nvPr/>
        </p:nvCxnSpPr>
        <p:spPr>
          <a:xfrm flipH="1">
            <a:off x="6416550" y="3203986"/>
            <a:ext cx="1261356" cy="0"/>
          </a:xfrm>
          <a:prstGeom prst="straightConnector1">
            <a:avLst/>
          </a:prstGeom>
          <a:ln>
            <a:solidFill>
              <a:srgbClr val="FFA400"/>
            </a:solidFill>
            <a:tailEnd type="oval"/>
          </a:ln>
        </p:spPr>
        <p:style>
          <a:lnRef idx="1">
            <a:schemeClr val="accent1"/>
          </a:lnRef>
          <a:fillRef idx="0">
            <a:schemeClr val="accent1"/>
          </a:fillRef>
          <a:effectRef idx="0">
            <a:schemeClr val="accent1"/>
          </a:effectRef>
          <a:fontRef idx="minor">
            <a:schemeClr val="tx1"/>
          </a:fontRef>
        </p:style>
      </p:cxnSp>
      <p:sp>
        <p:nvSpPr>
          <p:cNvPr id="15" name="Isosceles Triangle 14">
            <a:extLst>
              <a:ext uri="{FF2B5EF4-FFF2-40B4-BE49-F238E27FC236}">
                <a16:creationId xmlns:a16="http://schemas.microsoft.com/office/drawing/2014/main" id="{E2FC7F74-311A-8660-8E3D-8B360E63D60B}"/>
              </a:ext>
            </a:extLst>
          </p:cNvPr>
          <p:cNvSpPr/>
          <p:nvPr/>
        </p:nvSpPr>
        <p:spPr>
          <a:xfrm>
            <a:off x="7406640" y="1900973"/>
            <a:ext cx="748975" cy="4953233"/>
          </a:xfrm>
          <a:prstGeom prst="triangle">
            <a:avLst/>
          </a:prstGeom>
          <a:gradFill flip="none" rotWithShape="1">
            <a:gsLst>
              <a:gs pos="0">
                <a:schemeClr val="accent4"/>
              </a:gs>
              <a:gs pos="50000">
                <a:schemeClr val="accent3"/>
              </a:gs>
              <a:gs pos="100000">
                <a:schemeClr val="accent3"/>
              </a:gs>
            </a:gsLst>
            <a:lin ang="5400000" scaled="1"/>
          </a:gradFill>
          <a:ln>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6" name="Isosceles Triangle 15">
            <a:extLst>
              <a:ext uri="{FF2B5EF4-FFF2-40B4-BE49-F238E27FC236}">
                <a16:creationId xmlns:a16="http://schemas.microsoft.com/office/drawing/2014/main" id="{A9087265-FCFA-DDD1-BF82-01D056B62973}"/>
              </a:ext>
            </a:extLst>
          </p:cNvPr>
          <p:cNvSpPr/>
          <p:nvPr/>
        </p:nvSpPr>
        <p:spPr>
          <a:xfrm rot="10800000">
            <a:off x="7791743" y="1972518"/>
            <a:ext cx="748975" cy="4953233"/>
          </a:xfrm>
          <a:prstGeom prst="triangle">
            <a:avLst/>
          </a:prstGeom>
          <a:gradFill>
            <a:gsLst>
              <a:gs pos="0">
                <a:schemeClr val="accent4"/>
              </a:gs>
              <a:gs pos="50000">
                <a:schemeClr val="accent3"/>
              </a:gs>
              <a:gs pos="100000">
                <a:schemeClr val="accent3"/>
              </a:gs>
            </a:gsLst>
            <a:lin ang="16200000" scaled="1"/>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sp>
        <p:nvSpPr>
          <p:cNvPr id="17" name="TextBox 16">
            <a:extLst>
              <a:ext uri="{FF2B5EF4-FFF2-40B4-BE49-F238E27FC236}">
                <a16:creationId xmlns:a16="http://schemas.microsoft.com/office/drawing/2014/main" id="{EE7E6730-7E96-2711-458A-455616118D35}"/>
              </a:ext>
            </a:extLst>
          </p:cNvPr>
          <p:cNvSpPr txBox="1"/>
          <p:nvPr/>
        </p:nvSpPr>
        <p:spPr>
          <a:xfrm>
            <a:off x="7830963" y="2018968"/>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Us</a:t>
            </a:r>
          </a:p>
        </p:txBody>
      </p:sp>
      <p:sp>
        <p:nvSpPr>
          <p:cNvPr id="18" name="TextBox 17">
            <a:extLst>
              <a:ext uri="{FF2B5EF4-FFF2-40B4-BE49-F238E27FC236}">
                <a16:creationId xmlns:a16="http://schemas.microsoft.com/office/drawing/2014/main" id="{94613233-52A7-C4CE-10C6-0FD6BD2FBEF1}"/>
              </a:ext>
            </a:extLst>
          </p:cNvPr>
          <p:cNvSpPr txBox="1"/>
          <p:nvPr/>
        </p:nvSpPr>
        <p:spPr>
          <a:xfrm>
            <a:off x="7423420" y="6625274"/>
            <a:ext cx="715413" cy="322761"/>
          </a:xfrm>
          <a:prstGeom prst="rect">
            <a:avLst/>
          </a:prstGeom>
          <a:noFill/>
        </p:spPr>
        <p:txBody>
          <a:bodyPr vert="horz" wrap="square" lIns="0" tIns="0" rIns="0" bIns="0" rtlCol="0">
            <a:noAutofit/>
          </a:bodyPr>
          <a:lstStyle/>
          <a:p>
            <a:pPr algn="ctr"/>
            <a:r>
              <a:rPr lang="en-US" sz="1200" b="1" noProof="0" dirty="0">
                <a:solidFill>
                  <a:schemeClr val="bg1"/>
                </a:solidFill>
              </a:rPr>
              <a:t>You</a:t>
            </a:r>
          </a:p>
        </p:txBody>
      </p:sp>
    </p:spTree>
    <p:extLst>
      <p:ext uri="{BB962C8B-B14F-4D97-AF65-F5344CB8AC3E}">
        <p14:creationId xmlns:p14="http://schemas.microsoft.com/office/powerpoint/2010/main" val="141200112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 name="Table 54">
            <a:extLst>
              <a:ext uri="{FF2B5EF4-FFF2-40B4-BE49-F238E27FC236}">
                <a16:creationId xmlns:a16="http://schemas.microsoft.com/office/drawing/2014/main" id="{910651F9-D7E0-6B31-3F9F-232E30A61FE2}"/>
              </a:ext>
            </a:extLst>
          </p:cNvPr>
          <p:cNvGraphicFramePr>
            <a:graphicFrameLocks noGrp="1"/>
          </p:cNvGraphicFramePr>
          <p:nvPr>
            <p:extLst>
              <p:ext uri="{D42A27DB-BD31-4B8C-83A1-F6EECF244321}">
                <p14:modId xmlns:p14="http://schemas.microsoft.com/office/powerpoint/2010/main" val="536942246"/>
              </p:ext>
            </p:extLst>
          </p:nvPr>
        </p:nvGraphicFramePr>
        <p:xfrm>
          <a:off x="4545364" y="1851299"/>
          <a:ext cx="5480377" cy="1672548"/>
        </p:xfrm>
        <a:graphic>
          <a:graphicData uri="http://schemas.openxmlformats.org/drawingml/2006/table">
            <a:tbl>
              <a:tblPr firstRow="1" bandRow="1">
                <a:tableStyleId>{2D5ABB26-0587-4C30-8999-92F81FD0307C}</a:tableStyleId>
              </a:tblPr>
              <a:tblGrid>
                <a:gridCol w="1730645">
                  <a:extLst>
                    <a:ext uri="{9D8B030D-6E8A-4147-A177-3AD203B41FA5}">
                      <a16:colId xmlns:a16="http://schemas.microsoft.com/office/drawing/2014/main" val="20000"/>
                    </a:ext>
                  </a:extLst>
                </a:gridCol>
                <a:gridCol w="1581802">
                  <a:extLst>
                    <a:ext uri="{9D8B030D-6E8A-4147-A177-3AD203B41FA5}">
                      <a16:colId xmlns:a16="http://schemas.microsoft.com/office/drawing/2014/main" val="20002"/>
                    </a:ext>
                  </a:extLst>
                </a:gridCol>
                <a:gridCol w="2167930">
                  <a:extLst>
                    <a:ext uri="{9D8B030D-6E8A-4147-A177-3AD203B41FA5}">
                      <a16:colId xmlns:a16="http://schemas.microsoft.com/office/drawing/2014/main" val="546537676"/>
                    </a:ext>
                  </a:extLst>
                </a:gridCol>
              </a:tblGrid>
              <a:tr h="278758">
                <a:tc>
                  <a:txBody>
                    <a:bodyPr/>
                    <a:lstStyle/>
                    <a:p>
                      <a:pPr marL="0" marR="0" lvl="0" indent="0" algn="l" defTabSz="1007943" rtl="0" eaLnBrk="1" fontAlgn="auto" latinLnBrk="0" hangingPunct="1">
                        <a:lnSpc>
                          <a:spcPct val="100000"/>
                        </a:lnSpc>
                        <a:spcBef>
                          <a:spcPct val="0"/>
                        </a:spcBef>
                        <a:spcAft>
                          <a:spcPct val="0"/>
                        </a:spcAft>
                        <a:buClrTx/>
                        <a:buSzTx/>
                        <a:buFontTx/>
                        <a:buNone/>
                        <a:defRPr/>
                      </a:pPr>
                      <a:r>
                        <a:rPr lang="en-US" sz="1100" b="1" noProof="0" dirty="0">
                          <a:solidFill>
                            <a:schemeClr val="tx1"/>
                          </a:solidFill>
                        </a:rPr>
                        <a:t>At you service…</a:t>
                      </a:r>
                    </a:p>
                  </a:txBody>
                  <a:tcPr anchor="ctr">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5"/>
                          </a:solidFill>
                        </a:rPr>
                        <a:t>SELECT</a:t>
                      </a:r>
                    </a:p>
                  </a:txBody>
                  <a:tcPr anchor="ctr">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100" noProof="0" dirty="0">
                          <a:solidFill>
                            <a:schemeClr val="accent2">
                              <a:lumMod val="75000"/>
                            </a:schemeClr>
                          </a:solidFill>
                        </a:rPr>
                        <a:t>EXPERT</a:t>
                      </a:r>
                    </a:p>
                  </a:txBody>
                  <a:tcPr anchor="ctr">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241643081"/>
                  </a:ext>
                </a:extLst>
              </a:tr>
              <a:tr h="278758">
                <a:tc>
                  <a:txBody>
                    <a:bodyPr/>
                    <a:lstStyle/>
                    <a:p>
                      <a:r>
                        <a:rPr lang="en-US" sz="1100" b="1" noProof="0" dirty="0"/>
                        <a:t>Primary</a:t>
                      </a:r>
                      <a:r>
                        <a:rPr lang="en-US" sz="1100" b="1" baseline="0" noProof="0" dirty="0"/>
                        <a:t> contact</a:t>
                      </a:r>
                      <a:endParaRPr lang="en-US" sz="1100" b="1"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Relationship manager</a:t>
                      </a:r>
                      <a:endParaRPr lang="en-US" sz="1100" noProof="0" dirty="0">
                        <a:solidFill>
                          <a:srgbClr val="FFFFFF"/>
                        </a:solidFill>
                      </a:endParaRP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Investment</a:t>
                      </a:r>
                      <a:r>
                        <a:rPr lang="en-US" sz="1100" baseline="0" noProof="0" dirty="0">
                          <a:solidFill>
                            <a:schemeClr val="accent2">
                              <a:lumMod val="75000"/>
                            </a:schemeClr>
                          </a:solidFill>
                        </a:rPr>
                        <a:t> </a:t>
                      </a:r>
                      <a:r>
                        <a:rPr lang="en-US" sz="1100" noProof="0" dirty="0">
                          <a:solidFill>
                            <a:schemeClr val="accent2">
                              <a:lumMod val="75000"/>
                            </a:schemeClr>
                          </a:solidFill>
                        </a:rPr>
                        <a:t>Advisor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78758">
                <a:tc>
                  <a:txBody>
                    <a:bodyPr/>
                    <a:lstStyle/>
                    <a:p>
                      <a:r>
                        <a:rPr lang="en-US" sz="1100" b="1" noProof="0" dirty="0"/>
                        <a:t>Interaction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On-demand</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Proactive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278758">
                <a:tc>
                  <a:txBody>
                    <a:bodyPr/>
                    <a:lstStyle/>
                    <a:p>
                      <a:r>
                        <a:rPr lang="en-US" sz="1100" b="1" noProof="0" dirty="0" err="1"/>
                        <a:t>Syz</a:t>
                      </a:r>
                      <a:r>
                        <a:rPr lang="en-US" sz="1100" b="1" noProof="0" dirty="0"/>
                        <a:t> Research &amp; insights</a:t>
                      </a:r>
                      <a:endParaRPr lang="en-US" sz="1100" b="0" noProof="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tx1"/>
                          </a:solidFill>
                        </a:rPr>
                        <a:t> Regular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ctr">
                        <a:buClr>
                          <a:schemeClr val="accent4"/>
                        </a:buClr>
                        <a:buFontTx/>
                        <a:buNone/>
                      </a:pPr>
                      <a:r>
                        <a:rPr lang="en-US" sz="1100" noProof="0" dirty="0">
                          <a:solidFill>
                            <a:schemeClr val="accent2">
                              <a:lumMod val="75000"/>
                            </a:schemeClr>
                          </a:solidFill>
                        </a:rPr>
                        <a:t>Regular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78758">
                <a:tc>
                  <a:txBody>
                    <a:bodyPr/>
                    <a:lstStyle/>
                    <a:p>
                      <a:r>
                        <a:rPr lang="en-US" sz="1100" b="1" noProof="0" dirty="0"/>
                        <a:t>Investment ideas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t>Syz</a:t>
                      </a:r>
                      <a:r>
                        <a:rPr lang="en-US" sz="1100" noProof="0" dirty="0"/>
                        <a:t> convictions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err="1">
                          <a:solidFill>
                            <a:schemeClr val="accent2">
                              <a:lumMod val="75000"/>
                            </a:schemeClr>
                          </a:solidFill>
                        </a:rPr>
                        <a:t>Personalised</a:t>
                      </a:r>
                      <a:r>
                        <a:rPr lang="en-US" sz="1100" noProof="0" dirty="0">
                          <a:solidFill>
                            <a:schemeClr val="accent2">
                              <a:lumMod val="75000"/>
                            </a:schemeClr>
                          </a:solidFill>
                        </a:rPr>
                        <a:t> recommendations</a:t>
                      </a:r>
                    </a:p>
                  </a:txBody>
                  <a:tcPr marL="72000" marR="7200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278758">
                <a:tc>
                  <a:txBody>
                    <a:bodyPr/>
                    <a:lstStyle/>
                    <a:p>
                      <a:r>
                        <a:rPr lang="en-US" sz="1100" b="1" noProof="0" dirty="0"/>
                        <a:t>Portfolio review</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t>Annually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noProof="0" dirty="0">
                          <a:solidFill>
                            <a:schemeClr val="accent2">
                              <a:lumMod val="75000"/>
                            </a:schemeClr>
                          </a:solidFill>
                        </a:rPr>
                        <a:t>You decide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itle 1">
            <a:extLst>
              <a:ext uri="{FF2B5EF4-FFF2-40B4-BE49-F238E27FC236}">
                <a16:creationId xmlns:a16="http://schemas.microsoft.com/office/drawing/2014/main" id="{9F0EA69C-7284-4340-35CE-791E7DC36261}"/>
              </a:ext>
            </a:extLst>
          </p:cNvPr>
          <p:cNvSpPr>
            <a:spLocks noGrp="1"/>
          </p:cNvSpPr>
          <p:nvPr>
            <p:ph type="title"/>
          </p:nvPr>
        </p:nvSpPr>
        <p:spPr>
          <a:xfrm>
            <a:off x="665163" y="1032438"/>
            <a:ext cx="9398001" cy="864586"/>
          </a:xfrm>
        </p:spPr>
        <p:txBody>
          <a:bodyPr/>
          <a:lstStyle/>
          <a:p>
            <a:r>
              <a:rPr lang="en-US" noProof="0" dirty="0"/>
              <a:t>Our Value Proposition</a:t>
            </a:r>
            <a:br>
              <a:rPr lang="en-US" noProof="0" dirty="0"/>
            </a:br>
            <a:r>
              <a:rPr lang="en-US" noProof="0" dirty="0"/>
              <a:t>- Advisory Expert</a:t>
            </a:r>
          </a:p>
        </p:txBody>
      </p:sp>
      <p:graphicFrame>
        <p:nvGraphicFramePr>
          <p:cNvPr id="9" name="Table 9">
            <a:extLst>
              <a:ext uri="{FF2B5EF4-FFF2-40B4-BE49-F238E27FC236}">
                <a16:creationId xmlns:a16="http://schemas.microsoft.com/office/drawing/2014/main" id="{BBE8CD02-37EB-13ED-E168-B3B22D6093B5}"/>
              </a:ext>
            </a:extLst>
          </p:cNvPr>
          <p:cNvGraphicFramePr>
            <a:graphicFrameLocks noGrp="1"/>
          </p:cNvGraphicFramePr>
          <p:nvPr>
            <p:extLst>
              <p:ext uri="{D42A27DB-BD31-4B8C-83A1-F6EECF244321}">
                <p14:modId xmlns:p14="http://schemas.microsoft.com/office/powerpoint/2010/main" val="330235490"/>
              </p:ext>
            </p:extLst>
          </p:nvPr>
        </p:nvGraphicFramePr>
        <p:xfrm>
          <a:off x="4545365" y="3714949"/>
          <a:ext cx="5480378" cy="3089637"/>
        </p:xfrm>
        <a:graphic>
          <a:graphicData uri="http://schemas.openxmlformats.org/drawingml/2006/table">
            <a:tbl>
              <a:tblPr firstCol="1">
                <a:tableStyleId>{5C22544A-7EE6-4342-B048-85BDC9FD1C3A}</a:tableStyleId>
              </a:tblPr>
              <a:tblGrid>
                <a:gridCol w="1080000">
                  <a:extLst>
                    <a:ext uri="{9D8B030D-6E8A-4147-A177-3AD203B41FA5}">
                      <a16:colId xmlns:a16="http://schemas.microsoft.com/office/drawing/2014/main" val="988985580"/>
                    </a:ext>
                  </a:extLst>
                </a:gridCol>
                <a:gridCol w="4400378">
                  <a:extLst>
                    <a:ext uri="{9D8B030D-6E8A-4147-A177-3AD203B41FA5}">
                      <a16:colId xmlns:a16="http://schemas.microsoft.com/office/drawing/2014/main" val="3075069410"/>
                    </a:ext>
                  </a:extLst>
                </a:gridCol>
              </a:tblGrid>
              <a:tr h="1505637">
                <a:tc>
                  <a:txBody>
                    <a:bodyPr/>
                    <a:lstStyle/>
                    <a:p>
                      <a:pPr marL="0" indent="0">
                        <a:buFont typeface="Arial" panose="020B0604020202020204" pitchFamily="34" charset="0"/>
                        <a:buNone/>
                      </a:pPr>
                      <a:r>
                        <a:rPr lang="en-US" sz="1200" b="1" noProof="0" dirty="0"/>
                        <a:t>Your Needs</a:t>
                      </a:r>
                    </a:p>
                  </a:txBody>
                  <a:tcPr anchor="ctr">
                    <a:solidFill>
                      <a:schemeClr val="accent2"/>
                    </a:solidFill>
                  </a:tcPr>
                </a:tc>
                <a:tc>
                  <a:txBody>
                    <a:bodyPr/>
                    <a:lstStyle/>
                    <a:p>
                      <a:pPr marL="180975" indent="-180975">
                        <a:spcBef>
                          <a:spcPts val="600"/>
                        </a:spcBef>
                        <a:spcAft>
                          <a:spcPts val="600"/>
                        </a:spcAft>
                        <a:buFont typeface="Arial" panose="020B0604020202020204" pitchFamily="34" charset="0"/>
                        <a:buChar char="•"/>
                      </a:pPr>
                      <a:r>
                        <a:rPr lang="en-US" sz="1200" noProof="0" dirty="0"/>
                        <a:t>You seek for </a:t>
                      </a:r>
                      <a:r>
                        <a:rPr lang="en-US" sz="1200" b="1" noProof="0" dirty="0"/>
                        <a:t>dynamic support </a:t>
                      </a:r>
                      <a:r>
                        <a:rPr lang="en-US" sz="1200" noProof="0" dirty="0"/>
                        <a:t>and </a:t>
                      </a:r>
                      <a:r>
                        <a:rPr lang="en-US" sz="1200" b="1" noProof="0" dirty="0"/>
                        <a:t>exchange with investment experts </a:t>
                      </a:r>
                      <a:r>
                        <a:rPr lang="en-US" sz="1200" noProof="0" dirty="0"/>
                        <a:t>to craft </a:t>
                      </a:r>
                      <a:r>
                        <a:rPr lang="en-US" sz="1200" b="1" noProof="0" dirty="0" err="1"/>
                        <a:t>personalised</a:t>
                      </a:r>
                      <a:r>
                        <a:rPr lang="en-US" sz="1200" noProof="0" dirty="0"/>
                        <a:t> investment strategies</a:t>
                      </a:r>
                    </a:p>
                    <a:p>
                      <a:pPr marL="180975" indent="-180975">
                        <a:spcBef>
                          <a:spcPts val="600"/>
                        </a:spcBef>
                        <a:spcAft>
                          <a:spcPts val="600"/>
                        </a:spcAft>
                        <a:buFont typeface="Arial" panose="020B0604020202020204" pitchFamily="34" charset="0"/>
                        <a:buChar char="•"/>
                      </a:pPr>
                      <a:r>
                        <a:rPr lang="en-US" sz="1200" noProof="0" dirty="0"/>
                        <a:t>You enjoy </a:t>
                      </a:r>
                      <a:r>
                        <a:rPr lang="en-US" sz="1200" b="1" noProof="0" dirty="0"/>
                        <a:t>exploring investment opportunities, </a:t>
                      </a:r>
                      <a:r>
                        <a:rPr lang="en-US" sz="1200" b="0" noProof="0" dirty="0"/>
                        <a:t>and </a:t>
                      </a:r>
                      <a:r>
                        <a:rPr lang="en-US" sz="1200" noProof="0" dirty="0"/>
                        <a:t>desire a </a:t>
                      </a:r>
                      <a:r>
                        <a:rPr lang="en-US" sz="1200" b="1" noProof="0" dirty="0"/>
                        <a:t>higher level of </a:t>
                      </a:r>
                      <a:r>
                        <a:rPr lang="en-US" sz="1200" b="1" noProof="0" dirty="0">
                          <a:solidFill>
                            <a:schemeClr val="tx1"/>
                          </a:solidFill>
                        </a:rPr>
                        <a:t>support</a:t>
                      </a:r>
                      <a:r>
                        <a:rPr lang="en-US" sz="1200" b="1" noProof="0" dirty="0">
                          <a:solidFill>
                            <a:srgbClr val="FF0000"/>
                          </a:solidFill>
                        </a:rPr>
                        <a:t> </a:t>
                      </a:r>
                      <a:r>
                        <a:rPr lang="en-US" sz="1200" noProof="0" dirty="0"/>
                        <a:t>through </a:t>
                      </a:r>
                      <a:r>
                        <a:rPr lang="en-US" sz="1200" b="1" noProof="0" dirty="0"/>
                        <a:t>active portfolio monitoring </a:t>
                      </a:r>
                      <a:r>
                        <a:rPr lang="en-US" sz="1200" noProof="0" dirty="0"/>
                        <a:t>by your </a:t>
                      </a:r>
                      <a:r>
                        <a:rPr lang="en-US" sz="1200" b="1" noProof="0" dirty="0"/>
                        <a:t>dedicated advisor</a:t>
                      </a:r>
                      <a:endParaRPr lang="en-US" sz="1200" noProof="0" dirty="0"/>
                    </a:p>
                  </a:txBody>
                  <a:tcPr anchor="ctr">
                    <a:solidFill>
                      <a:schemeClr val="accent2">
                        <a:lumMod val="20000"/>
                        <a:lumOff val="80000"/>
                      </a:schemeClr>
                    </a:solidFill>
                  </a:tcPr>
                </a:tc>
                <a:extLst>
                  <a:ext uri="{0D108BD9-81ED-4DB2-BD59-A6C34878D82A}">
                    <a16:rowId xmlns:a16="http://schemas.microsoft.com/office/drawing/2014/main" val="3835578771"/>
                  </a:ext>
                </a:extLst>
              </a:tr>
              <a:tr h="1584000">
                <a:tc>
                  <a:txBody>
                    <a:bodyPr/>
                    <a:lstStyle/>
                    <a:p>
                      <a:pPr marL="0" indent="0">
                        <a:buFont typeface="Arial" panose="020B0604020202020204" pitchFamily="34" charset="0"/>
                        <a:buNone/>
                      </a:pPr>
                      <a:r>
                        <a:rPr lang="en-US" sz="1200" b="1" noProof="0" dirty="0"/>
                        <a:t>Our Offering</a:t>
                      </a:r>
                    </a:p>
                  </a:txBody>
                  <a:tcPr anchor="ctr">
                    <a:solidFill>
                      <a:schemeClr val="accent2"/>
                    </a:solidFill>
                  </a:tcPr>
                </a:tc>
                <a:tc>
                  <a:txBody>
                    <a:bodyPr/>
                    <a:lstStyle/>
                    <a:p>
                      <a:pPr marL="180975" marR="0" lvl="0" indent="-180975" algn="l" defTabSz="1007943" rtl="0" eaLnBrk="1" fontAlgn="auto" latinLnBrk="0" hangingPunct="1">
                        <a:lnSpc>
                          <a:spcPct val="100000"/>
                        </a:lnSpc>
                        <a:spcBef>
                          <a:spcPts val="600"/>
                        </a:spcBef>
                        <a:spcAft>
                          <a:spcPts val="600"/>
                        </a:spcAft>
                        <a:buClrTx/>
                        <a:buSzTx/>
                        <a:buFont typeface="Arial" panose="020B0604020202020204" pitchFamily="34" charset="0"/>
                        <a:buChar char="•"/>
                        <a:defRPr/>
                      </a:pPr>
                      <a:r>
                        <a:rPr lang="en-US" sz="1200" b="1" noProof="0" dirty="0"/>
                        <a:t>Dedicated advisor </a:t>
                      </a:r>
                      <a:r>
                        <a:rPr lang="en-US" sz="1200" noProof="0" dirty="0"/>
                        <a:t>for your portfolio, providing </a:t>
                      </a:r>
                      <a:r>
                        <a:rPr lang="en-US" sz="1200" b="1" noProof="0" dirty="0"/>
                        <a:t>proactive tailored advice </a:t>
                      </a:r>
                      <a:r>
                        <a:rPr lang="en-US" sz="1200" noProof="0" dirty="0"/>
                        <a:t>and </a:t>
                      </a:r>
                      <a:r>
                        <a:rPr lang="en-US" sz="1200" b="1" noProof="0" dirty="0"/>
                        <a:t>handpicking</a:t>
                      </a:r>
                      <a:r>
                        <a:rPr lang="en-US" sz="1200" noProof="0" dirty="0"/>
                        <a:t> opportunities for your needs</a:t>
                      </a:r>
                    </a:p>
                    <a:p>
                      <a:pPr marL="180975" indent="-180975">
                        <a:spcBef>
                          <a:spcPts val="600"/>
                        </a:spcBef>
                        <a:spcAft>
                          <a:spcPts val="600"/>
                        </a:spcAft>
                        <a:buFont typeface="Arial" panose="020B0604020202020204" pitchFamily="34" charset="0"/>
                        <a:buChar char="•"/>
                      </a:pPr>
                      <a:r>
                        <a:rPr lang="en-US" sz="1200" noProof="0" dirty="0"/>
                        <a:t>Access to </a:t>
                      </a:r>
                      <a:r>
                        <a:rPr lang="en-US" sz="1200" b="1" noProof="0" dirty="0"/>
                        <a:t>asset-class and investment experts </a:t>
                      </a:r>
                      <a:r>
                        <a:rPr lang="en-US" sz="1200" noProof="0" dirty="0"/>
                        <a:t>to deep dive on investment topics</a:t>
                      </a:r>
                    </a:p>
                    <a:p>
                      <a:pPr marL="180975" indent="-180975">
                        <a:spcBef>
                          <a:spcPts val="600"/>
                        </a:spcBef>
                        <a:spcAft>
                          <a:spcPts val="600"/>
                        </a:spcAft>
                        <a:buFont typeface="Arial" panose="020B0604020202020204" pitchFamily="34" charset="0"/>
                        <a:buChar char="•"/>
                      </a:pPr>
                      <a:r>
                        <a:rPr lang="en-US" sz="1200" b="1" noProof="0" dirty="0"/>
                        <a:t>Active portfolio monitoring </a:t>
                      </a:r>
                      <a:r>
                        <a:rPr lang="en-US" sz="1200" noProof="0" dirty="0"/>
                        <a:t>and alerts</a:t>
                      </a:r>
                    </a:p>
                  </a:txBody>
                  <a:tcPr anchor="ctr">
                    <a:solidFill>
                      <a:schemeClr val="accent2">
                        <a:lumMod val="20000"/>
                        <a:lumOff val="80000"/>
                      </a:schemeClr>
                    </a:solidFill>
                  </a:tcPr>
                </a:tc>
                <a:extLst>
                  <a:ext uri="{0D108BD9-81ED-4DB2-BD59-A6C34878D82A}">
                    <a16:rowId xmlns:a16="http://schemas.microsoft.com/office/drawing/2014/main" val="878091863"/>
                  </a:ext>
                </a:extLst>
              </a:tr>
            </a:tbl>
          </a:graphicData>
        </a:graphic>
      </p:graphicFrame>
      <p:sp>
        <p:nvSpPr>
          <p:cNvPr id="24" name="Rectangle 23">
            <a:extLst>
              <a:ext uri="{FF2B5EF4-FFF2-40B4-BE49-F238E27FC236}">
                <a16:creationId xmlns:a16="http://schemas.microsoft.com/office/drawing/2014/main" id="{B8BA49EC-988A-182B-5885-F528D3DCAF69}"/>
              </a:ext>
            </a:extLst>
          </p:cNvPr>
          <p:cNvSpPr/>
          <p:nvPr/>
        </p:nvSpPr>
        <p:spPr>
          <a:xfrm>
            <a:off x="7857811" y="1795989"/>
            <a:ext cx="2167929" cy="1811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26" name="Group 25">
            <a:extLst>
              <a:ext uri="{FF2B5EF4-FFF2-40B4-BE49-F238E27FC236}">
                <a16:creationId xmlns:a16="http://schemas.microsoft.com/office/drawing/2014/main" id="{CD6EDA3D-58E0-2B41-5E49-EB85A0AAF4E5}"/>
              </a:ext>
            </a:extLst>
          </p:cNvPr>
          <p:cNvGrpSpPr/>
          <p:nvPr/>
        </p:nvGrpSpPr>
        <p:grpSpPr>
          <a:xfrm>
            <a:off x="655940" y="2273480"/>
            <a:ext cx="3852000" cy="3895167"/>
            <a:chOff x="560934" y="2293200"/>
            <a:chExt cx="3852000" cy="3895167"/>
          </a:xfrm>
        </p:grpSpPr>
        <p:sp>
          <p:nvSpPr>
            <p:cNvPr id="27" name="Partial Circle 26">
              <a:extLst>
                <a:ext uri="{FF2B5EF4-FFF2-40B4-BE49-F238E27FC236}">
                  <a16:creationId xmlns:a16="http://schemas.microsoft.com/office/drawing/2014/main" id="{6BBB90BE-3317-F97F-2D98-225FD75B0087}"/>
                </a:ext>
              </a:extLst>
            </p:cNvPr>
            <p:cNvSpPr/>
            <p:nvPr/>
          </p:nvSpPr>
          <p:spPr>
            <a:xfrm>
              <a:off x="560934" y="2293200"/>
              <a:ext cx="3852000" cy="3852000"/>
            </a:xfrm>
            <a:prstGeom prst="pie">
              <a:avLst>
                <a:gd name="adj1" fmla="val 13568700"/>
                <a:gd name="adj2" fmla="val 18748401"/>
              </a:avLst>
            </a:prstGeom>
            <a:solidFill>
              <a:srgbClr val="FFA4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28" name="Partial Circle 27">
              <a:extLst>
                <a:ext uri="{FF2B5EF4-FFF2-40B4-BE49-F238E27FC236}">
                  <a16:creationId xmlns:a16="http://schemas.microsoft.com/office/drawing/2014/main" id="{8A412A8E-9A1D-43FF-56DB-D6C53E44C495}"/>
                </a:ext>
              </a:extLst>
            </p:cNvPr>
            <p:cNvSpPr/>
            <p:nvPr/>
          </p:nvSpPr>
          <p:spPr>
            <a:xfrm>
              <a:off x="692956" y="2660367"/>
              <a:ext cx="3564000" cy="3528000"/>
            </a:xfrm>
            <a:prstGeom prst="pie">
              <a:avLst>
                <a:gd name="adj1" fmla="val 13406481"/>
                <a:gd name="adj2" fmla="val 186191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grpSp>
      <p:sp>
        <p:nvSpPr>
          <p:cNvPr id="29" name="Partial Circle 28">
            <a:extLst>
              <a:ext uri="{FF2B5EF4-FFF2-40B4-BE49-F238E27FC236}">
                <a16:creationId xmlns:a16="http://schemas.microsoft.com/office/drawing/2014/main" id="{EA43B179-C956-19C9-4AC9-5288F4F169F0}"/>
              </a:ext>
            </a:extLst>
          </p:cNvPr>
          <p:cNvSpPr/>
          <p:nvPr/>
        </p:nvSpPr>
        <p:spPr>
          <a:xfrm>
            <a:off x="967962" y="2645779"/>
            <a:ext cx="3204000" cy="3204000"/>
          </a:xfrm>
          <a:prstGeom prst="pie">
            <a:avLst>
              <a:gd name="adj1" fmla="val 14488146"/>
              <a:gd name="adj2" fmla="val 17764186"/>
            </a:avLst>
          </a:prstGeom>
          <a:solidFill>
            <a:schemeClr val="accent3">
              <a:lumMod val="60000"/>
              <a:lumOff val="4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solidFill>
                <a:schemeClr val="tx1"/>
              </a:solidFill>
            </a:endParaRPr>
          </a:p>
        </p:txBody>
      </p:sp>
      <p:sp>
        <p:nvSpPr>
          <p:cNvPr id="30" name="Arc 29">
            <a:extLst>
              <a:ext uri="{FF2B5EF4-FFF2-40B4-BE49-F238E27FC236}">
                <a16:creationId xmlns:a16="http://schemas.microsoft.com/office/drawing/2014/main" id="{619C2123-D32C-A314-B026-2F68FC923401}"/>
              </a:ext>
            </a:extLst>
          </p:cNvPr>
          <p:cNvSpPr/>
          <p:nvPr/>
        </p:nvSpPr>
        <p:spPr>
          <a:xfrm>
            <a:off x="1761591" y="3633958"/>
            <a:ext cx="1620000" cy="1620000"/>
          </a:xfrm>
          <a:prstGeom prst="arc">
            <a:avLst>
              <a:gd name="adj1" fmla="val 5602225"/>
              <a:gd name="adj2" fmla="val 16023842"/>
            </a:avLst>
          </a:prstGeom>
          <a:ln w="127000">
            <a:solidFill>
              <a:srgbClr val="00CEB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4" name="Arc 33">
            <a:extLst>
              <a:ext uri="{FF2B5EF4-FFF2-40B4-BE49-F238E27FC236}">
                <a16:creationId xmlns:a16="http://schemas.microsoft.com/office/drawing/2014/main" id="{55A7C6C8-D1E1-2F50-169F-E8CAC7392117}"/>
              </a:ext>
            </a:extLst>
          </p:cNvPr>
          <p:cNvSpPr/>
          <p:nvPr/>
        </p:nvSpPr>
        <p:spPr>
          <a:xfrm>
            <a:off x="1748560" y="3633958"/>
            <a:ext cx="1620000" cy="1620000"/>
          </a:xfrm>
          <a:prstGeom prst="arc">
            <a:avLst>
              <a:gd name="adj1" fmla="val 16335625"/>
              <a:gd name="adj2" fmla="val 5284038"/>
            </a:avLst>
          </a:prstGeom>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5" name="Rectangle 34">
            <a:extLst>
              <a:ext uri="{FF2B5EF4-FFF2-40B4-BE49-F238E27FC236}">
                <a16:creationId xmlns:a16="http://schemas.microsoft.com/office/drawing/2014/main" id="{BA000969-59D7-FA29-8502-444042E29A44}"/>
              </a:ext>
            </a:extLst>
          </p:cNvPr>
          <p:cNvSpPr/>
          <p:nvPr/>
        </p:nvSpPr>
        <p:spPr>
          <a:xfrm>
            <a:off x="1650150" y="2520834"/>
            <a:ext cx="1837223" cy="573950"/>
          </a:xfrm>
          <a:prstGeom prst="rect">
            <a:avLst/>
          </a:prstGeom>
          <a:noFill/>
        </p:spPr>
        <p:txBody>
          <a:bodyPr wrap="none" lIns="91440" tIns="45720" rIns="91440" bIns="45720">
            <a:prstTxWarp prst="textArchUp">
              <a:avLst>
                <a:gd name="adj" fmla="val 11737872"/>
              </a:avLst>
            </a:prstTxWarp>
            <a:spAutoFit/>
          </a:bodyPr>
          <a:lstStyle/>
          <a:p>
            <a:pPr algn="ctr"/>
            <a:r>
              <a:rPr lang="en-US" sz="1400" b="1" cap="none" spc="0" noProof="0" dirty="0">
                <a:ln w="0"/>
                <a:solidFill>
                  <a:schemeClr val="bg1"/>
                </a:solidFill>
                <a:effectLst>
                  <a:outerShdw blurRad="38100" dist="19050" dir="2700000" algn="tl" rotWithShape="0">
                    <a:schemeClr val="dk1">
                      <a:alpha val="40000"/>
                    </a:schemeClr>
                  </a:outerShdw>
                </a:effectLst>
              </a:rPr>
              <a:t>CIO House View</a:t>
            </a:r>
          </a:p>
        </p:txBody>
      </p:sp>
      <p:grpSp>
        <p:nvGrpSpPr>
          <p:cNvPr id="36" name="Group 35">
            <a:extLst>
              <a:ext uri="{FF2B5EF4-FFF2-40B4-BE49-F238E27FC236}">
                <a16:creationId xmlns:a16="http://schemas.microsoft.com/office/drawing/2014/main" id="{060CE9C0-39E7-0C6C-78F8-52AE940B46A8}"/>
              </a:ext>
            </a:extLst>
          </p:cNvPr>
          <p:cNvGrpSpPr/>
          <p:nvPr/>
        </p:nvGrpSpPr>
        <p:grpSpPr>
          <a:xfrm>
            <a:off x="2194260" y="4208897"/>
            <a:ext cx="759080" cy="783882"/>
            <a:chOff x="2099254" y="4178377"/>
            <a:chExt cx="759080" cy="783882"/>
          </a:xfrm>
        </p:grpSpPr>
        <p:grpSp>
          <p:nvGrpSpPr>
            <p:cNvPr id="37" name="Group 36">
              <a:extLst>
                <a:ext uri="{FF2B5EF4-FFF2-40B4-BE49-F238E27FC236}">
                  <a16:creationId xmlns:a16="http://schemas.microsoft.com/office/drawing/2014/main" id="{168BDBDD-8031-6FFB-ABBF-B79D845BD5D1}"/>
                </a:ext>
              </a:extLst>
            </p:cNvPr>
            <p:cNvGrpSpPr/>
            <p:nvPr/>
          </p:nvGrpSpPr>
          <p:grpSpPr>
            <a:xfrm>
              <a:off x="2262794" y="4178377"/>
              <a:ext cx="432000" cy="462775"/>
              <a:chOff x="2262794" y="4178377"/>
              <a:chExt cx="432000" cy="462775"/>
            </a:xfrm>
          </p:grpSpPr>
          <p:sp>
            <p:nvSpPr>
              <p:cNvPr id="42" name="Oval 41">
                <a:extLst>
                  <a:ext uri="{FF2B5EF4-FFF2-40B4-BE49-F238E27FC236}">
                    <a16:creationId xmlns:a16="http://schemas.microsoft.com/office/drawing/2014/main" id="{8F5B7FD8-A6A7-6FA1-6CF7-84F349B689ED}"/>
                  </a:ext>
                </a:extLst>
              </p:cNvPr>
              <p:cNvSpPr/>
              <p:nvPr/>
            </p:nvSpPr>
            <p:spPr>
              <a:xfrm>
                <a:off x="2298794" y="4178377"/>
                <a:ext cx="360000" cy="360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43" name="object 19">
                <a:extLst>
                  <a:ext uri="{FF2B5EF4-FFF2-40B4-BE49-F238E27FC236}">
                    <a16:creationId xmlns:a16="http://schemas.microsoft.com/office/drawing/2014/main" id="{7A8D2277-5D30-0F6F-FB4D-559B6AE57CCB}"/>
                  </a:ext>
                </a:extLst>
              </p:cNvPr>
              <p:cNvPicPr/>
              <p:nvPr/>
            </p:nvPicPr>
            <p:blipFill>
              <a:blip r:embed="rId3"/>
              <a:stretch>
                <a:fillRect/>
              </a:stretch>
            </p:blipFill>
            <p:spPr>
              <a:xfrm>
                <a:off x="2262794" y="4209152"/>
                <a:ext cx="432000" cy="432000"/>
              </a:xfrm>
              <a:prstGeom prst="rect">
                <a:avLst/>
              </a:prstGeom>
              <a:noFill/>
            </p:spPr>
          </p:pic>
        </p:grpSp>
        <p:sp>
          <p:nvSpPr>
            <p:cNvPr id="39" name="TextBox 38">
              <a:extLst>
                <a:ext uri="{FF2B5EF4-FFF2-40B4-BE49-F238E27FC236}">
                  <a16:creationId xmlns:a16="http://schemas.microsoft.com/office/drawing/2014/main" id="{DD26E5B1-D383-01C7-AE3D-E357C1102547}"/>
                </a:ext>
              </a:extLst>
            </p:cNvPr>
            <p:cNvSpPr txBox="1"/>
            <p:nvPr/>
          </p:nvSpPr>
          <p:spPr>
            <a:xfrm>
              <a:off x="2099254" y="4652105"/>
              <a:ext cx="759080" cy="310154"/>
            </a:xfrm>
            <a:prstGeom prst="rect">
              <a:avLst/>
            </a:prstGeom>
            <a:noFill/>
          </p:spPr>
          <p:txBody>
            <a:bodyPr vert="horz" wrap="square" lIns="0" tIns="0" rIns="0" bIns="0" rtlCol="0">
              <a:noAutofit/>
            </a:bodyPr>
            <a:lstStyle/>
            <a:p>
              <a:pPr algn="ctr"/>
              <a:r>
                <a:rPr lang="en-US" sz="1000" b="1" noProof="0" dirty="0">
                  <a:solidFill>
                    <a:srgbClr val="FF8300"/>
                  </a:solidFill>
                </a:rPr>
                <a:t>You</a:t>
              </a:r>
            </a:p>
          </p:txBody>
        </p:sp>
      </p:grpSp>
      <p:grpSp>
        <p:nvGrpSpPr>
          <p:cNvPr id="45" name="Group 44">
            <a:extLst>
              <a:ext uri="{FF2B5EF4-FFF2-40B4-BE49-F238E27FC236}">
                <a16:creationId xmlns:a16="http://schemas.microsoft.com/office/drawing/2014/main" id="{151B4B2B-F21E-E8A9-8F35-47A14B9CA3FC}"/>
              </a:ext>
            </a:extLst>
          </p:cNvPr>
          <p:cNvGrpSpPr/>
          <p:nvPr/>
        </p:nvGrpSpPr>
        <p:grpSpPr>
          <a:xfrm>
            <a:off x="1432083" y="4136897"/>
            <a:ext cx="759080" cy="704947"/>
            <a:chOff x="1337077" y="4106377"/>
            <a:chExt cx="759080" cy="704947"/>
          </a:xfrm>
        </p:grpSpPr>
        <p:grpSp>
          <p:nvGrpSpPr>
            <p:cNvPr id="46" name="Group 45">
              <a:extLst>
                <a:ext uri="{FF2B5EF4-FFF2-40B4-BE49-F238E27FC236}">
                  <a16:creationId xmlns:a16="http://schemas.microsoft.com/office/drawing/2014/main" id="{EBAB9569-965E-0812-4BEE-97D058CA10AC}"/>
                </a:ext>
              </a:extLst>
            </p:cNvPr>
            <p:cNvGrpSpPr/>
            <p:nvPr/>
          </p:nvGrpSpPr>
          <p:grpSpPr>
            <a:xfrm>
              <a:off x="1500617" y="4106377"/>
              <a:ext cx="432000" cy="432000"/>
              <a:chOff x="1500617" y="4106377"/>
              <a:chExt cx="432000" cy="432000"/>
            </a:xfrm>
          </p:grpSpPr>
          <p:sp>
            <p:nvSpPr>
              <p:cNvPr id="51" name="Oval 50">
                <a:extLst>
                  <a:ext uri="{FF2B5EF4-FFF2-40B4-BE49-F238E27FC236}">
                    <a16:creationId xmlns:a16="http://schemas.microsoft.com/office/drawing/2014/main" id="{411715C7-8AAB-418B-F8B8-D0692A0DB0C6}"/>
                  </a:ext>
                </a:extLst>
              </p:cNvPr>
              <p:cNvSpPr/>
              <p:nvPr/>
            </p:nvSpPr>
            <p:spPr>
              <a:xfrm>
                <a:off x="1500617" y="4106377"/>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52" name="Graphic 16" descr="User with solid fill">
                <a:extLst>
                  <a:ext uri="{FF2B5EF4-FFF2-40B4-BE49-F238E27FC236}">
                    <a16:creationId xmlns:a16="http://schemas.microsoft.com/office/drawing/2014/main" id="{7C01A91C-0568-CC72-932E-7D8F6C67F242}"/>
                  </a:ext>
                </a:extLst>
              </p:cNvPr>
              <p:cNvGrpSpPr/>
              <p:nvPr/>
            </p:nvGrpSpPr>
            <p:grpSpPr>
              <a:xfrm>
                <a:off x="1572617" y="4178377"/>
                <a:ext cx="288000" cy="288000"/>
                <a:chOff x="3230775" y="4182439"/>
                <a:chExt cx="303371" cy="322332"/>
              </a:xfrm>
              <a:solidFill>
                <a:schemeClr val="accent2"/>
              </a:solidFill>
            </p:grpSpPr>
            <p:sp>
              <p:nvSpPr>
                <p:cNvPr id="53" name="Freeform: Shape 52">
                  <a:extLst>
                    <a:ext uri="{FF2B5EF4-FFF2-40B4-BE49-F238E27FC236}">
                      <a16:creationId xmlns:a16="http://schemas.microsoft.com/office/drawing/2014/main" id="{A9DEE5B7-C1A1-6D45-3095-5A1572AF628F}"/>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rgbClr val="00CEB0"/>
                </a:solidFill>
                <a:ln w="4663" cap="flat">
                  <a:noFill/>
                  <a:prstDash val="solid"/>
                  <a:miter/>
                </a:ln>
              </p:spPr>
              <p:txBody>
                <a:bodyPr rtlCol="0" anchor="ctr"/>
                <a:lstStyle/>
                <a:p>
                  <a:endParaRPr lang="en-US" noProof="0" dirty="0"/>
                </a:p>
              </p:txBody>
            </p:sp>
            <p:sp>
              <p:nvSpPr>
                <p:cNvPr id="54" name="Freeform: Shape 53">
                  <a:extLst>
                    <a:ext uri="{FF2B5EF4-FFF2-40B4-BE49-F238E27FC236}">
                      <a16:creationId xmlns:a16="http://schemas.microsoft.com/office/drawing/2014/main" id="{DBDFCA9F-E357-E027-0519-30AC19538B39}"/>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rgbClr val="00CEB0"/>
                </a:solidFill>
                <a:ln w="4663" cap="flat">
                  <a:noFill/>
                  <a:prstDash val="solid"/>
                  <a:miter/>
                </a:ln>
              </p:spPr>
              <p:txBody>
                <a:bodyPr rtlCol="0" anchor="ctr"/>
                <a:lstStyle/>
                <a:p>
                  <a:endParaRPr lang="en-US" noProof="0" dirty="0"/>
                </a:p>
              </p:txBody>
            </p:sp>
          </p:grpSp>
        </p:grpSp>
        <p:sp>
          <p:nvSpPr>
            <p:cNvPr id="47" name="TextBox 46">
              <a:extLst>
                <a:ext uri="{FF2B5EF4-FFF2-40B4-BE49-F238E27FC236}">
                  <a16:creationId xmlns:a16="http://schemas.microsoft.com/office/drawing/2014/main" id="{C5044E5A-74F3-0CCA-5668-F67D40BB0AC3}"/>
                </a:ext>
              </a:extLst>
            </p:cNvPr>
            <p:cNvSpPr txBox="1"/>
            <p:nvPr/>
          </p:nvSpPr>
          <p:spPr>
            <a:xfrm>
              <a:off x="1337077" y="4501170"/>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rgbClr val="00CEB0"/>
                  </a:solidFill>
                </a:rPr>
                <a:t>Relationship Manager</a:t>
              </a:r>
            </a:p>
          </p:txBody>
        </p:sp>
      </p:grpSp>
      <p:grpSp>
        <p:nvGrpSpPr>
          <p:cNvPr id="56" name="Group 55">
            <a:extLst>
              <a:ext uri="{FF2B5EF4-FFF2-40B4-BE49-F238E27FC236}">
                <a16:creationId xmlns:a16="http://schemas.microsoft.com/office/drawing/2014/main" id="{E8138892-6D11-79E8-690A-27CAE7840661}"/>
              </a:ext>
            </a:extLst>
          </p:cNvPr>
          <p:cNvGrpSpPr/>
          <p:nvPr/>
        </p:nvGrpSpPr>
        <p:grpSpPr>
          <a:xfrm>
            <a:off x="2951288" y="4128578"/>
            <a:ext cx="759080" cy="704947"/>
            <a:chOff x="2856282" y="4098058"/>
            <a:chExt cx="759080" cy="704947"/>
          </a:xfrm>
        </p:grpSpPr>
        <p:grpSp>
          <p:nvGrpSpPr>
            <p:cNvPr id="57" name="Group 56">
              <a:extLst>
                <a:ext uri="{FF2B5EF4-FFF2-40B4-BE49-F238E27FC236}">
                  <a16:creationId xmlns:a16="http://schemas.microsoft.com/office/drawing/2014/main" id="{81CE4ED1-C33F-3A94-B4A1-C7E6EFCC898E}"/>
                </a:ext>
              </a:extLst>
            </p:cNvPr>
            <p:cNvGrpSpPr/>
            <p:nvPr/>
          </p:nvGrpSpPr>
          <p:grpSpPr>
            <a:xfrm>
              <a:off x="3019822" y="4098058"/>
              <a:ext cx="432000" cy="432000"/>
              <a:chOff x="6577112" y="3042950"/>
              <a:chExt cx="432000" cy="432000"/>
            </a:xfrm>
          </p:grpSpPr>
          <p:sp>
            <p:nvSpPr>
              <p:cNvPr id="59" name="Oval 58">
                <a:extLst>
                  <a:ext uri="{FF2B5EF4-FFF2-40B4-BE49-F238E27FC236}">
                    <a16:creationId xmlns:a16="http://schemas.microsoft.com/office/drawing/2014/main" id="{01C27E0B-44A3-122A-8696-301A32EBE431}"/>
                  </a:ext>
                </a:extLst>
              </p:cNvPr>
              <p:cNvSpPr/>
              <p:nvPr/>
            </p:nvSpPr>
            <p:spPr>
              <a:xfrm>
                <a:off x="6577112" y="3042950"/>
                <a:ext cx="432000" cy="4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grpSp>
            <p:nvGrpSpPr>
              <p:cNvPr id="60" name="Graphic 16" descr="User with solid fill">
                <a:extLst>
                  <a:ext uri="{FF2B5EF4-FFF2-40B4-BE49-F238E27FC236}">
                    <a16:creationId xmlns:a16="http://schemas.microsoft.com/office/drawing/2014/main" id="{8CB2C0F0-E4C1-4810-F717-77567CCB7848}"/>
                  </a:ext>
                </a:extLst>
              </p:cNvPr>
              <p:cNvGrpSpPr/>
              <p:nvPr/>
            </p:nvGrpSpPr>
            <p:grpSpPr>
              <a:xfrm>
                <a:off x="6649112" y="3114950"/>
                <a:ext cx="288000" cy="288000"/>
                <a:chOff x="3230775" y="4182439"/>
                <a:chExt cx="303371" cy="322332"/>
              </a:xfrm>
              <a:solidFill>
                <a:schemeClr val="accent2"/>
              </a:solidFill>
            </p:grpSpPr>
            <p:sp>
              <p:nvSpPr>
                <p:cNvPr id="61" name="Freeform: Shape 60">
                  <a:extLst>
                    <a:ext uri="{FF2B5EF4-FFF2-40B4-BE49-F238E27FC236}">
                      <a16:creationId xmlns:a16="http://schemas.microsoft.com/office/drawing/2014/main" id="{F8C7932A-EC4C-ACFB-E33E-E985FBF86DC9}"/>
                    </a:ext>
                  </a:extLst>
                </p:cNvPr>
                <p:cNvSpPr/>
                <p:nvPr/>
              </p:nvSpPr>
              <p:spPr>
                <a:xfrm>
                  <a:off x="3306618" y="4182439"/>
                  <a:ext cx="151685" cy="151685"/>
                </a:xfrm>
                <a:custGeom>
                  <a:avLst/>
                  <a:gdLst>
                    <a:gd name="connsiteX0" fmla="*/ 151686 w 151685"/>
                    <a:gd name="connsiteY0" fmla="*/ 75843 h 151685"/>
                    <a:gd name="connsiteX1" fmla="*/ 75843 w 151685"/>
                    <a:gd name="connsiteY1" fmla="*/ 151686 h 151685"/>
                    <a:gd name="connsiteX2" fmla="*/ 0 w 151685"/>
                    <a:gd name="connsiteY2" fmla="*/ 75843 h 151685"/>
                    <a:gd name="connsiteX3" fmla="*/ 75843 w 151685"/>
                    <a:gd name="connsiteY3" fmla="*/ 0 h 151685"/>
                    <a:gd name="connsiteX4" fmla="*/ 151686 w 151685"/>
                    <a:gd name="connsiteY4" fmla="*/ 75843 h 1516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685" h="151685">
                      <a:moveTo>
                        <a:pt x="151686" y="75843"/>
                      </a:moveTo>
                      <a:cubicBezTo>
                        <a:pt x="151686" y="117730"/>
                        <a:pt x="117730" y="151686"/>
                        <a:pt x="75843" y="151686"/>
                      </a:cubicBezTo>
                      <a:cubicBezTo>
                        <a:pt x="33956" y="151686"/>
                        <a:pt x="0" y="117730"/>
                        <a:pt x="0" y="75843"/>
                      </a:cubicBezTo>
                      <a:cubicBezTo>
                        <a:pt x="0" y="33956"/>
                        <a:pt x="33956" y="0"/>
                        <a:pt x="75843" y="0"/>
                      </a:cubicBezTo>
                      <a:cubicBezTo>
                        <a:pt x="117730" y="0"/>
                        <a:pt x="151686" y="33956"/>
                        <a:pt x="151686" y="75843"/>
                      </a:cubicBezTo>
                      <a:close/>
                    </a:path>
                  </a:pathLst>
                </a:custGeom>
                <a:solidFill>
                  <a:schemeClr val="accent2"/>
                </a:solidFill>
                <a:ln w="4663" cap="flat">
                  <a:noFill/>
                  <a:prstDash val="solid"/>
                  <a:miter/>
                </a:ln>
              </p:spPr>
              <p:txBody>
                <a:bodyPr rtlCol="0" anchor="ctr"/>
                <a:lstStyle/>
                <a:p>
                  <a:endParaRPr lang="en-US" noProof="0" dirty="0"/>
                </a:p>
              </p:txBody>
            </p:sp>
            <p:sp>
              <p:nvSpPr>
                <p:cNvPr id="62" name="Freeform: Shape 61">
                  <a:extLst>
                    <a:ext uri="{FF2B5EF4-FFF2-40B4-BE49-F238E27FC236}">
                      <a16:creationId xmlns:a16="http://schemas.microsoft.com/office/drawing/2014/main" id="{AB2086AD-2DD4-4E8E-A997-73854A5B083B}"/>
                    </a:ext>
                  </a:extLst>
                </p:cNvPr>
                <p:cNvSpPr/>
                <p:nvPr/>
              </p:nvSpPr>
              <p:spPr>
                <a:xfrm>
                  <a:off x="3230775" y="4353085"/>
                  <a:ext cx="303371" cy="151685"/>
                </a:xfrm>
                <a:custGeom>
                  <a:avLst/>
                  <a:gdLst>
                    <a:gd name="connsiteX0" fmla="*/ 303371 w 303371"/>
                    <a:gd name="connsiteY0" fmla="*/ 151686 h 151685"/>
                    <a:gd name="connsiteX1" fmla="*/ 303371 w 303371"/>
                    <a:gd name="connsiteY1" fmla="*/ 75843 h 151685"/>
                    <a:gd name="connsiteX2" fmla="*/ 288203 w 303371"/>
                    <a:gd name="connsiteY2" fmla="*/ 45506 h 151685"/>
                    <a:gd name="connsiteX3" fmla="*/ 214256 w 303371"/>
                    <a:gd name="connsiteY3" fmla="*/ 9480 h 151685"/>
                    <a:gd name="connsiteX4" fmla="*/ 151686 w 303371"/>
                    <a:gd name="connsiteY4" fmla="*/ 0 h 151685"/>
                    <a:gd name="connsiteX5" fmla="*/ 89115 w 303371"/>
                    <a:gd name="connsiteY5" fmla="*/ 9480 h 151685"/>
                    <a:gd name="connsiteX6" fmla="*/ 15169 w 303371"/>
                    <a:gd name="connsiteY6" fmla="*/ 45506 h 151685"/>
                    <a:gd name="connsiteX7" fmla="*/ 0 w 303371"/>
                    <a:gd name="connsiteY7" fmla="*/ 75843 h 151685"/>
                    <a:gd name="connsiteX8" fmla="*/ 0 w 303371"/>
                    <a:gd name="connsiteY8" fmla="*/ 151686 h 151685"/>
                    <a:gd name="connsiteX9" fmla="*/ 303371 w 303371"/>
                    <a:gd name="connsiteY9" fmla="*/ 151686 h 151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371" h="151685">
                      <a:moveTo>
                        <a:pt x="303371" y="151686"/>
                      </a:moveTo>
                      <a:lnTo>
                        <a:pt x="303371" y="75843"/>
                      </a:lnTo>
                      <a:cubicBezTo>
                        <a:pt x="303371" y="64466"/>
                        <a:pt x="297683" y="53090"/>
                        <a:pt x="288203" y="45506"/>
                      </a:cubicBezTo>
                      <a:cubicBezTo>
                        <a:pt x="267346" y="28441"/>
                        <a:pt x="240801" y="17065"/>
                        <a:pt x="214256" y="9480"/>
                      </a:cubicBezTo>
                      <a:cubicBezTo>
                        <a:pt x="195295" y="3792"/>
                        <a:pt x="174439" y="0"/>
                        <a:pt x="151686" y="0"/>
                      </a:cubicBezTo>
                      <a:cubicBezTo>
                        <a:pt x="130829" y="0"/>
                        <a:pt x="109972" y="3792"/>
                        <a:pt x="89115" y="9480"/>
                      </a:cubicBezTo>
                      <a:cubicBezTo>
                        <a:pt x="62570" y="17065"/>
                        <a:pt x="36025" y="30337"/>
                        <a:pt x="15169" y="45506"/>
                      </a:cubicBezTo>
                      <a:cubicBezTo>
                        <a:pt x="5688" y="53090"/>
                        <a:pt x="0" y="64466"/>
                        <a:pt x="0" y="75843"/>
                      </a:cubicBezTo>
                      <a:lnTo>
                        <a:pt x="0" y="151686"/>
                      </a:lnTo>
                      <a:lnTo>
                        <a:pt x="303371" y="151686"/>
                      </a:lnTo>
                      <a:close/>
                    </a:path>
                  </a:pathLst>
                </a:custGeom>
                <a:solidFill>
                  <a:schemeClr val="accent2"/>
                </a:solidFill>
                <a:ln w="4663" cap="flat">
                  <a:noFill/>
                  <a:prstDash val="solid"/>
                  <a:miter/>
                </a:ln>
              </p:spPr>
              <p:txBody>
                <a:bodyPr rtlCol="0" anchor="ctr"/>
                <a:lstStyle/>
                <a:p>
                  <a:endParaRPr lang="en-US" noProof="0" dirty="0"/>
                </a:p>
              </p:txBody>
            </p:sp>
          </p:grpSp>
        </p:grpSp>
        <p:sp>
          <p:nvSpPr>
            <p:cNvPr id="58" name="TextBox 57">
              <a:extLst>
                <a:ext uri="{FF2B5EF4-FFF2-40B4-BE49-F238E27FC236}">
                  <a16:creationId xmlns:a16="http://schemas.microsoft.com/office/drawing/2014/main" id="{B1FA33AC-DCE2-89F6-D409-728A9B135565}"/>
                </a:ext>
              </a:extLst>
            </p:cNvPr>
            <p:cNvSpPr txBox="1"/>
            <p:nvPr/>
          </p:nvSpPr>
          <p:spPr>
            <a:xfrm>
              <a:off x="2856282" y="4492851"/>
              <a:ext cx="759080" cy="310154"/>
            </a:xfrm>
            <a:prstGeom prst="rect">
              <a:avLst/>
            </a:prstGeom>
            <a:solidFill>
              <a:schemeClr val="bg1"/>
            </a:solidFill>
          </p:spPr>
          <p:txBody>
            <a:bodyPr vert="horz" wrap="square" lIns="0" tIns="0" rIns="0" bIns="0" rtlCol="0">
              <a:noAutofit/>
            </a:bodyPr>
            <a:lstStyle/>
            <a:p>
              <a:pPr algn="ctr"/>
              <a:r>
                <a:rPr lang="en-US" sz="800" b="1" noProof="0" dirty="0">
                  <a:solidFill>
                    <a:schemeClr val="accent2"/>
                  </a:solidFill>
                </a:rPr>
                <a:t>Investment Advisor</a:t>
              </a:r>
            </a:p>
          </p:txBody>
        </p:sp>
      </p:grpSp>
      <p:sp>
        <p:nvSpPr>
          <p:cNvPr id="63" name="Arc 62">
            <a:extLst>
              <a:ext uri="{FF2B5EF4-FFF2-40B4-BE49-F238E27FC236}">
                <a16:creationId xmlns:a16="http://schemas.microsoft.com/office/drawing/2014/main" id="{7940DF03-E6A0-9036-8017-1DA528622493}"/>
              </a:ext>
            </a:extLst>
          </p:cNvPr>
          <p:cNvSpPr/>
          <p:nvPr/>
        </p:nvSpPr>
        <p:spPr>
          <a:xfrm>
            <a:off x="1219962" y="3146265"/>
            <a:ext cx="2700000" cy="2700000"/>
          </a:xfrm>
          <a:prstGeom prst="arc">
            <a:avLst>
              <a:gd name="adj1" fmla="val 18278719"/>
              <a:gd name="adj2" fmla="val 2623679"/>
            </a:avLst>
          </a:prstGeom>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4" name="Arc 63">
            <a:extLst>
              <a:ext uri="{FF2B5EF4-FFF2-40B4-BE49-F238E27FC236}">
                <a16:creationId xmlns:a16="http://schemas.microsoft.com/office/drawing/2014/main" id="{7E835DE5-9FB9-D2FA-0F1C-7CCC42A5FB7C}"/>
              </a:ext>
            </a:extLst>
          </p:cNvPr>
          <p:cNvSpPr/>
          <p:nvPr/>
        </p:nvSpPr>
        <p:spPr>
          <a:xfrm>
            <a:off x="804762" y="2656812"/>
            <a:ext cx="3528000" cy="3528000"/>
          </a:xfrm>
          <a:prstGeom prst="arc">
            <a:avLst>
              <a:gd name="adj1" fmla="val 11109425"/>
              <a:gd name="adj2" fmla="val 21118039"/>
            </a:avLst>
          </a:pr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5" name="TextBox 64">
            <a:extLst>
              <a:ext uri="{FF2B5EF4-FFF2-40B4-BE49-F238E27FC236}">
                <a16:creationId xmlns:a16="http://schemas.microsoft.com/office/drawing/2014/main" id="{6D1F1231-DDAA-692C-9999-33FC2C354B8D}"/>
              </a:ext>
            </a:extLst>
          </p:cNvPr>
          <p:cNvSpPr txBox="1"/>
          <p:nvPr/>
        </p:nvSpPr>
        <p:spPr>
          <a:xfrm>
            <a:off x="2098249" y="3035755"/>
            <a:ext cx="920621" cy="255834"/>
          </a:xfrm>
          <a:prstGeom prst="rect">
            <a:avLst/>
          </a:prstGeom>
          <a:noFill/>
        </p:spPr>
        <p:txBody>
          <a:bodyPr vert="horz" wrap="square" lIns="0" tIns="0" rIns="0" bIns="0" rtlCol="0">
            <a:noAutofit/>
          </a:bodyPr>
          <a:lstStyle/>
          <a:p>
            <a:pPr algn="ctr"/>
            <a:r>
              <a:rPr lang="en-US" sz="1100" b="1" noProof="0" dirty="0" err="1">
                <a:solidFill>
                  <a:schemeClr val="accent4"/>
                </a:solidFill>
              </a:rPr>
              <a:t>Personalised</a:t>
            </a:r>
            <a:endParaRPr lang="en-US" sz="1100" b="1" noProof="0" dirty="0">
              <a:solidFill>
                <a:schemeClr val="accent4"/>
              </a:solidFill>
            </a:endParaRPr>
          </a:p>
          <a:p>
            <a:pPr algn="ctr"/>
            <a:r>
              <a:rPr lang="en-US" sz="1100" b="1" noProof="0" dirty="0">
                <a:solidFill>
                  <a:schemeClr val="accent4"/>
                </a:solidFill>
              </a:rPr>
              <a:t>Ideas</a:t>
            </a:r>
          </a:p>
        </p:txBody>
      </p:sp>
      <p:grpSp>
        <p:nvGrpSpPr>
          <p:cNvPr id="66" name="Group 65">
            <a:extLst>
              <a:ext uri="{FF2B5EF4-FFF2-40B4-BE49-F238E27FC236}">
                <a16:creationId xmlns:a16="http://schemas.microsoft.com/office/drawing/2014/main" id="{60A739BF-CE8E-EDCD-93F4-234407083599}"/>
              </a:ext>
            </a:extLst>
          </p:cNvPr>
          <p:cNvGrpSpPr/>
          <p:nvPr/>
        </p:nvGrpSpPr>
        <p:grpSpPr>
          <a:xfrm>
            <a:off x="3315783" y="3424203"/>
            <a:ext cx="612000" cy="620206"/>
            <a:chOff x="3220777" y="3393683"/>
            <a:chExt cx="612000" cy="620206"/>
          </a:xfrm>
        </p:grpSpPr>
        <p:grpSp>
          <p:nvGrpSpPr>
            <p:cNvPr id="67" name="Group 66">
              <a:extLst>
                <a:ext uri="{FF2B5EF4-FFF2-40B4-BE49-F238E27FC236}">
                  <a16:creationId xmlns:a16="http://schemas.microsoft.com/office/drawing/2014/main" id="{395AD743-E61F-61C9-72E9-FD729FE95E26}"/>
                </a:ext>
              </a:extLst>
            </p:cNvPr>
            <p:cNvGrpSpPr/>
            <p:nvPr/>
          </p:nvGrpSpPr>
          <p:grpSpPr>
            <a:xfrm>
              <a:off x="3220777" y="3393683"/>
              <a:ext cx="612000" cy="620206"/>
              <a:chOff x="3220777" y="3393683"/>
              <a:chExt cx="612000" cy="620206"/>
            </a:xfrm>
          </p:grpSpPr>
          <p:sp>
            <p:nvSpPr>
              <p:cNvPr id="69" name="Oval 68">
                <a:extLst>
                  <a:ext uri="{FF2B5EF4-FFF2-40B4-BE49-F238E27FC236}">
                    <a16:creationId xmlns:a16="http://schemas.microsoft.com/office/drawing/2014/main" id="{BFA3FF94-7C8E-8DAE-EDE7-A62417C78027}"/>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0" name="Graphic 69" descr="Users with solid fill">
                <a:extLst>
                  <a:ext uri="{FF2B5EF4-FFF2-40B4-BE49-F238E27FC236}">
                    <a16:creationId xmlns:a16="http://schemas.microsoft.com/office/drawing/2014/main" id="{DFEE8DC5-C0AC-88F8-778D-FB404C70F3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92777" y="3393683"/>
                <a:ext cx="468000" cy="468000"/>
              </a:xfrm>
              <a:prstGeom prst="rect">
                <a:avLst/>
              </a:prstGeom>
            </p:spPr>
          </p:pic>
        </p:grpSp>
        <p:sp>
          <p:nvSpPr>
            <p:cNvPr id="68" name="TextBox 67">
              <a:extLst>
                <a:ext uri="{FF2B5EF4-FFF2-40B4-BE49-F238E27FC236}">
                  <a16:creationId xmlns:a16="http://schemas.microsoft.com/office/drawing/2014/main" id="{3B8E15F6-3B75-7A51-FDD3-F19F0C09653A}"/>
                </a:ext>
              </a:extLst>
            </p:cNvPr>
            <p:cNvSpPr txBox="1"/>
            <p:nvPr/>
          </p:nvSpPr>
          <p:spPr>
            <a:xfrm>
              <a:off x="3281178" y="3714514"/>
              <a:ext cx="494192" cy="208763"/>
            </a:xfrm>
            <a:prstGeom prst="ellipse">
              <a:avLst/>
            </a:prstGeom>
            <a:solidFill>
              <a:schemeClr val="bg1"/>
            </a:solidFill>
          </p:spPr>
          <p:txBody>
            <a:bodyPr vert="horz" wrap="none" lIns="0" tIns="0" rIns="0" bIns="0" rtlCol="0">
              <a:noAutofit/>
            </a:bodyPr>
            <a:lstStyle/>
            <a:p>
              <a:pPr algn="ctr"/>
              <a:r>
                <a:rPr lang="en-US" sz="800" b="1" noProof="0" dirty="0">
                  <a:solidFill>
                    <a:schemeClr val="accent4"/>
                  </a:solidFill>
                </a:rPr>
                <a:t>Research</a:t>
              </a:r>
              <a:endParaRPr lang="en-US" sz="900" b="1" noProof="0" dirty="0">
                <a:solidFill>
                  <a:schemeClr val="accent4"/>
                </a:solidFill>
              </a:endParaRPr>
            </a:p>
          </p:txBody>
        </p:sp>
      </p:grpSp>
      <p:sp>
        <p:nvSpPr>
          <p:cNvPr id="71" name="Arc 70">
            <a:extLst>
              <a:ext uri="{FF2B5EF4-FFF2-40B4-BE49-F238E27FC236}">
                <a16:creationId xmlns:a16="http://schemas.microsoft.com/office/drawing/2014/main" id="{18F35427-A5F7-62D2-7D0B-2E562C248641}"/>
              </a:ext>
            </a:extLst>
          </p:cNvPr>
          <p:cNvSpPr/>
          <p:nvPr/>
        </p:nvSpPr>
        <p:spPr>
          <a:xfrm>
            <a:off x="1222814" y="3137950"/>
            <a:ext cx="2700000" cy="2700000"/>
          </a:xfrm>
          <a:prstGeom prst="arc">
            <a:avLst>
              <a:gd name="adj1" fmla="val 3010337"/>
              <a:gd name="adj2" fmla="val 7852776"/>
            </a:avLst>
          </a:prstGeom>
          <a:ln w="127000">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2" name="Group 71">
            <a:extLst>
              <a:ext uri="{FF2B5EF4-FFF2-40B4-BE49-F238E27FC236}">
                <a16:creationId xmlns:a16="http://schemas.microsoft.com/office/drawing/2014/main" id="{3C6B6D59-8C4E-7770-CFEB-8B36AEC7CDE9}"/>
              </a:ext>
            </a:extLst>
          </p:cNvPr>
          <p:cNvGrpSpPr/>
          <p:nvPr/>
        </p:nvGrpSpPr>
        <p:grpSpPr>
          <a:xfrm>
            <a:off x="2275940" y="5500409"/>
            <a:ext cx="612000" cy="702666"/>
            <a:chOff x="3220777" y="3393683"/>
            <a:chExt cx="612000" cy="702666"/>
          </a:xfrm>
        </p:grpSpPr>
        <p:grpSp>
          <p:nvGrpSpPr>
            <p:cNvPr id="73" name="Group 72">
              <a:extLst>
                <a:ext uri="{FF2B5EF4-FFF2-40B4-BE49-F238E27FC236}">
                  <a16:creationId xmlns:a16="http://schemas.microsoft.com/office/drawing/2014/main" id="{F5383743-2440-4E39-C4B6-83A2CD49B537}"/>
                </a:ext>
              </a:extLst>
            </p:cNvPr>
            <p:cNvGrpSpPr/>
            <p:nvPr/>
          </p:nvGrpSpPr>
          <p:grpSpPr>
            <a:xfrm>
              <a:off x="3220777" y="3393683"/>
              <a:ext cx="612000" cy="620206"/>
              <a:chOff x="3220777" y="3393683"/>
              <a:chExt cx="612000" cy="620206"/>
            </a:xfrm>
          </p:grpSpPr>
          <p:sp>
            <p:nvSpPr>
              <p:cNvPr id="75" name="Oval 74">
                <a:extLst>
                  <a:ext uri="{FF2B5EF4-FFF2-40B4-BE49-F238E27FC236}">
                    <a16:creationId xmlns:a16="http://schemas.microsoft.com/office/drawing/2014/main" id="{E28512A5-8075-505D-1F77-EA40B33CEA6A}"/>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76" name="Graphic 75" descr="Users with solid fill">
                <a:extLst>
                  <a:ext uri="{FF2B5EF4-FFF2-40B4-BE49-F238E27FC236}">
                    <a16:creationId xmlns:a16="http://schemas.microsoft.com/office/drawing/2014/main" id="{5FFDF728-D01A-9A37-EB6A-146FE58BD92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92777" y="3393683"/>
                <a:ext cx="468000" cy="468000"/>
              </a:xfrm>
              <a:prstGeom prst="rect">
                <a:avLst/>
              </a:prstGeom>
            </p:spPr>
          </p:pic>
        </p:grpSp>
        <p:sp>
          <p:nvSpPr>
            <p:cNvPr id="74" name="TextBox 73">
              <a:extLst>
                <a:ext uri="{FF2B5EF4-FFF2-40B4-BE49-F238E27FC236}">
                  <a16:creationId xmlns:a16="http://schemas.microsoft.com/office/drawing/2014/main" id="{16A71876-1A97-6D6F-D2E0-DE1789104319}"/>
                </a:ext>
              </a:extLst>
            </p:cNvPr>
            <p:cNvSpPr txBox="1"/>
            <p:nvPr/>
          </p:nvSpPr>
          <p:spPr>
            <a:xfrm>
              <a:off x="3279681" y="3786195"/>
              <a:ext cx="494192" cy="310154"/>
            </a:xfrm>
            <a:prstGeom prst="rect">
              <a:avLst/>
            </a:prstGeom>
            <a:noFill/>
          </p:spPr>
          <p:txBody>
            <a:bodyPr vert="horz" wrap="square" lIns="0" tIns="0" rIns="0" bIns="0" rtlCol="0">
              <a:noAutofit/>
            </a:bodyPr>
            <a:lstStyle/>
            <a:p>
              <a:pPr algn="ctr"/>
              <a:r>
                <a:rPr lang="en-US" sz="800" b="1" noProof="0" dirty="0">
                  <a:solidFill>
                    <a:schemeClr val="accent5"/>
                  </a:solidFill>
                </a:rPr>
                <a:t>Trading</a:t>
              </a:r>
            </a:p>
            <a:p>
              <a:pPr algn="ctr"/>
              <a:r>
                <a:rPr lang="en-US" sz="800" b="1" noProof="0" dirty="0">
                  <a:solidFill>
                    <a:schemeClr val="accent5"/>
                  </a:solidFill>
                </a:rPr>
                <a:t>Desk</a:t>
              </a:r>
              <a:endParaRPr lang="en-US" sz="900" b="1" noProof="0" dirty="0">
                <a:solidFill>
                  <a:schemeClr val="accent5"/>
                </a:solidFill>
              </a:endParaRPr>
            </a:p>
          </p:txBody>
        </p:sp>
      </p:grpSp>
      <p:sp>
        <p:nvSpPr>
          <p:cNvPr id="77" name="Arc 76">
            <a:extLst>
              <a:ext uri="{FF2B5EF4-FFF2-40B4-BE49-F238E27FC236}">
                <a16:creationId xmlns:a16="http://schemas.microsoft.com/office/drawing/2014/main" id="{C6ED463D-9FB2-A86A-23FC-904EE1EFFFAA}"/>
              </a:ext>
            </a:extLst>
          </p:cNvPr>
          <p:cNvSpPr/>
          <p:nvPr/>
        </p:nvSpPr>
        <p:spPr>
          <a:xfrm>
            <a:off x="1222814" y="3139855"/>
            <a:ext cx="2700000" cy="2700000"/>
          </a:xfrm>
          <a:prstGeom prst="arc">
            <a:avLst>
              <a:gd name="adj1" fmla="val 8201012"/>
              <a:gd name="adj2" fmla="val 14068405"/>
            </a:avLst>
          </a:prstGeom>
          <a:ln w="1270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78" name="Group 77">
            <a:extLst>
              <a:ext uri="{FF2B5EF4-FFF2-40B4-BE49-F238E27FC236}">
                <a16:creationId xmlns:a16="http://schemas.microsoft.com/office/drawing/2014/main" id="{CC266B9F-D0FA-1049-B867-629A9151A298}"/>
              </a:ext>
            </a:extLst>
          </p:cNvPr>
          <p:cNvGrpSpPr/>
          <p:nvPr/>
        </p:nvGrpSpPr>
        <p:grpSpPr>
          <a:xfrm>
            <a:off x="1133360" y="3434366"/>
            <a:ext cx="612000" cy="690398"/>
            <a:chOff x="3220777" y="3393683"/>
            <a:chExt cx="612000" cy="690398"/>
          </a:xfrm>
        </p:grpSpPr>
        <p:grpSp>
          <p:nvGrpSpPr>
            <p:cNvPr id="79" name="Group 78">
              <a:extLst>
                <a:ext uri="{FF2B5EF4-FFF2-40B4-BE49-F238E27FC236}">
                  <a16:creationId xmlns:a16="http://schemas.microsoft.com/office/drawing/2014/main" id="{217FC900-49C6-FC45-0B28-A8023A89D231}"/>
                </a:ext>
              </a:extLst>
            </p:cNvPr>
            <p:cNvGrpSpPr/>
            <p:nvPr/>
          </p:nvGrpSpPr>
          <p:grpSpPr>
            <a:xfrm>
              <a:off x="3220777" y="3393683"/>
              <a:ext cx="612000" cy="620206"/>
              <a:chOff x="3220777" y="3393683"/>
              <a:chExt cx="612000" cy="620206"/>
            </a:xfrm>
          </p:grpSpPr>
          <p:sp>
            <p:nvSpPr>
              <p:cNvPr id="81" name="Oval 80">
                <a:extLst>
                  <a:ext uri="{FF2B5EF4-FFF2-40B4-BE49-F238E27FC236}">
                    <a16:creationId xmlns:a16="http://schemas.microsoft.com/office/drawing/2014/main" id="{5A770FD9-FADF-FA4A-21CC-8F12BF934B11}"/>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2" name="Graphic 81" descr="Users with solid fill">
                <a:extLst>
                  <a:ext uri="{FF2B5EF4-FFF2-40B4-BE49-F238E27FC236}">
                    <a16:creationId xmlns:a16="http://schemas.microsoft.com/office/drawing/2014/main" id="{95EAE5AE-FF47-7B08-918F-5E587EF606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92777" y="3393683"/>
                <a:ext cx="468000" cy="468000"/>
              </a:xfrm>
              <a:prstGeom prst="rect">
                <a:avLst/>
              </a:prstGeom>
            </p:spPr>
          </p:pic>
        </p:grpSp>
        <p:sp>
          <p:nvSpPr>
            <p:cNvPr id="80" name="TextBox 79">
              <a:extLst>
                <a:ext uri="{FF2B5EF4-FFF2-40B4-BE49-F238E27FC236}">
                  <a16:creationId xmlns:a16="http://schemas.microsoft.com/office/drawing/2014/main" id="{68783AB0-3B31-898C-9322-1BD7AF31D7EB}"/>
                </a:ext>
              </a:extLst>
            </p:cNvPr>
            <p:cNvSpPr txBox="1"/>
            <p:nvPr/>
          </p:nvSpPr>
          <p:spPr>
            <a:xfrm>
              <a:off x="3247840" y="3716796"/>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tx1">
                      <a:lumMod val="50000"/>
                      <a:lumOff val="50000"/>
                    </a:schemeClr>
                  </a:solidFill>
                </a:rPr>
                <a:t>Portfolio</a:t>
              </a:r>
            </a:p>
            <a:p>
              <a:pPr algn="ctr"/>
              <a:r>
                <a:rPr lang="en-US" sz="800" b="1" noProof="0" dirty="0">
                  <a:solidFill>
                    <a:schemeClr val="tx1">
                      <a:lumMod val="50000"/>
                      <a:lumOff val="50000"/>
                    </a:schemeClr>
                  </a:solidFill>
                </a:rPr>
                <a:t>Management</a:t>
              </a:r>
            </a:p>
            <a:p>
              <a:pPr algn="ctr"/>
              <a:endParaRPr lang="en-US" sz="900" b="1" noProof="0" dirty="0">
                <a:solidFill>
                  <a:schemeClr val="tx1">
                    <a:lumMod val="50000"/>
                    <a:lumOff val="50000"/>
                  </a:schemeClr>
                </a:solidFill>
              </a:endParaRPr>
            </a:p>
          </p:txBody>
        </p:sp>
      </p:grpSp>
      <p:sp>
        <p:nvSpPr>
          <p:cNvPr id="83" name="Arc 82">
            <a:extLst>
              <a:ext uri="{FF2B5EF4-FFF2-40B4-BE49-F238E27FC236}">
                <a16:creationId xmlns:a16="http://schemas.microsoft.com/office/drawing/2014/main" id="{4F5CBEFB-049C-EC7E-B035-FC45C7512D77}"/>
              </a:ext>
            </a:extLst>
          </p:cNvPr>
          <p:cNvSpPr/>
          <p:nvPr/>
        </p:nvSpPr>
        <p:spPr>
          <a:xfrm>
            <a:off x="804762" y="2762138"/>
            <a:ext cx="3528000" cy="3528000"/>
          </a:xfrm>
          <a:prstGeom prst="arc">
            <a:avLst>
              <a:gd name="adj1" fmla="val 115883"/>
              <a:gd name="adj2" fmla="val 10375677"/>
            </a:avLst>
          </a:pr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grpSp>
        <p:nvGrpSpPr>
          <p:cNvPr id="84" name="Group 83">
            <a:extLst>
              <a:ext uri="{FF2B5EF4-FFF2-40B4-BE49-F238E27FC236}">
                <a16:creationId xmlns:a16="http://schemas.microsoft.com/office/drawing/2014/main" id="{DCDE70EA-F1F6-64E4-ED70-9D4175A85FD0}"/>
              </a:ext>
            </a:extLst>
          </p:cNvPr>
          <p:cNvGrpSpPr/>
          <p:nvPr/>
        </p:nvGrpSpPr>
        <p:grpSpPr>
          <a:xfrm>
            <a:off x="3495099" y="5512550"/>
            <a:ext cx="612000" cy="730651"/>
            <a:chOff x="3220777" y="3383574"/>
            <a:chExt cx="612000" cy="730651"/>
          </a:xfrm>
        </p:grpSpPr>
        <p:grpSp>
          <p:nvGrpSpPr>
            <p:cNvPr id="85" name="Group 84">
              <a:extLst>
                <a:ext uri="{FF2B5EF4-FFF2-40B4-BE49-F238E27FC236}">
                  <a16:creationId xmlns:a16="http://schemas.microsoft.com/office/drawing/2014/main" id="{24083894-D9C8-9637-B280-2D3D105769A0}"/>
                </a:ext>
              </a:extLst>
            </p:cNvPr>
            <p:cNvGrpSpPr/>
            <p:nvPr/>
          </p:nvGrpSpPr>
          <p:grpSpPr>
            <a:xfrm>
              <a:off x="3220777" y="3383574"/>
              <a:ext cx="612000" cy="630315"/>
              <a:chOff x="3220777" y="3383574"/>
              <a:chExt cx="612000" cy="630315"/>
            </a:xfrm>
          </p:grpSpPr>
          <p:sp>
            <p:nvSpPr>
              <p:cNvPr id="87" name="Oval 86">
                <a:extLst>
                  <a:ext uri="{FF2B5EF4-FFF2-40B4-BE49-F238E27FC236}">
                    <a16:creationId xmlns:a16="http://schemas.microsoft.com/office/drawing/2014/main" id="{CA72AEBE-A19F-640C-749A-F3C304FAC8DD}"/>
                  </a:ext>
                </a:extLst>
              </p:cNvPr>
              <p:cNvSpPr/>
              <p:nvPr/>
            </p:nvSpPr>
            <p:spPr>
              <a:xfrm>
                <a:off x="3220777" y="3401889"/>
                <a:ext cx="612000" cy="61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noProof="0" dirty="0"/>
              </a:p>
            </p:txBody>
          </p:sp>
          <p:pic>
            <p:nvPicPr>
              <p:cNvPr id="88" name="Graphic 87" descr="Users with solid fill">
                <a:extLst>
                  <a:ext uri="{FF2B5EF4-FFF2-40B4-BE49-F238E27FC236}">
                    <a16:creationId xmlns:a16="http://schemas.microsoft.com/office/drawing/2014/main" id="{A3D6773E-5A95-E621-5878-EF2AB3615BB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272111" y="3383574"/>
                <a:ext cx="504000" cy="504000"/>
              </a:xfrm>
              <a:prstGeom prst="rect">
                <a:avLst/>
              </a:prstGeom>
            </p:spPr>
          </p:pic>
        </p:grpSp>
        <p:sp>
          <p:nvSpPr>
            <p:cNvPr id="86" name="TextBox 85">
              <a:extLst>
                <a:ext uri="{FF2B5EF4-FFF2-40B4-BE49-F238E27FC236}">
                  <a16:creationId xmlns:a16="http://schemas.microsoft.com/office/drawing/2014/main" id="{94600680-F1B5-7DB1-D77B-CCFA40A1E64F}"/>
                </a:ext>
              </a:extLst>
            </p:cNvPr>
            <p:cNvSpPr txBox="1"/>
            <p:nvPr/>
          </p:nvSpPr>
          <p:spPr>
            <a:xfrm>
              <a:off x="3247840" y="3746940"/>
              <a:ext cx="576925" cy="367285"/>
            </a:xfrm>
            <a:prstGeom prst="ellipse">
              <a:avLst/>
            </a:prstGeom>
            <a:solidFill>
              <a:schemeClr val="bg1"/>
            </a:solidFill>
          </p:spPr>
          <p:txBody>
            <a:bodyPr vert="horz" wrap="none" lIns="0" tIns="0" rIns="0" bIns="0" rtlCol="0">
              <a:noAutofit/>
            </a:bodyPr>
            <a:lstStyle/>
            <a:p>
              <a:pPr algn="ctr"/>
              <a:r>
                <a:rPr lang="en-US" sz="800" b="1" noProof="0" dirty="0">
                  <a:solidFill>
                    <a:schemeClr val="accent6">
                      <a:lumMod val="50000"/>
                    </a:schemeClr>
                  </a:solidFill>
                </a:rPr>
                <a:t>Risk </a:t>
              </a:r>
            </a:p>
            <a:p>
              <a:pPr algn="ctr"/>
              <a:r>
                <a:rPr lang="en-US" sz="800" b="1" noProof="0" dirty="0">
                  <a:solidFill>
                    <a:schemeClr val="accent6">
                      <a:lumMod val="50000"/>
                    </a:schemeClr>
                  </a:solidFill>
                </a:rPr>
                <a:t>Management</a:t>
              </a:r>
            </a:p>
            <a:p>
              <a:pPr algn="ctr"/>
              <a:endParaRPr lang="en-US" sz="900" b="1" noProof="0" dirty="0">
                <a:solidFill>
                  <a:schemeClr val="accent6">
                    <a:lumMod val="50000"/>
                  </a:schemeClr>
                </a:solidFill>
              </a:endParaRPr>
            </a:p>
          </p:txBody>
        </p:sp>
      </p:grpSp>
    </p:spTree>
    <p:extLst>
      <p:ext uri="{BB962C8B-B14F-4D97-AF65-F5344CB8AC3E}">
        <p14:creationId xmlns:p14="http://schemas.microsoft.com/office/powerpoint/2010/main" val="1819042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3 of 4. Weights as at 17 August 2026.</a:t>
            </a:r>
          </a:p>
        </p:txBody>
      </p:sp>
      <p:graphicFrame>
        <p:nvGraphicFramePr>
          <p:cNvPr id="4" name="Table 3"/>
          <p:cNvGraphicFramePr>
            <a:graphicFrameLocks noGrp="1"/>
          </p:cNvGraphicFramePr>
          <p:nvPr/>
        </p:nvGraphicFramePr>
        <p:xfrm>
          <a:off x="665163" y="2140000"/>
          <a:ext cx="9398001" cy="410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Equities</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l"/>
                      <a:r>
                        <a:rPr sz="1050" b="1">
                          <a:solidFill>
                            <a:srgbClr val="FFFFFF"/>
                          </a:solidFill>
                          <a:latin typeface="Nunito Sans ExtraBold"/>
                        </a:rPr>
                        <a:t/>
                      </a:r>
                    </a:p>
                  </a:txBody>
                  <a:tcPr marL="45720" marR="45720" marT="9144" marB="9144" anchor="ctr">
                    <a:solidFill>
                      <a:srgbClr val="79D6FF"/>
                    </a:solidFill>
                  </a:tcPr>
                </a:tc>
                <a:tc>
                  <a:txBody>
                    <a:bodyPr wrap="square"/>
                    <a:lstStyle/>
                    <a:p>
                      <a:pPr algn="r"/>
                      <a:r>
                        <a:rPr sz="1050" b="1">
                          <a:solidFill>
                            <a:srgbClr val="FFFFFF"/>
                          </a:solidFill>
                          <a:latin typeface="Nunito Sans ExtraBold"/>
                        </a:rPr>
                        <a:t>33.7%</a:t>
                      </a:r>
                    </a:p>
                  </a:txBody>
                  <a:tcPr marL="45720" marR="45720" marT="9144" marB="9144" anchor="ctr">
                    <a:solidFill>
                      <a:srgbClr val="79D6FF"/>
                    </a:solidFill>
                  </a:tcPr>
                </a:tc>
              </a:tr>
              <a:tr h="205000">
                <a:tc rowSpan="11">
                  <a:txBody>
                    <a:bodyPr wrap="square"/>
                    <a:lstStyle/>
                    <a:p>
                      <a:pPr algn="l"/>
                      <a:r>
                        <a:rPr sz="950" b="1">
                          <a:solidFill>
                            <a:srgbClr val="202945"/>
                          </a:solidFill>
                          <a:latin typeface="Calibri"/>
                        </a:rPr>
                        <a:t>Global / thematic</a:t>
                      </a:r>
                    </a:p>
                  </a:txBody>
                  <a:tcPr marL="45720" marR="45720" marT="9144" marB="9144" anchor="ctr">
                    <a:noFill/>
                  </a:tcPr>
                </a:tc>
                <a:tc>
                  <a:txBody>
                    <a:bodyPr wrap="square"/>
                    <a:lstStyle/>
                    <a:p>
                      <a:pPr algn="l"/>
                      <a:r>
                        <a:rPr sz="950" b="0">
                          <a:solidFill>
                            <a:srgbClr val="202945"/>
                          </a:solidFill>
                          <a:latin typeface="Calibri"/>
                        </a:rPr>
                        <a:t>IE000YYE6WK5</a:t>
                      </a:r>
                    </a:p>
                  </a:txBody>
                  <a:tcPr marL="45720" marR="45720" marT="9144" marB="9144" anchor="ctr">
                    <a:noFill/>
                  </a:tcPr>
                </a:tc>
                <a:tc>
                  <a:txBody>
                    <a:bodyPr wrap="square"/>
                    <a:lstStyle/>
                    <a:p>
                      <a:pPr algn="l"/>
                      <a:r>
                        <a:rPr sz="950" b="0">
                          <a:solidFill>
                            <a:srgbClr val="202945"/>
                          </a:solidFill>
                          <a:latin typeface="Calibri"/>
                        </a:rPr>
                        <a:t>VANECK VECTORS DEF A ETF</a:t>
                      </a:r>
                    </a:p>
                  </a:txBody>
                  <a:tcPr marL="45720" marR="45720" marT="9144" marB="9144" anchor="ctr">
                    <a:noFill/>
                  </a:tcPr>
                </a:tc>
                <a:tc>
                  <a:txBody>
                    <a:bodyPr wrap="square"/>
                    <a:lstStyle/>
                    <a:p>
                      <a:pPr algn="r"/>
                      <a:r>
                        <a:rPr sz="950" b="0">
                          <a:solidFill>
                            <a:srgbClr val="202945"/>
                          </a:solidFill>
                          <a:latin typeface="Calibri"/>
                        </a:rPr>
                        <a:t>2.6%</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LU0075056555</a:t>
                      </a:r>
                    </a:p>
                  </a:txBody>
                  <a:tcPr marL="45720" marR="45720" marT="9144" marB="9144" anchor="ctr">
                    <a:noFill/>
                  </a:tcPr>
                </a:tc>
                <a:tc>
                  <a:txBody>
                    <a:bodyPr wrap="square"/>
                    <a:lstStyle/>
                    <a:p>
                      <a:pPr algn="l"/>
                      <a:r>
                        <a:rPr sz="950" b="0">
                          <a:solidFill>
                            <a:srgbClr val="202945"/>
                          </a:solidFill>
                          <a:latin typeface="Calibri"/>
                        </a:rPr>
                        <a:t>BRGF WORLD MINING(REG)A2</a:t>
                      </a:r>
                    </a:p>
                  </a:txBody>
                  <a:tcPr marL="45720" marR="45720" marT="9144" marB="9144" anchor="ctr">
                    <a:noFill/>
                  </a:tcPr>
                </a:tc>
                <a:tc>
                  <a:txBody>
                    <a:bodyPr wrap="square"/>
                    <a:lstStyle/>
                    <a:p>
                      <a:pPr algn="r"/>
                      <a:r>
                        <a:rPr sz="950" b="0">
                          <a:solidFill>
                            <a:srgbClr val="202945"/>
                          </a:solidFill>
                          <a:latin typeface="Calibri"/>
                        </a:rPr>
                        <a:t>2.2%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LU0127786431</a:t>
                      </a:r>
                    </a:p>
                  </a:txBody>
                  <a:tcPr marL="45720" marR="45720" marT="9144" marB="9144" anchor="ctr">
                    <a:noFill/>
                  </a:tcPr>
                </a:tc>
                <a:tc>
                  <a:txBody>
                    <a:bodyPr wrap="square"/>
                    <a:lstStyle/>
                    <a:p>
                      <a:pPr algn="l"/>
                      <a:r>
                        <a:rPr sz="950" b="0">
                          <a:solidFill>
                            <a:srgbClr val="202945"/>
                          </a:solidFill>
                          <a:latin typeface="Calibri"/>
                        </a:rPr>
                        <a:t>GOLDMAN EU HIGH DIV P CAP</a:t>
                      </a:r>
                    </a:p>
                  </a:txBody>
                  <a:tcPr marL="45720" marR="45720" marT="9144" marB="9144" anchor="ctr">
                    <a:noFill/>
                  </a:tcPr>
                </a:tc>
                <a:tc>
                  <a:txBody>
                    <a:bodyPr wrap="square"/>
                    <a:lstStyle/>
                    <a:p>
                      <a:pPr algn="r"/>
                      <a:r>
                        <a:rPr sz="950" b="0">
                          <a:solidFill>
                            <a:srgbClr val="202945"/>
                          </a:solidFill>
                          <a:latin typeface="Calibri"/>
                        </a:rPr>
                        <a:t>2.1%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IE00BG0J4C88</a:t>
                      </a:r>
                    </a:p>
                  </a:txBody>
                  <a:tcPr marL="45720" marR="45720" marT="9144" marB="9144" anchor="ctr">
                    <a:noFill/>
                  </a:tcPr>
                </a:tc>
                <a:tc>
                  <a:txBody>
                    <a:bodyPr wrap="square"/>
                    <a:lstStyle/>
                    <a:p>
                      <a:pPr algn="l"/>
                      <a:r>
                        <a:rPr sz="950" b="0">
                          <a:solidFill>
                            <a:srgbClr val="202945"/>
                          </a:solidFill>
                          <a:latin typeface="Calibri"/>
                        </a:rPr>
                        <a:t>ISHS DIGITAL SECURITY ETF</a:t>
                      </a:r>
                    </a:p>
                  </a:txBody>
                  <a:tcPr marL="45720" marR="45720" marT="9144" marB="9144" anchor="ctr">
                    <a:noFill/>
                  </a:tcPr>
                </a:tc>
                <a:tc>
                  <a:txBody>
                    <a:bodyPr wrap="square"/>
                    <a:lstStyle/>
                    <a:p>
                      <a:pPr algn="r"/>
                      <a:r>
                        <a:rPr sz="950" b="0">
                          <a:solidFill>
                            <a:srgbClr val="202945"/>
                          </a:solidFill>
                          <a:latin typeface="Calibri"/>
                        </a:rPr>
                        <a:t>1.4%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IE00BDBBPZ26</a:t>
                      </a:r>
                    </a:p>
                  </a:txBody>
                  <a:tcPr marL="45720" marR="45720" marT="9144" marB="9144" anchor="ctr">
                    <a:noFill/>
                  </a:tcPr>
                </a:tc>
                <a:tc>
                  <a:txBody>
                    <a:bodyPr wrap="square"/>
                    <a:lstStyle/>
                    <a:p>
                      <a:pPr algn="l"/>
                      <a:r>
                        <a:rPr sz="950" b="0">
                          <a:solidFill>
                            <a:srgbClr val="202945"/>
                          </a:solidFill>
                          <a:latin typeface="Calibri"/>
                        </a:rPr>
                        <a:t>FTGF CB INF VAL X DIST Q</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IE000KHX9DX6</a:t>
                      </a:r>
                    </a:p>
                  </a:txBody>
                  <a:tcPr marL="45720" marR="45720" marT="9144" marB="9144" anchor="ctr">
                    <a:noFill/>
                  </a:tcPr>
                </a:tc>
                <a:tc>
                  <a:txBody>
                    <a:bodyPr wrap="square"/>
                    <a:lstStyle/>
                    <a:p>
                      <a:pPr algn="l"/>
                      <a:r>
                        <a:rPr sz="950" b="0">
                          <a:solidFill>
                            <a:srgbClr val="202945"/>
                          </a:solidFill>
                          <a:latin typeface="Calibri"/>
                        </a:rPr>
                        <a:t>WISD STRAT M&amp;R EARTHS ETF</a:t>
                      </a:r>
                    </a:p>
                  </a:txBody>
                  <a:tcPr marL="45720" marR="45720" marT="9144" marB="9144" anchor="ctr">
                    <a:noFill/>
                  </a:tcPr>
                </a:tc>
                <a:tc>
                  <a:txBody>
                    <a:bodyPr wrap="square"/>
                    <a:lstStyle/>
                    <a:p>
                      <a:pPr algn="r"/>
                      <a:r>
                        <a:rPr sz="950" b="0">
                          <a:solidFill>
                            <a:srgbClr val="202945"/>
                          </a:solidFill>
                          <a:latin typeface="Calibri"/>
                        </a:rPr>
                        <a:t>1.1%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SE0021921269</a:t>
                      </a:r>
                    </a:p>
                  </a:txBody>
                  <a:tcPr marL="45720" marR="45720" marT="9144" marB="9144" anchor="ctr">
                    <a:noFill/>
                  </a:tcPr>
                </a:tc>
                <a:tc>
                  <a:txBody>
                    <a:bodyPr wrap="square"/>
                    <a:lstStyle/>
                    <a:p>
                      <a:pPr algn="l"/>
                      <a:r>
                        <a:rPr sz="950" b="0">
                          <a:solidFill>
                            <a:srgbClr val="202945"/>
                          </a:solidFill>
                          <a:latin typeface="Calibri"/>
                        </a:rPr>
                        <a:t>SAAB AB B</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US92189F1066</a:t>
                      </a:r>
                    </a:p>
                  </a:txBody>
                  <a:tcPr marL="45720" marR="45720" marT="9144" marB="9144" anchor="ctr">
                    <a:noFill/>
                  </a:tcPr>
                </a:tc>
                <a:tc>
                  <a:txBody>
                    <a:bodyPr wrap="square"/>
                    <a:lstStyle/>
                    <a:p>
                      <a:pPr algn="l"/>
                      <a:r>
                        <a:rPr sz="950" b="0">
                          <a:solidFill>
                            <a:srgbClr val="202945"/>
                          </a:solidFill>
                          <a:latin typeface="Calibri"/>
                        </a:rPr>
                        <a:t>VANECK GOLD MINERS ETF</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IE00BF20LF40</a:t>
                      </a:r>
                    </a:p>
                  </a:txBody>
                  <a:tcPr marL="45720" marR="45720" marT="9144" marB="9144" anchor="ctr">
                    <a:noFill/>
                  </a:tcPr>
                </a:tc>
                <a:tc>
                  <a:txBody>
                    <a:bodyPr wrap="square"/>
                    <a:lstStyle/>
                    <a:p>
                      <a:pPr algn="l"/>
                      <a:r>
                        <a:rPr sz="950" b="0">
                          <a:solidFill>
                            <a:srgbClr val="202945"/>
                          </a:solidFill>
                          <a:latin typeface="Calibri"/>
                        </a:rPr>
                        <a:t>ISHS VI MSCI EUROP MC ETF</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LU3269411313</a:t>
                      </a:r>
                    </a:p>
                  </a:txBody>
                  <a:tcPr marL="45720" marR="45720" marT="9144" marB="9144" anchor="ctr">
                    <a:noFill/>
                  </a:tcPr>
                </a:tc>
                <a:tc>
                  <a:txBody>
                    <a:bodyPr wrap="square"/>
                    <a:lstStyle/>
                    <a:p>
                      <a:pPr algn="l"/>
                      <a:r>
                        <a:rPr sz="950" b="0">
                          <a:solidFill>
                            <a:srgbClr val="202945"/>
                          </a:solidFill>
                          <a:latin typeface="Calibri"/>
                        </a:rPr>
                        <a:t>DECALIA AEGIS DEFENSE A1</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LU0234576444</a:t>
                      </a:r>
                    </a:p>
                  </a:txBody>
                  <a:tcPr marL="45720" marR="45720" marT="9144" marB="9144" anchor="ctr">
                    <a:noFill/>
                  </a:tcPr>
                </a:tc>
                <a:tc>
                  <a:txBody>
                    <a:bodyPr wrap="square"/>
                    <a:lstStyle/>
                    <a:p>
                      <a:pPr algn="l"/>
                      <a:r>
                        <a:rPr sz="950" b="0">
                          <a:solidFill>
                            <a:srgbClr val="202945"/>
                          </a:solidFill>
                          <a:latin typeface="Calibri"/>
                        </a:rPr>
                        <a:t>G SACHS US SMALL CAP CORE</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a:txBody>
                    <a:bodyPr wrap="square"/>
                    <a:lstStyle/>
                    <a:p>
                      <a:pPr algn="l"/>
                      <a:r>
                        <a:rPr sz="1050" b="1">
                          <a:solidFill>
                            <a:srgbClr val="FFFFFF"/>
                          </a:solidFill>
                          <a:latin typeface="Nunito Sans ExtraBold"/>
                        </a:rPr>
                        <a:t>Structured Products</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l"/>
                      <a:r>
                        <a:rPr sz="1050" b="1">
                          <a:solidFill>
                            <a:srgbClr val="FFFFFF"/>
                          </a:solidFill>
                          <a:latin typeface="Nunito Sans ExtraBold"/>
                        </a:rPr>
                        <a:t/>
                      </a:r>
                    </a:p>
                  </a:txBody>
                  <a:tcPr marL="45720" marR="45720" marT="9144" marB="9144" anchor="ctr">
                    <a:solidFill>
                      <a:srgbClr val="E6A4AD"/>
                    </a:solidFill>
                  </a:tcPr>
                </a:tc>
                <a:tc>
                  <a:txBody>
                    <a:bodyPr wrap="square"/>
                    <a:lstStyle/>
                    <a:p>
                      <a:pPr algn="r"/>
                      <a:r>
                        <a:rPr sz="1050" b="1">
                          <a:solidFill>
                            <a:srgbClr val="FFFFFF"/>
                          </a:solidFill>
                          <a:latin typeface="Nunito Sans ExtraBold"/>
                        </a:rPr>
                        <a:t>5.5%</a:t>
                      </a:r>
                    </a:p>
                  </a:txBody>
                  <a:tcPr marL="45720" marR="45720" marT="9144" marB="9144" anchor="ctr">
                    <a:solidFill>
                      <a:srgbClr val="E6A4AD"/>
                    </a:solidFill>
                  </a:tcPr>
                </a:tc>
              </a:tr>
              <a:tr h="205000">
                <a:tc rowSpan="6">
                  <a:txBody>
                    <a:bodyPr wrap="square"/>
                    <a:lstStyle/>
                    <a:p>
                      <a:pPr algn="l"/>
                      <a:r>
                        <a:rPr sz="950" b="1">
                          <a:solidFill>
                            <a:srgbClr val="202945"/>
                          </a:solidFill>
                          <a:latin typeface="Calibri"/>
                        </a:rPr>
                        <a:t>Structured Products</a:t>
                      </a:r>
                    </a:p>
                  </a:txBody>
                  <a:tcPr marL="45720" marR="45720" marT="9144" marB="9144" anchor="ctr">
                    <a:noFill/>
                  </a:tcPr>
                </a:tc>
                <a:tc>
                  <a:txBody>
                    <a:bodyPr wrap="square"/>
                    <a:lstStyle/>
                    <a:p>
                      <a:pPr algn="l"/>
                      <a:r>
                        <a:rPr sz="950" b="0">
                          <a:solidFill>
                            <a:srgbClr val="202945"/>
                          </a:solidFill>
                          <a:latin typeface="Calibri"/>
                        </a:rPr>
                        <a:t>XS3164745351</a:t>
                      </a:r>
                    </a:p>
                  </a:txBody>
                  <a:tcPr marL="45720" marR="45720" marT="9144" marB="9144" anchor="ctr">
                    <a:noFill/>
                  </a:tcPr>
                </a:tc>
                <a:tc>
                  <a:txBody>
                    <a:bodyPr wrap="square"/>
                    <a:lstStyle/>
                    <a:p>
                      <a:pPr algn="l"/>
                      <a:r>
                        <a:rPr sz="950" b="0">
                          <a:solidFill>
                            <a:srgbClr val="202945"/>
                          </a:solidFill>
                          <a:latin typeface="Calibri"/>
                        </a:rPr>
                        <a:t>CITIBTB11.3%ABBN-GALD-UBS  15.06.2027</a:t>
                      </a:r>
                    </a:p>
                  </a:txBody>
                  <a:tcPr marL="45720" marR="45720" marT="9144" marB="9144" anchor="ctr">
                    <a:noFill/>
                  </a:tcPr>
                </a:tc>
                <a:tc>
                  <a:txBody>
                    <a:bodyPr wrap="square"/>
                    <a:lstStyle/>
                    <a:p>
                      <a:pPr algn="r"/>
                      <a:r>
                        <a:rPr sz="950" b="0">
                          <a:solidFill>
                            <a:srgbClr val="202945"/>
                          </a:solidFill>
                          <a:latin typeface="Calibri"/>
                        </a:rPr>
                        <a:t>1.2%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CH1476717926</a:t>
                      </a:r>
                    </a:p>
                  </a:txBody>
                  <a:tcPr marL="45720" marR="45720" marT="9144" marB="9144" anchor="ctr">
                    <a:noFill/>
                  </a:tcPr>
                </a:tc>
                <a:tc>
                  <a:txBody>
                    <a:bodyPr wrap="square"/>
                    <a:lstStyle/>
                    <a:p>
                      <a:pPr algn="l"/>
                      <a:r>
                        <a:rPr sz="950" b="0">
                          <a:solidFill>
                            <a:srgbClr val="202945"/>
                          </a:solidFill>
                          <a:latin typeface="Calibri"/>
                        </a:rPr>
                        <a:t>TCM 100% CPN 125% LEONAI1  25.08.2028</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XS3180169339</a:t>
                      </a:r>
                    </a:p>
                  </a:txBody>
                  <a:tcPr marL="45720" marR="45720" marT="9144" marB="9144" anchor="ctr">
                    <a:noFill/>
                  </a:tcPr>
                </a:tc>
                <a:tc>
                  <a:txBody>
                    <a:bodyPr wrap="square"/>
                    <a:lstStyle/>
                    <a:p>
                      <a:pPr algn="l"/>
                      <a:r>
                        <a:rPr sz="950" b="0">
                          <a:solidFill>
                            <a:srgbClr val="202945"/>
                          </a:solidFill>
                          <a:latin typeface="Calibri"/>
                        </a:rPr>
                        <a:t>BNP CPN 8% ENI-TTE-CVX  10.11.2027</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CH1384269176</a:t>
                      </a:r>
                    </a:p>
                  </a:txBody>
                  <a:tcPr marL="45720" marR="45720" marT="9144" marB="9144" anchor="ctr">
                    <a:noFill/>
                  </a:tcPr>
                </a:tc>
                <a:tc>
                  <a:txBody>
                    <a:bodyPr wrap="square"/>
                    <a:lstStyle/>
                    <a:p>
                      <a:pPr algn="l"/>
                      <a:r>
                        <a:rPr sz="950" b="0">
                          <a:solidFill>
                            <a:srgbClr val="202945"/>
                          </a:solidFill>
                          <a:latin typeface="Calibri"/>
                        </a:rPr>
                        <a:t>BIL OC 211.5% NESN  13.12.2027</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CH1587815338</a:t>
                      </a:r>
                    </a:p>
                  </a:txBody>
                  <a:tcPr marL="45720" marR="45720" marT="9144" marB="9144" anchor="ctr">
                    <a:noFill/>
                  </a:tcPr>
                </a:tc>
                <a:tc>
                  <a:txBody>
                    <a:bodyPr wrap="square"/>
                    <a:lstStyle/>
                    <a:p>
                      <a:pPr algn="l"/>
                      <a:r>
                        <a:rPr sz="950" b="0">
                          <a:solidFill>
                            <a:srgbClr val="202945"/>
                          </a:solidFill>
                          <a:latin typeface="Calibri"/>
                        </a:rPr>
                        <a:t>8% DCI-XAGUSD-48.206 UBS  24.08.2026</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CH1511301322</a:t>
                      </a:r>
                    </a:p>
                  </a:txBody>
                  <a:tcPr marL="45720" marR="45720" marT="9144" marB="9144" anchor="ctr">
                    <a:noFill/>
                  </a:tcPr>
                </a:tc>
                <a:tc>
                  <a:txBody>
                    <a:bodyPr wrap="square"/>
                    <a:lstStyle/>
                    <a:p>
                      <a:pPr algn="l"/>
                      <a:r>
                        <a:rPr sz="950" b="0">
                          <a:solidFill>
                            <a:srgbClr val="202945"/>
                          </a:solidFill>
                          <a:latin typeface="Calibri"/>
                        </a:rPr>
                        <a:t>RAF 9.45% GOOGL-AMZN-MSFT  24.12.2026</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portfolio: full holdings list</a:t>
            </a:r>
          </a:p>
        </p:txBody>
      </p:sp>
      <p:sp>
        <p:nvSpPr>
          <p:cNvPr id="3" name="Text Placeholder 2"/>
          <p:cNvSpPr txBox="1"/>
          <p:nvPr/>
        </p:nvSpPr>
        <p:spPr>
          <a:xfrm>
            <a:off x="665163" y="1728947"/>
            <a:ext cx="9398001" cy="560000"/>
          </a:xfrm>
          <a:prstGeom prst="rect">
            <a:avLst/>
          </a:prstGeom>
          <a:noFill/>
        </p:spPr>
        <p:txBody>
          <a:bodyPr wrap="square" anchor="t" lIns="0" rIns="0" tIns="0" bIns="0">
            <a:spAutoFit/>
          </a:bodyPr>
          <a:lstStyle/>
          <a:p>
            <a:r>
              <a:rPr sz="1200">
                <a:solidFill>
                  <a:srgbClr val="202945"/>
                </a:solidFill>
              </a:rPr>
              <a:t>All positions of the proposed EUR 21.3m allocation, part 4 of 4. Weights as at 17 August 2026.</a:t>
            </a:r>
          </a:p>
        </p:txBody>
      </p:sp>
      <p:graphicFrame>
        <p:nvGraphicFramePr>
          <p:cNvPr id="4" name="Table 3"/>
          <p:cNvGraphicFramePr>
            <a:graphicFrameLocks noGrp="1"/>
          </p:cNvGraphicFramePr>
          <p:nvPr/>
        </p:nvGraphicFramePr>
        <p:xfrm>
          <a:off x="665163" y="2140000"/>
          <a:ext cx="9398001" cy="4100000"/>
        </p:xfrm>
        <a:graphic>
          <a:graphicData uri="http://schemas.openxmlformats.org/drawingml/2006/table">
            <a:tbl>
              <a:tblPr>
                <a:tableStyleId>{5C22544A-7EE6-4342-B048-85BDC9FD1C3A}</a:tableStyleId>
              </a:tblPr>
              <a:tblGrid>
                <a:gridCol w="1900000"/>
                <a:gridCol w="1500000"/>
                <a:gridCol w="4573001"/>
                <a:gridCol w="1425000"/>
              </a:tblGrid>
              <a:tr h="205000">
                <a:tc>
                  <a:txBody>
                    <a:bodyPr wrap="square"/>
                    <a:lstStyle/>
                    <a:p>
                      <a:pPr algn="l"/>
                      <a:r>
                        <a:rPr sz="1000" b="1">
                          <a:solidFill>
                            <a:srgbClr val="202945"/>
                          </a:solidFill>
                          <a:latin typeface="Nunito Sans ExtraBold"/>
                        </a:rPr>
                        <a:t>Asset Allocation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ISIN</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Instrument</a:t>
                      </a:r>
                    </a:p>
                  </a:txBody>
                  <a:tcPr marL="45720" marR="45720" marT="9144" marB="9144" anchor="ctr">
                    <a:solidFill>
                      <a:srgbClr val="FFFFFF"/>
                    </a:solidFill>
                  </a:tcPr>
                </a:tc>
                <a:tc>
                  <a:txBody>
                    <a:bodyPr wrap="square"/>
                    <a:lstStyle/>
                    <a:p>
                      <a:pPr algn="l"/>
                      <a:r>
                        <a:rPr sz="1000" b="1">
                          <a:solidFill>
                            <a:srgbClr val="202945"/>
                          </a:solidFill>
                          <a:latin typeface="Nunito Sans ExtraBold"/>
                        </a:rPr>
                        <a:t>Weight</a:t>
                      </a:r>
                    </a:p>
                  </a:txBody>
                  <a:tcPr marL="45720" marR="45720" marT="9144" marB="9144" anchor="ctr">
                    <a:solidFill>
                      <a:srgbClr val="FFFFFF"/>
                    </a:solidFill>
                  </a:tcPr>
                </a:tc>
              </a:tr>
              <a:tr h="205000">
                <a:tc>
                  <a:txBody>
                    <a:bodyPr wrap="square"/>
                    <a:lstStyle/>
                    <a:p>
                      <a:pPr algn="l"/>
                      <a:r>
                        <a:rPr sz="1050" b="1">
                          <a:solidFill>
                            <a:srgbClr val="FFFFFF"/>
                          </a:solidFill>
                          <a:latin typeface="Nunito Sans ExtraBold"/>
                        </a:rPr>
                        <a:t>Private Assets</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l"/>
                      <a:r>
                        <a:rPr sz="1050" b="1">
                          <a:solidFill>
                            <a:srgbClr val="FFFFFF"/>
                          </a:solidFill>
                          <a:latin typeface="Nunito Sans ExtraBold"/>
                        </a:rPr>
                        <a:t/>
                      </a:r>
                    </a:p>
                  </a:txBody>
                  <a:tcPr marL="45720" marR="45720" marT="9144" marB="9144" anchor="ctr">
                    <a:solidFill>
                      <a:srgbClr val="AC5D85"/>
                    </a:solidFill>
                  </a:tcPr>
                </a:tc>
                <a:tc>
                  <a:txBody>
                    <a:bodyPr wrap="square"/>
                    <a:lstStyle/>
                    <a:p>
                      <a:pPr algn="r"/>
                      <a:r>
                        <a:rPr sz="1050" b="1">
                          <a:solidFill>
                            <a:srgbClr val="FFFFFF"/>
                          </a:solidFill>
                          <a:latin typeface="Nunito Sans ExtraBold"/>
                        </a:rPr>
                        <a:t>16.3%</a:t>
                      </a:r>
                    </a:p>
                  </a:txBody>
                  <a:tcPr marL="45720" marR="45720" marT="9144" marB="9144" anchor="ctr">
                    <a:solidFill>
                      <a:srgbClr val="AC5D85"/>
                    </a:solidFill>
                  </a:tcPr>
                </a:tc>
              </a:tr>
              <a:tr h="205000">
                <a:tc rowSpan="8">
                  <a:txBody>
                    <a:bodyPr wrap="square"/>
                    <a:lstStyle/>
                    <a:p>
                      <a:pPr algn="l"/>
                      <a:r>
                        <a:rPr sz="950" b="1">
                          <a:solidFill>
                            <a:srgbClr val="202945"/>
                          </a:solidFill>
                          <a:latin typeface="Calibri"/>
                        </a:rPr>
                        <a:t>Private Assets</a:t>
                      </a:r>
                    </a:p>
                  </a:txBody>
                  <a:tcPr marL="45720" marR="45720" marT="9144" marB="9144" anchor="ctr">
                    <a:noFill/>
                  </a:tcPr>
                </a:tc>
                <a:tc>
                  <a:txBody>
                    <a:bodyPr wrap="square"/>
                    <a:lstStyle/>
                    <a:p>
                      <a:pPr algn="l"/>
                      <a:r>
                        <a:rPr sz="950" b="0">
                          <a:solidFill>
                            <a:srgbClr val="202945"/>
                          </a:solidFill>
                          <a:latin typeface="Calibri"/>
                        </a:rPr>
                        <a:t>XX0009936591</a:t>
                      </a:r>
                    </a:p>
                  </a:txBody>
                  <a:tcPr marL="45720" marR="45720" marT="9144" marB="9144" anchor="ctr">
                    <a:noFill/>
                  </a:tcPr>
                </a:tc>
                <a:tc>
                  <a:txBody>
                    <a:bodyPr wrap="square"/>
                    <a:lstStyle/>
                    <a:p>
                      <a:pPr algn="l"/>
                      <a:r>
                        <a:rPr sz="950" b="0">
                          <a:solidFill>
                            <a:srgbClr val="202945"/>
                          </a:solidFill>
                          <a:latin typeface="Calibri"/>
                        </a:rPr>
                        <a:t>COA KONA III REF3 LP</a:t>
                      </a:r>
                    </a:p>
                  </a:txBody>
                  <a:tcPr marL="45720" marR="45720" marT="9144" marB="9144" anchor="ctr">
                    <a:noFill/>
                  </a:tcPr>
                </a:tc>
                <a:tc>
                  <a:txBody>
                    <a:bodyPr wrap="square"/>
                    <a:lstStyle/>
                    <a:p>
                      <a:pPr algn="r"/>
                      <a:r>
                        <a:rPr sz="950" b="0">
                          <a:solidFill>
                            <a:srgbClr val="202945"/>
                          </a:solidFill>
                          <a:latin typeface="Calibri"/>
                        </a:rPr>
                        <a:t>6.7%</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XX9970157841</a:t>
                      </a:r>
                    </a:p>
                  </a:txBody>
                  <a:tcPr marL="45720" marR="45720" marT="9144" marB="9144" anchor="ctr">
                    <a:noFill/>
                  </a:tcPr>
                </a:tc>
                <a:tc>
                  <a:txBody>
                    <a:bodyPr wrap="square"/>
                    <a:lstStyle/>
                    <a:p>
                      <a:pPr algn="l"/>
                      <a:r>
                        <a:rPr sz="950" b="0">
                          <a:solidFill>
                            <a:srgbClr val="202945"/>
                          </a:solidFill>
                          <a:latin typeface="Calibri"/>
                        </a:rPr>
                        <a:t>LEFT LANE CP II CLT2</a:t>
                      </a:r>
                    </a:p>
                  </a:txBody>
                  <a:tcPr marL="45720" marR="45720" marT="9144" marB="9144" anchor="ctr">
                    <a:noFill/>
                  </a:tcPr>
                </a:tc>
                <a:tc>
                  <a:txBody>
                    <a:bodyPr wrap="square"/>
                    <a:lstStyle/>
                    <a:p>
                      <a:pPr algn="r"/>
                      <a:r>
                        <a:rPr sz="950" b="0">
                          <a:solidFill>
                            <a:srgbClr val="202945"/>
                          </a:solidFill>
                          <a:latin typeface="Calibri"/>
                        </a:rPr>
                        <a:t>6.0%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XX0009936523</a:t>
                      </a:r>
                    </a:p>
                  </a:txBody>
                  <a:tcPr marL="45720" marR="45720" marT="9144" marB="9144" anchor="ctr">
                    <a:noFill/>
                  </a:tcPr>
                </a:tc>
                <a:tc>
                  <a:txBody>
                    <a:bodyPr wrap="square"/>
                    <a:lstStyle/>
                    <a:p>
                      <a:pPr algn="l"/>
                      <a:r>
                        <a:rPr sz="950" b="0">
                          <a:solidFill>
                            <a:srgbClr val="202945"/>
                          </a:solidFill>
                          <a:latin typeface="Calibri"/>
                        </a:rPr>
                        <a:t>ACE BUYOUT III SPC A</a:t>
                      </a:r>
                    </a:p>
                  </a:txBody>
                  <a:tcPr marL="45720" marR="45720" marT="9144" marB="9144" anchor="ctr">
                    <a:noFill/>
                  </a:tcPr>
                </a:tc>
                <a:tc>
                  <a:txBody>
                    <a:bodyPr wrap="square"/>
                    <a:lstStyle/>
                    <a:p>
                      <a:pPr algn="r"/>
                      <a:r>
                        <a:rPr sz="950" b="0">
                          <a:solidFill>
                            <a:srgbClr val="202945"/>
                          </a:solidFill>
                          <a:latin typeface="Calibri"/>
                        </a:rPr>
                        <a:t>1.8%</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XX0009947993</a:t>
                      </a:r>
                    </a:p>
                  </a:txBody>
                  <a:tcPr marL="45720" marR="45720" marT="9144" marB="9144" anchor="ctr">
                    <a:noFill/>
                  </a:tcPr>
                </a:tc>
                <a:tc>
                  <a:txBody>
                    <a:bodyPr wrap="square"/>
                    <a:lstStyle/>
                    <a:p>
                      <a:pPr algn="l"/>
                      <a:r>
                        <a:rPr sz="950" b="0">
                          <a:solidFill>
                            <a:srgbClr val="202945"/>
                          </a:solidFill>
                          <a:latin typeface="Calibri"/>
                        </a:rPr>
                        <a:t>ECHO FUND SCSP</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XX0009959644</a:t>
                      </a:r>
                    </a:p>
                  </a:txBody>
                  <a:tcPr marL="45720" marR="45720" marT="9144" marB="9144" anchor="ctr">
                    <a:noFill/>
                  </a:tcPr>
                </a:tc>
                <a:tc>
                  <a:txBody>
                    <a:bodyPr wrap="square"/>
                    <a:lstStyle/>
                    <a:p>
                      <a:pPr algn="l"/>
                      <a:r>
                        <a:rPr sz="950" b="0">
                          <a:solidFill>
                            <a:srgbClr val="202945"/>
                          </a:solidFill>
                          <a:latin typeface="Calibri"/>
                        </a:rPr>
                        <a:t>THEMIS FUND REF2 SCSP</a:t>
                      </a:r>
                    </a:p>
                  </a:txBody>
                  <a:tcPr marL="45720" marR="45720" marT="9144" marB="9144" anchor="ctr">
                    <a:noFill/>
                  </a:tcPr>
                </a:tc>
                <a:tc>
                  <a:txBody>
                    <a:bodyPr wrap="square"/>
                    <a:lstStyle/>
                    <a:p>
                      <a:pPr algn="r"/>
                      <a:r>
                        <a:rPr sz="950" b="0">
                          <a:solidFill>
                            <a:srgbClr val="202945"/>
                          </a:solidFill>
                          <a:latin typeface="Calibri"/>
                        </a:rPr>
                        <a:t>0.4%</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XX9970157842</a:t>
                      </a:r>
                    </a:p>
                  </a:txBody>
                  <a:tcPr marL="45720" marR="45720" marT="9144" marB="9144" anchor="ctr">
                    <a:noFill/>
                  </a:tcPr>
                </a:tc>
                <a:tc>
                  <a:txBody>
                    <a:bodyPr wrap="square"/>
                    <a:lstStyle/>
                    <a:p>
                      <a:pPr algn="l"/>
                      <a:r>
                        <a:rPr sz="950" b="0">
                          <a:solidFill>
                            <a:srgbClr val="202945"/>
                          </a:solidFill>
                          <a:latin typeface="Calibri"/>
                        </a:rPr>
                        <a:t>LEFT LANE II CLT2 CC</a:t>
                      </a:r>
                    </a:p>
                  </a:txBody>
                  <a:tcPr marL="45720" marR="45720" marT="9144" marB="9144" anchor="ctr">
                    <a:noFill/>
                  </a:tcPr>
                </a:tc>
                <a:tc>
                  <a:txBody>
                    <a:bodyPr wrap="square"/>
                    <a:lstStyle/>
                    <a:p>
                      <a:pPr algn="r"/>
                      <a:r>
                        <a:rPr sz="950" b="0">
                          <a:solidFill>
                            <a:srgbClr val="202945"/>
                          </a:solidFill>
                          <a:latin typeface="Calibri"/>
                        </a:rPr>
                        <a:t>0.2%</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XX0009959643</a:t>
                      </a:r>
                    </a:p>
                  </a:txBody>
                  <a:tcPr marL="45720" marR="45720" marT="9144" marB="9144" anchor="ctr">
                    <a:noFill/>
                  </a:tcPr>
                </a:tc>
                <a:tc>
                  <a:txBody>
                    <a:bodyPr wrap="square"/>
                    <a:lstStyle/>
                    <a:p>
                      <a:pPr algn="l"/>
                      <a:r>
                        <a:rPr sz="950" b="0">
                          <a:solidFill>
                            <a:srgbClr val="202945"/>
                          </a:solidFill>
                          <a:latin typeface="Calibri"/>
                        </a:rPr>
                        <a:t>THEMIS FD REF2 CC</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
                      </a:r>
                    </a:p>
                  </a:txBody>
                  <a:tcPr marL="45720" marR="45720" marT="9144" marB="9144" anchor="ctr">
                    <a:noFill/>
                  </a:tcPr>
                </a:tc>
                <a:tc>
                  <a:txBody>
                    <a:bodyPr wrap="square"/>
                    <a:lstStyle/>
                    <a:p>
                      <a:pPr algn="l"/>
                      <a:r>
                        <a:rPr sz="950" b="0">
                          <a:solidFill>
                            <a:srgbClr val="202945"/>
                          </a:solidFill>
                          <a:latin typeface="Calibri"/>
                        </a:rPr>
                        <a:t>ACE BUYOUT III A CC</a:t>
                      </a:r>
                    </a:p>
                  </a:txBody>
                  <a:tcPr marL="45720" marR="45720" marT="9144" marB="9144" anchor="ctr">
                    <a:noFill/>
                  </a:tcPr>
                </a:tc>
                <a:tc>
                  <a:txBody>
                    <a:bodyPr wrap="square"/>
                    <a:lstStyle/>
                    <a:p>
                      <a:pPr algn="r"/>
                      <a:r>
                        <a:rPr sz="950" b="0">
                          <a:solidFill>
                            <a:srgbClr val="202945"/>
                          </a:solidFill>
                          <a:latin typeface="Calibri"/>
                        </a:rPr>
                        <a:t>&lt;0.1%</a:t>
                      </a:r>
                    </a:p>
                  </a:txBody>
                  <a:tcPr marL="45720" marR="45720" marT="9144" marB="9144" anchor="ctr">
                    <a:noFill/>
                  </a:tcPr>
                </a:tc>
              </a:tr>
              <a:tr h="205000">
                <a:tc>
                  <a:txBody>
                    <a:bodyPr wrap="square"/>
                    <a:lstStyle/>
                    <a:p>
                      <a:pPr algn="l"/>
                      <a:r>
                        <a:rPr sz="1050" b="1">
                          <a:solidFill>
                            <a:srgbClr val="FFFFFF"/>
                          </a:solidFill>
                          <a:latin typeface="Nunito Sans ExtraBold"/>
                        </a:rPr>
                        <a:t>Commodities</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l"/>
                      <a:r>
                        <a:rPr sz="1050" b="1">
                          <a:solidFill>
                            <a:srgbClr val="FFFFFF"/>
                          </a:solidFill>
                          <a:latin typeface="Nunito Sans ExtraBold"/>
                        </a:rPr>
                        <a:t/>
                      </a:r>
                    </a:p>
                  </a:txBody>
                  <a:tcPr marL="45720" marR="45720" marT="9144" marB="9144" anchor="ctr">
                    <a:solidFill>
                      <a:srgbClr val="3BAF90"/>
                    </a:solidFill>
                  </a:tcPr>
                </a:tc>
                <a:tc>
                  <a:txBody>
                    <a:bodyPr wrap="square"/>
                    <a:lstStyle/>
                    <a:p>
                      <a:pPr algn="r"/>
                      <a:r>
                        <a:rPr sz="1050" b="1">
                          <a:solidFill>
                            <a:srgbClr val="FFFFFF"/>
                          </a:solidFill>
                          <a:latin typeface="Nunito Sans ExtraBold"/>
                        </a:rPr>
                        <a:t>25.0%</a:t>
                      </a:r>
                    </a:p>
                  </a:txBody>
                  <a:tcPr marL="45720" marR="45720" marT="9144" marB="9144" anchor="ctr">
                    <a:solidFill>
                      <a:srgbClr val="3BAF90"/>
                    </a:solidFill>
                  </a:tcPr>
                </a:tc>
              </a:tr>
              <a:tr h="205000">
                <a:tc rowSpan="6">
                  <a:txBody>
                    <a:bodyPr wrap="square"/>
                    <a:lstStyle/>
                    <a:p>
                      <a:pPr algn="l"/>
                      <a:r>
                        <a:rPr sz="950" b="1">
                          <a:solidFill>
                            <a:srgbClr val="202945"/>
                          </a:solidFill>
                          <a:latin typeface="Calibri"/>
                        </a:rPr>
                        <a:t>Commodities</a:t>
                      </a:r>
                    </a:p>
                  </a:txBody>
                  <a:tcPr marL="45720" marR="45720" marT="9144" marB="9144" anchor="ctr">
                    <a:noFill/>
                  </a:tcPr>
                </a:tc>
                <a:tc>
                  <a:txBody>
                    <a:bodyPr wrap="square"/>
                    <a:lstStyle/>
                    <a:p>
                      <a:pPr algn="l"/>
                      <a:r>
                        <a:rPr sz="950" b="0">
                          <a:solidFill>
                            <a:srgbClr val="202945"/>
                          </a:solidFill>
                          <a:latin typeface="Calibri"/>
                        </a:rPr>
                        <a:t>CH0002811286</a:t>
                      </a:r>
                    </a:p>
                  </a:txBody>
                  <a:tcPr marL="45720" marR="45720" marT="9144" marB="9144" anchor="ctr">
                    <a:noFill/>
                  </a:tcPr>
                </a:tc>
                <a:tc>
                  <a:txBody>
                    <a:bodyPr wrap="square"/>
                    <a:lstStyle/>
                    <a:p>
                      <a:pPr algn="l"/>
                      <a:r>
                        <a:rPr sz="950" b="0">
                          <a:solidFill>
                            <a:srgbClr val="202945"/>
                          </a:solidFill>
                          <a:latin typeface="Calibri"/>
                        </a:rPr>
                        <a:t>GOLD KG 1 999.9 CHF</a:t>
                      </a:r>
                    </a:p>
                  </a:txBody>
                  <a:tcPr marL="45720" marR="45720" marT="9144" marB="9144" anchor="ctr">
                    <a:noFill/>
                  </a:tcPr>
                </a:tc>
                <a:tc>
                  <a:txBody>
                    <a:bodyPr wrap="square"/>
                    <a:lstStyle/>
                    <a:p>
                      <a:pPr algn="r"/>
                      <a:r>
                        <a:rPr sz="950" b="0">
                          <a:solidFill>
                            <a:srgbClr val="202945"/>
                          </a:solidFill>
                          <a:latin typeface="Calibri"/>
                        </a:rPr>
                        <a:t>20.1%</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ZAE000003950</a:t>
                      </a:r>
                    </a:p>
                  </a:txBody>
                  <a:tcPr marL="45720" marR="45720" marT="9144" marB="9144" anchor="ctr">
                    <a:noFill/>
                  </a:tcPr>
                </a:tc>
                <a:tc>
                  <a:txBody>
                    <a:bodyPr wrap="square"/>
                    <a:lstStyle/>
                    <a:p>
                      <a:pPr algn="l"/>
                      <a:r>
                        <a:rPr sz="950" b="0">
                          <a:solidFill>
                            <a:srgbClr val="202945"/>
                          </a:solidFill>
                          <a:latin typeface="Calibri"/>
                        </a:rPr>
                        <a:t>OR KRUGERRAND(PCE)1OZ USD</a:t>
                      </a:r>
                    </a:p>
                  </a:txBody>
                  <a:tcPr marL="45720" marR="45720" marT="9144" marB="9144" anchor="ctr">
                    <a:noFill/>
                  </a:tcPr>
                </a:tc>
                <a:tc>
                  <a:txBody>
                    <a:bodyPr wrap="square"/>
                    <a:lstStyle/>
                    <a:p>
                      <a:pPr algn="r"/>
                      <a:r>
                        <a:rPr sz="950" b="0">
                          <a:solidFill>
                            <a:srgbClr val="202945"/>
                          </a:solidFill>
                          <a:latin typeface="Calibri"/>
                        </a:rPr>
                        <a:t>1.3%</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CH0183136057</a:t>
                      </a:r>
                    </a:p>
                  </a:txBody>
                  <a:tcPr marL="45720" marR="45720" marT="9144" marB="9144" anchor="ctr">
                    <a:noFill/>
                  </a:tcPr>
                </a:tc>
                <a:tc>
                  <a:txBody>
                    <a:bodyPr wrap="square"/>
                    <a:lstStyle/>
                    <a:p>
                      <a:pPr algn="l"/>
                      <a:r>
                        <a:rPr sz="950" b="0">
                          <a:solidFill>
                            <a:srgbClr val="202945"/>
                          </a:solidFill>
                          <a:latin typeface="Calibri"/>
                        </a:rPr>
                        <a:t>SWC(CH)PLATINUM ETF EACHF</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GB00B15KXQ89</a:t>
                      </a:r>
                    </a:p>
                  </a:txBody>
                  <a:tcPr marL="45720" marR="45720" marT="9144" marB="9144" anchor="ctr">
                    <a:noFill/>
                  </a:tcPr>
                </a:tc>
                <a:tc>
                  <a:txBody>
                    <a:bodyPr wrap="square"/>
                    <a:lstStyle/>
                    <a:p>
                      <a:pPr algn="l"/>
                      <a:r>
                        <a:rPr sz="950" b="0">
                          <a:solidFill>
                            <a:srgbClr val="202945"/>
                          </a:solidFill>
                          <a:latin typeface="Calibri"/>
                        </a:rPr>
                        <a:t>WISDOMT.ETC-COPPER COM ID</a:t>
                      </a:r>
                    </a:p>
                  </a:txBody>
                  <a:tcPr marL="45720" marR="45720" marT="9144" marB="9144" anchor="ctr">
                    <a:noFill/>
                  </a:tcPr>
                </a:tc>
                <a:tc>
                  <a:txBody>
                    <a:bodyPr wrap="square"/>
                    <a:lstStyle/>
                    <a:p>
                      <a:pPr algn="r"/>
                      <a:r>
                        <a:rPr sz="950" b="0">
                          <a:solidFill>
                            <a:srgbClr val="202945"/>
                          </a:solidFill>
                          <a:latin typeface="Calibri"/>
                        </a:rPr>
                        <a:t>1.0%</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GB00B15KXN58</a:t>
                      </a:r>
                    </a:p>
                  </a:txBody>
                  <a:tcPr marL="45720" marR="45720" marT="9144" marB="9144" anchor="ctr">
                    <a:noFill/>
                  </a:tcPr>
                </a:tc>
                <a:tc>
                  <a:txBody>
                    <a:bodyPr wrap="square"/>
                    <a:lstStyle/>
                    <a:p>
                      <a:pPr algn="l"/>
                      <a:r>
                        <a:rPr sz="950" b="0">
                          <a:solidFill>
                            <a:srgbClr val="202945"/>
                          </a:solidFill>
                          <a:latin typeface="Calibri"/>
                        </a:rPr>
                        <a:t>WISDOMTREE-ETC-ALUMIN PER</a:t>
                      </a:r>
                    </a:p>
                  </a:txBody>
                  <a:tcPr marL="45720" marR="45720" marT="9144" marB="9144" anchor="ctr">
                    <a:noFill/>
                  </a:tcPr>
                </a:tc>
                <a:tc>
                  <a:txBody>
                    <a:bodyPr wrap="square"/>
                    <a:lstStyle/>
                    <a:p>
                      <a:pPr algn="r"/>
                      <a:r>
                        <a:rPr sz="950" b="0">
                          <a:solidFill>
                            <a:srgbClr val="202945"/>
                          </a:solidFill>
                          <a:latin typeface="Calibri"/>
                        </a:rPr>
                        <a:t>0.9%</a:t>
                      </a:r>
                    </a:p>
                  </a:txBody>
                  <a:tcPr marL="45720" marR="45720" marT="9144" marB="9144" anchor="ctr">
                    <a:noFill/>
                  </a:tcPr>
                </a:tc>
              </a:tr>
              <a:tr h="205000">
                <a:tc vMerge="1">
                  <a:txBody>
                    <a:bodyPr/>
                    <a:lstStyle/>
                    <a:p/>
                  </a:txBody>
                  <a:tcPr/>
                </a:tc>
                <a:tc>
                  <a:txBody>
                    <a:bodyPr wrap="square"/>
                    <a:lstStyle/>
                    <a:p>
                      <a:pPr algn="l"/>
                      <a:r>
                        <a:rPr sz="950" b="0">
                          <a:solidFill>
                            <a:srgbClr val="202945"/>
                          </a:solidFill>
                          <a:latin typeface="Calibri"/>
                        </a:rPr>
                        <a:t>GB00B15KYH63</a:t>
                      </a:r>
                    </a:p>
                  </a:txBody>
                  <a:tcPr marL="45720" marR="45720" marT="9144" marB="9144" anchor="ctr">
                    <a:noFill/>
                  </a:tcPr>
                </a:tc>
                <a:tc>
                  <a:txBody>
                    <a:bodyPr wrap="square"/>
                    <a:lstStyle/>
                    <a:p>
                      <a:pPr algn="l"/>
                      <a:r>
                        <a:rPr sz="950" b="0">
                          <a:solidFill>
                            <a:srgbClr val="202945"/>
                          </a:solidFill>
                          <a:latin typeface="Calibri"/>
                        </a:rPr>
                        <a:t>WISDOMTREE-ETC-AIGCI(LDN)</a:t>
                      </a:r>
                    </a:p>
                  </a:txBody>
                  <a:tcPr marL="45720" marR="45720" marT="9144" marB="9144" anchor="ctr">
                    <a:noFill/>
                  </a:tcPr>
                </a:tc>
                <a:tc>
                  <a:txBody>
                    <a:bodyPr wrap="square"/>
                    <a:lstStyle/>
                    <a:p>
                      <a:pPr algn="r"/>
                      <a:r>
                        <a:rPr sz="950" b="0">
                          <a:solidFill>
                            <a:srgbClr val="202945"/>
                          </a:solidFill>
                          <a:latin typeface="Calibri"/>
                        </a:rPr>
                        <a:t>0.8%</a:t>
                      </a:r>
                    </a:p>
                  </a:txBody>
                  <a:tcPr marL="45720" marR="45720" marT="9144" marB="9144" anchor="ctr">
                    <a:noFill/>
                  </a:tcPr>
                </a:tc>
              </a:tr>
              <a:tr h="205000">
                <a:tc>
                  <a:txBody>
                    <a:bodyPr wrap="square"/>
                    <a:lstStyle/>
                    <a:p>
                      <a:pPr algn="l"/>
                      <a:r>
                        <a:rPr sz="1050" b="1">
                          <a:solidFill>
                            <a:srgbClr val="FFFFFF"/>
                          </a:solidFill>
                          <a:latin typeface="Nunito Sans ExtraBold"/>
                        </a:rPr>
                        <a:t>Other</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l"/>
                      <a:r>
                        <a:rPr sz="1050" b="1">
                          <a:solidFill>
                            <a:srgbClr val="FFFFFF"/>
                          </a:solidFill>
                          <a:latin typeface="Nunito Sans ExtraBold"/>
                        </a:rPr>
                        <a:t/>
                      </a:r>
                    </a:p>
                  </a:txBody>
                  <a:tcPr marL="45720" marR="45720" marT="9144" marB="9144" anchor="ctr">
                    <a:solidFill>
                      <a:srgbClr val="FFA400"/>
                    </a:solidFill>
                  </a:tcPr>
                </a:tc>
                <a:tc>
                  <a:txBody>
                    <a:bodyPr wrap="square"/>
                    <a:lstStyle/>
                    <a:p>
                      <a:pPr algn="r"/>
                      <a:r>
                        <a:rPr sz="1050" b="1">
                          <a:solidFill>
                            <a:srgbClr val="FFFFFF"/>
                          </a:solidFill>
                          <a:latin typeface="Nunito Sans ExtraBold"/>
                        </a:rPr>
                        <a:t>0.6%</a:t>
                      </a:r>
                    </a:p>
                  </a:txBody>
                  <a:tcPr marL="45720" marR="45720" marT="9144" marB="9144" anchor="ctr">
                    <a:solidFill>
                      <a:srgbClr val="FFA400"/>
                    </a:solidFill>
                  </a:tcPr>
                </a:tc>
              </a:tr>
              <a:tr h="205000">
                <a:tc>
                  <a:txBody>
                    <a:bodyPr wrap="square"/>
                    <a:lstStyle/>
                    <a:p>
                      <a:pPr algn="l"/>
                      <a:r>
                        <a:rPr sz="950" b="1">
                          <a:solidFill>
                            <a:srgbClr val="202945"/>
                          </a:solidFill>
                          <a:latin typeface="Calibri"/>
                        </a:rPr>
                        <a:t>Other</a:t>
                      </a:r>
                    </a:p>
                  </a:txBody>
                  <a:tcPr marL="45720" marR="45720" marT="9144" marB="9144" anchor="ctr">
                    <a:noFill/>
                  </a:tcPr>
                </a:tc>
                <a:tc>
                  <a:txBody>
                    <a:bodyPr wrap="square"/>
                    <a:lstStyle/>
                    <a:p>
                      <a:pPr algn="l"/>
                      <a:r>
                        <a:rPr sz="950" b="0">
                          <a:solidFill>
                            <a:srgbClr val="202945"/>
                          </a:solidFill>
                          <a:latin typeface="Calibri"/>
                        </a:rPr>
                        <a:t>US46438F1012</a:t>
                      </a:r>
                    </a:p>
                  </a:txBody>
                  <a:tcPr marL="45720" marR="45720" marT="9144" marB="9144" anchor="ctr">
                    <a:noFill/>
                  </a:tcPr>
                </a:tc>
                <a:tc>
                  <a:txBody>
                    <a:bodyPr wrap="square"/>
                    <a:lstStyle/>
                    <a:p>
                      <a:pPr algn="l"/>
                      <a:r>
                        <a:rPr sz="950" b="0">
                          <a:solidFill>
                            <a:srgbClr val="202945"/>
                          </a:solidFill>
                          <a:latin typeface="Calibri"/>
                        </a:rPr>
                        <a:t>ISHARES BITCOIN ETF</a:t>
                      </a:r>
                    </a:p>
                  </a:txBody>
                  <a:tcPr marL="45720" marR="45720" marT="9144" marB="9144" anchor="ctr">
                    <a:noFill/>
                  </a:tcPr>
                </a:tc>
                <a:tc>
                  <a:txBody>
                    <a:bodyPr wrap="square"/>
                    <a:lstStyle/>
                    <a:p>
                      <a:pPr algn="r"/>
                      <a:r>
                        <a:rPr sz="950" b="0">
                          <a:solidFill>
                            <a:srgbClr val="202945"/>
                          </a:solidFill>
                          <a:latin typeface="Calibri"/>
                        </a:rPr>
                        <a:t>0.6%</a:t>
                      </a:r>
                    </a:p>
                  </a:txBody>
                  <a:tcPr marL="45720" marR="45720" marT="9144" marB="9144" anchor="ctr">
                    <a:noFill/>
                  </a:tcPr>
                </a:tc>
              </a:tr>
              <a:tr h="205000">
                <a:tc>
                  <a:txBody>
                    <a:bodyPr wrap="square"/>
                    <a:lstStyle/>
                    <a:p>
                      <a:pPr algn="l"/>
                      <a:r>
                        <a:rPr sz="1000" b="1">
                          <a:solidFill>
                            <a:srgbClr val="FFFFFF"/>
                          </a:solidFill>
                          <a:latin typeface="Nunito Sans ExtraBold"/>
                        </a:rPr>
                        <a:t>Total</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l"/>
                      <a:r>
                        <a:rPr sz="1000" b="1">
                          <a:solidFill>
                            <a:srgbClr val="FFFFFF"/>
                          </a:solidFill>
                          <a:latin typeface="Nunito Sans ExtraBold"/>
                        </a:rPr>
                        <a:t/>
                      </a:r>
                    </a:p>
                  </a:txBody>
                  <a:tcPr marL="45720" marR="45720" marT="9144" marB="9144" anchor="ctr">
                    <a:solidFill>
                      <a:srgbClr val="202945"/>
                    </a:solidFill>
                  </a:tcPr>
                </a:tc>
                <a:tc>
                  <a:txBody>
                    <a:bodyPr wrap="square"/>
                    <a:lstStyle/>
                    <a:p>
                      <a:pPr algn="r"/>
                      <a:r>
                        <a:rPr sz="1000" b="1">
                          <a:solidFill>
                            <a:srgbClr val="FFFFFF"/>
                          </a:solidFill>
                          <a:latin typeface="Nunito Sans ExtraBold"/>
                        </a:rPr>
                        <a:t>100.0%</a:t>
                      </a:r>
                    </a:p>
                  </a:txBody>
                  <a:tcPr marL="45720" marR="45720" marT="9144" marB="9144" anchor="ctr">
                    <a:solidFill>
                      <a:srgbClr val="202945"/>
                    </a:solidFill>
                  </a:tcPr>
                </a:tc>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7763.0"/>
  <p:tag name="AS_RELEASE_DATE" val="2022.02.14"/>
  <p:tag name="AS_TITLE" val="Aspose.Slides for .NET 4.0"/>
  <p:tag name="AS_VERSION" val="22.2"/>
  <p:tag name="BOTTOMMARGIN" val="41,3"/>
  <p:tag name="COLUMNSGUTTER" val="5,4"/>
  <p:tag name="COLUMNSNUMBER" val="1"/>
  <p:tag name="LEFTMARGIN" val="18,5"/>
  <p:tag name="MARGINSIZEUNIT" val="mm"/>
  <p:tag name="RIGHTMARGIN" val="17,3"/>
  <p:tag name="ROWSGUTTER" val="5,4"/>
  <p:tag name="ROWSNUMBER" val="1"/>
  <p:tag name="TEMPLATEFULLNAMETAG" val="Syz Template Selector"/>
  <p:tag name="TEMPLATESHORTNAMETAG" val="Syz Template Selector"/>
  <p:tag name="THINKCELLUNDODONOTDELETE" val="0"/>
  <p:tag name="TOPMARGIN" val="77,8"/>
  <p:tag name="UNIQUEMARGIN" val="False"/>
  <p:tag name="UPSLIDE" val="Ban02538_Syz_05-30-2022"/>
  <p:tag name="UPSLIDEPRINTFACINGPAGESDESIGN" val="SYZ"/>
  <p:tag name="UPSLIDEPRINTFACINGPAGESLAYOUT" val="Cover"/>
  <p:tag name="UPSLIDETOCALGOID" val="Standard"/>
  <p:tag name="UPSLIDETOCMASTERID" val="SYZ - New Branding 202112 16 2020"/>
  <p:tag name="UPSLIDETOCMASTERLASTEDITIONDATE" val="637515950111483232"/>
  <p:tag name="UPSLIDETOCMASTERNAME" val="SYZ - New Branding 2021"/>
  <p:tag name="UPSLIDETOCOPTIONS" val="&lt;?xml version=&quot;1.0&quot; encoding=&quot;utf-16&quot;?&gt;&#10;&lt;TocContentOptions xmlns:xsd=&quot;http://www.w3.org/2001/XMLSchema&quot; xmlns:xsi=&quot;http://www.w3.org/2001/XMLSchema-instance&quot;&gt;&#10;  &lt;TocSlidesOptions&gt;&#10;    &lt;ContainsSubSectionTitles&gt;true&lt;/ContainsSubSectionTitles&gt;&#10;    &lt;ContainsSlideTitles&gt;false&lt;/ContainsSlideTitles&gt;&#10;    &lt;ContainsParentLessSlidesTitles&gt;false&lt;/ContainsParentLessSlidesTitles&gt;&#10;    &lt;ContainsPrentLessSubsections&gt;false&lt;/ContainsPrentLessSubsections&gt;&#10;    &lt;ContainsAppendix&gt;true&lt;/ContainsAppendix&gt;&#10;    &lt;ContainsUnNumberedSections&gt;true&lt;/ContainsUnNumberedSections&gt;&#10;    &lt;SlideTitle /&gt;&#10;  &lt;/TocSlidesOptions&gt;&#10;  &lt;SectionSlideOptions&gt;&#10;    &lt;ContainsOwnSubSection&gt;true&lt;/ContainsOwnSubSection&gt;&#10;    &lt;ContainsOwnSlide&gt;false&lt;/ContainsOwnSlide&gt;&#10;    &lt;ContainsOtherSections&gt;true&lt;/ContainsOtherSections&gt;&#10;    &lt;ContainsOthersSubsection&gt;false&lt;/ContainsOthersSubsection&gt;&#10;    &lt;containsAppendix&gt;true&lt;/containsAppendix&gt;&#10;    &lt;containsUnnumberedSections&gt;true&lt;/containsUnnumberedSections&gt;&#10;    &lt;SlideTitle /&gt;&#10;  &lt;/SectionSlideOptions&gt;&#10;  &lt;SubSectionSlideOptions&gt;&#10;    &lt;ContainsOtherSubsections&gt;false&lt;/ContainsOtherSubsections&gt;&#10;    &lt;ContainsOwnSlides&gt;false&lt;/ContainsOwnSlides&gt;&#10;    &lt;ContainsParentSection&gt;false&lt;/ContainsParentSection&gt;&#10;    &lt;ContainsOtherSections&gt;false&lt;/ContainsOtherSections&gt;&#10;    &lt;containsAppendix&gt;false&lt;/containsAppendix&gt;&#10;    &lt;containsUnnumberedSections&gt;false&lt;/containsUnnumberedSections&gt;&#10;    &lt;SlideTitle /&gt;&#10;  &lt;/SubSectionSlideOptions&gt;&#10;  &lt;UsedSlideLayouts&gt;&#10;    &lt;TocSlidesLayout&gt;&#10;      &lt;DesignName&gt;SYZ&lt;/DesignName&gt;&#10;      &lt;LayoutName&gt;Agenda&lt;/LayoutName&gt;&#10;    &lt;/TocSlidesLayout&gt;&#10;    &lt;SectionLayout&gt;&#10;      &lt;DesignName&gt;SYZ&lt;/DesignName&gt;&#10;      &lt;LayoutName&gt;Agenda&lt;/LayoutName&gt;&#10;    &lt;/SectionLayout&gt;&#10;    &lt;SubsectionLayout&gt;&#10;      &lt;DesignName&gt;SYZ&lt;/DesignName&gt;&#10;      &lt;LayoutName&gt;Agenda&lt;/LayoutName&gt;&#10;    &lt;/SubsectionLayout&gt;&#10;    &lt;AppendixLayout&gt;&#10;      &lt;DesignName /&gt;&#10;      &lt;LayoutName /&gt;&#10;    &lt;/AppendixLayout&gt;&#10;    &lt;TitleSliLayout&gt;&#10;      &lt;DesignName&gt;SYZ&lt;/DesignName&gt;&#10;      &lt;LayoutName&gt;Cover (Default)&lt;/LayoutName&gt;&#10;    &lt;/TitleSliLayout&gt;&#10;  &lt;/UsedSlideLayouts&gt;&#10;  &lt;ActiveReminders&gt;&#10;    &lt;MigrationVersion&gt;6.8.22.1&lt;/MigrationVersion&gt;&#10;  &lt;/ActiveReminders&gt;&#10;  &lt;HardRefreshRequired&gt;true&lt;/HardRefreshRequired&gt;&#10;  &lt;CustomAlgoOptions&gt;&#10;    &lt;CustomBaseAlgoOptions&gt;&#10;      &lt;UseSlideTitleAsSubSectionMarker&gt;false&lt;/UseSlideTitleAsSubSectionMarker&gt;&#10;      &lt;SlideTitleAsSectionMarker&gt;&#10;        &lt;UseTitleAsReminder&gt;false&lt;/UseTitleAsReminder&gt;&#10;      &lt;/SlideTitleAsSectionMarker&gt;&#10;      &lt;ShowSectionNums&gt;true&lt;/ShowSectionNums&gt;&#10;      &lt;ShowSlideIndex&gt;false&lt;/ShowSlideIndex&gt;&#10;      &lt;myColorOfNonCurrentItems&gt;&#10;        &lt;UseFixedColor&gt;true&lt;/UseFixedColor&gt;&#10;        &lt;R&gt;167&lt;/R&gt;&#10;        &lt;G&gt;168&lt;/G&gt;&#10;        &lt;B&gt;169&lt;/B&gt;&#10;      &lt;/myColorOfNonCurrentItems&gt;&#10;      &lt;currentItemFormat&gt;&#10;        &lt;UseBanner&gt;false&lt;/UseBanner&gt;&#10;        &lt;BannerFillR&gt;0&lt;/BannerFillR&gt;&#10;        &lt;BannerFillG&gt;0&lt;/BannerFillG&gt;&#10;        &lt;BannerFillB&gt;0&lt;/BannerFillB&gt;&#10;        &lt;ForceBold&gt;true&lt;/ForceBold&gt;&#10;        &lt;ApplyToSubSections&gt;true&lt;/ApplyToSubSections&gt;&#10;        &lt;ApplyToSectionsOnSubSectionDividers&gt;true&lt;/ApplyToSectionsOnSubSectionDividers&gt;&#10;        &lt;UseSubSecSpecificBanner&gt;false&lt;/UseSubSecSpecificBanner&gt;&#10;        &lt;SubSecBannerFillR&gt;0&lt;/SubSecBannerFillR&gt;&#10;        &lt;SubSecBannerFillG&gt;0&lt;/SubSecBannerFillG&gt;&#10;        &lt;SubSecBannerFillB&gt;0&lt;/SubSecBannerFillB&gt;&#10;      &lt;/currentItemFormat&gt;&#10;      &lt;nonCurrentItemAttenuation&gt;&#10;        &lt;Shading&gt;0&lt;/Shading&gt;&#10;      &lt;/nonCurrentItemAttenuation&gt;&#10;      &lt;ForceDisplayTOCOnTwocolumns&gt;false&lt;/ForceDisplayTOCOnTwocolumns&gt;&#10;      &lt;DisplayTOCOnTwocolumns&gt;false&lt;/DisplayTOCOnTwocolumns&gt;&#10;      &lt;Scripts&gt;&#10;        &lt;BeforeSubSecTitle /&gt;&#10;        &lt;BeforeSlideIndex /&gt;&#10;        &lt;AfterSecNum /&gt;&#10;        &lt;BeforeSecNum&gt;0&lt;/BeforeSecNum&gt;&#10;        &lt;AfterSubSecNum /&gt;&#10;        &lt;BeforeSubSecNum&gt;0&lt;/BeforeSubSecNum&gt;&#10;      &lt;/Scripts&gt;&#10;      &lt;Lines&gt;&#10;        &lt;UseLineBelowSections&gt;false&lt;/UseLineBelowSections&gt;&#10;        &lt;LineBelowSection&gt;&#10;          &lt;XOffset&gt;0&lt;/XOffset&gt;&#10;          &lt;YOffset&gt;0&lt;/YOffset&gt;&#10;          &lt;Weight&gt;0&lt;/Weight&gt;&#10;          &lt;R&gt;0&lt;/R&gt;&#10;          &lt;G&gt;0&lt;/G&gt;&#10;          &lt;B&gt;0&lt;/B&gt;&#10;          &lt;LineStyle&gt;1&lt;/LineStyle&gt;&#10;        &lt;/LineBelowSection&gt;&#10;      &lt;/Lines&gt;&#10;      &lt;ManVerticalSpacing&gt;&#10;        &lt;UseManualSpacing&gt;true&lt;/UseManualSpacing&gt;&#10;        &lt;ManualSpacing&gt;&#10;          &lt;SpaceBeforeSections&gt;4.25&lt;/SpaceBeforeSections&gt;&#10;          &lt;SpaceBeforeSubSections&gt;3&lt;/SpaceBeforeSubSections&gt;&#10;          &lt;SpaceBeforeSlides&gt;3&lt;/SpaceBeforeSlides&gt;&#10;        &lt;/ManualSpacing&gt;&#10;        &lt;ManualSpacingSections&gt;&#10;          &lt;SpaceBeforeSections&gt;4.25&lt;/SpaceBeforeSections&gt;&#10;          &lt;SpaceBeforeSubSections&gt;3&lt;/SpaceBeforeSubSections&gt;&#10;          &lt;SpaceBeforeSlides&gt;3&lt;/SpaceBeforeSlides&gt;&#10;        &lt;/ManualSpacingSections&gt;&#10;        &lt;ManualSpacingSubSections&gt;&#10;          &lt;SpaceBeforeSections&gt;18.1855736&lt;/SpaceBeforeSections&gt;&#10;          &lt;SpaceBeforeSubSections&gt;12.1237164&lt;/SpaceBeforeSubSections&gt;&#10;          &lt;SpaceBeforeSlides&gt;6.061858&lt;/SpaceBeforeSlides&gt;&#10;        &lt;/ManualSpacingSubSections&gt;&#10;        &lt;UseSpecificSpacingForSecDivider&gt;true&lt;/UseSpecificSpacingForSecDivider&gt;&#10;        &lt;UseSpecificSpacingForSubSecDivider&gt;false&lt;/UseSpecificSpacingForSubSecDivider&gt;&#10;      &lt;/ManVerticalSpacing&gt;&#10;    &lt;/CustomBaseAlgoOptions&gt;&#10;  &lt;/CustomAlgoOptions&gt;&#10;  &lt;UserPresentationOptions&gt;&#10;    &lt;SubSectionsHaveSlide xsi:nil=&quot;true&quot; /&gt;&#10;    &lt;SectionDividersContainOwnSubSections xsi:nil=&quot;true&quot; /&gt;&#10;    &lt;SectionDividersContainOwnSlideTitles xsi:nil=&quot;true&quot; /&gt;&#10;    &lt;SubSectionDividersContainOwnSlideTitles xsi:nil=&quot;true&quot; /&gt;&#10;    &lt;TOCSlidesContainSubsectionTitles xsi:nil=&quot;true&quot; /&gt;&#10;    &lt;TOCSlidesContainSlideTitles xsi:nil=&quot;true&quot; /&gt;&#10;    &lt;DisplayRemindersOnSlides&gt;true&lt;/DisplayRemindersOnSlides&gt;&#10;    &lt;SectionsHaveSlide&gt;true&lt;/SectionsHaveSlide&gt;&#10;    &lt;DoNotCountHiddenSlidesInPagination&gt;false&lt;/DoNotCountHiddenSlidesInPagination&gt;&#10;  &lt;/UserPresentationOptions&gt;&#10;  &lt;XmlSubSectionsHaveSlide&gt;false&lt;/XmlSubSectionsHaveSlide&gt;&#10;  &lt;AllowDuplicateTitleSlides&gt;true&lt;/AllowDuplicateTitleSlides&gt;&#10;  &lt;ShowEmptySlideTitles&gt;false&lt;/ShowEmptySlideTitles&gt;&#10;  &lt;NumberingOption&gt;&#10;    &lt;NumType&gt;FullArabic&lt;/NumType&gt;&#10;  &lt;/NumberingOption&gt;&#10;  &lt;NumberingOptionForAppendix&gt;&#10;    &lt;NumType&gt;FullArabic&lt;/NumType&gt;&#10;  &lt;/NumberingOptionForAppendix&gt;&#10;&lt;/TocContentOptions&gt;"/>
  <p:tag name="UPSLIDEVERSION" val="6.8.22.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AFSPANMODE" val="span"/>
</p:tagLst>
</file>

<file path=ppt/tags/tag4.xml><?xml version="1.0" encoding="utf-8"?>
<p:tagLst xmlns:a="http://schemas.openxmlformats.org/drawingml/2006/main" xmlns:r="http://schemas.openxmlformats.org/officeDocument/2006/relationships" xmlns:p="http://schemas.openxmlformats.org/presentationml/2006/main">
  <p:tag name="AFSPANMODE" val="span"/>
</p:tagLst>
</file>

<file path=ppt/tags/tag5.xml><?xml version="1.0" encoding="utf-8"?>
<p:tagLst xmlns:a="http://schemas.openxmlformats.org/drawingml/2006/main" xmlns:r="http://schemas.openxmlformats.org/officeDocument/2006/relationships" xmlns:p="http://schemas.openxmlformats.org/presentationml/2006/main">
  <p:tag name="AFSPANMODE" val="span"/>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UPSLIDESLIDELIBITEMEDITIONDATE" val="637880173275917213"/>
  <p:tag name="UPSLIDESLIDELIBITEMINSERTIONID" val="1f21fdea-9d2c-4c07-bdd5-97533c8dc00f"/>
  <p:tag name="UPSLIDESLIDELIBITEMLASTCREATOR" val="pbaldauf"/>
  <p:tag name="UPSLIDESLIDELIBITEMNAME" val="Syz as a Service"/>
  <p:tag name="UPSLIDESLIDELIBRARYITEMID" val="e7743891-734a-492d-9569-7fbcce3068e4"/>
  <p:tag name="UPSLIDESLIDELIBRARYITEMPARTINDEX" val="11"/>
  <p:tag name="UPSLIDESTOREDSLIDELOCATION" val="\\fangio.intrasyz.org\newdistrib\upslide\library\Independent Managers\SaaS OCIO - May 2022.pptlib"/>
</p:tagLst>
</file>

<file path=ppt/tags/tag8.xml><?xml version="1.0" encoding="utf-8"?>
<p:tagLst xmlns:a="http://schemas.openxmlformats.org/drawingml/2006/main" xmlns:r="http://schemas.openxmlformats.org/officeDocument/2006/relationships" xmlns:p="http://schemas.openxmlformats.org/presentationml/2006/main">
  <p:tag name="NAME" val="1"/>
</p:tagLst>
</file>

<file path=ppt/tags/tag9.xml><?xml version="1.0" encoding="utf-8"?>
<p:tagLst xmlns:a="http://schemas.openxmlformats.org/drawingml/2006/main" xmlns:r="http://schemas.openxmlformats.org/officeDocument/2006/relationships" xmlns:p="http://schemas.openxmlformats.org/presentationml/2006/main">
  <p:tag name="UPSLIDESHAPELIBITEMEDITIONDATE" val="636989849337108269"/>
  <p:tag name="UPSLIDESHAPELIBITEMID" val="7cc08c91-0d5e-46f4-aa4f-c478997526c5"/>
  <p:tag name="UPSLIDESHAPELIBITEMLASTCREATOR" val="mateer"/>
  <p:tag name="UPSLIDESHAPELIBITEMNAME" val="Person"/>
  <p:tag name="UPSLIDESTOREDSHAPELOCATION" val="\\fscap01\courrier\upslide\library\_Branding\Icons\People.lib"/>
</p:tagLst>
</file>

<file path=ppt/tags/tag10.xml><?xml version="1.0" encoding="utf-8"?>
<p:tagLst xmlns:a="http://schemas.openxmlformats.org/drawingml/2006/main" xmlns:r="http://schemas.openxmlformats.org/officeDocument/2006/relationships" xmlns:p="http://schemas.openxmlformats.org/presentationml/2006/main">
  <p:tag name="UPSLIDESHAPELIBITEMEDITIONDATE" val="636989849336848969"/>
  <p:tag name="UPSLIDESHAPELIBITEMID" val="8764d29a-946e-44b3-8266-865cc6597a9e"/>
  <p:tag name="UPSLIDESHAPELIBITEMLASTCREATOR" val="mateer"/>
  <p:tag name="UPSLIDESHAPELIBITEMNAME" val="Group add"/>
  <p:tag name="UPSLIDESTOREDSHAPELOCATION" val="\\fscap01\courrier\upslide\library\_Branding\Icons\People.lib"/>
</p:tagLst>
</file>

<file path=ppt/theme/theme1.xml><?xml version="1.0" encoding="utf-8"?>
<a:theme xmlns:a="http://schemas.openxmlformats.org/drawingml/2006/main" name="SYZ">
  <a:themeElements>
    <a:clrScheme name="Syz 2024">
      <a:dk1>
        <a:srgbClr val="000000"/>
      </a:dk1>
      <a:lt1>
        <a:srgbClr val="FFFFFF"/>
      </a:lt1>
      <a:dk2>
        <a:srgbClr val="202945"/>
      </a:dk2>
      <a:lt2>
        <a:srgbClr val="FFC545"/>
      </a:lt2>
      <a:accent1>
        <a:srgbClr val="79D6FF"/>
      </a:accent1>
      <a:accent2>
        <a:srgbClr val="3BAF90"/>
      </a:accent2>
      <a:accent3>
        <a:srgbClr val="FFA400"/>
      </a:accent3>
      <a:accent4>
        <a:srgbClr val="FF6C0E"/>
      </a:accent4>
      <a:accent5>
        <a:srgbClr val="AC5D85"/>
      </a:accent5>
      <a:accent6>
        <a:srgbClr val="4B5F80"/>
      </a:accent6>
      <a:hlink>
        <a:srgbClr val="FF6C0E"/>
      </a:hlink>
      <a:folHlink>
        <a:srgbClr val="79D6FF"/>
      </a:folHlink>
    </a:clrScheme>
    <a:fontScheme name="SYZ 2021">
      <a:majorFont>
        <a:latin typeface="Nunito Sans ExtraBold"/>
        <a:ea typeface="Nunito Sans ExtraBold"/>
        <a:cs typeface="Arial"/>
      </a:majorFont>
      <a:minorFont>
        <a:latin typeface="Nunito Sans"/>
        <a:ea typeface="Nunito Sans"/>
        <a:cs typeface="Arial"/>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vert="horz" wrap="square" lIns="0" tIns="0" rIns="0" bIns="0" rtlCol="0">
        <a:noAutofit/>
      </a:bodyPr>
      <a:lstStyle>
        <a:defPPr algn="l">
          <a:defRPr sz="1400" dirty="0" err="1" smtClean="0"/>
        </a:defPPr>
      </a:lstStyle>
    </a:txDef>
  </a:objectDefaults>
  <a:extraClrSchemeLst/>
  <a:custClrLst>
    <a:custClr name="Yellow">
      <a:srgbClr val="FFA400"/>
    </a:custClr>
    <a:custClr name="Grey Blue">
      <a:srgbClr val="4B5F80"/>
    </a:custClr>
    <a:custClr name="Light Orange">
      <a:srgbClr val="FF8300"/>
    </a:custClr>
    <a:custClr name="Red">
      <a:srgbClr val="EE3B2A"/>
    </a:custClr>
    <a:custClr name="Pink">
      <a:srgbClr val="EB3F8E"/>
    </a:custClr>
    <a:custClr name="Blue Violet">
      <a:srgbClr val="7C83C7"/>
    </a:custClr>
    <a:custClr name="Mint">
      <a:srgbClr val="00CEB0"/>
    </a:custClr>
    <a:custClr name="Gold">
      <a:srgbClr val="AA9561"/>
    </a:custClr>
  </a:custClrLst>
  <a:extLst>
    <a:ext uri="{05A4C25C-085E-4340-85A3-A5531E510DB2}">
      <thm15:themeFamily xmlns:thm15="http://schemas.microsoft.com/office/thememl/2012/main" name="Presentation1" id="{B3B8F48F-1018-4A2D-8D2B-9C960F482D4D}" vid="{D40E8840-519A-42E4-95FC-493740DADA0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dd2fe0a4-d3ef-4bed-b6e7-3a585006b1c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D1D05210C2F64187D216D26E3F0B6F" ma:contentTypeVersion="14" ma:contentTypeDescription="Create a new document." ma:contentTypeScope="" ma:versionID="b4cfa6d9fdd4a2e4307bb8fd413d16ec">
  <xsd:schema xmlns:xsd="http://www.w3.org/2001/XMLSchema" xmlns:xs="http://www.w3.org/2001/XMLSchema" xmlns:p="http://schemas.microsoft.com/office/2006/metadata/properties" xmlns:ns1="http://schemas.microsoft.com/sharepoint/v3" xmlns:ns2="dd2fe0a4-d3ef-4bed-b6e7-3a585006b1c3" targetNamespace="http://schemas.microsoft.com/office/2006/metadata/properties" ma:root="true" ma:fieldsID="1f886a3054b7d63501bf347a79a4f3df" ns1:_="" ns2:_="">
    <xsd:import namespace="http://schemas.microsoft.com/sharepoint/v3"/>
    <xsd:import namespace="dd2fe0a4-d3ef-4bed-b6e7-3a585006b1c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1:_ip_UnifiedCompliancePolicyProperties" minOccurs="0"/>
                <xsd:element ref="ns1:_ip_UnifiedCompliancePolicyUIAction" minOccurs="0"/>
                <xsd:element ref="ns2:MediaServiceLocation"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2fe0a4-d3ef-4bed-b6e7-3a585006b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8" nillable="true" ma:displayName="Location" ma:descrip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db05547-f467-46b2-afe8-b2299a9b6da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79325FC-7DD1-46F3-BA35-F1155CED6762}">
  <ds:schemaRefs>
    <ds:schemaRef ds:uri="http://schemas.microsoft.com/sharepoint/v3/contenttype/forms"/>
  </ds:schemaRefs>
</ds:datastoreItem>
</file>

<file path=customXml/itemProps2.xml><?xml version="1.0" encoding="utf-8"?>
<ds:datastoreItem xmlns:ds="http://schemas.openxmlformats.org/officeDocument/2006/customXml" ds:itemID="{94C4076E-6B4E-457A-9634-0B8020DC6A3B}">
  <ds:schemaRefs>
    <ds:schemaRef ds:uri="http://schemas.microsoft.com/office/2006/documentManagement/types"/>
    <ds:schemaRef ds:uri="dd2fe0a4-d3ef-4bed-b6e7-3a585006b1c3"/>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http://schemas.microsoft.com/sharepoint/v3"/>
    <ds:schemaRef ds:uri="http://www.w3.org/XML/1998/namespace"/>
    <ds:schemaRef ds:uri="http://purl.org/dc/dcmitype/"/>
  </ds:schemaRefs>
</ds:datastoreItem>
</file>

<file path=customXml/itemProps3.xml><?xml version="1.0" encoding="utf-8"?>
<ds:datastoreItem xmlns:ds="http://schemas.openxmlformats.org/officeDocument/2006/customXml" ds:itemID="{CE8252FF-B06B-43A8-8AF6-570744A286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d2fe0a4-d3ef-4bed-b6e7-3a585006b1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026e4c1-5892-497a-b9da-ee493c9f0364}" enabled="0" method="" siteId="{d026e4c1-5892-497a-b9da-ee493c9f0364}" removed="1"/>
</clbl:labelList>
</file>

<file path=docProps/app.xml><?xml version="1.0" encoding="utf-8"?>
<Properties xmlns="http://schemas.openxmlformats.org/officeDocument/2006/extended-properties" xmlns:vt="http://schemas.openxmlformats.org/officeDocument/2006/docPropsVTypes">
  <Template>blank</Template>
  <TotalTime>0</TotalTime>
  <Words>4939</Words>
  <Application>Microsoft Office PowerPoint</Application>
  <PresentationFormat>Custom</PresentationFormat>
  <Paragraphs>1054</Paragraphs>
  <Slides>36</Slides>
  <Notes>9</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36</vt:i4>
      </vt:variant>
    </vt:vector>
  </HeadingPairs>
  <TitlesOfParts>
    <vt:vector size="52" baseType="lpstr">
      <vt:lpstr>DengXian</vt:lpstr>
      <vt:lpstr>Lucida</vt:lpstr>
      <vt:lpstr>Maison Neue Light Italic</vt:lpstr>
      <vt:lpstr>Urbane Bold</vt:lpstr>
      <vt:lpstr>Aptos</vt:lpstr>
      <vt:lpstr>Arial</vt:lpstr>
      <vt:lpstr>Calibri</vt:lpstr>
      <vt:lpstr>Cambria</vt:lpstr>
      <vt:lpstr>Lucida Sans</vt:lpstr>
      <vt:lpstr>Nunito</vt:lpstr>
      <vt:lpstr>Nunito Sans</vt:lpstr>
      <vt:lpstr>Nunito Sans Black</vt:lpstr>
      <vt:lpstr>Nunito Sans ExtraBold</vt:lpstr>
      <vt:lpstr>Wingdings 3</vt:lpstr>
      <vt:lpstr>SYZ</vt:lpstr>
      <vt:lpstr>think-cell Slide</vt:lpstr>
      <vt:lpstr>Investment Proposal </vt:lpstr>
      <vt:lpstr>PowerPoint Presentation</vt:lpstr>
      <vt:lpstr>How markets moved last week</vt:lpstr>
      <vt:lpstr>What drove the move: four forces</vt:lpstr>
      <vt:lpstr>Our economic scenario</vt:lpstr>
      <vt:lpstr>Our current investment views</vt:lpstr>
      <vt:lpstr>PowerPoint Presentation</vt:lpstr>
      <vt:lpstr>Portfolio strategies across the (risk - return) trade-off</vt:lpstr>
      <vt:lpstr>Proposed portfolio: cash and fixed income</vt:lpstr>
      <vt:lpstr>Proposed portfolio: equity, alternatives and commodities</vt:lpstr>
      <vt:lpstr>Portfolio overview</vt:lpstr>
      <vt:lpstr>Geographic &amp; sector exposure</vt:lpstr>
      <vt:lpstr>Fixed Income: income-type specifics</vt:lpstr>
      <vt:lpstr>PowerPoint Presentation</vt:lpstr>
      <vt:lpstr>Equities: income-type specifics</vt:lpstr>
      <vt:lpstr>PowerPoint Presentation</vt:lpstr>
      <vt:lpstr>Alternatives: income-type specifics</vt:lpstr>
      <vt:lpstr>Commodities</vt:lpstr>
      <vt:lpstr>Structured products</vt:lpstr>
      <vt:lpstr>Liquidity profile</vt:lpstr>
      <vt:lpstr>Concentration &amp; top holdings</vt:lpstr>
      <vt:lpstr>Income &amp; interest-rate sensitivity</vt:lpstr>
      <vt:lpstr>Appendix</vt:lpstr>
      <vt:lpstr>PowerPoint Presentation</vt:lpstr>
      <vt:lpstr>The house view: tactical asset allocation</vt:lpstr>
      <vt:lpstr>Your Virtual team of Experts </vt:lpstr>
      <vt:lpstr>Our Investment Universe</vt:lpstr>
      <vt:lpstr>Alternative Investments Opportunities </vt:lpstr>
      <vt:lpstr>Syz Advisory Services : Our offering for your needs  </vt:lpstr>
      <vt:lpstr>Our Value Proposition - Advisory Expert</vt:lpstr>
      <vt:lpstr>Fixed Income – BNY Mellon Global Short Dated High Yield Fund </vt:lpstr>
      <vt:lpstr>Introducing the UBS Swiss Income Equity Fund (CHF)</vt:lpstr>
      <vt:lpstr>Fund’s characteristics </vt:lpstr>
      <vt:lpstr>Introducing the Schroder US Large Cap Fund (USD)</vt:lpstr>
      <vt:lpstr>Fund’s characteristics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Lambert</dc:creator>
  <cp:lastModifiedBy>Assia Driss</cp:lastModifiedBy>
  <cp:revision>3</cp:revision>
  <cp:lastPrinted>2024-09-04T14:35:26Z</cp:lastPrinted>
  <dcterms:created xsi:type="dcterms:W3CDTF">2026-08-13T09:29:30Z</dcterms:created>
  <dcterms:modified xsi:type="dcterms:W3CDTF">2026-08-18T07:57:33Z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0x01010036D1D05210C2F64187D216D26E3F0B6F</vt:lpwstr>
  </property>
  <property fmtid="{D5CDD505-2E9C-101B-9397-08002B2CF9AE}" pid="3" name="LINKTEK-CHUNK-1">
    <vt:lpwstr>010021{"F":2,"I":"51FC-251D-9A34-0BAC"}</vt:lpwstr>
  </property>
  <property fmtid="{D5CDD505-2E9C-101B-9397-08002B2CF9AE}" pid="4" name="MediaServiceImageTags">
    <vt:lpwstr/>
  </property>
  <property fmtid="{D5CDD505-2E9C-101B-9397-08002B2CF9AE}" pid="5" name="MSIP_Label_0a1a20d1-d9ec-454a-bae3-fbfdced94e84_ActionId">
    <vt:lpwstr>99d58f59-bc11-4a83-9639-92b884b394e5</vt:lpwstr>
  </property>
  <property fmtid="{D5CDD505-2E9C-101B-9397-08002B2CF9AE}" pid="6" name="MSIP_Label_0a1a20d1-d9ec-454a-bae3-fbfdced94e84_ContentBits">
    <vt:lpwstr>0</vt:lpwstr>
  </property>
  <property fmtid="{D5CDD505-2E9C-101B-9397-08002B2CF9AE}" pid="7" name="MSIP_Label_0a1a20d1-d9ec-454a-bae3-fbfdced94e84_Enabled">
    <vt:lpwstr>true</vt:lpwstr>
  </property>
  <property fmtid="{D5CDD505-2E9C-101B-9397-08002B2CF9AE}" pid="8" name="MSIP_Label_0a1a20d1-d9ec-454a-bae3-fbfdced94e84_Method">
    <vt:lpwstr>Privileged</vt:lpwstr>
  </property>
  <property fmtid="{D5CDD505-2E9C-101B-9397-08002B2CF9AE}" pid="9" name="MSIP_Label_0a1a20d1-d9ec-454a-bae3-fbfdced94e84_Name">
    <vt:lpwstr>C0-Public</vt:lpwstr>
  </property>
  <property fmtid="{D5CDD505-2E9C-101B-9397-08002B2CF9AE}" pid="10" name="MSIP_Label_0a1a20d1-d9ec-454a-bae3-fbfdced94e84_SetDate">
    <vt:lpwstr>2024-11-06T14:01:58Z</vt:lpwstr>
  </property>
  <property fmtid="{D5CDD505-2E9C-101B-9397-08002B2CF9AE}" pid="11" name="MSIP_Label_0a1a20d1-d9ec-454a-bae3-fbfdced94e84_SiteId">
    <vt:lpwstr>00137d3d-3556-4d89-bdd6-8cf30cc386e2</vt:lpwstr>
  </property>
  <property fmtid="{D5CDD505-2E9C-101B-9397-08002B2CF9AE}" pid="12" name="MSIP_Label_c4f60076-b082-445a-b1ef-a2dfddfd9d55_ActionId">
    <vt:lpwstr>91272aa2-e663-4e06-96ff-f506c65a425d</vt:lpwstr>
  </property>
  <property fmtid="{D5CDD505-2E9C-101B-9397-08002B2CF9AE}" pid="13" name="MSIP_Label_c4f60076-b082-445a-b1ef-a2dfddfd9d55_ContentBits">
    <vt:lpwstr>0</vt:lpwstr>
  </property>
  <property fmtid="{D5CDD505-2E9C-101B-9397-08002B2CF9AE}" pid="14" name="MSIP_Label_c4f60076-b082-445a-b1ef-a2dfddfd9d55_Enabled">
    <vt:lpwstr>true</vt:lpwstr>
  </property>
  <property fmtid="{D5CDD505-2E9C-101B-9397-08002B2CF9AE}" pid="15" name="MSIP_Label_c4f60076-b082-445a-b1ef-a2dfddfd9d55_Method">
    <vt:lpwstr>Standard</vt:lpwstr>
  </property>
  <property fmtid="{D5CDD505-2E9C-101B-9397-08002B2CF9AE}" pid="16" name="MSIP_Label_c4f60076-b082-445a-b1ef-a2dfddfd9d55_Name">
    <vt:lpwstr>C2-Confidential</vt:lpwstr>
  </property>
  <property fmtid="{D5CDD505-2E9C-101B-9397-08002B2CF9AE}" pid="17" name="MSIP_Label_c4f60076-b082-445a-b1ef-a2dfddfd9d55_SetDate">
    <vt:lpwstr>2023-03-14T08:09:43Z</vt:lpwstr>
  </property>
  <property fmtid="{D5CDD505-2E9C-101B-9397-08002B2CF9AE}" pid="18" name="MSIP_Label_c4f60076-b082-445a-b1ef-a2dfddfd9d55_SiteId">
    <vt:lpwstr>7460684c-d2b3-4e8d-b436-2d0df6ff5988</vt:lpwstr>
  </property>
  <property fmtid="{D5CDD505-2E9C-101B-9397-08002B2CF9AE}" pid="19" name="Order">
    <vt:r8>100</vt:r8>
  </property>
</Properties>
</file>